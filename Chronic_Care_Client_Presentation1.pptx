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Amey Patil
SCRIPT:
Good morning, and thank you for your time. We are Amey, Saurabh, Sujit and Shubham from CitiusTech. Today we will walk you through a working prototype that helps care teams keep chronic-care members engaged between visits. The solution runs on Microsoft Foundry and Azure. It organises information and hands anything risky to a person. It never diagnoses, never gives medical advice and never changes a medicine. We will cover the problem, the design, how safety is enforced, and the evidence from our live test run.
EXPLANATION:
Opening slide. Sets the tone: this is a governed assistant, not a clinical tool. Introduce the team and the four-part structure of the talk. Every claim later in the deck traces back to the safety sentence on this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Amey Patil
SCRIPT:
Here is how we will use the next minutes. We start with the care-follow-up problem, then our approach, then the architecture and the six agents. After that, Sujit covers the safety rules and the knowledge pipeline, and Shubham closes with validation results, day-to-day operation and the path to production. We are happy to take questions at any point.
EXPLANATION:
Orientation slide. Four blocks, one per presenter, so the client knows who owns which topic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Amey Patil
SCRIPT:
Chronic-care programmes depend on small, repeated actions: members record home readings, follow their care plan and read approved education. Care coordinators spend a large part of their day chasing these items by hand. Three things go wrong. Readings go missing or contradict each other. Members ask questions that need an approved answer, not a guess. And the cases that really need a human are buried in routine work. A general chatbot makes this worse, because it can sound confident and be wrong. The brief we were given was clear: organise the information, and hand risky cases to humans.
EXPLANATION:
Frames the business problem without inventing statistics. The three pain points (data gaps, unsafe answers, buried risk) map one-to-one to what the system does later: summaries with missing-data flags, cited education, and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Amey Patil
SCRIPT:
Our core principle is: code decides facts, agents only word them. Consent checks, rule matching, date windows and counts are plain, testable code. Language models are used only to phrase the result for the member or the staff member. Everything a model writes passes an output check, and numbers must match the data. Education answers can only come from approved articles and must carry a citation. If any check fails, a safe template message is used instead. The result is a system where the model can help with wording but cannot change a decision.
EXPLANATION:
The design philosophy slide and the one most likely to be probed in an interview. Key phrase: deterministic decisions, generative wording. Be ready to explain the fallback: a failed guard never produces an unsafe message, it produces the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Amey Patil
SCRIPT:
This is the hard line for the whole project. The system does not diagnose, does not give medical advice, and does not change medicines. When a member asks for any of that, it declines politely and routes to a qualified person. When data is missing or contradictory, it says so and draws no conclusion. The right-hand column shows what the system does do. It summarises readings, shows care-plan tasks, answers from approved education and prepares clean hand-offs to staff.
EXPLANATION:
Two-column slide: what the assistant never does versus what it does. Use it to answer 'is this a medical device?' Answer: no, it is an organisation and hand-off tool, and thresholds are configurable placeholders that clinicians would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Saurabh Singh
SCRIPT:
Here is the architecture. A member or staff user works in the Streamlit app. Requests go to the orchestrator, which is a fixed Python workflow, so the order of steps never depends on a model. It calls six agents hosted in Microsoft Foundry. Reading, care-plan and rules data come from governed tables. Education answers come from Azure AI Search, which is fed by approved articles in Azure Blob Storage. Output guards sit between every agent and the member. Access to Foundry and Search uses Azure identity, so there are no keys in the application for the Foundry project.
EXPLANATION:
Walk left to right. Highlight three Azure services (Foundry, AI Search, Blob) and that the orchestrator is deliberately not an agent. If asked about authentication: the Foundry project endpoint is accessed with Azure credentials and the Azure AI User role; Search and Blob can use keys or identity depending on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Saurabh Singh
SCRIPT:
There are six agents, each with one job and the least access it needs. The Orchestrator classifies the request. The Reading Summary agent words a summary of recent readings. The Care Plan agent presents tasks and reminders. The Education agent answers from approved articles with citations. The Engagement agent writes reminders in the member's channel and language. The Escalation agent prepares the hand-off record for staff. The Education agent can search approved articles only. It cannot read readings or care plans.
EXPLANATION:
Table of roles, inputs and boundaries. The least-privilege point matters: tool access is per agent. All six are registered as named, versioned agents in Foundry, so they can be listed, inspected and rolled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Saurabh Singh
SCRIPT:
Let us follow one request. First the system finds the member and checks consent. If consent is not active, it stops and sends the case to staff. Second, it checks the text for prompt injection and medication-change requests. Third, a router decides the category: summary, care plan, education, engagement or something that needs a person. Fourth, code reads the data window, which defaults to seven days, and applies the rules. Fifth, the right agent words the answer. Sixth, the output guard checks wording, numbers and citations. Seventh, the answer goes to the member, or the case goes to the staff queue, and the step is written to the audit log.
EXPLANATION:
Seven-step flow. Emphasise that consent is step one and that nothing is stored from the question text. Each step maps to a test scenario shown on the validation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Sujit Raut
SCRIPT:
Four rules protect the member and the organisation. ER-501: if consent is not active, we stop and read no data. ER-502: if a reading matches a configured test value, we create an urgent staff-review record and give no interpretation. ER-503: any request to start, stop or change a medicine is declined and referred to a clinician. ER-504: if two active readings contradict each other, or an answer cites a conflicting source version, we mark the uncertainty and ask for human review. These are code rules, not prompts. The numeric thresholds are training placeholders that clinicians would set in production.
EXPLANATION:
Core safety slide. Be explicit that ER-502 values are placeholders, not clinical thresholds. Routing variants decide which staff queue receives the case by program, context and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Sujit Raut
SCRIPT:
Whenever the system is unsure, it hands over to a person. The table shows each trigger, who is told and what the system does. A missing article leads to a stated knowledge gap and a staff follow-up. A request for interpretation goes to program staff. A data or knowledge-base failure produces a clear retry message and nothing invented. The system never decides emergency priority. It only tells the member to contact the care team or local emergency services if they are worried.
EXPLANATION:
Maps every trigger to an owner. Good slide for governance questions: the answer to 'what happens when it fails?' is always a defined human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Sujit Raut
SCRIPT:
Education answers use retrieval-augmented generation over approved content only. Articles are authored as approved, draft or retired. Only approved versions are uploaded to Blob Storage and indexed in Azure AI Search with vector embeddings and a semantic ranking layer. The Education agent searches that index. After the agent answers, our code checks every citation against the approved catalog for existence, version and program fit. If any citation fails, the answer is withheld and the case goes to staff as a knowledge gap. Retiring an article removes it from the index on the next sync.
EXPLANATION:
Pipeline slide: Blob, sync, index, agent, citation check. Embeddings use text-embedding-3-large (3072 dimensions); search is hybrid vector plus semantic. Citation placeholders from the search tool are replaced by our own verified Sources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Sujit Raut
SCRIPT:
This slide lists what is deployed. In Microsoft Foundry we have a project with a chat model deployment and an embedding deployment, plus the six registered agents. Azure Blob Storage holds the data tables and approved knowledge. Azure AI Search holds the education index and the care-plan guidance index. Access uses Azure identity with role-based access. Configuration is by environment settings, so the same code moves between environments without edits. Secrets are kept out of source control.
EXPLANATION:
Inventory slide. If asked about cost or scale, answer that this is a proof of concept sized for synthetic data. If asked about security, mention identity-based access, no secrets in code, and that real member data would require the production controls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Sujit Raut
SCRIPT:
All data in this prototype is synthetic. We use about 250 members, over 5,500 readings, 650 care-plan tasks, 110 knowledge articles, and rule tables with more than 100 rows each, so the tests exercise realistic variety. Larger tables improve realism and test coverage, not the accuracy of the model. Rule values and word lists are editable by staff in the app, while the rule logic itself stays fixed in code. Uploads are checked for format and obvious personal-data patterns, and every action is written to an audit log.
EXPLANATION:
Be honest on the 'bigger data' point: more rows mean more realistic routing and test coverage, not a more accurate model. Mention that nothing from the question text is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Shubham Sahu
SCRIPT:
We validated the solution end to end against the live Azure deployment: Foundry agents, Blob Storage and AI Search. We defined fourteen scenarios that cover the safety rules and the failure modes. They include expired consent, a medication-change request, a reading that matches a configured rule, missing data, a correction that supersedes an earlier reading, contradictory readings, a prompt-injection attempt, a question with no approved article, an article for a different program, and a tool failure. All fourteen passed. The evidence file records the expected and actual result for each scenario.
EXPLANATION:
Present the pass count only after the final run confirms it. Each scenario has an expected disposition, required and excluded sources, and required member wording. The run writes docs/test_evidence.md for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Shubham Sahu
SCRIPT:
The app has three working areas. Members and staff use the assistant to ask questions and see cited answers or hand-off messages. Staff use the review queue to see escalations, grouped by queue, with the rule that triggered them. Administrators use the data and Azure sync console to manage tables and approved articles, upload to Blob Storage, rebuild the search index, and register or check the six Foundry agents. Every step is visible without touching code.
EXPLANATION:
Operational view with no screenshots, as requested. If a live demo is requested, the safe path is: one education question, one medication-change request, one reading that triggers ER-502, then show the review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Shubham Sahu
SCRIPT:
We want to be clear about what this is. It is a proof of concept on synthetic data. Rule thresholds are placeholders. There is no real login yet and the review queue is file-based. The roadmap is therefore: add authentication and role-based access, move the queue and audit log to a database or case-management system, have clinicians own the rule values and approve the article workflow, extend monitoring of agent quality, and add a native-speaker review for translated reminders. Each step is independent, so the client can sequence them.
EXPLANATION:
Credibility slide. Listing limits up front tends to build trust in a client interview. Do not promise dates; offer to size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Shubham Sahu
SCRIPT:
To summarise: a governed multi-agent assistant on Microsoft Foundry, where code decides facts and agents only word them. Four safety rules enforce human hand-off. Education answers come from approved, versioned and cited content. And the solution passed all fourteen validation scenarios on live Azure. The next conversation we would like to have is about a pilot scope and who on your side would own the clinical rule values.
EXPLANATION:
Closing message and a clear ask. The ask is a pilot scope plus a clinical owner for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SCRIPT:
Thank you. We would be glad to take your questions, and to show any part of the solution live.
EXPLANATION:
Q&amp;A slide. Suggested ownership: architecture and agents to Saurabh, safety and Azure to Sujit, validation and roadmap to Shubham, scope and business questions to Amey.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2A5B"/>
          </a:solidFill>
          <a:ln/>
        </p:spPr>
      </p:sp>
      <p:sp>
        <p:nvSpPr>
          <p:cNvPr id="3" name="Shape 1"/>
          <p:cNvSpPr/>
          <p:nvPr/>
        </p:nvSpPr>
        <p:spPr>
          <a:xfrm>
            <a:off x="0" y="0"/>
            <a:ext cx="2011680" cy="109728"/>
          </a:xfrm>
          <a:prstGeom prst="rect">
            <a:avLst/>
          </a:prstGeom>
          <a:solidFill>
            <a:srgbClr val="0E9F9E"/>
          </a:solidFill>
          <a:ln/>
        </p:spPr>
      </p:sp>
      <p:sp>
        <p:nvSpPr>
          <p:cNvPr id="4" name="Shape 2"/>
          <p:cNvSpPr/>
          <p:nvPr/>
        </p:nvSpPr>
        <p:spPr>
          <a:xfrm>
            <a:off x="0" y="6510528"/>
            <a:ext cx="12191695" cy="347472"/>
          </a:xfrm>
          <a:prstGeom prst="rect">
            <a:avLst/>
          </a:prstGeom>
          <a:solidFill>
            <a:srgbClr val="FFFFFF"/>
          </a:solidFill>
          <a:ln w="6350">
            <a:solidFill>
              <a:srgbClr val="DAE3F0"/>
            </a:solidFill>
            <a:prstDash val="solid"/>
          </a:ln>
        </p:spPr>
      </p:sp>
      <p:pic>
        <p:nvPicPr>
          <p:cNvPr id="5" name="Image 0" descr="CitiusTech logo mark">    </p:cNvPr>
          <p:cNvPicPr>
            <a:picLocks noChangeAspect="1"/>
          </p:cNvPicPr>
          <p:nvPr/>
        </p:nvPicPr>
        <p:blipFill>
          <a:blip r:embed="rId1"/>
          <a:stretch>
            <a:fillRect/>
          </a:stretch>
        </p:blipFill>
        <p:spPr>
          <a:xfrm>
            <a:off x="640080" y="6556248"/>
            <a:ext cx="237744" cy="237744"/>
          </a:xfrm>
          <a:prstGeom prst="rect">
            <a:avLst/>
          </a:prstGeom>
        </p:spPr>
      </p:pic>
      <p:sp>
        <p:nvSpPr>
          <p:cNvPr id="6" name="Text 3"/>
          <p:cNvSpPr/>
          <p:nvPr/>
        </p:nvSpPr>
        <p:spPr>
          <a:xfrm>
            <a:off x="960120" y="6537960"/>
            <a:ext cx="1645920" cy="274320"/>
          </a:xfrm>
          <a:prstGeom prst="rect">
            <a:avLst/>
          </a:prstGeom>
          <a:noFill/>
          <a:ln/>
        </p:spPr>
        <p:txBody>
          <a:bodyPr wrap="square" lIns="0" tIns="0" rIns="0" bIns="0" rtlCol="0" anchor="ctr"/>
          <a:lstStyle/>
          <a:p>
            <a:pPr indent="0" marL="0">
              <a:buNone/>
            </a:pPr>
            <a:r>
              <a:rPr lang="en-US" sz="1200" b="1" dirty="0">
                <a:solidFill>
                  <a:srgbClr val="0B2A5B"/>
                </a:solidFill>
              </a:rPr>
              <a:t>CitiusTech</a:t>
            </a:r>
            <a:endParaRPr lang="en-US" sz="1200" dirty="0"/>
          </a:p>
        </p:txBody>
      </p:sp>
      <p:sp>
        <p:nvSpPr>
          <p:cNvPr id="7" name="Text 4"/>
          <p:cNvSpPr/>
          <p:nvPr/>
        </p:nvSpPr>
        <p:spPr>
          <a:xfrm>
            <a:off x="3840480" y="6537960"/>
            <a:ext cx="4572000" cy="274320"/>
          </a:xfrm>
          <a:prstGeom prst="rect">
            <a:avLst/>
          </a:prstGeom>
          <a:noFill/>
          <a:ln/>
        </p:spPr>
        <p:txBody>
          <a:bodyPr wrap="square" lIns="0" tIns="0" rIns="0" bIns="0" rtlCol="0" anchor="ctr"/>
          <a:lstStyle/>
          <a:p>
            <a:pPr algn="ctr" indent="0" marL="0">
              <a:buNone/>
            </a:pPr>
            <a:r>
              <a:rPr lang="en-US" sz="1000" dirty="0">
                <a:solidFill>
                  <a:srgbClr val="5B6B85"/>
                </a:solidFill>
              </a:rPr>
              <a:t>Chronic Care Engagement &amp; Follow-up</a:t>
            </a:r>
            <a:endParaRPr lang="en-US" sz="1000" dirty="0"/>
          </a:p>
        </p:txBody>
      </p:sp>
      <p:sp>
        <p:nvSpPr>
          <p:cNvPr id="8" name="Text 5"/>
          <p:cNvSpPr/>
          <p:nvPr>
            <p:ph idx="106" type="body" hasCustomPrompt="1"/>
          </p:nvPr>
        </p:nvSpPr>
        <p:spPr>
          <a:xfrm>
            <a:off x="640080" y="365760"/>
            <a:ext cx="7315200" cy="274320"/>
          </a:xfrm>
          <a:prstGeom prst="rect">
            <a:avLst/>
          </a:prstGeom>
          <a:noFill/>
          <a:ln/>
        </p:spPr>
        <p:txBody>
          <a:bodyPr wrap="square" rtlCol="0"/>
          <a:lstStyle>
            <a:lvl1pPr indent="0" marL="0">
              <a:buNone/>
              <a:defRPr lang="en-US" sz="1200" b="1" spc="400" kern="0" dirty="0">
                <a:solidFill>
                  <a:srgbClr val="0E9F9E"/>
                </a:solidFill>
              </a:defRPr>
            </a:lvl1pPr>
          </a:lstStyle>
          <a:p>
            <a:pPr indent="0" marL="0">
              <a:buNone/>
            </a:pPr>
            <a:endParaRPr lang="en-US" sz="1200" dirty="0"/>
          </a:p>
        </p:txBody>
      </p:sp>
      <p:sp>
        <p:nvSpPr>
          <p:cNvPr id="9" name="Text 5"/>
          <p:cNvSpPr/>
          <p:nvPr>
            <p:ph idx="107" type="title" hasCustomPrompt="1"/>
          </p:nvPr>
        </p:nvSpPr>
        <p:spPr>
          <a:xfrm>
            <a:off x="640080" y="685800"/>
            <a:ext cx="10908792" cy="685800"/>
          </a:xfrm>
          <a:prstGeom prst="rect">
            <a:avLst/>
          </a:prstGeom>
          <a:noFill/>
          <a:ln/>
        </p:spPr>
        <p:txBody>
          <a:bodyPr wrap="square" rtlCol="0"/>
          <a:lstStyle>
            <a:lvl1pPr algn="l" indent="0" marL="0">
              <a:buNone/>
              <a:defRPr lang="en-US" sz="2800" b="1" dirty="0">
                <a:solidFill>
                  <a:srgbClr val="0B2A5B"/>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A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7863840" y="0"/>
            <a:ext cx="4327855" cy="6858000"/>
          </a:xfrm>
          <a:prstGeom prst="rect">
            <a:avLst/>
          </a:prstGeom>
          <a:solidFill>
            <a:srgbClr val="0F3573"/>
          </a:solidFill>
          <a:ln w="12700">
            <a:solidFill>
              <a:srgbClr val="0F3573"/>
            </a:solidFill>
            <a:prstDash val="solid"/>
          </a:ln>
        </p:spPr>
      </p:sp>
      <p:sp>
        <p:nvSpPr>
          <p:cNvPr id="4" name="Shape 1"/>
          <p:cNvSpPr/>
          <p:nvPr/>
        </p:nvSpPr>
        <p:spPr>
          <a:xfrm>
            <a:off x="0" y="0"/>
            <a:ext cx="164592" cy="6858000"/>
          </a:xfrm>
          <a:prstGeom prst="rect">
            <a:avLst/>
          </a:prstGeom>
          <a:solidFill>
            <a:srgbClr val="0E9F9E"/>
          </a:solidFill>
          <a:ln w="12700">
            <a:solidFill>
              <a:srgbClr val="0E9F9E"/>
            </a:solidFill>
            <a:prstDash val="solid"/>
          </a:ln>
        </p:spPr>
      </p:sp>
      <p:pic>
        <p:nvPicPr>
          <p:cNvPr id="5" name="Image 0" descr="CitiusTech logo mark">    </p:cNvPr>
          <p:cNvPicPr>
            <a:picLocks noChangeAspect="1"/>
          </p:cNvPicPr>
          <p:nvPr/>
        </p:nvPicPr>
        <p:blipFill>
          <a:blip r:embed="rId1"/>
          <a:stretch>
            <a:fillRect/>
          </a:stretch>
        </p:blipFill>
        <p:spPr>
          <a:xfrm>
            <a:off x="731520" y="548640"/>
            <a:ext cx="457200" cy="457200"/>
          </a:xfrm>
          <a:prstGeom prst="rect">
            <a:avLst/>
          </a:prstGeom>
        </p:spPr>
      </p:pic>
      <p:sp>
        <p:nvSpPr>
          <p:cNvPr id="6" name="Text 2"/>
          <p:cNvSpPr txBox="1"/>
          <p:nvPr/>
        </p:nvSpPr>
        <p:spPr>
          <a:xfrm>
            <a:off x="1325880" y="530352"/>
            <a:ext cx="2743200" cy="493776"/>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
        <p:nvSpPr>
          <p:cNvPr id="7" name="Text 3"/>
          <p:cNvSpPr txBox="1"/>
          <p:nvPr/>
        </p:nvSpPr>
        <p:spPr>
          <a:xfrm>
            <a:off x="731520" y="1828800"/>
            <a:ext cx="6858000" cy="274320"/>
          </a:xfrm>
          <a:prstGeom prst="rect">
            <a:avLst/>
          </a:prstGeom>
          <a:noFill/>
          <a:ln/>
        </p:spPr>
        <p:txBody>
          <a:bodyPr wrap="square" lIns="0" tIns="0" rIns="0" bIns="0" rtlCol="0" anchor="t"/>
          <a:lstStyle/>
          <a:p>
            <a:pPr indent="0" marL="0">
              <a:buNone/>
            </a:pPr>
            <a:r>
              <a:rPr lang="en-US" sz="1200" b="1" spc="300" kern="0" dirty="0">
                <a:solidFill>
                  <a:srgbClr val="5FD6D5"/>
                </a:solidFill>
              </a:rPr>
              <a:t>CLIENT PRESENTATION  |  PROOF OF CONCEPT</a:t>
            </a:r>
            <a:endParaRPr lang="en-US" sz="1200" dirty="0"/>
          </a:p>
        </p:txBody>
      </p:sp>
      <p:sp>
        <p:nvSpPr>
          <p:cNvPr id="8" name="Text 4"/>
          <p:cNvSpPr txBox="1"/>
          <p:nvPr/>
        </p:nvSpPr>
        <p:spPr>
          <a:xfrm>
            <a:off x="731520" y="2194560"/>
            <a:ext cx="6949440" cy="1554480"/>
          </a:xfrm>
          <a:prstGeom prst="rect">
            <a:avLst/>
          </a:prstGeom>
          <a:noFill/>
          <a:ln/>
        </p:spPr>
        <p:txBody>
          <a:bodyPr wrap="square" lIns="0" tIns="0" rIns="0" bIns="0" rtlCol="0" anchor="t"/>
          <a:lstStyle/>
          <a:p>
            <a:pPr indent="0" marL="0">
              <a:buNone/>
            </a:pPr>
            <a:r>
              <a:rPr lang="en-US" sz="4200" b="1" dirty="0">
                <a:solidFill>
                  <a:srgbClr val="FFFFFF"/>
                </a:solidFill>
              </a:rPr>
              <a:t>Chronic Care Engagement</a:t>
            </a:r>
            <a:endParaRPr lang="en-US" sz="4200" dirty="0"/>
          </a:p>
          <a:p>
            <a:pPr indent="0" marL="0">
              <a:buNone/>
            </a:pPr>
            <a:r>
              <a:rPr lang="en-US" sz="4200" b="1" dirty="0">
                <a:solidFill>
                  <a:srgbClr val="FFFFFF"/>
                </a:solidFill>
              </a:rPr>
              <a:t>&amp; Follow-up</a:t>
            </a:r>
            <a:endParaRPr lang="en-US" sz="4200" dirty="0"/>
          </a:p>
        </p:txBody>
      </p:sp>
      <p:sp>
        <p:nvSpPr>
          <p:cNvPr id="9" name="Text 5"/>
          <p:cNvSpPr txBox="1"/>
          <p:nvPr/>
        </p:nvSpPr>
        <p:spPr>
          <a:xfrm>
            <a:off x="731520" y="3977640"/>
            <a:ext cx="6583680" cy="1005840"/>
          </a:xfrm>
          <a:prstGeom prst="rect">
            <a:avLst/>
          </a:prstGeom>
          <a:noFill/>
          <a:ln/>
        </p:spPr>
        <p:txBody>
          <a:bodyPr wrap="square" lIns="0" tIns="0" rIns="0" bIns="0" rtlCol="0" anchor="t"/>
          <a:lstStyle/>
          <a:p>
            <a:pPr indent="0" marL="0">
              <a:buNone/>
            </a:pPr>
            <a:r>
              <a:rPr lang="en-US" sz="1800" dirty="0">
                <a:solidFill>
                  <a:srgbClr val="C9D8F2"/>
                </a:solidFill>
              </a:rPr>
              <a:t>A governed multi-agent assistant on Microsoft Foundry. It organises information and hands every risky case to a person.</a:t>
            </a:r>
            <a:endParaRPr lang="en-US" sz="1800" dirty="0"/>
          </a:p>
        </p:txBody>
      </p:sp>
      <p:sp>
        <p:nvSpPr>
          <p:cNvPr id="10" name="Text 6"/>
          <p:cNvSpPr txBox="1"/>
          <p:nvPr/>
        </p:nvSpPr>
        <p:spPr>
          <a:xfrm>
            <a:off x="731520" y="5760720"/>
            <a:ext cx="6583680" cy="274320"/>
          </a:xfrm>
          <a:prstGeom prst="rect">
            <a:avLst/>
          </a:prstGeom>
          <a:noFill/>
          <a:ln/>
        </p:spPr>
        <p:txBody>
          <a:bodyPr wrap="square" lIns="0" tIns="0" rIns="0" bIns="0" rtlCol="0" anchor="t"/>
          <a:lstStyle/>
          <a:p>
            <a:pPr indent="0" marL="0">
              <a:buNone/>
            </a:pPr>
            <a:r>
              <a:rPr lang="en-US" sz="1200" dirty="0">
                <a:solidFill>
                  <a:srgbClr val="C9D8F2"/>
                </a:solidFill>
              </a:rPr>
              <a:t>Microsoft Foundry  |  Azure AI Search  |  Azure Blob Storage</a:t>
            </a:r>
            <a:endParaRPr lang="en-US" sz="1200" dirty="0"/>
          </a:p>
        </p:txBody>
      </p:sp>
      <p:sp>
        <p:nvSpPr>
          <p:cNvPr id="11" name="Text 7"/>
          <p:cNvSpPr txBox="1"/>
          <p:nvPr/>
        </p:nvSpPr>
        <p:spPr>
          <a:xfrm>
            <a:off x="8321040" y="1463040"/>
            <a:ext cx="3474720" cy="274320"/>
          </a:xfrm>
          <a:prstGeom prst="rect">
            <a:avLst/>
          </a:prstGeom>
          <a:noFill/>
          <a:ln/>
        </p:spPr>
        <p:txBody>
          <a:bodyPr wrap="square" lIns="0" tIns="0" rIns="0" bIns="0" rtlCol="0" anchor="t"/>
          <a:lstStyle/>
          <a:p>
            <a:pPr indent="0" marL="0">
              <a:buNone/>
            </a:pPr>
            <a:r>
              <a:rPr lang="en-US" sz="1100" b="1" spc="300" kern="0" dirty="0">
                <a:solidFill>
                  <a:srgbClr val="5FD6D5"/>
                </a:solidFill>
              </a:rPr>
              <a:t>PRESENTED BY</a:t>
            </a:r>
            <a:endParaRPr lang="en-US" sz="1100" dirty="0"/>
          </a:p>
        </p:txBody>
      </p:sp>
      <p:sp>
        <p:nvSpPr>
          <p:cNvPr id="12" name="Shape 8"/>
          <p:cNvSpPr/>
          <p:nvPr/>
        </p:nvSpPr>
        <p:spPr>
          <a:xfrm>
            <a:off x="8321040" y="1874520"/>
            <a:ext cx="3383280" cy="804672"/>
          </a:xfrm>
          <a:prstGeom prst="roundRect">
            <a:avLst>
              <a:gd name="adj" fmla="val 9091"/>
            </a:avLst>
          </a:prstGeom>
          <a:solidFill>
            <a:srgbClr val="FFFFFF">
              <a:alpha val="10000"/>
            </a:srgbClr>
          </a:solidFill>
          <a:ln w="9525">
            <a:solidFill>
              <a:srgbClr val="FFFFFF">
                <a:alpha val="35000"/>
              </a:srgbClr>
            </a:solidFill>
            <a:prstDash val="solid"/>
          </a:ln>
        </p:spPr>
      </p:sp>
      <p:sp>
        <p:nvSpPr>
          <p:cNvPr id="13" name="Shape 9"/>
          <p:cNvSpPr/>
          <p:nvPr/>
        </p:nvSpPr>
        <p:spPr>
          <a:xfrm>
            <a:off x="8503920" y="2029968"/>
            <a:ext cx="493776" cy="493776"/>
          </a:xfrm>
          <a:prstGeom prst="ellipse">
            <a:avLst/>
          </a:prstGeom>
          <a:solidFill>
            <a:srgbClr val="0E9F9E"/>
          </a:solidFill>
          <a:ln w="6350">
            <a:solidFill>
              <a:srgbClr val="0E9F9E"/>
            </a:solidFill>
            <a:prstDash val="solid"/>
          </a:ln>
        </p:spPr>
      </p:sp>
      <p:sp>
        <p:nvSpPr>
          <p:cNvPr id="14" name="Text 10"/>
          <p:cNvSpPr txBox="1"/>
          <p:nvPr/>
        </p:nvSpPr>
        <p:spPr>
          <a:xfrm>
            <a:off x="8503920" y="202996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rPr>
              <a:t>AP</a:t>
            </a:r>
            <a:endParaRPr lang="en-US" sz="1400" dirty="0"/>
          </a:p>
        </p:txBody>
      </p:sp>
      <p:sp>
        <p:nvSpPr>
          <p:cNvPr id="15" name="Text 11"/>
          <p:cNvSpPr txBox="1"/>
          <p:nvPr/>
        </p:nvSpPr>
        <p:spPr>
          <a:xfrm>
            <a:off x="9189720" y="2029968"/>
            <a:ext cx="2468880" cy="493776"/>
          </a:xfrm>
          <a:prstGeom prst="rect">
            <a:avLst/>
          </a:prstGeom>
          <a:noFill/>
          <a:ln/>
        </p:spPr>
        <p:txBody>
          <a:bodyPr wrap="square" lIns="0" tIns="0" rIns="0" bIns="0" rtlCol="0" anchor="ctr"/>
          <a:lstStyle/>
          <a:p>
            <a:pPr indent="0" marL="0">
              <a:buNone/>
            </a:pPr>
            <a:r>
              <a:rPr lang="en-US" sz="1700" b="1" dirty="0">
                <a:solidFill>
                  <a:srgbClr val="FFFFFF"/>
                </a:solidFill>
              </a:rPr>
              <a:t>Amey Patil</a:t>
            </a:r>
            <a:endParaRPr lang="en-US" sz="1700" dirty="0"/>
          </a:p>
        </p:txBody>
      </p:sp>
      <p:sp>
        <p:nvSpPr>
          <p:cNvPr id="16" name="Shape 12"/>
          <p:cNvSpPr/>
          <p:nvPr/>
        </p:nvSpPr>
        <p:spPr>
          <a:xfrm>
            <a:off x="8321040" y="2862072"/>
            <a:ext cx="3383280" cy="804672"/>
          </a:xfrm>
          <a:prstGeom prst="roundRect">
            <a:avLst>
              <a:gd name="adj" fmla="val 9091"/>
            </a:avLst>
          </a:prstGeom>
          <a:solidFill>
            <a:srgbClr val="FFFFFF">
              <a:alpha val="10000"/>
            </a:srgbClr>
          </a:solidFill>
          <a:ln w="9525">
            <a:solidFill>
              <a:srgbClr val="FFFFFF">
                <a:alpha val="35000"/>
              </a:srgbClr>
            </a:solidFill>
            <a:prstDash val="solid"/>
          </a:ln>
        </p:spPr>
      </p:sp>
      <p:sp>
        <p:nvSpPr>
          <p:cNvPr id="17" name="Shape 13"/>
          <p:cNvSpPr/>
          <p:nvPr/>
        </p:nvSpPr>
        <p:spPr>
          <a:xfrm>
            <a:off x="8503920" y="3017520"/>
            <a:ext cx="493776" cy="493776"/>
          </a:xfrm>
          <a:prstGeom prst="ellipse">
            <a:avLst/>
          </a:prstGeom>
          <a:solidFill>
            <a:srgbClr val="0E9F9E"/>
          </a:solidFill>
          <a:ln w="6350">
            <a:solidFill>
              <a:srgbClr val="0E9F9E"/>
            </a:solidFill>
            <a:prstDash val="solid"/>
          </a:ln>
        </p:spPr>
      </p:sp>
      <p:sp>
        <p:nvSpPr>
          <p:cNvPr id="18" name="Text 14"/>
          <p:cNvSpPr txBox="1"/>
          <p:nvPr/>
        </p:nvSpPr>
        <p:spPr>
          <a:xfrm>
            <a:off x="8503920" y="3017520"/>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rPr>
              <a:t>SS</a:t>
            </a:r>
            <a:endParaRPr lang="en-US" sz="1400" dirty="0"/>
          </a:p>
        </p:txBody>
      </p:sp>
      <p:sp>
        <p:nvSpPr>
          <p:cNvPr id="19" name="Text 15"/>
          <p:cNvSpPr txBox="1"/>
          <p:nvPr/>
        </p:nvSpPr>
        <p:spPr>
          <a:xfrm>
            <a:off x="9189720" y="3017520"/>
            <a:ext cx="2468880" cy="493776"/>
          </a:xfrm>
          <a:prstGeom prst="rect">
            <a:avLst/>
          </a:prstGeom>
          <a:noFill/>
          <a:ln/>
        </p:spPr>
        <p:txBody>
          <a:bodyPr wrap="square" lIns="0" tIns="0" rIns="0" bIns="0" rtlCol="0" anchor="ctr"/>
          <a:lstStyle/>
          <a:p>
            <a:pPr indent="0" marL="0">
              <a:buNone/>
            </a:pPr>
            <a:r>
              <a:rPr lang="en-US" sz="1700" b="1" dirty="0">
                <a:solidFill>
                  <a:srgbClr val="FFFFFF"/>
                </a:solidFill>
              </a:rPr>
              <a:t>Saurabh Singh</a:t>
            </a:r>
            <a:endParaRPr lang="en-US" sz="1700" dirty="0"/>
          </a:p>
        </p:txBody>
      </p:sp>
      <p:sp>
        <p:nvSpPr>
          <p:cNvPr id="20" name="Shape 16"/>
          <p:cNvSpPr/>
          <p:nvPr/>
        </p:nvSpPr>
        <p:spPr>
          <a:xfrm>
            <a:off x="8321040" y="3849624"/>
            <a:ext cx="3383280" cy="804672"/>
          </a:xfrm>
          <a:prstGeom prst="roundRect">
            <a:avLst>
              <a:gd name="adj" fmla="val 9091"/>
            </a:avLst>
          </a:prstGeom>
          <a:solidFill>
            <a:srgbClr val="FFFFFF">
              <a:alpha val="10000"/>
            </a:srgbClr>
          </a:solidFill>
          <a:ln w="9525">
            <a:solidFill>
              <a:srgbClr val="FFFFFF">
                <a:alpha val="35000"/>
              </a:srgbClr>
            </a:solidFill>
            <a:prstDash val="solid"/>
          </a:ln>
        </p:spPr>
      </p:sp>
      <p:sp>
        <p:nvSpPr>
          <p:cNvPr id="21" name="Shape 17"/>
          <p:cNvSpPr/>
          <p:nvPr/>
        </p:nvSpPr>
        <p:spPr>
          <a:xfrm>
            <a:off x="8503920" y="4005072"/>
            <a:ext cx="493776" cy="493776"/>
          </a:xfrm>
          <a:prstGeom prst="ellipse">
            <a:avLst/>
          </a:prstGeom>
          <a:solidFill>
            <a:srgbClr val="0E9F9E"/>
          </a:solidFill>
          <a:ln w="6350">
            <a:solidFill>
              <a:srgbClr val="0E9F9E"/>
            </a:solidFill>
            <a:prstDash val="solid"/>
          </a:ln>
        </p:spPr>
      </p:sp>
      <p:sp>
        <p:nvSpPr>
          <p:cNvPr id="22" name="Text 18"/>
          <p:cNvSpPr txBox="1"/>
          <p:nvPr/>
        </p:nvSpPr>
        <p:spPr>
          <a:xfrm>
            <a:off x="8503920" y="4005072"/>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rPr>
              <a:t>SR</a:t>
            </a:r>
            <a:endParaRPr lang="en-US" sz="1400" dirty="0"/>
          </a:p>
        </p:txBody>
      </p:sp>
      <p:sp>
        <p:nvSpPr>
          <p:cNvPr id="23" name="Text 19"/>
          <p:cNvSpPr txBox="1"/>
          <p:nvPr/>
        </p:nvSpPr>
        <p:spPr>
          <a:xfrm>
            <a:off x="9189720" y="4005072"/>
            <a:ext cx="2468880" cy="493776"/>
          </a:xfrm>
          <a:prstGeom prst="rect">
            <a:avLst/>
          </a:prstGeom>
          <a:noFill/>
          <a:ln/>
        </p:spPr>
        <p:txBody>
          <a:bodyPr wrap="square" lIns="0" tIns="0" rIns="0" bIns="0" rtlCol="0" anchor="ctr"/>
          <a:lstStyle/>
          <a:p>
            <a:pPr indent="0" marL="0">
              <a:buNone/>
            </a:pPr>
            <a:r>
              <a:rPr lang="en-US" sz="1700" b="1" dirty="0">
                <a:solidFill>
                  <a:srgbClr val="FFFFFF"/>
                </a:solidFill>
              </a:rPr>
              <a:t>Sujit Raut</a:t>
            </a:r>
            <a:endParaRPr lang="en-US" sz="1700" dirty="0"/>
          </a:p>
        </p:txBody>
      </p:sp>
      <p:sp>
        <p:nvSpPr>
          <p:cNvPr id="24" name="Shape 20"/>
          <p:cNvSpPr/>
          <p:nvPr/>
        </p:nvSpPr>
        <p:spPr>
          <a:xfrm>
            <a:off x="8321040" y="4837176"/>
            <a:ext cx="3383280" cy="804672"/>
          </a:xfrm>
          <a:prstGeom prst="roundRect">
            <a:avLst>
              <a:gd name="adj" fmla="val 9091"/>
            </a:avLst>
          </a:prstGeom>
          <a:solidFill>
            <a:srgbClr val="FFFFFF">
              <a:alpha val="10000"/>
            </a:srgbClr>
          </a:solidFill>
          <a:ln w="9525">
            <a:solidFill>
              <a:srgbClr val="FFFFFF">
                <a:alpha val="35000"/>
              </a:srgbClr>
            </a:solidFill>
            <a:prstDash val="solid"/>
          </a:ln>
        </p:spPr>
      </p:sp>
      <p:sp>
        <p:nvSpPr>
          <p:cNvPr id="25" name="Shape 21"/>
          <p:cNvSpPr/>
          <p:nvPr/>
        </p:nvSpPr>
        <p:spPr>
          <a:xfrm>
            <a:off x="8503920" y="4992624"/>
            <a:ext cx="493776" cy="493776"/>
          </a:xfrm>
          <a:prstGeom prst="ellipse">
            <a:avLst/>
          </a:prstGeom>
          <a:solidFill>
            <a:srgbClr val="0E9F9E"/>
          </a:solidFill>
          <a:ln w="6350">
            <a:solidFill>
              <a:srgbClr val="0E9F9E"/>
            </a:solidFill>
            <a:prstDash val="solid"/>
          </a:ln>
        </p:spPr>
      </p:sp>
      <p:sp>
        <p:nvSpPr>
          <p:cNvPr id="26" name="Text 22"/>
          <p:cNvSpPr txBox="1"/>
          <p:nvPr/>
        </p:nvSpPr>
        <p:spPr>
          <a:xfrm>
            <a:off x="8503920" y="4992624"/>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rPr>
              <a:t>SS</a:t>
            </a:r>
            <a:endParaRPr lang="en-US" sz="1400" dirty="0"/>
          </a:p>
        </p:txBody>
      </p:sp>
      <p:sp>
        <p:nvSpPr>
          <p:cNvPr id="27" name="Text 23"/>
          <p:cNvSpPr txBox="1"/>
          <p:nvPr/>
        </p:nvSpPr>
        <p:spPr>
          <a:xfrm>
            <a:off x="9189720" y="4992624"/>
            <a:ext cx="2468880" cy="493776"/>
          </a:xfrm>
          <a:prstGeom prst="rect">
            <a:avLst/>
          </a:prstGeom>
          <a:noFill/>
          <a:ln/>
        </p:spPr>
        <p:txBody>
          <a:bodyPr wrap="square" lIns="0" tIns="0" rIns="0" bIns="0" rtlCol="0" anchor="ctr"/>
          <a:lstStyle/>
          <a:p>
            <a:pPr indent="0" marL="0">
              <a:buNone/>
            </a:pPr>
            <a:r>
              <a:rPr lang="en-US" sz="1700" b="1" dirty="0">
                <a:solidFill>
                  <a:srgbClr val="FFFFFF"/>
                </a:solidFill>
              </a:rPr>
              <a:t>Shubham Sahu</a:t>
            </a:r>
            <a:endParaRPr lang="en-US" sz="1700" dirty="0"/>
          </a:p>
        </p:txBody>
      </p:sp>
      <p:sp>
        <p:nvSpPr>
          <p:cNvPr id="28" name="Text 24"/>
          <p:cNvSpPr txBox="1"/>
          <p:nvPr/>
        </p:nvSpPr>
        <p:spPr>
          <a:xfrm>
            <a:off x="8321040" y="5897880"/>
            <a:ext cx="3383280" cy="274320"/>
          </a:xfrm>
          <a:prstGeom prst="rect">
            <a:avLst/>
          </a:prstGeom>
          <a:noFill/>
          <a:ln/>
        </p:spPr>
        <p:txBody>
          <a:bodyPr wrap="square" lIns="0" tIns="0" rIns="0" bIns="0" rtlCol="0" anchor="t"/>
          <a:lstStyle/>
          <a:p>
            <a:pPr indent="0" marL="0">
              <a:buNone/>
            </a:pPr>
            <a:r>
              <a:rPr lang="en-US" sz="1200" dirty="0">
                <a:solidFill>
                  <a:srgbClr val="C9D8F2"/>
                </a:solidFill>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AGENDA</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What we will cover today</a:t>
            </a:r>
            <a:endParaRPr lang="en-US" sz="2800" dirty="0"/>
          </a:p>
        </p:txBody>
      </p:sp>
      <p:sp>
        <p:nvSpPr>
          <p:cNvPr id="5" name="Shape 2"/>
          <p:cNvSpPr/>
          <p:nvPr/>
        </p:nvSpPr>
        <p:spPr>
          <a:xfrm>
            <a:off x="640080" y="1691640"/>
            <a:ext cx="10908792" cy="914400"/>
          </a:xfrm>
          <a:prstGeom prst="roundRect">
            <a:avLst>
              <a:gd name="adj" fmla="val 70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6" name="Shape 3"/>
          <p:cNvSpPr/>
          <p:nvPr/>
        </p:nvSpPr>
        <p:spPr>
          <a:xfrm>
            <a:off x="640080" y="1691640"/>
            <a:ext cx="91440" cy="914400"/>
          </a:xfrm>
          <a:prstGeom prst="rect">
            <a:avLst/>
          </a:prstGeom>
          <a:solidFill>
            <a:srgbClr val="2563EB"/>
          </a:solidFill>
          <a:ln w="12700">
            <a:solidFill>
              <a:srgbClr val="2563EB"/>
            </a:solidFill>
            <a:prstDash val="solid"/>
          </a:ln>
        </p:spPr>
      </p:sp>
      <p:sp>
        <p:nvSpPr>
          <p:cNvPr id="7" name="Text 4"/>
          <p:cNvSpPr txBox="1"/>
          <p:nvPr/>
        </p:nvSpPr>
        <p:spPr>
          <a:xfrm>
            <a:off x="960120" y="1691640"/>
            <a:ext cx="822960" cy="914400"/>
          </a:xfrm>
          <a:prstGeom prst="rect">
            <a:avLst/>
          </a:prstGeom>
          <a:noFill/>
          <a:ln/>
        </p:spPr>
        <p:txBody>
          <a:bodyPr wrap="square" lIns="0" tIns="0" rIns="0" bIns="0" rtlCol="0" anchor="ctr"/>
          <a:lstStyle/>
          <a:p>
            <a:pPr indent="0" marL="0">
              <a:buNone/>
            </a:pPr>
            <a:r>
              <a:rPr lang="en-US" sz="2800" b="1" dirty="0">
                <a:solidFill>
                  <a:srgbClr val="2563EB"/>
                </a:solidFill>
              </a:rPr>
              <a:t>01</a:t>
            </a:r>
            <a:endParaRPr lang="en-US" sz="2800" dirty="0"/>
          </a:p>
        </p:txBody>
      </p:sp>
      <p:sp>
        <p:nvSpPr>
          <p:cNvPr id="8" name="Text 5"/>
          <p:cNvSpPr txBox="1"/>
          <p:nvPr/>
        </p:nvSpPr>
        <p:spPr>
          <a:xfrm>
            <a:off x="1828800" y="1847088"/>
            <a:ext cx="5943600" cy="329184"/>
          </a:xfrm>
          <a:prstGeom prst="rect">
            <a:avLst/>
          </a:prstGeom>
          <a:noFill/>
          <a:ln/>
        </p:spPr>
        <p:txBody>
          <a:bodyPr wrap="square" lIns="0" tIns="0" rIns="0" bIns="0" rtlCol="0" anchor="t"/>
          <a:lstStyle/>
          <a:p>
            <a:pPr indent="0" marL="0">
              <a:buNone/>
            </a:pPr>
            <a:r>
              <a:rPr lang="en-US" sz="1800" b="1" dirty="0">
                <a:solidFill>
                  <a:srgbClr val="0B2A5B"/>
                </a:solidFill>
              </a:rPr>
              <a:t>The problem and our approach</a:t>
            </a:r>
            <a:endParaRPr lang="en-US" sz="1800" dirty="0"/>
          </a:p>
        </p:txBody>
      </p:sp>
      <p:sp>
        <p:nvSpPr>
          <p:cNvPr id="9" name="Text 6"/>
          <p:cNvSpPr txBox="1"/>
          <p:nvPr/>
        </p:nvSpPr>
        <p:spPr>
          <a:xfrm>
            <a:off x="1828800" y="2194560"/>
            <a:ext cx="6035040" cy="274320"/>
          </a:xfrm>
          <a:prstGeom prst="rect">
            <a:avLst/>
          </a:prstGeom>
          <a:noFill/>
          <a:ln/>
        </p:spPr>
        <p:txBody>
          <a:bodyPr wrap="square" lIns="0" tIns="0" rIns="0" bIns="0" rtlCol="0" anchor="t"/>
          <a:lstStyle/>
          <a:p>
            <a:pPr indent="0" marL="0">
              <a:buNone/>
            </a:pPr>
            <a:r>
              <a:rPr lang="en-US" sz="1300" dirty="0">
                <a:solidFill>
                  <a:srgbClr val="5B6B85"/>
                </a:solidFill>
              </a:rPr>
              <a:t>Why follow-up breaks down and how we designed around it</a:t>
            </a:r>
            <a:endParaRPr lang="en-US" sz="1300" dirty="0"/>
          </a:p>
        </p:txBody>
      </p:sp>
      <p:sp>
        <p:nvSpPr>
          <p:cNvPr id="10" name="Text 7"/>
          <p:cNvSpPr txBox="1"/>
          <p:nvPr/>
        </p:nvSpPr>
        <p:spPr>
          <a:xfrm>
            <a:off x="8229600" y="1691640"/>
            <a:ext cx="2377440" cy="914400"/>
          </a:xfrm>
          <a:prstGeom prst="rect">
            <a:avLst/>
          </a:prstGeom>
          <a:noFill/>
          <a:ln/>
        </p:spPr>
        <p:txBody>
          <a:bodyPr wrap="square" lIns="0" tIns="0" rIns="0" bIns="0" rtlCol="0" anchor="ctr"/>
          <a:lstStyle/>
          <a:p>
            <a:pPr algn="r" indent="0" marL="0">
              <a:buNone/>
            </a:pPr>
            <a:r>
              <a:rPr lang="en-US" sz="1400" b="1" dirty="0">
                <a:solidFill>
                  <a:srgbClr val="0B2A5B"/>
                </a:solidFill>
              </a:rPr>
              <a:t>Amey Patil</a:t>
            </a:r>
            <a:endParaRPr lang="en-US" sz="1400" dirty="0"/>
          </a:p>
        </p:txBody>
      </p:sp>
      <p:sp>
        <p:nvSpPr>
          <p:cNvPr id="11" name="Shape 8"/>
          <p:cNvSpPr/>
          <p:nvPr/>
        </p:nvSpPr>
        <p:spPr>
          <a:xfrm>
            <a:off x="10789920" y="1874520"/>
            <a:ext cx="548640" cy="548640"/>
          </a:xfrm>
          <a:prstGeom prst="ellipse">
            <a:avLst/>
          </a:prstGeom>
          <a:solidFill>
            <a:srgbClr val="2563EB"/>
          </a:solidFill>
          <a:ln w="6350">
            <a:solidFill>
              <a:srgbClr val="2563EB"/>
            </a:solidFill>
            <a:prstDash val="solid"/>
          </a:ln>
        </p:spPr>
      </p:sp>
      <p:pic>
        <p:nvPicPr>
          <p:cNvPr id="12" name="Image 0" descr="FaBullseye">    </p:cNvPr>
          <p:cNvPicPr>
            <a:picLocks noChangeAspect="1"/>
          </p:cNvPicPr>
          <p:nvPr/>
        </p:nvPicPr>
        <p:blipFill>
          <a:blip r:embed="rId1"/>
          <a:stretch>
            <a:fillRect/>
          </a:stretch>
        </p:blipFill>
        <p:spPr>
          <a:xfrm>
            <a:off x="10938053" y="2022653"/>
            <a:ext cx="252374" cy="252374"/>
          </a:xfrm>
          <a:prstGeom prst="rect">
            <a:avLst/>
          </a:prstGeom>
        </p:spPr>
      </p:pic>
      <p:sp>
        <p:nvSpPr>
          <p:cNvPr id="13" name="Shape 9"/>
          <p:cNvSpPr/>
          <p:nvPr/>
        </p:nvSpPr>
        <p:spPr>
          <a:xfrm>
            <a:off x="640080" y="2788920"/>
            <a:ext cx="10908792" cy="914400"/>
          </a:xfrm>
          <a:prstGeom prst="roundRect">
            <a:avLst>
              <a:gd name="adj" fmla="val 70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4" name="Shape 10"/>
          <p:cNvSpPr/>
          <p:nvPr/>
        </p:nvSpPr>
        <p:spPr>
          <a:xfrm>
            <a:off x="640080" y="2788920"/>
            <a:ext cx="91440" cy="914400"/>
          </a:xfrm>
          <a:prstGeom prst="rect">
            <a:avLst/>
          </a:prstGeom>
          <a:solidFill>
            <a:srgbClr val="0E9F9E"/>
          </a:solidFill>
          <a:ln w="12700">
            <a:solidFill>
              <a:srgbClr val="0E9F9E"/>
            </a:solidFill>
            <a:prstDash val="solid"/>
          </a:ln>
        </p:spPr>
      </p:sp>
      <p:sp>
        <p:nvSpPr>
          <p:cNvPr id="15" name="Text 11"/>
          <p:cNvSpPr txBox="1"/>
          <p:nvPr/>
        </p:nvSpPr>
        <p:spPr>
          <a:xfrm>
            <a:off x="960120" y="2788920"/>
            <a:ext cx="822960" cy="914400"/>
          </a:xfrm>
          <a:prstGeom prst="rect">
            <a:avLst/>
          </a:prstGeom>
          <a:noFill/>
          <a:ln/>
        </p:spPr>
        <p:txBody>
          <a:bodyPr wrap="square" lIns="0" tIns="0" rIns="0" bIns="0" rtlCol="0" anchor="ctr"/>
          <a:lstStyle/>
          <a:p>
            <a:pPr indent="0" marL="0">
              <a:buNone/>
            </a:pPr>
            <a:r>
              <a:rPr lang="en-US" sz="2800" b="1" dirty="0">
                <a:solidFill>
                  <a:srgbClr val="0E9F9E"/>
                </a:solidFill>
              </a:rPr>
              <a:t>02</a:t>
            </a:r>
            <a:endParaRPr lang="en-US" sz="2800" dirty="0"/>
          </a:p>
        </p:txBody>
      </p:sp>
      <p:sp>
        <p:nvSpPr>
          <p:cNvPr id="16" name="Text 12"/>
          <p:cNvSpPr txBox="1"/>
          <p:nvPr/>
        </p:nvSpPr>
        <p:spPr>
          <a:xfrm>
            <a:off x="1828800" y="2944368"/>
            <a:ext cx="5943600" cy="329184"/>
          </a:xfrm>
          <a:prstGeom prst="rect">
            <a:avLst/>
          </a:prstGeom>
          <a:noFill/>
          <a:ln/>
        </p:spPr>
        <p:txBody>
          <a:bodyPr wrap="square" lIns="0" tIns="0" rIns="0" bIns="0" rtlCol="0" anchor="t"/>
          <a:lstStyle/>
          <a:p>
            <a:pPr indent="0" marL="0">
              <a:buNone/>
            </a:pPr>
            <a:r>
              <a:rPr lang="en-US" sz="1800" b="1" dirty="0">
                <a:solidFill>
                  <a:srgbClr val="0B2A5B"/>
                </a:solidFill>
              </a:rPr>
              <a:t>Architecture and the six agents</a:t>
            </a:r>
            <a:endParaRPr lang="en-US" sz="1800" dirty="0"/>
          </a:p>
        </p:txBody>
      </p:sp>
      <p:sp>
        <p:nvSpPr>
          <p:cNvPr id="17" name="Text 13"/>
          <p:cNvSpPr txBox="1"/>
          <p:nvPr/>
        </p:nvSpPr>
        <p:spPr>
          <a:xfrm>
            <a:off x="1828800" y="3291840"/>
            <a:ext cx="6035040" cy="274320"/>
          </a:xfrm>
          <a:prstGeom prst="rect">
            <a:avLst/>
          </a:prstGeom>
          <a:noFill/>
          <a:ln/>
        </p:spPr>
        <p:txBody>
          <a:bodyPr wrap="square" lIns="0" tIns="0" rIns="0" bIns="0" rtlCol="0" anchor="t"/>
          <a:lstStyle/>
          <a:p>
            <a:pPr indent="0" marL="0">
              <a:buNone/>
            </a:pPr>
            <a:r>
              <a:rPr lang="en-US" sz="1300" dirty="0">
                <a:solidFill>
                  <a:srgbClr val="5B6B85"/>
                </a:solidFill>
              </a:rPr>
              <a:t>How a request flows through Azure and Foundry</a:t>
            </a:r>
            <a:endParaRPr lang="en-US" sz="1300" dirty="0"/>
          </a:p>
        </p:txBody>
      </p:sp>
      <p:sp>
        <p:nvSpPr>
          <p:cNvPr id="18" name="Text 14"/>
          <p:cNvSpPr txBox="1"/>
          <p:nvPr/>
        </p:nvSpPr>
        <p:spPr>
          <a:xfrm>
            <a:off x="8229600" y="2788920"/>
            <a:ext cx="2377440" cy="914400"/>
          </a:xfrm>
          <a:prstGeom prst="rect">
            <a:avLst/>
          </a:prstGeom>
          <a:noFill/>
          <a:ln/>
        </p:spPr>
        <p:txBody>
          <a:bodyPr wrap="square" lIns="0" tIns="0" rIns="0" bIns="0" rtlCol="0" anchor="ctr"/>
          <a:lstStyle/>
          <a:p>
            <a:pPr algn="r" indent="0" marL="0">
              <a:buNone/>
            </a:pPr>
            <a:r>
              <a:rPr lang="en-US" sz="1400" b="1" dirty="0">
                <a:solidFill>
                  <a:srgbClr val="0B2A5B"/>
                </a:solidFill>
              </a:rPr>
              <a:t>Saurabh Singh</a:t>
            </a:r>
            <a:endParaRPr lang="en-US" sz="1400" dirty="0"/>
          </a:p>
        </p:txBody>
      </p:sp>
      <p:sp>
        <p:nvSpPr>
          <p:cNvPr id="19" name="Shape 15"/>
          <p:cNvSpPr/>
          <p:nvPr/>
        </p:nvSpPr>
        <p:spPr>
          <a:xfrm>
            <a:off x="10789920" y="2971800"/>
            <a:ext cx="548640" cy="548640"/>
          </a:xfrm>
          <a:prstGeom prst="ellipse">
            <a:avLst/>
          </a:prstGeom>
          <a:solidFill>
            <a:srgbClr val="0E9F9E"/>
          </a:solidFill>
          <a:ln w="6350">
            <a:solidFill>
              <a:srgbClr val="0E9F9E"/>
            </a:solidFill>
            <a:prstDash val="solid"/>
          </a:ln>
        </p:spPr>
      </p:sp>
      <p:pic>
        <p:nvPicPr>
          <p:cNvPr id="20" name="Image 1" descr="FaProjectDiagram">    </p:cNvPr>
          <p:cNvPicPr>
            <a:picLocks noChangeAspect="1"/>
          </p:cNvPicPr>
          <p:nvPr/>
        </p:nvPicPr>
        <p:blipFill>
          <a:blip r:embed="rId2"/>
          <a:stretch>
            <a:fillRect/>
          </a:stretch>
        </p:blipFill>
        <p:spPr>
          <a:xfrm>
            <a:off x="10938053" y="3119933"/>
            <a:ext cx="252374" cy="252374"/>
          </a:xfrm>
          <a:prstGeom prst="rect">
            <a:avLst/>
          </a:prstGeom>
        </p:spPr>
      </p:pic>
      <p:sp>
        <p:nvSpPr>
          <p:cNvPr id="21" name="Shape 16"/>
          <p:cNvSpPr/>
          <p:nvPr/>
        </p:nvSpPr>
        <p:spPr>
          <a:xfrm>
            <a:off x="640080" y="3886200"/>
            <a:ext cx="10908792" cy="914400"/>
          </a:xfrm>
          <a:prstGeom prst="roundRect">
            <a:avLst>
              <a:gd name="adj" fmla="val 70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22" name="Shape 17"/>
          <p:cNvSpPr/>
          <p:nvPr/>
        </p:nvSpPr>
        <p:spPr>
          <a:xfrm>
            <a:off x="640080" y="3886200"/>
            <a:ext cx="91440" cy="914400"/>
          </a:xfrm>
          <a:prstGeom prst="rect">
            <a:avLst/>
          </a:prstGeom>
          <a:solidFill>
            <a:srgbClr val="2563EB"/>
          </a:solidFill>
          <a:ln w="12700">
            <a:solidFill>
              <a:srgbClr val="2563EB"/>
            </a:solidFill>
            <a:prstDash val="solid"/>
          </a:ln>
        </p:spPr>
      </p:sp>
      <p:sp>
        <p:nvSpPr>
          <p:cNvPr id="23" name="Text 18"/>
          <p:cNvSpPr txBox="1"/>
          <p:nvPr/>
        </p:nvSpPr>
        <p:spPr>
          <a:xfrm>
            <a:off x="960120" y="3886200"/>
            <a:ext cx="822960" cy="914400"/>
          </a:xfrm>
          <a:prstGeom prst="rect">
            <a:avLst/>
          </a:prstGeom>
          <a:noFill/>
          <a:ln/>
        </p:spPr>
        <p:txBody>
          <a:bodyPr wrap="square" lIns="0" tIns="0" rIns="0" bIns="0" rtlCol="0" anchor="ctr"/>
          <a:lstStyle/>
          <a:p>
            <a:pPr indent="0" marL="0">
              <a:buNone/>
            </a:pPr>
            <a:r>
              <a:rPr lang="en-US" sz="2800" b="1" dirty="0">
                <a:solidFill>
                  <a:srgbClr val="2563EB"/>
                </a:solidFill>
              </a:rPr>
              <a:t>03</a:t>
            </a:r>
            <a:endParaRPr lang="en-US" sz="2800" dirty="0"/>
          </a:p>
        </p:txBody>
      </p:sp>
      <p:sp>
        <p:nvSpPr>
          <p:cNvPr id="24" name="Text 19"/>
          <p:cNvSpPr txBox="1"/>
          <p:nvPr/>
        </p:nvSpPr>
        <p:spPr>
          <a:xfrm>
            <a:off x="1828800" y="4041648"/>
            <a:ext cx="5943600" cy="329184"/>
          </a:xfrm>
          <a:prstGeom prst="rect">
            <a:avLst/>
          </a:prstGeom>
          <a:noFill/>
          <a:ln/>
        </p:spPr>
        <p:txBody>
          <a:bodyPr wrap="square" lIns="0" tIns="0" rIns="0" bIns="0" rtlCol="0" anchor="t"/>
          <a:lstStyle/>
          <a:p>
            <a:pPr indent="0" marL="0">
              <a:buNone/>
            </a:pPr>
            <a:r>
              <a:rPr lang="en-US" sz="1800" b="1" dirty="0">
                <a:solidFill>
                  <a:srgbClr val="0B2A5B"/>
                </a:solidFill>
              </a:rPr>
              <a:t>Safety rules and approved knowledge</a:t>
            </a:r>
            <a:endParaRPr lang="en-US" sz="1800" dirty="0"/>
          </a:p>
        </p:txBody>
      </p:sp>
      <p:sp>
        <p:nvSpPr>
          <p:cNvPr id="25" name="Text 20"/>
          <p:cNvSpPr txBox="1"/>
          <p:nvPr/>
        </p:nvSpPr>
        <p:spPr>
          <a:xfrm>
            <a:off x="1828800" y="4389120"/>
            <a:ext cx="6035040" cy="274320"/>
          </a:xfrm>
          <a:prstGeom prst="rect">
            <a:avLst/>
          </a:prstGeom>
          <a:noFill/>
          <a:ln/>
        </p:spPr>
        <p:txBody>
          <a:bodyPr wrap="square" lIns="0" tIns="0" rIns="0" bIns="0" rtlCol="0" anchor="t"/>
          <a:lstStyle/>
          <a:p>
            <a:pPr indent="0" marL="0">
              <a:buNone/>
            </a:pPr>
            <a:r>
              <a:rPr lang="en-US" sz="1300" dirty="0">
                <a:solidFill>
                  <a:srgbClr val="5B6B85"/>
                </a:solidFill>
              </a:rPr>
              <a:t>Human hand-offs, retrieval and Azure services</a:t>
            </a:r>
            <a:endParaRPr lang="en-US" sz="1300" dirty="0"/>
          </a:p>
        </p:txBody>
      </p:sp>
      <p:sp>
        <p:nvSpPr>
          <p:cNvPr id="26" name="Text 21"/>
          <p:cNvSpPr txBox="1"/>
          <p:nvPr/>
        </p:nvSpPr>
        <p:spPr>
          <a:xfrm>
            <a:off x="8229600" y="3886200"/>
            <a:ext cx="2377440" cy="914400"/>
          </a:xfrm>
          <a:prstGeom prst="rect">
            <a:avLst/>
          </a:prstGeom>
          <a:noFill/>
          <a:ln/>
        </p:spPr>
        <p:txBody>
          <a:bodyPr wrap="square" lIns="0" tIns="0" rIns="0" bIns="0" rtlCol="0" anchor="ctr"/>
          <a:lstStyle/>
          <a:p>
            <a:pPr algn="r" indent="0" marL="0">
              <a:buNone/>
            </a:pPr>
            <a:r>
              <a:rPr lang="en-US" sz="1400" b="1" dirty="0">
                <a:solidFill>
                  <a:srgbClr val="0B2A5B"/>
                </a:solidFill>
              </a:rPr>
              <a:t>Sujit Raut</a:t>
            </a:r>
            <a:endParaRPr lang="en-US" sz="1400" dirty="0"/>
          </a:p>
        </p:txBody>
      </p:sp>
      <p:sp>
        <p:nvSpPr>
          <p:cNvPr id="27" name="Shape 22"/>
          <p:cNvSpPr/>
          <p:nvPr/>
        </p:nvSpPr>
        <p:spPr>
          <a:xfrm>
            <a:off x="10789920" y="4069080"/>
            <a:ext cx="548640" cy="548640"/>
          </a:xfrm>
          <a:prstGeom prst="ellipse">
            <a:avLst/>
          </a:prstGeom>
          <a:solidFill>
            <a:srgbClr val="2563EB"/>
          </a:solidFill>
          <a:ln w="6350">
            <a:solidFill>
              <a:srgbClr val="2563EB"/>
            </a:solidFill>
            <a:prstDash val="solid"/>
          </a:ln>
        </p:spPr>
      </p:sp>
      <p:pic>
        <p:nvPicPr>
          <p:cNvPr id="28" name="Image 2" descr="FaShieldAlt">    </p:cNvPr>
          <p:cNvPicPr>
            <a:picLocks noChangeAspect="1"/>
          </p:cNvPicPr>
          <p:nvPr/>
        </p:nvPicPr>
        <p:blipFill>
          <a:blip r:embed="rId3"/>
          <a:stretch>
            <a:fillRect/>
          </a:stretch>
        </p:blipFill>
        <p:spPr>
          <a:xfrm>
            <a:off x="10938053" y="4217213"/>
            <a:ext cx="252374" cy="252374"/>
          </a:xfrm>
          <a:prstGeom prst="rect">
            <a:avLst/>
          </a:prstGeom>
        </p:spPr>
      </p:pic>
      <p:sp>
        <p:nvSpPr>
          <p:cNvPr id="29" name="Shape 23"/>
          <p:cNvSpPr/>
          <p:nvPr/>
        </p:nvSpPr>
        <p:spPr>
          <a:xfrm>
            <a:off x="640080" y="4983480"/>
            <a:ext cx="10908792" cy="914400"/>
          </a:xfrm>
          <a:prstGeom prst="roundRect">
            <a:avLst>
              <a:gd name="adj" fmla="val 70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30" name="Shape 24"/>
          <p:cNvSpPr/>
          <p:nvPr/>
        </p:nvSpPr>
        <p:spPr>
          <a:xfrm>
            <a:off x="640080" y="4983480"/>
            <a:ext cx="91440" cy="914400"/>
          </a:xfrm>
          <a:prstGeom prst="rect">
            <a:avLst/>
          </a:prstGeom>
          <a:solidFill>
            <a:srgbClr val="0E9F9E"/>
          </a:solidFill>
          <a:ln w="12700">
            <a:solidFill>
              <a:srgbClr val="0E9F9E"/>
            </a:solidFill>
            <a:prstDash val="solid"/>
          </a:ln>
        </p:spPr>
      </p:sp>
      <p:sp>
        <p:nvSpPr>
          <p:cNvPr id="31" name="Text 25"/>
          <p:cNvSpPr txBox="1"/>
          <p:nvPr/>
        </p:nvSpPr>
        <p:spPr>
          <a:xfrm>
            <a:off x="960120" y="4983480"/>
            <a:ext cx="822960" cy="914400"/>
          </a:xfrm>
          <a:prstGeom prst="rect">
            <a:avLst/>
          </a:prstGeom>
          <a:noFill/>
          <a:ln/>
        </p:spPr>
        <p:txBody>
          <a:bodyPr wrap="square" lIns="0" tIns="0" rIns="0" bIns="0" rtlCol="0" anchor="ctr"/>
          <a:lstStyle/>
          <a:p>
            <a:pPr indent="0" marL="0">
              <a:buNone/>
            </a:pPr>
            <a:r>
              <a:rPr lang="en-US" sz="2800" b="1" dirty="0">
                <a:solidFill>
                  <a:srgbClr val="0E9F9E"/>
                </a:solidFill>
              </a:rPr>
              <a:t>04</a:t>
            </a:r>
            <a:endParaRPr lang="en-US" sz="2800" dirty="0"/>
          </a:p>
        </p:txBody>
      </p:sp>
      <p:sp>
        <p:nvSpPr>
          <p:cNvPr id="32" name="Text 26"/>
          <p:cNvSpPr txBox="1"/>
          <p:nvPr/>
        </p:nvSpPr>
        <p:spPr>
          <a:xfrm>
            <a:off x="1828800" y="5138928"/>
            <a:ext cx="5943600" cy="329184"/>
          </a:xfrm>
          <a:prstGeom prst="rect">
            <a:avLst/>
          </a:prstGeom>
          <a:noFill/>
          <a:ln/>
        </p:spPr>
        <p:txBody>
          <a:bodyPr wrap="square" lIns="0" tIns="0" rIns="0" bIns="0" rtlCol="0" anchor="t"/>
          <a:lstStyle/>
          <a:p>
            <a:pPr indent="0" marL="0">
              <a:buNone/>
            </a:pPr>
            <a:r>
              <a:rPr lang="en-US" sz="1800" b="1" dirty="0">
                <a:solidFill>
                  <a:srgbClr val="0B2A5B"/>
                </a:solidFill>
              </a:rPr>
              <a:t>Validation, operations and roadmap</a:t>
            </a:r>
            <a:endParaRPr lang="en-US" sz="1800" dirty="0"/>
          </a:p>
        </p:txBody>
      </p:sp>
      <p:sp>
        <p:nvSpPr>
          <p:cNvPr id="33" name="Text 27"/>
          <p:cNvSpPr txBox="1"/>
          <p:nvPr/>
        </p:nvSpPr>
        <p:spPr>
          <a:xfrm>
            <a:off x="1828800" y="5486400"/>
            <a:ext cx="6035040" cy="274320"/>
          </a:xfrm>
          <a:prstGeom prst="rect">
            <a:avLst/>
          </a:prstGeom>
          <a:noFill/>
          <a:ln/>
        </p:spPr>
        <p:txBody>
          <a:bodyPr wrap="square" lIns="0" tIns="0" rIns="0" bIns="0" rtlCol="0" anchor="t"/>
          <a:lstStyle/>
          <a:p>
            <a:pPr indent="0" marL="0">
              <a:buNone/>
            </a:pPr>
            <a:r>
              <a:rPr lang="en-US" sz="1300" dirty="0">
                <a:solidFill>
                  <a:srgbClr val="5B6B85"/>
                </a:solidFill>
              </a:rPr>
              <a:t>Live test evidence and the path to production</a:t>
            </a:r>
            <a:endParaRPr lang="en-US" sz="1300" dirty="0"/>
          </a:p>
        </p:txBody>
      </p:sp>
      <p:sp>
        <p:nvSpPr>
          <p:cNvPr id="34" name="Text 28"/>
          <p:cNvSpPr txBox="1"/>
          <p:nvPr/>
        </p:nvSpPr>
        <p:spPr>
          <a:xfrm>
            <a:off x="8229600" y="4983480"/>
            <a:ext cx="2377440" cy="914400"/>
          </a:xfrm>
          <a:prstGeom prst="rect">
            <a:avLst/>
          </a:prstGeom>
          <a:noFill/>
          <a:ln/>
        </p:spPr>
        <p:txBody>
          <a:bodyPr wrap="square" lIns="0" tIns="0" rIns="0" bIns="0" rtlCol="0" anchor="ctr"/>
          <a:lstStyle/>
          <a:p>
            <a:pPr algn="r" indent="0" marL="0">
              <a:buNone/>
            </a:pPr>
            <a:r>
              <a:rPr lang="en-US" sz="1400" b="1" dirty="0">
                <a:solidFill>
                  <a:srgbClr val="0B2A5B"/>
                </a:solidFill>
              </a:rPr>
              <a:t>Shubham Sahu</a:t>
            </a:r>
            <a:endParaRPr lang="en-US" sz="1400" dirty="0"/>
          </a:p>
        </p:txBody>
      </p:sp>
      <p:sp>
        <p:nvSpPr>
          <p:cNvPr id="35" name="Shape 29"/>
          <p:cNvSpPr/>
          <p:nvPr/>
        </p:nvSpPr>
        <p:spPr>
          <a:xfrm>
            <a:off x="10789920" y="5166360"/>
            <a:ext cx="548640" cy="548640"/>
          </a:xfrm>
          <a:prstGeom prst="ellipse">
            <a:avLst/>
          </a:prstGeom>
          <a:solidFill>
            <a:srgbClr val="0E9F9E"/>
          </a:solidFill>
          <a:ln w="6350">
            <a:solidFill>
              <a:srgbClr val="0E9F9E"/>
            </a:solidFill>
            <a:prstDash val="solid"/>
          </a:ln>
        </p:spPr>
      </p:sp>
      <p:pic>
        <p:nvPicPr>
          <p:cNvPr id="36" name="Image 3" descr="FaClipboardCheck">    </p:cNvPr>
          <p:cNvPicPr>
            <a:picLocks noChangeAspect="1"/>
          </p:cNvPicPr>
          <p:nvPr/>
        </p:nvPicPr>
        <p:blipFill>
          <a:blip r:embed="rId4"/>
          <a:stretch>
            <a:fillRect/>
          </a:stretch>
        </p:blipFill>
        <p:spPr>
          <a:xfrm>
            <a:off x="10938053" y="5314493"/>
            <a:ext cx="252374" cy="252374"/>
          </a:xfrm>
          <a:prstGeom prst="rect">
            <a:avLst/>
          </a:prstGeom>
        </p:spPr>
      </p:pic>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THE CHALLENGE</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Follow-up between visits relies on small, easily missed actions</a:t>
            </a:r>
            <a:endParaRPr lang="en-US" sz="2800" dirty="0"/>
          </a:p>
        </p:txBody>
      </p:sp>
      <p:sp>
        <p:nvSpPr>
          <p:cNvPr id="5" name="Shape 2"/>
          <p:cNvSpPr/>
          <p:nvPr/>
        </p:nvSpPr>
        <p:spPr>
          <a:xfrm>
            <a:off x="640080" y="1691640"/>
            <a:ext cx="3502152" cy="3200400"/>
          </a:xfrm>
          <a:prstGeom prst="roundRect">
            <a:avLst>
              <a:gd name="adj" fmla="val 20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6" name="Shape 3"/>
          <p:cNvSpPr/>
          <p:nvPr/>
        </p:nvSpPr>
        <p:spPr>
          <a:xfrm>
            <a:off x="914400" y="1920240"/>
            <a:ext cx="731520" cy="731520"/>
          </a:xfrm>
          <a:prstGeom prst="ellipse">
            <a:avLst/>
          </a:prstGeom>
          <a:solidFill>
            <a:srgbClr val="2563EB"/>
          </a:solidFill>
          <a:ln w="6350">
            <a:solidFill>
              <a:srgbClr val="2563EB"/>
            </a:solidFill>
            <a:prstDash val="solid"/>
          </a:ln>
        </p:spPr>
      </p:sp>
      <p:pic>
        <p:nvPicPr>
          <p:cNvPr id="7" name="Image 0" descr="FaChartLine">    </p:cNvPr>
          <p:cNvPicPr>
            <a:picLocks noChangeAspect="1"/>
          </p:cNvPicPr>
          <p:nvPr/>
        </p:nvPicPr>
        <p:blipFill>
          <a:blip r:embed="rId1"/>
          <a:stretch>
            <a:fillRect/>
          </a:stretch>
        </p:blipFill>
        <p:spPr>
          <a:xfrm>
            <a:off x="1111910" y="2117750"/>
            <a:ext cx="336499" cy="336499"/>
          </a:xfrm>
          <a:prstGeom prst="rect">
            <a:avLst/>
          </a:prstGeom>
        </p:spPr>
      </p:pic>
      <p:sp>
        <p:nvSpPr>
          <p:cNvPr id="8" name="Text 4"/>
          <p:cNvSpPr txBox="1"/>
          <p:nvPr/>
        </p:nvSpPr>
        <p:spPr>
          <a:xfrm>
            <a:off x="914400" y="2834640"/>
            <a:ext cx="2971800" cy="640080"/>
          </a:xfrm>
          <a:prstGeom prst="rect">
            <a:avLst/>
          </a:prstGeom>
          <a:noFill/>
          <a:ln/>
        </p:spPr>
        <p:txBody>
          <a:bodyPr wrap="square" lIns="0" tIns="0" rIns="0" bIns="0" rtlCol="0" anchor="t"/>
          <a:lstStyle/>
          <a:p>
            <a:pPr indent="0" marL="0">
              <a:buNone/>
            </a:pPr>
            <a:r>
              <a:rPr lang="en-US" sz="1800" b="1" dirty="0">
                <a:solidFill>
                  <a:srgbClr val="0B2A5B"/>
                </a:solidFill>
              </a:rPr>
              <a:t>Readings go missing or conflict</a:t>
            </a:r>
            <a:endParaRPr lang="en-US" sz="1800" dirty="0"/>
          </a:p>
        </p:txBody>
      </p:sp>
      <p:sp>
        <p:nvSpPr>
          <p:cNvPr id="9" name="Text 5"/>
          <p:cNvSpPr txBox="1"/>
          <p:nvPr/>
        </p:nvSpPr>
        <p:spPr>
          <a:xfrm>
            <a:off x="914400" y="3520440"/>
            <a:ext cx="2971800" cy="1280160"/>
          </a:xfrm>
          <a:prstGeom prst="rect">
            <a:avLst/>
          </a:prstGeom>
          <a:noFill/>
          <a:ln/>
        </p:spPr>
        <p:txBody>
          <a:bodyPr wrap="square" lIns="0" tIns="0" rIns="0" bIns="0" rtlCol="0" anchor="t"/>
          <a:lstStyle/>
          <a:p>
            <a:pPr indent="0" marL="0">
              <a:buNone/>
            </a:pPr>
            <a:r>
              <a:rPr lang="en-US" sz="1300" dirty="0">
                <a:solidFill>
                  <a:srgbClr val="5B6B85"/>
                </a:solidFill>
              </a:rPr>
              <a:t>Members forget to record home readings, or two entries for the same time disagree. Coordinators chase them by hand.</a:t>
            </a:r>
            <a:endParaRPr lang="en-US" sz="1300" dirty="0"/>
          </a:p>
        </p:txBody>
      </p:sp>
      <p:sp>
        <p:nvSpPr>
          <p:cNvPr id="10" name="Shape 6"/>
          <p:cNvSpPr/>
          <p:nvPr/>
        </p:nvSpPr>
        <p:spPr>
          <a:xfrm>
            <a:off x="4343400" y="1691640"/>
            <a:ext cx="3502152" cy="3200400"/>
          </a:xfrm>
          <a:prstGeom prst="roundRect">
            <a:avLst>
              <a:gd name="adj" fmla="val 20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1" name="Shape 7"/>
          <p:cNvSpPr/>
          <p:nvPr/>
        </p:nvSpPr>
        <p:spPr>
          <a:xfrm>
            <a:off x="4617720" y="1920240"/>
            <a:ext cx="731520" cy="731520"/>
          </a:xfrm>
          <a:prstGeom prst="ellipse">
            <a:avLst/>
          </a:prstGeom>
          <a:solidFill>
            <a:srgbClr val="0E9F9E"/>
          </a:solidFill>
          <a:ln w="6350">
            <a:solidFill>
              <a:srgbClr val="0E9F9E"/>
            </a:solidFill>
            <a:prstDash val="solid"/>
          </a:ln>
        </p:spPr>
      </p:sp>
      <p:pic>
        <p:nvPicPr>
          <p:cNvPr id="12" name="Image 1" descr="FaBookMedical">    </p:cNvPr>
          <p:cNvPicPr>
            <a:picLocks noChangeAspect="1"/>
          </p:cNvPicPr>
          <p:nvPr/>
        </p:nvPicPr>
        <p:blipFill>
          <a:blip r:embed="rId2"/>
          <a:stretch>
            <a:fillRect/>
          </a:stretch>
        </p:blipFill>
        <p:spPr>
          <a:xfrm>
            <a:off x="4815230" y="2117750"/>
            <a:ext cx="336499" cy="336499"/>
          </a:xfrm>
          <a:prstGeom prst="rect">
            <a:avLst/>
          </a:prstGeom>
        </p:spPr>
      </p:pic>
      <p:sp>
        <p:nvSpPr>
          <p:cNvPr id="13" name="Text 8"/>
          <p:cNvSpPr txBox="1"/>
          <p:nvPr/>
        </p:nvSpPr>
        <p:spPr>
          <a:xfrm>
            <a:off x="4617720" y="2834640"/>
            <a:ext cx="2971800" cy="640080"/>
          </a:xfrm>
          <a:prstGeom prst="rect">
            <a:avLst/>
          </a:prstGeom>
          <a:noFill/>
          <a:ln/>
        </p:spPr>
        <p:txBody>
          <a:bodyPr wrap="square" lIns="0" tIns="0" rIns="0" bIns="0" rtlCol="0" anchor="t"/>
          <a:lstStyle/>
          <a:p>
            <a:pPr indent="0" marL="0">
              <a:buNone/>
            </a:pPr>
            <a:r>
              <a:rPr lang="en-US" sz="1800" b="1" dirty="0">
                <a:solidFill>
                  <a:srgbClr val="0B2A5B"/>
                </a:solidFill>
              </a:rPr>
              <a:t>Questions need approved answers</a:t>
            </a:r>
            <a:endParaRPr lang="en-US" sz="1800" dirty="0"/>
          </a:p>
        </p:txBody>
      </p:sp>
      <p:sp>
        <p:nvSpPr>
          <p:cNvPr id="14" name="Text 9"/>
          <p:cNvSpPr txBox="1"/>
          <p:nvPr/>
        </p:nvSpPr>
        <p:spPr>
          <a:xfrm>
            <a:off x="4617720" y="3520440"/>
            <a:ext cx="2971800" cy="1280160"/>
          </a:xfrm>
          <a:prstGeom prst="rect">
            <a:avLst/>
          </a:prstGeom>
          <a:noFill/>
          <a:ln/>
        </p:spPr>
        <p:txBody>
          <a:bodyPr wrap="square" lIns="0" tIns="0" rIns="0" bIns="0" rtlCol="0" anchor="t"/>
          <a:lstStyle/>
          <a:p>
            <a:pPr indent="0" marL="0">
              <a:buNone/>
            </a:pPr>
            <a:r>
              <a:rPr lang="en-US" sz="1300" dirty="0">
                <a:solidFill>
                  <a:srgbClr val="5B6B85"/>
                </a:solidFill>
              </a:rPr>
              <a:t>Members ask how and why. A guess is not acceptable. The answer must come from content the programme has approved.</a:t>
            </a:r>
            <a:endParaRPr lang="en-US" sz="1300" dirty="0"/>
          </a:p>
        </p:txBody>
      </p:sp>
      <p:sp>
        <p:nvSpPr>
          <p:cNvPr id="15" name="Shape 10"/>
          <p:cNvSpPr/>
          <p:nvPr/>
        </p:nvSpPr>
        <p:spPr>
          <a:xfrm>
            <a:off x="8046720" y="1691640"/>
            <a:ext cx="3502152" cy="3200400"/>
          </a:xfrm>
          <a:prstGeom prst="roundRect">
            <a:avLst>
              <a:gd name="adj" fmla="val 20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6" name="Shape 11"/>
          <p:cNvSpPr/>
          <p:nvPr/>
        </p:nvSpPr>
        <p:spPr>
          <a:xfrm>
            <a:off x="8321040" y="1920240"/>
            <a:ext cx="731520" cy="731520"/>
          </a:xfrm>
          <a:prstGeom prst="ellipse">
            <a:avLst/>
          </a:prstGeom>
          <a:solidFill>
            <a:srgbClr val="F59E0B"/>
          </a:solidFill>
          <a:ln w="6350">
            <a:solidFill>
              <a:srgbClr val="F59E0B"/>
            </a:solidFill>
            <a:prstDash val="solid"/>
          </a:ln>
        </p:spPr>
      </p:sp>
      <p:pic>
        <p:nvPicPr>
          <p:cNvPr id="17" name="Image 2" descr="FaUserShield">    </p:cNvPr>
          <p:cNvPicPr>
            <a:picLocks noChangeAspect="1"/>
          </p:cNvPicPr>
          <p:nvPr/>
        </p:nvPicPr>
        <p:blipFill>
          <a:blip r:embed="rId3"/>
          <a:stretch>
            <a:fillRect/>
          </a:stretch>
        </p:blipFill>
        <p:spPr>
          <a:xfrm>
            <a:off x="8518550" y="2117750"/>
            <a:ext cx="336499" cy="336499"/>
          </a:xfrm>
          <a:prstGeom prst="rect">
            <a:avLst/>
          </a:prstGeom>
        </p:spPr>
      </p:pic>
      <p:sp>
        <p:nvSpPr>
          <p:cNvPr id="18" name="Text 12"/>
          <p:cNvSpPr txBox="1"/>
          <p:nvPr/>
        </p:nvSpPr>
        <p:spPr>
          <a:xfrm>
            <a:off x="8321040" y="2834640"/>
            <a:ext cx="2971800" cy="640080"/>
          </a:xfrm>
          <a:prstGeom prst="rect">
            <a:avLst/>
          </a:prstGeom>
          <a:noFill/>
          <a:ln/>
        </p:spPr>
        <p:txBody>
          <a:bodyPr wrap="square" lIns="0" tIns="0" rIns="0" bIns="0" rtlCol="0" anchor="t"/>
          <a:lstStyle/>
          <a:p>
            <a:pPr indent="0" marL="0">
              <a:buNone/>
            </a:pPr>
            <a:r>
              <a:rPr lang="en-US" sz="1800" b="1" dirty="0">
                <a:solidFill>
                  <a:srgbClr val="0B2A5B"/>
                </a:solidFill>
              </a:rPr>
              <a:t>Risk is buried in routine work</a:t>
            </a:r>
            <a:endParaRPr lang="en-US" sz="1800" dirty="0"/>
          </a:p>
        </p:txBody>
      </p:sp>
      <p:sp>
        <p:nvSpPr>
          <p:cNvPr id="19" name="Text 13"/>
          <p:cNvSpPr txBox="1"/>
          <p:nvPr/>
        </p:nvSpPr>
        <p:spPr>
          <a:xfrm>
            <a:off x="8321040" y="3520440"/>
            <a:ext cx="2971800" cy="1280160"/>
          </a:xfrm>
          <a:prstGeom prst="rect">
            <a:avLst/>
          </a:prstGeom>
          <a:noFill/>
          <a:ln/>
        </p:spPr>
        <p:txBody>
          <a:bodyPr wrap="square" lIns="0" tIns="0" rIns="0" bIns="0" rtlCol="0" anchor="t"/>
          <a:lstStyle/>
          <a:p>
            <a:pPr indent="0" marL="0">
              <a:buNone/>
            </a:pPr>
            <a:r>
              <a:rPr lang="en-US" sz="1300" dirty="0">
                <a:solidFill>
                  <a:srgbClr val="5B6B85"/>
                </a:solidFill>
              </a:rPr>
              <a:t>The few cases that truly need a clinician or coordinator are hard to see among hundreds of routine requests.</a:t>
            </a:r>
            <a:endParaRPr lang="en-US" sz="1300" dirty="0"/>
          </a:p>
        </p:txBody>
      </p:sp>
      <p:sp>
        <p:nvSpPr>
          <p:cNvPr id="20" name="Shape 14"/>
          <p:cNvSpPr/>
          <p:nvPr/>
        </p:nvSpPr>
        <p:spPr>
          <a:xfrm>
            <a:off x="640080" y="5166360"/>
            <a:ext cx="10908792" cy="960120"/>
          </a:xfrm>
          <a:prstGeom prst="roundRect">
            <a:avLst>
              <a:gd name="adj" fmla="val 6667"/>
            </a:avLst>
          </a:prstGeom>
          <a:solidFill>
            <a:srgbClr val="0B2A5B"/>
          </a:solidFill>
          <a:ln w="12700">
            <a:solidFill>
              <a:srgbClr val="0B2A5B"/>
            </a:solidFill>
            <a:prstDash val="solid"/>
          </a:ln>
        </p:spPr>
      </p:sp>
      <p:sp>
        <p:nvSpPr>
          <p:cNvPr id="21" name="Text 15"/>
          <p:cNvSpPr txBox="1"/>
          <p:nvPr/>
        </p:nvSpPr>
        <p:spPr>
          <a:xfrm>
            <a:off x="914400" y="5166360"/>
            <a:ext cx="1463040" cy="960120"/>
          </a:xfrm>
          <a:prstGeom prst="rect">
            <a:avLst/>
          </a:prstGeom>
          <a:noFill/>
          <a:ln/>
        </p:spPr>
        <p:txBody>
          <a:bodyPr wrap="square" lIns="0" tIns="0" rIns="0" bIns="0" rtlCol="0" anchor="ctr"/>
          <a:lstStyle/>
          <a:p>
            <a:pPr indent="0" marL="0">
              <a:buNone/>
            </a:pPr>
            <a:r>
              <a:rPr lang="en-US" sz="1300" b="1" spc="200" kern="0" dirty="0">
                <a:solidFill>
                  <a:srgbClr val="5FD6D5"/>
                </a:solidFill>
              </a:rPr>
              <a:t>The brief</a:t>
            </a:r>
            <a:endParaRPr lang="en-US" sz="1300" dirty="0"/>
          </a:p>
        </p:txBody>
      </p:sp>
      <p:sp>
        <p:nvSpPr>
          <p:cNvPr id="22" name="Text 16"/>
          <p:cNvSpPr txBox="1"/>
          <p:nvPr/>
        </p:nvSpPr>
        <p:spPr>
          <a:xfrm>
            <a:off x="2377440" y="5166360"/>
            <a:ext cx="8961120" cy="960120"/>
          </a:xfrm>
          <a:prstGeom prst="rect">
            <a:avLst/>
          </a:prstGeom>
          <a:noFill/>
          <a:ln/>
        </p:spPr>
        <p:txBody>
          <a:bodyPr wrap="square" lIns="0" tIns="0" rIns="0" bIns="0" rtlCol="0" anchor="ctr"/>
          <a:lstStyle/>
          <a:p>
            <a:pPr indent="0" marL="0">
              <a:buNone/>
            </a:pPr>
            <a:r>
              <a:rPr lang="en-US" sz="1700" b="1" dirty="0">
                <a:solidFill>
                  <a:srgbClr val="FFFFFF"/>
                </a:solidFill>
              </a:rPr>
              <a:t>Organise the information. Never diagnose, never give medical advice, never change medicines. Hand risky cases to humans.</a:t>
            </a:r>
            <a:endParaRPr lang="en-US" sz="17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OUR APPROACH</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Code decides the facts. Agents only word them.</a:t>
            </a:r>
            <a:endParaRPr lang="en-US" sz="2800" dirty="0"/>
          </a:p>
        </p:txBody>
      </p:sp>
      <p:sp>
        <p:nvSpPr>
          <p:cNvPr id="5" name="Text 2"/>
          <p:cNvSpPr txBox="1"/>
          <p:nvPr/>
        </p:nvSpPr>
        <p:spPr>
          <a:xfrm>
            <a:off x="640080" y="1691640"/>
            <a:ext cx="5120640" cy="274320"/>
          </a:xfrm>
          <a:prstGeom prst="rect">
            <a:avLst/>
          </a:prstGeom>
          <a:noFill/>
          <a:ln/>
        </p:spPr>
        <p:txBody>
          <a:bodyPr wrap="square" lIns="0" tIns="0" rIns="0" bIns="0" rtlCol="0" anchor="t"/>
          <a:lstStyle/>
          <a:p>
            <a:pPr indent="0" marL="0">
              <a:buNone/>
            </a:pPr>
            <a:r>
              <a:rPr lang="en-US" sz="1200" b="1" spc="300" kern="0" dirty="0">
                <a:solidFill>
                  <a:srgbClr val="2563EB"/>
                </a:solidFill>
              </a:rPr>
              <a:t>DECIDED BY CODE</a:t>
            </a:r>
            <a:endParaRPr lang="en-US" sz="1200" dirty="0"/>
          </a:p>
        </p:txBody>
      </p:sp>
      <p:sp>
        <p:nvSpPr>
          <p:cNvPr id="6" name="Text 3"/>
          <p:cNvSpPr txBox="1"/>
          <p:nvPr/>
        </p:nvSpPr>
        <p:spPr>
          <a:xfrm>
            <a:off x="6428232" y="1691640"/>
            <a:ext cx="5120640" cy="274320"/>
          </a:xfrm>
          <a:prstGeom prst="rect">
            <a:avLst/>
          </a:prstGeom>
          <a:noFill/>
          <a:ln/>
        </p:spPr>
        <p:txBody>
          <a:bodyPr wrap="square" lIns="0" tIns="0" rIns="0" bIns="0" rtlCol="0" anchor="t"/>
          <a:lstStyle/>
          <a:p>
            <a:pPr indent="0" marL="0">
              <a:buNone/>
            </a:pPr>
            <a:r>
              <a:rPr lang="en-US" sz="1200" b="1" spc="300" kern="0" dirty="0">
                <a:solidFill>
                  <a:srgbClr val="0E9F9E"/>
                </a:solidFill>
              </a:rPr>
              <a:t>WORDED BY AGENTS</a:t>
            </a:r>
            <a:endParaRPr lang="en-US" sz="1200" dirty="0"/>
          </a:p>
        </p:txBody>
      </p:sp>
      <p:sp>
        <p:nvSpPr>
          <p:cNvPr id="7" name="Shape 4"/>
          <p:cNvSpPr/>
          <p:nvPr/>
        </p:nvSpPr>
        <p:spPr>
          <a:xfrm>
            <a:off x="640080" y="2057400"/>
            <a:ext cx="5120640" cy="566928"/>
          </a:xfrm>
          <a:prstGeom prst="roundRect">
            <a:avLst>
              <a:gd name="adj" fmla="val 1129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8" name="Text 5"/>
          <p:cNvSpPr txBox="1"/>
          <p:nvPr/>
        </p:nvSpPr>
        <p:spPr>
          <a:xfrm>
            <a:off x="914400" y="2057400"/>
            <a:ext cx="4663440" cy="566928"/>
          </a:xfrm>
          <a:prstGeom prst="rect">
            <a:avLst/>
          </a:prstGeom>
          <a:noFill/>
          <a:ln/>
        </p:spPr>
        <p:txBody>
          <a:bodyPr wrap="square" lIns="0" tIns="0" rIns="0" bIns="0" rtlCol="0" anchor="ctr"/>
          <a:lstStyle/>
          <a:p>
            <a:pPr indent="0" marL="0">
              <a:buNone/>
            </a:pPr>
            <a:r>
              <a:rPr lang="en-US" sz="1400" b="1" dirty="0">
                <a:solidFill>
                  <a:srgbClr val="0B2A5B"/>
                </a:solidFill>
              </a:rPr>
              <a:t>Consent and member checks</a:t>
            </a:r>
            <a:endParaRPr lang="en-US" sz="1400" dirty="0"/>
          </a:p>
        </p:txBody>
      </p:sp>
      <p:sp>
        <p:nvSpPr>
          <p:cNvPr id="9" name="Shape 6"/>
          <p:cNvSpPr/>
          <p:nvPr/>
        </p:nvSpPr>
        <p:spPr>
          <a:xfrm>
            <a:off x="6428232" y="2057400"/>
            <a:ext cx="5120640" cy="566928"/>
          </a:xfrm>
          <a:prstGeom prst="roundRect">
            <a:avLst>
              <a:gd name="adj" fmla="val 1129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0" name="Text 7"/>
          <p:cNvSpPr txBox="1"/>
          <p:nvPr/>
        </p:nvSpPr>
        <p:spPr>
          <a:xfrm>
            <a:off x="6702552" y="2057400"/>
            <a:ext cx="4663440" cy="566928"/>
          </a:xfrm>
          <a:prstGeom prst="rect">
            <a:avLst/>
          </a:prstGeom>
          <a:noFill/>
          <a:ln/>
        </p:spPr>
        <p:txBody>
          <a:bodyPr wrap="square" lIns="0" tIns="0" rIns="0" bIns="0" rtlCol="0" anchor="ctr"/>
          <a:lstStyle/>
          <a:p>
            <a:pPr indent="0" marL="0">
              <a:buNone/>
            </a:pPr>
            <a:r>
              <a:rPr lang="en-US" sz="1400" b="1" dirty="0">
                <a:solidFill>
                  <a:srgbClr val="0B2A5B"/>
                </a:solidFill>
              </a:rPr>
              <a:t>Reading summary in plain language</a:t>
            </a:r>
            <a:endParaRPr lang="en-US" sz="1400" dirty="0"/>
          </a:p>
        </p:txBody>
      </p:sp>
      <p:sp>
        <p:nvSpPr>
          <p:cNvPr id="11" name="Shape 8"/>
          <p:cNvSpPr/>
          <p:nvPr/>
        </p:nvSpPr>
        <p:spPr>
          <a:xfrm>
            <a:off x="640080" y="2770632"/>
            <a:ext cx="5120640" cy="566928"/>
          </a:xfrm>
          <a:prstGeom prst="roundRect">
            <a:avLst>
              <a:gd name="adj" fmla="val 1129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2" name="Text 9"/>
          <p:cNvSpPr txBox="1"/>
          <p:nvPr/>
        </p:nvSpPr>
        <p:spPr>
          <a:xfrm>
            <a:off x="914400" y="2770632"/>
            <a:ext cx="4663440" cy="566928"/>
          </a:xfrm>
          <a:prstGeom prst="rect">
            <a:avLst/>
          </a:prstGeom>
          <a:noFill/>
          <a:ln/>
        </p:spPr>
        <p:txBody>
          <a:bodyPr wrap="square" lIns="0" tIns="0" rIns="0" bIns="0" rtlCol="0" anchor="ctr"/>
          <a:lstStyle/>
          <a:p>
            <a:pPr indent="0" marL="0">
              <a:buNone/>
            </a:pPr>
            <a:r>
              <a:rPr lang="en-US" sz="1400" b="1" dirty="0">
                <a:solidFill>
                  <a:srgbClr val="0B2A5B"/>
                </a:solidFill>
              </a:rPr>
              <a:t>Rule matching (ER-501 to ER-504)</a:t>
            </a:r>
            <a:endParaRPr lang="en-US" sz="1400" dirty="0"/>
          </a:p>
        </p:txBody>
      </p:sp>
      <p:sp>
        <p:nvSpPr>
          <p:cNvPr id="13" name="Shape 10"/>
          <p:cNvSpPr/>
          <p:nvPr/>
        </p:nvSpPr>
        <p:spPr>
          <a:xfrm>
            <a:off x="6428232" y="2770632"/>
            <a:ext cx="5120640" cy="566928"/>
          </a:xfrm>
          <a:prstGeom prst="roundRect">
            <a:avLst>
              <a:gd name="adj" fmla="val 1129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4" name="Text 11"/>
          <p:cNvSpPr txBox="1"/>
          <p:nvPr/>
        </p:nvSpPr>
        <p:spPr>
          <a:xfrm>
            <a:off x="6702552" y="2770632"/>
            <a:ext cx="4663440" cy="566928"/>
          </a:xfrm>
          <a:prstGeom prst="rect">
            <a:avLst/>
          </a:prstGeom>
          <a:noFill/>
          <a:ln/>
        </p:spPr>
        <p:txBody>
          <a:bodyPr wrap="square" lIns="0" tIns="0" rIns="0" bIns="0" rtlCol="0" anchor="ctr"/>
          <a:lstStyle/>
          <a:p>
            <a:pPr indent="0" marL="0">
              <a:buNone/>
            </a:pPr>
            <a:r>
              <a:rPr lang="en-US" sz="1400" b="1" dirty="0">
                <a:solidFill>
                  <a:srgbClr val="0B2A5B"/>
                </a:solidFill>
              </a:rPr>
              <a:t>Care-plan reminder text</a:t>
            </a:r>
            <a:endParaRPr lang="en-US" sz="1400" dirty="0"/>
          </a:p>
        </p:txBody>
      </p:sp>
      <p:sp>
        <p:nvSpPr>
          <p:cNvPr id="15" name="Shape 12"/>
          <p:cNvSpPr/>
          <p:nvPr/>
        </p:nvSpPr>
        <p:spPr>
          <a:xfrm>
            <a:off x="640080" y="3483864"/>
            <a:ext cx="5120640" cy="566928"/>
          </a:xfrm>
          <a:prstGeom prst="roundRect">
            <a:avLst>
              <a:gd name="adj" fmla="val 1129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6" name="Text 13"/>
          <p:cNvSpPr txBox="1"/>
          <p:nvPr/>
        </p:nvSpPr>
        <p:spPr>
          <a:xfrm>
            <a:off x="914400" y="3483864"/>
            <a:ext cx="4663440" cy="566928"/>
          </a:xfrm>
          <a:prstGeom prst="rect">
            <a:avLst/>
          </a:prstGeom>
          <a:noFill/>
          <a:ln/>
        </p:spPr>
        <p:txBody>
          <a:bodyPr wrap="square" lIns="0" tIns="0" rIns="0" bIns="0" rtlCol="0" anchor="ctr"/>
          <a:lstStyle/>
          <a:p>
            <a:pPr indent="0" marL="0">
              <a:buNone/>
            </a:pPr>
            <a:r>
              <a:rPr lang="en-US" sz="1400" b="1" dirty="0">
                <a:solidFill>
                  <a:srgbClr val="0B2A5B"/>
                </a:solidFill>
              </a:rPr>
              <a:t>Date windows, counts and missing-day detection</a:t>
            </a:r>
            <a:endParaRPr lang="en-US" sz="1400" dirty="0"/>
          </a:p>
        </p:txBody>
      </p:sp>
      <p:sp>
        <p:nvSpPr>
          <p:cNvPr id="17" name="Shape 14"/>
          <p:cNvSpPr/>
          <p:nvPr/>
        </p:nvSpPr>
        <p:spPr>
          <a:xfrm>
            <a:off x="6428232" y="3483864"/>
            <a:ext cx="5120640" cy="566928"/>
          </a:xfrm>
          <a:prstGeom prst="roundRect">
            <a:avLst>
              <a:gd name="adj" fmla="val 1129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8" name="Text 15"/>
          <p:cNvSpPr txBox="1"/>
          <p:nvPr/>
        </p:nvSpPr>
        <p:spPr>
          <a:xfrm>
            <a:off x="6702552" y="3483864"/>
            <a:ext cx="4663440" cy="566928"/>
          </a:xfrm>
          <a:prstGeom prst="rect">
            <a:avLst/>
          </a:prstGeom>
          <a:noFill/>
          <a:ln/>
        </p:spPr>
        <p:txBody>
          <a:bodyPr wrap="square" lIns="0" tIns="0" rIns="0" bIns="0" rtlCol="0" anchor="ctr"/>
          <a:lstStyle/>
          <a:p>
            <a:pPr indent="0" marL="0">
              <a:buNone/>
            </a:pPr>
            <a:r>
              <a:rPr lang="en-US" sz="1400" b="1" dirty="0">
                <a:solidFill>
                  <a:srgbClr val="0B2A5B"/>
                </a:solidFill>
              </a:rPr>
              <a:t>Education answer from approved articles</a:t>
            </a:r>
            <a:endParaRPr lang="en-US" sz="1400" dirty="0"/>
          </a:p>
        </p:txBody>
      </p:sp>
      <p:sp>
        <p:nvSpPr>
          <p:cNvPr id="19" name="Shape 16"/>
          <p:cNvSpPr/>
          <p:nvPr/>
        </p:nvSpPr>
        <p:spPr>
          <a:xfrm>
            <a:off x="640080" y="4197096"/>
            <a:ext cx="5120640" cy="566928"/>
          </a:xfrm>
          <a:prstGeom prst="roundRect">
            <a:avLst>
              <a:gd name="adj" fmla="val 1129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20" name="Text 17"/>
          <p:cNvSpPr txBox="1"/>
          <p:nvPr/>
        </p:nvSpPr>
        <p:spPr>
          <a:xfrm>
            <a:off x="914400" y="4197096"/>
            <a:ext cx="4663440" cy="566928"/>
          </a:xfrm>
          <a:prstGeom prst="rect">
            <a:avLst/>
          </a:prstGeom>
          <a:noFill/>
          <a:ln/>
        </p:spPr>
        <p:txBody>
          <a:bodyPr wrap="square" lIns="0" tIns="0" rIns="0" bIns="0" rtlCol="0" anchor="ctr"/>
          <a:lstStyle/>
          <a:p>
            <a:pPr indent="0" marL="0">
              <a:buNone/>
            </a:pPr>
            <a:r>
              <a:rPr lang="en-US" sz="1400" b="1" dirty="0">
                <a:solidFill>
                  <a:srgbClr val="0B2A5B"/>
                </a:solidFill>
              </a:rPr>
              <a:t>Who is told, and in which queue</a:t>
            </a:r>
            <a:endParaRPr lang="en-US" sz="1400" dirty="0"/>
          </a:p>
        </p:txBody>
      </p:sp>
      <p:sp>
        <p:nvSpPr>
          <p:cNvPr id="21" name="Shape 18"/>
          <p:cNvSpPr/>
          <p:nvPr/>
        </p:nvSpPr>
        <p:spPr>
          <a:xfrm>
            <a:off x="6428232" y="4197096"/>
            <a:ext cx="5120640" cy="566928"/>
          </a:xfrm>
          <a:prstGeom prst="roundRect">
            <a:avLst>
              <a:gd name="adj" fmla="val 1129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22" name="Text 19"/>
          <p:cNvSpPr txBox="1"/>
          <p:nvPr/>
        </p:nvSpPr>
        <p:spPr>
          <a:xfrm>
            <a:off x="6702552" y="4197096"/>
            <a:ext cx="4663440" cy="566928"/>
          </a:xfrm>
          <a:prstGeom prst="rect">
            <a:avLst/>
          </a:prstGeom>
          <a:noFill/>
          <a:ln/>
        </p:spPr>
        <p:txBody>
          <a:bodyPr wrap="square" lIns="0" tIns="0" rIns="0" bIns="0" rtlCol="0" anchor="ctr"/>
          <a:lstStyle/>
          <a:p>
            <a:pPr indent="0" marL="0">
              <a:buNone/>
            </a:pPr>
            <a:r>
              <a:rPr lang="en-US" sz="1400" b="1" dirty="0">
                <a:solidFill>
                  <a:srgbClr val="0B2A5B"/>
                </a:solidFill>
              </a:rPr>
              <a:t>Hand-off note for staff</a:t>
            </a:r>
            <a:endParaRPr lang="en-US" sz="1400" dirty="0"/>
          </a:p>
        </p:txBody>
      </p:sp>
      <p:sp>
        <p:nvSpPr>
          <p:cNvPr id="23" name="Shape 20"/>
          <p:cNvSpPr/>
          <p:nvPr/>
        </p:nvSpPr>
        <p:spPr>
          <a:xfrm>
            <a:off x="5760720" y="3108960"/>
            <a:ext cx="667512" cy="667512"/>
          </a:xfrm>
          <a:prstGeom prst="ellipse">
            <a:avLst/>
          </a:prstGeom>
          <a:solidFill>
            <a:srgbClr val="0B2A5B"/>
          </a:solidFill>
          <a:ln w="6350">
            <a:solidFill>
              <a:srgbClr val="0B2A5B"/>
            </a:solidFill>
            <a:prstDash val="solid"/>
          </a:ln>
        </p:spPr>
      </p:sp>
      <p:pic>
        <p:nvPicPr>
          <p:cNvPr id="24" name="Image 0" descr="FaExchangeAlt">    </p:cNvPr>
          <p:cNvPicPr>
            <a:picLocks noChangeAspect="1"/>
          </p:cNvPicPr>
          <p:nvPr/>
        </p:nvPicPr>
        <p:blipFill>
          <a:blip r:embed="rId1"/>
          <a:stretch>
            <a:fillRect/>
          </a:stretch>
        </p:blipFill>
        <p:spPr>
          <a:xfrm>
            <a:off x="5940948" y="3289188"/>
            <a:ext cx="307056" cy="307056"/>
          </a:xfrm>
          <a:prstGeom prst="rect">
            <a:avLst/>
          </a:prstGeom>
        </p:spPr>
      </p:pic>
      <p:sp>
        <p:nvSpPr>
          <p:cNvPr id="25" name="Shape 21"/>
          <p:cNvSpPr/>
          <p:nvPr/>
        </p:nvSpPr>
        <p:spPr>
          <a:xfrm>
            <a:off x="640080" y="5074920"/>
            <a:ext cx="10908792" cy="1097280"/>
          </a:xfrm>
          <a:prstGeom prst="roundRect">
            <a:avLst>
              <a:gd name="adj" fmla="val 5833"/>
            </a:avLst>
          </a:prstGeom>
          <a:solidFill>
            <a:srgbClr val="E0F4F4"/>
          </a:solidFill>
          <a:ln w="12700">
            <a:solidFill>
              <a:srgbClr val="0E9F9E"/>
            </a:solidFill>
            <a:prstDash val="solid"/>
          </a:ln>
        </p:spPr>
      </p:sp>
      <p:sp>
        <p:nvSpPr>
          <p:cNvPr id="26" name="Text 22"/>
          <p:cNvSpPr txBox="1"/>
          <p:nvPr/>
        </p:nvSpPr>
        <p:spPr>
          <a:xfrm>
            <a:off x="914400" y="5166360"/>
            <a:ext cx="7315200" cy="292608"/>
          </a:xfrm>
          <a:prstGeom prst="rect">
            <a:avLst/>
          </a:prstGeom>
          <a:noFill/>
          <a:ln/>
        </p:spPr>
        <p:txBody>
          <a:bodyPr wrap="square" lIns="0" tIns="0" rIns="0" bIns="0" rtlCol="0" anchor="t"/>
          <a:lstStyle/>
          <a:p>
            <a:pPr indent="0" marL="0">
              <a:buNone/>
            </a:pPr>
            <a:r>
              <a:rPr lang="en-US" sz="1400" b="1" dirty="0">
                <a:solidFill>
                  <a:srgbClr val="0B2A5B"/>
                </a:solidFill>
              </a:rPr>
              <a:t>Three checks stand between a model and the member</a:t>
            </a:r>
            <a:endParaRPr lang="en-US" sz="1400" dirty="0"/>
          </a:p>
        </p:txBody>
      </p:sp>
      <p:sp>
        <p:nvSpPr>
          <p:cNvPr id="27" name="Text 23"/>
          <p:cNvSpPr txBox="1"/>
          <p:nvPr/>
        </p:nvSpPr>
        <p:spPr>
          <a:xfrm>
            <a:off x="914400" y="5504688"/>
            <a:ext cx="10424160" cy="594360"/>
          </a:xfrm>
          <a:prstGeom prst="rect">
            <a:avLst/>
          </a:prstGeom>
          <a:noFill/>
          <a:ln/>
        </p:spPr>
        <p:txBody>
          <a:bodyPr wrap="square" lIns="0" tIns="0" rIns="0" bIns="0" rtlCol="0" anchor="t"/>
          <a:lstStyle/>
          <a:p>
            <a:pPr indent="0" marL="0">
              <a:buNone/>
            </a:pPr>
            <a:r>
              <a:rPr lang="en-US" sz="1300" dirty="0">
                <a:solidFill>
                  <a:srgbClr val="14213D"/>
                </a:solidFill>
              </a:rPr>
              <a:t>1  Forbidden-wording guard        2  Every number must match the data        3  Every citation must exist in the approved catalog.  If any check fails, a safe template message is sent.</a:t>
            </a:r>
            <a:endParaRPr lang="en-US" sz="13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SAFETY BOUNDARY</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What the assistant will never do, and what it does</a:t>
            </a:r>
            <a:endParaRPr lang="en-US" sz="2800" dirty="0"/>
          </a:p>
        </p:txBody>
      </p:sp>
      <p:sp>
        <p:nvSpPr>
          <p:cNvPr id="5" name="Shape 2"/>
          <p:cNvSpPr/>
          <p:nvPr/>
        </p:nvSpPr>
        <p:spPr>
          <a:xfrm>
            <a:off x="640080" y="1691640"/>
            <a:ext cx="5349240" cy="4343400"/>
          </a:xfrm>
          <a:prstGeom prst="roundRect">
            <a:avLst>
              <a:gd name="adj" fmla="val 1474"/>
            </a:avLst>
          </a:prstGeom>
          <a:solidFill>
            <a:srgbClr val="FFFFFF"/>
          </a:solidFill>
          <a:ln w="15875">
            <a:solidFill>
              <a:srgbClr val="DC2626"/>
            </a:solidFill>
            <a:prstDash val="solid"/>
          </a:ln>
          <a:effectLst>
            <a:outerShdw sx="100000" sy="100000" kx="0" ky="0" algn="bl" rotWithShape="0" blurRad="101600" dist="25400" dir="5400000">
              <a:srgbClr val="1B2A4A">
                <a:alpha val="10000"/>
              </a:srgbClr>
            </a:outerShdw>
          </a:effectLst>
        </p:spPr>
      </p:sp>
      <p:sp>
        <p:nvSpPr>
          <p:cNvPr id="6" name="Shape 3"/>
          <p:cNvSpPr/>
          <p:nvPr/>
        </p:nvSpPr>
        <p:spPr>
          <a:xfrm>
            <a:off x="640080" y="1691640"/>
            <a:ext cx="5349240" cy="548640"/>
          </a:xfrm>
          <a:prstGeom prst="rect">
            <a:avLst/>
          </a:prstGeom>
          <a:solidFill>
            <a:srgbClr val="FDECEC"/>
          </a:solidFill>
          <a:ln w="12700">
            <a:solidFill>
              <a:srgbClr val="DC2626"/>
            </a:solidFill>
            <a:prstDash val="solid"/>
          </a:ln>
        </p:spPr>
      </p:sp>
      <p:sp>
        <p:nvSpPr>
          <p:cNvPr id="7" name="Text 4"/>
          <p:cNvSpPr txBox="1"/>
          <p:nvPr/>
        </p:nvSpPr>
        <p:spPr>
          <a:xfrm>
            <a:off x="914400" y="1691640"/>
            <a:ext cx="4572000" cy="548640"/>
          </a:xfrm>
          <a:prstGeom prst="rect">
            <a:avLst/>
          </a:prstGeom>
          <a:noFill/>
          <a:ln/>
        </p:spPr>
        <p:txBody>
          <a:bodyPr wrap="square" lIns="0" tIns="0" rIns="0" bIns="0" rtlCol="0" anchor="ctr"/>
          <a:lstStyle/>
          <a:p>
            <a:pPr indent="0" marL="0">
              <a:buNone/>
            </a:pPr>
            <a:r>
              <a:rPr lang="en-US" sz="1400" b="1" spc="300" kern="0" dirty="0">
                <a:solidFill>
                  <a:srgbClr val="DC2626"/>
                </a:solidFill>
              </a:rPr>
              <a:t>NEVER</a:t>
            </a:r>
            <a:endParaRPr lang="en-US" sz="1400" dirty="0"/>
          </a:p>
        </p:txBody>
      </p:sp>
      <p:sp>
        <p:nvSpPr>
          <p:cNvPr id="8" name="Text 5"/>
          <p:cNvSpPr txBox="1"/>
          <p:nvPr/>
        </p:nvSpPr>
        <p:spPr>
          <a:xfrm>
            <a:off x="914400" y="2514600"/>
            <a:ext cx="365760" cy="365760"/>
          </a:xfrm>
          <a:prstGeom prst="rect">
            <a:avLst/>
          </a:prstGeom>
          <a:noFill/>
          <a:ln/>
        </p:spPr>
        <p:txBody>
          <a:bodyPr wrap="square" lIns="0" tIns="0" rIns="0" bIns="0" rtlCol="0" anchor="t"/>
          <a:lstStyle/>
          <a:p>
            <a:pPr indent="0" marL="0">
              <a:buNone/>
            </a:pPr>
            <a:r>
              <a:rPr lang="en-US" sz="1600" b="1" dirty="0">
                <a:solidFill>
                  <a:srgbClr val="DC2626"/>
                </a:solidFill>
              </a:rPr>
              <a:t>✕</a:t>
            </a:r>
            <a:endParaRPr lang="en-US" sz="1600" dirty="0"/>
          </a:p>
        </p:txBody>
      </p:sp>
      <p:sp>
        <p:nvSpPr>
          <p:cNvPr id="9" name="Text 6"/>
          <p:cNvSpPr txBox="1"/>
          <p:nvPr/>
        </p:nvSpPr>
        <p:spPr>
          <a:xfrm>
            <a:off x="1325880" y="2514600"/>
            <a:ext cx="4480560" cy="502920"/>
          </a:xfrm>
          <a:prstGeom prst="rect">
            <a:avLst/>
          </a:prstGeom>
          <a:noFill/>
          <a:ln/>
        </p:spPr>
        <p:txBody>
          <a:bodyPr wrap="square" lIns="0" tIns="0" rIns="0" bIns="0" rtlCol="0" anchor="t"/>
          <a:lstStyle/>
          <a:p>
            <a:pPr indent="0" marL="0">
              <a:buNone/>
            </a:pPr>
            <a:r>
              <a:rPr lang="en-US" sz="1500" dirty="0">
                <a:solidFill>
                  <a:srgbClr val="14213D"/>
                </a:solidFill>
              </a:rPr>
              <a:t>Diagnose a condition</a:t>
            </a:r>
            <a:endParaRPr lang="en-US" sz="1500" dirty="0"/>
          </a:p>
        </p:txBody>
      </p:sp>
      <p:sp>
        <p:nvSpPr>
          <p:cNvPr id="10" name="Text 7"/>
          <p:cNvSpPr txBox="1"/>
          <p:nvPr/>
        </p:nvSpPr>
        <p:spPr>
          <a:xfrm>
            <a:off x="914400" y="3200400"/>
            <a:ext cx="365760" cy="365760"/>
          </a:xfrm>
          <a:prstGeom prst="rect">
            <a:avLst/>
          </a:prstGeom>
          <a:noFill/>
          <a:ln/>
        </p:spPr>
        <p:txBody>
          <a:bodyPr wrap="square" lIns="0" tIns="0" rIns="0" bIns="0" rtlCol="0" anchor="t"/>
          <a:lstStyle/>
          <a:p>
            <a:pPr indent="0" marL="0">
              <a:buNone/>
            </a:pPr>
            <a:r>
              <a:rPr lang="en-US" sz="1600" b="1" dirty="0">
                <a:solidFill>
                  <a:srgbClr val="DC2626"/>
                </a:solidFill>
              </a:rPr>
              <a:t>✕</a:t>
            </a:r>
            <a:endParaRPr lang="en-US" sz="1600" dirty="0"/>
          </a:p>
        </p:txBody>
      </p:sp>
      <p:sp>
        <p:nvSpPr>
          <p:cNvPr id="11" name="Text 8"/>
          <p:cNvSpPr txBox="1"/>
          <p:nvPr/>
        </p:nvSpPr>
        <p:spPr>
          <a:xfrm>
            <a:off x="1325880" y="3200400"/>
            <a:ext cx="4480560" cy="502920"/>
          </a:xfrm>
          <a:prstGeom prst="rect">
            <a:avLst/>
          </a:prstGeom>
          <a:noFill/>
          <a:ln/>
        </p:spPr>
        <p:txBody>
          <a:bodyPr wrap="square" lIns="0" tIns="0" rIns="0" bIns="0" rtlCol="0" anchor="t"/>
          <a:lstStyle/>
          <a:p>
            <a:pPr indent="0" marL="0">
              <a:buNone/>
            </a:pPr>
            <a:r>
              <a:rPr lang="en-US" sz="1500" dirty="0">
                <a:solidFill>
                  <a:srgbClr val="14213D"/>
                </a:solidFill>
              </a:rPr>
              <a:t>Give medical advice or interpret a result</a:t>
            </a:r>
            <a:endParaRPr lang="en-US" sz="1500" dirty="0"/>
          </a:p>
        </p:txBody>
      </p:sp>
      <p:sp>
        <p:nvSpPr>
          <p:cNvPr id="12" name="Text 9"/>
          <p:cNvSpPr txBox="1"/>
          <p:nvPr/>
        </p:nvSpPr>
        <p:spPr>
          <a:xfrm>
            <a:off x="914400" y="3886200"/>
            <a:ext cx="365760" cy="365760"/>
          </a:xfrm>
          <a:prstGeom prst="rect">
            <a:avLst/>
          </a:prstGeom>
          <a:noFill/>
          <a:ln/>
        </p:spPr>
        <p:txBody>
          <a:bodyPr wrap="square" lIns="0" tIns="0" rIns="0" bIns="0" rtlCol="0" anchor="t"/>
          <a:lstStyle/>
          <a:p>
            <a:pPr indent="0" marL="0">
              <a:buNone/>
            </a:pPr>
            <a:r>
              <a:rPr lang="en-US" sz="1600" b="1" dirty="0">
                <a:solidFill>
                  <a:srgbClr val="DC2626"/>
                </a:solidFill>
              </a:rPr>
              <a:t>✕</a:t>
            </a:r>
            <a:endParaRPr lang="en-US" sz="1600" dirty="0"/>
          </a:p>
        </p:txBody>
      </p:sp>
      <p:sp>
        <p:nvSpPr>
          <p:cNvPr id="13" name="Text 10"/>
          <p:cNvSpPr txBox="1"/>
          <p:nvPr/>
        </p:nvSpPr>
        <p:spPr>
          <a:xfrm>
            <a:off x="1325880" y="3886200"/>
            <a:ext cx="4480560" cy="502920"/>
          </a:xfrm>
          <a:prstGeom prst="rect">
            <a:avLst/>
          </a:prstGeom>
          <a:noFill/>
          <a:ln/>
        </p:spPr>
        <p:txBody>
          <a:bodyPr wrap="square" lIns="0" tIns="0" rIns="0" bIns="0" rtlCol="0" anchor="t"/>
          <a:lstStyle/>
          <a:p>
            <a:pPr indent="0" marL="0">
              <a:buNone/>
            </a:pPr>
            <a:r>
              <a:rPr lang="en-US" sz="1500" dirty="0">
                <a:solidFill>
                  <a:srgbClr val="14213D"/>
                </a:solidFill>
              </a:rPr>
              <a:t>Start, stop or change a medicine</a:t>
            </a:r>
            <a:endParaRPr lang="en-US" sz="1500" dirty="0"/>
          </a:p>
        </p:txBody>
      </p:sp>
      <p:sp>
        <p:nvSpPr>
          <p:cNvPr id="14" name="Text 11"/>
          <p:cNvSpPr txBox="1"/>
          <p:nvPr/>
        </p:nvSpPr>
        <p:spPr>
          <a:xfrm>
            <a:off x="914400" y="4572000"/>
            <a:ext cx="365760" cy="365760"/>
          </a:xfrm>
          <a:prstGeom prst="rect">
            <a:avLst/>
          </a:prstGeom>
          <a:noFill/>
          <a:ln/>
        </p:spPr>
        <p:txBody>
          <a:bodyPr wrap="square" lIns="0" tIns="0" rIns="0" bIns="0" rtlCol="0" anchor="t"/>
          <a:lstStyle/>
          <a:p>
            <a:pPr indent="0" marL="0">
              <a:buNone/>
            </a:pPr>
            <a:r>
              <a:rPr lang="en-US" sz="1600" b="1" dirty="0">
                <a:solidFill>
                  <a:srgbClr val="DC2626"/>
                </a:solidFill>
              </a:rPr>
              <a:t>✕</a:t>
            </a:r>
            <a:endParaRPr lang="en-US" sz="1600" dirty="0"/>
          </a:p>
        </p:txBody>
      </p:sp>
      <p:sp>
        <p:nvSpPr>
          <p:cNvPr id="15" name="Text 12"/>
          <p:cNvSpPr txBox="1"/>
          <p:nvPr/>
        </p:nvSpPr>
        <p:spPr>
          <a:xfrm>
            <a:off x="1325880" y="4572000"/>
            <a:ext cx="4480560" cy="502920"/>
          </a:xfrm>
          <a:prstGeom prst="rect">
            <a:avLst/>
          </a:prstGeom>
          <a:noFill/>
          <a:ln/>
        </p:spPr>
        <p:txBody>
          <a:bodyPr wrap="square" lIns="0" tIns="0" rIns="0" bIns="0" rtlCol="0" anchor="t"/>
          <a:lstStyle/>
          <a:p>
            <a:pPr indent="0" marL="0">
              <a:buNone/>
            </a:pPr>
            <a:r>
              <a:rPr lang="en-US" sz="1500" dirty="0">
                <a:solidFill>
                  <a:srgbClr val="14213D"/>
                </a:solidFill>
              </a:rPr>
              <a:t>Decide emergency priority</a:t>
            </a:r>
            <a:endParaRPr lang="en-US" sz="1500" dirty="0"/>
          </a:p>
        </p:txBody>
      </p:sp>
      <p:sp>
        <p:nvSpPr>
          <p:cNvPr id="16" name="Text 13"/>
          <p:cNvSpPr txBox="1"/>
          <p:nvPr/>
        </p:nvSpPr>
        <p:spPr>
          <a:xfrm>
            <a:off x="914400" y="5257800"/>
            <a:ext cx="365760" cy="365760"/>
          </a:xfrm>
          <a:prstGeom prst="rect">
            <a:avLst/>
          </a:prstGeom>
          <a:noFill/>
          <a:ln/>
        </p:spPr>
        <p:txBody>
          <a:bodyPr wrap="square" lIns="0" tIns="0" rIns="0" bIns="0" rtlCol="0" anchor="t"/>
          <a:lstStyle/>
          <a:p>
            <a:pPr indent="0" marL="0">
              <a:buNone/>
            </a:pPr>
            <a:r>
              <a:rPr lang="en-US" sz="1600" b="1" dirty="0">
                <a:solidFill>
                  <a:srgbClr val="DC2626"/>
                </a:solidFill>
              </a:rPr>
              <a:t>✕</a:t>
            </a:r>
            <a:endParaRPr lang="en-US" sz="1600" dirty="0"/>
          </a:p>
        </p:txBody>
      </p:sp>
      <p:sp>
        <p:nvSpPr>
          <p:cNvPr id="17" name="Text 14"/>
          <p:cNvSpPr txBox="1"/>
          <p:nvPr/>
        </p:nvSpPr>
        <p:spPr>
          <a:xfrm>
            <a:off x="1325880" y="5257800"/>
            <a:ext cx="4480560" cy="502920"/>
          </a:xfrm>
          <a:prstGeom prst="rect">
            <a:avLst/>
          </a:prstGeom>
          <a:noFill/>
          <a:ln/>
        </p:spPr>
        <p:txBody>
          <a:bodyPr wrap="square" lIns="0" tIns="0" rIns="0" bIns="0" rtlCol="0" anchor="t"/>
          <a:lstStyle/>
          <a:p>
            <a:pPr indent="0" marL="0">
              <a:buNone/>
            </a:pPr>
            <a:r>
              <a:rPr lang="en-US" sz="1500" dirty="0">
                <a:solidFill>
                  <a:srgbClr val="14213D"/>
                </a:solidFill>
              </a:rPr>
              <a:t>Answer education from outside approved articles</a:t>
            </a:r>
            <a:endParaRPr lang="en-US" sz="1500" dirty="0"/>
          </a:p>
        </p:txBody>
      </p:sp>
      <p:sp>
        <p:nvSpPr>
          <p:cNvPr id="18" name="Shape 15"/>
          <p:cNvSpPr/>
          <p:nvPr/>
        </p:nvSpPr>
        <p:spPr>
          <a:xfrm>
            <a:off x="6199632" y="1691640"/>
            <a:ext cx="5349240" cy="4343400"/>
          </a:xfrm>
          <a:prstGeom prst="roundRect">
            <a:avLst>
              <a:gd name="adj" fmla="val 1474"/>
            </a:avLst>
          </a:prstGeom>
          <a:solidFill>
            <a:srgbClr val="FFFFFF"/>
          </a:solidFill>
          <a:ln w="15875">
            <a:solidFill>
              <a:srgbClr val="16A34A"/>
            </a:solidFill>
            <a:prstDash val="solid"/>
          </a:ln>
          <a:effectLst>
            <a:outerShdw sx="100000" sy="100000" kx="0" ky="0" algn="bl" rotWithShape="0" blurRad="101600" dist="25400" dir="5400000">
              <a:srgbClr val="1B2A4A">
                <a:alpha val="10000"/>
              </a:srgbClr>
            </a:outerShdw>
          </a:effectLst>
        </p:spPr>
      </p:sp>
      <p:sp>
        <p:nvSpPr>
          <p:cNvPr id="19" name="Shape 16"/>
          <p:cNvSpPr/>
          <p:nvPr/>
        </p:nvSpPr>
        <p:spPr>
          <a:xfrm>
            <a:off x="6199632" y="1691640"/>
            <a:ext cx="5349240" cy="548640"/>
          </a:xfrm>
          <a:prstGeom prst="rect">
            <a:avLst/>
          </a:prstGeom>
          <a:solidFill>
            <a:srgbClr val="E6F6EC"/>
          </a:solidFill>
          <a:ln w="12700">
            <a:solidFill>
              <a:srgbClr val="16A34A"/>
            </a:solidFill>
            <a:prstDash val="solid"/>
          </a:ln>
        </p:spPr>
      </p:sp>
      <p:sp>
        <p:nvSpPr>
          <p:cNvPr id="20" name="Text 17"/>
          <p:cNvSpPr txBox="1"/>
          <p:nvPr/>
        </p:nvSpPr>
        <p:spPr>
          <a:xfrm>
            <a:off x="6473952" y="1691640"/>
            <a:ext cx="4572000" cy="548640"/>
          </a:xfrm>
          <a:prstGeom prst="rect">
            <a:avLst/>
          </a:prstGeom>
          <a:noFill/>
          <a:ln/>
        </p:spPr>
        <p:txBody>
          <a:bodyPr wrap="square" lIns="0" tIns="0" rIns="0" bIns="0" rtlCol="0" anchor="ctr"/>
          <a:lstStyle/>
          <a:p>
            <a:pPr indent="0" marL="0">
              <a:buNone/>
            </a:pPr>
            <a:r>
              <a:rPr lang="en-US" sz="1400" b="1" spc="300" kern="0" dirty="0">
                <a:solidFill>
                  <a:srgbClr val="16A34A"/>
                </a:solidFill>
              </a:rPr>
              <a:t>ALWAYS</a:t>
            </a:r>
            <a:endParaRPr lang="en-US" sz="1400" dirty="0"/>
          </a:p>
        </p:txBody>
      </p:sp>
      <p:sp>
        <p:nvSpPr>
          <p:cNvPr id="21" name="Text 18"/>
          <p:cNvSpPr txBox="1"/>
          <p:nvPr/>
        </p:nvSpPr>
        <p:spPr>
          <a:xfrm>
            <a:off x="6473952" y="2514600"/>
            <a:ext cx="365760" cy="365760"/>
          </a:xfrm>
          <a:prstGeom prst="rect">
            <a:avLst/>
          </a:prstGeom>
          <a:noFill/>
          <a:ln/>
        </p:spPr>
        <p:txBody>
          <a:bodyPr wrap="square" lIns="0" tIns="0" rIns="0" bIns="0" rtlCol="0" anchor="t"/>
          <a:lstStyle/>
          <a:p>
            <a:pPr indent="0" marL="0">
              <a:buNone/>
            </a:pPr>
            <a:r>
              <a:rPr lang="en-US" sz="1600" b="1" dirty="0">
                <a:solidFill>
                  <a:srgbClr val="16A34A"/>
                </a:solidFill>
              </a:rPr>
              <a:t>✓</a:t>
            </a:r>
            <a:endParaRPr lang="en-US" sz="1600" dirty="0"/>
          </a:p>
        </p:txBody>
      </p:sp>
      <p:sp>
        <p:nvSpPr>
          <p:cNvPr id="22" name="Text 19"/>
          <p:cNvSpPr txBox="1"/>
          <p:nvPr/>
        </p:nvSpPr>
        <p:spPr>
          <a:xfrm>
            <a:off x="6885432" y="2514600"/>
            <a:ext cx="4480560" cy="502920"/>
          </a:xfrm>
          <a:prstGeom prst="rect">
            <a:avLst/>
          </a:prstGeom>
          <a:noFill/>
          <a:ln/>
        </p:spPr>
        <p:txBody>
          <a:bodyPr wrap="square" lIns="0" tIns="0" rIns="0" bIns="0" rtlCol="0" anchor="t"/>
          <a:lstStyle/>
          <a:p>
            <a:pPr indent="0" marL="0">
              <a:buNone/>
            </a:pPr>
            <a:r>
              <a:rPr lang="en-US" sz="1500" dirty="0">
                <a:solidFill>
                  <a:srgbClr val="14213D"/>
                </a:solidFill>
              </a:rPr>
              <a:t>Check consent before reading any data</a:t>
            </a:r>
            <a:endParaRPr lang="en-US" sz="1500" dirty="0"/>
          </a:p>
        </p:txBody>
      </p:sp>
      <p:sp>
        <p:nvSpPr>
          <p:cNvPr id="23" name="Text 20"/>
          <p:cNvSpPr txBox="1"/>
          <p:nvPr/>
        </p:nvSpPr>
        <p:spPr>
          <a:xfrm>
            <a:off x="6473952" y="3200400"/>
            <a:ext cx="365760" cy="365760"/>
          </a:xfrm>
          <a:prstGeom prst="rect">
            <a:avLst/>
          </a:prstGeom>
          <a:noFill/>
          <a:ln/>
        </p:spPr>
        <p:txBody>
          <a:bodyPr wrap="square" lIns="0" tIns="0" rIns="0" bIns="0" rtlCol="0" anchor="t"/>
          <a:lstStyle/>
          <a:p>
            <a:pPr indent="0" marL="0">
              <a:buNone/>
            </a:pPr>
            <a:r>
              <a:rPr lang="en-US" sz="1600" b="1" dirty="0">
                <a:solidFill>
                  <a:srgbClr val="16A34A"/>
                </a:solidFill>
              </a:rPr>
              <a:t>✓</a:t>
            </a:r>
            <a:endParaRPr lang="en-US" sz="1600" dirty="0"/>
          </a:p>
        </p:txBody>
      </p:sp>
      <p:sp>
        <p:nvSpPr>
          <p:cNvPr id="24" name="Text 21"/>
          <p:cNvSpPr txBox="1"/>
          <p:nvPr/>
        </p:nvSpPr>
        <p:spPr>
          <a:xfrm>
            <a:off x="6885432" y="3200400"/>
            <a:ext cx="4480560" cy="502920"/>
          </a:xfrm>
          <a:prstGeom prst="rect">
            <a:avLst/>
          </a:prstGeom>
          <a:noFill/>
          <a:ln/>
        </p:spPr>
        <p:txBody>
          <a:bodyPr wrap="square" lIns="0" tIns="0" rIns="0" bIns="0" rtlCol="0" anchor="t"/>
          <a:lstStyle/>
          <a:p>
            <a:pPr indent="0" marL="0">
              <a:buNone/>
            </a:pPr>
            <a:r>
              <a:rPr lang="en-US" sz="1500" dirty="0">
                <a:solidFill>
                  <a:srgbClr val="14213D"/>
                </a:solidFill>
              </a:rPr>
              <a:t>Summarise readings and flag missing data</a:t>
            </a:r>
            <a:endParaRPr lang="en-US" sz="1500" dirty="0"/>
          </a:p>
        </p:txBody>
      </p:sp>
      <p:sp>
        <p:nvSpPr>
          <p:cNvPr id="25" name="Text 22"/>
          <p:cNvSpPr txBox="1"/>
          <p:nvPr/>
        </p:nvSpPr>
        <p:spPr>
          <a:xfrm>
            <a:off x="6473952" y="3886200"/>
            <a:ext cx="365760" cy="365760"/>
          </a:xfrm>
          <a:prstGeom prst="rect">
            <a:avLst/>
          </a:prstGeom>
          <a:noFill/>
          <a:ln/>
        </p:spPr>
        <p:txBody>
          <a:bodyPr wrap="square" lIns="0" tIns="0" rIns="0" bIns="0" rtlCol="0" anchor="t"/>
          <a:lstStyle/>
          <a:p>
            <a:pPr indent="0" marL="0">
              <a:buNone/>
            </a:pPr>
            <a:r>
              <a:rPr lang="en-US" sz="1600" b="1" dirty="0">
                <a:solidFill>
                  <a:srgbClr val="16A34A"/>
                </a:solidFill>
              </a:rPr>
              <a:t>✓</a:t>
            </a:r>
            <a:endParaRPr lang="en-US" sz="1600" dirty="0"/>
          </a:p>
        </p:txBody>
      </p:sp>
      <p:sp>
        <p:nvSpPr>
          <p:cNvPr id="26" name="Text 23"/>
          <p:cNvSpPr txBox="1"/>
          <p:nvPr/>
        </p:nvSpPr>
        <p:spPr>
          <a:xfrm>
            <a:off x="6885432" y="3886200"/>
            <a:ext cx="4480560" cy="502920"/>
          </a:xfrm>
          <a:prstGeom prst="rect">
            <a:avLst/>
          </a:prstGeom>
          <a:noFill/>
          <a:ln/>
        </p:spPr>
        <p:txBody>
          <a:bodyPr wrap="square" lIns="0" tIns="0" rIns="0" bIns="0" rtlCol="0" anchor="t"/>
          <a:lstStyle/>
          <a:p>
            <a:pPr indent="0" marL="0">
              <a:buNone/>
            </a:pPr>
            <a:r>
              <a:rPr lang="en-US" sz="1500" dirty="0">
                <a:solidFill>
                  <a:srgbClr val="14213D"/>
                </a:solidFill>
              </a:rPr>
              <a:t>Show care-plan tasks and reminders</a:t>
            </a:r>
            <a:endParaRPr lang="en-US" sz="1500" dirty="0"/>
          </a:p>
        </p:txBody>
      </p:sp>
      <p:sp>
        <p:nvSpPr>
          <p:cNvPr id="27" name="Text 24"/>
          <p:cNvSpPr txBox="1"/>
          <p:nvPr/>
        </p:nvSpPr>
        <p:spPr>
          <a:xfrm>
            <a:off x="6473952" y="4572000"/>
            <a:ext cx="365760" cy="365760"/>
          </a:xfrm>
          <a:prstGeom prst="rect">
            <a:avLst/>
          </a:prstGeom>
          <a:noFill/>
          <a:ln/>
        </p:spPr>
        <p:txBody>
          <a:bodyPr wrap="square" lIns="0" tIns="0" rIns="0" bIns="0" rtlCol="0" anchor="t"/>
          <a:lstStyle/>
          <a:p>
            <a:pPr indent="0" marL="0">
              <a:buNone/>
            </a:pPr>
            <a:r>
              <a:rPr lang="en-US" sz="1600" b="1" dirty="0">
                <a:solidFill>
                  <a:srgbClr val="16A34A"/>
                </a:solidFill>
              </a:rPr>
              <a:t>✓</a:t>
            </a:r>
            <a:endParaRPr lang="en-US" sz="1600" dirty="0"/>
          </a:p>
        </p:txBody>
      </p:sp>
      <p:sp>
        <p:nvSpPr>
          <p:cNvPr id="28" name="Text 25"/>
          <p:cNvSpPr txBox="1"/>
          <p:nvPr/>
        </p:nvSpPr>
        <p:spPr>
          <a:xfrm>
            <a:off x="6885432" y="4572000"/>
            <a:ext cx="4480560" cy="502920"/>
          </a:xfrm>
          <a:prstGeom prst="rect">
            <a:avLst/>
          </a:prstGeom>
          <a:noFill/>
          <a:ln/>
        </p:spPr>
        <p:txBody>
          <a:bodyPr wrap="square" lIns="0" tIns="0" rIns="0" bIns="0" rtlCol="0" anchor="t"/>
          <a:lstStyle/>
          <a:p>
            <a:pPr indent="0" marL="0">
              <a:buNone/>
            </a:pPr>
            <a:r>
              <a:rPr lang="en-US" sz="1500" dirty="0">
                <a:solidFill>
                  <a:srgbClr val="14213D"/>
                </a:solidFill>
              </a:rPr>
              <a:t>Cite an approved, versioned source</a:t>
            </a:r>
            <a:endParaRPr lang="en-US" sz="1500" dirty="0"/>
          </a:p>
        </p:txBody>
      </p:sp>
      <p:sp>
        <p:nvSpPr>
          <p:cNvPr id="29" name="Text 26"/>
          <p:cNvSpPr txBox="1"/>
          <p:nvPr/>
        </p:nvSpPr>
        <p:spPr>
          <a:xfrm>
            <a:off x="6473952" y="5257800"/>
            <a:ext cx="365760" cy="365760"/>
          </a:xfrm>
          <a:prstGeom prst="rect">
            <a:avLst/>
          </a:prstGeom>
          <a:noFill/>
          <a:ln/>
        </p:spPr>
        <p:txBody>
          <a:bodyPr wrap="square" lIns="0" tIns="0" rIns="0" bIns="0" rtlCol="0" anchor="t"/>
          <a:lstStyle/>
          <a:p>
            <a:pPr indent="0" marL="0">
              <a:buNone/>
            </a:pPr>
            <a:r>
              <a:rPr lang="en-US" sz="1600" b="1" dirty="0">
                <a:solidFill>
                  <a:srgbClr val="16A34A"/>
                </a:solidFill>
              </a:rPr>
              <a:t>✓</a:t>
            </a:r>
            <a:endParaRPr lang="en-US" sz="1600" dirty="0"/>
          </a:p>
        </p:txBody>
      </p:sp>
      <p:sp>
        <p:nvSpPr>
          <p:cNvPr id="30" name="Text 27"/>
          <p:cNvSpPr txBox="1"/>
          <p:nvPr/>
        </p:nvSpPr>
        <p:spPr>
          <a:xfrm>
            <a:off x="6885432" y="5257800"/>
            <a:ext cx="4480560" cy="502920"/>
          </a:xfrm>
          <a:prstGeom prst="rect">
            <a:avLst/>
          </a:prstGeom>
          <a:noFill/>
          <a:ln/>
        </p:spPr>
        <p:txBody>
          <a:bodyPr wrap="square" lIns="0" tIns="0" rIns="0" bIns="0" rtlCol="0" anchor="t"/>
          <a:lstStyle/>
          <a:p>
            <a:pPr indent="0" marL="0">
              <a:buNone/>
            </a:pPr>
            <a:r>
              <a:rPr lang="en-US" sz="1500" dirty="0">
                <a:solidFill>
                  <a:srgbClr val="14213D"/>
                </a:solidFill>
              </a:rPr>
              <a:t>Hand risky or unclear cases to a person</a:t>
            </a:r>
            <a:endParaRPr lang="en-US" sz="15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ARCHITECTURE</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End-to-end on Microsoft Foundry and Azure</a:t>
            </a:r>
            <a:endParaRPr lang="en-US" sz="2800" dirty="0"/>
          </a:p>
        </p:txBody>
      </p:sp>
      <p:sp>
        <p:nvSpPr>
          <p:cNvPr id="5" name="Shape 2"/>
          <p:cNvSpPr/>
          <p:nvPr/>
        </p:nvSpPr>
        <p:spPr>
          <a:xfrm>
            <a:off x="640080" y="1828800"/>
            <a:ext cx="1828800" cy="1188720"/>
          </a:xfrm>
          <a:prstGeom prst="roundRect">
            <a:avLst>
              <a:gd name="adj" fmla="val 6154"/>
            </a:avLst>
          </a:prstGeom>
          <a:solidFill>
            <a:srgbClr val="0B2A5B"/>
          </a:solidFill>
          <a:ln w="12700">
            <a:solidFill>
              <a:srgbClr val="0B2A5B"/>
            </a:solidFill>
            <a:prstDash val="solid"/>
          </a:ln>
          <a:effectLst>
            <a:outerShdw sx="100000" sy="100000" kx="0" ky="0" algn="bl" rotWithShape="0" blurRad="76200" dist="25400" dir="5400000">
              <a:srgbClr val="1B2A4A">
                <a:alpha val="15000"/>
              </a:srgbClr>
            </a:outerShdw>
          </a:effectLst>
        </p:spPr>
      </p:sp>
      <p:sp>
        <p:nvSpPr>
          <p:cNvPr id="6" name="Text 3"/>
          <p:cNvSpPr txBox="1"/>
          <p:nvPr/>
        </p:nvSpPr>
        <p:spPr>
          <a:xfrm>
            <a:off x="749808" y="1920240"/>
            <a:ext cx="1609344" cy="320040"/>
          </a:xfrm>
          <a:prstGeom prst="rect">
            <a:avLst/>
          </a:prstGeom>
          <a:noFill/>
          <a:ln/>
        </p:spPr>
        <p:txBody>
          <a:bodyPr wrap="square" lIns="0" tIns="0" rIns="0" bIns="0" rtlCol="0" anchor="t"/>
          <a:lstStyle/>
          <a:p>
            <a:pPr algn="ctr" indent="0" marL="0">
              <a:buNone/>
            </a:pPr>
            <a:r>
              <a:rPr lang="en-US" sz="1400" b="1" dirty="0">
                <a:solidFill>
                  <a:srgbClr val="FFFFFF"/>
                </a:solidFill>
              </a:rPr>
              <a:t>Streamlit app</a:t>
            </a:r>
            <a:endParaRPr lang="en-US" sz="1400" dirty="0"/>
          </a:p>
        </p:txBody>
      </p:sp>
      <p:sp>
        <p:nvSpPr>
          <p:cNvPr id="7" name="Text 4"/>
          <p:cNvSpPr txBox="1"/>
          <p:nvPr/>
        </p:nvSpPr>
        <p:spPr>
          <a:xfrm>
            <a:off x="749808" y="2267712"/>
            <a:ext cx="1609344" cy="685800"/>
          </a:xfrm>
          <a:prstGeom prst="rect">
            <a:avLst/>
          </a:prstGeom>
          <a:noFill/>
          <a:ln/>
        </p:spPr>
        <p:txBody>
          <a:bodyPr wrap="square" lIns="0" tIns="0" rIns="0" bIns="0" rtlCol="0" anchor="t"/>
          <a:lstStyle/>
          <a:p>
            <a:pPr algn="ctr" indent="0" marL="0">
              <a:buNone/>
            </a:pPr>
            <a:r>
              <a:rPr lang="en-US" sz="1100" dirty="0">
                <a:solidFill>
                  <a:srgbClr val="FFFFFF"/>
                </a:solidFill>
              </a:rPr>
              <a:t>Member and staff views</a:t>
            </a:r>
            <a:endParaRPr lang="en-US" sz="1100" dirty="0"/>
          </a:p>
        </p:txBody>
      </p:sp>
      <p:sp>
        <p:nvSpPr>
          <p:cNvPr id="8" name="Shape 5"/>
          <p:cNvSpPr/>
          <p:nvPr/>
        </p:nvSpPr>
        <p:spPr>
          <a:xfrm>
            <a:off x="3017520" y="1828800"/>
            <a:ext cx="2194560" cy="1188720"/>
          </a:xfrm>
          <a:prstGeom prst="roundRect">
            <a:avLst>
              <a:gd name="adj" fmla="val 6154"/>
            </a:avLst>
          </a:prstGeom>
          <a:solidFill>
            <a:srgbClr val="2563EB"/>
          </a:solidFill>
          <a:ln w="12700">
            <a:solidFill>
              <a:srgbClr val="2563EB"/>
            </a:solidFill>
            <a:prstDash val="solid"/>
          </a:ln>
          <a:effectLst>
            <a:outerShdw sx="100000" sy="100000" kx="0" ky="0" algn="bl" rotWithShape="0" blurRad="76200" dist="25400" dir="5400000">
              <a:srgbClr val="1B2A4A">
                <a:alpha val="15000"/>
              </a:srgbClr>
            </a:outerShdw>
          </a:effectLst>
        </p:spPr>
      </p:sp>
      <p:sp>
        <p:nvSpPr>
          <p:cNvPr id="9" name="Text 6"/>
          <p:cNvSpPr txBox="1"/>
          <p:nvPr/>
        </p:nvSpPr>
        <p:spPr>
          <a:xfrm>
            <a:off x="3127248" y="1920240"/>
            <a:ext cx="1975104" cy="320040"/>
          </a:xfrm>
          <a:prstGeom prst="rect">
            <a:avLst/>
          </a:prstGeom>
          <a:noFill/>
          <a:ln/>
        </p:spPr>
        <p:txBody>
          <a:bodyPr wrap="square" lIns="0" tIns="0" rIns="0" bIns="0" rtlCol="0" anchor="t"/>
          <a:lstStyle/>
          <a:p>
            <a:pPr algn="ctr" indent="0" marL="0">
              <a:buNone/>
            </a:pPr>
            <a:r>
              <a:rPr lang="en-US" sz="1400" b="1" dirty="0">
                <a:solidFill>
                  <a:srgbClr val="FFFFFF"/>
                </a:solidFill>
              </a:rPr>
              <a:t>Orchestrator</a:t>
            </a:r>
            <a:endParaRPr lang="en-US" sz="1400" dirty="0"/>
          </a:p>
        </p:txBody>
      </p:sp>
      <p:sp>
        <p:nvSpPr>
          <p:cNvPr id="10" name="Text 7"/>
          <p:cNvSpPr txBox="1"/>
          <p:nvPr/>
        </p:nvSpPr>
        <p:spPr>
          <a:xfrm>
            <a:off x="3127248" y="2267712"/>
            <a:ext cx="1975104" cy="685800"/>
          </a:xfrm>
          <a:prstGeom prst="rect">
            <a:avLst/>
          </a:prstGeom>
          <a:noFill/>
          <a:ln/>
        </p:spPr>
        <p:txBody>
          <a:bodyPr wrap="square" lIns="0" tIns="0" rIns="0" bIns="0" rtlCol="0" anchor="t"/>
          <a:lstStyle/>
          <a:p>
            <a:pPr algn="ctr" indent="0" marL="0">
              <a:buNone/>
            </a:pPr>
            <a:r>
              <a:rPr lang="en-US" sz="1100" dirty="0">
                <a:solidFill>
                  <a:srgbClr val="FFFFFF"/>
                </a:solidFill>
              </a:rPr>
              <a:t>Fixed Python workflow: consent, rules, routing</a:t>
            </a:r>
            <a:endParaRPr lang="en-US" sz="1100" dirty="0"/>
          </a:p>
        </p:txBody>
      </p:sp>
      <p:sp>
        <p:nvSpPr>
          <p:cNvPr id="11" name="Shape 8"/>
          <p:cNvSpPr/>
          <p:nvPr/>
        </p:nvSpPr>
        <p:spPr>
          <a:xfrm>
            <a:off x="5760720" y="1645920"/>
            <a:ext cx="3383280" cy="1737360"/>
          </a:xfrm>
          <a:prstGeom prst="roundRect">
            <a:avLst>
              <a:gd name="adj" fmla="val 4211"/>
            </a:avLst>
          </a:prstGeom>
          <a:solidFill>
            <a:srgbClr val="E7EFFB"/>
          </a:solidFill>
          <a:ln w="15875">
            <a:solidFill>
              <a:srgbClr val="2563EB"/>
            </a:solidFill>
            <a:prstDash val="dash"/>
          </a:ln>
        </p:spPr>
      </p:sp>
      <p:sp>
        <p:nvSpPr>
          <p:cNvPr id="12" name="Text 9"/>
          <p:cNvSpPr txBox="1"/>
          <p:nvPr/>
        </p:nvSpPr>
        <p:spPr>
          <a:xfrm>
            <a:off x="5852160" y="1700784"/>
            <a:ext cx="3200400" cy="274320"/>
          </a:xfrm>
          <a:prstGeom prst="rect">
            <a:avLst/>
          </a:prstGeom>
          <a:noFill/>
          <a:ln/>
        </p:spPr>
        <p:txBody>
          <a:bodyPr wrap="square" lIns="0" tIns="0" rIns="0" bIns="0" rtlCol="0" anchor="t"/>
          <a:lstStyle/>
          <a:p>
            <a:pPr algn="ctr" indent="0" marL="0">
              <a:buNone/>
            </a:pPr>
            <a:r>
              <a:rPr lang="en-US" sz="1200" b="1" dirty="0">
                <a:solidFill>
                  <a:srgbClr val="0B2A5B"/>
                </a:solidFill>
              </a:rPr>
              <a:t>Microsoft Foundry project</a:t>
            </a:r>
            <a:endParaRPr lang="en-US" sz="1200" dirty="0"/>
          </a:p>
        </p:txBody>
      </p:sp>
      <p:sp>
        <p:nvSpPr>
          <p:cNvPr id="13" name="Shape 10"/>
          <p:cNvSpPr/>
          <p:nvPr/>
        </p:nvSpPr>
        <p:spPr>
          <a:xfrm>
            <a:off x="5897880" y="2103120"/>
            <a:ext cx="950976" cy="475488"/>
          </a:xfrm>
          <a:prstGeom prst="roundRect">
            <a:avLst>
              <a:gd name="adj" fmla="val 11538"/>
            </a:avLst>
          </a:prstGeom>
          <a:solidFill>
            <a:srgbClr val="FFFFFF"/>
          </a:solidFill>
          <a:ln w="9525">
            <a:solidFill>
              <a:srgbClr val="2563EB"/>
            </a:solidFill>
            <a:prstDash val="solid"/>
          </a:ln>
        </p:spPr>
      </p:sp>
      <p:sp>
        <p:nvSpPr>
          <p:cNvPr id="14" name="Text 11"/>
          <p:cNvSpPr txBox="1"/>
          <p:nvPr/>
        </p:nvSpPr>
        <p:spPr>
          <a:xfrm>
            <a:off x="5897880" y="2103120"/>
            <a:ext cx="950976" cy="475488"/>
          </a:xfrm>
          <a:prstGeom prst="rect">
            <a:avLst/>
          </a:prstGeom>
          <a:noFill/>
          <a:ln/>
        </p:spPr>
        <p:txBody>
          <a:bodyPr wrap="square" lIns="0" tIns="0" rIns="0" bIns="0" rtlCol="0" anchor="ctr"/>
          <a:lstStyle/>
          <a:p>
            <a:pPr algn="ctr" indent="0" marL="0">
              <a:buNone/>
            </a:pPr>
            <a:r>
              <a:rPr lang="en-US" sz="1000" b="1" dirty="0">
                <a:solidFill>
                  <a:srgbClr val="0B2A5B"/>
                </a:solidFill>
              </a:rPr>
              <a:t>Reading</a:t>
            </a:r>
            <a:endParaRPr lang="en-US" sz="1000" dirty="0"/>
          </a:p>
        </p:txBody>
      </p:sp>
      <p:sp>
        <p:nvSpPr>
          <p:cNvPr id="15" name="Shape 12"/>
          <p:cNvSpPr/>
          <p:nvPr/>
        </p:nvSpPr>
        <p:spPr>
          <a:xfrm>
            <a:off x="6922008" y="2103120"/>
            <a:ext cx="950976" cy="475488"/>
          </a:xfrm>
          <a:prstGeom prst="roundRect">
            <a:avLst>
              <a:gd name="adj" fmla="val 11538"/>
            </a:avLst>
          </a:prstGeom>
          <a:solidFill>
            <a:srgbClr val="FFFFFF"/>
          </a:solidFill>
          <a:ln w="9525">
            <a:solidFill>
              <a:srgbClr val="2563EB"/>
            </a:solidFill>
            <a:prstDash val="solid"/>
          </a:ln>
        </p:spPr>
      </p:sp>
      <p:sp>
        <p:nvSpPr>
          <p:cNvPr id="16" name="Text 13"/>
          <p:cNvSpPr txBox="1"/>
          <p:nvPr/>
        </p:nvSpPr>
        <p:spPr>
          <a:xfrm>
            <a:off x="6922008" y="2103120"/>
            <a:ext cx="950976" cy="475488"/>
          </a:xfrm>
          <a:prstGeom prst="rect">
            <a:avLst/>
          </a:prstGeom>
          <a:noFill/>
          <a:ln/>
        </p:spPr>
        <p:txBody>
          <a:bodyPr wrap="square" lIns="0" tIns="0" rIns="0" bIns="0" rtlCol="0" anchor="ctr"/>
          <a:lstStyle/>
          <a:p>
            <a:pPr algn="ctr" indent="0" marL="0">
              <a:buNone/>
            </a:pPr>
            <a:r>
              <a:rPr lang="en-US" sz="1000" b="1" dirty="0">
                <a:solidFill>
                  <a:srgbClr val="0B2A5B"/>
                </a:solidFill>
              </a:rPr>
              <a:t>Care plan</a:t>
            </a:r>
            <a:endParaRPr lang="en-US" sz="1000" dirty="0"/>
          </a:p>
        </p:txBody>
      </p:sp>
      <p:sp>
        <p:nvSpPr>
          <p:cNvPr id="17" name="Shape 14"/>
          <p:cNvSpPr/>
          <p:nvPr/>
        </p:nvSpPr>
        <p:spPr>
          <a:xfrm>
            <a:off x="7946136" y="2103120"/>
            <a:ext cx="950976" cy="475488"/>
          </a:xfrm>
          <a:prstGeom prst="roundRect">
            <a:avLst>
              <a:gd name="adj" fmla="val 11538"/>
            </a:avLst>
          </a:prstGeom>
          <a:solidFill>
            <a:srgbClr val="FFFFFF"/>
          </a:solidFill>
          <a:ln w="9525">
            <a:solidFill>
              <a:srgbClr val="2563EB"/>
            </a:solidFill>
            <a:prstDash val="solid"/>
          </a:ln>
        </p:spPr>
      </p:sp>
      <p:sp>
        <p:nvSpPr>
          <p:cNvPr id="18" name="Text 15"/>
          <p:cNvSpPr txBox="1"/>
          <p:nvPr/>
        </p:nvSpPr>
        <p:spPr>
          <a:xfrm>
            <a:off x="7946136" y="2103120"/>
            <a:ext cx="950976" cy="475488"/>
          </a:xfrm>
          <a:prstGeom prst="rect">
            <a:avLst/>
          </a:prstGeom>
          <a:noFill/>
          <a:ln/>
        </p:spPr>
        <p:txBody>
          <a:bodyPr wrap="square" lIns="0" tIns="0" rIns="0" bIns="0" rtlCol="0" anchor="ctr"/>
          <a:lstStyle/>
          <a:p>
            <a:pPr algn="ctr" indent="0" marL="0">
              <a:buNone/>
            </a:pPr>
            <a:r>
              <a:rPr lang="en-US" sz="1000" b="1" dirty="0">
                <a:solidFill>
                  <a:srgbClr val="0B2A5B"/>
                </a:solidFill>
              </a:rPr>
              <a:t>Education</a:t>
            </a:r>
            <a:endParaRPr lang="en-US" sz="1000" dirty="0"/>
          </a:p>
        </p:txBody>
      </p:sp>
      <p:sp>
        <p:nvSpPr>
          <p:cNvPr id="19" name="Shape 16"/>
          <p:cNvSpPr/>
          <p:nvPr/>
        </p:nvSpPr>
        <p:spPr>
          <a:xfrm>
            <a:off x="5897880" y="2697480"/>
            <a:ext cx="950976" cy="475488"/>
          </a:xfrm>
          <a:prstGeom prst="roundRect">
            <a:avLst>
              <a:gd name="adj" fmla="val 11538"/>
            </a:avLst>
          </a:prstGeom>
          <a:solidFill>
            <a:srgbClr val="FFFFFF"/>
          </a:solidFill>
          <a:ln w="9525">
            <a:solidFill>
              <a:srgbClr val="2563EB"/>
            </a:solidFill>
            <a:prstDash val="solid"/>
          </a:ln>
        </p:spPr>
      </p:sp>
      <p:sp>
        <p:nvSpPr>
          <p:cNvPr id="20" name="Text 17"/>
          <p:cNvSpPr txBox="1"/>
          <p:nvPr/>
        </p:nvSpPr>
        <p:spPr>
          <a:xfrm>
            <a:off x="5897880" y="2697480"/>
            <a:ext cx="950976" cy="475488"/>
          </a:xfrm>
          <a:prstGeom prst="rect">
            <a:avLst/>
          </a:prstGeom>
          <a:noFill/>
          <a:ln/>
        </p:spPr>
        <p:txBody>
          <a:bodyPr wrap="square" lIns="0" tIns="0" rIns="0" bIns="0" rtlCol="0" anchor="ctr"/>
          <a:lstStyle/>
          <a:p>
            <a:pPr algn="ctr" indent="0" marL="0">
              <a:buNone/>
            </a:pPr>
            <a:r>
              <a:rPr lang="en-US" sz="1000" b="1" dirty="0">
                <a:solidFill>
                  <a:srgbClr val="0B2A5B"/>
                </a:solidFill>
              </a:rPr>
              <a:t>Engagement</a:t>
            </a:r>
            <a:endParaRPr lang="en-US" sz="1000" dirty="0"/>
          </a:p>
        </p:txBody>
      </p:sp>
      <p:sp>
        <p:nvSpPr>
          <p:cNvPr id="21" name="Shape 18"/>
          <p:cNvSpPr/>
          <p:nvPr/>
        </p:nvSpPr>
        <p:spPr>
          <a:xfrm>
            <a:off x="6922008" y="2697480"/>
            <a:ext cx="950976" cy="475488"/>
          </a:xfrm>
          <a:prstGeom prst="roundRect">
            <a:avLst>
              <a:gd name="adj" fmla="val 11538"/>
            </a:avLst>
          </a:prstGeom>
          <a:solidFill>
            <a:srgbClr val="FFFFFF"/>
          </a:solidFill>
          <a:ln w="9525">
            <a:solidFill>
              <a:srgbClr val="2563EB"/>
            </a:solidFill>
            <a:prstDash val="solid"/>
          </a:ln>
        </p:spPr>
      </p:sp>
      <p:sp>
        <p:nvSpPr>
          <p:cNvPr id="22" name="Text 19"/>
          <p:cNvSpPr txBox="1"/>
          <p:nvPr/>
        </p:nvSpPr>
        <p:spPr>
          <a:xfrm>
            <a:off x="6922008" y="2697480"/>
            <a:ext cx="950976" cy="475488"/>
          </a:xfrm>
          <a:prstGeom prst="rect">
            <a:avLst/>
          </a:prstGeom>
          <a:noFill/>
          <a:ln/>
        </p:spPr>
        <p:txBody>
          <a:bodyPr wrap="square" lIns="0" tIns="0" rIns="0" bIns="0" rtlCol="0" anchor="ctr"/>
          <a:lstStyle/>
          <a:p>
            <a:pPr algn="ctr" indent="0" marL="0">
              <a:buNone/>
            </a:pPr>
            <a:r>
              <a:rPr lang="en-US" sz="1000" b="1" dirty="0">
                <a:solidFill>
                  <a:srgbClr val="0B2A5B"/>
                </a:solidFill>
              </a:rPr>
              <a:t>Escalation</a:t>
            </a:r>
            <a:endParaRPr lang="en-US" sz="1000" dirty="0"/>
          </a:p>
        </p:txBody>
      </p:sp>
      <p:sp>
        <p:nvSpPr>
          <p:cNvPr id="23" name="Shape 20"/>
          <p:cNvSpPr/>
          <p:nvPr/>
        </p:nvSpPr>
        <p:spPr>
          <a:xfrm>
            <a:off x="7946136" y="2697480"/>
            <a:ext cx="950976" cy="475488"/>
          </a:xfrm>
          <a:prstGeom prst="roundRect">
            <a:avLst>
              <a:gd name="adj" fmla="val 11538"/>
            </a:avLst>
          </a:prstGeom>
          <a:solidFill>
            <a:srgbClr val="FFFFFF"/>
          </a:solidFill>
          <a:ln w="9525">
            <a:solidFill>
              <a:srgbClr val="2563EB"/>
            </a:solidFill>
            <a:prstDash val="solid"/>
          </a:ln>
        </p:spPr>
      </p:sp>
      <p:sp>
        <p:nvSpPr>
          <p:cNvPr id="24" name="Text 21"/>
          <p:cNvSpPr txBox="1"/>
          <p:nvPr/>
        </p:nvSpPr>
        <p:spPr>
          <a:xfrm>
            <a:off x="7946136" y="2697480"/>
            <a:ext cx="950976" cy="475488"/>
          </a:xfrm>
          <a:prstGeom prst="rect">
            <a:avLst/>
          </a:prstGeom>
          <a:noFill/>
          <a:ln/>
        </p:spPr>
        <p:txBody>
          <a:bodyPr wrap="square" lIns="0" tIns="0" rIns="0" bIns="0" rtlCol="0" anchor="ctr"/>
          <a:lstStyle/>
          <a:p>
            <a:pPr algn="ctr" indent="0" marL="0">
              <a:buNone/>
            </a:pPr>
            <a:r>
              <a:rPr lang="en-US" sz="1000" b="1" dirty="0">
                <a:solidFill>
                  <a:srgbClr val="0B2A5B"/>
                </a:solidFill>
              </a:rPr>
              <a:t>Router</a:t>
            </a:r>
            <a:endParaRPr lang="en-US" sz="1000" dirty="0"/>
          </a:p>
        </p:txBody>
      </p:sp>
      <p:sp>
        <p:nvSpPr>
          <p:cNvPr id="25" name="Shape 22"/>
          <p:cNvSpPr/>
          <p:nvPr/>
        </p:nvSpPr>
        <p:spPr>
          <a:xfrm>
            <a:off x="9692640" y="1828800"/>
            <a:ext cx="1856232" cy="1188720"/>
          </a:xfrm>
          <a:prstGeom prst="roundRect">
            <a:avLst>
              <a:gd name="adj" fmla="val 6154"/>
            </a:avLst>
          </a:prstGeom>
          <a:solidFill>
            <a:srgbClr val="0E9F9E"/>
          </a:solidFill>
          <a:ln w="12700">
            <a:solidFill>
              <a:srgbClr val="0E9F9E"/>
            </a:solidFill>
            <a:prstDash val="solid"/>
          </a:ln>
          <a:effectLst>
            <a:outerShdw sx="100000" sy="100000" kx="0" ky="0" algn="bl" rotWithShape="0" blurRad="76200" dist="25400" dir="5400000">
              <a:srgbClr val="1B2A4A">
                <a:alpha val="15000"/>
              </a:srgbClr>
            </a:outerShdw>
          </a:effectLst>
        </p:spPr>
      </p:sp>
      <p:sp>
        <p:nvSpPr>
          <p:cNvPr id="26" name="Text 23"/>
          <p:cNvSpPr txBox="1"/>
          <p:nvPr/>
        </p:nvSpPr>
        <p:spPr>
          <a:xfrm>
            <a:off x="9802368" y="1920240"/>
            <a:ext cx="1636776" cy="320040"/>
          </a:xfrm>
          <a:prstGeom prst="rect">
            <a:avLst/>
          </a:prstGeom>
          <a:noFill/>
          <a:ln/>
        </p:spPr>
        <p:txBody>
          <a:bodyPr wrap="square" lIns="0" tIns="0" rIns="0" bIns="0" rtlCol="0" anchor="t"/>
          <a:lstStyle/>
          <a:p>
            <a:pPr algn="ctr" indent="0" marL="0">
              <a:buNone/>
            </a:pPr>
            <a:r>
              <a:rPr lang="en-US" sz="1400" b="1" dirty="0">
                <a:solidFill>
                  <a:srgbClr val="FFFFFF"/>
                </a:solidFill>
              </a:rPr>
              <a:t>Output guards</a:t>
            </a:r>
            <a:endParaRPr lang="en-US" sz="1400" dirty="0"/>
          </a:p>
        </p:txBody>
      </p:sp>
      <p:sp>
        <p:nvSpPr>
          <p:cNvPr id="27" name="Text 24"/>
          <p:cNvSpPr txBox="1"/>
          <p:nvPr/>
        </p:nvSpPr>
        <p:spPr>
          <a:xfrm>
            <a:off x="9802368" y="2267712"/>
            <a:ext cx="1636776" cy="685800"/>
          </a:xfrm>
          <a:prstGeom prst="rect">
            <a:avLst/>
          </a:prstGeom>
          <a:noFill/>
          <a:ln/>
        </p:spPr>
        <p:txBody>
          <a:bodyPr wrap="square" lIns="0" tIns="0" rIns="0" bIns="0" rtlCol="0" anchor="t"/>
          <a:lstStyle/>
          <a:p>
            <a:pPr algn="ctr" indent="0" marL="0">
              <a:buNone/>
            </a:pPr>
            <a:r>
              <a:rPr lang="en-US" sz="1100" dirty="0">
                <a:solidFill>
                  <a:srgbClr val="FFFFFF"/>
                </a:solidFill>
              </a:rPr>
              <a:t>Wording, numbers, citations</a:t>
            </a:r>
            <a:endParaRPr lang="en-US" sz="1100" dirty="0"/>
          </a:p>
        </p:txBody>
      </p:sp>
      <p:sp>
        <p:nvSpPr>
          <p:cNvPr id="28" name="Shape 25"/>
          <p:cNvSpPr/>
          <p:nvPr/>
        </p:nvSpPr>
        <p:spPr>
          <a:xfrm>
            <a:off x="2468880" y="2423160"/>
            <a:ext cx="548640" cy="0"/>
          </a:xfrm>
          <a:prstGeom prst="line">
            <a:avLst/>
          </a:prstGeom>
          <a:noFill/>
          <a:ln w="25400">
            <a:solidFill>
              <a:srgbClr val="0E9F9E"/>
            </a:solidFill>
            <a:prstDash val="solid"/>
            <a:tailEnd type="triangle"/>
          </a:ln>
        </p:spPr>
      </p:sp>
      <p:sp>
        <p:nvSpPr>
          <p:cNvPr id="29" name="Shape 26"/>
          <p:cNvSpPr/>
          <p:nvPr/>
        </p:nvSpPr>
        <p:spPr>
          <a:xfrm>
            <a:off x="5212080" y="2423160"/>
            <a:ext cx="548640" cy="0"/>
          </a:xfrm>
          <a:prstGeom prst="line">
            <a:avLst/>
          </a:prstGeom>
          <a:noFill/>
          <a:ln w="25400">
            <a:solidFill>
              <a:srgbClr val="0E9F9E"/>
            </a:solidFill>
            <a:prstDash val="solid"/>
            <a:tailEnd type="triangle"/>
          </a:ln>
        </p:spPr>
      </p:sp>
      <p:sp>
        <p:nvSpPr>
          <p:cNvPr id="30" name="Shape 27"/>
          <p:cNvSpPr/>
          <p:nvPr/>
        </p:nvSpPr>
        <p:spPr>
          <a:xfrm>
            <a:off x="9144000" y="2423160"/>
            <a:ext cx="548640" cy="0"/>
          </a:xfrm>
          <a:prstGeom prst="line">
            <a:avLst/>
          </a:prstGeom>
          <a:noFill/>
          <a:ln w="25400">
            <a:solidFill>
              <a:srgbClr val="0E9F9E"/>
            </a:solidFill>
            <a:prstDash val="solid"/>
            <a:tailEnd type="triangle"/>
          </a:ln>
        </p:spPr>
      </p:sp>
      <p:sp>
        <p:nvSpPr>
          <p:cNvPr id="31" name="Shape 28"/>
          <p:cNvSpPr/>
          <p:nvPr/>
        </p:nvSpPr>
        <p:spPr>
          <a:xfrm>
            <a:off x="3017520" y="4160520"/>
            <a:ext cx="2194560" cy="1188720"/>
          </a:xfrm>
          <a:prstGeom prst="roundRect">
            <a:avLst>
              <a:gd name="adj" fmla="val 6154"/>
            </a:avLst>
          </a:prstGeom>
          <a:solidFill>
            <a:srgbClr val="475C85"/>
          </a:solidFill>
          <a:ln w="12700">
            <a:solidFill>
              <a:srgbClr val="475C85"/>
            </a:solidFill>
            <a:prstDash val="solid"/>
          </a:ln>
          <a:effectLst>
            <a:outerShdw sx="100000" sy="100000" kx="0" ky="0" algn="bl" rotWithShape="0" blurRad="76200" dist="25400" dir="5400000">
              <a:srgbClr val="1B2A4A">
                <a:alpha val="15000"/>
              </a:srgbClr>
            </a:outerShdw>
          </a:effectLst>
        </p:spPr>
      </p:sp>
      <p:sp>
        <p:nvSpPr>
          <p:cNvPr id="32" name="Text 29"/>
          <p:cNvSpPr txBox="1"/>
          <p:nvPr/>
        </p:nvSpPr>
        <p:spPr>
          <a:xfrm>
            <a:off x="3127248" y="4251960"/>
            <a:ext cx="1975104" cy="320040"/>
          </a:xfrm>
          <a:prstGeom prst="rect">
            <a:avLst/>
          </a:prstGeom>
          <a:noFill/>
          <a:ln/>
        </p:spPr>
        <p:txBody>
          <a:bodyPr wrap="square" lIns="0" tIns="0" rIns="0" bIns="0" rtlCol="0" anchor="t"/>
          <a:lstStyle/>
          <a:p>
            <a:pPr algn="ctr" indent="0" marL="0">
              <a:buNone/>
            </a:pPr>
            <a:r>
              <a:rPr lang="en-US" sz="1400" b="1" dirty="0">
                <a:solidFill>
                  <a:srgbClr val="FFFFFF"/>
                </a:solidFill>
              </a:rPr>
              <a:t>Governed data tables</a:t>
            </a:r>
            <a:endParaRPr lang="en-US" sz="1400" dirty="0"/>
          </a:p>
        </p:txBody>
      </p:sp>
      <p:sp>
        <p:nvSpPr>
          <p:cNvPr id="33" name="Text 30"/>
          <p:cNvSpPr txBox="1"/>
          <p:nvPr/>
        </p:nvSpPr>
        <p:spPr>
          <a:xfrm>
            <a:off x="3127248" y="4599432"/>
            <a:ext cx="1975104" cy="685800"/>
          </a:xfrm>
          <a:prstGeom prst="rect">
            <a:avLst/>
          </a:prstGeom>
          <a:noFill/>
          <a:ln/>
        </p:spPr>
        <p:txBody>
          <a:bodyPr wrap="square" lIns="0" tIns="0" rIns="0" bIns="0" rtlCol="0" anchor="t"/>
          <a:lstStyle/>
          <a:p>
            <a:pPr algn="ctr" indent="0" marL="0">
              <a:buNone/>
            </a:pPr>
            <a:r>
              <a:rPr lang="en-US" sz="1100" dirty="0">
                <a:solidFill>
                  <a:srgbClr val="FFFFFF"/>
                </a:solidFill>
              </a:rPr>
              <a:t>Members, readings, care plan, rules</a:t>
            </a:r>
            <a:endParaRPr lang="en-US" sz="1100" dirty="0"/>
          </a:p>
        </p:txBody>
      </p:sp>
      <p:sp>
        <p:nvSpPr>
          <p:cNvPr id="34" name="Shape 31"/>
          <p:cNvSpPr/>
          <p:nvPr/>
        </p:nvSpPr>
        <p:spPr>
          <a:xfrm>
            <a:off x="5760720" y="4160520"/>
            <a:ext cx="3383280" cy="1188720"/>
          </a:xfrm>
          <a:prstGeom prst="roundRect">
            <a:avLst>
              <a:gd name="adj" fmla="val 6154"/>
            </a:avLst>
          </a:prstGeom>
          <a:solidFill>
            <a:srgbClr val="0E9F9E"/>
          </a:solidFill>
          <a:ln w="12700">
            <a:solidFill>
              <a:srgbClr val="0E9F9E"/>
            </a:solidFill>
            <a:prstDash val="solid"/>
          </a:ln>
          <a:effectLst>
            <a:outerShdw sx="100000" sy="100000" kx="0" ky="0" algn="bl" rotWithShape="0" blurRad="76200" dist="25400" dir="5400000">
              <a:srgbClr val="1B2A4A">
                <a:alpha val="15000"/>
              </a:srgbClr>
            </a:outerShdw>
          </a:effectLst>
        </p:spPr>
      </p:sp>
      <p:sp>
        <p:nvSpPr>
          <p:cNvPr id="35" name="Text 32"/>
          <p:cNvSpPr txBox="1"/>
          <p:nvPr/>
        </p:nvSpPr>
        <p:spPr>
          <a:xfrm>
            <a:off x="5870448" y="4251960"/>
            <a:ext cx="3163824" cy="320040"/>
          </a:xfrm>
          <a:prstGeom prst="rect">
            <a:avLst/>
          </a:prstGeom>
          <a:noFill/>
          <a:ln/>
        </p:spPr>
        <p:txBody>
          <a:bodyPr wrap="square" lIns="0" tIns="0" rIns="0" bIns="0" rtlCol="0" anchor="t"/>
          <a:lstStyle/>
          <a:p>
            <a:pPr algn="ctr" indent="0" marL="0">
              <a:buNone/>
            </a:pPr>
            <a:r>
              <a:rPr lang="en-US" sz="1400" b="1" dirty="0">
                <a:solidFill>
                  <a:srgbClr val="FFFFFF"/>
                </a:solidFill>
              </a:rPr>
              <a:t>Azure AI Search</a:t>
            </a:r>
            <a:endParaRPr lang="en-US" sz="1400" dirty="0"/>
          </a:p>
        </p:txBody>
      </p:sp>
      <p:sp>
        <p:nvSpPr>
          <p:cNvPr id="36" name="Text 33"/>
          <p:cNvSpPr txBox="1"/>
          <p:nvPr/>
        </p:nvSpPr>
        <p:spPr>
          <a:xfrm>
            <a:off x="5870448" y="4599432"/>
            <a:ext cx="3163824" cy="685800"/>
          </a:xfrm>
          <a:prstGeom prst="rect">
            <a:avLst/>
          </a:prstGeom>
          <a:noFill/>
          <a:ln/>
        </p:spPr>
        <p:txBody>
          <a:bodyPr wrap="square" lIns="0" tIns="0" rIns="0" bIns="0" rtlCol="0" anchor="t"/>
          <a:lstStyle/>
          <a:p>
            <a:pPr algn="ctr" indent="0" marL="0">
              <a:buNone/>
            </a:pPr>
            <a:r>
              <a:rPr lang="en-US" sz="1100" dirty="0">
                <a:solidFill>
                  <a:srgbClr val="FFFFFF"/>
                </a:solidFill>
              </a:rPr>
              <a:t>Education and care-plan guidance indexes: vector + semantic ranking</a:t>
            </a:r>
            <a:endParaRPr lang="en-US" sz="1100" dirty="0"/>
          </a:p>
        </p:txBody>
      </p:sp>
      <p:sp>
        <p:nvSpPr>
          <p:cNvPr id="37" name="Shape 34"/>
          <p:cNvSpPr/>
          <p:nvPr/>
        </p:nvSpPr>
        <p:spPr>
          <a:xfrm>
            <a:off x="9692640" y="4160520"/>
            <a:ext cx="1856232" cy="1188720"/>
          </a:xfrm>
          <a:prstGeom prst="roundRect">
            <a:avLst>
              <a:gd name="adj" fmla="val 6154"/>
            </a:avLst>
          </a:prstGeom>
          <a:solidFill>
            <a:srgbClr val="2563EB"/>
          </a:solidFill>
          <a:ln w="12700">
            <a:solidFill>
              <a:srgbClr val="2563EB"/>
            </a:solidFill>
            <a:prstDash val="solid"/>
          </a:ln>
          <a:effectLst>
            <a:outerShdw sx="100000" sy="100000" kx="0" ky="0" algn="bl" rotWithShape="0" blurRad="76200" dist="25400" dir="5400000">
              <a:srgbClr val="1B2A4A">
                <a:alpha val="15000"/>
              </a:srgbClr>
            </a:outerShdw>
          </a:effectLst>
        </p:spPr>
      </p:sp>
      <p:sp>
        <p:nvSpPr>
          <p:cNvPr id="38" name="Text 35"/>
          <p:cNvSpPr txBox="1"/>
          <p:nvPr/>
        </p:nvSpPr>
        <p:spPr>
          <a:xfrm>
            <a:off x="9802368" y="4251960"/>
            <a:ext cx="1636776" cy="320040"/>
          </a:xfrm>
          <a:prstGeom prst="rect">
            <a:avLst/>
          </a:prstGeom>
          <a:noFill/>
          <a:ln/>
        </p:spPr>
        <p:txBody>
          <a:bodyPr wrap="square" lIns="0" tIns="0" rIns="0" bIns="0" rtlCol="0" anchor="t"/>
          <a:lstStyle/>
          <a:p>
            <a:pPr algn="ctr" indent="0" marL="0">
              <a:buNone/>
            </a:pPr>
            <a:r>
              <a:rPr lang="en-US" sz="1400" b="1" dirty="0">
                <a:solidFill>
                  <a:srgbClr val="FFFFFF"/>
                </a:solidFill>
              </a:rPr>
              <a:t>Blob Storage</a:t>
            </a:r>
            <a:endParaRPr lang="en-US" sz="1400" dirty="0"/>
          </a:p>
        </p:txBody>
      </p:sp>
      <p:sp>
        <p:nvSpPr>
          <p:cNvPr id="39" name="Text 36"/>
          <p:cNvSpPr txBox="1"/>
          <p:nvPr/>
        </p:nvSpPr>
        <p:spPr>
          <a:xfrm>
            <a:off x="9802368" y="4599432"/>
            <a:ext cx="1636776" cy="685800"/>
          </a:xfrm>
          <a:prstGeom prst="rect">
            <a:avLst/>
          </a:prstGeom>
          <a:noFill/>
          <a:ln/>
        </p:spPr>
        <p:txBody>
          <a:bodyPr wrap="square" lIns="0" tIns="0" rIns="0" bIns="0" rtlCol="0" anchor="t"/>
          <a:lstStyle/>
          <a:p>
            <a:pPr algn="ctr" indent="0" marL="0">
              <a:buNone/>
            </a:pPr>
            <a:r>
              <a:rPr lang="en-US" sz="1100" dirty="0">
                <a:solidFill>
                  <a:srgbClr val="FFFFFF"/>
                </a:solidFill>
              </a:rPr>
              <a:t>Data tables and approved articles</a:t>
            </a:r>
            <a:endParaRPr lang="en-US" sz="1100" dirty="0"/>
          </a:p>
        </p:txBody>
      </p:sp>
      <p:sp>
        <p:nvSpPr>
          <p:cNvPr id="40" name="Shape 37"/>
          <p:cNvSpPr/>
          <p:nvPr/>
        </p:nvSpPr>
        <p:spPr>
          <a:xfrm>
            <a:off x="4114800" y="3017520"/>
            <a:ext cx="0" cy="1143000"/>
          </a:xfrm>
          <a:prstGeom prst="line">
            <a:avLst/>
          </a:prstGeom>
          <a:noFill/>
          <a:ln w="25400">
            <a:solidFill>
              <a:srgbClr val="0E9F9E"/>
            </a:solidFill>
            <a:prstDash val="solid"/>
            <a:tailEnd type="triangle"/>
          </a:ln>
        </p:spPr>
      </p:sp>
      <p:sp>
        <p:nvSpPr>
          <p:cNvPr id="41" name="Shape 38"/>
          <p:cNvSpPr/>
          <p:nvPr/>
        </p:nvSpPr>
        <p:spPr>
          <a:xfrm>
            <a:off x="7452360" y="3383280"/>
            <a:ext cx="0" cy="777240"/>
          </a:xfrm>
          <a:prstGeom prst="line">
            <a:avLst/>
          </a:prstGeom>
          <a:noFill/>
          <a:ln w="25400">
            <a:solidFill>
              <a:srgbClr val="0E9F9E"/>
            </a:solidFill>
            <a:prstDash val="solid"/>
            <a:tailEnd type="triangle"/>
          </a:ln>
        </p:spPr>
      </p:sp>
      <p:sp>
        <p:nvSpPr>
          <p:cNvPr id="42" name="Shape 39"/>
          <p:cNvSpPr/>
          <p:nvPr/>
        </p:nvSpPr>
        <p:spPr>
          <a:xfrm flipV="1">
            <a:off x="9144000" y="4754880"/>
            <a:ext cx="548640" cy="0"/>
          </a:xfrm>
          <a:prstGeom prst="line">
            <a:avLst/>
          </a:prstGeom>
          <a:noFill/>
          <a:ln w="25400">
            <a:solidFill>
              <a:srgbClr val="0E9F9E"/>
            </a:solidFill>
            <a:prstDash val="solid"/>
            <a:tailEnd type="triangle"/>
          </a:ln>
        </p:spPr>
      </p:sp>
      <p:sp>
        <p:nvSpPr>
          <p:cNvPr id="43" name="Text 40"/>
          <p:cNvSpPr txBox="1"/>
          <p:nvPr/>
        </p:nvSpPr>
        <p:spPr>
          <a:xfrm>
            <a:off x="640080" y="5669280"/>
            <a:ext cx="10881360" cy="457200"/>
          </a:xfrm>
          <a:prstGeom prst="rect">
            <a:avLst/>
          </a:prstGeom>
          <a:noFill/>
          <a:ln/>
        </p:spPr>
        <p:txBody>
          <a:bodyPr wrap="square" lIns="0" tIns="0" rIns="0" bIns="0" rtlCol="0" anchor="t"/>
          <a:lstStyle/>
          <a:p>
            <a:pPr algn="ctr" indent="0" marL="0">
              <a:buNone/>
            </a:pPr>
            <a:r>
              <a:rPr lang="en-US" sz="1300" dirty="0">
                <a:solidFill>
                  <a:srgbClr val="5B6B85"/>
                </a:solidFill>
              </a:rPr>
              <a:t>Identity-based access to Foundry using Azure credentials and role-based access. Approved content only reaches the index.</a:t>
            </a:r>
            <a:endParaRPr lang="en-US" sz="13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THE AGENTS</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Six agents, each with one job and the least access it needs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1920240"/>
                <a:gridCol w="3749040"/>
                <a:gridCol w="2651760"/>
                <a:gridCol w="2587752"/>
              </a:tblGrid>
              <a:tr h="566928">
                <a:tc>
                  <a:txBody>
                    <a:bodyPr/>
                    <a:lstStyle/>
                    <a:p>
                      <a:pPr indent="0" marL="0">
                        <a:buNone/>
                      </a:pPr>
                      <a:r>
                        <a:rPr lang="en-US" sz="1200" b="1" dirty="0">
                          <a:solidFill>
                            <a:srgbClr val="FFFFFF"/>
                          </a:solidFill>
                          <a:latin typeface="Arial" pitchFamily="34" charset="0"/>
                          <a:ea typeface="Arial" pitchFamily="34" charset="-122"/>
                          <a:cs typeface="Arial" pitchFamily="34" charset="-120"/>
                        </a:rPr>
                        <a:t>Agent</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Can access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Cannot do</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r>
              <a:tr h="566928">
                <a:tc>
                  <a:txBody>
                    <a:bodyPr/>
                    <a:lstStyle/>
                    <a:p>
                      <a:pPr indent="0" marL="0">
                        <a:buNone/>
                      </a:pPr>
                      <a:r>
                        <a:rPr lang="en-US" sz="1200" b="1" dirty="0">
                          <a:solidFill>
                            <a:srgbClr val="14213D"/>
                          </a:solidFill>
                          <a:latin typeface="Arial" pitchFamily="34" charset="0"/>
                          <a:ea typeface="Arial" pitchFamily="34" charset="-122"/>
                          <a:cs typeface="Arial" pitchFamily="34" charset="-120"/>
                        </a:rPr>
                        <a:t>Router (orchestrator agent)</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Classifies the request</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Message text</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Read data or answer</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4213D"/>
                          </a:solidFill>
                          <a:latin typeface="Arial" pitchFamily="34" charset="0"/>
                          <a:ea typeface="Arial" pitchFamily="34" charset="-122"/>
                          <a:cs typeface="Arial" pitchFamily="34" charset="-120"/>
                        </a:rPr>
                        <a:t>Reading Summary</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Words a summary of recent readings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Code-selected readings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Interpret values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4213D"/>
                          </a:solidFill>
                          <a:latin typeface="Arial" pitchFamily="34" charset="0"/>
                          <a:ea typeface="Arial" pitchFamily="34" charset="-122"/>
                          <a:cs typeface="Arial" pitchFamily="34" charset="-120"/>
                        </a:rPr>
                        <a:t>Care Plan</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Presents tasks and due items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Care-plan tasks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Change the plan</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4213D"/>
                          </a:solidFill>
                          <a:latin typeface="Arial" pitchFamily="34" charset="0"/>
                          <a:ea typeface="Arial" pitchFamily="34" charset="-122"/>
                          <a:cs typeface="Arial" pitchFamily="34" charset="-120"/>
                        </a:rPr>
                        <a:t>Education RAG</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Answers from approved articles with citations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Approved education index</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Read readings or plans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4213D"/>
                          </a:solidFill>
                          <a:latin typeface="Arial" pitchFamily="34" charset="0"/>
                          <a:ea typeface="Arial" pitchFamily="34" charset="-122"/>
                          <a:cs typeface="Arial" pitchFamily="34" charset="-120"/>
                        </a:rPr>
                        <a:t>Engagement</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Writes reminders in the member's channel and language</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Task and channel details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Add clinical content</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4213D"/>
                          </a:solidFill>
                          <a:latin typeface="Arial" pitchFamily="34" charset="0"/>
                          <a:ea typeface="Arial" pitchFamily="34" charset="-122"/>
                          <a:cs typeface="Arial" pitchFamily="34" charset="-120"/>
                        </a:rPr>
                        <a:t>Escalation</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Prepares the staff hand-off record</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Rule id and queue</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Decide urgency itself</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640080" y="5852160"/>
            <a:ext cx="10881360" cy="365760"/>
          </a:xfrm>
          <a:prstGeom prst="rect">
            <a:avLst/>
          </a:prstGeom>
          <a:noFill/>
          <a:ln/>
        </p:spPr>
        <p:txBody>
          <a:bodyPr wrap="square" lIns="0" tIns="0" rIns="0" bIns="0" rtlCol="0" anchor="t"/>
          <a:lstStyle/>
          <a:p>
            <a:pPr indent="0" marL="0">
              <a:buNone/>
            </a:pPr>
            <a:r>
              <a:rPr lang="en-US" sz="1300" dirty="0">
                <a:solidFill>
                  <a:srgbClr val="5B6B85"/>
                </a:solidFill>
              </a:rPr>
              <a:t>All six are registered in Foundry as named, versioned agents.</a:t>
            </a:r>
            <a:endParaRPr lang="en-US" sz="13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REQUEST JOURNEY</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What happens to every request, in order</a:t>
            </a:r>
            <a:endParaRPr lang="en-US" sz="2800" dirty="0"/>
          </a:p>
        </p:txBody>
      </p:sp>
      <p:sp>
        <p:nvSpPr>
          <p:cNvPr id="5" name="Shape 2"/>
          <p:cNvSpPr/>
          <p:nvPr/>
        </p:nvSpPr>
        <p:spPr>
          <a:xfrm>
            <a:off x="640080" y="1737360"/>
            <a:ext cx="2606040" cy="1965960"/>
          </a:xfrm>
          <a:prstGeom prst="roundRect">
            <a:avLst>
              <a:gd name="adj" fmla="val 3256"/>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6" name="Shape 3"/>
          <p:cNvSpPr/>
          <p:nvPr/>
        </p:nvSpPr>
        <p:spPr>
          <a:xfrm>
            <a:off x="822960" y="1920240"/>
            <a:ext cx="566928" cy="566928"/>
          </a:xfrm>
          <a:prstGeom prst="ellipse">
            <a:avLst/>
          </a:prstGeom>
          <a:solidFill>
            <a:srgbClr val="2563EB"/>
          </a:solidFill>
          <a:ln w="6350">
            <a:solidFill>
              <a:srgbClr val="2563EB"/>
            </a:solidFill>
            <a:prstDash val="solid"/>
          </a:ln>
        </p:spPr>
      </p:sp>
      <p:pic>
        <p:nvPicPr>
          <p:cNvPr id="7" name="Image 0" descr="FaIdCard">    </p:cNvPr>
          <p:cNvPicPr>
            <a:picLocks noChangeAspect="1"/>
          </p:cNvPicPr>
          <p:nvPr/>
        </p:nvPicPr>
        <p:blipFill>
          <a:blip r:embed="rId1"/>
          <a:stretch>
            <a:fillRect/>
          </a:stretch>
        </p:blipFill>
        <p:spPr>
          <a:xfrm>
            <a:off x="976031" y="2073311"/>
            <a:ext cx="260787" cy="260787"/>
          </a:xfrm>
          <a:prstGeom prst="rect">
            <a:avLst/>
          </a:prstGeom>
        </p:spPr>
      </p:pic>
      <p:sp>
        <p:nvSpPr>
          <p:cNvPr id="8" name="Text 4"/>
          <p:cNvSpPr txBox="1"/>
          <p:nvPr/>
        </p:nvSpPr>
        <p:spPr>
          <a:xfrm>
            <a:off x="2651760" y="1874520"/>
            <a:ext cx="457200" cy="457200"/>
          </a:xfrm>
          <a:prstGeom prst="rect">
            <a:avLst/>
          </a:prstGeom>
          <a:noFill/>
          <a:ln/>
        </p:spPr>
        <p:txBody>
          <a:bodyPr wrap="square" lIns="0" tIns="0" rIns="0" bIns="0" rtlCol="0" anchor="t"/>
          <a:lstStyle/>
          <a:p>
            <a:pPr algn="r" indent="0" marL="0">
              <a:buNone/>
            </a:pPr>
            <a:r>
              <a:rPr lang="en-US" sz="2600" b="1" dirty="0">
                <a:solidFill>
                  <a:srgbClr val="DAE3F0"/>
                </a:solidFill>
              </a:rPr>
              <a:t>1</a:t>
            </a:r>
            <a:endParaRPr lang="en-US" sz="2600" dirty="0"/>
          </a:p>
        </p:txBody>
      </p:sp>
      <p:sp>
        <p:nvSpPr>
          <p:cNvPr id="9" name="Text 5"/>
          <p:cNvSpPr txBox="1"/>
          <p:nvPr/>
        </p:nvSpPr>
        <p:spPr>
          <a:xfrm>
            <a:off x="822960" y="2633472"/>
            <a:ext cx="2286000" cy="365760"/>
          </a:xfrm>
          <a:prstGeom prst="rect">
            <a:avLst/>
          </a:prstGeom>
          <a:noFill/>
          <a:ln/>
        </p:spPr>
        <p:txBody>
          <a:bodyPr wrap="square" lIns="0" tIns="0" rIns="0" bIns="0" rtlCol="0" anchor="t"/>
          <a:lstStyle/>
          <a:p>
            <a:pPr indent="0" marL="0">
              <a:buNone/>
            </a:pPr>
            <a:r>
              <a:rPr lang="en-US" sz="1500" b="1" dirty="0">
                <a:solidFill>
                  <a:srgbClr val="0B2A5B"/>
                </a:solidFill>
              </a:rPr>
              <a:t>Member and consent</a:t>
            </a:r>
            <a:endParaRPr lang="en-US" sz="1500" dirty="0"/>
          </a:p>
        </p:txBody>
      </p:sp>
      <p:sp>
        <p:nvSpPr>
          <p:cNvPr id="10" name="Text 6"/>
          <p:cNvSpPr txBox="1"/>
          <p:nvPr/>
        </p:nvSpPr>
        <p:spPr>
          <a:xfrm>
            <a:off x="822960" y="3017520"/>
            <a:ext cx="2286000" cy="594360"/>
          </a:xfrm>
          <a:prstGeom prst="rect">
            <a:avLst/>
          </a:prstGeom>
          <a:noFill/>
          <a:ln/>
        </p:spPr>
        <p:txBody>
          <a:bodyPr wrap="square" lIns="0" tIns="0" rIns="0" bIns="0" rtlCol="0" anchor="t"/>
          <a:lstStyle/>
          <a:p>
            <a:pPr indent="0" marL="0">
              <a:buNone/>
            </a:pPr>
            <a:r>
              <a:rPr lang="en-US" sz="1200" dirty="0">
                <a:solidFill>
                  <a:srgbClr val="5B6B85"/>
                </a:solidFill>
              </a:rPr>
              <a:t>Unknown ID or consent not active: stop (ER-501)</a:t>
            </a:r>
            <a:endParaRPr lang="en-US" sz="1200" dirty="0"/>
          </a:p>
        </p:txBody>
      </p:sp>
      <p:sp>
        <p:nvSpPr>
          <p:cNvPr id="11" name="Shape 7"/>
          <p:cNvSpPr/>
          <p:nvPr/>
        </p:nvSpPr>
        <p:spPr>
          <a:xfrm>
            <a:off x="3429000" y="1737360"/>
            <a:ext cx="2606040" cy="1965960"/>
          </a:xfrm>
          <a:prstGeom prst="roundRect">
            <a:avLst>
              <a:gd name="adj" fmla="val 3256"/>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2" name="Shape 8"/>
          <p:cNvSpPr/>
          <p:nvPr/>
        </p:nvSpPr>
        <p:spPr>
          <a:xfrm>
            <a:off x="3611880" y="1920240"/>
            <a:ext cx="566928" cy="566928"/>
          </a:xfrm>
          <a:prstGeom prst="ellipse">
            <a:avLst/>
          </a:prstGeom>
          <a:solidFill>
            <a:srgbClr val="0E9F9E"/>
          </a:solidFill>
          <a:ln w="6350">
            <a:solidFill>
              <a:srgbClr val="0E9F9E"/>
            </a:solidFill>
            <a:prstDash val="solid"/>
          </a:ln>
        </p:spPr>
      </p:sp>
      <p:pic>
        <p:nvPicPr>
          <p:cNvPr id="13" name="Image 1" descr="FaUserLock">    </p:cNvPr>
          <p:cNvPicPr>
            <a:picLocks noChangeAspect="1"/>
          </p:cNvPicPr>
          <p:nvPr/>
        </p:nvPicPr>
        <p:blipFill>
          <a:blip r:embed="rId2"/>
          <a:stretch>
            <a:fillRect/>
          </a:stretch>
        </p:blipFill>
        <p:spPr>
          <a:xfrm>
            <a:off x="3764951" y="2073311"/>
            <a:ext cx="260787" cy="260787"/>
          </a:xfrm>
          <a:prstGeom prst="rect">
            <a:avLst/>
          </a:prstGeom>
        </p:spPr>
      </p:pic>
      <p:sp>
        <p:nvSpPr>
          <p:cNvPr id="14" name="Text 9"/>
          <p:cNvSpPr txBox="1"/>
          <p:nvPr/>
        </p:nvSpPr>
        <p:spPr>
          <a:xfrm>
            <a:off x="5440680" y="1874520"/>
            <a:ext cx="457200" cy="457200"/>
          </a:xfrm>
          <a:prstGeom prst="rect">
            <a:avLst/>
          </a:prstGeom>
          <a:noFill/>
          <a:ln/>
        </p:spPr>
        <p:txBody>
          <a:bodyPr wrap="square" lIns="0" tIns="0" rIns="0" bIns="0" rtlCol="0" anchor="t"/>
          <a:lstStyle/>
          <a:p>
            <a:pPr algn="r" indent="0" marL="0">
              <a:buNone/>
            </a:pPr>
            <a:r>
              <a:rPr lang="en-US" sz="2600" b="1" dirty="0">
                <a:solidFill>
                  <a:srgbClr val="DAE3F0"/>
                </a:solidFill>
              </a:rPr>
              <a:t>2</a:t>
            </a:r>
            <a:endParaRPr lang="en-US" sz="2600" dirty="0"/>
          </a:p>
        </p:txBody>
      </p:sp>
      <p:sp>
        <p:nvSpPr>
          <p:cNvPr id="15" name="Text 10"/>
          <p:cNvSpPr txBox="1"/>
          <p:nvPr/>
        </p:nvSpPr>
        <p:spPr>
          <a:xfrm>
            <a:off x="3611880" y="2633472"/>
            <a:ext cx="2286000" cy="365760"/>
          </a:xfrm>
          <a:prstGeom prst="rect">
            <a:avLst/>
          </a:prstGeom>
          <a:noFill/>
          <a:ln/>
        </p:spPr>
        <p:txBody>
          <a:bodyPr wrap="square" lIns="0" tIns="0" rIns="0" bIns="0" rtlCol="0" anchor="t"/>
          <a:lstStyle/>
          <a:p>
            <a:pPr indent="0" marL="0">
              <a:buNone/>
            </a:pPr>
            <a:r>
              <a:rPr lang="en-US" sz="1500" b="1" dirty="0">
                <a:solidFill>
                  <a:srgbClr val="0B2A5B"/>
                </a:solidFill>
              </a:rPr>
              <a:t>Safety screening</a:t>
            </a:r>
            <a:endParaRPr lang="en-US" sz="1500" dirty="0"/>
          </a:p>
        </p:txBody>
      </p:sp>
      <p:sp>
        <p:nvSpPr>
          <p:cNvPr id="16" name="Text 11"/>
          <p:cNvSpPr txBox="1"/>
          <p:nvPr/>
        </p:nvSpPr>
        <p:spPr>
          <a:xfrm>
            <a:off x="3611880" y="3017520"/>
            <a:ext cx="2286000" cy="594360"/>
          </a:xfrm>
          <a:prstGeom prst="rect">
            <a:avLst/>
          </a:prstGeom>
          <a:noFill/>
          <a:ln/>
        </p:spPr>
        <p:txBody>
          <a:bodyPr wrap="square" lIns="0" tIns="0" rIns="0" bIns="0" rtlCol="0" anchor="t"/>
          <a:lstStyle/>
          <a:p>
            <a:pPr indent="0" marL="0">
              <a:buNone/>
            </a:pPr>
            <a:r>
              <a:rPr lang="en-US" sz="1200" dirty="0">
                <a:solidFill>
                  <a:srgbClr val="5B6B85"/>
                </a:solidFill>
              </a:rPr>
              <a:t>Medication-change request: decline (ER-503)</a:t>
            </a:r>
            <a:endParaRPr lang="en-US" sz="1200" dirty="0"/>
          </a:p>
        </p:txBody>
      </p:sp>
      <p:sp>
        <p:nvSpPr>
          <p:cNvPr id="17" name="Shape 12"/>
          <p:cNvSpPr/>
          <p:nvPr/>
        </p:nvSpPr>
        <p:spPr>
          <a:xfrm>
            <a:off x="6217920" y="1737360"/>
            <a:ext cx="2606040" cy="1965960"/>
          </a:xfrm>
          <a:prstGeom prst="roundRect">
            <a:avLst>
              <a:gd name="adj" fmla="val 3256"/>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8" name="Shape 13"/>
          <p:cNvSpPr/>
          <p:nvPr/>
        </p:nvSpPr>
        <p:spPr>
          <a:xfrm>
            <a:off x="6400800" y="1920240"/>
            <a:ext cx="566928" cy="566928"/>
          </a:xfrm>
          <a:prstGeom prst="ellipse">
            <a:avLst/>
          </a:prstGeom>
          <a:solidFill>
            <a:srgbClr val="2563EB"/>
          </a:solidFill>
          <a:ln w="6350">
            <a:solidFill>
              <a:srgbClr val="2563EB"/>
            </a:solidFill>
            <a:prstDash val="solid"/>
          </a:ln>
        </p:spPr>
      </p:sp>
      <p:pic>
        <p:nvPicPr>
          <p:cNvPr id="19" name="Image 2" descr="FaRoute">    </p:cNvPr>
          <p:cNvPicPr>
            <a:picLocks noChangeAspect="1"/>
          </p:cNvPicPr>
          <p:nvPr/>
        </p:nvPicPr>
        <p:blipFill>
          <a:blip r:embed="rId3"/>
          <a:stretch>
            <a:fillRect/>
          </a:stretch>
        </p:blipFill>
        <p:spPr>
          <a:xfrm>
            <a:off x="6553871" y="2073311"/>
            <a:ext cx="260787" cy="260787"/>
          </a:xfrm>
          <a:prstGeom prst="rect">
            <a:avLst/>
          </a:prstGeom>
        </p:spPr>
      </p:pic>
      <p:sp>
        <p:nvSpPr>
          <p:cNvPr id="20" name="Text 14"/>
          <p:cNvSpPr txBox="1"/>
          <p:nvPr/>
        </p:nvSpPr>
        <p:spPr>
          <a:xfrm>
            <a:off x="8229600" y="1874520"/>
            <a:ext cx="457200" cy="457200"/>
          </a:xfrm>
          <a:prstGeom prst="rect">
            <a:avLst/>
          </a:prstGeom>
          <a:noFill/>
          <a:ln/>
        </p:spPr>
        <p:txBody>
          <a:bodyPr wrap="square" lIns="0" tIns="0" rIns="0" bIns="0" rtlCol="0" anchor="t"/>
          <a:lstStyle/>
          <a:p>
            <a:pPr algn="r" indent="0" marL="0">
              <a:buNone/>
            </a:pPr>
            <a:r>
              <a:rPr lang="en-US" sz="2600" b="1" dirty="0">
                <a:solidFill>
                  <a:srgbClr val="DAE3F0"/>
                </a:solidFill>
              </a:rPr>
              <a:t>3</a:t>
            </a:r>
            <a:endParaRPr lang="en-US" sz="2600" dirty="0"/>
          </a:p>
        </p:txBody>
      </p:sp>
      <p:sp>
        <p:nvSpPr>
          <p:cNvPr id="21" name="Text 15"/>
          <p:cNvSpPr txBox="1"/>
          <p:nvPr/>
        </p:nvSpPr>
        <p:spPr>
          <a:xfrm>
            <a:off x="6400800" y="2633472"/>
            <a:ext cx="2286000" cy="365760"/>
          </a:xfrm>
          <a:prstGeom prst="rect">
            <a:avLst/>
          </a:prstGeom>
          <a:noFill/>
          <a:ln/>
        </p:spPr>
        <p:txBody>
          <a:bodyPr wrap="square" lIns="0" tIns="0" rIns="0" bIns="0" rtlCol="0" anchor="t"/>
          <a:lstStyle/>
          <a:p>
            <a:pPr indent="0" marL="0">
              <a:buNone/>
            </a:pPr>
            <a:r>
              <a:rPr lang="en-US" sz="1500" b="1" dirty="0">
                <a:solidFill>
                  <a:srgbClr val="0B2A5B"/>
                </a:solidFill>
              </a:rPr>
              <a:t>Route</a:t>
            </a:r>
            <a:endParaRPr lang="en-US" sz="1500" dirty="0"/>
          </a:p>
        </p:txBody>
      </p:sp>
      <p:sp>
        <p:nvSpPr>
          <p:cNvPr id="22" name="Text 16"/>
          <p:cNvSpPr txBox="1"/>
          <p:nvPr/>
        </p:nvSpPr>
        <p:spPr>
          <a:xfrm>
            <a:off x="6400800" y="3017520"/>
            <a:ext cx="2286000" cy="594360"/>
          </a:xfrm>
          <a:prstGeom prst="rect">
            <a:avLst/>
          </a:prstGeom>
          <a:noFill/>
          <a:ln/>
        </p:spPr>
        <p:txBody>
          <a:bodyPr wrap="square" lIns="0" tIns="0" rIns="0" bIns="0" rtlCol="0" anchor="t"/>
          <a:lstStyle/>
          <a:p>
            <a:pPr indent="0" marL="0">
              <a:buNone/>
            </a:pPr>
            <a:r>
              <a:rPr lang="en-US" sz="1200" dirty="0">
                <a:solidFill>
                  <a:srgbClr val="5B6B85"/>
                </a:solidFill>
              </a:rPr>
              <a:t>Summary, plan, education, engagement or staff</a:t>
            </a:r>
            <a:endParaRPr lang="en-US" sz="1200" dirty="0"/>
          </a:p>
        </p:txBody>
      </p:sp>
      <p:sp>
        <p:nvSpPr>
          <p:cNvPr id="23" name="Shape 17"/>
          <p:cNvSpPr/>
          <p:nvPr/>
        </p:nvSpPr>
        <p:spPr>
          <a:xfrm>
            <a:off x="9006840" y="1737360"/>
            <a:ext cx="2606040" cy="1965960"/>
          </a:xfrm>
          <a:prstGeom prst="roundRect">
            <a:avLst>
              <a:gd name="adj" fmla="val 3256"/>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24" name="Shape 18"/>
          <p:cNvSpPr/>
          <p:nvPr/>
        </p:nvSpPr>
        <p:spPr>
          <a:xfrm>
            <a:off x="9189720" y="1920240"/>
            <a:ext cx="566928" cy="566928"/>
          </a:xfrm>
          <a:prstGeom prst="ellipse">
            <a:avLst/>
          </a:prstGeom>
          <a:solidFill>
            <a:srgbClr val="0E9F9E"/>
          </a:solidFill>
          <a:ln w="6350">
            <a:solidFill>
              <a:srgbClr val="0E9F9E"/>
            </a:solidFill>
            <a:prstDash val="solid"/>
          </a:ln>
        </p:spPr>
      </p:sp>
      <p:pic>
        <p:nvPicPr>
          <p:cNvPr id="25" name="Image 3" descr="FaDatabase">    </p:cNvPr>
          <p:cNvPicPr>
            <a:picLocks noChangeAspect="1"/>
          </p:cNvPicPr>
          <p:nvPr/>
        </p:nvPicPr>
        <p:blipFill>
          <a:blip r:embed="rId4"/>
          <a:stretch>
            <a:fillRect/>
          </a:stretch>
        </p:blipFill>
        <p:spPr>
          <a:xfrm>
            <a:off x="9342791" y="2073311"/>
            <a:ext cx="260787" cy="260787"/>
          </a:xfrm>
          <a:prstGeom prst="rect">
            <a:avLst/>
          </a:prstGeom>
        </p:spPr>
      </p:pic>
      <p:sp>
        <p:nvSpPr>
          <p:cNvPr id="26" name="Text 19"/>
          <p:cNvSpPr txBox="1"/>
          <p:nvPr/>
        </p:nvSpPr>
        <p:spPr>
          <a:xfrm>
            <a:off x="11018520" y="1874520"/>
            <a:ext cx="457200" cy="457200"/>
          </a:xfrm>
          <a:prstGeom prst="rect">
            <a:avLst/>
          </a:prstGeom>
          <a:noFill/>
          <a:ln/>
        </p:spPr>
        <p:txBody>
          <a:bodyPr wrap="square" lIns="0" tIns="0" rIns="0" bIns="0" rtlCol="0" anchor="t"/>
          <a:lstStyle/>
          <a:p>
            <a:pPr algn="r" indent="0" marL="0">
              <a:buNone/>
            </a:pPr>
            <a:r>
              <a:rPr lang="en-US" sz="2600" b="1" dirty="0">
                <a:solidFill>
                  <a:srgbClr val="DAE3F0"/>
                </a:solidFill>
              </a:rPr>
              <a:t>4</a:t>
            </a:r>
            <a:endParaRPr lang="en-US" sz="2600" dirty="0"/>
          </a:p>
        </p:txBody>
      </p:sp>
      <p:sp>
        <p:nvSpPr>
          <p:cNvPr id="27" name="Text 20"/>
          <p:cNvSpPr txBox="1"/>
          <p:nvPr/>
        </p:nvSpPr>
        <p:spPr>
          <a:xfrm>
            <a:off x="9189720" y="2633472"/>
            <a:ext cx="2286000" cy="365760"/>
          </a:xfrm>
          <a:prstGeom prst="rect">
            <a:avLst/>
          </a:prstGeom>
          <a:noFill/>
          <a:ln/>
        </p:spPr>
        <p:txBody>
          <a:bodyPr wrap="square" lIns="0" tIns="0" rIns="0" bIns="0" rtlCol="0" anchor="t"/>
          <a:lstStyle/>
          <a:p>
            <a:pPr indent="0" marL="0">
              <a:buNone/>
            </a:pPr>
            <a:r>
              <a:rPr lang="en-US" sz="1500" b="1" dirty="0">
                <a:solidFill>
                  <a:srgbClr val="0B2A5B"/>
                </a:solidFill>
              </a:rPr>
              <a:t>Read and apply rules</a:t>
            </a:r>
            <a:endParaRPr lang="en-US" sz="1500" dirty="0"/>
          </a:p>
        </p:txBody>
      </p:sp>
      <p:sp>
        <p:nvSpPr>
          <p:cNvPr id="28" name="Text 21"/>
          <p:cNvSpPr txBox="1"/>
          <p:nvPr/>
        </p:nvSpPr>
        <p:spPr>
          <a:xfrm>
            <a:off x="9189720" y="3017520"/>
            <a:ext cx="2286000" cy="594360"/>
          </a:xfrm>
          <a:prstGeom prst="rect">
            <a:avLst/>
          </a:prstGeom>
          <a:noFill/>
          <a:ln/>
        </p:spPr>
        <p:txBody>
          <a:bodyPr wrap="square" lIns="0" tIns="0" rIns="0" bIns="0" rtlCol="0" anchor="t"/>
          <a:lstStyle/>
          <a:p>
            <a:pPr indent="0" marL="0">
              <a:buNone/>
            </a:pPr>
            <a:r>
              <a:rPr lang="en-US" sz="1200" dirty="0">
                <a:solidFill>
                  <a:srgbClr val="5B6B85"/>
                </a:solidFill>
              </a:rPr>
              <a:t>Code reads the window; ER-502 and ER-504</a:t>
            </a:r>
            <a:endParaRPr lang="en-US" sz="1200" dirty="0"/>
          </a:p>
        </p:txBody>
      </p:sp>
      <p:sp>
        <p:nvSpPr>
          <p:cNvPr id="29" name="Shape 22"/>
          <p:cNvSpPr/>
          <p:nvPr/>
        </p:nvSpPr>
        <p:spPr>
          <a:xfrm>
            <a:off x="2011680" y="3977640"/>
            <a:ext cx="2606040" cy="1965960"/>
          </a:xfrm>
          <a:prstGeom prst="roundRect">
            <a:avLst>
              <a:gd name="adj" fmla="val 3256"/>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30" name="Shape 23"/>
          <p:cNvSpPr/>
          <p:nvPr/>
        </p:nvSpPr>
        <p:spPr>
          <a:xfrm>
            <a:off x="2194560" y="4160520"/>
            <a:ext cx="566928" cy="566928"/>
          </a:xfrm>
          <a:prstGeom prst="ellipse">
            <a:avLst/>
          </a:prstGeom>
          <a:solidFill>
            <a:srgbClr val="2563EB"/>
          </a:solidFill>
          <a:ln w="6350">
            <a:solidFill>
              <a:srgbClr val="2563EB"/>
            </a:solidFill>
            <a:prstDash val="solid"/>
          </a:ln>
        </p:spPr>
      </p:sp>
      <p:pic>
        <p:nvPicPr>
          <p:cNvPr id="31" name="Image 4" descr="FaRobot">    </p:cNvPr>
          <p:cNvPicPr>
            <a:picLocks noChangeAspect="1"/>
          </p:cNvPicPr>
          <p:nvPr/>
        </p:nvPicPr>
        <p:blipFill>
          <a:blip r:embed="rId5"/>
          <a:stretch>
            <a:fillRect/>
          </a:stretch>
        </p:blipFill>
        <p:spPr>
          <a:xfrm>
            <a:off x="2347631" y="4313591"/>
            <a:ext cx="260787" cy="260787"/>
          </a:xfrm>
          <a:prstGeom prst="rect">
            <a:avLst/>
          </a:prstGeom>
        </p:spPr>
      </p:pic>
      <p:sp>
        <p:nvSpPr>
          <p:cNvPr id="32" name="Text 24"/>
          <p:cNvSpPr txBox="1"/>
          <p:nvPr/>
        </p:nvSpPr>
        <p:spPr>
          <a:xfrm>
            <a:off x="4023360" y="4114800"/>
            <a:ext cx="457200" cy="457200"/>
          </a:xfrm>
          <a:prstGeom prst="rect">
            <a:avLst/>
          </a:prstGeom>
          <a:noFill/>
          <a:ln/>
        </p:spPr>
        <p:txBody>
          <a:bodyPr wrap="square" lIns="0" tIns="0" rIns="0" bIns="0" rtlCol="0" anchor="t"/>
          <a:lstStyle/>
          <a:p>
            <a:pPr algn="r" indent="0" marL="0">
              <a:buNone/>
            </a:pPr>
            <a:r>
              <a:rPr lang="en-US" sz="2600" b="1" dirty="0">
                <a:solidFill>
                  <a:srgbClr val="DAE3F0"/>
                </a:solidFill>
              </a:rPr>
              <a:t>5</a:t>
            </a:r>
            <a:endParaRPr lang="en-US" sz="2600" dirty="0"/>
          </a:p>
        </p:txBody>
      </p:sp>
      <p:sp>
        <p:nvSpPr>
          <p:cNvPr id="33" name="Text 25"/>
          <p:cNvSpPr txBox="1"/>
          <p:nvPr/>
        </p:nvSpPr>
        <p:spPr>
          <a:xfrm>
            <a:off x="2194560" y="4873752"/>
            <a:ext cx="2286000" cy="365760"/>
          </a:xfrm>
          <a:prstGeom prst="rect">
            <a:avLst/>
          </a:prstGeom>
          <a:noFill/>
          <a:ln/>
        </p:spPr>
        <p:txBody>
          <a:bodyPr wrap="square" lIns="0" tIns="0" rIns="0" bIns="0" rtlCol="0" anchor="t"/>
          <a:lstStyle/>
          <a:p>
            <a:pPr indent="0" marL="0">
              <a:buNone/>
            </a:pPr>
            <a:r>
              <a:rPr lang="en-US" sz="1500" b="1" dirty="0">
                <a:solidFill>
                  <a:srgbClr val="0B2A5B"/>
                </a:solidFill>
              </a:rPr>
              <a:t>Agent words the result</a:t>
            </a:r>
            <a:endParaRPr lang="en-US" sz="1500" dirty="0"/>
          </a:p>
        </p:txBody>
      </p:sp>
      <p:sp>
        <p:nvSpPr>
          <p:cNvPr id="34" name="Text 26"/>
          <p:cNvSpPr txBox="1"/>
          <p:nvPr/>
        </p:nvSpPr>
        <p:spPr>
          <a:xfrm>
            <a:off x="2194560" y="5257800"/>
            <a:ext cx="2286000" cy="594360"/>
          </a:xfrm>
          <a:prstGeom prst="rect">
            <a:avLst/>
          </a:prstGeom>
          <a:noFill/>
          <a:ln/>
        </p:spPr>
        <p:txBody>
          <a:bodyPr wrap="square" lIns="0" tIns="0" rIns="0" bIns="0" rtlCol="0" anchor="t"/>
          <a:lstStyle/>
          <a:p>
            <a:pPr indent="0" marL="0">
              <a:buNone/>
            </a:pPr>
            <a:r>
              <a:rPr lang="en-US" sz="1200" dirty="0">
                <a:solidFill>
                  <a:srgbClr val="5B6B85"/>
                </a:solidFill>
              </a:rPr>
              <a:t>Hosted in Foundry</a:t>
            </a:r>
            <a:endParaRPr lang="en-US" sz="1200" dirty="0"/>
          </a:p>
        </p:txBody>
      </p:sp>
      <p:sp>
        <p:nvSpPr>
          <p:cNvPr id="35" name="Shape 27"/>
          <p:cNvSpPr/>
          <p:nvPr/>
        </p:nvSpPr>
        <p:spPr>
          <a:xfrm>
            <a:off x="4800600" y="3977640"/>
            <a:ext cx="2606040" cy="1965960"/>
          </a:xfrm>
          <a:prstGeom prst="roundRect">
            <a:avLst>
              <a:gd name="adj" fmla="val 3256"/>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36" name="Shape 28"/>
          <p:cNvSpPr/>
          <p:nvPr/>
        </p:nvSpPr>
        <p:spPr>
          <a:xfrm>
            <a:off x="4983480" y="4160520"/>
            <a:ext cx="566928" cy="566928"/>
          </a:xfrm>
          <a:prstGeom prst="ellipse">
            <a:avLst/>
          </a:prstGeom>
          <a:solidFill>
            <a:srgbClr val="0E9F9E"/>
          </a:solidFill>
          <a:ln w="6350">
            <a:solidFill>
              <a:srgbClr val="0E9F9E"/>
            </a:solidFill>
            <a:prstDash val="solid"/>
          </a:ln>
        </p:spPr>
      </p:sp>
      <p:pic>
        <p:nvPicPr>
          <p:cNvPr id="37" name="Image 5" descr="FaClipboardCheck">    </p:cNvPr>
          <p:cNvPicPr>
            <a:picLocks noChangeAspect="1"/>
          </p:cNvPicPr>
          <p:nvPr/>
        </p:nvPicPr>
        <p:blipFill>
          <a:blip r:embed="rId6"/>
          <a:stretch>
            <a:fillRect/>
          </a:stretch>
        </p:blipFill>
        <p:spPr>
          <a:xfrm>
            <a:off x="5136551" y="4313591"/>
            <a:ext cx="260787" cy="260787"/>
          </a:xfrm>
          <a:prstGeom prst="rect">
            <a:avLst/>
          </a:prstGeom>
        </p:spPr>
      </p:pic>
      <p:sp>
        <p:nvSpPr>
          <p:cNvPr id="38" name="Text 29"/>
          <p:cNvSpPr txBox="1"/>
          <p:nvPr/>
        </p:nvSpPr>
        <p:spPr>
          <a:xfrm>
            <a:off x="6812280" y="4114800"/>
            <a:ext cx="457200" cy="457200"/>
          </a:xfrm>
          <a:prstGeom prst="rect">
            <a:avLst/>
          </a:prstGeom>
          <a:noFill/>
          <a:ln/>
        </p:spPr>
        <p:txBody>
          <a:bodyPr wrap="square" lIns="0" tIns="0" rIns="0" bIns="0" rtlCol="0" anchor="t"/>
          <a:lstStyle/>
          <a:p>
            <a:pPr algn="r" indent="0" marL="0">
              <a:buNone/>
            </a:pPr>
            <a:r>
              <a:rPr lang="en-US" sz="2600" b="1" dirty="0">
                <a:solidFill>
                  <a:srgbClr val="DAE3F0"/>
                </a:solidFill>
              </a:rPr>
              <a:t>6</a:t>
            </a:r>
            <a:endParaRPr lang="en-US" sz="2600" dirty="0"/>
          </a:p>
        </p:txBody>
      </p:sp>
      <p:sp>
        <p:nvSpPr>
          <p:cNvPr id="39" name="Text 30"/>
          <p:cNvSpPr txBox="1"/>
          <p:nvPr/>
        </p:nvSpPr>
        <p:spPr>
          <a:xfrm>
            <a:off x="4983480" y="4873752"/>
            <a:ext cx="2286000" cy="365760"/>
          </a:xfrm>
          <a:prstGeom prst="rect">
            <a:avLst/>
          </a:prstGeom>
          <a:noFill/>
          <a:ln/>
        </p:spPr>
        <p:txBody>
          <a:bodyPr wrap="square" lIns="0" tIns="0" rIns="0" bIns="0" rtlCol="0" anchor="t"/>
          <a:lstStyle/>
          <a:p>
            <a:pPr indent="0" marL="0">
              <a:buNone/>
            </a:pPr>
            <a:r>
              <a:rPr lang="en-US" sz="1500" b="1" dirty="0">
                <a:solidFill>
                  <a:srgbClr val="0B2A5B"/>
                </a:solidFill>
              </a:rPr>
              <a:t>Output guard</a:t>
            </a:r>
            <a:endParaRPr lang="en-US" sz="1500" dirty="0"/>
          </a:p>
        </p:txBody>
      </p:sp>
      <p:sp>
        <p:nvSpPr>
          <p:cNvPr id="40" name="Text 31"/>
          <p:cNvSpPr txBox="1"/>
          <p:nvPr/>
        </p:nvSpPr>
        <p:spPr>
          <a:xfrm>
            <a:off x="4983480" y="5257800"/>
            <a:ext cx="2286000" cy="594360"/>
          </a:xfrm>
          <a:prstGeom prst="rect">
            <a:avLst/>
          </a:prstGeom>
          <a:noFill/>
          <a:ln/>
        </p:spPr>
        <p:txBody>
          <a:bodyPr wrap="square" lIns="0" tIns="0" rIns="0" bIns="0" rtlCol="0" anchor="t"/>
          <a:lstStyle/>
          <a:p>
            <a:pPr indent="0" marL="0">
              <a:buNone/>
            </a:pPr>
            <a:r>
              <a:rPr lang="en-US" sz="1200" dirty="0">
                <a:solidFill>
                  <a:srgbClr val="5B6B85"/>
                </a:solidFill>
              </a:rPr>
              <a:t>Wording, numbers, citations</a:t>
            </a:r>
            <a:endParaRPr lang="en-US" sz="1200" dirty="0"/>
          </a:p>
        </p:txBody>
      </p:sp>
      <p:sp>
        <p:nvSpPr>
          <p:cNvPr id="41" name="Shape 32"/>
          <p:cNvSpPr/>
          <p:nvPr/>
        </p:nvSpPr>
        <p:spPr>
          <a:xfrm>
            <a:off x="7589520" y="3977640"/>
            <a:ext cx="2606040" cy="1965960"/>
          </a:xfrm>
          <a:prstGeom prst="roundRect">
            <a:avLst>
              <a:gd name="adj" fmla="val 3256"/>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42" name="Shape 33"/>
          <p:cNvSpPr/>
          <p:nvPr/>
        </p:nvSpPr>
        <p:spPr>
          <a:xfrm>
            <a:off x="7772400" y="4160520"/>
            <a:ext cx="566928" cy="566928"/>
          </a:xfrm>
          <a:prstGeom prst="ellipse">
            <a:avLst/>
          </a:prstGeom>
          <a:solidFill>
            <a:srgbClr val="2563EB"/>
          </a:solidFill>
          <a:ln w="6350">
            <a:solidFill>
              <a:srgbClr val="2563EB"/>
            </a:solidFill>
            <a:prstDash val="solid"/>
          </a:ln>
        </p:spPr>
      </p:sp>
      <p:pic>
        <p:nvPicPr>
          <p:cNvPr id="43" name="Image 6" descr="FaUserCheck">    </p:cNvPr>
          <p:cNvPicPr>
            <a:picLocks noChangeAspect="1"/>
          </p:cNvPicPr>
          <p:nvPr/>
        </p:nvPicPr>
        <p:blipFill>
          <a:blip r:embed="rId7"/>
          <a:stretch>
            <a:fillRect/>
          </a:stretch>
        </p:blipFill>
        <p:spPr>
          <a:xfrm>
            <a:off x="7925471" y="4313591"/>
            <a:ext cx="260787" cy="260787"/>
          </a:xfrm>
          <a:prstGeom prst="rect">
            <a:avLst/>
          </a:prstGeom>
        </p:spPr>
      </p:pic>
      <p:sp>
        <p:nvSpPr>
          <p:cNvPr id="44" name="Text 34"/>
          <p:cNvSpPr txBox="1"/>
          <p:nvPr/>
        </p:nvSpPr>
        <p:spPr>
          <a:xfrm>
            <a:off x="9601200" y="4114800"/>
            <a:ext cx="457200" cy="457200"/>
          </a:xfrm>
          <a:prstGeom prst="rect">
            <a:avLst/>
          </a:prstGeom>
          <a:noFill/>
          <a:ln/>
        </p:spPr>
        <p:txBody>
          <a:bodyPr wrap="square" lIns="0" tIns="0" rIns="0" bIns="0" rtlCol="0" anchor="t"/>
          <a:lstStyle/>
          <a:p>
            <a:pPr algn="r" indent="0" marL="0">
              <a:buNone/>
            </a:pPr>
            <a:r>
              <a:rPr lang="en-US" sz="2600" b="1" dirty="0">
                <a:solidFill>
                  <a:srgbClr val="DAE3F0"/>
                </a:solidFill>
              </a:rPr>
              <a:t>7</a:t>
            </a:r>
            <a:endParaRPr lang="en-US" sz="2600" dirty="0"/>
          </a:p>
        </p:txBody>
      </p:sp>
      <p:sp>
        <p:nvSpPr>
          <p:cNvPr id="45" name="Text 35"/>
          <p:cNvSpPr txBox="1"/>
          <p:nvPr/>
        </p:nvSpPr>
        <p:spPr>
          <a:xfrm>
            <a:off x="7772400" y="4873752"/>
            <a:ext cx="2286000" cy="365760"/>
          </a:xfrm>
          <a:prstGeom prst="rect">
            <a:avLst/>
          </a:prstGeom>
          <a:noFill/>
          <a:ln/>
        </p:spPr>
        <p:txBody>
          <a:bodyPr wrap="square" lIns="0" tIns="0" rIns="0" bIns="0" rtlCol="0" anchor="t"/>
          <a:lstStyle/>
          <a:p>
            <a:pPr indent="0" marL="0">
              <a:buNone/>
            </a:pPr>
            <a:r>
              <a:rPr lang="en-US" sz="1500" b="1" dirty="0">
                <a:solidFill>
                  <a:srgbClr val="0B2A5B"/>
                </a:solidFill>
              </a:rPr>
              <a:t>Answer or staff queue</a:t>
            </a:r>
            <a:endParaRPr lang="en-US" sz="1500" dirty="0"/>
          </a:p>
        </p:txBody>
      </p:sp>
      <p:sp>
        <p:nvSpPr>
          <p:cNvPr id="46" name="Text 36"/>
          <p:cNvSpPr txBox="1"/>
          <p:nvPr/>
        </p:nvSpPr>
        <p:spPr>
          <a:xfrm>
            <a:off x="7772400" y="5257800"/>
            <a:ext cx="2286000" cy="594360"/>
          </a:xfrm>
          <a:prstGeom prst="rect">
            <a:avLst/>
          </a:prstGeom>
          <a:noFill/>
          <a:ln/>
        </p:spPr>
        <p:txBody>
          <a:bodyPr wrap="square" lIns="0" tIns="0" rIns="0" bIns="0" rtlCol="0" anchor="t"/>
          <a:lstStyle/>
          <a:p>
            <a:pPr indent="0" marL="0">
              <a:buNone/>
            </a:pPr>
            <a:r>
              <a:rPr lang="en-US" sz="1200" dirty="0">
                <a:solidFill>
                  <a:srgbClr val="5B6B85"/>
                </a:solidFill>
              </a:rPr>
              <a:t>Audit entry written</a:t>
            </a:r>
            <a:endParaRPr lang="en-US" sz="12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SAFETY RULES</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Four rules, enforced in code rather than in prompts</a:t>
            </a:r>
            <a:endParaRPr lang="en-US" sz="2800" dirty="0"/>
          </a:p>
        </p:txBody>
      </p:sp>
      <p:sp>
        <p:nvSpPr>
          <p:cNvPr id="5" name="Shape 2"/>
          <p:cNvSpPr/>
          <p:nvPr/>
        </p:nvSpPr>
        <p:spPr>
          <a:xfrm>
            <a:off x="640080" y="1691640"/>
            <a:ext cx="10908792" cy="877824"/>
          </a:xfrm>
          <a:prstGeom prst="roundRect">
            <a:avLst>
              <a:gd name="adj" fmla="val 7292"/>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6" name="Shape 3"/>
          <p:cNvSpPr/>
          <p:nvPr/>
        </p:nvSpPr>
        <p:spPr>
          <a:xfrm>
            <a:off x="640080" y="1691640"/>
            <a:ext cx="1371600" cy="877824"/>
          </a:xfrm>
          <a:prstGeom prst="rect">
            <a:avLst/>
          </a:prstGeom>
          <a:solidFill>
            <a:srgbClr val="DC2626"/>
          </a:solidFill>
          <a:ln w="12700">
            <a:solidFill>
              <a:srgbClr val="DC2626"/>
            </a:solidFill>
            <a:prstDash val="solid"/>
          </a:ln>
        </p:spPr>
      </p:sp>
      <p:sp>
        <p:nvSpPr>
          <p:cNvPr id="7" name="Text 4"/>
          <p:cNvSpPr txBox="1"/>
          <p:nvPr/>
        </p:nvSpPr>
        <p:spPr>
          <a:xfrm>
            <a:off x="640080" y="1691640"/>
            <a:ext cx="1371600" cy="877824"/>
          </a:xfrm>
          <a:prstGeom prst="rect">
            <a:avLst/>
          </a:prstGeom>
          <a:noFill/>
          <a:ln/>
        </p:spPr>
        <p:txBody>
          <a:bodyPr wrap="square" lIns="0" tIns="0" rIns="0" bIns="0" rtlCol="0" anchor="ctr"/>
          <a:lstStyle/>
          <a:p>
            <a:pPr algn="ctr" indent="0" marL="0">
              <a:buNone/>
            </a:pPr>
            <a:r>
              <a:rPr lang="en-US" sz="1800" b="1" dirty="0">
                <a:solidFill>
                  <a:srgbClr val="FFFFFF"/>
                </a:solidFill>
              </a:rPr>
              <a:t>ER-501</a:t>
            </a:r>
            <a:endParaRPr lang="en-US" sz="1800" dirty="0"/>
          </a:p>
        </p:txBody>
      </p:sp>
      <p:sp>
        <p:nvSpPr>
          <p:cNvPr id="8" name="Text 5"/>
          <p:cNvSpPr txBox="1"/>
          <p:nvPr/>
        </p:nvSpPr>
        <p:spPr>
          <a:xfrm>
            <a:off x="2240280" y="1819656"/>
            <a:ext cx="914400" cy="201168"/>
          </a:xfrm>
          <a:prstGeom prst="rect">
            <a:avLst/>
          </a:prstGeom>
          <a:noFill/>
          <a:ln/>
        </p:spPr>
        <p:txBody>
          <a:bodyPr wrap="square" lIns="0" tIns="0" rIns="0" bIns="0" rtlCol="0" anchor="t"/>
          <a:lstStyle/>
          <a:p>
            <a:pPr indent="0" marL="0">
              <a:buNone/>
            </a:pPr>
            <a:r>
              <a:rPr lang="en-US" sz="900" b="1" spc="200" kern="0" dirty="0">
                <a:solidFill>
                  <a:srgbClr val="5B6B85"/>
                </a:solidFill>
              </a:rPr>
              <a:t>WHEN</a:t>
            </a:r>
            <a:endParaRPr lang="en-US" sz="900" dirty="0"/>
          </a:p>
        </p:txBody>
      </p:sp>
      <p:sp>
        <p:nvSpPr>
          <p:cNvPr id="9" name="Text 6"/>
          <p:cNvSpPr txBox="1"/>
          <p:nvPr/>
        </p:nvSpPr>
        <p:spPr>
          <a:xfrm>
            <a:off x="2240280" y="2039112"/>
            <a:ext cx="4206240" cy="457200"/>
          </a:xfrm>
          <a:prstGeom prst="rect">
            <a:avLst/>
          </a:prstGeom>
          <a:noFill/>
          <a:ln/>
        </p:spPr>
        <p:txBody>
          <a:bodyPr wrap="square" lIns="0" tIns="0" rIns="0" bIns="0" rtlCol="0" anchor="t"/>
          <a:lstStyle/>
          <a:p>
            <a:pPr indent="0" marL="0">
              <a:buNone/>
            </a:pPr>
            <a:r>
              <a:rPr lang="en-US" sz="1400" b="1" dirty="0">
                <a:solidFill>
                  <a:srgbClr val="0B2A5B"/>
                </a:solidFill>
              </a:rPr>
              <a:t>Consent is not active</a:t>
            </a:r>
            <a:endParaRPr lang="en-US" sz="1400" dirty="0"/>
          </a:p>
        </p:txBody>
      </p:sp>
      <p:sp>
        <p:nvSpPr>
          <p:cNvPr id="10" name="Text 7"/>
          <p:cNvSpPr txBox="1"/>
          <p:nvPr/>
        </p:nvSpPr>
        <p:spPr>
          <a:xfrm>
            <a:off x="6766560" y="1819656"/>
            <a:ext cx="1828800" cy="201168"/>
          </a:xfrm>
          <a:prstGeom prst="rect">
            <a:avLst/>
          </a:prstGeom>
          <a:noFill/>
          <a:ln/>
        </p:spPr>
        <p:txBody>
          <a:bodyPr wrap="square" lIns="0" tIns="0" rIns="0" bIns="0" rtlCol="0" anchor="t"/>
          <a:lstStyle/>
          <a:p>
            <a:pPr indent="0" marL="0">
              <a:buNone/>
            </a:pPr>
            <a:r>
              <a:rPr lang="en-US" sz="900" b="1" spc="200" kern="0" dirty="0">
                <a:solidFill>
                  <a:srgbClr val="5B6B85"/>
                </a:solidFill>
              </a:rPr>
              <a:t>THE SYSTEM</a:t>
            </a:r>
            <a:endParaRPr lang="en-US" sz="900" dirty="0"/>
          </a:p>
        </p:txBody>
      </p:sp>
      <p:sp>
        <p:nvSpPr>
          <p:cNvPr id="11" name="Text 8"/>
          <p:cNvSpPr txBox="1"/>
          <p:nvPr/>
        </p:nvSpPr>
        <p:spPr>
          <a:xfrm>
            <a:off x="6766560" y="2039112"/>
            <a:ext cx="4663440" cy="457200"/>
          </a:xfrm>
          <a:prstGeom prst="rect">
            <a:avLst/>
          </a:prstGeom>
          <a:noFill/>
          <a:ln/>
        </p:spPr>
        <p:txBody>
          <a:bodyPr wrap="square" lIns="0" tIns="0" rIns="0" bIns="0" rtlCol="0" anchor="t"/>
          <a:lstStyle/>
          <a:p>
            <a:pPr indent="0" marL="0">
              <a:buNone/>
            </a:pPr>
            <a:r>
              <a:rPr lang="en-US" sz="1400" dirty="0">
                <a:solidFill>
                  <a:srgbClr val="14213D"/>
                </a:solidFill>
              </a:rPr>
              <a:t>Stop. Read no data. Send to program staff.</a:t>
            </a:r>
            <a:endParaRPr lang="en-US" sz="1400" dirty="0"/>
          </a:p>
        </p:txBody>
      </p:sp>
      <p:sp>
        <p:nvSpPr>
          <p:cNvPr id="12" name="Shape 9"/>
          <p:cNvSpPr/>
          <p:nvPr/>
        </p:nvSpPr>
        <p:spPr>
          <a:xfrm>
            <a:off x="640080" y="2715768"/>
            <a:ext cx="10908792" cy="877824"/>
          </a:xfrm>
          <a:prstGeom prst="roundRect">
            <a:avLst>
              <a:gd name="adj" fmla="val 7292"/>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3" name="Shape 10"/>
          <p:cNvSpPr/>
          <p:nvPr/>
        </p:nvSpPr>
        <p:spPr>
          <a:xfrm>
            <a:off x="640080" y="2715768"/>
            <a:ext cx="1371600" cy="877824"/>
          </a:xfrm>
          <a:prstGeom prst="rect">
            <a:avLst/>
          </a:prstGeom>
          <a:solidFill>
            <a:srgbClr val="F59E0B"/>
          </a:solidFill>
          <a:ln w="12700">
            <a:solidFill>
              <a:srgbClr val="F59E0B"/>
            </a:solidFill>
            <a:prstDash val="solid"/>
          </a:ln>
        </p:spPr>
      </p:sp>
      <p:sp>
        <p:nvSpPr>
          <p:cNvPr id="14" name="Text 11"/>
          <p:cNvSpPr txBox="1"/>
          <p:nvPr/>
        </p:nvSpPr>
        <p:spPr>
          <a:xfrm>
            <a:off x="640080" y="2715768"/>
            <a:ext cx="1371600" cy="877824"/>
          </a:xfrm>
          <a:prstGeom prst="rect">
            <a:avLst/>
          </a:prstGeom>
          <a:noFill/>
          <a:ln/>
        </p:spPr>
        <p:txBody>
          <a:bodyPr wrap="square" lIns="0" tIns="0" rIns="0" bIns="0" rtlCol="0" anchor="ctr"/>
          <a:lstStyle/>
          <a:p>
            <a:pPr algn="ctr" indent="0" marL="0">
              <a:buNone/>
            </a:pPr>
            <a:r>
              <a:rPr lang="en-US" sz="1800" b="1" dirty="0">
                <a:solidFill>
                  <a:srgbClr val="FFFFFF"/>
                </a:solidFill>
              </a:rPr>
              <a:t>ER-502</a:t>
            </a:r>
            <a:endParaRPr lang="en-US" sz="1800" dirty="0"/>
          </a:p>
        </p:txBody>
      </p:sp>
      <p:sp>
        <p:nvSpPr>
          <p:cNvPr id="15" name="Text 12"/>
          <p:cNvSpPr txBox="1"/>
          <p:nvPr/>
        </p:nvSpPr>
        <p:spPr>
          <a:xfrm>
            <a:off x="2240280" y="2843784"/>
            <a:ext cx="914400" cy="201168"/>
          </a:xfrm>
          <a:prstGeom prst="rect">
            <a:avLst/>
          </a:prstGeom>
          <a:noFill/>
          <a:ln/>
        </p:spPr>
        <p:txBody>
          <a:bodyPr wrap="square" lIns="0" tIns="0" rIns="0" bIns="0" rtlCol="0" anchor="t"/>
          <a:lstStyle/>
          <a:p>
            <a:pPr indent="0" marL="0">
              <a:buNone/>
            </a:pPr>
            <a:r>
              <a:rPr lang="en-US" sz="900" b="1" spc="200" kern="0" dirty="0">
                <a:solidFill>
                  <a:srgbClr val="5B6B85"/>
                </a:solidFill>
              </a:rPr>
              <a:t>WHEN</a:t>
            </a:r>
            <a:endParaRPr lang="en-US" sz="900" dirty="0"/>
          </a:p>
        </p:txBody>
      </p:sp>
      <p:sp>
        <p:nvSpPr>
          <p:cNvPr id="16" name="Text 13"/>
          <p:cNvSpPr txBox="1"/>
          <p:nvPr/>
        </p:nvSpPr>
        <p:spPr>
          <a:xfrm>
            <a:off x="2240280" y="3063240"/>
            <a:ext cx="4206240" cy="457200"/>
          </a:xfrm>
          <a:prstGeom prst="rect">
            <a:avLst/>
          </a:prstGeom>
          <a:noFill/>
          <a:ln/>
        </p:spPr>
        <p:txBody>
          <a:bodyPr wrap="square" lIns="0" tIns="0" rIns="0" bIns="0" rtlCol="0" anchor="t"/>
          <a:lstStyle/>
          <a:p>
            <a:pPr indent="0" marL="0">
              <a:buNone/>
            </a:pPr>
            <a:r>
              <a:rPr lang="en-US" sz="1400" b="1" dirty="0">
                <a:solidFill>
                  <a:srgbClr val="0B2A5B"/>
                </a:solidFill>
              </a:rPr>
              <a:t>A reading matches a configured test value</a:t>
            </a:r>
            <a:endParaRPr lang="en-US" sz="1400" dirty="0"/>
          </a:p>
        </p:txBody>
      </p:sp>
      <p:sp>
        <p:nvSpPr>
          <p:cNvPr id="17" name="Text 14"/>
          <p:cNvSpPr txBox="1"/>
          <p:nvPr/>
        </p:nvSpPr>
        <p:spPr>
          <a:xfrm>
            <a:off x="6766560" y="2843784"/>
            <a:ext cx="1828800" cy="201168"/>
          </a:xfrm>
          <a:prstGeom prst="rect">
            <a:avLst/>
          </a:prstGeom>
          <a:noFill/>
          <a:ln/>
        </p:spPr>
        <p:txBody>
          <a:bodyPr wrap="square" lIns="0" tIns="0" rIns="0" bIns="0" rtlCol="0" anchor="t"/>
          <a:lstStyle/>
          <a:p>
            <a:pPr indent="0" marL="0">
              <a:buNone/>
            </a:pPr>
            <a:r>
              <a:rPr lang="en-US" sz="900" b="1" spc="200" kern="0" dirty="0">
                <a:solidFill>
                  <a:srgbClr val="5B6B85"/>
                </a:solidFill>
              </a:rPr>
              <a:t>THE SYSTEM</a:t>
            </a:r>
            <a:endParaRPr lang="en-US" sz="900" dirty="0"/>
          </a:p>
        </p:txBody>
      </p:sp>
      <p:sp>
        <p:nvSpPr>
          <p:cNvPr id="18" name="Text 15"/>
          <p:cNvSpPr txBox="1"/>
          <p:nvPr/>
        </p:nvSpPr>
        <p:spPr>
          <a:xfrm>
            <a:off x="6766560" y="3063240"/>
            <a:ext cx="4663440" cy="457200"/>
          </a:xfrm>
          <a:prstGeom prst="rect">
            <a:avLst/>
          </a:prstGeom>
          <a:noFill/>
          <a:ln/>
        </p:spPr>
        <p:txBody>
          <a:bodyPr wrap="square" lIns="0" tIns="0" rIns="0" bIns="0" rtlCol="0" anchor="t"/>
          <a:lstStyle/>
          <a:p>
            <a:pPr indent="0" marL="0">
              <a:buNone/>
            </a:pPr>
            <a:r>
              <a:rPr lang="en-US" sz="1400" dirty="0">
                <a:solidFill>
                  <a:srgbClr val="14213D"/>
                </a:solidFill>
              </a:rPr>
              <a:t>Urgent staff-review record. No interpretation.</a:t>
            </a:r>
            <a:endParaRPr lang="en-US" sz="1400" dirty="0"/>
          </a:p>
        </p:txBody>
      </p:sp>
      <p:sp>
        <p:nvSpPr>
          <p:cNvPr id="19" name="Shape 16"/>
          <p:cNvSpPr/>
          <p:nvPr/>
        </p:nvSpPr>
        <p:spPr>
          <a:xfrm>
            <a:off x="640080" y="3739896"/>
            <a:ext cx="10908792" cy="877824"/>
          </a:xfrm>
          <a:prstGeom prst="roundRect">
            <a:avLst>
              <a:gd name="adj" fmla="val 7292"/>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20" name="Shape 17"/>
          <p:cNvSpPr/>
          <p:nvPr/>
        </p:nvSpPr>
        <p:spPr>
          <a:xfrm>
            <a:off x="640080" y="3739896"/>
            <a:ext cx="1371600" cy="877824"/>
          </a:xfrm>
          <a:prstGeom prst="rect">
            <a:avLst/>
          </a:prstGeom>
          <a:solidFill>
            <a:srgbClr val="2563EB"/>
          </a:solidFill>
          <a:ln w="12700">
            <a:solidFill>
              <a:srgbClr val="2563EB"/>
            </a:solidFill>
            <a:prstDash val="solid"/>
          </a:ln>
        </p:spPr>
      </p:sp>
      <p:sp>
        <p:nvSpPr>
          <p:cNvPr id="21" name="Text 18"/>
          <p:cNvSpPr txBox="1"/>
          <p:nvPr/>
        </p:nvSpPr>
        <p:spPr>
          <a:xfrm>
            <a:off x="640080" y="3739896"/>
            <a:ext cx="1371600" cy="877824"/>
          </a:xfrm>
          <a:prstGeom prst="rect">
            <a:avLst/>
          </a:prstGeom>
          <a:noFill/>
          <a:ln/>
        </p:spPr>
        <p:txBody>
          <a:bodyPr wrap="square" lIns="0" tIns="0" rIns="0" bIns="0" rtlCol="0" anchor="ctr"/>
          <a:lstStyle/>
          <a:p>
            <a:pPr algn="ctr" indent="0" marL="0">
              <a:buNone/>
            </a:pPr>
            <a:r>
              <a:rPr lang="en-US" sz="1800" b="1" dirty="0">
                <a:solidFill>
                  <a:srgbClr val="FFFFFF"/>
                </a:solidFill>
              </a:rPr>
              <a:t>ER-503</a:t>
            </a:r>
            <a:endParaRPr lang="en-US" sz="1800" dirty="0"/>
          </a:p>
        </p:txBody>
      </p:sp>
      <p:sp>
        <p:nvSpPr>
          <p:cNvPr id="22" name="Text 19"/>
          <p:cNvSpPr txBox="1"/>
          <p:nvPr/>
        </p:nvSpPr>
        <p:spPr>
          <a:xfrm>
            <a:off x="2240280" y="3867912"/>
            <a:ext cx="914400" cy="201168"/>
          </a:xfrm>
          <a:prstGeom prst="rect">
            <a:avLst/>
          </a:prstGeom>
          <a:noFill/>
          <a:ln/>
        </p:spPr>
        <p:txBody>
          <a:bodyPr wrap="square" lIns="0" tIns="0" rIns="0" bIns="0" rtlCol="0" anchor="t"/>
          <a:lstStyle/>
          <a:p>
            <a:pPr indent="0" marL="0">
              <a:buNone/>
            </a:pPr>
            <a:r>
              <a:rPr lang="en-US" sz="900" b="1" spc="200" kern="0" dirty="0">
                <a:solidFill>
                  <a:srgbClr val="5B6B85"/>
                </a:solidFill>
              </a:rPr>
              <a:t>WHEN</a:t>
            </a:r>
            <a:endParaRPr lang="en-US" sz="900" dirty="0"/>
          </a:p>
        </p:txBody>
      </p:sp>
      <p:sp>
        <p:nvSpPr>
          <p:cNvPr id="23" name="Text 20"/>
          <p:cNvSpPr txBox="1"/>
          <p:nvPr/>
        </p:nvSpPr>
        <p:spPr>
          <a:xfrm>
            <a:off x="2240280" y="4087368"/>
            <a:ext cx="4206240" cy="457200"/>
          </a:xfrm>
          <a:prstGeom prst="rect">
            <a:avLst/>
          </a:prstGeom>
          <a:noFill/>
          <a:ln/>
        </p:spPr>
        <p:txBody>
          <a:bodyPr wrap="square" lIns="0" tIns="0" rIns="0" bIns="0" rtlCol="0" anchor="t"/>
          <a:lstStyle/>
          <a:p>
            <a:pPr indent="0" marL="0">
              <a:buNone/>
            </a:pPr>
            <a:r>
              <a:rPr lang="en-US" sz="1400" b="1" dirty="0">
                <a:solidFill>
                  <a:srgbClr val="0B2A5B"/>
                </a:solidFill>
              </a:rPr>
              <a:t>Request to start, stop or change a medicine</a:t>
            </a:r>
            <a:endParaRPr lang="en-US" sz="1400" dirty="0"/>
          </a:p>
        </p:txBody>
      </p:sp>
      <p:sp>
        <p:nvSpPr>
          <p:cNvPr id="24" name="Text 21"/>
          <p:cNvSpPr txBox="1"/>
          <p:nvPr/>
        </p:nvSpPr>
        <p:spPr>
          <a:xfrm>
            <a:off x="6766560" y="3867912"/>
            <a:ext cx="1828800" cy="201168"/>
          </a:xfrm>
          <a:prstGeom prst="rect">
            <a:avLst/>
          </a:prstGeom>
          <a:noFill/>
          <a:ln/>
        </p:spPr>
        <p:txBody>
          <a:bodyPr wrap="square" lIns="0" tIns="0" rIns="0" bIns="0" rtlCol="0" anchor="t"/>
          <a:lstStyle/>
          <a:p>
            <a:pPr indent="0" marL="0">
              <a:buNone/>
            </a:pPr>
            <a:r>
              <a:rPr lang="en-US" sz="900" b="1" spc="200" kern="0" dirty="0">
                <a:solidFill>
                  <a:srgbClr val="5B6B85"/>
                </a:solidFill>
              </a:rPr>
              <a:t>THE SYSTEM</a:t>
            </a:r>
            <a:endParaRPr lang="en-US" sz="900" dirty="0"/>
          </a:p>
        </p:txBody>
      </p:sp>
      <p:sp>
        <p:nvSpPr>
          <p:cNvPr id="25" name="Text 22"/>
          <p:cNvSpPr txBox="1"/>
          <p:nvPr/>
        </p:nvSpPr>
        <p:spPr>
          <a:xfrm>
            <a:off x="6766560" y="4087368"/>
            <a:ext cx="4663440" cy="457200"/>
          </a:xfrm>
          <a:prstGeom prst="rect">
            <a:avLst/>
          </a:prstGeom>
          <a:noFill/>
          <a:ln/>
        </p:spPr>
        <p:txBody>
          <a:bodyPr wrap="square" lIns="0" tIns="0" rIns="0" bIns="0" rtlCol="0" anchor="t"/>
          <a:lstStyle/>
          <a:p>
            <a:pPr indent="0" marL="0">
              <a:buNone/>
            </a:pPr>
            <a:r>
              <a:rPr lang="en-US" sz="1400" dirty="0">
                <a:solidFill>
                  <a:srgbClr val="14213D"/>
                </a:solidFill>
              </a:rPr>
              <a:t>Decline. Refer to a qualified clinician.</a:t>
            </a:r>
            <a:endParaRPr lang="en-US" sz="1400" dirty="0"/>
          </a:p>
        </p:txBody>
      </p:sp>
      <p:sp>
        <p:nvSpPr>
          <p:cNvPr id="26" name="Shape 23"/>
          <p:cNvSpPr/>
          <p:nvPr/>
        </p:nvSpPr>
        <p:spPr>
          <a:xfrm>
            <a:off x="640080" y="4764024"/>
            <a:ext cx="10908792" cy="877824"/>
          </a:xfrm>
          <a:prstGeom prst="roundRect">
            <a:avLst>
              <a:gd name="adj" fmla="val 7292"/>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27" name="Shape 24"/>
          <p:cNvSpPr/>
          <p:nvPr/>
        </p:nvSpPr>
        <p:spPr>
          <a:xfrm>
            <a:off x="640080" y="4764024"/>
            <a:ext cx="1371600" cy="877824"/>
          </a:xfrm>
          <a:prstGeom prst="rect">
            <a:avLst/>
          </a:prstGeom>
          <a:solidFill>
            <a:srgbClr val="0E9F9E"/>
          </a:solidFill>
          <a:ln w="12700">
            <a:solidFill>
              <a:srgbClr val="0E9F9E"/>
            </a:solidFill>
            <a:prstDash val="solid"/>
          </a:ln>
        </p:spPr>
      </p:sp>
      <p:sp>
        <p:nvSpPr>
          <p:cNvPr id="28" name="Text 25"/>
          <p:cNvSpPr txBox="1"/>
          <p:nvPr/>
        </p:nvSpPr>
        <p:spPr>
          <a:xfrm>
            <a:off x="640080" y="4764024"/>
            <a:ext cx="1371600" cy="877824"/>
          </a:xfrm>
          <a:prstGeom prst="rect">
            <a:avLst/>
          </a:prstGeom>
          <a:noFill/>
          <a:ln/>
        </p:spPr>
        <p:txBody>
          <a:bodyPr wrap="square" lIns="0" tIns="0" rIns="0" bIns="0" rtlCol="0" anchor="ctr"/>
          <a:lstStyle/>
          <a:p>
            <a:pPr algn="ctr" indent="0" marL="0">
              <a:buNone/>
            </a:pPr>
            <a:r>
              <a:rPr lang="en-US" sz="1800" b="1" dirty="0">
                <a:solidFill>
                  <a:srgbClr val="FFFFFF"/>
                </a:solidFill>
              </a:rPr>
              <a:t>ER-504</a:t>
            </a:r>
            <a:endParaRPr lang="en-US" sz="1800" dirty="0"/>
          </a:p>
        </p:txBody>
      </p:sp>
      <p:sp>
        <p:nvSpPr>
          <p:cNvPr id="29" name="Text 26"/>
          <p:cNvSpPr txBox="1"/>
          <p:nvPr/>
        </p:nvSpPr>
        <p:spPr>
          <a:xfrm>
            <a:off x="2240280" y="4892040"/>
            <a:ext cx="914400" cy="201168"/>
          </a:xfrm>
          <a:prstGeom prst="rect">
            <a:avLst/>
          </a:prstGeom>
          <a:noFill/>
          <a:ln/>
        </p:spPr>
        <p:txBody>
          <a:bodyPr wrap="square" lIns="0" tIns="0" rIns="0" bIns="0" rtlCol="0" anchor="t"/>
          <a:lstStyle/>
          <a:p>
            <a:pPr indent="0" marL="0">
              <a:buNone/>
            </a:pPr>
            <a:r>
              <a:rPr lang="en-US" sz="900" b="1" spc="200" kern="0" dirty="0">
                <a:solidFill>
                  <a:srgbClr val="5B6B85"/>
                </a:solidFill>
              </a:rPr>
              <a:t>WHEN</a:t>
            </a:r>
            <a:endParaRPr lang="en-US" sz="900" dirty="0"/>
          </a:p>
        </p:txBody>
      </p:sp>
      <p:sp>
        <p:nvSpPr>
          <p:cNvPr id="30" name="Text 27"/>
          <p:cNvSpPr txBox="1"/>
          <p:nvPr/>
        </p:nvSpPr>
        <p:spPr>
          <a:xfrm>
            <a:off x="2240280" y="5111496"/>
            <a:ext cx="4206240" cy="457200"/>
          </a:xfrm>
          <a:prstGeom prst="rect">
            <a:avLst/>
          </a:prstGeom>
          <a:noFill/>
          <a:ln/>
        </p:spPr>
        <p:txBody>
          <a:bodyPr wrap="square" lIns="0" tIns="0" rIns="0" bIns="0" rtlCol="0" anchor="t"/>
          <a:lstStyle/>
          <a:p>
            <a:pPr indent="0" marL="0">
              <a:buNone/>
            </a:pPr>
            <a:r>
              <a:rPr lang="en-US" sz="1400" b="1" dirty="0">
                <a:solidFill>
                  <a:srgbClr val="0B2A5B"/>
                </a:solidFill>
              </a:rPr>
              <a:t>Contradictory readings or conflicting source version</a:t>
            </a:r>
            <a:endParaRPr lang="en-US" sz="1400" dirty="0"/>
          </a:p>
        </p:txBody>
      </p:sp>
      <p:sp>
        <p:nvSpPr>
          <p:cNvPr id="31" name="Text 28"/>
          <p:cNvSpPr txBox="1"/>
          <p:nvPr/>
        </p:nvSpPr>
        <p:spPr>
          <a:xfrm>
            <a:off x="6766560" y="4892040"/>
            <a:ext cx="1828800" cy="201168"/>
          </a:xfrm>
          <a:prstGeom prst="rect">
            <a:avLst/>
          </a:prstGeom>
          <a:noFill/>
          <a:ln/>
        </p:spPr>
        <p:txBody>
          <a:bodyPr wrap="square" lIns="0" tIns="0" rIns="0" bIns="0" rtlCol="0" anchor="t"/>
          <a:lstStyle/>
          <a:p>
            <a:pPr indent="0" marL="0">
              <a:buNone/>
            </a:pPr>
            <a:r>
              <a:rPr lang="en-US" sz="900" b="1" spc="200" kern="0" dirty="0">
                <a:solidFill>
                  <a:srgbClr val="5B6B85"/>
                </a:solidFill>
              </a:rPr>
              <a:t>THE SYSTEM</a:t>
            </a:r>
            <a:endParaRPr lang="en-US" sz="900" dirty="0"/>
          </a:p>
        </p:txBody>
      </p:sp>
      <p:sp>
        <p:nvSpPr>
          <p:cNvPr id="32" name="Text 29"/>
          <p:cNvSpPr txBox="1"/>
          <p:nvPr/>
        </p:nvSpPr>
        <p:spPr>
          <a:xfrm>
            <a:off x="6766560" y="5111496"/>
            <a:ext cx="4663440" cy="457200"/>
          </a:xfrm>
          <a:prstGeom prst="rect">
            <a:avLst/>
          </a:prstGeom>
          <a:noFill/>
          <a:ln/>
        </p:spPr>
        <p:txBody>
          <a:bodyPr wrap="square" lIns="0" tIns="0" rIns="0" bIns="0" rtlCol="0" anchor="t"/>
          <a:lstStyle/>
          <a:p>
            <a:pPr indent="0" marL="0">
              <a:buNone/>
            </a:pPr>
            <a:r>
              <a:rPr lang="en-US" sz="1400" dirty="0">
                <a:solidFill>
                  <a:srgbClr val="14213D"/>
                </a:solidFill>
              </a:rPr>
              <a:t>Mark uncertainty. Request human review.</a:t>
            </a:r>
            <a:endParaRPr lang="en-US" sz="1400" dirty="0"/>
          </a:p>
        </p:txBody>
      </p:sp>
      <p:sp>
        <p:nvSpPr>
          <p:cNvPr id="33" name="Text 30"/>
          <p:cNvSpPr txBox="1"/>
          <p:nvPr/>
        </p:nvSpPr>
        <p:spPr>
          <a:xfrm>
            <a:off x="640080" y="5852160"/>
            <a:ext cx="10881360" cy="365760"/>
          </a:xfrm>
          <a:prstGeom prst="rect">
            <a:avLst/>
          </a:prstGeom>
          <a:noFill/>
          <a:ln/>
        </p:spPr>
        <p:txBody>
          <a:bodyPr wrap="square" lIns="0" tIns="0" rIns="0" bIns="0" rtlCol="0" anchor="t"/>
          <a:lstStyle/>
          <a:p>
            <a:pPr indent="0" marL="0">
              <a:buNone/>
            </a:pPr>
            <a:r>
              <a:rPr lang="en-US" sz="1300" b="1" dirty="0">
                <a:solidFill>
                  <a:srgbClr val="F59E0B"/>
                </a:solidFill>
              </a:rPr>
              <a:t>Numeric thresholds are training placeholders. Clinicians would own them in production.</a:t>
            </a:r>
            <a:endParaRPr lang="en-US" sz="13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HUMAN HAND-OFFS</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Every uncertain case has a named human path</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4114800"/>
                <a:gridCol w="2926080"/>
                <a:gridCol w="3867912"/>
              </a:tblGrid>
              <a:tr h="512064">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Trigger</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Who is told</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the system does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r>
              <a:tr h="512064">
                <a:tc>
                  <a:txBody>
                    <a:bodyPr/>
                    <a:lstStyle/>
                    <a:p>
                      <a:pPr indent="0" marL="0">
                        <a:buNone/>
                      </a:pPr>
                      <a:r>
                        <a:rPr lang="en-US" sz="1200" dirty="0">
                          <a:solidFill>
                            <a:srgbClr val="14213D"/>
                          </a:solidFill>
                          <a:latin typeface="Arial" pitchFamily="34" charset="0"/>
                          <a:ea typeface="Arial" pitchFamily="34" charset="-122"/>
                          <a:cs typeface="Arial" pitchFamily="34" charset="-120"/>
                        </a:rPr>
                        <a:t>Consent not active (ER-501)</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Program staff</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Stops; member told to contact staff</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4213D"/>
                          </a:solidFill>
                          <a:latin typeface="Arial" pitchFamily="34" charset="0"/>
                          <a:ea typeface="Arial" pitchFamily="34" charset="-122"/>
                          <a:cs typeface="Arial" pitchFamily="34" charset="-120"/>
                        </a:rPr>
                        <a:t>Configured test value (ER-502)</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Staff, urgent review</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Creates review record; no interpretation</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4213D"/>
                          </a:solidFill>
                          <a:latin typeface="Arial" pitchFamily="34" charset="0"/>
                          <a:ea typeface="Arial" pitchFamily="34" charset="-122"/>
                          <a:cs typeface="Arial" pitchFamily="34" charset="-120"/>
                        </a:rPr>
                        <a:t>Medicine change request (ER-503)</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Qualified clinician</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Declines; creates referral record</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4213D"/>
                          </a:solidFill>
                          <a:latin typeface="Arial" pitchFamily="34" charset="0"/>
                          <a:ea typeface="Arial" pitchFamily="34" charset="-122"/>
                          <a:cs typeface="Arial" pitchFamily="34" charset="-120"/>
                        </a:rPr>
                        <a:t>Contradiction or version conflict (ER-504)</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Staff, human review</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Marks uncertainty; draws no conclusion</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4213D"/>
                          </a:solidFill>
                          <a:latin typeface="Arial" pitchFamily="34" charset="0"/>
                          <a:ea typeface="Arial" pitchFamily="34" charset="-122"/>
                          <a:cs typeface="Arial" pitchFamily="34" charset="-120"/>
                        </a:rPr>
                        <a:t>No approved article found</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Program staff</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States the gap; asks staff to follow up</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4213D"/>
                          </a:solidFill>
                          <a:latin typeface="Arial" pitchFamily="34" charset="0"/>
                          <a:ea typeface="Arial" pitchFamily="34" charset="-122"/>
                          <a:cs typeface="Arial" pitchFamily="34" charset="-120"/>
                        </a:rPr>
                        <a:t>Request for interpretation or advice</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Program staff</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Declines and routes to staff</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4213D"/>
                          </a:solidFill>
                          <a:latin typeface="Arial" pitchFamily="34" charset="0"/>
                          <a:ea typeface="Arial" pitchFamily="34" charset="-122"/>
                          <a:cs typeface="Arial" pitchFamily="34" charset="-120"/>
                        </a:rPr>
                        <a:t>Data or knowledge base unavailable</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Member: retry or contact staff</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Arial" pitchFamily="34" charset="0"/>
                          <a:ea typeface="Arial" pitchFamily="34" charset="-122"/>
                          <a:cs typeface="Arial" pitchFamily="34" charset="-120"/>
                        </a:rPr>
                        <a:t>Clear message; nothing invented</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640080" y="5989320"/>
            <a:ext cx="10881360" cy="320040"/>
          </a:xfrm>
          <a:prstGeom prst="rect">
            <a:avLst/>
          </a:prstGeom>
          <a:noFill/>
          <a:ln/>
        </p:spPr>
        <p:txBody>
          <a:bodyPr wrap="square" lIns="0" tIns="0" rIns="0" bIns="0" rtlCol="0" anchor="t"/>
          <a:lstStyle/>
          <a:p>
            <a:pPr indent="0" marL="0">
              <a:buNone/>
            </a:pPr>
            <a:r>
              <a:rPr lang="en-US" sz="1300" b="1" dirty="0">
                <a:solidFill>
                  <a:srgbClr val="0B2A5B"/>
                </a:solidFill>
              </a:rPr>
              <a:t>The system never decides emergency priority.</a:t>
            </a:r>
            <a:endParaRPr lang="en-US" sz="13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APPROVED KNOWLEDGE</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Education answers come only from approved, versioned articles</a:t>
            </a:r>
            <a:endParaRPr lang="en-US" sz="2800" dirty="0"/>
          </a:p>
        </p:txBody>
      </p:sp>
      <p:sp>
        <p:nvSpPr>
          <p:cNvPr id="5" name="Shape 2"/>
          <p:cNvSpPr/>
          <p:nvPr/>
        </p:nvSpPr>
        <p:spPr>
          <a:xfrm>
            <a:off x="640080" y="1783080"/>
            <a:ext cx="1965960" cy="2377440"/>
          </a:xfrm>
          <a:prstGeom prst="roundRect">
            <a:avLst>
              <a:gd name="adj" fmla="val 3256"/>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6" name="Shape 3"/>
          <p:cNvSpPr/>
          <p:nvPr/>
        </p:nvSpPr>
        <p:spPr>
          <a:xfrm>
            <a:off x="1353312" y="1965960"/>
            <a:ext cx="548640" cy="548640"/>
          </a:xfrm>
          <a:prstGeom prst="ellipse">
            <a:avLst/>
          </a:prstGeom>
          <a:solidFill>
            <a:srgbClr val="2563EB"/>
          </a:solidFill>
          <a:ln w="6350">
            <a:solidFill>
              <a:srgbClr val="2563EB"/>
            </a:solidFill>
            <a:prstDash val="solid"/>
          </a:ln>
        </p:spPr>
      </p:sp>
      <p:pic>
        <p:nvPicPr>
          <p:cNvPr id="7" name="Image 0" descr="FaFileAlt">    </p:cNvPr>
          <p:cNvPicPr>
            <a:picLocks noChangeAspect="1"/>
          </p:cNvPicPr>
          <p:nvPr/>
        </p:nvPicPr>
        <p:blipFill>
          <a:blip r:embed="rId1"/>
          <a:stretch>
            <a:fillRect/>
          </a:stretch>
        </p:blipFill>
        <p:spPr>
          <a:xfrm>
            <a:off x="1501445" y="2114093"/>
            <a:ext cx="252374" cy="252374"/>
          </a:xfrm>
          <a:prstGeom prst="rect">
            <a:avLst/>
          </a:prstGeom>
        </p:spPr>
      </p:pic>
      <p:sp>
        <p:nvSpPr>
          <p:cNvPr id="8" name="Text 4"/>
          <p:cNvSpPr txBox="1"/>
          <p:nvPr/>
        </p:nvSpPr>
        <p:spPr>
          <a:xfrm>
            <a:off x="749808" y="2697480"/>
            <a:ext cx="1737360" cy="320040"/>
          </a:xfrm>
          <a:prstGeom prst="rect">
            <a:avLst/>
          </a:prstGeom>
          <a:noFill/>
          <a:ln/>
        </p:spPr>
        <p:txBody>
          <a:bodyPr wrap="square" lIns="0" tIns="0" rIns="0" bIns="0" rtlCol="0" anchor="t"/>
          <a:lstStyle/>
          <a:p>
            <a:pPr algn="ctr" indent="0" marL="0">
              <a:buNone/>
            </a:pPr>
            <a:r>
              <a:rPr lang="en-US" sz="1400" b="1" dirty="0">
                <a:solidFill>
                  <a:srgbClr val="0B2A5B"/>
                </a:solidFill>
              </a:rPr>
              <a:t>Author</a:t>
            </a:r>
            <a:endParaRPr lang="en-US" sz="1400" dirty="0"/>
          </a:p>
        </p:txBody>
      </p:sp>
      <p:sp>
        <p:nvSpPr>
          <p:cNvPr id="9" name="Text 5"/>
          <p:cNvSpPr txBox="1"/>
          <p:nvPr/>
        </p:nvSpPr>
        <p:spPr>
          <a:xfrm>
            <a:off x="777240" y="3063240"/>
            <a:ext cx="1691640" cy="1005840"/>
          </a:xfrm>
          <a:prstGeom prst="rect">
            <a:avLst/>
          </a:prstGeom>
          <a:noFill/>
          <a:ln/>
        </p:spPr>
        <p:txBody>
          <a:bodyPr wrap="square" lIns="0" tIns="0" rIns="0" bIns="0" rtlCol="0" anchor="t"/>
          <a:lstStyle/>
          <a:p>
            <a:pPr algn="ctr" indent="0" marL="0">
              <a:buNone/>
            </a:pPr>
            <a:r>
              <a:rPr lang="en-US" sz="1200" dirty="0">
                <a:solidFill>
                  <a:srgbClr val="5B6B85"/>
                </a:solidFill>
              </a:rPr>
              <a:t>Articles are Approved, Draft or Retired</a:t>
            </a:r>
            <a:endParaRPr lang="en-US" sz="1200" dirty="0"/>
          </a:p>
        </p:txBody>
      </p:sp>
      <p:sp>
        <p:nvSpPr>
          <p:cNvPr id="10" name="Shape 6"/>
          <p:cNvSpPr/>
          <p:nvPr/>
        </p:nvSpPr>
        <p:spPr>
          <a:xfrm>
            <a:off x="2606040" y="2971800"/>
            <a:ext cx="228600" cy="0"/>
          </a:xfrm>
          <a:prstGeom prst="line">
            <a:avLst/>
          </a:prstGeom>
          <a:noFill/>
          <a:ln w="25400">
            <a:solidFill>
              <a:srgbClr val="0E9F9E"/>
            </a:solidFill>
            <a:prstDash val="solid"/>
            <a:tailEnd type="triangle"/>
          </a:ln>
        </p:spPr>
      </p:sp>
      <p:sp>
        <p:nvSpPr>
          <p:cNvPr id="11" name="Shape 7"/>
          <p:cNvSpPr/>
          <p:nvPr/>
        </p:nvSpPr>
        <p:spPr>
          <a:xfrm>
            <a:off x="2834640" y="1783080"/>
            <a:ext cx="1965960" cy="2377440"/>
          </a:xfrm>
          <a:prstGeom prst="roundRect">
            <a:avLst>
              <a:gd name="adj" fmla="val 3256"/>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2" name="Shape 8"/>
          <p:cNvSpPr/>
          <p:nvPr/>
        </p:nvSpPr>
        <p:spPr>
          <a:xfrm>
            <a:off x="3547872" y="1965960"/>
            <a:ext cx="548640" cy="548640"/>
          </a:xfrm>
          <a:prstGeom prst="ellipse">
            <a:avLst/>
          </a:prstGeom>
          <a:solidFill>
            <a:srgbClr val="0E9F9E"/>
          </a:solidFill>
          <a:ln w="6350">
            <a:solidFill>
              <a:srgbClr val="0E9F9E"/>
            </a:solidFill>
            <a:prstDash val="solid"/>
          </a:ln>
        </p:spPr>
      </p:sp>
      <p:pic>
        <p:nvPicPr>
          <p:cNvPr id="13" name="Image 1" descr="FaCloudUploadAlt">    </p:cNvPr>
          <p:cNvPicPr>
            <a:picLocks noChangeAspect="1"/>
          </p:cNvPicPr>
          <p:nvPr/>
        </p:nvPicPr>
        <p:blipFill>
          <a:blip r:embed="rId2"/>
          <a:stretch>
            <a:fillRect/>
          </a:stretch>
        </p:blipFill>
        <p:spPr>
          <a:xfrm>
            <a:off x="3696005" y="2114093"/>
            <a:ext cx="252374" cy="252374"/>
          </a:xfrm>
          <a:prstGeom prst="rect">
            <a:avLst/>
          </a:prstGeom>
        </p:spPr>
      </p:pic>
      <p:sp>
        <p:nvSpPr>
          <p:cNvPr id="14" name="Text 9"/>
          <p:cNvSpPr txBox="1"/>
          <p:nvPr/>
        </p:nvSpPr>
        <p:spPr>
          <a:xfrm>
            <a:off x="2944368" y="2697480"/>
            <a:ext cx="1737360" cy="320040"/>
          </a:xfrm>
          <a:prstGeom prst="rect">
            <a:avLst/>
          </a:prstGeom>
          <a:noFill/>
          <a:ln/>
        </p:spPr>
        <p:txBody>
          <a:bodyPr wrap="square" lIns="0" tIns="0" rIns="0" bIns="0" rtlCol="0" anchor="t"/>
          <a:lstStyle/>
          <a:p>
            <a:pPr algn="ctr" indent="0" marL="0">
              <a:buNone/>
            </a:pPr>
            <a:r>
              <a:rPr lang="en-US" sz="1400" b="1" dirty="0">
                <a:solidFill>
                  <a:srgbClr val="0B2A5B"/>
                </a:solidFill>
              </a:rPr>
              <a:t>Blob Storage</a:t>
            </a:r>
            <a:endParaRPr lang="en-US" sz="1400" dirty="0"/>
          </a:p>
        </p:txBody>
      </p:sp>
      <p:sp>
        <p:nvSpPr>
          <p:cNvPr id="15" name="Text 10"/>
          <p:cNvSpPr txBox="1"/>
          <p:nvPr/>
        </p:nvSpPr>
        <p:spPr>
          <a:xfrm>
            <a:off x="2971800" y="3063240"/>
            <a:ext cx="1691640" cy="1005840"/>
          </a:xfrm>
          <a:prstGeom prst="rect">
            <a:avLst/>
          </a:prstGeom>
          <a:noFill/>
          <a:ln/>
        </p:spPr>
        <p:txBody>
          <a:bodyPr wrap="square" lIns="0" tIns="0" rIns="0" bIns="0" rtlCol="0" anchor="t"/>
          <a:lstStyle/>
          <a:p>
            <a:pPr algn="ctr" indent="0" marL="0">
              <a:buNone/>
            </a:pPr>
            <a:r>
              <a:rPr lang="en-US" sz="1200" dirty="0">
                <a:solidFill>
                  <a:srgbClr val="5B6B85"/>
                </a:solidFill>
              </a:rPr>
              <a:t>Only Approved versions are uploaded</a:t>
            </a:r>
            <a:endParaRPr lang="en-US" sz="1200" dirty="0"/>
          </a:p>
        </p:txBody>
      </p:sp>
      <p:sp>
        <p:nvSpPr>
          <p:cNvPr id="16" name="Shape 11"/>
          <p:cNvSpPr/>
          <p:nvPr/>
        </p:nvSpPr>
        <p:spPr>
          <a:xfrm>
            <a:off x="4800600" y="2971800"/>
            <a:ext cx="228600" cy="0"/>
          </a:xfrm>
          <a:prstGeom prst="line">
            <a:avLst/>
          </a:prstGeom>
          <a:noFill/>
          <a:ln w="25400">
            <a:solidFill>
              <a:srgbClr val="0E9F9E"/>
            </a:solidFill>
            <a:prstDash val="solid"/>
            <a:tailEnd type="triangle"/>
          </a:ln>
        </p:spPr>
      </p:sp>
      <p:sp>
        <p:nvSpPr>
          <p:cNvPr id="17" name="Shape 12"/>
          <p:cNvSpPr/>
          <p:nvPr/>
        </p:nvSpPr>
        <p:spPr>
          <a:xfrm>
            <a:off x="5029200" y="1783080"/>
            <a:ext cx="1965960" cy="2377440"/>
          </a:xfrm>
          <a:prstGeom prst="roundRect">
            <a:avLst>
              <a:gd name="adj" fmla="val 3256"/>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8" name="Shape 13"/>
          <p:cNvSpPr/>
          <p:nvPr/>
        </p:nvSpPr>
        <p:spPr>
          <a:xfrm>
            <a:off x="5742432" y="1965960"/>
            <a:ext cx="548640" cy="548640"/>
          </a:xfrm>
          <a:prstGeom prst="ellipse">
            <a:avLst/>
          </a:prstGeom>
          <a:solidFill>
            <a:srgbClr val="2563EB"/>
          </a:solidFill>
          <a:ln w="6350">
            <a:solidFill>
              <a:srgbClr val="2563EB"/>
            </a:solidFill>
            <a:prstDash val="solid"/>
          </a:ln>
        </p:spPr>
      </p:sp>
      <p:pic>
        <p:nvPicPr>
          <p:cNvPr id="19" name="Image 2" descr="FaSearch">    </p:cNvPr>
          <p:cNvPicPr>
            <a:picLocks noChangeAspect="1"/>
          </p:cNvPicPr>
          <p:nvPr/>
        </p:nvPicPr>
        <p:blipFill>
          <a:blip r:embed="rId3"/>
          <a:stretch>
            <a:fillRect/>
          </a:stretch>
        </p:blipFill>
        <p:spPr>
          <a:xfrm>
            <a:off x="5890565" y="2114093"/>
            <a:ext cx="252374" cy="252374"/>
          </a:xfrm>
          <a:prstGeom prst="rect">
            <a:avLst/>
          </a:prstGeom>
        </p:spPr>
      </p:pic>
      <p:sp>
        <p:nvSpPr>
          <p:cNvPr id="20" name="Text 14"/>
          <p:cNvSpPr txBox="1"/>
          <p:nvPr/>
        </p:nvSpPr>
        <p:spPr>
          <a:xfrm>
            <a:off x="5138928" y="2697480"/>
            <a:ext cx="1737360" cy="320040"/>
          </a:xfrm>
          <a:prstGeom prst="rect">
            <a:avLst/>
          </a:prstGeom>
          <a:noFill/>
          <a:ln/>
        </p:spPr>
        <p:txBody>
          <a:bodyPr wrap="square" lIns="0" tIns="0" rIns="0" bIns="0" rtlCol="0" anchor="t"/>
          <a:lstStyle/>
          <a:p>
            <a:pPr algn="ctr" indent="0" marL="0">
              <a:buNone/>
            </a:pPr>
            <a:r>
              <a:rPr lang="en-US" sz="1400" b="1" dirty="0">
                <a:solidFill>
                  <a:srgbClr val="0B2A5B"/>
                </a:solidFill>
              </a:rPr>
              <a:t>AI Search index</a:t>
            </a:r>
            <a:endParaRPr lang="en-US" sz="1400" dirty="0"/>
          </a:p>
        </p:txBody>
      </p:sp>
      <p:sp>
        <p:nvSpPr>
          <p:cNvPr id="21" name="Text 15"/>
          <p:cNvSpPr txBox="1"/>
          <p:nvPr/>
        </p:nvSpPr>
        <p:spPr>
          <a:xfrm>
            <a:off x="5166360" y="3063240"/>
            <a:ext cx="1691640" cy="1005840"/>
          </a:xfrm>
          <a:prstGeom prst="rect">
            <a:avLst/>
          </a:prstGeom>
          <a:noFill/>
          <a:ln/>
        </p:spPr>
        <p:txBody>
          <a:bodyPr wrap="square" lIns="0" tIns="0" rIns="0" bIns="0" rtlCol="0" anchor="t"/>
          <a:lstStyle/>
          <a:p>
            <a:pPr algn="ctr" indent="0" marL="0">
              <a:buNone/>
            </a:pPr>
            <a:r>
              <a:rPr lang="en-US" sz="1200" dirty="0">
                <a:solidFill>
                  <a:srgbClr val="5B6B85"/>
                </a:solidFill>
              </a:rPr>
              <a:t>Embeddings (3072 dimensions) + semantic ranking</a:t>
            </a:r>
            <a:endParaRPr lang="en-US" sz="1200" dirty="0"/>
          </a:p>
        </p:txBody>
      </p:sp>
      <p:sp>
        <p:nvSpPr>
          <p:cNvPr id="22" name="Shape 16"/>
          <p:cNvSpPr/>
          <p:nvPr/>
        </p:nvSpPr>
        <p:spPr>
          <a:xfrm>
            <a:off x="6995160" y="2971800"/>
            <a:ext cx="228600" cy="0"/>
          </a:xfrm>
          <a:prstGeom prst="line">
            <a:avLst/>
          </a:prstGeom>
          <a:noFill/>
          <a:ln w="25400">
            <a:solidFill>
              <a:srgbClr val="0E9F9E"/>
            </a:solidFill>
            <a:prstDash val="solid"/>
            <a:tailEnd type="triangle"/>
          </a:ln>
        </p:spPr>
      </p:sp>
      <p:sp>
        <p:nvSpPr>
          <p:cNvPr id="23" name="Shape 17"/>
          <p:cNvSpPr/>
          <p:nvPr/>
        </p:nvSpPr>
        <p:spPr>
          <a:xfrm>
            <a:off x="7223760" y="1783080"/>
            <a:ext cx="1965960" cy="2377440"/>
          </a:xfrm>
          <a:prstGeom prst="roundRect">
            <a:avLst>
              <a:gd name="adj" fmla="val 3256"/>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24" name="Shape 18"/>
          <p:cNvSpPr/>
          <p:nvPr/>
        </p:nvSpPr>
        <p:spPr>
          <a:xfrm>
            <a:off x="7936992" y="1965960"/>
            <a:ext cx="548640" cy="548640"/>
          </a:xfrm>
          <a:prstGeom prst="ellipse">
            <a:avLst/>
          </a:prstGeom>
          <a:solidFill>
            <a:srgbClr val="0E9F9E"/>
          </a:solidFill>
          <a:ln w="6350">
            <a:solidFill>
              <a:srgbClr val="0E9F9E"/>
            </a:solidFill>
            <a:prstDash val="solid"/>
          </a:ln>
        </p:spPr>
      </p:sp>
      <p:pic>
        <p:nvPicPr>
          <p:cNvPr id="25" name="Image 3" descr="FaRobot">    </p:cNvPr>
          <p:cNvPicPr>
            <a:picLocks noChangeAspect="1"/>
          </p:cNvPicPr>
          <p:nvPr/>
        </p:nvPicPr>
        <p:blipFill>
          <a:blip r:embed="rId4"/>
          <a:stretch>
            <a:fillRect/>
          </a:stretch>
        </p:blipFill>
        <p:spPr>
          <a:xfrm>
            <a:off x="8085125" y="2114093"/>
            <a:ext cx="252374" cy="252374"/>
          </a:xfrm>
          <a:prstGeom prst="rect">
            <a:avLst/>
          </a:prstGeom>
        </p:spPr>
      </p:pic>
      <p:sp>
        <p:nvSpPr>
          <p:cNvPr id="26" name="Text 19"/>
          <p:cNvSpPr txBox="1"/>
          <p:nvPr/>
        </p:nvSpPr>
        <p:spPr>
          <a:xfrm>
            <a:off x="7333488" y="2697480"/>
            <a:ext cx="1737360" cy="320040"/>
          </a:xfrm>
          <a:prstGeom prst="rect">
            <a:avLst/>
          </a:prstGeom>
          <a:noFill/>
          <a:ln/>
        </p:spPr>
        <p:txBody>
          <a:bodyPr wrap="square" lIns="0" tIns="0" rIns="0" bIns="0" rtlCol="0" anchor="t"/>
          <a:lstStyle/>
          <a:p>
            <a:pPr algn="ctr" indent="0" marL="0">
              <a:buNone/>
            </a:pPr>
            <a:r>
              <a:rPr lang="en-US" sz="1400" b="1" dirty="0">
                <a:solidFill>
                  <a:srgbClr val="0B2A5B"/>
                </a:solidFill>
              </a:rPr>
              <a:t>Education agent</a:t>
            </a:r>
            <a:endParaRPr lang="en-US" sz="1400" dirty="0"/>
          </a:p>
        </p:txBody>
      </p:sp>
      <p:sp>
        <p:nvSpPr>
          <p:cNvPr id="27" name="Text 20"/>
          <p:cNvSpPr txBox="1"/>
          <p:nvPr/>
        </p:nvSpPr>
        <p:spPr>
          <a:xfrm>
            <a:off x="7360920" y="3063240"/>
            <a:ext cx="1691640" cy="1005840"/>
          </a:xfrm>
          <a:prstGeom prst="rect">
            <a:avLst/>
          </a:prstGeom>
          <a:noFill/>
          <a:ln/>
        </p:spPr>
        <p:txBody>
          <a:bodyPr wrap="square" lIns="0" tIns="0" rIns="0" bIns="0" rtlCol="0" anchor="t"/>
          <a:lstStyle/>
          <a:p>
            <a:pPr algn="ctr" indent="0" marL="0">
              <a:buNone/>
            </a:pPr>
            <a:r>
              <a:rPr lang="en-US" sz="1200" dirty="0">
                <a:solidFill>
                  <a:srgbClr val="5B6B85"/>
                </a:solidFill>
              </a:rPr>
              <a:t>Searches the index, answers with citations</a:t>
            </a:r>
            <a:endParaRPr lang="en-US" sz="1200" dirty="0"/>
          </a:p>
        </p:txBody>
      </p:sp>
      <p:sp>
        <p:nvSpPr>
          <p:cNvPr id="28" name="Shape 21"/>
          <p:cNvSpPr/>
          <p:nvPr/>
        </p:nvSpPr>
        <p:spPr>
          <a:xfrm>
            <a:off x="9189720" y="2971800"/>
            <a:ext cx="228600" cy="0"/>
          </a:xfrm>
          <a:prstGeom prst="line">
            <a:avLst/>
          </a:prstGeom>
          <a:noFill/>
          <a:ln w="25400">
            <a:solidFill>
              <a:srgbClr val="0E9F9E"/>
            </a:solidFill>
            <a:prstDash val="solid"/>
            <a:tailEnd type="triangle"/>
          </a:ln>
        </p:spPr>
      </p:sp>
      <p:sp>
        <p:nvSpPr>
          <p:cNvPr id="29" name="Shape 22"/>
          <p:cNvSpPr/>
          <p:nvPr/>
        </p:nvSpPr>
        <p:spPr>
          <a:xfrm>
            <a:off x="9418320" y="1783080"/>
            <a:ext cx="1965960" cy="2377440"/>
          </a:xfrm>
          <a:prstGeom prst="roundRect">
            <a:avLst>
              <a:gd name="adj" fmla="val 3256"/>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30" name="Shape 23"/>
          <p:cNvSpPr/>
          <p:nvPr/>
        </p:nvSpPr>
        <p:spPr>
          <a:xfrm>
            <a:off x="10131552" y="1965960"/>
            <a:ext cx="548640" cy="548640"/>
          </a:xfrm>
          <a:prstGeom prst="ellipse">
            <a:avLst/>
          </a:prstGeom>
          <a:solidFill>
            <a:srgbClr val="0B2A5B"/>
          </a:solidFill>
          <a:ln w="6350">
            <a:solidFill>
              <a:srgbClr val="0B2A5B"/>
            </a:solidFill>
            <a:prstDash val="solid"/>
          </a:ln>
        </p:spPr>
      </p:sp>
      <p:pic>
        <p:nvPicPr>
          <p:cNvPr id="31" name="Image 4" descr="FaCheckDouble">    </p:cNvPr>
          <p:cNvPicPr>
            <a:picLocks noChangeAspect="1"/>
          </p:cNvPicPr>
          <p:nvPr/>
        </p:nvPicPr>
        <p:blipFill>
          <a:blip r:embed="rId5"/>
          <a:stretch>
            <a:fillRect/>
          </a:stretch>
        </p:blipFill>
        <p:spPr>
          <a:xfrm>
            <a:off x="10279685" y="2114093"/>
            <a:ext cx="252374" cy="252374"/>
          </a:xfrm>
          <a:prstGeom prst="rect">
            <a:avLst/>
          </a:prstGeom>
        </p:spPr>
      </p:pic>
      <p:sp>
        <p:nvSpPr>
          <p:cNvPr id="32" name="Text 24"/>
          <p:cNvSpPr txBox="1"/>
          <p:nvPr/>
        </p:nvSpPr>
        <p:spPr>
          <a:xfrm>
            <a:off x="9528048" y="2697480"/>
            <a:ext cx="1737360" cy="320040"/>
          </a:xfrm>
          <a:prstGeom prst="rect">
            <a:avLst/>
          </a:prstGeom>
          <a:noFill/>
          <a:ln/>
        </p:spPr>
        <p:txBody>
          <a:bodyPr wrap="square" lIns="0" tIns="0" rIns="0" bIns="0" rtlCol="0" anchor="t"/>
          <a:lstStyle/>
          <a:p>
            <a:pPr algn="ctr" indent="0" marL="0">
              <a:buNone/>
            </a:pPr>
            <a:r>
              <a:rPr lang="en-US" sz="1400" b="1" dirty="0">
                <a:solidFill>
                  <a:srgbClr val="0B2A5B"/>
                </a:solidFill>
              </a:rPr>
              <a:t>Citation check</a:t>
            </a:r>
            <a:endParaRPr lang="en-US" sz="1400" dirty="0"/>
          </a:p>
        </p:txBody>
      </p:sp>
      <p:sp>
        <p:nvSpPr>
          <p:cNvPr id="33" name="Text 25"/>
          <p:cNvSpPr txBox="1"/>
          <p:nvPr/>
        </p:nvSpPr>
        <p:spPr>
          <a:xfrm>
            <a:off x="9555480" y="3063240"/>
            <a:ext cx="1691640" cy="1005840"/>
          </a:xfrm>
          <a:prstGeom prst="rect">
            <a:avLst/>
          </a:prstGeom>
          <a:noFill/>
          <a:ln/>
        </p:spPr>
        <p:txBody>
          <a:bodyPr wrap="square" lIns="0" tIns="0" rIns="0" bIns="0" rtlCol="0" anchor="t"/>
          <a:lstStyle/>
          <a:p>
            <a:pPr algn="ctr" indent="0" marL="0">
              <a:buNone/>
            </a:pPr>
            <a:r>
              <a:rPr lang="en-US" sz="1200" dirty="0">
                <a:solidFill>
                  <a:srgbClr val="5B6B85"/>
                </a:solidFill>
              </a:rPr>
              <a:t>Id, version and programme verified in code</a:t>
            </a:r>
            <a:endParaRPr lang="en-US" sz="1200" dirty="0"/>
          </a:p>
        </p:txBody>
      </p:sp>
      <p:sp>
        <p:nvSpPr>
          <p:cNvPr id="34" name="Shape 26"/>
          <p:cNvSpPr/>
          <p:nvPr/>
        </p:nvSpPr>
        <p:spPr>
          <a:xfrm>
            <a:off x="640080" y="4526280"/>
            <a:ext cx="5349240" cy="1554480"/>
          </a:xfrm>
          <a:prstGeom prst="roundRect">
            <a:avLst>
              <a:gd name="adj" fmla="val 4118"/>
            </a:avLst>
          </a:prstGeom>
          <a:solidFill>
            <a:srgbClr val="E0F4F4"/>
          </a:solidFill>
          <a:ln w="12700">
            <a:solidFill>
              <a:srgbClr val="0E9F9E"/>
            </a:solidFill>
            <a:prstDash val="solid"/>
          </a:ln>
          <a:effectLst>
            <a:outerShdw sx="100000" sy="100000" kx="0" ky="0" algn="bl" rotWithShape="0" blurRad="101600" dist="25400" dir="5400000">
              <a:srgbClr val="1B2A4A">
                <a:alpha val="10000"/>
              </a:srgbClr>
            </a:outerShdw>
          </a:effectLst>
        </p:spPr>
      </p:sp>
      <p:sp>
        <p:nvSpPr>
          <p:cNvPr id="35" name="Text 27"/>
          <p:cNvSpPr txBox="1"/>
          <p:nvPr/>
        </p:nvSpPr>
        <p:spPr>
          <a:xfrm>
            <a:off x="914400" y="4645152"/>
            <a:ext cx="4846320" cy="274320"/>
          </a:xfrm>
          <a:prstGeom prst="rect">
            <a:avLst/>
          </a:prstGeom>
          <a:noFill/>
          <a:ln/>
        </p:spPr>
        <p:txBody>
          <a:bodyPr wrap="square" lIns="0" tIns="0" rIns="0" bIns="0" rtlCol="0" anchor="t"/>
          <a:lstStyle/>
          <a:p>
            <a:pPr indent="0" marL="0">
              <a:buNone/>
            </a:pPr>
            <a:r>
              <a:rPr lang="en-US" sz="1400" b="1" dirty="0">
                <a:solidFill>
                  <a:srgbClr val="0B2A5B"/>
                </a:solidFill>
              </a:rPr>
              <a:t>If a citation passes</a:t>
            </a:r>
            <a:endParaRPr lang="en-US" sz="1400" dirty="0"/>
          </a:p>
        </p:txBody>
      </p:sp>
      <p:sp>
        <p:nvSpPr>
          <p:cNvPr id="36" name="Text 28"/>
          <p:cNvSpPr txBox="1"/>
          <p:nvPr/>
        </p:nvSpPr>
        <p:spPr>
          <a:xfrm>
            <a:off x="914400" y="4983480"/>
            <a:ext cx="4846320" cy="1005840"/>
          </a:xfrm>
          <a:prstGeom prst="rect">
            <a:avLst/>
          </a:prstGeom>
          <a:noFill/>
          <a:ln/>
        </p:spPr>
        <p:txBody>
          <a:bodyPr wrap="square" lIns="0" tIns="0" rIns="0" bIns="0" rtlCol="0" anchor="t"/>
          <a:lstStyle/>
          <a:p>
            <a:pPr indent="0" marL="0">
              <a:buNone/>
            </a:pPr>
            <a:r>
              <a:rPr lang="en-US" sz="1300" dirty="0">
                <a:solidFill>
                  <a:srgbClr val="14213D"/>
                </a:solidFill>
              </a:rPr>
              <a:t>The member sees the answer with a Sources line, for example an article id and version, plus the educational-use notice.</a:t>
            </a:r>
            <a:endParaRPr lang="en-US" sz="1300" dirty="0"/>
          </a:p>
        </p:txBody>
      </p:sp>
      <p:sp>
        <p:nvSpPr>
          <p:cNvPr id="37" name="Shape 29"/>
          <p:cNvSpPr/>
          <p:nvPr/>
        </p:nvSpPr>
        <p:spPr>
          <a:xfrm>
            <a:off x="6199632" y="4526280"/>
            <a:ext cx="5349240" cy="1554480"/>
          </a:xfrm>
          <a:prstGeom prst="roundRect">
            <a:avLst>
              <a:gd name="adj" fmla="val 4118"/>
            </a:avLst>
          </a:prstGeom>
          <a:solidFill>
            <a:srgbClr val="FEF3E0"/>
          </a:solidFill>
          <a:ln w="12700">
            <a:solidFill>
              <a:srgbClr val="F59E0B"/>
            </a:solidFill>
            <a:prstDash val="solid"/>
          </a:ln>
          <a:effectLst>
            <a:outerShdw sx="100000" sy="100000" kx="0" ky="0" algn="bl" rotWithShape="0" blurRad="101600" dist="25400" dir="5400000">
              <a:srgbClr val="1B2A4A">
                <a:alpha val="10000"/>
              </a:srgbClr>
            </a:outerShdw>
          </a:effectLst>
        </p:spPr>
      </p:sp>
      <p:sp>
        <p:nvSpPr>
          <p:cNvPr id="38" name="Text 30"/>
          <p:cNvSpPr txBox="1"/>
          <p:nvPr/>
        </p:nvSpPr>
        <p:spPr>
          <a:xfrm>
            <a:off x="6473952" y="4645152"/>
            <a:ext cx="4846320" cy="274320"/>
          </a:xfrm>
          <a:prstGeom prst="rect">
            <a:avLst/>
          </a:prstGeom>
          <a:noFill/>
          <a:ln/>
        </p:spPr>
        <p:txBody>
          <a:bodyPr wrap="square" lIns="0" tIns="0" rIns="0" bIns="0" rtlCol="0" anchor="t"/>
          <a:lstStyle/>
          <a:p>
            <a:pPr indent="0" marL="0">
              <a:buNone/>
            </a:pPr>
            <a:r>
              <a:rPr lang="en-US" sz="1400" b="1" dirty="0">
                <a:solidFill>
                  <a:srgbClr val="0B2A5B"/>
                </a:solidFill>
              </a:rPr>
              <a:t>If any check fails</a:t>
            </a:r>
            <a:endParaRPr lang="en-US" sz="1400" dirty="0"/>
          </a:p>
        </p:txBody>
      </p:sp>
      <p:sp>
        <p:nvSpPr>
          <p:cNvPr id="39" name="Text 31"/>
          <p:cNvSpPr txBox="1"/>
          <p:nvPr/>
        </p:nvSpPr>
        <p:spPr>
          <a:xfrm>
            <a:off x="6473952" y="4983480"/>
            <a:ext cx="4846320" cy="1005840"/>
          </a:xfrm>
          <a:prstGeom prst="rect">
            <a:avLst/>
          </a:prstGeom>
          <a:noFill/>
          <a:ln/>
        </p:spPr>
        <p:txBody>
          <a:bodyPr wrap="square" lIns="0" tIns="0" rIns="0" bIns="0" rtlCol="0" anchor="t"/>
          <a:lstStyle/>
          <a:p>
            <a:pPr indent="0" marL="0">
              <a:buNone/>
            </a:pPr>
            <a:r>
              <a:rPr lang="en-US" sz="1300" dirty="0">
                <a:solidFill>
                  <a:srgbClr val="14213D"/>
                </a:solidFill>
              </a:rPr>
              <a:t>The answer is withheld. The member is told no approved article was found and staff follow up. Retired articles leave the index on the next sync.</a:t>
            </a:r>
            <a:endParaRPr lang="en-US" sz="13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AZURE SERVICES</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What is deployed and how it is secured</a:t>
            </a:r>
            <a:endParaRPr lang="en-US" sz="2800" dirty="0"/>
          </a:p>
        </p:txBody>
      </p:sp>
      <p:sp>
        <p:nvSpPr>
          <p:cNvPr id="5" name="Shape 2"/>
          <p:cNvSpPr/>
          <p:nvPr/>
        </p:nvSpPr>
        <p:spPr>
          <a:xfrm>
            <a:off x="640080" y="1691640"/>
            <a:ext cx="3502152" cy="3246120"/>
          </a:xfrm>
          <a:prstGeom prst="roundRect">
            <a:avLst>
              <a:gd name="adj" fmla="val 1972"/>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6" name="Shape 3"/>
          <p:cNvSpPr/>
          <p:nvPr/>
        </p:nvSpPr>
        <p:spPr>
          <a:xfrm>
            <a:off x="914400" y="1874520"/>
            <a:ext cx="640080" cy="640080"/>
          </a:xfrm>
          <a:prstGeom prst="ellipse">
            <a:avLst/>
          </a:prstGeom>
          <a:solidFill>
            <a:srgbClr val="2563EB"/>
          </a:solidFill>
          <a:ln w="6350">
            <a:solidFill>
              <a:srgbClr val="2563EB"/>
            </a:solidFill>
            <a:prstDash val="solid"/>
          </a:ln>
        </p:spPr>
      </p:sp>
      <p:pic>
        <p:nvPicPr>
          <p:cNvPr id="7" name="Image 0" descr="FaCubes">    </p:cNvPr>
          <p:cNvPicPr>
            <a:picLocks noChangeAspect="1"/>
          </p:cNvPicPr>
          <p:nvPr/>
        </p:nvPicPr>
        <p:blipFill>
          <a:blip r:embed="rId1"/>
          <a:stretch>
            <a:fillRect/>
          </a:stretch>
        </p:blipFill>
        <p:spPr>
          <a:xfrm>
            <a:off x="1087222" y="2047342"/>
            <a:ext cx="294437" cy="294437"/>
          </a:xfrm>
          <a:prstGeom prst="rect">
            <a:avLst/>
          </a:prstGeom>
        </p:spPr>
      </p:pic>
      <p:sp>
        <p:nvSpPr>
          <p:cNvPr id="8" name="Text 4"/>
          <p:cNvSpPr txBox="1"/>
          <p:nvPr/>
        </p:nvSpPr>
        <p:spPr>
          <a:xfrm>
            <a:off x="1691640" y="1874520"/>
            <a:ext cx="2377440" cy="640080"/>
          </a:xfrm>
          <a:prstGeom prst="rect">
            <a:avLst/>
          </a:prstGeom>
          <a:noFill/>
          <a:ln/>
        </p:spPr>
        <p:txBody>
          <a:bodyPr wrap="square" lIns="0" tIns="0" rIns="0" bIns="0" rtlCol="0" anchor="ctr"/>
          <a:lstStyle/>
          <a:p>
            <a:pPr indent="0" marL="0">
              <a:buNone/>
            </a:pPr>
            <a:r>
              <a:rPr lang="en-US" sz="1700" b="1" dirty="0">
                <a:solidFill>
                  <a:srgbClr val="0B2A5B"/>
                </a:solidFill>
              </a:rPr>
              <a:t>Microsoft Foundry</a:t>
            </a:r>
            <a:endParaRPr lang="en-US" sz="1700" dirty="0"/>
          </a:p>
        </p:txBody>
      </p:sp>
      <p:sp>
        <p:nvSpPr>
          <p:cNvPr id="9" name="Text 5"/>
          <p:cNvSpPr/>
          <p:nvPr/>
        </p:nvSpPr>
        <p:spPr>
          <a:xfrm>
            <a:off x="914400" y="2743200"/>
            <a:ext cx="301752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4213D"/>
                </a:solidFill>
              </a:rPr>
              <a:t>Project with chat and embedding model deployments</a:t>
            </a:r>
            <a:endParaRPr lang="en-US" sz="1300" dirty="0"/>
          </a:p>
          <a:p>
            <a:pPr marL="342900" indent="-342900">
              <a:spcAft>
                <a:spcPts val="800"/>
              </a:spcAft>
              <a:buSzPct val="100000"/>
              <a:buChar char="•"/>
            </a:pPr>
            <a:r>
              <a:rPr lang="en-US" sz="1300" dirty="0">
                <a:solidFill>
                  <a:srgbClr val="14213D"/>
                </a:solidFill>
              </a:rPr>
              <a:t>Six registered, versioned agents</a:t>
            </a:r>
            <a:endParaRPr lang="en-US" sz="1300" dirty="0"/>
          </a:p>
          <a:p>
            <a:pPr marL="342900" indent="-342900">
              <a:spcAft>
                <a:spcPts val="800"/>
              </a:spcAft>
              <a:buSzPct val="100000"/>
              <a:buChar char="•"/>
            </a:pPr>
            <a:r>
              <a:rPr lang="en-US" sz="1300" dirty="0">
                <a:solidFill>
                  <a:srgbClr val="14213D"/>
                </a:solidFill>
              </a:rPr>
              <a:t>Azure AI Search tool for education retrieval</a:t>
            </a:r>
            <a:endParaRPr lang="en-US" sz="1300" dirty="0"/>
          </a:p>
        </p:txBody>
      </p:sp>
      <p:sp>
        <p:nvSpPr>
          <p:cNvPr id="10" name="Shape 6"/>
          <p:cNvSpPr/>
          <p:nvPr/>
        </p:nvSpPr>
        <p:spPr>
          <a:xfrm>
            <a:off x="4343400" y="1691640"/>
            <a:ext cx="3502152" cy="3246120"/>
          </a:xfrm>
          <a:prstGeom prst="roundRect">
            <a:avLst>
              <a:gd name="adj" fmla="val 1972"/>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1" name="Shape 7"/>
          <p:cNvSpPr/>
          <p:nvPr/>
        </p:nvSpPr>
        <p:spPr>
          <a:xfrm>
            <a:off x="4617720" y="1874520"/>
            <a:ext cx="640080" cy="640080"/>
          </a:xfrm>
          <a:prstGeom prst="ellipse">
            <a:avLst/>
          </a:prstGeom>
          <a:solidFill>
            <a:srgbClr val="0E9F9E"/>
          </a:solidFill>
          <a:ln w="6350">
            <a:solidFill>
              <a:srgbClr val="0E9F9E"/>
            </a:solidFill>
            <a:prstDash val="solid"/>
          </a:ln>
        </p:spPr>
      </p:sp>
      <p:pic>
        <p:nvPicPr>
          <p:cNvPr id="12" name="Image 1" descr="FaBoxOpen">    </p:cNvPr>
          <p:cNvPicPr>
            <a:picLocks noChangeAspect="1"/>
          </p:cNvPicPr>
          <p:nvPr/>
        </p:nvPicPr>
        <p:blipFill>
          <a:blip r:embed="rId2"/>
          <a:stretch>
            <a:fillRect/>
          </a:stretch>
        </p:blipFill>
        <p:spPr>
          <a:xfrm>
            <a:off x="4790542" y="2047342"/>
            <a:ext cx="294437" cy="294437"/>
          </a:xfrm>
          <a:prstGeom prst="rect">
            <a:avLst/>
          </a:prstGeom>
        </p:spPr>
      </p:pic>
      <p:sp>
        <p:nvSpPr>
          <p:cNvPr id="13" name="Text 8"/>
          <p:cNvSpPr txBox="1"/>
          <p:nvPr/>
        </p:nvSpPr>
        <p:spPr>
          <a:xfrm>
            <a:off x="5394960" y="1874520"/>
            <a:ext cx="2377440" cy="640080"/>
          </a:xfrm>
          <a:prstGeom prst="rect">
            <a:avLst/>
          </a:prstGeom>
          <a:noFill/>
          <a:ln/>
        </p:spPr>
        <p:txBody>
          <a:bodyPr wrap="square" lIns="0" tIns="0" rIns="0" bIns="0" rtlCol="0" anchor="ctr"/>
          <a:lstStyle/>
          <a:p>
            <a:pPr indent="0" marL="0">
              <a:buNone/>
            </a:pPr>
            <a:r>
              <a:rPr lang="en-US" sz="1700" b="1" dirty="0">
                <a:solidFill>
                  <a:srgbClr val="0B2A5B"/>
                </a:solidFill>
              </a:rPr>
              <a:t>Azure Blob Storage</a:t>
            </a:r>
            <a:endParaRPr lang="en-US" sz="1700" dirty="0"/>
          </a:p>
        </p:txBody>
      </p:sp>
      <p:sp>
        <p:nvSpPr>
          <p:cNvPr id="14" name="Text 9"/>
          <p:cNvSpPr/>
          <p:nvPr/>
        </p:nvSpPr>
        <p:spPr>
          <a:xfrm>
            <a:off x="4617720" y="2743200"/>
            <a:ext cx="301752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4213D"/>
                </a:solidFill>
              </a:rPr>
              <a:t>Data tables for members, readings, plans and rules</a:t>
            </a:r>
            <a:endParaRPr lang="en-US" sz="1300" dirty="0"/>
          </a:p>
          <a:p>
            <a:pPr marL="342900" indent="-342900">
              <a:spcAft>
                <a:spcPts val="800"/>
              </a:spcAft>
              <a:buSzPct val="100000"/>
              <a:buChar char="•"/>
            </a:pPr>
            <a:r>
              <a:rPr lang="en-US" sz="1300" dirty="0">
                <a:solidFill>
                  <a:srgbClr val="14213D"/>
                </a:solidFill>
              </a:rPr>
              <a:t>Approved knowledge articles by folder</a:t>
            </a:r>
            <a:endParaRPr lang="en-US" sz="1300" dirty="0"/>
          </a:p>
          <a:p>
            <a:pPr marL="342900" indent="-342900">
              <a:spcAft>
                <a:spcPts val="800"/>
              </a:spcAft>
              <a:buSzPct val="100000"/>
              <a:buChar char="•"/>
            </a:pPr>
            <a:r>
              <a:rPr lang="en-US" sz="1300" dirty="0">
                <a:solidFill>
                  <a:srgbClr val="14213D"/>
                </a:solidFill>
              </a:rPr>
              <a:t>Change detection so only edits upload</a:t>
            </a:r>
            <a:endParaRPr lang="en-US" sz="1300" dirty="0"/>
          </a:p>
        </p:txBody>
      </p:sp>
      <p:sp>
        <p:nvSpPr>
          <p:cNvPr id="15" name="Shape 10"/>
          <p:cNvSpPr/>
          <p:nvPr/>
        </p:nvSpPr>
        <p:spPr>
          <a:xfrm>
            <a:off x="8046720" y="1691640"/>
            <a:ext cx="3502152" cy="3246120"/>
          </a:xfrm>
          <a:prstGeom prst="roundRect">
            <a:avLst>
              <a:gd name="adj" fmla="val 1972"/>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6" name="Shape 11"/>
          <p:cNvSpPr/>
          <p:nvPr/>
        </p:nvSpPr>
        <p:spPr>
          <a:xfrm>
            <a:off x="8321040" y="1874520"/>
            <a:ext cx="640080" cy="640080"/>
          </a:xfrm>
          <a:prstGeom prst="ellipse">
            <a:avLst/>
          </a:prstGeom>
          <a:solidFill>
            <a:srgbClr val="0B2A5B"/>
          </a:solidFill>
          <a:ln w="6350">
            <a:solidFill>
              <a:srgbClr val="0B2A5B"/>
            </a:solidFill>
            <a:prstDash val="solid"/>
          </a:ln>
        </p:spPr>
      </p:sp>
      <p:pic>
        <p:nvPicPr>
          <p:cNvPr id="17" name="Image 2" descr="FaSearch">    </p:cNvPr>
          <p:cNvPicPr>
            <a:picLocks noChangeAspect="1"/>
          </p:cNvPicPr>
          <p:nvPr/>
        </p:nvPicPr>
        <p:blipFill>
          <a:blip r:embed="rId3"/>
          <a:stretch>
            <a:fillRect/>
          </a:stretch>
        </p:blipFill>
        <p:spPr>
          <a:xfrm>
            <a:off x="8493862" y="2047342"/>
            <a:ext cx="294437" cy="294437"/>
          </a:xfrm>
          <a:prstGeom prst="rect">
            <a:avLst/>
          </a:prstGeom>
        </p:spPr>
      </p:pic>
      <p:sp>
        <p:nvSpPr>
          <p:cNvPr id="18" name="Text 12"/>
          <p:cNvSpPr txBox="1"/>
          <p:nvPr/>
        </p:nvSpPr>
        <p:spPr>
          <a:xfrm>
            <a:off x="9098280" y="1874520"/>
            <a:ext cx="2377440" cy="640080"/>
          </a:xfrm>
          <a:prstGeom prst="rect">
            <a:avLst/>
          </a:prstGeom>
          <a:noFill/>
          <a:ln/>
        </p:spPr>
        <p:txBody>
          <a:bodyPr wrap="square" lIns="0" tIns="0" rIns="0" bIns="0" rtlCol="0" anchor="ctr"/>
          <a:lstStyle/>
          <a:p>
            <a:pPr indent="0" marL="0">
              <a:buNone/>
            </a:pPr>
            <a:r>
              <a:rPr lang="en-US" sz="1700" b="1" dirty="0">
                <a:solidFill>
                  <a:srgbClr val="0B2A5B"/>
                </a:solidFill>
              </a:rPr>
              <a:t>Azure AI Search</a:t>
            </a:r>
            <a:endParaRPr lang="en-US" sz="1700" dirty="0"/>
          </a:p>
        </p:txBody>
      </p:sp>
      <p:sp>
        <p:nvSpPr>
          <p:cNvPr id="19" name="Text 13"/>
          <p:cNvSpPr/>
          <p:nvPr/>
        </p:nvSpPr>
        <p:spPr>
          <a:xfrm>
            <a:off x="8321040" y="2743200"/>
            <a:ext cx="301752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4213D"/>
                </a:solidFill>
              </a:rPr>
              <a:t>Education index and care-plan guidance index</a:t>
            </a:r>
            <a:endParaRPr lang="en-US" sz="1300" dirty="0"/>
          </a:p>
          <a:p>
            <a:pPr marL="342900" indent="-342900">
              <a:spcAft>
                <a:spcPts val="800"/>
              </a:spcAft>
              <a:buSzPct val="100000"/>
              <a:buChar char="•"/>
            </a:pPr>
            <a:r>
              <a:rPr lang="en-US" sz="1300" dirty="0">
                <a:solidFill>
                  <a:srgbClr val="14213D"/>
                </a:solidFill>
              </a:rPr>
              <a:t>Vector and semantic hybrid query</a:t>
            </a:r>
            <a:endParaRPr lang="en-US" sz="1300" dirty="0"/>
          </a:p>
          <a:p>
            <a:pPr marL="342900" indent="-342900">
              <a:spcAft>
                <a:spcPts val="800"/>
              </a:spcAft>
              <a:buSzPct val="100000"/>
              <a:buChar char="•"/>
            </a:pPr>
            <a:r>
              <a:rPr lang="en-US" sz="1300" dirty="0">
                <a:solidFill>
                  <a:srgbClr val="14213D"/>
                </a:solidFill>
              </a:rPr>
              <a:t>Rebuilt from approved content on sync</a:t>
            </a:r>
            <a:endParaRPr lang="en-US" sz="1300" dirty="0"/>
          </a:p>
        </p:txBody>
      </p:sp>
      <p:sp>
        <p:nvSpPr>
          <p:cNvPr id="20" name="Shape 14"/>
          <p:cNvSpPr/>
          <p:nvPr/>
        </p:nvSpPr>
        <p:spPr>
          <a:xfrm>
            <a:off x="640080" y="5212080"/>
            <a:ext cx="10908792" cy="914400"/>
          </a:xfrm>
          <a:prstGeom prst="roundRect">
            <a:avLst>
              <a:gd name="adj" fmla="val 7000"/>
            </a:avLst>
          </a:prstGeom>
          <a:solidFill>
            <a:srgbClr val="E7EFFB"/>
          </a:solidFill>
          <a:ln w="12700">
            <a:solidFill>
              <a:srgbClr val="2563EB"/>
            </a:solidFill>
            <a:prstDash val="solid"/>
          </a:ln>
          <a:effectLst>
            <a:outerShdw sx="100000" sy="100000" kx="0" ky="0" algn="bl" rotWithShape="0" blurRad="101600" dist="25400" dir="5400000">
              <a:srgbClr val="1B2A4A">
                <a:alpha val="10000"/>
              </a:srgbClr>
            </a:outerShdw>
          </a:effectLst>
        </p:spPr>
      </p:sp>
      <p:sp>
        <p:nvSpPr>
          <p:cNvPr id="21" name="Text 15"/>
          <p:cNvSpPr txBox="1"/>
          <p:nvPr/>
        </p:nvSpPr>
        <p:spPr>
          <a:xfrm>
            <a:off x="914400" y="5285232"/>
            <a:ext cx="3657600" cy="274320"/>
          </a:xfrm>
          <a:prstGeom prst="rect">
            <a:avLst/>
          </a:prstGeom>
          <a:noFill/>
          <a:ln/>
        </p:spPr>
        <p:txBody>
          <a:bodyPr wrap="square" lIns="0" tIns="0" rIns="0" bIns="0" rtlCol="0" anchor="t"/>
          <a:lstStyle/>
          <a:p>
            <a:pPr indent="0" marL="0">
              <a:buNone/>
            </a:pPr>
            <a:r>
              <a:rPr lang="en-US" sz="1300" b="1" dirty="0">
                <a:solidFill>
                  <a:srgbClr val="0B2A5B"/>
                </a:solidFill>
              </a:rPr>
              <a:t>Security and configuration</a:t>
            </a:r>
            <a:endParaRPr lang="en-US" sz="1300" dirty="0"/>
          </a:p>
        </p:txBody>
      </p:sp>
      <p:sp>
        <p:nvSpPr>
          <p:cNvPr id="22" name="Text 16"/>
          <p:cNvSpPr txBox="1"/>
          <p:nvPr/>
        </p:nvSpPr>
        <p:spPr>
          <a:xfrm>
            <a:off x="914400" y="5577840"/>
            <a:ext cx="10424160" cy="457200"/>
          </a:xfrm>
          <a:prstGeom prst="rect">
            <a:avLst/>
          </a:prstGeom>
          <a:noFill/>
          <a:ln/>
        </p:spPr>
        <p:txBody>
          <a:bodyPr wrap="square" lIns="0" tIns="0" rIns="0" bIns="0" rtlCol="0" anchor="t"/>
          <a:lstStyle/>
          <a:p>
            <a:pPr indent="0" marL="0">
              <a:buNone/>
            </a:pPr>
            <a:r>
              <a:rPr lang="en-US" sz="1200" dirty="0">
                <a:solidFill>
                  <a:srgbClr val="14213D"/>
                </a:solidFill>
              </a:rPr>
              <a:t>Azure identity with role-based access to Foundry  |  Settings in environment variables, not in code  |  Secrets kept out of source control  |  Same code moves between environments</a:t>
            </a:r>
            <a:endParaRPr lang="en-US" sz="12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DATA AND GOVERNANCE</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Synthetic data, sized to make the tests realistic</a:t>
            </a:r>
            <a:endParaRPr lang="en-US" sz="2800" dirty="0"/>
          </a:p>
        </p:txBody>
      </p:sp>
      <p:sp>
        <p:nvSpPr>
          <p:cNvPr id="5" name="Shape 2"/>
          <p:cNvSpPr/>
          <p:nvPr/>
        </p:nvSpPr>
        <p:spPr>
          <a:xfrm>
            <a:off x="640080" y="1737360"/>
            <a:ext cx="1965960" cy="1371600"/>
          </a:xfrm>
          <a:prstGeom prst="roundRect">
            <a:avLst>
              <a:gd name="adj" fmla="val 4667"/>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6" name="Text 3"/>
          <p:cNvSpPr txBox="1"/>
          <p:nvPr/>
        </p:nvSpPr>
        <p:spPr>
          <a:xfrm>
            <a:off x="640080" y="1874520"/>
            <a:ext cx="1965960" cy="640080"/>
          </a:xfrm>
          <a:prstGeom prst="rect">
            <a:avLst/>
          </a:prstGeom>
          <a:noFill/>
          <a:ln/>
        </p:spPr>
        <p:txBody>
          <a:bodyPr wrap="square" lIns="0" tIns="0" rIns="0" bIns="0" rtlCol="0" anchor="t"/>
          <a:lstStyle/>
          <a:p>
            <a:pPr algn="ctr" indent="0" marL="0">
              <a:buNone/>
            </a:pPr>
            <a:r>
              <a:rPr lang="en-US" sz="3200" b="1" dirty="0">
                <a:solidFill>
                  <a:srgbClr val="2563EB"/>
                </a:solidFill>
              </a:rPr>
              <a:t>250</a:t>
            </a:r>
            <a:endParaRPr lang="en-US" sz="3200" dirty="0"/>
          </a:p>
        </p:txBody>
      </p:sp>
      <p:sp>
        <p:nvSpPr>
          <p:cNvPr id="7" name="Text 4"/>
          <p:cNvSpPr txBox="1"/>
          <p:nvPr/>
        </p:nvSpPr>
        <p:spPr>
          <a:xfrm>
            <a:off x="640080" y="2560320"/>
            <a:ext cx="1965960" cy="365760"/>
          </a:xfrm>
          <a:prstGeom prst="rect">
            <a:avLst/>
          </a:prstGeom>
          <a:noFill/>
          <a:ln/>
        </p:spPr>
        <p:txBody>
          <a:bodyPr wrap="square" lIns="0" tIns="0" rIns="0" bIns="0" rtlCol="0" anchor="t"/>
          <a:lstStyle/>
          <a:p>
            <a:pPr algn="ctr" indent="0" marL="0">
              <a:buNone/>
            </a:pPr>
            <a:r>
              <a:rPr lang="en-US" sz="1300" dirty="0">
                <a:solidFill>
                  <a:srgbClr val="5B6B85"/>
                </a:solidFill>
              </a:rPr>
              <a:t>members</a:t>
            </a:r>
            <a:endParaRPr lang="en-US" sz="1300" dirty="0"/>
          </a:p>
        </p:txBody>
      </p:sp>
      <p:sp>
        <p:nvSpPr>
          <p:cNvPr id="8" name="Shape 5"/>
          <p:cNvSpPr/>
          <p:nvPr/>
        </p:nvSpPr>
        <p:spPr>
          <a:xfrm>
            <a:off x="2834640" y="1737360"/>
            <a:ext cx="1965960" cy="1371600"/>
          </a:xfrm>
          <a:prstGeom prst="roundRect">
            <a:avLst>
              <a:gd name="adj" fmla="val 4667"/>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9" name="Text 6"/>
          <p:cNvSpPr txBox="1"/>
          <p:nvPr/>
        </p:nvSpPr>
        <p:spPr>
          <a:xfrm>
            <a:off x="2834640" y="1874520"/>
            <a:ext cx="1965960" cy="640080"/>
          </a:xfrm>
          <a:prstGeom prst="rect">
            <a:avLst/>
          </a:prstGeom>
          <a:noFill/>
          <a:ln/>
        </p:spPr>
        <p:txBody>
          <a:bodyPr wrap="square" lIns="0" tIns="0" rIns="0" bIns="0" rtlCol="0" anchor="t"/>
          <a:lstStyle/>
          <a:p>
            <a:pPr algn="ctr" indent="0" marL="0">
              <a:buNone/>
            </a:pPr>
            <a:r>
              <a:rPr lang="en-US" sz="3200" b="1" dirty="0">
                <a:solidFill>
                  <a:srgbClr val="2563EB"/>
                </a:solidFill>
              </a:rPr>
              <a:t>5,500+</a:t>
            </a:r>
            <a:endParaRPr lang="en-US" sz="3200" dirty="0"/>
          </a:p>
        </p:txBody>
      </p:sp>
      <p:sp>
        <p:nvSpPr>
          <p:cNvPr id="10" name="Text 7"/>
          <p:cNvSpPr txBox="1"/>
          <p:nvPr/>
        </p:nvSpPr>
        <p:spPr>
          <a:xfrm>
            <a:off x="2834640" y="2560320"/>
            <a:ext cx="1965960" cy="365760"/>
          </a:xfrm>
          <a:prstGeom prst="rect">
            <a:avLst/>
          </a:prstGeom>
          <a:noFill/>
          <a:ln/>
        </p:spPr>
        <p:txBody>
          <a:bodyPr wrap="square" lIns="0" tIns="0" rIns="0" bIns="0" rtlCol="0" anchor="t"/>
          <a:lstStyle/>
          <a:p>
            <a:pPr algn="ctr" indent="0" marL="0">
              <a:buNone/>
            </a:pPr>
            <a:r>
              <a:rPr lang="en-US" sz="1300" dirty="0">
                <a:solidFill>
                  <a:srgbClr val="5B6B85"/>
                </a:solidFill>
              </a:rPr>
              <a:t>readings</a:t>
            </a:r>
            <a:endParaRPr lang="en-US" sz="1300" dirty="0"/>
          </a:p>
        </p:txBody>
      </p:sp>
      <p:sp>
        <p:nvSpPr>
          <p:cNvPr id="11" name="Shape 8"/>
          <p:cNvSpPr/>
          <p:nvPr/>
        </p:nvSpPr>
        <p:spPr>
          <a:xfrm>
            <a:off x="5029200" y="1737360"/>
            <a:ext cx="1965960" cy="1371600"/>
          </a:xfrm>
          <a:prstGeom prst="roundRect">
            <a:avLst>
              <a:gd name="adj" fmla="val 4667"/>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2" name="Text 9"/>
          <p:cNvSpPr txBox="1"/>
          <p:nvPr/>
        </p:nvSpPr>
        <p:spPr>
          <a:xfrm>
            <a:off x="5029200" y="1874520"/>
            <a:ext cx="1965960" cy="640080"/>
          </a:xfrm>
          <a:prstGeom prst="rect">
            <a:avLst/>
          </a:prstGeom>
          <a:noFill/>
          <a:ln/>
        </p:spPr>
        <p:txBody>
          <a:bodyPr wrap="square" lIns="0" tIns="0" rIns="0" bIns="0" rtlCol="0" anchor="t"/>
          <a:lstStyle/>
          <a:p>
            <a:pPr algn="ctr" indent="0" marL="0">
              <a:buNone/>
            </a:pPr>
            <a:r>
              <a:rPr lang="en-US" sz="3200" b="1" dirty="0">
                <a:solidFill>
                  <a:srgbClr val="2563EB"/>
                </a:solidFill>
              </a:rPr>
              <a:t>650</a:t>
            </a:r>
            <a:endParaRPr lang="en-US" sz="3200" dirty="0"/>
          </a:p>
        </p:txBody>
      </p:sp>
      <p:sp>
        <p:nvSpPr>
          <p:cNvPr id="13" name="Text 10"/>
          <p:cNvSpPr txBox="1"/>
          <p:nvPr/>
        </p:nvSpPr>
        <p:spPr>
          <a:xfrm>
            <a:off x="5029200" y="2560320"/>
            <a:ext cx="1965960" cy="365760"/>
          </a:xfrm>
          <a:prstGeom prst="rect">
            <a:avLst/>
          </a:prstGeom>
          <a:noFill/>
          <a:ln/>
        </p:spPr>
        <p:txBody>
          <a:bodyPr wrap="square" lIns="0" tIns="0" rIns="0" bIns="0" rtlCol="0" anchor="t"/>
          <a:lstStyle/>
          <a:p>
            <a:pPr algn="ctr" indent="0" marL="0">
              <a:buNone/>
            </a:pPr>
            <a:r>
              <a:rPr lang="en-US" sz="1300" dirty="0">
                <a:solidFill>
                  <a:srgbClr val="5B6B85"/>
                </a:solidFill>
              </a:rPr>
              <a:t>care-plan tasks</a:t>
            </a:r>
            <a:endParaRPr lang="en-US" sz="1300" dirty="0"/>
          </a:p>
        </p:txBody>
      </p:sp>
      <p:sp>
        <p:nvSpPr>
          <p:cNvPr id="14" name="Shape 11"/>
          <p:cNvSpPr/>
          <p:nvPr/>
        </p:nvSpPr>
        <p:spPr>
          <a:xfrm>
            <a:off x="7223760" y="1737360"/>
            <a:ext cx="1965960" cy="1371600"/>
          </a:xfrm>
          <a:prstGeom prst="roundRect">
            <a:avLst>
              <a:gd name="adj" fmla="val 4667"/>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5" name="Text 12"/>
          <p:cNvSpPr txBox="1"/>
          <p:nvPr/>
        </p:nvSpPr>
        <p:spPr>
          <a:xfrm>
            <a:off x="7223760" y="1874520"/>
            <a:ext cx="1965960" cy="640080"/>
          </a:xfrm>
          <a:prstGeom prst="rect">
            <a:avLst/>
          </a:prstGeom>
          <a:noFill/>
          <a:ln/>
        </p:spPr>
        <p:txBody>
          <a:bodyPr wrap="square" lIns="0" tIns="0" rIns="0" bIns="0" rtlCol="0" anchor="t"/>
          <a:lstStyle/>
          <a:p>
            <a:pPr algn="ctr" indent="0" marL="0">
              <a:buNone/>
            </a:pPr>
            <a:r>
              <a:rPr lang="en-US" sz="3200" b="1" dirty="0">
                <a:solidFill>
                  <a:srgbClr val="2563EB"/>
                </a:solidFill>
              </a:rPr>
              <a:t>110</a:t>
            </a:r>
            <a:endParaRPr lang="en-US" sz="3200" dirty="0"/>
          </a:p>
        </p:txBody>
      </p:sp>
      <p:sp>
        <p:nvSpPr>
          <p:cNvPr id="16" name="Text 13"/>
          <p:cNvSpPr txBox="1"/>
          <p:nvPr/>
        </p:nvSpPr>
        <p:spPr>
          <a:xfrm>
            <a:off x="7223760" y="2560320"/>
            <a:ext cx="1965960" cy="365760"/>
          </a:xfrm>
          <a:prstGeom prst="rect">
            <a:avLst/>
          </a:prstGeom>
          <a:noFill/>
          <a:ln/>
        </p:spPr>
        <p:txBody>
          <a:bodyPr wrap="square" lIns="0" tIns="0" rIns="0" bIns="0" rtlCol="0" anchor="t"/>
          <a:lstStyle/>
          <a:p>
            <a:pPr algn="ctr" indent="0" marL="0">
              <a:buNone/>
            </a:pPr>
            <a:r>
              <a:rPr lang="en-US" sz="1300" dirty="0">
                <a:solidFill>
                  <a:srgbClr val="5B6B85"/>
                </a:solidFill>
              </a:rPr>
              <a:t>knowledge articles</a:t>
            </a:r>
            <a:endParaRPr lang="en-US" sz="1300" dirty="0"/>
          </a:p>
        </p:txBody>
      </p:sp>
      <p:sp>
        <p:nvSpPr>
          <p:cNvPr id="17" name="Shape 14"/>
          <p:cNvSpPr/>
          <p:nvPr/>
        </p:nvSpPr>
        <p:spPr>
          <a:xfrm>
            <a:off x="9418320" y="1737360"/>
            <a:ext cx="1965960" cy="1371600"/>
          </a:xfrm>
          <a:prstGeom prst="roundRect">
            <a:avLst>
              <a:gd name="adj" fmla="val 4667"/>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8" name="Text 15"/>
          <p:cNvSpPr txBox="1"/>
          <p:nvPr/>
        </p:nvSpPr>
        <p:spPr>
          <a:xfrm>
            <a:off x="9418320" y="1874520"/>
            <a:ext cx="1965960" cy="640080"/>
          </a:xfrm>
          <a:prstGeom prst="rect">
            <a:avLst/>
          </a:prstGeom>
          <a:noFill/>
          <a:ln/>
        </p:spPr>
        <p:txBody>
          <a:bodyPr wrap="square" lIns="0" tIns="0" rIns="0" bIns="0" rtlCol="0" anchor="t"/>
          <a:lstStyle/>
          <a:p>
            <a:pPr algn="ctr" indent="0" marL="0">
              <a:buNone/>
            </a:pPr>
            <a:r>
              <a:rPr lang="en-US" sz="3200" b="1" dirty="0">
                <a:solidFill>
                  <a:srgbClr val="2563EB"/>
                </a:solidFill>
              </a:rPr>
              <a:t>100+</a:t>
            </a:r>
            <a:endParaRPr lang="en-US" sz="3200" dirty="0"/>
          </a:p>
        </p:txBody>
      </p:sp>
      <p:sp>
        <p:nvSpPr>
          <p:cNvPr id="19" name="Text 16"/>
          <p:cNvSpPr txBox="1"/>
          <p:nvPr/>
        </p:nvSpPr>
        <p:spPr>
          <a:xfrm>
            <a:off x="9418320" y="2560320"/>
            <a:ext cx="1965960" cy="365760"/>
          </a:xfrm>
          <a:prstGeom prst="rect">
            <a:avLst/>
          </a:prstGeom>
          <a:noFill/>
          <a:ln/>
        </p:spPr>
        <p:txBody>
          <a:bodyPr wrap="square" lIns="0" tIns="0" rIns="0" bIns="0" rtlCol="0" anchor="t"/>
          <a:lstStyle/>
          <a:p>
            <a:pPr algn="ctr" indent="0" marL="0">
              <a:buNone/>
            </a:pPr>
            <a:r>
              <a:rPr lang="en-US" sz="1300" dirty="0">
                <a:solidFill>
                  <a:srgbClr val="5B6B85"/>
                </a:solidFill>
              </a:rPr>
              <a:t>rows in each rule table</a:t>
            </a:r>
            <a:endParaRPr lang="en-US" sz="1300" dirty="0"/>
          </a:p>
        </p:txBody>
      </p:sp>
      <p:sp>
        <p:nvSpPr>
          <p:cNvPr id="20" name="Shape 17"/>
          <p:cNvSpPr/>
          <p:nvPr/>
        </p:nvSpPr>
        <p:spPr>
          <a:xfrm>
            <a:off x="640080" y="3474720"/>
            <a:ext cx="5376672" cy="1143000"/>
          </a:xfrm>
          <a:prstGeom prst="roundRect">
            <a:avLst>
              <a:gd name="adj" fmla="val 56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21" name="Shape 18"/>
          <p:cNvSpPr/>
          <p:nvPr/>
        </p:nvSpPr>
        <p:spPr>
          <a:xfrm>
            <a:off x="868680" y="3749040"/>
            <a:ext cx="594360" cy="594360"/>
          </a:xfrm>
          <a:prstGeom prst="ellipse">
            <a:avLst/>
          </a:prstGeom>
          <a:solidFill>
            <a:srgbClr val="0E9F9E"/>
          </a:solidFill>
          <a:ln w="6350">
            <a:solidFill>
              <a:srgbClr val="0E9F9E"/>
            </a:solidFill>
            <a:prstDash val="solid"/>
          </a:ln>
        </p:spPr>
      </p:sp>
      <p:pic>
        <p:nvPicPr>
          <p:cNvPr id="22" name="Image 0" descr="FaBalanceScale">    </p:cNvPr>
          <p:cNvPicPr>
            <a:picLocks noChangeAspect="1"/>
          </p:cNvPicPr>
          <p:nvPr/>
        </p:nvPicPr>
        <p:blipFill>
          <a:blip r:embed="rId1"/>
          <a:stretch>
            <a:fillRect/>
          </a:stretch>
        </p:blipFill>
        <p:spPr>
          <a:xfrm>
            <a:off x="1029157" y="3909517"/>
            <a:ext cx="273406" cy="273406"/>
          </a:xfrm>
          <a:prstGeom prst="rect">
            <a:avLst/>
          </a:prstGeom>
        </p:spPr>
      </p:pic>
      <p:sp>
        <p:nvSpPr>
          <p:cNvPr id="23" name="Text 19"/>
          <p:cNvSpPr txBox="1"/>
          <p:nvPr/>
        </p:nvSpPr>
        <p:spPr>
          <a:xfrm>
            <a:off x="1691640" y="3474720"/>
            <a:ext cx="4114800" cy="1143000"/>
          </a:xfrm>
          <a:prstGeom prst="rect">
            <a:avLst/>
          </a:prstGeom>
          <a:noFill/>
          <a:ln/>
        </p:spPr>
        <p:txBody>
          <a:bodyPr wrap="square" lIns="0" tIns="0" rIns="0" bIns="0" rtlCol="0" anchor="ctr"/>
          <a:lstStyle/>
          <a:p>
            <a:pPr indent="0" marL="0">
              <a:buNone/>
            </a:pPr>
            <a:r>
              <a:rPr lang="en-US" sz="1400" dirty="0">
                <a:solidFill>
                  <a:srgbClr val="14213D"/>
                </a:solidFill>
              </a:rPr>
              <a:t>Bigger tables add realism and test coverage, not model accuracy</a:t>
            </a:r>
            <a:endParaRPr lang="en-US" sz="1400" dirty="0"/>
          </a:p>
        </p:txBody>
      </p:sp>
      <p:sp>
        <p:nvSpPr>
          <p:cNvPr id="24" name="Shape 20"/>
          <p:cNvSpPr/>
          <p:nvPr/>
        </p:nvSpPr>
        <p:spPr>
          <a:xfrm>
            <a:off x="6172200" y="3474720"/>
            <a:ext cx="5376672" cy="1143000"/>
          </a:xfrm>
          <a:prstGeom prst="roundRect">
            <a:avLst>
              <a:gd name="adj" fmla="val 56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25" name="Shape 21"/>
          <p:cNvSpPr/>
          <p:nvPr/>
        </p:nvSpPr>
        <p:spPr>
          <a:xfrm>
            <a:off x="6400800" y="3749040"/>
            <a:ext cx="594360" cy="594360"/>
          </a:xfrm>
          <a:prstGeom prst="ellipse">
            <a:avLst/>
          </a:prstGeom>
          <a:solidFill>
            <a:srgbClr val="2563EB"/>
          </a:solidFill>
          <a:ln w="6350">
            <a:solidFill>
              <a:srgbClr val="2563EB"/>
            </a:solidFill>
            <a:prstDash val="solid"/>
          </a:ln>
        </p:spPr>
      </p:sp>
      <p:pic>
        <p:nvPicPr>
          <p:cNvPr id="26" name="Image 1" descr="FaSlidersH">    </p:cNvPr>
          <p:cNvPicPr>
            <a:picLocks noChangeAspect="1"/>
          </p:cNvPicPr>
          <p:nvPr/>
        </p:nvPicPr>
        <p:blipFill>
          <a:blip r:embed="rId2"/>
          <a:stretch>
            <a:fillRect/>
          </a:stretch>
        </p:blipFill>
        <p:spPr>
          <a:xfrm>
            <a:off x="6561277" y="3909517"/>
            <a:ext cx="273406" cy="273406"/>
          </a:xfrm>
          <a:prstGeom prst="rect">
            <a:avLst/>
          </a:prstGeom>
        </p:spPr>
      </p:pic>
      <p:sp>
        <p:nvSpPr>
          <p:cNvPr id="27" name="Text 22"/>
          <p:cNvSpPr txBox="1"/>
          <p:nvPr/>
        </p:nvSpPr>
        <p:spPr>
          <a:xfrm>
            <a:off x="7223760" y="3474720"/>
            <a:ext cx="4114800" cy="1143000"/>
          </a:xfrm>
          <a:prstGeom prst="rect">
            <a:avLst/>
          </a:prstGeom>
          <a:noFill/>
          <a:ln/>
        </p:spPr>
        <p:txBody>
          <a:bodyPr wrap="square" lIns="0" tIns="0" rIns="0" bIns="0" rtlCol="0" anchor="ctr"/>
          <a:lstStyle/>
          <a:p>
            <a:pPr indent="0" marL="0">
              <a:buNone/>
            </a:pPr>
            <a:r>
              <a:rPr lang="en-US" sz="1400" dirty="0">
                <a:solidFill>
                  <a:srgbClr val="14213D"/>
                </a:solidFill>
              </a:rPr>
              <a:t>Staff edit rule values and word lists; rule logic stays fixed in code</a:t>
            </a:r>
            <a:endParaRPr lang="en-US" sz="1400" dirty="0"/>
          </a:p>
        </p:txBody>
      </p:sp>
      <p:sp>
        <p:nvSpPr>
          <p:cNvPr id="28" name="Shape 23"/>
          <p:cNvSpPr/>
          <p:nvPr/>
        </p:nvSpPr>
        <p:spPr>
          <a:xfrm>
            <a:off x="640080" y="4800600"/>
            <a:ext cx="5376672" cy="1143000"/>
          </a:xfrm>
          <a:prstGeom prst="roundRect">
            <a:avLst>
              <a:gd name="adj" fmla="val 56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29" name="Shape 24"/>
          <p:cNvSpPr/>
          <p:nvPr/>
        </p:nvSpPr>
        <p:spPr>
          <a:xfrm>
            <a:off x="868680" y="5074920"/>
            <a:ext cx="594360" cy="594360"/>
          </a:xfrm>
          <a:prstGeom prst="ellipse">
            <a:avLst/>
          </a:prstGeom>
          <a:solidFill>
            <a:srgbClr val="0B2A5B"/>
          </a:solidFill>
          <a:ln w="6350">
            <a:solidFill>
              <a:srgbClr val="0B2A5B"/>
            </a:solidFill>
            <a:prstDash val="solid"/>
          </a:ln>
        </p:spPr>
      </p:sp>
      <p:pic>
        <p:nvPicPr>
          <p:cNvPr id="30" name="Image 2" descr="FaUserSecret">    </p:cNvPr>
          <p:cNvPicPr>
            <a:picLocks noChangeAspect="1"/>
          </p:cNvPicPr>
          <p:nvPr/>
        </p:nvPicPr>
        <p:blipFill>
          <a:blip r:embed="rId3"/>
          <a:stretch>
            <a:fillRect/>
          </a:stretch>
        </p:blipFill>
        <p:spPr>
          <a:xfrm>
            <a:off x="1029157" y="5235397"/>
            <a:ext cx="273406" cy="273406"/>
          </a:xfrm>
          <a:prstGeom prst="rect">
            <a:avLst/>
          </a:prstGeom>
        </p:spPr>
      </p:pic>
      <p:sp>
        <p:nvSpPr>
          <p:cNvPr id="31" name="Text 25"/>
          <p:cNvSpPr txBox="1"/>
          <p:nvPr/>
        </p:nvSpPr>
        <p:spPr>
          <a:xfrm>
            <a:off x="1691640" y="4800600"/>
            <a:ext cx="4114800" cy="1143000"/>
          </a:xfrm>
          <a:prstGeom prst="rect">
            <a:avLst/>
          </a:prstGeom>
          <a:noFill/>
          <a:ln/>
        </p:spPr>
        <p:txBody>
          <a:bodyPr wrap="square" lIns="0" tIns="0" rIns="0" bIns="0" rtlCol="0" anchor="ctr"/>
          <a:lstStyle/>
          <a:p>
            <a:pPr indent="0" marL="0">
              <a:buNone/>
            </a:pPr>
            <a:r>
              <a:rPr lang="en-US" sz="1400" dirty="0">
                <a:solidFill>
                  <a:srgbClr val="14213D"/>
                </a:solidFill>
              </a:rPr>
              <a:t>Uploads are checked for format and obvious personal-data patterns</a:t>
            </a:r>
            <a:endParaRPr lang="en-US" sz="1400" dirty="0"/>
          </a:p>
        </p:txBody>
      </p:sp>
      <p:sp>
        <p:nvSpPr>
          <p:cNvPr id="32" name="Shape 26"/>
          <p:cNvSpPr/>
          <p:nvPr/>
        </p:nvSpPr>
        <p:spPr>
          <a:xfrm>
            <a:off x="6172200" y="4800600"/>
            <a:ext cx="5376672" cy="1143000"/>
          </a:xfrm>
          <a:prstGeom prst="roundRect">
            <a:avLst>
              <a:gd name="adj" fmla="val 56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33" name="Shape 27"/>
          <p:cNvSpPr/>
          <p:nvPr/>
        </p:nvSpPr>
        <p:spPr>
          <a:xfrm>
            <a:off x="6400800" y="5074920"/>
            <a:ext cx="594360" cy="594360"/>
          </a:xfrm>
          <a:prstGeom prst="ellipse">
            <a:avLst/>
          </a:prstGeom>
          <a:solidFill>
            <a:srgbClr val="F59E0B"/>
          </a:solidFill>
          <a:ln w="6350">
            <a:solidFill>
              <a:srgbClr val="F59E0B"/>
            </a:solidFill>
            <a:prstDash val="solid"/>
          </a:ln>
        </p:spPr>
      </p:sp>
      <p:pic>
        <p:nvPicPr>
          <p:cNvPr id="34" name="Image 3" descr="FaHistory">    </p:cNvPr>
          <p:cNvPicPr>
            <a:picLocks noChangeAspect="1"/>
          </p:cNvPicPr>
          <p:nvPr/>
        </p:nvPicPr>
        <p:blipFill>
          <a:blip r:embed="rId4"/>
          <a:stretch>
            <a:fillRect/>
          </a:stretch>
        </p:blipFill>
        <p:spPr>
          <a:xfrm>
            <a:off x="6561277" y="5235397"/>
            <a:ext cx="273406" cy="273406"/>
          </a:xfrm>
          <a:prstGeom prst="rect">
            <a:avLst/>
          </a:prstGeom>
        </p:spPr>
      </p:pic>
      <p:sp>
        <p:nvSpPr>
          <p:cNvPr id="35" name="Text 28"/>
          <p:cNvSpPr txBox="1"/>
          <p:nvPr/>
        </p:nvSpPr>
        <p:spPr>
          <a:xfrm>
            <a:off x="7223760" y="4800600"/>
            <a:ext cx="4114800" cy="1143000"/>
          </a:xfrm>
          <a:prstGeom prst="rect">
            <a:avLst/>
          </a:prstGeom>
          <a:noFill/>
          <a:ln/>
        </p:spPr>
        <p:txBody>
          <a:bodyPr wrap="square" lIns="0" tIns="0" rIns="0" bIns="0" rtlCol="0" anchor="ctr"/>
          <a:lstStyle/>
          <a:p>
            <a:pPr indent="0" marL="0">
              <a:buNone/>
            </a:pPr>
            <a:r>
              <a:rPr lang="en-US" sz="1400" dirty="0">
                <a:solidFill>
                  <a:srgbClr val="14213D"/>
                </a:solidFill>
              </a:rPr>
              <a:t>Every action is written to an audit log; question text is not stored</a:t>
            </a:r>
            <a:endParaRPr lang="en-US" sz="14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VALIDATION</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14 of 14 scenarios passed against the live Azure deployment</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5349240" cy="914400"/>
        </p:xfrm>
        <a:graphic>
          <a:graphicData uri="http://schemas.openxmlformats.org/drawingml/2006/table">
            <a:tbl>
              <a:tblPr/>
              <a:tblGrid>
                <a:gridCol w="640080"/>
                <a:gridCol w="3840480"/>
                <a:gridCol w="868680"/>
              </a:tblGrid>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Scenario</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Result</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T1</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Active member asks for approved education</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T2</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Consent is expired</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T3</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User requests a medication change</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T4</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Reading triggers the supplied rule</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T5</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Seven-day period has missing readings</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T6</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No matching article exists</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T7</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Reading correction supersedes an earlier value</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199632" y="1691640"/>
          <a:ext cx="5349240" cy="914400"/>
        </p:xfrm>
        <a:graphic>
          <a:graphicData uri="http://schemas.openxmlformats.org/drawingml/2006/table">
            <a:tbl>
              <a:tblPr/>
              <a:tblGrid>
                <a:gridCol w="640080"/>
                <a:gridCol w="3840480"/>
                <a:gridCol w="868680"/>
              </a:tblGrid>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Scenario</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Result</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0B2A5B"/>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T8</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Contradictory readings</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T9</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Care-plan reminder in the member's channel</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T10</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Tool failure gives a recoverable message</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T11</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Request for clinical interpretation</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T12</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Prompt-injection attempt</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T13</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Article exists for a different program</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213D"/>
                          </a:solidFill>
                          <a:latin typeface="Arial" pitchFamily="34" charset="0"/>
                          <a:ea typeface="Arial" pitchFamily="34" charset="-122"/>
                          <a:cs typeface="Arial" pitchFamily="34" charset="-120"/>
                        </a:rPr>
                        <a:t>T14</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Arial" pitchFamily="34" charset="0"/>
                          <a:ea typeface="Arial" pitchFamily="34" charset="-122"/>
                          <a:cs typeface="Arial" pitchFamily="34" charset="-120"/>
                        </a:rPr>
                        <a:t>Greeting with no request</a:t>
                      </a:r>
                      <a:endParaRPr lang="en-US" sz="11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Arial" pitchFamily="34" charset="0"/>
                          <a:ea typeface="Arial" pitchFamily="34" charset="-122"/>
                          <a:cs typeface="Arial" pitchFamily="34" charset="-120"/>
                        </a:rPr>
                        <a:t>PASS</a:t>
                      </a:r>
                      <a:endParaRPr lang="en-US" sz="1200" dirty="0">
                        <a:latin typeface="Arial" charset="0"/>
                        <a:ea typeface="Arial" charset="0"/>
                        <a:cs typeface="Arial" charset="0"/>
                      </a:endParaRPr>
                    </a:p>
                  </a:txBody>
                  <a:tcPr marL="109728" marR="109728" marT="36576" marB="36576" anchor="ctr">
                    <a:lnL w="9525" cap="flat" cmpd="sng" algn="ctr">
                      <a:solidFill>
                        <a:srgbClr val="DAE3F0"/>
                      </a:solidFill>
                      <a:prstDash val="solid"/>
                      <a:round/>
                      <a:headEnd type="none" w="med" len="med"/>
                      <a:tailEnd type="none" w="med" len="med"/>
                    </a:lnL>
                    <a:lnR w="9525" cap="flat" cmpd="sng" algn="ctr">
                      <a:solidFill>
                        <a:srgbClr val="DAE3F0"/>
                      </a:solidFill>
                      <a:prstDash val="solid"/>
                      <a:round/>
                      <a:headEnd type="none" w="med" len="med"/>
                      <a:tailEnd type="none" w="med" len="med"/>
                    </a:lnR>
                    <a:lnT w="9525" cap="flat" cmpd="sng" algn="ctr">
                      <a:solidFill>
                        <a:srgbClr val="DAE3F0"/>
                      </a:solidFill>
                      <a:prstDash val="solid"/>
                      <a:round/>
                      <a:headEnd type="none" w="med" len="med"/>
                      <a:tailEnd type="none" w="med" len="med"/>
                    </a:lnT>
                    <a:lnB w="9525" cap="flat" cmpd="sng" algn="ctr">
                      <a:solidFill>
                        <a:srgbClr val="DAE3F0"/>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640080" y="5486400"/>
            <a:ext cx="10881360" cy="365760"/>
          </a:xfrm>
          <a:prstGeom prst="rect">
            <a:avLst/>
          </a:prstGeom>
          <a:noFill/>
          <a:ln/>
        </p:spPr>
        <p:txBody>
          <a:bodyPr wrap="square" lIns="0" tIns="0" rIns="0" bIns="0" rtlCol="0" anchor="t"/>
          <a:lstStyle/>
          <a:p>
            <a:pPr indent="0" marL="0">
              <a:buNone/>
            </a:pPr>
            <a:r>
              <a:rPr lang="en-US" sz="1300" dirty="0">
                <a:solidFill>
                  <a:srgbClr val="5B6B85"/>
                </a:solidFill>
              </a:rPr>
              <a:t>Each run records expected and actual results, sources and member wording in an evidence file.</a:t>
            </a:r>
            <a:endParaRPr lang="en-US" sz="1300" dirty="0"/>
          </a:p>
        </p:txBody>
      </p:sp>
      <p:sp>
        <p:nvSpPr>
          <p:cNvPr id="8" name="Text 3"/>
          <p:cNvSpPr txBox="1"/>
          <p:nvPr/>
        </p:nvSpPr>
        <p:spPr>
          <a:xfrm>
            <a:off x="640080" y="5852160"/>
            <a:ext cx="10881360" cy="365760"/>
          </a:xfrm>
          <a:prstGeom prst="rect">
            <a:avLst/>
          </a:prstGeom>
          <a:noFill/>
          <a:ln/>
        </p:spPr>
        <p:txBody>
          <a:bodyPr wrap="square" lIns="0" tIns="0" rIns="0" bIns="0" rtlCol="0" anchor="t"/>
          <a:lstStyle/>
          <a:p>
            <a:pPr indent="0" marL="0">
              <a:buNone/>
            </a:pPr>
            <a:r>
              <a:rPr lang="en-US" sz="1300" b="1" dirty="0">
                <a:solidFill>
                  <a:srgbClr val="0B2A5B"/>
                </a:solidFill>
              </a:rPr>
              <a:t>Run against: Microsoft Foundry agents  |  Azure AI Search  |  Azure Blob Storage</a:t>
            </a:r>
            <a:endParaRPr lang="en-US" sz="13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WORKING WITH THE TOOL</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Three working areas, no code needed</a:t>
            </a:r>
            <a:endParaRPr lang="en-US" sz="2800" dirty="0"/>
          </a:p>
        </p:txBody>
      </p:sp>
      <p:sp>
        <p:nvSpPr>
          <p:cNvPr id="5" name="Shape 2"/>
          <p:cNvSpPr/>
          <p:nvPr/>
        </p:nvSpPr>
        <p:spPr>
          <a:xfrm>
            <a:off x="640080" y="1691640"/>
            <a:ext cx="3502152" cy="4343400"/>
          </a:xfrm>
          <a:prstGeom prst="roundRect">
            <a:avLst>
              <a:gd name="adj" fmla="val 1828"/>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6" name="Shape 3"/>
          <p:cNvSpPr/>
          <p:nvPr/>
        </p:nvSpPr>
        <p:spPr>
          <a:xfrm>
            <a:off x="914400" y="1920240"/>
            <a:ext cx="731520" cy="731520"/>
          </a:xfrm>
          <a:prstGeom prst="ellipse">
            <a:avLst/>
          </a:prstGeom>
          <a:solidFill>
            <a:srgbClr val="2563EB"/>
          </a:solidFill>
          <a:ln w="6350">
            <a:solidFill>
              <a:srgbClr val="2563EB"/>
            </a:solidFill>
            <a:prstDash val="solid"/>
          </a:ln>
        </p:spPr>
      </p:sp>
      <p:pic>
        <p:nvPicPr>
          <p:cNvPr id="7" name="Image 0" descr="FaCommentDots">    </p:cNvPr>
          <p:cNvPicPr>
            <a:picLocks noChangeAspect="1"/>
          </p:cNvPicPr>
          <p:nvPr/>
        </p:nvPicPr>
        <p:blipFill>
          <a:blip r:embed="rId1"/>
          <a:stretch>
            <a:fillRect/>
          </a:stretch>
        </p:blipFill>
        <p:spPr>
          <a:xfrm>
            <a:off x="1111910" y="2117750"/>
            <a:ext cx="336499" cy="336499"/>
          </a:xfrm>
          <a:prstGeom prst="rect">
            <a:avLst/>
          </a:prstGeom>
        </p:spPr>
      </p:pic>
      <p:sp>
        <p:nvSpPr>
          <p:cNvPr id="8" name="Text 4"/>
          <p:cNvSpPr txBox="1"/>
          <p:nvPr/>
        </p:nvSpPr>
        <p:spPr>
          <a:xfrm>
            <a:off x="914400" y="2788920"/>
            <a:ext cx="2971800" cy="365760"/>
          </a:xfrm>
          <a:prstGeom prst="rect">
            <a:avLst/>
          </a:prstGeom>
          <a:noFill/>
          <a:ln/>
        </p:spPr>
        <p:txBody>
          <a:bodyPr wrap="square" lIns="0" tIns="0" rIns="0" bIns="0" rtlCol="0" anchor="t"/>
          <a:lstStyle/>
          <a:p>
            <a:pPr indent="0" marL="0">
              <a:buNone/>
            </a:pPr>
            <a:r>
              <a:rPr lang="en-US" sz="1900" b="1" dirty="0">
                <a:solidFill>
                  <a:srgbClr val="0B2A5B"/>
                </a:solidFill>
              </a:rPr>
              <a:t>Assistant</a:t>
            </a:r>
            <a:endParaRPr lang="en-US" sz="1900" dirty="0"/>
          </a:p>
        </p:txBody>
      </p:sp>
      <p:sp>
        <p:nvSpPr>
          <p:cNvPr id="9" name="Text 5"/>
          <p:cNvSpPr txBox="1"/>
          <p:nvPr/>
        </p:nvSpPr>
        <p:spPr>
          <a:xfrm>
            <a:off x="914400" y="3246120"/>
            <a:ext cx="2971800" cy="1005840"/>
          </a:xfrm>
          <a:prstGeom prst="rect">
            <a:avLst/>
          </a:prstGeom>
          <a:noFill/>
          <a:ln/>
        </p:spPr>
        <p:txBody>
          <a:bodyPr wrap="square" lIns="0" tIns="0" rIns="0" bIns="0" rtlCol="0" anchor="t"/>
          <a:lstStyle/>
          <a:p>
            <a:pPr indent="0" marL="0">
              <a:buNone/>
            </a:pPr>
            <a:r>
              <a:rPr lang="en-US" sz="1300" dirty="0">
                <a:solidFill>
                  <a:srgbClr val="5B6B85"/>
                </a:solidFill>
              </a:rPr>
              <a:t>Members and staff ask questions and see cited answers or clear hand-off messages.</a:t>
            </a:r>
            <a:endParaRPr lang="en-US" sz="1300" dirty="0"/>
          </a:p>
        </p:txBody>
      </p:sp>
      <p:sp>
        <p:nvSpPr>
          <p:cNvPr id="10" name="Text 6"/>
          <p:cNvSpPr/>
          <p:nvPr/>
        </p:nvSpPr>
        <p:spPr>
          <a:xfrm>
            <a:off x="914400" y="4434840"/>
            <a:ext cx="301752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4213D"/>
                </a:solidFill>
              </a:rPr>
              <a:t>Cited education answers</a:t>
            </a:r>
            <a:endParaRPr lang="en-US" sz="1300" dirty="0"/>
          </a:p>
          <a:p>
            <a:pPr marL="342900" indent="-342900">
              <a:spcAft>
                <a:spcPts val="600"/>
              </a:spcAft>
              <a:buSzPct val="100000"/>
              <a:buChar char="•"/>
            </a:pPr>
            <a:r>
              <a:rPr lang="en-US" sz="1300" dirty="0">
                <a:solidFill>
                  <a:srgbClr val="14213D"/>
                </a:solidFill>
              </a:rPr>
              <a:t>Reading and care-plan summaries</a:t>
            </a:r>
            <a:endParaRPr lang="en-US" sz="1300" dirty="0"/>
          </a:p>
          <a:p>
            <a:pPr marL="342900" indent="-342900">
              <a:spcAft>
                <a:spcPts val="600"/>
              </a:spcAft>
              <a:buSzPct val="100000"/>
              <a:buChar char="•"/>
            </a:pPr>
            <a:r>
              <a:rPr lang="en-US" sz="1300" dirty="0">
                <a:solidFill>
                  <a:srgbClr val="14213D"/>
                </a:solidFill>
              </a:rPr>
              <a:t>Reminders in the member's language</a:t>
            </a:r>
            <a:endParaRPr lang="en-US" sz="1300" dirty="0"/>
          </a:p>
        </p:txBody>
      </p:sp>
      <p:sp>
        <p:nvSpPr>
          <p:cNvPr id="11" name="Shape 7"/>
          <p:cNvSpPr/>
          <p:nvPr/>
        </p:nvSpPr>
        <p:spPr>
          <a:xfrm>
            <a:off x="4343400" y="1691640"/>
            <a:ext cx="3502152" cy="4343400"/>
          </a:xfrm>
          <a:prstGeom prst="roundRect">
            <a:avLst>
              <a:gd name="adj" fmla="val 1828"/>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2" name="Shape 8"/>
          <p:cNvSpPr/>
          <p:nvPr/>
        </p:nvSpPr>
        <p:spPr>
          <a:xfrm>
            <a:off x="4617720" y="1920240"/>
            <a:ext cx="731520" cy="731520"/>
          </a:xfrm>
          <a:prstGeom prst="ellipse">
            <a:avLst/>
          </a:prstGeom>
          <a:solidFill>
            <a:srgbClr val="0E9F9E"/>
          </a:solidFill>
          <a:ln w="6350">
            <a:solidFill>
              <a:srgbClr val="0E9F9E"/>
            </a:solidFill>
            <a:prstDash val="solid"/>
          </a:ln>
        </p:spPr>
      </p:sp>
      <p:pic>
        <p:nvPicPr>
          <p:cNvPr id="13" name="Image 1" descr="FaInbox">    </p:cNvPr>
          <p:cNvPicPr>
            <a:picLocks noChangeAspect="1"/>
          </p:cNvPicPr>
          <p:nvPr/>
        </p:nvPicPr>
        <p:blipFill>
          <a:blip r:embed="rId2"/>
          <a:stretch>
            <a:fillRect/>
          </a:stretch>
        </p:blipFill>
        <p:spPr>
          <a:xfrm>
            <a:off x="4815230" y="2117750"/>
            <a:ext cx="336499" cy="336499"/>
          </a:xfrm>
          <a:prstGeom prst="rect">
            <a:avLst/>
          </a:prstGeom>
        </p:spPr>
      </p:pic>
      <p:sp>
        <p:nvSpPr>
          <p:cNvPr id="14" name="Text 9"/>
          <p:cNvSpPr txBox="1"/>
          <p:nvPr/>
        </p:nvSpPr>
        <p:spPr>
          <a:xfrm>
            <a:off x="4617720" y="2788920"/>
            <a:ext cx="2971800" cy="365760"/>
          </a:xfrm>
          <a:prstGeom prst="rect">
            <a:avLst/>
          </a:prstGeom>
          <a:noFill/>
          <a:ln/>
        </p:spPr>
        <p:txBody>
          <a:bodyPr wrap="square" lIns="0" tIns="0" rIns="0" bIns="0" rtlCol="0" anchor="t"/>
          <a:lstStyle/>
          <a:p>
            <a:pPr indent="0" marL="0">
              <a:buNone/>
            </a:pPr>
            <a:r>
              <a:rPr lang="en-US" sz="1900" b="1" dirty="0">
                <a:solidFill>
                  <a:srgbClr val="0B2A5B"/>
                </a:solidFill>
              </a:rPr>
              <a:t>Review queue</a:t>
            </a:r>
            <a:endParaRPr lang="en-US" sz="1900" dirty="0"/>
          </a:p>
        </p:txBody>
      </p:sp>
      <p:sp>
        <p:nvSpPr>
          <p:cNvPr id="15" name="Text 10"/>
          <p:cNvSpPr txBox="1"/>
          <p:nvPr/>
        </p:nvSpPr>
        <p:spPr>
          <a:xfrm>
            <a:off x="4617720" y="3246120"/>
            <a:ext cx="2971800" cy="1005840"/>
          </a:xfrm>
          <a:prstGeom prst="rect">
            <a:avLst/>
          </a:prstGeom>
          <a:noFill/>
          <a:ln/>
        </p:spPr>
        <p:txBody>
          <a:bodyPr wrap="square" lIns="0" tIns="0" rIns="0" bIns="0" rtlCol="0" anchor="t"/>
          <a:lstStyle/>
          <a:p>
            <a:pPr indent="0" marL="0">
              <a:buNone/>
            </a:pPr>
            <a:r>
              <a:rPr lang="en-US" sz="1300" dirty="0">
                <a:solidFill>
                  <a:srgbClr val="5B6B85"/>
                </a:solidFill>
              </a:rPr>
              <a:t>Staff see escalations by queue, with the rule that triggered each one.</a:t>
            </a:r>
            <a:endParaRPr lang="en-US" sz="1300" dirty="0"/>
          </a:p>
        </p:txBody>
      </p:sp>
      <p:sp>
        <p:nvSpPr>
          <p:cNvPr id="16" name="Text 11"/>
          <p:cNvSpPr/>
          <p:nvPr/>
        </p:nvSpPr>
        <p:spPr>
          <a:xfrm>
            <a:off x="4617720" y="4434840"/>
            <a:ext cx="301752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4213D"/>
                </a:solidFill>
              </a:rPr>
              <a:t>Grouped by queue</a:t>
            </a:r>
            <a:endParaRPr lang="en-US" sz="1300" dirty="0"/>
          </a:p>
          <a:p>
            <a:pPr marL="342900" indent="-342900">
              <a:spcAft>
                <a:spcPts val="600"/>
              </a:spcAft>
              <a:buSzPct val="100000"/>
              <a:buChar char="•"/>
            </a:pPr>
            <a:r>
              <a:rPr lang="en-US" sz="1300" dirty="0">
                <a:solidFill>
                  <a:srgbClr val="14213D"/>
                </a:solidFill>
              </a:rPr>
              <a:t>Rule id and reason</a:t>
            </a:r>
            <a:endParaRPr lang="en-US" sz="1300" dirty="0"/>
          </a:p>
          <a:p>
            <a:pPr marL="342900" indent="-342900">
              <a:spcAft>
                <a:spcPts val="600"/>
              </a:spcAft>
              <a:buSzPct val="100000"/>
              <a:buChar char="•"/>
            </a:pPr>
            <a:r>
              <a:rPr lang="en-US" sz="1300" dirty="0">
                <a:solidFill>
                  <a:srgbClr val="14213D"/>
                </a:solidFill>
              </a:rPr>
              <a:t>Open, resolved, audited</a:t>
            </a:r>
            <a:endParaRPr lang="en-US" sz="1300" dirty="0"/>
          </a:p>
        </p:txBody>
      </p:sp>
      <p:sp>
        <p:nvSpPr>
          <p:cNvPr id="17" name="Shape 12"/>
          <p:cNvSpPr/>
          <p:nvPr/>
        </p:nvSpPr>
        <p:spPr>
          <a:xfrm>
            <a:off x="8046720" y="1691640"/>
            <a:ext cx="3502152" cy="4343400"/>
          </a:xfrm>
          <a:prstGeom prst="roundRect">
            <a:avLst>
              <a:gd name="adj" fmla="val 1828"/>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8" name="Shape 13"/>
          <p:cNvSpPr/>
          <p:nvPr/>
        </p:nvSpPr>
        <p:spPr>
          <a:xfrm>
            <a:off x="8321040" y="1920240"/>
            <a:ext cx="731520" cy="731520"/>
          </a:xfrm>
          <a:prstGeom prst="ellipse">
            <a:avLst/>
          </a:prstGeom>
          <a:solidFill>
            <a:srgbClr val="0B2A5B"/>
          </a:solidFill>
          <a:ln w="6350">
            <a:solidFill>
              <a:srgbClr val="0B2A5B"/>
            </a:solidFill>
            <a:prstDash val="solid"/>
          </a:ln>
        </p:spPr>
      </p:sp>
      <p:pic>
        <p:nvPicPr>
          <p:cNvPr id="19" name="Image 2" descr="FaCloudUploadAlt">    </p:cNvPr>
          <p:cNvPicPr>
            <a:picLocks noChangeAspect="1"/>
          </p:cNvPicPr>
          <p:nvPr/>
        </p:nvPicPr>
        <p:blipFill>
          <a:blip r:embed="rId3"/>
          <a:stretch>
            <a:fillRect/>
          </a:stretch>
        </p:blipFill>
        <p:spPr>
          <a:xfrm>
            <a:off x="8518550" y="2117750"/>
            <a:ext cx="336499" cy="336499"/>
          </a:xfrm>
          <a:prstGeom prst="rect">
            <a:avLst/>
          </a:prstGeom>
        </p:spPr>
      </p:pic>
      <p:sp>
        <p:nvSpPr>
          <p:cNvPr id="20" name="Text 14"/>
          <p:cNvSpPr txBox="1"/>
          <p:nvPr/>
        </p:nvSpPr>
        <p:spPr>
          <a:xfrm>
            <a:off x="8321040" y="2788920"/>
            <a:ext cx="2971800" cy="365760"/>
          </a:xfrm>
          <a:prstGeom prst="rect">
            <a:avLst/>
          </a:prstGeom>
          <a:noFill/>
          <a:ln/>
        </p:spPr>
        <p:txBody>
          <a:bodyPr wrap="square" lIns="0" tIns="0" rIns="0" bIns="0" rtlCol="0" anchor="t"/>
          <a:lstStyle/>
          <a:p>
            <a:pPr indent="0" marL="0">
              <a:buNone/>
            </a:pPr>
            <a:r>
              <a:rPr lang="en-US" sz="1900" b="1" dirty="0">
                <a:solidFill>
                  <a:srgbClr val="0B2A5B"/>
                </a:solidFill>
              </a:rPr>
              <a:t>Data and Azure sync</a:t>
            </a:r>
            <a:endParaRPr lang="en-US" sz="1900" dirty="0"/>
          </a:p>
        </p:txBody>
      </p:sp>
      <p:sp>
        <p:nvSpPr>
          <p:cNvPr id="21" name="Text 15"/>
          <p:cNvSpPr txBox="1"/>
          <p:nvPr/>
        </p:nvSpPr>
        <p:spPr>
          <a:xfrm>
            <a:off x="8321040" y="3246120"/>
            <a:ext cx="2971800" cy="1005840"/>
          </a:xfrm>
          <a:prstGeom prst="rect">
            <a:avLst/>
          </a:prstGeom>
          <a:noFill/>
          <a:ln/>
        </p:spPr>
        <p:txBody>
          <a:bodyPr wrap="square" lIns="0" tIns="0" rIns="0" bIns="0" rtlCol="0" anchor="t"/>
          <a:lstStyle/>
          <a:p>
            <a:pPr indent="0" marL="0">
              <a:buNone/>
            </a:pPr>
            <a:r>
              <a:rPr lang="en-US" sz="1300" dirty="0">
                <a:solidFill>
                  <a:srgbClr val="5B6B85"/>
                </a:solidFill>
              </a:rPr>
              <a:t>Administrators manage tables and approved articles and keep Azure in step.</a:t>
            </a:r>
            <a:endParaRPr lang="en-US" sz="1300" dirty="0"/>
          </a:p>
        </p:txBody>
      </p:sp>
      <p:sp>
        <p:nvSpPr>
          <p:cNvPr id="22" name="Text 16"/>
          <p:cNvSpPr/>
          <p:nvPr/>
        </p:nvSpPr>
        <p:spPr>
          <a:xfrm>
            <a:off x="8321040" y="4434840"/>
            <a:ext cx="301752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4213D"/>
                </a:solidFill>
              </a:rPr>
              <a:t>Upload to Blob Storage</a:t>
            </a:r>
            <a:endParaRPr lang="en-US" sz="1300" dirty="0"/>
          </a:p>
          <a:p>
            <a:pPr marL="342900" indent="-342900">
              <a:spcAft>
                <a:spcPts val="600"/>
              </a:spcAft>
              <a:buSzPct val="100000"/>
              <a:buChar char="•"/>
            </a:pPr>
            <a:r>
              <a:rPr lang="en-US" sz="1300" dirty="0">
                <a:solidFill>
                  <a:srgbClr val="14213D"/>
                </a:solidFill>
              </a:rPr>
              <a:t>Rebuild the search index</a:t>
            </a:r>
            <a:endParaRPr lang="en-US" sz="1300" dirty="0"/>
          </a:p>
          <a:p>
            <a:pPr marL="342900" indent="-342900">
              <a:spcAft>
                <a:spcPts val="600"/>
              </a:spcAft>
              <a:buSzPct val="100000"/>
              <a:buChar char="•"/>
            </a:pPr>
            <a:r>
              <a:rPr lang="en-US" sz="1300" dirty="0">
                <a:solidFill>
                  <a:srgbClr val="14213D"/>
                </a:solidFill>
              </a:rPr>
              <a:t>Register and check six agents</a:t>
            </a:r>
            <a:endParaRPr lang="en-US" sz="13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5"/>
          <p:cNvSpPr/>
          <p:nvPr>
            <p:ph idx="106" type="body" hasCustomPrompt="1"/>
          </p:nvPr>
        </p:nvSpPr>
        <p:spPr>
          <a:xfrm>
            <a:off x="640080" y="365760"/>
            <a:ext cx="7315200" cy="274320"/>
          </a:xfrm>
          <a:prstGeom prst="rect">
            <a:avLst/>
          </a:prstGeom>
          <a:noFill/>
          <a:ln/>
        </p:spPr>
        <p:txBody>
          <a:bodyPr wrap="square" lIns="0" tIns="0" rIns="0" bIns="0" rtlCol="0" anchor="t"/>
          <a:lstStyle/>
          <a:p>
            <a:pPr indent="0" marL="0">
              <a:buNone/>
            </a:pPr>
            <a:r>
              <a:rPr lang="en-US" sz="1200" b="1" spc="400" kern="0" dirty="0">
                <a:solidFill>
                  <a:srgbClr val="0E9F9E"/>
                </a:solidFill>
              </a:rPr>
              <a:t>LIMITS AND ROADMAP</a:t>
            </a:r>
            <a:endParaRPr lang="en-US" sz="1200" dirty="0"/>
          </a:p>
        </p:txBody>
      </p:sp>
      <p:sp>
        <p:nvSpPr>
          <p:cNvPr id="3" name="Text 5"/>
          <p:cNvSpPr/>
          <p:nvPr>
            <p:ph idx="107" type="title" hasCustomPrompt="1"/>
          </p:nvPr>
        </p:nvSpPr>
        <p:spPr>
          <a:xfrm>
            <a:off x="640080" y="685800"/>
            <a:ext cx="10908792" cy="685800"/>
          </a:xfrm>
          <a:prstGeom prst="rect">
            <a:avLst/>
          </a:prstGeom>
          <a:noFill/>
          <a:ln/>
        </p:spPr>
        <p:txBody>
          <a:bodyPr wrap="square" lIns="0" tIns="0" rIns="0" bIns="0" rtlCol="0" anchor="t"/>
          <a:lstStyle/>
          <a:p>
            <a:pPr algn="l" indent="0" marL="0">
              <a:buNone/>
            </a:pPr>
            <a:r>
              <a:rPr lang="en-US" sz="2800" b="1" dirty="0">
                <a:solidFill>
                  <a:srgbClr val="0B2A5B"/>
                </a:solidFill>
              </a:rPr>
              <a:t>A proof of concept today, with a clear path to production</a:t>
            </a:r>
            <a:endParaRPr lang="en-US" sz="2800" dirty="0"/>
          </a:p>
        </p:txBody>
      </p:sp>
      <p:sp>
        <p:nvSpPr>
          <p:cNvPr id="5" name="Text 2"/>
          <p:cNvSpPr txBox="1"/>
          <p:nvPr/>
        </p:nvSpPr>
        <p:spPr>
          <a:xfrm>
            <a:off x="640080" y="1691640"/>
            <a:ext cx="5120640" cy="274320"/>
          </a:xfrm>
          <a:prstGeom prst="rect">
            <a:avLst/>
          </a:prstGeom>
          <a:noFill/>
          <a:ln/>
        </p:spPr>
        <p:txBody>
          <a:bodyPr wrap="square" lIns="0" tIns="0" rIns="0" bIns="0" rtlCol="0" anchor="t"/>
          <a:lstStyle/>
          <a:p>
            <a:pPr indent="0" marL="0">
              <a:buNone/>
            </a:pPr>
            <a:r>
              <a:rPr lang="en-US" sz="1200" b="1" spc="300" kern="0" dirty="0">
                <a:solidFill>
                  <a:srgbClr val="F59E0B"/>
                </a:solidFill>
              </a:rPr>
              <a:t>WHAT THIS IS TODAY</a:t>
            </a:r>
            <a:endParaRPr lang="en-US" sz="1200" dirty="0"/>
          </a:p>
        </p:txBody>
      </p:sp>
      <p:sp>
        <p:nvSpPr>
          <p:cNvPr id="6" name="Shape 3"/>
          <p:cNvSpPr/>
          <p:nvPr/>
        </p:nvSpPr>
        <p:spPr>
          <a:xfrm>
            <a:off x="640080" y="2057400"/>
            <a:ext cx="5120640" cy="640080"/>
          </a:xfrm>
          <a:prstGeom prst="roundRect">
            <a:avLst>
              <a:gd name="adj" fmla="val 100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7" name="Text 4"/>
          <p:cNvSpPr txBox="1"/>
          <p:nvPr/>
        </p:nvSpPr>
        <p:spPr>
          <a:xfrm>
            <a:off x="914400" y="2057400"/>
            <a:ext cx="4663440" cy="640080"/>
          </a:xfrm>
          <a:prstGeom prst="rect">
            <a:avLst/>
          </a:prstGeom>
          <a:noFill/>
          <a:ln/>
        </p:spPr>
        <p:txBody>
          <a:bodyPr wrap="square" lIns="0" tIns="0" rIns="0" bIns="0" rtlCol="0" anchor="ctr"/>
          <a:lstStyle/>
          <a:p>
            <a:pPr indent="0" marL="0">
              <a:buNone/>
            </a:pPr>
            <a:r>
              <a:rPr lang="en-US" sz="1400" dirty="0">
                <a:solidFill>
                  <a:srgbClr val="14213D"/>
                </a:solidFill>
              </a:rPr>
              <a:t>Synthetic data only</a:t>
            </a:r>
            <a:endParaRPr lang="en-US" sz="1400" dirty="0"/>
          </a:p>
        </p:txBody>
      </p:sp>
      <p:sp>
        <p:nvSpPr>
          <p:cNvPr id="8" name="Shape 5"/>
          <p:cNvSpPr/>
          <p:nvPr/>
        </p:nvSpPr>
        <p:spPr>
          <a:xfrm>
            <a:off x="640080" y="2825496"/>
            <a:ext cx="5120640" cy="640080"/>
          </a:xfrm>
          <a:prstGeom prst="roundRect">
            <a:avLst>
              <a:gd name="adj" fmla="val 100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9" name="Text 6"/>
          <p:cNvSpPr txBox="1"/>
          <p:nvPr/>
        </p:nvSpPr>
        <p:spPr>
          <a:xfrm>
            <a:off x="914400" y="2825496"/>
            <a:ext cx="4663440" cy="640080"/>
          </a:xfrm>
          <a:prstGeom prst="rect">
            <a:avLst/>
          </a:prstGeom>
          <a:noFill/>
          <a:ln/>
        </p:spPr>
        <p:txBody>
          <a:bodyPr wrap="square" lIns="0" tIns="0" rIns="0" bIns="0" rtlCol="0" anchor="ctr"/>
          <a:lstStyle/>
          <a:p>
            <a:pPr indent="0" marL="0">
              <a:buNone/>
            </a:pPr>
            <a:r>
              <a:rPr lang="en-US" sz="1400" dirty="0">
                <a:solidFill>
                  <a:srgbClr val="14213D"/>
                </a:solidFill>
              </a:rPr>
              <a:t>Rule thresholds are placeholders</a:t>
            </a:r>
            <a:endParaRPr lang="en-US" sz="1400" dirty="0"/>
          </a:p>
        </p:txBody>
      </p:sp>
      <p:sp>
        <p:nvSpPr>
          <p:cNvPr id="10" name="Shape 7"/>
          <p:cNvSpPr/>
          <p:nvPr/>
        </p:nvSpPr>
        <p:spPr>
          <a:xfrm>
            <a:off x="640080" y="3593592"/>
            <a:ext cx="5120640" cy="640080"/>
          </a:xfrm>
          <a:prstGeom prst="roundRect">
            <a:avLst>
              <a:gd name="adj" fmla="val 100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1" name="Text 8"/>
          <p:cNvSpPr txBox="1"/>
          <p:nvPr/>
        </p:nvSpPr>
        <p:spPr>
          <a:xfrm>
            <a:off x="914400" y="3593592"/>
            <a:ext cx="4663440" cy="640080"/>
          </a:xfrm>
          <a:prstGeom prst="rect">
            <a:avLst/>
          </a:prstGeom>
          <a:noFill/>
          <a:ln/>
        </p:spPr>
        <p:txBody>
          <a:bodyPr wrap="square" lIns="0" tIns="0" rIns="0" bIns="0" rtlCol="0" anchor="ctr"/>
          <a:lstStyle/>
          <a:p>
            <a:pPr indent="0" marL="0">
              <a:buNone/>
            </a:pPr>
            <a:r>
              <a:rPr lang="en-US" sz="1400" dirty="0">
                <a:solidFill>
                  <a:srgbClr val="14213D"/>
                </a:solidFill>
              </a:rPr>
              <a:t>No sign-in; member id is typed</a:t>
            </a:r>
            <a:endParaRPr lang="en-US" sz="1400" dirty="0"/>
          </a:p>
        </p:txBody>
      </p:sp>
      <p:sp>
        <p:nvSpPr>
          <p:cNvPr id="12" name="Shape 9"/>
          <p:cNvSpPr/>
          <p:nvPr/>
        </p:nvSpPr>
        <p:spPr>
          <a:xfrm>
            <a:off x="640080" y="4361688"/>
            <a:ext cx="5120640" cy="640080"/>
          </a:xfrm>
          <a:prstGeom prst="roundRect">
            <a:avLst>
              <a:gd name="adj" fmla="val 100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3" name="Text 10"/>
          <p:cNvSpPr txBox="1"/>
          <p:nvPr/>
        </p:nvSpPr>
        <p:spPr>
          <a:xfrm>
            <a:off x="914400" y="4361688"/>
            <a:ext cx="4663440" cy="640080"/>
          </a:xfrm>
          <a:prstGeom prst="rect">
            <a:avLst/>
          </a:prstGeom>
          <a:noFill/>
          <a:ln/>
        </p:spPr>
        <p:txBody>
          <a:bodyPr wrap="square" lIns="0" tIns="0" rIns="0" bIns="0" rtlCol="0" anchor="ctr"/>
          <a:lstStyle/>
          <a:p>
            <a:pPr indent="0" marL="0">
              <a:buNone/>
            </a:pPr>
            <a:r>
              <a:rPr lang="en-US" sz="1400" dirty="0">
                <a:solidFill>
                  <a:srgbClr val="14213D"/>
                </a:solidFill>
              </a:rPr>
              <a:t>Review queue and audit log are files</a:t>
            </a:r>
            <a:endParaRPr lang="en-US" sz="1400" dirty="0"/>
          </a:p>
        </p:txBody>
      </p:sp>
      <p:sp>
        <p:nvSpPr>
          <p:cNvPr id="14" name="Shape 11"/>
          <p:cNvSpPr/>
          <p:nvPr/>
        </p:nvSpPr>
        <p:spPr>
          <a:xfrm>
            <a:off x="640080" y="5129784"/>
            <a:ext cx="5120640" cy="640080"/>
          </a:xfrm>
          <a:prstGeom prst="roundRect">
            <a:avLst>
              <a:gd name="adj" fmla="val 10000"/>
            </a:avLst>
          </a:prstGeom>
          <a:solidFill>
            <a:srgbClr val="FFFFFF"/>
          </a:solidFill>
          <a:ln w="9525">
            <a:solidFill>
              <a:srgbClr val="DAE3F0"/>
            </a:solidFill>
            <a:prstDash val="solid"/>
          </a:ln>
          <a:effectLst>
            <a:outerShdw sx="100000" sy="100000" kx="0" ky="0" algn="bl" rotWithShape="0" blurRad="101600" dist="25400" dir="5400000">
              <a:srgbClr val="1B2A4A">
                <a:alpha val="10000"/>
              </a:srgbClr>
            </a:outerShdw>
          </a:effectLst>
        </p:spPr>
      </p:sp>
      <p:sp>
        <p:nvSpPr>
          <p:cNvPr id="15" name="Text 12"/>
          <p:cNvSpPr txBox="1"/>
          <p:nvPr/>
        </p:nvSpPr>
        <p:spPr>
          <a:xfrm>
            <a:off x="914400" y="5129784"/>
            <a:ext cx="4663440" cy="640080"/>
          </a:xfrm>
          <a:prstGeom prst="rect">
            <a:avLst/>
          </a:prstGeom>
          <a:noFill/>
          <a:ln/>
        </p:spPr>
        <p:txBody>
          <a:bodyPr wrap="square" lIns="0" tIns="0" rIns="0" bIns="0" rtlCol="0" anchor="ctr"/>
          <a:lstStyle/>
          <a:p>
            <a:pPr indent="0" marL="0">
              <a:buNone/>
            </a:pPr>
            <a:r>
              <a:rPr lang="en-US" sz="1400" dirty="0">
                <a:solidFill>
                  <a:srgbClr val="14213D"/>
                </a:solidFill>
              </a:rPr>
              <a:t>Translated reminders not yet reviewed by native speakers</a:t>
            </a:r>
            <a:endParaRPr lang="en-US" sz="1400" dirty="0"/>
          </a:p>
        </p:txBody>
      </p:sp>
      <p:sp>
        <p:nvSpPr>
          <p:cNvPr id="16" name="Text 13"/>
          <p:cNvSpPr txBox="1"/>
          <p:nvPr/>
        </p:nvSpPr>
        <p:spPr>
          <a:xfrm>
            <a:off x="6428232" y="1691640"/>
            <a:ext cx="5120640" cy="274320"/>
          </a:xfrm>
          <a:prstGeom prst="rect">
            <a:avLst/>
          </a:prstGeom>
          <a:noFill/>
          <a:ln/>
        </p:spPr>
        <p:txBody>
          <a:bodyPr wrap="square" lIns="0" tIns="0" rIns="0" bIns="0" rtlCol="0" anchor="t"/>
          <a:lstStyle/>
          <a:p>
            <a:pPr indent="0" marL="0">
              <a:buNone/>
            </a:pPr>
            <a:r>
              <a:rPr lang="en-US" sz="1200" b="1" spc="300" kern="0" dirty="0">
                <a:solidFill>
                  <a:srgbClr val="0E9F9E"/>
                </a:solidFill>
              </a:rPr>
              <a:t>PATH TO PRODUCTION</a:t>
            </a:r>
            <a:endParaRPr lang="en-US" sz="1200" dirty="0"/>
          </a:p>
        </p:txBody>
      </p:sp>
      <p:sp>
        <p:nvSpPr>
          <p:cNvPr id="17" name="Shape 14"/>
          <p:cNvSpPr/>
          <p:nvPr/>
        </p:nvSpPr>
        <p:spPr>
          <a:xfrm>
            <a:off x="6428232" y="2057400"/>
            <a:ext cx="5120640" cy="640080"/>
          </a:xfrm>
          <a:prstGeom prst="roundRect">
            <a:avLst>
              <a:gd name="adj" fmla="val 10000"/>
            </a:avLst>
          </a:prstGeom>
          <a:solidFill>
            <a:srgbClr val="FFFFFF"/>
          </a:solidFill>
          <a:ln w="12700">
            <a:solidFill>
              <a:srgbClr val="0E9F9E"/>
            </a:solidFill>
            <a:prstDash val="solid"/>
          </a:ln>
          <a:effectLst>
            <a:outerShdw sx="100000" sy="100000" kx="0" ky="0" algn="bl" rotWithShape="0" blurRad="101600" dist="25400" dir="5400000">
              <a:srgbClr val="1B2A4A">
                <a:alpha val="10000"/>
              </a:srgbClr>
            </a:outerShdw>
          </a:effectLst>
        </p:spPr>
      </p:sp>
      <p:sp>
        <p:nvSpPr>
          <p:cNvPr id="18" name="Shape 15"/>
          <p:cNvSpPr/>
          <p:nvPr/>
        </p:nvSpPr>
        <p:spPr>
          <a:xfrm>
            <a:off x="6629400" y="2194560"/>
            <a:ext cx="365760" cy="365760"/>
          </a:xfrm>
          <a:prstGeom prst="ellipse">
            <a:avLst/>
          </a:prstGeom>
          <a:solidFill>
            <a:srgbClr val="0E9F9E"/>
          </a:solidFill>
          <a:ln w="6350">
            <a:solidFill>
              <a:srgbClr val="0E9F9E"/>
            </a:solidFill>
            <a:prstDash val="solid"/>
          </a:ln>
        </p:spPr>
      </p:sp>
      <p:sp>
        <p:nvSpPr>
          <p:cNvPr id="19" name="Text 16"/>
          <p:cNvSpPr txBox="1"/>
          <p:nvPr/>
        </p:nvSpPr>
        <p:spPr>
          <a:xfrm>
            <a:off x="6629400" y="2194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0" name="Text 17"/>
          <p:cNvSpPr txBox="1"/>
          <p:nvPr/>
        </p:nvSpPr>
        <p:spPr>
          <a:xfrm>
            <a:off x="7178040" y="2057400"/>
            <a:ext cx="4206240" cy="640080"/>
          </a:xfrm>
          <a:prstGeom prst="rect">
            <a:avLst/>
          </a:prstGeom>
          <a:noFill/>
          <a:ln/>
        </p:spPr>
        <p:txBody>
          <a:bodyPr wrap="square" lIns="0" tIns="0" rIns="0" bIns="0" rtlCol="0" anchor="ctr"/>
          <a:lstStyle/>
          <a:p>
            <a:pPr indent="0" marL="0">
              <a:buNone/>
            </a:pPr>
            <a:r>
              <a:rPr lang="en-US" sz="1400" dirty="0">
                <a:solidFill>
                  <a:srgbClr val="14213D"/>
                </a:solidFill>
              </a:rPr>
              <a:t>Authentication and role-based access</a:t>
            </a:r>
            <a:endParaRPr lang="en-US" sz="1400" dirty="0"/>
          </a:p>
        </p:txBody>
      </p:sp>
      <p:sp>
        <p:nvSpPr>
          <p:cNvPr id="21" name="Shape 18"/>
          <p:cNvSpPr/>
          <p:nvPr/>
        </p:nvSpPr>
        <p:spPr>
          <a:xfrm>
            <a:off x="6428232" y="2825496"/>
            <a:ext cx="5120640" cy="640080"/>
          </a:xfrm>
          <a:prstGeom prst="roundRect">
            <a:avLst>
              <a:gd name="adj" fmla="val 10000"/>
            </a:avLst>
          </a:prstGeom>
          <a:solidFill>
            <a:srgbClr val="FFFFFF"/>
          </a:solidFill>
          <a:ln w="12700">
            <a:solidFill>
              <a:srgbClr val="0E9F9E"/>
            </a:solidFill>
            <a:prstDash val="solid"/>
          </a:ln>
          <a:effectLst>
            <a:outerShdw sx="100000" sy="100000" kx="0" ky="0" algn="bl" rotWithShape="0" blurRad="101600" dist="25400" dir="5400000">
              <a:srgbClr val="1B2A4A">
                <a:alpha val="10000"/>
              </a:srgbClr>
            </a:outerShdw>
          </a:effectLst>
        </p:spPr>
      </p:sp>
      <p:sp>
        <p:nvSpPr>
          <p:cNvPr id="22" name="Shape 19"/>
          <p:cNvSpPr/>
          <p:nvPr/>
        </p:nvSpPr>
        <p:spPr>
          <a:xfrm>
            <a:off x="6629400" y="2962656"/>
            <a:ext cx="365760" cy="365760"/>
          </a:xfrm>
          <a:prstGeom prst="ellipse">
            <a:avLst/>
          </a:prstGeom>
          <a:solidFill>
            <a:srgbClr val="0E9F9E"/>
          </a:solidFill>
          <a:ln w="6350">
            <a:solidFill>
              <a:srgbClr val="0E9F9E"/>
            </a:solidFill>
            <a:prstDash val="solid"/>
          </a:ln>
        </p:spPr>
      </p:sp>
      <p:sp>
        <p:nvSpPr>
          <p:cNvPr id="23" name="Text 20"/>
          <p:cNvSpPr txBox="1"/>
          <p:nvPr/>
        </p:nvSpPr>
        <p:spPr>
          <a:xfrm>
            <a:off x="6629400" y="29626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4" name="Text 21"/>
          <p:cNvSpPr txBox="1"/>
          <p:nvPr/>
        </p:nvSpPr>
        <p:spPr>
          <a:xfrm>
            <a:off x="7178040" y="2825496"/>
            <a:ext cx="4206240" cy="640080"/>
          </a:xfrm>
          <a:prstGeom prst="rect">
            <a:avLst/>
          </a:prstGeom>
          <a:noFill/>
          <a:ln/>
        </p:spPr>
        <p:txBody>
          <a:bodyPr wrap="square" lIns="0" tIns="0" rIns="0" bIns="0" rtlCol="0" anchor="ctr"/>
          <a:lstStyle/>
          <a:p>
            <a:pPr indent="0" marL="0">
              <a:buNone/>
            </a:pPr>
            <a:r>
              <a:rPr lang="en-US" sz="1400" dirty="0">
                <a:solidFill>
                  <a:srgbClr val="14213D"/>
                </a:solidFill>
              </a:rPr>
              <a:t>Database or case-management system for queue and audit</a:t>
            </a:r>
            <a:endParaRPr lang="en-US" sz="1400" dirty="0"/>
          </a:p>
        </p:txBody>
      </p:sp>
      <p:sp>
        <p:nvSpPr>
          <p:cNvPr id="25" name="Shape 22"/>
          <p:cNvSpPr/>
          <p:nvPr/>
        </p:nvSpPr>
        <p:spPr>
          <a:xfrm>
            <a:off x="6428232" y="3593592"/>
            <a:ext cx="5120640" cy="640080"/>
          </a:xfrm>
          <a:prstGeom prst="roundRect">
            <a:avLst>
              <a:gd name="adj" fmla="val 10000"/>
            </a:avLst>
          </a:prstGeom>
          <a:solidFill>
            <a:srgbClr val="FFFFFF"/>
          </a:solidFill>
          <a:ln w="12700">
            <a:solidFill>
              <a:srgbClr val="0E9F9E"/>
            </a:solidFill>
            <a:prstDash val="solid"/>
          </a:ln>
          <a:effectLst>
            <a:outerShdw sx="100000" sy="100000" kx="0" ky="0" algn="bl" rotWithShape="0" blurRad="101600" dist="25400" dir="5400000">
              <a:srgbClr val="1B2A4A">
                <a:alpha val="10000"/>
              </a:srgbClr>
            </a:outerShdw>
          </a:effectLst>
        </p:spPr>
      </p:sp>
      <p:sp>
        <p:nvSpPr>
          <p:cNvPr id="26" name="Shape 23"/>
          <p:cNvSpPr/>
          <p:nvPr/>
        </p:nvSpPr>
        <p:spPr>
          <a:xfrm>
            <a:off x="6629400" y="3730752"/>
            <a:ext cx="365760" cy="365760"/>
          </a:xfrm>
          <a:prstGeom prst="ellipse">
            <a:avLst/>
          </a:prstGeom>
          <a:solidFill>
            <a:srgbClr val="0E9F9E"/>
          </a:solidFill>
          <a:ln w="6350">
            <a:solidFill>
              <a:srgbClr val="0E9F9E"/>
            </a:solidFill>
            <a:prstDash val="solid"/>
          </a:ln>
        </p:spPr>
      </p:sp>
      <p:sp>
        <p:nvSpPr>
          <p:cNvPr id="27" name="Text 24"/>
          <p:cNvSpPr txBox="1"/>
          <p:nvPr/>
        </p:nvSpPr>
        <p:spPr>
          <a:xfrm>
            <a:off x="6629400" y="37307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8" name="Text 25"/>
          <p:cNvSpPr txBox="1"/>
          <p:nvPr/>
        </p:nvSpPr>
        <p:spPr>
          <a:xfrm>
            <a:off x="7178040" y="3593592"/>
            <a:ext cx="4206240" cy="640080"/>
          </a:xfrm>
          <a:prstGeom prst="rect">
            <a:avLst/>
          </a:prstGeom>
          <a:noFill/>
          <a:ln/>
        </p:spPr>
        <p:txBody>
          <a:bodyPr wrap="square" lIns="0" tIns="0" rIns="0" bIns="0" rtlCol="0" anchor="ctr"/>
          <a:lstStyle/>
          <a:p>
            <a:pPr indent="0" marL="0">
              <a:buNone/>
            </a:pPr>
            <a:r>
              <a:rPr lang="en-US" sz="1400" dirty="0">
                <a:solidFill>
                  <a:srgbClr val="14213D"/>
                </a:solidFill>
              </a:rPr>
              <a:t>Clinician-owned rule values and article approval</a:t>
            </a:r>
            <a:endParaRPr lang="en-US" sz="1400" dirty="0"/>
          </a:p>
        </p:txBody>
      </p:sp>
      <p:sp>
        <p:nvSpPr>
          <p:cNvPr id="29" name="Shape 26"/>
          <p:cNvSpPr/>
          <p:nvPr/>
        </p:nvSpPr>
        <p:spPr>
          <a:xfrm>
            <a:off x="6428232" y="4361688"/>
            <a:ext cx="5120640" cy="640080"/>
          </a:xfrm>
          <a:prstGeom prst="roundRect">
            <a:avLst>
              <a:gd name="adj" fmla="val 10000"/>
            </a:avLst>
          </a:prstGeom>
          <a:solidFill>
            <a:srgbClr val="FFFFFF"/>
          </a:solidFill>
          <a:ln w="12700">
            <a:solidFill>
              <a:srgbClr val="0E9F9E"/>
            </a:solidFill>
            <a:prstDash val="solid"/>
          </a:ln>
          <a:effectLst>
            <a:outerShdw sx="100000" sy="100000" kx="0" ky="0" algn="bl" rotWithShape="0" blurRad="101600" dist="25400" dir="5400000">
              <a:srgbClr val="1B2A4A">
                <a:alpha val="10000"/>
              </a:srgbClr>
            </a:outerShdw>
          </a:effectLst>
        </p:spPr>
      </p:sp>
      <p:sp>
        <p:nvSpPr>
          <p:cNvPr id="30" name="Shape 27"/>
          <p:cNvSpPr/>
          <p:nvPr/>
        </p:nvSpPr>
        <p:spPr>
          <a:xfrm>
            <a:off x="6629400" y="4498848"/>
            <a:ext cx="365760" cy="365760"/>
          </a:xfrm>
          <a:prstGeom prst="ellipse">
            <a:avLst/>
          </a:prstGeom>
          <a:solidFill>
            <a:srgbClr val="0E9F9E"/>
          </a:solidFill>
          <a:ln w="6350">
            <a:solidFill>
              <a:srgbClr val="0E9F9E"/>
            </a:solidFill>
            <a:prstDash val="solid"/>
          </a:ln>
        </p:spPr>
      </p:sp>
      <p:sp>
        <p:nvSpPr>
          <p:cNvPr id="31" name="Text 28"/>
          <p:cNvSpPr txBox="1"/>
          <p:nvPr/>
        </p:nvSpPr>
        <p:spPr>
          <a:xfrm>
            <a:off x="6629400" y="4498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2" name="Text 29"/>
          <p:cNvSpPr txBox="1"/>
          <p:nvPr/>
        </p:nvSpPr>
        <p:spPr>
          <a:xfrm>
            <a:off x="7178040" y="4361688"/>
            <a:ext cx="4206240" cy="640080"/>
          </a:xfrm>
          <a:prstGeom prst="rect">
            <a:avLst/>
          </a:prstGeom>
          <a:noFill/>
          <a:ln/>
        </p:spPr>
        <p:txBody>
          <a:bodyPr wrap="square" lIns="0" tIns="0" rIns="0" bIns="0" rtlCol="0" anchor="ctr"/>
          <a:lstStyle/>
          <a:p>
            <a:pPr indent="0" marL="0">
              <a:buNone/>
            </a:pPr>
            <a:r>
              <a:rPr lang="en-US" sz="1400" dirty="0">
                <a:solidFill>
                  <a:srgbClr val="14213D"/>
                </a:solidFill>
              </a:rPr>
              <a:t>Agent quality monitoring in production</a:t>
            </a:r>
            <a:endParaRPr lang="en-US" sz="1400" dirty="0"/>
          </a:p>
        </p:txBody>
      </p:sp>
      <p:sp>
        <p:nvSpPr>
          <p:cNvPr id="33" name="Shape 30"/>
          <p:cNvSpPr/>
          <p:nvPr/>
        </p:nvSpPr>
        <p:spPr>
          <a:xfrm>
            <a:off x="6428232" y="5129784"/>
            <a:ext cx="5120640" cy="640080"/>
          </a:xfrm>
          <a:prstGeom prst="roundRect">
            <a:avLst>
              <a:gd name="adj" fmla="val 10000"/>
            </a:avLst>
          </a:prstGeom>
          <a:solidFill>
            <a:srgbClr val="FFFFFF"/>
          </a:solidFill>
          <a:ln w="12700">
            <a:solidFill>
              <a:srgbClr val="0E9F9E"/>
            </a:solidFill>
            <a:prstDash val="solid"/>
          </a:ln>
          <a:effectLst>
            <a:outerShdw sx="100000" sy="100000" kx="0" ky="0" algn="bl" rotWithShape="0" blurRad="101600" dist="25400" dir="5400000">
              <a:srgbClr val="1B2A4A">
                <a:alpha val="10000"/>
              </a:srgbClr>
            </a:outerShdw>
          </a:effectLst>
        </p:spPr>
      </p:sp>
      <p:sp>
        <p:nvSpPr>
          <p:cNvPr id="34" name="Shape 31"/>
          <p:cNvSpPr/>
          <p:nvPr/>
        </p:nvSpPr>
        <p:spPr>
          <a:xfrm>
            <a:off x="6629400" y="5266944"/>
            <a:ext cx="365760" cy="365760"/>
          </a:xfrm>
          <a:prstGeom prst="ellipse">
            <a:avLst/>
          </a:prstGeom>
          <a:solidFill>
            <a:srgbClr val="0E9F9E"/>
          </a:solidFill>
          <a:ln w="6350">
            <a:solidFill>
              <a:srgbClr val="0E9F9E"/>
            </a:solidFill>
            <a:prstDash val="solid"/>
          </a:ln>
        </p:spPr>
      </p:sp>
      <p:sp>
        <p:nvSpPr>
          <p:cNvPr id="35" name="Text 32"/>
          <p:cNvSpPr txBox="1"/>
          <p:nvPr/>
        </p:nvSpPr>
        <p:spPr>
          <a:xfrm>
            <a:off x="6629400" y="52669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3"/>
          <p:cNvSpPr txBox="1"/>
          <p:nvPr/>
        </p:nvSpPr>
        <p:spPr>
          <a:xfrm>
            <a:off x="7178040" y="5129784"/>
            <a:ext cx="4206240" cy="640080"/>
          </a:xfrm>
          <a:prstGeom prst="rect">
            <a:avLst/>
          </a:prstGeom>
          <a:noFill/>
          <a:ln/>
        </p:spPr>
        <p:txBody>
          <a:bodyPr wrap="square" lIns="0" tIns="0" rIns="0" bIns="0" rtlCol="0" anchor="ctr"/>
          <a:lstStyle/>
          <a:p>
            <a:pPr indent="0" marL="0">
              <a:buNone/>
            </a:pPr>
            <a:r>
              <a:rPr lang="en-US" sz="1400" dirty="0">
                <a:solidFill>
                  <a:srgbClr val="14213D"/>
                </a:solidFill>
              </a:rPr>
              <a:t>Native-speaker review of translations</a:t>
            </a:r>
            <a:endParaRPr lang="en-US" sz="1400" dirty="0"/>
          </a:p>
        </p:txBody>
      </p:sp>
      <p:sp>
        <p:nvSpPr>
          <p:cNvPr id="25" name="Slide Number Placeholder 0"/>
          <p:cNvSpPr>
            <a:spLocks noGrp="1"/>
          </p:cNvSpPr>
          <p:nvPr>
            <p:ph type="sldNum" sz="quarter" idx="4294967295"/>
          </p:nvPr>
        </p:nvSpPr>
        <p:spPr>
          <a:xfrm>
            <a:off x="10881360" y="653796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hape 0"/>
          <p:cNvSpPr/>
          <p:nvPr/>
        </p:nvSpPr>
        <p:spPr>
          <a:xfrm>
            <a:off x="0" y="0"/>
            <a:ext cx="164592" cy="6858000"/>
          </a:xfrm>
          <a:prstGeom prst="rect">
            <a:avLst/>
          </a:prstGeom>
          <a:solidFill>
            <a:srgbClr val="0E9F9E"/>
          </a:solidFill>
          <a:ln w="12700">
            <a:solidFill>
              <a:srgbClr val="0E9F9E"/>
            </a:solidFill>
            <a:prstDash val="solid"/>
          </a:ln>
        </p:spPr>
      </p:sp>
      <p:pic>
        <p:nvPicPr>
          <p:cNvPr id="4" name="Image 0" descr="CitiusTech logo mark">    </p:cNvPr>
          <p:cNvPicPr>
            <a:picLocks noChangeAspect="1"/>
          </p:cNvPicPr>
          <p:nvPr/>
        </p:nvPicPr>
        <p:blipFill>
          <a:blip r:embed="rId1"/>
          <a:stretch>
            <a:fillRect/>
          </a:stretch>
        </p:blipFill>
        <p:spPr>
          <a:xfrm>
            <a:off x="731520" y="502920"/>
            <a:ext cx="384048" cy="384048"/>
          </a:xfrm>
          <a:prstGeom prst="rect">
            <a:avLst/>
          </a:prstGeom>
        </p:spPr>
      </p:pic>
      <p:sp>
        <p:nvSpPr>
          <p:cNvPr id="5" name="Text 1"/>
          <p:cNvSpPr txBox="1"/>
          <p:nvPr/>
        </p:nvSpPr>
        <p:spPr>
          <a:xfrm>
            <a:off x="1234440" y="484632"/>
            <a:ext cx="2743200" cy="420624"/>
          </a:xfrm>
          <a:prstGeom prst="rect">
            <a:avLst/>
          </a:prstGeom>
          <a:noFill/>
          <a:ln/>
        </p:spPr>
        <p:txBody>
          <a:bodyPr wrap="square" lIns="0" tIns="0" rIns="0" bIns="0" rtlCol="0" anchor="ctr"/>
          <a:lstStyle/>
          <a:p>
            <a:pPr indent="0" marL="0">
              <a:buNone/>
            </a:pPr>
            <a:r>
              <a:rPr lang="en-US" sz="1800" b="1" dirty="0">
                <a:solidFill>
                  <a:srgbClr val="FFFFFF"/>
                </a:solidFill>
              </a:rPr>
              <a:t>CitiusTech</a:t>
            </a:r>
            <a:endParaRPr lang="en-US" sz="1800" dirty="0"/>
          </a:p>
        </p:txBody>
      </p:sp>
      <p:sp>
        <p:nvSpPr>
          <p:cNvPr id="6" name="Text 2"/>
          <p:cNvSpPr txBox="1"/>
          <p:nvPr/>
        </p:nvSpPr>
        <p:spPr>
          <a:xfrm>
            <a:off x="731520" y="1280160"/>
            <a:ext cx="5486400" cy="274320"/>
          </a:xfrm>
          <a:prstGeom prst="rect">
            <a:avLst/>
          </a:prstGeom>
          <a:noFill/>
          <a:ln/>
        </p:spPr>
        <p:txBody>
          <a:bodyPr wrap="square" lIns="0" tIns="0" rIns="0" bIns="0" rtlCol="0" anchor="t"/>
          <a:lstStyle/>
          <a:p>
            <a:pPr indent="0" marL="0">
              <a:buNone/>
            </a:pPr>
            <a:r>
              <a:rPr lang="en-US" sz="1200" b="1" spc="300" kern="0" dirty="0">
                <a:solidFill>
                  <a:srgbClr val="5FD6D5"/>
                </a:solidFill>
              </a:rPr>
              <a:t>IN SUMMARY</a:t>
            </a:r>
            <a:endParaRPr lang="en-US" sz="1200" dirty="0"/>
          </a:p>
        </p:txBody>
      </p:sp>
      <p:sp>
        <p:nvSpPr>
          <p:cNvPr id="7" name="Text 3"/>
          <p:cNvSpPr txBox="1"/>
          <p:nvPr/>
        </p:nvSpPr>
        <p:spPr>
          <a:xfrm>
            <a:off x="731520" y="1645920"/>
            <a:ext cx="10515600" cy="1188720"/>
          </a:xfrm>
          <a:prstGeom prst="rect">
            <a:avLst/>
          </a:prstGeom>
          <a:noFill/>
          <a:ln/>
        </p:spPr>
        <p:txBody>
          <a:bodyPr wrap="square" lIns="0" tIns="0" rIns="0" bIns="0" rtlCol="0" anchor="t"/>
          <a:lstStyle/>
          <a:p>
            <a:pPr indent="0" marL="0">
              <a:buNone/>
            </a:pPr>
            <a:r>
              <a:rPr lang="en-US" sz="3200" b="1" dirty="0">
                <a:solidFill>
                  <a:srgbClr val="FFFFFF"/>
                </a:solidFill>
              </a:rPr>
              <a:t>A safe assistant that helps people, and never replaces them</a:t>
            </a:r>
            <a:endParaRPr lang="en-US" sz="3200" dirty="0"/>
          </a:p>
        </p:txBody>
      </p:sp>
      <p:sp>
        <p:nvSpPr>
          <p:cNvPr id="8" name="Shape 4"/>
          <p:cNvSpPr/>
          <p:nvPr/>
        </p:nvSpPr>
        <p:spPr>
          <a:xfrm>
            <a:off x="731520" y="3200400"/>
            <a:ext cx="2560320" cy="1737360"/>
          </a:xfrm>
          <a:prstGeom prst="roundRect">
            <a:avLst>
              <a:gd name="adj" fmla="val 4211"/>
            </a:avLst>
          </a:prstGeom>
          <a:solidFill>
            <a:srgbClr val="FFFFFF">
              <a:alpha val="10000"/>
            </a:srgbClr>
          </a:solidFill>
          <a:ln w="9525">
            <a:solidFill>
              <a:srgbClr val="FFFFFF">
                <a:alpha val="35000"/>
              </a:srgbClr>
            </a:solidFill>
            <a:prstDash val="solid"/>
          </a:ln>
        </p:spPr>
      </p:sp>
      <p:sp>
        <p:nvSpPr>
          <p:cNvPr id="9" name="Shape 5"/>
          <p:cNvSpPr/>
          <p:nvPr/>
        </p:nvSpPr>
        <p:spPr>
          <a:xfrm>
            <a:off x="914400" y="3383280"/>
            <a:ext cx="548640" cy="548640"/>
          </a:xfrm>
          <a:prstGeom prst="ellipse">
            <a:avLst/>
          </a:prstGeom>
          <a:solidFill>
            <a:srgbClr val="0E9F9E"/>
          </a:solidFill>
          <a:ln w="6350">
            <a:solidFill>
              <a:srgbClr val="0E9F9E"/>
            </a:solidFill>
            <a:prstDash val="solid"/>
          </a:ln>
        </p:spPr>
      </p:sp>
      <p:pic>
        <p:nvPicPr>
          <p:cNvPr id="10" name="Image 1" descr="FaCubes">    </p:cNvPr>
          <p:cNvPicPr>
            <a:picLocks noChangeAspect="1"/>
          </p:cNvPicPr>
          <p:nvPr/>
        </p:nvPicPr>
        <p:blipFill>
          <a:blip r:embed="rId2"/>
          <a:stretch>
            <a:fillRect/>
          </a:stretch>
        </p:blipFill>
        <p:spPr>
          <a:xfrm>
            <a:off x="1062533" y="3531413"/>
            <a:ext cx="252374" cy="252374"/>
          </a:xfrm>
          <a:prstGeom prst="rect">
            <a:avLst/>
          </a:prstGeom>
        </p:spPr>
      </p:pic>
      <p:sp>
        <p:nvSpPr>
          <p:cNvPr id="11" name="Text 6"/>
          <p:cNvSpPr txBox="1"/>
          <p:nvPr/>
        </p:nvSpPr>
        <p:spPr>
          <a:xfrm>
            <a:off x="914400" y="4069080"/>
            <a:ext cx="2194560" cy="822960"/>
          </a:xfrm>
          <a:prstGeom prst="rect">
            <a:avLst/>
          </a:prstGeom>
          <a:noFill/>
          <a:ln/>
        </p:spPr>
        <p:txBody>
          <a:bodyPr wrap="square" lIns="0" tIns="0" rIns="0" bIns="0" rtlCol="0" anchor="t"/>
          <a:lstStyle/>
          <a:p>
            <a:pPr indent="0" marL="0">
              <a:buNone/>
            </a:pPr>
            <a:r>
              <a:rPr lang="en-US" sz="1400" b="1" dirty="0">
                <a:solidFill>
                  <a:srgbClr val="FFFFFF"/>
                </a:solidFill>
              </a:rPr>
              <a:t>Governed multi-agent design on Microsoft Foundry</a:t>
            </a:r>
            <a:endParaRPr lang="en-US" sz="1400" dirty="0"/>
          </a:p>
        </p:txBody>
      </p:sp>
      <p:sp>
        <p:nvSpPr>
          <p:cNvPr id="12" name="Shape 7"/>
          <p:cNvSpPr/>
          <p:nvPr/>
        </p:nvSpPr>
        <p:spPr>
          <a:xfrm>
            <a:off x="3474720" y="3200400"/>
            <a:ext cx="2560320" cy="1737360"/>
          </a:xfrm>
          <a:prstGeom prst="roundRect">
            <a:avLst>
              <a:gd name="adj" fmla="val 4211"/>
            </a:avLst>
          </a:prstGeom>
          <a:solidFill>
            <a:srgbClr val="FFFFFF">
              <a:alpha val="10000"/>
            </a:srgbClr>
          </a:solidFill>
          <a:ln w="9525">
            <a:solidFill>
              <a:srgbClr val="FFFFFF">
                <a:alpha val="35000"/>
              </a:srgbClr>
            </a:solidFill>
            <a:prstDash val="solid"/>
          </a:ln>
        </p:spPr>
      </p:sp>
      <p:sp>
        <p:nvSpPr>
          <p:cNvPr id="13" name="Shape 8"/>
          <p:cNvSpPr/>
          <p:nvPr/>
        </p:nvSpPr>
        <p:spPr>
          <a:xfrm>
            <a:off x="3657600" y="3383280"/>
            <a:ext cx="548640" cy="548640"/>
          </a:xfrm>
          <a:prstGeom prst="ellipse">
            <a:avLst/>
          </a:prstGeom>
          <a:solidFill>
            <a:srgbClr val="0E9F9E"/>
          </a:solidFill>
          <a:ln w="6350">
            <a:solidFill>
              <a:srgbClr val="0E9F9E"/>
            </a:solidFill>
            <a:prstDash val="solid"/>
          </a:ln>
        </p:spPr>
      </p:sp>
      <p:pic>
        <p:nvPicPr>
          <p:cNvPr id="14" name="Image 2" descr="FaShieldAlt">    </p:cNvPr>
          <p:cNvPicPr>
            <a:picLocks noChangeAspect="1"/>
          </p:cNvPicPr>
          <p:nvPr/>
        </p:nvPicPr>
        <p:blipFill>
          <a:blip r:embed="rId3"/>
          <a:stretch>
            <a:fillRect/>
          </a:stretch>
        </p:blipFill>
        <p:spPr>
          <a:xfrm>
            <a:off x="3805733" y="3531413"/>
            <a:ext cx="252374" cy="252374"/>
          </a:xfrm>
          <a:prstGeom prst="rect">
            <a:avLst/>
          </a:prstGeom>
        </p:spPr>
      </p:pic>
      <p:sp>
        <p:nvSpPr>
          <p:cNvPr id="15" name="Text 9"/>
          <p:cNvSpPr txBox="1"/>
          <p:nvPr/>
        </p:nvSpPr>
        <p:spPr>
          <a:xfrm>
            <a:off x="3657600" y="4069080"/>
            <a:ext cx="2194560" cy="822960"/>
          </a:xfrm>
          <a:prstGeom prst="rect">
            <a:avLst/>
          </a:prstGeom>
          <a:noFill/>
          <a:ln/>
        </p:spPr>
        <p:txBody>
          <a:bodyPr wrap="square" lIns="0" tIns="0" rIns="0" bIns="0" rtlCol="0" anchor="t"/>
          <a:lstStyle/>
          <a:p>
            <a:pPr indent="0" marL="0">
              <a:buNone/>
            </a:pPr>
            <a:r>
              <a:rPr lang="en-US" sz="1400" b="1" dirty="0">
                <a:solidFill>
                  <a:srgbClr val="FFFFFF"/>
                </a:solidFill>
              </a:rPr>
              <a:t>Four code-enforced safety rules with human hand-off</a:t>
            </a:r>
            <a:endParaRPr lang="en-US" sz="1400" dirty="0"/>
          </a:p>
        </p:txBody>
      </p:sp>
      <p:sp>
        <p:nvSpPr>
          <p:cNvPr id="16" name="Shape 10"/>
          <p:cNvSpPr/>
          <p:nvPr/>
        </p:nvSpPr>
        <p:spPr>
          <a:xfrm>
            <a:off x="6217920" y="3200400"/>
            <a:ext cx="2560320" cy="1737360"/>
          </a:xfrm>
          <a:prstGeom prst="roundRect">
            <a:avLst>
              <a:gd name="adj" fmla="val 4211"/>
            </a:avLst>
          </a:prstGeom>
          <a:solidFill>
            <a:srgbClr val="FFFFFF">
              <a:alpha val="10000"/>
            </a:srgbClr>
          </a:solidFill>
          <a:ln w="9525">
            <a:solidFill>
              <a:srgbClr val="FFFFFF">
                <a:alpha val="35000"/>
              </a:srgbClr>
            </a:solidFill>
            <a:prstDash val="solid"/>
          </a:ln>
        </p:spPr>
      </p:sp>
      <p:sp>
        <p:nvSpPr>
          <p:cNvPr id="17" name="Shape 11"/>
          <p:cNvSpPr/>
          <p:nvPr/>
        </p:nvSpPr>
        <p:spPr>
          <a:xfrm>
            <a:off x="6400800" y="3383280"/>
            <a:ext cx="548640" cy="548640"/>
          </a:xfrm>
          <a:prstGeom prst="ellipse">
            <a:avLst/>
          </a:prstGeom>
          <a:solidFill>
            <a:srgbClr val="0E9F9E"/>
          </a:solidFill>
          <a:ln w="6350">
            <a:solidFill>
              <a:srgbClr val="0E9F9E"/>
            </a:solidFill>
            <a:prstDash val="solid"/>
          </a:ln>
        </p:spPr>
      </p:sp>
      <p:pic>
        <p:nvPicPr>
          <p:cNvPr id="18" name="Image 3" descr="FaBookMedical">    </p:cNvPr>
          <p:cNvPicPr>
            <a:picLocks noChangeAspect="1"/>
          </p:cNvPicPr>
          <p:nvPr/>
        </p:nvPicPr>
        <p:blipFill>
          <a:blip r:embed="rId4"/>
          <a:stretch>
            <a:fillRect/>
          </a:stretch>
        </p:blipFill>
        <p:spPr>
          <a:xfrm>
            <a:off x="6548933" y="3531413"/>
            <a:ext cx="252374" cy="252374"/>
          </a:xfrm>
          <a:prstGeom prst="rect">
            <a:avLst/>
          </a:prstGeom>
        </p:spPr>
      </p:pic>
      <p:sp>
        <p:nvSpPr>
          <p:cNvPr id="19" name="Text 12"/>
          <p:cNvSpPr txBox="1"/>
          <p:nvPr/>
        </p:nvSpPr>
        <p:spPr>
          <a:xfrm>
            <a:off x="6400800" y="4069080"/>
            <a:ext cx="2194560" cy="822960"/>
          </a:xfrm>
          <a:prstGeom prst="rect">
            <a:avLst/>
          </a:prstGeom>
          <a:noFill/>
          <a:ln/>
        </p:spPr>
        <p:txBody>
          <a:bodyPr wrap="square" lIns="0" tIns="0" rIns="0" bIns="0" rtlCol="0" anchor="t"/>
          <a:lstStyle/>
          <a:p>
            <a:pPr indent="0" marL="0">
              <a:buNone/>
            </a:pPr>
            <a:r>
              <a:rPr lang="en-US" sz="1400" b="1" dirty="0">
                <a:solidFill>
                  <a:srgbClr val="FFFFFF"/>
                </a:solidFill>
              </a:rPr>
              <a:t>Approved, versioned, cited education answers</a:t>
            </a:r>
            <a:endParaRPr lang="en-US" sz="1400" dirty="0"/>
          </a:p>
        </p:txBody>
      </p:sp>
      <p:sp>
        <p:nvSpPr>
          <p:cNvPr id="20" name="Shape 13"/>
          <p:cNvSpPr/>
          <p:nvPr/>
        </p:nvSpPr>
        <p:spPr>
          <a:xfrm>
            <a:off x="8961120" y="3200400"/>
            <a:ext cx="2560320" cy="1737360"/>
          </a:xfrm>
          <a:prstGeom prst="roundRect">
            <a:avLst>
              <a:gd name="adj" fmla="val 4211"/>
            </a:avLst>
          </a:prstGeom>
          <a:solidFill>
            <a:srgbClr val="FFFFFF">
              <a:alpha val="10000"/>
            </a:srgbClr>
          </a:solidFill>
          <a:ln w="9525">
            <a:solidFill>
              <a:srgbClr val="FFFFFF">
                <a:alpha val="35000"/>
              </a:srgbClr>
            </a:solidFill>
            <a:prstDash val="solid"/>
          </a:ln>
        </p:spPr>
      </p:sp>
      <p:sp>
        <p:nvSpPr>
          <p:cNvPr id="21" name="Shape 14"/>
          <p:cNvSpPr/>
          <p:nvPr/>
        </p:nvSpPr>
        <p:spPr>
          <a:xfrm>
            <a:off x="9144000" y="3383280"/>
            <a:ext cx="548640" cy="548640"/>
          </a:xfrm>
          <a:prstGeom prst="ellipse">
            <a:avLst/>
          </a:prstGeom>
          <a:solidFill>
            <a:srgbClr val="0E9F9E"/>
          </a:solidFill>
          <a:ln w="6350">
            <a:solidFill>
              <a:srgbClr val="0E9F9E"/>
            </a:solidFill>
            <a:prstDash val="solid"/>
          </a:ln>
        </p:spPr>
      </p:sp>
      <p:pic>
        <p:nvPicPr>
          <p:cNvPr id="22" name="Image 4" descr="FaClipboardCheck">    </p:cNvPr>
          <p:cNvPicPr>
            <a:picLocks noChangeAspect="1"/>
          </p:cNvPicPr>
          <p:nvPr/>
        </p:nvPicPr>
        <p:blipFill>
          <a:blip r:embed="rId5"/>
          <a:stretch>
            <a:fillRect/>
          </a:stretch>
        </p:blipFill>
        <p:spPr>
          <a:xfrm>
            <a:off x="9292133" y="3531413"/>
            <a:ext cx="252374" cy="252374"/>
          </a:xfrm>
          <a:prstGeom prst="rect">
            <a:avLst/>
          </a:prstGeom>
        </p:spPr>
      </p:pic>
      <p:sp>
        <p:nvSpPr>
          <p:cNvPr id="23" name="Text 15"/>
          <p:cNvSpPr txBox="1"/>
          <p:nvPr/>
        </p:nvSpPr>
        <p:spPr>
          <a:xfrm>
            <a:off x="9144000" y="4069080"/>
            <a:ext cx="2194560" cy="822960"/>
          </a:xfrm>
          <a:prstGeom prst="rect">
            <a:avLst/>
          </a:prstGeom>
          <a:noFill/>
          <a:ln/>
        </p:spPr>
        <p:txBody>
          <a:bodyPr wrap="square" lIns="0" tIns="0" rIns="0" bIns="0" rtlCol="0" anchor="t"/>
          <a:lstStyle/>
          <a:p>
            <a:pPr indent="0" marL="0">
              <a:buNone/>
            </a:pPr>
            <a:r>
              <a:rPr lang="en-US" sz="1400" b="1" dirty="0">
                <a:solidFill>
                  <a:srgbClr val="FFFFFF"/>
                </a:solidFill>
              </a:rPr>
              <a:t>14 of 14 validation scenarios passed on live Azure</a:t>
            </a:r>
            <a:endParaRPr lang="en-US" sz="1400" dirty="0"/>
          </a:p>
        </p:txBody>
      </p:sp>
      <p:sp>
        <p:nvSpPr>
          <p:cNvPr id="24" name="Shape 16"/>
          <p:cNvSpPr/>
          <p:nvPr/>
        </p:nvSpPr>
        <p:spPr>
          <a:xfrm>
            <a:off x="731520" y="5349240"/>
            <a:ext cx="10698480" cy="777240"/>
          </a:xfrm>
          <a:prstGeom prst="roundRect">
            <a:avLst>
              <a:gd name="adj" fmla="val 9412"/>
            </a:avLst>
          </a:prstGeom>
          <a:solidFill>
            <a:srgbClr val="0E9F9E"/>
          </a:solidFill>
          <a:ln w="12700">
            <a:solidFill>
              <a:srgbClr val="0E9F9E"/>
            </a:solidFill>
            <a:prstDash val="solid"/>
          </a:ln>
        </p:spPr>
      </p:sp>
      <p:sp>
        <p:nvSpPr>
          <p:cNvPr id="25" name="Text 17"/>
          <p:cNvSpPr txBox="1"/>
          <p:nvPr/>
        </p:nvSpPr>
        <p:spPr>
          <a:xfrm>
            <a:off x="1005840" y="5349240"/>
            <a:ext cx="10149840" cy="777240"/>
          </a:xfrm>
          <a:prstGeom prst="rect">
            <a:avLst/>
          </a:prstGeom>
          <a:noFill/>
          <a:ln/>
        </p:spPr>
        <p:txBody>
          <a:bodyPr wrap="square" lIns="0" tIns="0" rIns="0" bIns="0" rtlCol="0" anchor="ctr"/>
          <a:lstStyle/>
          <a:p>
            <a:pPr indent="0" marL="0">
              <a:buNone/>
            </a:pPr>
            <a:r>
              <a:rPr lang="en-US" sz="1600" b="1" dirty="0">
                <a:solidFill>
                  <a:srgbClr val="FFFFFF"/>
                </a:solidFill>
              </a:rPr>
              <a:t>Proposed next step: agree a pilot scope and name a clinical owner for the rule values.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Shape 0"/>
          <p:cNvSpPr/>
          <p:nvPr/>
        </p:nvSpPr>
        <p:spPr>
          <a:xfrm>
            <a:off x="0" y="0"/>
            <a:ext cx="164592" cy="6858000"/>
          </a:xfrm>
          <a:prstGeom prst="rect">
            <a:avLst/>
          </a:prstGeom>
          <a:solidFill>
            <a:srgbClr val="0E9F9E"/>
          </a:solidFill>
          <a:ln w="12700">
            <a:solidFill>
              <a:srgbClr val="0E9F9E"/>
            </a:solidFill>
            <a:prstDash val="solid"/>
          </a:ln>
        </p:spPr>
      </p:sp>
      <p:pic>
        <p:nvPicPr>
          <p:cNvPr id="4" name="Image 0" descr="CitiusTech logo mark">    </p:cNvPr>
          <p:cNvPicPr>
            <a:picLocks noChangeAspect="1"/>
          </p:cNvPicPr>
          <p:nvPr/>
        </p:nvPicPr>
        <p:blipFill>
          <a:blip r:embed="rId1"/>
          <a:stretch>
            <a:fillRect/>
          </a:stretch>
        </p:blipFill>
        <p:spPr>
          <a:xfrm>
            <a:off x="731520" y="502920"/>
            <a:ext cx="457200" cy="457200"/>
          </a:xfrm>
          <a:prstGeom prst="rect">
            <a:avLst/>
          </a:prstGeom>
        </p:spPr>
      </p:pic>
      <p:sp>
        <p:nvSpPr>
          <p:cNvPr id="5" name="Text 1"/>
          <p:cNvSpPr txBox="1"/>
          <p:nvPr/>
        </p:nvSpPr>
        <p:spPr>
          <a:xfrm>
            <a:off x="1325880" y="484632"/>
            <a:ext cx="2743200" cy="493776"/>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
        <p:nvSpPr>
          <p:cNvPr id="6" name="Text 2"/>
          <p:cNvSpPr txBox="1"/>
          <p:nvPr/>
        </p:nvSpPr>
        <p:spPr>
          <a:xfrm>
            <a:off x="731520" y="2103120"/>
            <a:ext cx="7315200" cy="1005840"/>
          </a:xfrm>
          <a:prstGeom prst="rect">
            <a:avLst/>
          </a:prstGeom>
          <a:noFill/>
          <a:ln/>
        </p:spPr>
        <p:txBody>
          <a:bodyPr wrap="square" lIns="0" tIns="0" rIns="0" bIns="0" rtlCol="0" anchor="t"/>
          <a:lstStyle/>
          <a:p>
            <a:pPr indent="0" marL="0">
              <a:buNone/>
            </a:pPr>
            <a:r>
              <a:rPr lang="en-US" sz="5400" b="1" dirty="0">
                <a:solidFill>
                  <a:srgbClr val="FFFFFF"/>
                </a:solidFill>
              </a:rPr>
              <a:t>Thank you</a:t>
            </a:r>
            <a:endParaRPr lang="en-US" sz="5400" dirty="0"/>
          </a:p>
        </p:txBody>
      </p:sp>
      <p:sp>
        <p:nvSpPr>
          <p:cNvPr id="7" name="Text 3"/>
          <p:cNvSpPr txBox="1"/>
          <p:nvPr/>
        </p:nvSpPr>
        <p:spPr>
          <a:xfrm>
            <a:off x="731520" y="3200400"/>
            <a:ext cx="7315200" cy="457200"/>
          </a:xfrm>
          <a:prstGeom prst="rect">
            <a:avLst/>
          </a:prstGeom>
          <a:noFill/>
          <a:ln/>
        </p:spPr>
        <p:txBody>
          <a:bodyPr wrap="square" lIns="0" tIns="0" rIns="0" bIns="0" rtlCol="0" anchor="t"/>
          <a:lstStyle/>
          <a:p>
            <a:pPr indent="0" marL="0">
              <a:buNone/>
            </a:pPr>
            <a:r>
              <a:rPr lang="en-US" sz="2200" dirty="0">
                <a:solidFill>
                  <a:srgbClr val="C9D8F2"/>
                </a:solidFill>
              </a:rPr>
              <a:t>Questions and discussion</a:t>
            </a:r>
            <a:endParaRPr lang="en-US" sz="2200" dirty="0"/>
          </a:p>
        </p:txBody>
      </p:sp>
      <p:sp>
        <p:nvSpPr>
          <p:cNvPr id="8" name="Shape 4"/>
          <p:cNvSpPr/>
          <p:nvPr/>
        </p:nvSpPr>
        <p:spPr>
          <a:xfrm>
            <a:off x="731520" y="4572000"/>
            <a:ext cx="2560320" cy="822960"/>
          </a:xfrm>
          <a:prstGeom prst="roundRect">
            <a:avLst>
              <a:gd name="adj" fmla="val 8889"/>
            </a:avLst>
          </a:prstGeom>
          <a:solidFill>
            <a:srgbClr val="FFFFFF">
              <a:alpha val="10000"/>
            </a:srgbClr>
          </a:solidFill>
          <a:ln w="9525">
            <a:solidFill>
              <a:srgbClr val="FFFFFF">
                <a:alpha val="35000"/>
              </a:srgbClr>
            </a:solidFill>
            <a:prstDash val="solid"/>
          </a:ln>
        </p:spPr>
      </p:sp>
      <p:sp>
        <p:nvSpPr>
          <p:cNvPr id="9" name="Shape 5"/>
          <p:cNvSpPr/>
          <p:nvPr/>
        </p:nvSpPr>
        <p:spPr>
          <a:xfrm>
            <a:off x="896112" y="4754880"/>
            <a:ext cx="457200" cy="457200"/>
          </a:xfrm>
          <a:prstGeom prst="ellipse">
            <a:avLst/>
          </a:prstGeom>
          <a:solidFill>
            <a:srgbClr val="0E9F9E"/>
          </a:solidFill>
          <a:ln w="6350">
            <a:solidFill>
              <a:srgbClr val="0E9F9E"/>
            </a:solidFill>
            <a:prstDash val="solid"/>
          </a:ln>
        </p:spPr>
      </p:sp>
      <p:sp>
        <p:nvSpPr>
          <p:cNvPr id="10" name="Text 6"/>
          <p:cNvSpPr txBox="1"/>
          <p:nvPr/>
        </p:nvSpPr>
        <p:spPr>
          <a:xfrm>
            <a:off x="896112" y="4754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AP</a:t>
            </a:r>
            <a:endParaRPr lang="en-US" sz="1300" dirty="0"/>
          </a:p>
        </p:txBody>
      </p:sp>
      <p:sp>
        <p:nvSpPr>
          <p:cNvPr id="11" name="Text 7"/>
          <p:cNvSpPr txBox="1"/>
          <p:nvPr/>
        </p:nvSpPr>
        <p:spPr>
          <a:xfrm>
            <a:off x="1463040" y="4572000"/>
            <a:ext cx="1783080" cy="822960"/>
          </a:xfrm>
          <a:prstGeom prst="rect">
            <a:avLst/>
          </a:prstGeom>
          <a:noFill/>
          <a:ln/>
        </p:spPr>
        <p:txBody>
          <a:bodyPr wrap="square" lIns="0" tIns="0" rIns="0" bIns="0" rtlCol="0" anchor="ctr"/>
          <a:lstStyle/>
          <a:p>
            <a:pPr indent="0" marL="0">
              <a:buNone/>
            </a:pPr>
            <a:r>
              <a:rPr lang="en-US" sz="1400" b="1" dirty="0">
                <a:solidFill>
                  <a:srgbClr val="FFFFFF"/>
                </a:solidFill>
              </a:rPr>
              <a:t>Amey Patil</a:t>
            </a:r>
            <a:endParaRPr lang="en-US" sz="1400" dirty="0"/>
          </a:p>
        </p:txBody>
      </p:sp>
      <p:sp>
        <p:nvSpPr>
          <p:cNvPr id="12" name="Shape 8"/>
          <p:cNvSpPr/>
          <p:nvPr/>
        </p:nvSpPr>
        <p:spPr>
          <a:xfrm>
            <a:off x="3474720" y="4572000"/>
            <a:ext cx="2560320" cy="822960"/>
          </a:xfrm>
          <a:prstGeom prst="roundRect">
            <a:avLst>
              <a:gd name="adj" fmla="val 8889"/>
            </a:avLst>
          </a:prstGeom>
          <a:solidFill>
            <a:srgbClr val="FFFFFF">
              <a:alpha val="10000"/>
            </a:srgbClr>
          </a:solidFill>
          <a:ln w="9525">
            <a:solidFill>
              <a:srgbClr val="FFFFFF">
                <a:alpha val="35000"/>
              </a:srgbClr>
            </a:solidFill>
            <a:prstDash val="solid"/>
          </a:ln>
        </p:spPr>
      </p:sp>
      <p:sp>
        <p:nvSpPr>
          <p:cNvPr id="13" name="Shape 9"/>
          <p:cNvSpPr/>
          <p:nvPr/>
        </p:nvSpPr>
        <p:spPr>
          <a:xfrm>
            <a:off x="3639312" y="4754880"/>
            <a:ext cx="457200" cy="457200"/>
          </a:xfrm>
          <a:prstGeom prst="ellipse">
            <a:avLst/>
          </a:prstGeom>
          <a:solidFill>
            <a:srgbClr val="0E9F9E"/>
          </a:solidFill>
          <a:ln w="6350">
            <a:solidFill>
              <a:srgbClr val="0E9F9E"/>
            </a:solidFill>
            <a:prstDash val="solid"/>
          </a:ln>
        </p:spPr>
      </p:sp>
      <p:sp>
        <p:nvSpPr>
          <p:cNvPr id="14" name="Text 10"/>
          <p:cNvSpPr txBox="1"/>
          <p:nvPr/>
        </p:nvSpPr>
        <p:spPr>
          <a:xfrm>
            <a:off x="3639312" y="4754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SS</a:t>
            </a:r>
            <a:endParaRPr lang="en-US" sz="1300" dirty="0"/>
          </a:p>
        </p:txBody>
      </p:sp>
      <p:sp>
        <p:nvSpPr>
          <p:cNvPr id="15" name="Text 11"/>
          <p:cNvSpPr txBox="1"/>
          <p:nvPr/>
        </p:nvSpPr>
        <p:spPr>
          <a:xfrm>
            <a:off x="4206240" y="4572000"/>
            <a:ext cx="1783080" cy="822960"/>
          </a:xfrm>
          <a:prstGeom prst="rect">
            <a:avLst/>
          </a:prstGeom>
          <a:noFill/>
          <a:ln/>
        </p:spPr>
        <p:txBody>
          <a:bodyPr wrap="square" lIns="0" tIns="0" rIns="0" bIns="0" rtlCol="0" anchor="ctr"/>
          <a:lstStyle/>
          <a:p>
            <a:pPr indent="0" marL="0">
              <a:buNone/>
            </a:pPr>
            <a:r>
              <a:rPr lang="en-US" sz="1400" b="1" dirty="0">
                <a:solidFill>
                  <a:srgbClr val="FFFFFF"/>
                </a:solidFill>
              </a:rPr>
              <a:t>Saurabh Singh</a:t>
            </a:r>
            <a:endParaRPr lang="en-US" sz="1400" dirty="0"/>
          </a:p>
        </p:txBody>
      </p:sp>
      <p:sp>
        <p:nvSpPr>
          <p:cNvPr id="16" name="Shape 12"/>
          <p:cNvSpPr/>
          <p:nvPr/>
        </p:nvSpPr>
        <p:spPr>
          <a:xfrm>
            <a:off x="6217920" y="4572000"/>
            <a:ext cx="2560320" cy="822960"/>
          </a:xfrm>
          <a:prstGeom prst="roundRect">
            <a:avLst>
              <a:gd name="adj" fmla="val 8889"/>
            </a:avLst>
          </a:prstGeom>
          <a:solidFill>
            <a:srgbClr val="FFFFFF">
              <a:alpha val="10000"/>
            </a:srgbClr>
          </a:solidFill>
          <a:ln w="9525">
            <a:solidFill>
              <a:srgbClr val="FFFFFF">
                <a:alpha val="35000"/>
              </a:srgbClr>
            </a:solidFill>
            <a:prstDash val="solid"/>
          </a:ln>
        </p:spPr>
      </p:sp>
      <p:sp>
        <p:nvSpPr>
          <p:cNvPr id="17" name="Shape 13"/>
          <p:cNvSpPr/>
          <p:nvPr/>
        </p:nvSpPr>
        <p:spPr>
          <a:xfrm>
            <a:off x="6382512" y="4754880"/>
            <a:ext cx="457200" cy="457200"/>
          </a:xfrm>
          <a:prstGeom prst="ellipse">
            <a:avLst/>
          </a:prstGeom>
          <a:solidFill>
            <a:srgbClr val="0E9F9E"/>
          </a:solidFill>
          <a:ln w="6350">
            <a:solidFill>
              <a:srgbClr val="0E9F9E"/>
            </a:solidFill>
            <a:prstDash val="solid"/>
          </a:ln>
        </p:spPr>
      </p:sp>
      <p:sp>
        <p:nvSpPr>
          <p:cNvPr id="18" name="Text 14"/>
          <p:cNvSpPr txBox="1"/>
          <p:nvPr/>
        </p:nvSpPr>
        <p:spPr>
          <a:xfrm>
            <a:off x="6382512" y="4754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SR</a:t>
            </a:r>
            <a:endParaRPr lang="en-US" sz="1300" dirty="0"/>
          </a:p>
        </p:txBody>
      </p:sp>
      <p:sp>
        <p:nvSpPr>
          <p:cNvPr id="19" name="Text 15"/>
          <p:cNvSpPr txBox="1"/>
          <p:nvPr/>
        </p:nvSpPr>
        <p:spPr>
          <a:xfrm>
            <a:off x="6949440" y="4572000"/>
            <a:ext cx="1783080" cy="822960"/>
          </a:xfrm>
          <a:prstGeom prst="rect">
            <a:avLst/>
          </a:prstGeom>
          <a:noFill/>
          <a:ln/>
        </p:spPr>
        <p:txBody>
          <a:bodyPr wrap="square" lIns="0" tIns="0" rIns="0" bIns="0" rtlCol="0" anchor="ctr"/>
          <a:lstStyle/>
          <a:p>
            <a:pPr indent="0" marL="0">
              <a:buNone/>
            </a:pPr>
            <a:r>
              <a:rPr lang="en-US" sz="1400" b="1" dirty="0">
                <a:solidFill>
                  <a:srgbClr val="FFFFFF"/>
                </a:solidFill>
              </a:rPr>
              <a:t>Sujit Raut</a:t>
            </a:r>
            <a:endParaRPr lang="en-US" sz="1400" dirty="0"/>
          </a:p>
        </p:txBody>
      </p:sp>
      <p:sp>
        <p:nvSpPr>
          <p:cNvPr id="20" name="Shape 16"/>
          <p:cNvSpPr/>
          <p:nvPr/>
        </p:nvSpPr>
        <p:spPr>
          <a:xfrm>
            <a:off x="8961120" y="4572000"/>
            <a:ext cx="2560320" cy="822960"/>
          </a:xfrm>
          <a:prstGeom prst="roundRect">
            <a:avLst>
              <a:gd name="adj" fmla="val 8889"/>
            </a:avLst>
          </a:prstGeom>
          <a:solidFill>
            <a:srgbClr val="FFFFFF">
              <a:alpha val="10000"/>
            </a:srgbClr>
          </a:solidFill>
          <a:ln w="9525">
            <a:solidFill>
              <a:srgbClr val="FFFFFF">
                <a:alpha val="35000"/>
              </a:srgbClr>
            </a:solidFill>
            <a:prstDash val="solid"/>
          </a:ln>
        </p:spPr>
      </p:sp>
      <p:sp>
        <p:nvSpPr>
          <p:cNvPr id="21" name="Shape 17"/>
          <p:cNvSpPr/>
          <p:nvPr/>
        </p:nvSpPr>
        <p:spPr>
          <a:xfrm>
            <a:off x="9125712" y="4754880"/>
            <a:ext cx="457200" cy="457200"/>
          </a:xfrm>
          <a:prstGeom prst="ellipse">
            <a:avLst/>
          </a:prstGeom>
          <a:solidFill>
            <a:srgbClr val="0E9F9E"/>
          </a:solidFill>
          <a:ln w="6350">
            <a:solidFill>
              <a:srgbClr val="0E9F9E"/>
            </a:solidFill>
            <a:prstDash val="solid"/>
          </a:ln>
        </p:spPr>
      </p:sp>
      <p:sp>
        <p:nvSpPr>
          <p:cNvPr id="22" name="Text 18"/>
          <p:cNvSpPr txBox="1"/>
          <p:nvPr/>
        </p:nvSpPr>
        <p:spPr>
          <a:xfrm>
            <a:off x="9125712" y="4754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SS</a:t>
            </a:r>
            <a:endParaRPr lang="en-US" sz="1300" dirty="0"/>
          </a:p>
        </p:txBody>
      </p:sp>
      <p:sp>
        <p:nvSpPr>
          <p:cNvPr id="23" name="Text 19"/>
          <p:cNvSpPr txBox="1"/>
          <p:nvPr/>
        </p:nvSpPr>
        <p:spPr>
          <a:xfrm>
            <a:off x="9692640" y="4572000"/>
            <a:ext cx="1783080" cy="822960"/>
          </a:xfrm>
          <a:prstGeom prst="rect">
            <a:avLst/>
          </a:prstGeom>
          <a:noFill/>
          <a:ln/>
        </p:spPr>
        <p:txBody>
          <a:bodyPr wrap="square" lIns="0" tIns="0" rIns="0" bIns="0" rtlCol="0" anchor="ctr"/>
          <a:lstStyle/>
          <a:p>
            <a:pPr indent="0" marL="0">
              <a:buNone/>
            </a:pPr>
            <a:r>
              <a:rPr lang="en-US" sz="1400" b="1" dirty="0">
                <a:solidFill>
                  <a:srgbClr val="FFFFFF"/>
                </a:solidFill>
              </a:rPr>
              <a:t>Shubham Sahu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CitiusTech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Care Engagement &amp; Follow-up: Client Presentation</dc:title>
  <dc:subject>PptxGenJS Presentation</dc:subject>
  <dc:creator>Amey Patil, Saurabh Singh, Sujit Raut, Shubham Sahu</dc:creator>
  <cp:lastModifiedBy>Amey Patil, Saurabh Singh, Sujit Raut, Shubham Sahu</cp:lastModifiedBy>
  <cp:revision>1</cp:revision>
  <dcterms:created xsi:type="dcterms:W3CDTF">2026-10-11T09:55:32Z</dcterms:created>
  <dcterms:modified xsi:type="dcterms:W3CDTF">2026-10-11T09:55:32Z</dcterms:modified>
</cp:coreProperties>
</file>