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27b4c78-983b-7153-2dea-f6d7afbae3f1}">
          <p14:sldIdLst>
            <p14:sldId id="256"/>
          </p14:sldIdLst>
        </p14:section>
        <p14:section name="Agenda" id="{c23b0602-bdde-3bec-5cdf-b90c85f0b706}">
          <p14:sldIdLst>
            <p14:sldId id="257"/>
          </p14:sldIdLst>
        </p14:section>
        <p14:section name="Problem" id="{9710eb4d-1099-a02f-3ff8-d453cae410eb}">
          <p14:sldIdLst>
            <p14:sldId id="258"/>
          </p14:sldIdLst>
        </p14:section>
        <p14:section name="Solution" id="{f92e6489-da4a-0cd8-00f7-ab9b0a44c16d}">
          <p14:sldIdLst>
            <p14:sldId id="259"/>
          </p14:sldIdLst>
        </p14:section>
        <p14:section name="Principle" id="{9bc9196f-5f15-a138-6b35-f3d7b3c6c2d3}">
          <p14:sldIdLst>
            <p14:sldId id="260"/>
          </p14:sldIdLst>
        </p14:section>
        <p14:section name="Flow" id="{70bbd579-cc55-ff8b-2451-d18833a33a9d}">
          <p14:sldIdLst>
            <p14:sldId id="261"/>
          </p14:sldIdLst>
        </p14:section>
        <p14:section name="RAG" id="{96e6d93f-2aa8-1892-190a-a097ce6d4468}">
          <p14:sldIdLst>
            <p14:sldId id="262"/>
          </p14:sldIdLst>
        </p14:section>
        <p14:section name="Demo" id="{2088ef3a-f1e4-359c-65ca-0996f1ef2be5}">
          <p14:sldIdLst>
            <p14:sldId id="263"/>
          </p14:sldIdLst>
        </p14:section>
        <p14:section name="Try it" id="{a5884de1-6aca-39ed-0300-e47c10227a29}">
          <p14:sldIdLst>
            <p14:sldId id="264"/>
          </p14:sldIdLst>
        </p14:section>
        <p14:section name="Result 10" id="{6b08940c-007d-9f7f-ae4e-c0033627b21c}">
          <p14:sldIdLst>
            <p14:sldId id="265"/>
          </p14:sldIdLst>
        </p14:section>
        <p14:section name="Result 11" id="{db375009-ea77-05ae-fc07-d9cbcaf54302}">
          <p14:sldIdLst>
            <p14:sldId id="266"/>
          </p14:sldIdLst>
        </p14:section>
        <p14:section name="Result 12" id="{f0b8fbc7-633f-ab29-4ff2-a0148fa8c01c}">
          <p14:sldIdLst>
            <p14:sldId id="267"/>
          </p14:sldIdLst>
        </p14:section>
        <p14:section name="Result 13" id="{99a99f2c-0893-d89b-f6d2-87b08e8bc5a2}">
          <p14:sldIdLst>
            <p14:sldId id="268"/>
          </p14:sldIdLst>
        </p14:section>
        <p14:section name="Rules" id="{77b9c271-0a5f-8772-4049-f09e215eae8b}">
          <p14:sldIdLst>
            <p14:sldId id="269"/>
          </p14:sldIdLst>
        </p14:section>
        <p14:section name="Results" id="{f7ed443a-ee57-abf5-c5e7-93fe0818d8ba}">
          <p14:sldIdLst>
            <p14:sldId id="270"/>
          </p14:sldIdLst>
        </p14:section>
        <p14:section name="Next" id="{e9bbd4c4-20af-92ef-2d53-a60a1def919b}">
          <p14:sldIdLst>
            <p14:sldId id="271"/>
          </p14:sldIdLst>
        </p14:section>
        <p14:section name="Conclusion" id="{3f42fdc6-c0a0-08f1-27c0-989c6d074a36}">
          <p14:sldIdLst>
            <p14:sldId id="272"/>
          </p14:sldIdLst>
        </p14:section>
        <p14:section name="Close" id="{397d8e51-49e7-e611-f654-21209a639f73}">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Scenarios</c:v>
                </c:pt>
              </c:strCache>
            </c:strRef>
          </c:tx>
          <c:spPr>
            <a:solidFill>
              <a:schemeClr val="accent1"/>
            </a:solidFill>
            <a:ln w="9525" cap="flat">
              <a:solidFill>
                <a:srgbClr val="F9F9F9"/>
              </a:solidFill>
              <a:prstDash val="solid"/>
              <a:round/>
            </a:ln>
            <a:effectLst/>
          </c:spPr>
          <c:dPt>
            <c:idx val="0"/>
            <c:bubble3D val="0"/>
            <c:spPr>
              <a:solidFill>
                <a:srgbClr val="1547C8"/>
              </a:solidFill>
              <a:ln w="25400" cap="flat">
                <a:solidFill>
                  <a:srgbClr val="FFFFFF"/>
                </a:solidFill>
                <a:prstDash val="solid"/>
                <a:round/>
              </a:ln>
              <a:effectLst/>
            </c:spPr>
          </c:dPt>
          <c:dPt>
            <c:idx val="1"/>
            <c:bubble3D val="0"/>
            <c:spPr>
              <a:solidFill>
                <a:srgbClr val="E5484D"/>
              </a:solidFill>
              <a:ln w="25400" cap="flat">
                <a:solidFill>
                  <a:srgbClr val="FFFFFF"/>
                </a:solidFill>
                <a:prstDash val="solid"/>
                <a:round/>
              </a:ln>
              <a:effectLst/>
            </c:spPr>
          </c:dPt>
          <c:dPt>
            <c:idx val="2"/>
            <c:bubble3D val="0"/>
            <c:spPr>
              <a:solidFill>
                <a:srgbClr val="F5A524"/>
              </a:solidFill>
              <a:ln w="25400" cap="flat">
                <a:solidFill>
                  <a:srgbClr val="FFFFFF"/>
                </a:solidFill>
                <a:prstDash val="solid"/>
                <a:round/>
              </a:ln>
              <a:effectLst/>
            </c:spPr>
          </c:dPt>
          <c:dPt>
            <c:idx val="3"/>
            <c:bubble3D val="0"/>
            <c:spPr>
              <a:solidFill>
                <a:srgbClr val="8338EC"/>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Normal paths</c:v>
                </c:pt>
                <c:pt idx="1">
                  <c:v>Safety escalations</c:v>
                </c:pt>
                <c:pt idx="2">
                  <c:v>Edge and conflict</c:v>
                </c:pt>
                <c:pt idx="3">
                  <c:v>Failure handling</c:v>
                </c:pt>
              </c:strCache>
            </c:strRef>
          </c:cat>
          <c:val>
            <c:numRef>
              <c:f>Sheet1!$B$2:$B$5</c:f>
              <c:numCache>
                <c:ptCount val="4"/>
                <c:pt idx="0">
                  <c:v>4</c:v>
                </c:pt>
                <c:pt idx="1">
                  <c:v>5</c:v>
                </c:pt>
                <c:pt idx="2">
                  <c:v>4</c:v>
                </c:pt>
                <c:pt idx="3">
                  <c:v>1</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multi-agent assistant for a synthetic chronic-care program. The orbit is the idea in one picture: six specialist agents around a protective core. They explain approved education, summarise readings, remind members of tasks and pass anything risky to people. The system never diagnoses and never gives medical advice. Use the chapter bar at the bottom of every slide to jump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The agenda titles are links, and the chapter bar at the bottom of every slide lets you jump between sections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 teams are stretched: the same questions repeat, members forget tasks, and hand-offs are messy. A free-form chatbot is not the answer because it can invent facts or give advice. The goal is to scale routine education and follow-up while every clinical decision stays with people. The red tiles are the hard boundary from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orchestrator is plain Python, so the order of steps and every safety decision are identical every time. Around it are the five specialists from the assignment. Each one only sees the slice of data it needs; that is least privilege. All agents are created by code, not clicked together in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idea. Everything that must be exact is code: consent, the four rules, the statistics and the citation check. The model only understands language and writes wording, and even that text is checked. If it contains an invented number, a diagnosis, medication advice or a claim to be a clinician, it is thrown away and a fixed template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One: the consent gate. If consent is not active, nothing else runs. Two: block injection and medication-change requests. Three: the router picks the specialist. Four: code reads only that member's data and applies the rules. Five: the specialist words the answer. Six: three separate outputs. The coloured tags are the points where a human takes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Markdown articles sit in Blob Storage. A script builds three Azure AI Search indexes. The Education agent, hosted in Foundry, answers only from retrieved text. Its answer then goes through a validator in code: the cited article must exist, be approved, fit the member's program and be the current version. If any check fails, or nothing relevant is found, the member is told there is a gap and staff follow up. A gap is never filled with the model's own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paths in about five minutes. Normal: a general question gets a cited answer. Exception: consent has expired, so processing stops before any data is read. Safety: a medication-change request is declined, and a blood-pressure summary for M-102 creates an urgent staff-review record with no interpretation. The front screenshot is the staff review queue; the one behind it is the member's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interactive slide for the demo. Click a question to jump to what the member and the staff see, then use the back button to return. The four result slides are hidden, so they only appear when you click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behaviour for this question: A cited answer from approved content. The citation is checked in code: the ID, the status, the member's program and the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behaviour for this question: Declined and routed to a clinician. Medication wording is caught in code before any model is asked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behaviour for this question: Processing stops at the consent check. The consent check is the very first step. Nothing else runs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behaviour for this question: A summary, plus an urgent staff review. A configured test value matched. The system compares and escalates; it never interprets.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rules from the assignment, evaluated in code exactly as written. Every match goes to the staff review queue and nobody is told what a value means. The two numbers behind ER-502 are placeholders chosen so the rule can be demonstrated. Real thresholds must come from clinicians.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14 test scenarios are the six from the assignment plus eight extra, grouped as four normal paths, five safety escalations, four edge and conflict cases and one failure case. They run against the deployed Azure agents, and each run is recorded in the test evidence document with the prompt, output, citations and safety observations. Add the pass count from your latest Azure run when you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has a concrete next step. Placeholders become clinician-set thresholds. English-only guards become tested multilingual routing plus a dedicated route for distress. Synthetic content becomes clinically reviewed content. Keys in a .env file become managed identity and Key Vault.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in three lines: facts in code, words from AI, decisions by people. That gives safe-by-design behaviour, grounded answers, human-led escalation and an audit trail with masked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or replay any of the demo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BRAND_TITLE-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BRAND_CONCL-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BRAND_THANKS-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jpg"/><Relationship Id="rId2" Type="http://schemas.openxmlformats.org/officeDocument/2006/relationships/image" Target="../media/image-1006-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6FB"/>
        </a:solidFill>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548640" y="6382512"/>
            <a:ext cx="219456" cy="219456"/>
          </a:xfrm>
          <a:prstGeom prst="rect">
            <a:avLst/>
          </a:prstGeom>
        </p:spPr>
      </p:pic>
      <p:sp>
        <p:nvSpPr>
          <p:cNvPr id="3" name="Text 0"/>
          <p:cNvSpPr/>
          <p:nvPr/>
        </p:nvSpPr>
        <p:spPr>
          <a:xfrm>
            <a:off x="841248" y="6382512"/>
            <a:ext cx="1005840" cy="219456"/>
          </a:xfrm>
          <a:prstGeom prst="rect">
            <a:avLst/>
          </a:prstGeom>
          <a:noFill/>
          <a:ln/>
        </p:spPr>
        <p:txBody>
          <a:bodyPr wrap="square" lIns="0" tIns="0" rIns="0" bIns="0" rtlCol="0" anchor="ctr"/>
          <a:lstStyle/>
          <a:p>
            <a:pPr indent="0" marL="0">
              <a:buNone/>
            </a:pPr>
            <a:r>
              <a:rPr lang="en-US" sz="1000" b="1" dirty="0">
                <a:solidFill>
                  <a:srgbClr val="1F2937"/>
                </a:solidFill>
              </a:rPr>
              <a:t>CitiusTech</a:t>
            </a:r>
            <a:endParaRPr lang="en-US" sz="1000" dirty="0"/>
          </a:p>
        </p:txBody>
      </p:sp>
      <p:sp>
        <p:nvSpPr>
          <p:cNvPr id="4" name="Text 1"/>
          <p:cNvSpPr/>
          <p:nvPr>
            <p:ph idx="102" type="body" hasCustomPrompt="1"/>
          </p:nvPr>
        </p:nvSpPr>
        <p:spPr>
          <a:xfrm>
            <a:off x="548640" y="347472"/>
            <a:ext cx="8229600" cy="256032"/>
          </a:xfrm>
          <a:prstGeom prst="rect">
            <a:avLst/>
          </a:prstGeom>
          <a:noFill/>
          <a:ln/>
        </p:spPr>
        <p:txBody>
          <a:bodyPr wrap="square" rtlCol="0"/>
          <a:lstStyle>
            <a:lvl1pPr algn="l" indent="0" marL="0">
              <a:buNone/>
              <a:defRPr lang="en-US" sz="1100" b="1" spc="200" kern="0" dirty="0">
                <a:solidFill>
                  <a:srgbClr val="1547C8"/>
                </a:solidFill>
              </a:defRPr>
            </a:lvl1pPr>
          </a:lstStyle>
          <a:p>
            <a:pPr algn="l" indent="0" marL="0">
              <a:buNone/>
            </a:pPr>
            <a:endParaRPr lang="en-US" sz="1100" dirty="0"/>
          </a:p>
        </p:txBody>
      </p:sp>
      <p:sp>
        <p:nvSpPr>
          <p:cNvPr id="5" name="Text 1"/>
          <p:cNvSpPr/>
          <p:nvPr>
            <p:ph idx="103" type="title" hasCustomPrompt="1"/>
          </p:nvPr>
        </p:nvSpPr>
        <p:spPr>
          <a:xfrm>
            <a:off x="548640" y="603504"/>
            <a:ext cx="11064240" cy="566928"/>
          </a:xfrm>
          <a:prstGeom prst="rect">
            <a:avLst/>
          </a:prstGeom>
          <a:noFill/>
          <a:ln/>
        </p:spPr>
        <p:txBody>
          <a:bodyPr wrap="square" rtlCol="0"/>
          <a:lstStyle>
            <a:lvl1pPr algn="l" indent="0" marL="0">
              <a:buNone/>
              <a:defRPr lang="en-US" sz="3000" b="1" dirty="0">
                <a:solidFill>
                  <a:srgbClr val="1F2937"/>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RAND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RAND_CONC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RAND_THANK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1225296" y="548640"/>
            <a:ext cx="2926080" cy="457200"/>
          </a:xfrm>
          <a:prstGeom prst="rect">
            <a:avLst/>
          </a:prstGeom>
          <a:noFill/>
          <a:ln/>
        </p:spPr>
        <p:txBody>
          <a:bodyPr wrap="square" lIns="0" tIns="0" rIns="0" bIns="0" rtlCol="0" anchor="ctr"/>
          <a:lstStyle/>
          <a:p>
            <a:pPr indent="0" marL="0">
              <a:buNone/>
            </a:pPr>
            <a:r>
              <a:rPr lang="en-US" sz="1700" b="1" dirty="0">
                <a:solidFill>
                  <a:srgbClr val="FFFFFF"/>
                </a:solidFill>
              </a:rPr>
              <a:t>CitiusTech</a:t>
            </a:r>
            <a:endParaRPr lang="en-US" sz="17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Pr>
        <a:solidFill>
          <a:srgbClr val="F4F6FB"/>
        </a:solidFill>
      </p:bgPr>
    </p:bg>
    <p:spTree>
      <p:nvGrpSpPr>
        <p:cNvPr id="1" name=""/>
        <p:cNvGrpSpPr/>
        <p:nvPr/>
      </p:nvGrpSpPr>
      <p:grpSpPr>
        <a:xfrm>
          <a:off x="0" y="0"/>
          <a:ext cx="0" cy="0"/>
          <a:chOff x="0" y="0"/>
          <a:chExt cx="0" cy="0"/>
        </a:xfrm>
      </p:grpSpPr>
      <p:pic>
        <p:nvPicPr>
          <p:cNvPr id="2" name="Image 0" descr="Blue panel">    </p:cNvPr>
          <p:cNvPicPr>
            <a:picLocks noChangeAspect="1"/>
          </p:cNvPicPr>
          <p:nvPr/>
        </p:nvPicPr>
        <p:blipFill>
          <a:blip r:embed="rId1"/>
          <a:stretch>
            <a:fillRect/>
          </a:stretch>
        </p:blipFill>
        <p:spPr>
          <a:xfrm>
            <a:off x="0" y="0"/>
            <a:ext cx="4206240" cy="6858000"/>
          </a:xfrm>
          <a:prstGeom prst="rect">
            <a:avLst/>
          </a:prstGeom>
        </p:spPr>
      </p:pic>
      <p:pic>
        <p:nvPicPr>
          <p:cNvPr id="3" name="Image 1" descr="CitiusTech logo">    </p:cNvPr>
          <p:cNvPicPr>
            <a:picLocks noChangeAspect="1"/>
          </p:cNvPicPr>
          <p:nvPr/>
        </p:nvPicPr>
        <p:blipFill>
          <a:blip r:embed="rId2"/>
          <a:stretch>
            <a:fillRect/>
          </a:stretch>
        </p:blipFill>
        <p:spPr>
          <a:xfrm>
            <a:off x="548640" y="502920"/>
            <a:ext cx="310896" cy="310896"/>
          </a:xfrm>
          <a:prstGeom prst="rect">
            <a:avLst/>
          </a:prstGeom>
        </p:spPr>
      </p:pic>
      <p:sp>
        <p:nvSpPr>
          <p:cNvPr id="4" name="Text 0"/>
          <p:cNvSpPr/>
          <p:nvPr/>
        </p:nvSpPr>
        <p:spPr>
          <a:xfrm>
            <a:off x="987552" y="502920"/>
            <a:ext cx="2926080" cy="310896"/>
          </a:xfrm>
          <a:prstGeom prst="rect">
            <a:avLst/>
          </a:prstGeom>
          <a:noFill/>
          <a:ln/>
        </p:spPr>
        <p:txBody>
          <a:bodyPr wrap="square" lIns="0" tIns="0" rIns="0" bIns="0" rtlCol="0" anchor="ctr"/>
          <a:lstStyle/>
          <a:p>
            <a:pPr indent="0" marL="0">
              <a:buNone/>
            </a:pPr>
            <a:r>
              <a:rPr lang="en-US" sz="1300" b="1" dirty="0">
                <a:solidFill>
                  <a:srgbClr val="FFFFFF"/>
                </a:solidFill>
              </a:rPr>
              <a:t>CitiusTech</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3.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8.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Layout" Target="../slideLayouts/slideLayout6.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image" Target="../media/image-3-1.png"/><Relationship Id="rId12" Type="http://schemas.openxmlformats.org/officeDocument/2006/relationships/image" Target="../media/image-3-2.png"/><Relationship Id="rId13" Type="http://schemas.openxmlformats.org/officeDocument/2006/relationships/image" Target="../media/image-3-3.png"/><Relationship Id="rId14" Type="http://schemas.openxmlformats.org/officeDocument/2006/relationships/image" Target="../media/image-3-4.png"/><Relationship Id="rId15" Type="http://schemas.openxmlformats.org/officeDocument/2006/relationships/slideLayout" Target="../slideLayouts/slideLayout2.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image" Target="../media/image-4-1.png"/><Relationship Id="rId12" Type="http://schemas.openxmlformats.org/officeDocument/2006/relationships/image" Target="../media/image-4-2.png"/><Relationship Id="rId13" Type="http://schemas.openxmlformats.org/officeDocument/2006/relationships/image" Target="../media/image-4-3.png"/><Relationship Id="rId14" Type="http://schemas.openxmlformats.org/officeDocument/2006/relationships/image" Target="../media/image-4-4.png"/><Relationship Id="rId15" Type="http://schemas.openxmlformats.org/officeDocument/2006/relationships/image" Target="../media/image-4-5.png"/><Relationship Id="rId16" Type="http://schemas.openxmlformats.org/officeDocument/2006/relationships/slideLayout" Target="../slideLayouts/slideLayout2.xml"/><Relationship Id="rId1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image" Target="../media/image-5-1.png"/><Relationship Id="rId12" Type="http://schemas.openxmlformats.org/officeDocument/2006/relationships/image" Target="../media/image-5-2.png"/><Relationship Id="rId13" Type="http://schemas.openxmlformats.org/officeDocument/2006/relationships/image" Target="../media/image-5-3.png"/><Relationship Id="rId14" Type="http://schemas.openxmlformats.org/officeDocument/2006/relationships/image" Target="../media/image-5-4.png"/><Relationship Id="rId15" Type="http://schemas.openxmlformats.org/officeDocument/2006/relationships/image" Target="../media/image-5-5.png"/><Relationship Id="rId16" Type="http://schemas.openxmlformats.org/officeDocument/2006/relationships/image" Target="../media/image-5-6.png"/><Relationship Id="rId17" Type="http://schemas.openxmlformats.org/officeDocument/2006/relationships/image" Target="../media/image-5-7.png"/><Relationship Id="rId18" Type="http://schemas.openxmlformats.org/officeDocument/2006/relationships/image" Target="../media/image-5-8.png"/><Relationship Id="rId19" Type="http://schemas.openxmlformats.org/officeDocument/2006/relationships/image" Target="../media/image-5-9.png"/><Relationship Id="rId20" Type="http://schemas.openxmlformats.org/officeDocument/2006/relationships/image" Target="../media/image-5-10.png"/><Relationship Id="rId21" Type="http://schemas.openxmlformats.org/officeDocument/2006/relationships/image" Target="../media/image-5-11.png"/><Relationship Id="rId22" Type="http://schemas.openxmlformats.org/officeDocument/2006/relationships/slideLayout" Target="../slideLayouts/slideLayout2.xml"/><Relationship Id="rId2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image" Target="../media/image-6-1.png"/><Relationship Id="rId12" Type="http://schemas.openxmlformats.org/officeDocument/2006/relationships/image" Target="../media/image-6-2.png"/><Relationship Id="rId13" Type="http://schemas.openxmlformats.org/officeDocument/2006/relationships/image" Target="../media/image-6-3.png"/><Relationship Id="rId14" Type="http://schemas.openxmlformats.org/officeDocument/2006/relationships/slideLayout" Target="../slideLayouts/slideLayout2.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image" Target="../media/image-7-1.png"/><Relationship Id="rId12" Type="http://schemas.openxmlformats.org/officeDocument/2006/relationships/image" Target="../media/image-7-2.png"/><Relationship Id="rId13" Type="http://schemas.openxmlformats.org/officeDocument/2006/relationships/image" Target="../media/image-7-3.png"/><Relationship Id="rId14" Type="http://schemas.openxmlformats.org/officeDocument/2006/relationships/image" Target="../media/image-7-4.png"/><Relationship Id="rId15" Type="http://schemas.openxmlformats.org/officeDocument/2006/relationships/image" Target="../media/image-7-5.png"/><Relationship Id="rId16" Type="http://schemas.openxmlformats.org/officeDocument/2006/relationships/image" Target="../media/image-7-6.png"/><Relationship Id="rId17" Type="http://schemas.openxmlformats.org/officeDocument/2006/relationships/image" Target="../media/image-7-7.png"/><Relationship Id="rId18" Type="http://schemas.openxmlformats.org/officeDocument/2006/relationships/image" Target="../media/image-7-8.png"/><Relationship Id="rId19" Type="http://schemas.openxmlformats.org/officeDocument/2006/relationships/image" Target="../media/image-7-9.png"/><Relationship Id="rId20" Type="http://schemas.openxmlformats.org/officeDocument/2006/relationships/image" Target="../media/image-7-10.png"/><Relationship Id="rId21" Type="http://schemas.openxmlformats.org/officeDocument/2006/relationships/image" Target="../media/image-7-11.png"/><Relationship Id="rId22" Type="http://schemas.openxmlformats.org/officeDocument/2006/relationships/image" Target="../media/image-7-12.png"/><Relationship Id="rId23" Type="http://schemas.openxmlformats.org/officeDocument/2006/relationships/image" Target="../media/image-7-13.png"/><Relationship Id="rId24" Type="http://schemas.openxmlformats.org/officeDocument/2006/relationships/slideLayout" Target="../slideLayouts/slideLayout2.xml"/><Relationship Id="rId2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9.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image" Target="../media/image-8-1.png"/><Relationship Id="rId12" Type="http://schemas.openxmlformats.org/officeDocument/2006/relationships/image" Target="../media/image-8-2.png"/><Relationship Id="rId13" Type="http://schemas.openxmlformats.org/officeDocument/2006/relationships/image" Target="../media/image-8-3.png"/><Relationship Id="rId14" Type="http://schemas.openxmlformats.org/officeDocument/2006/relationships/image" Target="../media/image-8-4.png"/><Relationship Id="rId15" Type="http://schemas.openxmlformats.org/officeDocument/2006/relationships/image" Target="../media/image-8-5.png"/><Relationship Id="rId16" Type="http://schemas.openxmlformats.org/officeDocument/2006/relationships/slideLayout" Target="../slideLayouts/slideLayout2.xml"/><Relationship Id="rId1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 Target="slide10.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1.xml"/><Relationship Id="rId15" Type="http://schemas.openxmlformats.org/officeDocument/2006/relationships/slide" Target="slide12.xml"/><Relationship Id="rId16" Type="http://schemas.openxmlformats.org/officeDocument/2006/relationships/slide" Target="slide12.xml"/><Relationship Id="rId17" Type="http://schemas.openxmlformats.org/officeDocument/2006/relationships/slide" Target="slide13.xml"/><Relationship Id="rId18" Type="http://schemas.openxmlformats.org/officeDocument/2006/relationships/slide" Target="slide13.xml"/><Relationship Id="rId19" Type="http://schemas.openxmlformats.org/officeDocument/2006/relationships/slideLayout" Target="../slideLayouts/slideLayout2.xml"/><Relationship Id="rId2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9" Type="http://schemas.openxmlformats.org/officeDocument/2006/relationships/slide" Target="slide9.xml"/><Relationship Id="rId11" Type="http://schemas.openxmlformats.org/officeDocument/2006/relationships/image" Target="../media/image-10-1.png"/><Relationship Id="rId12" Type="http://schemas.openxmlformats.org/officeDocument/2006/relationships/image" Target="../media/image-10-2.png"/><Relationship Id="rId13" Type="http://schemas.openxmlformats.org/officeDocument/2006/relationships/image" Target="../media/image-10-3.png"/><Relationship Id="rId14" Type="http://schemas.openxmlformats.org/officeDocument/2006/relationships/image" Target="../media/image-10-4.png"/><Relationship Id="rId15" Type="http://schemas.openxmlformats.org/officeDocument/2006/relationships/image" Target="../media/image-10-5.png"/><Relationship Id="rId16" Type="http://schemas.openxmlformats.org/officeDocument/2006/relationships/image" Target="../media/image-10-6.png"/><Relationship Id="rId17" Type="http://schemas.openxmlformats.org/officeDocument/2006/relationships/image" Target="../media/image-10-7.png"/><Relationship Id="rId18" Type="http://schemas.openxmlformats.org/officeDocument/2006/relationships/image" Target="../media/image-10-8.png"/><Relationship Id="rId20" Type="http://schemas.openxmlformats.org/officeDocument/2006/relationships/slideLayout" Target="../slideLayouts/slideLayout2.xml"/><Relationship Id="rId2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9" Type="http://schemas.openxmlformats.org/officeDocument/2006/relationships/slide" Target="slide9.xml"/><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20" Type="http://schemas.openxmlformats.org/officeDocument/2006/relationships/slideLayout" Target="../slideLayouts/slideLayout2.xml"/><Relationship Id="rId2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9" Type="http://schemas.openxmlformats.org/officeDocument/2006/relationships/slide" Target="slide9.xml"/><Relationship Id="rId11" Type="http://schemas.openxmlformats.org/officeDocument/2006/relationships/image" Target="../media/image-12-1.png"/><Relationship Id="rId12" Type="http://schemas.openxmlformats.org/officeDocument/2006/relationships/image" Target="../media/image-12-2.png"/><Relationship Id="rId13" Type="http://schemas.openxmlformats.org/officeDocument/2006/relationships/image" Target="../media/image-12-3.png"/><Relationship Id="rId14" Type="http://schemas.openxmlformats.org/officeDocument/2006/relationships/image" Target="../media/image-12-4.png"/><Relationship Id="rId15" Type="http://schemas.openxmlformats.org/officeDocument/2006/relationships/image" Target="../media/image-12-5.png"/><Relationship Id="rId16" Type="http://schemas.openxmlformats.org/officeDocument/2006/relationships/image" Target="../media/image-12-6.png"/><Relationship Id="rId17" Type="http://schemas.openxmlformats.org/officeDocument/2006/relationships/image" Target="../media/image-12-7.png"/><Relationship Id="rId18" Type="http://schemas.openxmlformats.org/officeDocument/2006/relationships/image" Target="../media/image-12-8.png"/><Relationship Id="rId20" Type="http://schemas.openxmlformats.org/officeDocument/2006/relationships/slideLayout" Target="../slideLayouts/slideLayout2.xml"/><Relationship Id="rId2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4.xml"/><Relationship Id="rId9" Type="http://schemas.openxmlformats.org/officeDocument/2006/relationships/slide" Target="slide15.xml"/><Relationship Id="rId10" Type="http://schemas.openxmlformats.org/officeDocument/2006/relationships/slide" Target="slide16.xml"/><Relationship Id="rId19" Type="http://schemas.openxmlformats.org/officeDocument/2006/relationships/slide" Target="slide9.xml"/><Relationship Id="rId11" Type="http://schemas.openxmlformats.org/officeDocument/2006/relationships/image" Target="../media/image-13-1.png"/><Relationship Id="rId12" Type="http://schemas.openxmlformats.org/officeDocument/2006/relationships/image" Target="../media/image-13-2.png"/><Relationship Id="rId13" Type="http://schemas.openxmlformats.org/officeDocument/2006/relationships/image" Target="../media/image-13-3.png"/><Relationship Id="rId14" Type="http://schemas.openxmlformats.org/officeDocument/2006/relationships/image" Target="../media/image-13-4.png"/><Relationship Id="rId15" Type="http://schemas.openxmlformats.org/officeDocument/2006/relationships/image" Target="../media/image-13-5.png"/><Relationship Id="rId16" Type="http://schemas.openxmlformats.org/officeDocument/2006/relationships/image" Target="../media/image-13-6.png"/><Relationship Id="rId17" Type="http://schemas.openxmlformats.org/officeDocument/2006/relationships/image" Target="../media/image-13-7.png"/><Relationship Id="rId18" Type="http://schemas.openxmlformats.org/officeDocument/2006/relationships/image" Target="../media/image-13-8.png"/><Relationship Id="rId20" Type="http://schemas.openxmlformats.org/officeDocument/2006/relationships/slideLayout" Target="../slideLayouts/slideLayout2.xml"/><Relationship Id="rId2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image" Target="../media/image-14-1.png"/><Relationship Id="rId12" Type="http://schemas.openxmlformats.org/officeDocument/2006/relationships/image" Target="../media/image-14-2.png"/><Relationship Id="rId13" Type="http://schemas.openxmlformats.org/officeDocument/2006/relationships/image" Target="../media/image-14-3.png"/><Relationship Id="rId14" Type="http://schemas.openxmlformats.org/officeDocument/2006/relationships/image" Target="../media/image-14-4.png"/><Relationship Id="rId15" Type="http://schemas.openxmlformats.org/officeDocument/2006/relationships/image" Target="../media/image-14-5.png"/><Relationship Id="rId16" Type="http://schemas.openxmlformats.org/officeDocument/2006/relationships/slideLayout" Target="../slideLayouts/slideLayout2.xml"/><Relationship Id="rId1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4.xml"/><Relationship Id="rId10" Type="http://schemas.openxmlformats.org/officeDocument/2006/relationships/slide" Target="slide16.xml"/><Relationship Id="rId11" Type="http://schemas.openxmlformats.org/officeDocument/2006/relationships/chart" Target="/ppt/charts/chart1.xml"/><Relationship Id="rId12" Type="http://schemas.openxmlformats.org/officeDocument/2006/relationships/image" Target="../media/image-15-1.png"/><Relationship Id="rId13" Type="http://schemas.openxmlformats.org/officeDocument/2006/relationships/slideLayout" Target="../slideLayouts/slideLayout2.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9.xml"/><Relationship Id="rId9" Type="http://schemas.openxmlformats.org/officeDocument/2006/relationships/slide" Target="slide14.xml"/><Relationship Id="rId10" Type="http://schemas.openxmlformats.org/officeDocument/2006/relationships/slide" Target="slide15.xml"/><Relationship Id="rId11" Type="http://schemas.openxmlformats.org/officeDocument/2006/relationships/image" Target="../media/image-16-1.png"/><Relationship Id="rId12" Type="http://schemas.openxmlformats.org/officeDocument/2006/relationships/image" Target="../media/image-16-2.png"/><Relationship Id="rId13" Type="http://schemas.openxmlformats.org/officeDocument/2006/relationships/image" Target="../media/image-16-3.png"/><Relationship Id="rId14" Type="http://schemas.openxmlformats.org/officeDocument/2006/relationships/image" Target="../media/image-16-4.png"/><Relationship Id="rId15" Type="http://schemas.openxmlformats.org/officeDocument/2006/relationships/image" Target="../media/image-16-5.png"/><Relationship Id="rId16" Type="http://schemas.openxmlformats.org/officeDocument/2006/relationships/image" Target="../media/image-16-6.png"/><Relationship Id="rId17" Type="http://schemas.openxmlformats.org/officeDocument/2006/relationships/image" Target="../media/image-16-7.png"/><Relationship Id="rId18" Type="http://schemas.openxmlformats.org/officeDocument/2006/relationships/image" Target="../media/image-16-8.png"/><Relationship Id="rId19" Type="http://schemas.openxmlformats.org/officeDocument/2006/relationships/slideLayout" Target="../slideLayouts/slideLayout2.xml"/><Relationship Id="rId2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783080"/>
            <a:ext cx="5943600" cy="274320"/>
          </a:xfrm>
          <a:prstGeom prst="rect">
            <a:avLst/>
          </a:prstGeom>
          <a:noFill/>
          <a:ln/>
        </p:spPr>
        <p:txBody>
          <a:bodyPr wrap="square" lIns="0" tIns="0" rIns="0" bIns="0" rtlCol="0" anchor="t"/>
          <a:lstStyle/>
          <a:p>
            <a:pPr indent="0" marL="0">
              <a:buNone/>
            </a:pPr>
            <a:r>
              <a:rPr lang="en-US" sz="1100" b="1" spc="300" kern="0" dirty="0">
                <a:solidFill>
                  <a:srgbClr val="3CC3F0"/>
                </a:solidFill>
              </a:rPr>
              <a:t>HEALTHCARE  ·  MULTI-AGENT AI</a:t>
            </a:r>
            <a:endParaRPr lang="en-US" sz="1100" dirty="0"/>
          </a:p>
        </p:txBody>
      </p:sp>
      <p:sp>
        <p:nvSpPr>
          <p:cNvPr id="3" name="Text 1"/>
          <p:cNvSpPr txBox="1"/>
          <p:nvPr/>
        </p:nvSpPr>
        <p:spPr>
          <a:xfrm>
            <a:off x="640080" y="2148840"/>
            <a:ext cx="6583680" cy="1828800"/>
          </a:xfrm>
          <a:prstGeom prst="rect">
            <a:avLst/>
          </a:prstGeom>
          <a:noFill/>
          <a:ln/>
        </p:spPr>
        <p:txBody>
          <a:bodyPr wrap="square" lIns="0" tIns="0" rIns="0" bIns="0" rtlCol="0" anchor="t"/>
          <a:lstStyle/>
          <a:p>
            <a:pPr indent="0" marL="0">
              <a:buNone/>
            </a:pPr>
            <a:r>
              <a:rPr lang="en-US" sz="5400" b="1" dirty="0">
                <a:solidFill>
                  <a:srgbClr val="FFFFFF"/>
                </a:solidFill>
              </a:rPr>
              <a:t>Chronic Care</a:t>
            </a:r>
            <a:endParaRPr lang="en-US" sz="5400" dirty="0"/>
          </a:p>
          <a:p>
            <a:pPr indent="0" marL="0">
              <a:buNone/>
            </a:pPr>
            <a:r>
              <a:rPr lang="en-US" sz="5400" b="1" dirty="0">
                <a:solidFill>
                  <a:srgbClr val="FFFFFF"/>
                </a:solidFill>
              </a:rPr>
              <a:t>Engagement</a:t>
            </a:r>
            <a:endParaRPr lang="en-US" sz="5400" dirty="0"/>
          </a:p>
        </p:txBody>
      </p:sp>
      <p:sp>
        <p:nvSpPr>
          <p:cNvPr id="4" name="Text 2"/>
          <p:cNvSpPr txBox="1"/>
          <p:nvPr/>
        </p:nvSpPr>
        <p:spPr>
          <a:xfrm>
            <a:off x="640080" y="3931920"/>
            <a:ext cx="6400800" cy="731520"/>
          </a:xfrm>
          <a:prstGeom prst="rect">
            <a:avLst/>
          </a:prstGeom>
          <a:noFill/>
          <a:ln/>
        </p:spPr>
        <p:txBody>
          <a:bodyPr wrap="square" lIns="0" tIns="0" rIns="0" bIns="0" rtlCol="0" anchor="t"/>
          <a:lstStyle/>
          <a:p>
            <a:pPr indent="0" marL="0">
              <a:buNone/>
            </a:pPr>
            <a:r>
              <a:rPr lang="en-US" sz="3400" b="1" dirty="0">
                <a:solidFill>
                  <a:srgbClr val="3CC3F0"/>
                </a:solidFill>
              </a:rPr>
              <a:t>&amp; Follow-up</a:t>
            </a:r>
            <a:endParaRPr lang="en-US" sz="3400" dirty="0"/>
          </a:p>
        </p:txBody>
      </p:sp>
      <p:sp>
        <p:nvSpPr>
          <p:cNvPr id="5" name="Text 3"/>
          <p:cNvSpPr txBox="1"/>
          <p:nvPr/>
        </p:nvSpPr>
        <p:spPr>
          <a:xfrm>
            <a:off x="640080" y="4754880"/>
            <a:ext cx="5852160" cy="640080"/>
          </a:xfrm>
          <a:prstGeom prst="rect">
            <a:avLst/>
          </a:prstGeom>
          <a:noFill/>
          <a:ln/>
        </p:spPr>
        <p:txBody>
          <a:bodyPr wrap="square" lIns="0" tIns="0" rIns="0" bIns="0" rtlCol="0" anchor="t"/>
          <a:lstStyle/>
          <a:p>
            <a:pPr indent="0" marL="0">
              <a:buNone/>
            </a:pPr>
            <a:r>
              <a:rPr lang="en-US" sz="1500" dirty="0">
                <a:solidFill>
                  <a:srgbClr val="CFE0FF"/>
                </a:solidFill>
              </a:rPr>
              <a:t>A safe assistant that explains, reminds and escalates. It never gives medical advice.</a:t>
            </a:r>
            <a:endParaRPr lang="en-US" sz="1500" dirty="0"/>
          </a:p>
        </p:txBody>
      </p:sp>
      <p:sp>
        <p:nvSpPr>
          <p:cNvPr id="6" name="Text 4"/>
          <p:cNvSpPr txBox="1"/>
          <p:nvPr/>
        </p:nvSpPr>
        <p:spPr>
          <a:xfrm>
            <a:off x="640080" y="6126480"/>
            <a:ext cx="5486400" cy="274320"/>
          </a:xfrm>
          <a:prstGeom prst="rect">
            <a:avLst/>
          </a:prstGeom>
          <a:noFill/>
          <a:ln/>
        </p:spPr>
        <p:txBody>
          <a:bodyPr wrap="square" lIns="0" tIns="0" rIns="0" bIns="0" rtlCol="0" anchor="t"/>
          <a:lstStyle/>
          <a:p>
            <a:pPr indent="0" marL="0">
              <a:buNone/>
            </a:pPr>
            <a:r>
              <a:rPr lang="en-US" sz="1100" dirty="0">
                <a:solidFill>
                  <a:srgbClr val="CFE0FF"/>
                </a:solidFill>
              </a:rPr>
              <a:t>Sujit Gorakh Raut  ·  October 2026</a:t>
            </a:r>
            <a:endParaRPr lang="en-US" sz="1100" dirty="0"/>
          </a:p>
        </p:txBody>
      </p:sp>
      <p:sp>
        <p:nvSpPr>
          <p:cNvPr id="7" name="Orbit outer"/>
          <p:cNvSpPr/>
          <p:nvPr/>
        </p:nvSpPr>
        <p:spPr>
          <a:xfrm>
            <a:off x="6949440" y="1051560"/>
            <a:ext cx="5029200" cy="5029200"/>
          </a:xfrm>
          <a:prstGeom prst="ellipse">
            <a:avLst/>
          </a:prstGeom>
          <a:solidFill>
            <a:srgbClr val="FFFFFF">
              <a:alpha val="4000"/>
            </a:srgbClr>
          </a:solidFill>
          <a:ln w="12700">
            <a:solidFill>
              <a:srgbClr val="3CC3F0">
                <a:alpha val="60000"/>
              </a:srgbClr>
            </a:solidFill>
            <a:prstDash val="dash"/>
          </a:ln>
        </p:spPr>
      </p:sp>
      <p:sp>
        <p:nvSpPr>
          <p:cNvPr id="8" name="Orbit inner"/>
          <p:cNvSpPr/>
          <p:nvPr/>
        </p:nvSpPr>
        <p:spPr>
          <a:xfrm>
            <a:off x="8046720" y="2148840"/>
            <a:ext cx="2834640" cy="2834640"/>
          </a:xfrm>
          <a:prstGeom prst="ellipse">
            <a:avLst/>
          </a:prstGeom>
          <a:solidFill>
            <a:srgbClr val="FFFFFF">
              <a:alpha val="7000"/>
            </a:srgbClr>
          </a:solidFill>
          <a:ln w="12700">
            <a:solidFill>
              <a:srgbClr val="7F9BEA">
                <a:alpha val="70000"/>
              </a:srgbClr>
            </a:solidFill>
            <a:prstDash val="solid"/>
          </a:ln>
        </p:spPr>
      </p:sp>
      <p:sp>
        <p:nvSpPr>
          <p:cNvPr id="9" name="Icon dot"/>
          <p:cNvSpPr/>
          <p:nvPr/>
        </p:nvSpPr>
        <p:spPr>
          <a:xfrm>
            <a:off x="8869680" y="2971800"/>
            <a:ext cx="1188720" cy="1188720"/>
          </a:xfrm>
          <a:prstGeom prst="ellipse">
            <a:avLst/>
          </a:prstGeom>
          <a:solidFill>
            <a:srgbClr val="1547C8"/>
          </a:solidFill>
          <a:ln w="25400">
            <a:solidFill>
              <a:srgbClr val="3CC3F0"/>
            </a:solidFill>
            <a:prstDash val="solid"/>
          </a:ln>
        </p:spPr>
      </p:sp>
      <p:pic>
        <p:nvPicPr>
          <p:cNvPr id="10" name="Image 0" descr="ShieldAlt icon">    </p:cNvPr>
          <p:cNvPicPr>
            <a:picLocks noChangeAspect="1"/>
          </p:cNvPicPr>
          <p:nvPr/>
        </p:nvPicPr>
        <p:blipFill>
          <a:blip r:embed="rId1"/>
          <a:stretch>
            <a:fillRect/>
          </a:stretch>
        </p:blipFill>
        <p:spPr>
          <a:xfrm>
            <a:off x="9178747" y="3280867"/>
            <a:ext cx="570586" cy="570586"/>
          </a:xfrm>
          <a:prstGeom prst="rect">
            <a:avLst/>
          </a:prstGeom>
        </p:spPr>
      </p:pic>
      <p:sp>
        <p:nvSpPr>
          <p:cNvPr id="11" name="Icon dot"/>
          <p:cNvSpPr/>
          <p:nvPr/>
        </p:nvSpPr>
        <p:spPr>
          <a:xfrm>
            <a:off x="9125712" y="713232"/>
            <a:ext cx="676656" cy="676656"/>
          </a:xfrm>
          <a:prstGeom prst="ellipse">
            <a:avLst/>
          </a:prstGeom>
          <a:solidFill>
            <a:srgbClr val="0A1F5C"/>
          </a:solidFill>
          <a:ln w="25400">
            <a:solidFill>
              <a:srgbClr val="3CC3F0"/>
            </a:solidFill>
            <a:prstDash val="solid"/>
          </a:ln>
        </p:spPr>
      </p:sp>
      <p:pic>
        <p:nvPicPr>
          <p:cNvPr id="12" name="Image 1" descr="ProjectDiagram icon">    </p:cNvPr>
          <p:cNvPicPr>
            <a:picLocks noChangeAspect="1"/>
          </p:cNvPicPr>
          <p:nvPr/>
        </p:nvPicPr>
        <p:blipFill>
          <a:blip r:embed="rId2"/>
          <a:stretch>
            <a:fillRect/>
          </a:stretch>
        </p:blipFill>
        <p:spPr>
          <a:xfrm>
            <a:off x="9301643" y="889163"/>
            <a:ext cx="324795" cy="324795"/>
          </a:xfrm>
          <a:prstGeom prst="rect">
            <a:avLst/>
          </a:prstGeom>
        </p:spPr>
      </p:pic>
      <p:sp>
        <p:nvSpPr>
          <p:cNvPr id="13" name="Icon dot"/>
          <p:cNvSpPr/>
          <p:nvPr/>
        </p:nvSpPr>
        <p:spPr>
          <a:xfrm>
            <a:off x="11303419" y="1970532"/>
            <a:ext cx="676656" cy="676656"/>
          </a:xfrm>
          <a:prstGeom prst="ellipse">
            <a:avLst/>
          </a:prstGeom>
          <a:solidFill>
            <a:srgbClr val="0A1F5C"/>
          </a:solidFill>
          <a:ln w="25400">
            <a:solidFill>
              <a:srgbClr val="3CC3F0"/>
            </a:solidFill>
            <a:prstDash val="solid"/>
          </a:ln>
        </p:spPr>
      </p:sp>
      <p:pic>
        <p:nvPicPr>
          <p:cNvPr id="14" name="Image 2" descr="ChartLine icon">    </p:cNvPr>
          <p:cNvPicPr>
            <a:picLocks noChangeAspect="1"/>
          </p:cNvPicPr>
          <p:nvPr/>
        </p:nvPicPr>
        <p:blipFill>
          <a:blip r:embed="rId3"/>
          <a:stretch>
            <a:fillRect/>
          </a:stretch>
        </p:blipFill>
        <p:spPr>
          <a:xfrm>
            <a:off x="11479350" y="2146463"/>
            <a:ext cx="324795" cy="324795"/>
          </a:xfrm>
          <a:prstGeom prst="rect">
            <a:avLst/>
          </a:prstGeom>
        </p:spPr>
      </p:pic>
      <p:sp>
        <p:nvSpPr>
          <p:cNvPr id="15" name="Icon dot"/>
          <p:cNvSpPr/>
          <p:nvPr/>
        </p:nvSpPr>
        <p:spPr>
          <a:xfrm>
            <a:off x="11303419" y="4485132"/>
            <a:ext cx="676656" cy="676656"/>
          </a:xfrm>
          <a:prstGeom prst="ellipse">
            <a:avLst/>
          </a:prstGeom>
          <a:solidFill>
            <a:srgbClr val="0A1F5C"/>
          </a:solidFill>
          <a:ln w="25400">
            <a:solidFill>
              <a:srgbClr val="3CC3F0"/>
            </a:solidFill>
            <a:prstDash val="solid"/>
          </a:ln>
        </p:spPr>
      </p:sp>
      <p:pic>
        <p:nvPicPr>
          <p:cNvPr id="16" name="Image 3" descr="ClipboardList icon">    </p:cNvPr>
          <p:cNvPicPr>
            <a:picLocks noChangeAspect="1"/>
          </p:cNvPicPr>
          <p:nvPr/>
        </p:nvPicPr>
        <p:blipFill>
          <a:blip r:embed="rId4"/>
          <a:stretch>
            <a:fillRect/>
          </a:stretch>
        </p:blipFill>
        <p:spPr>
          <a:xfrm>
            <a:off x="11479350" y="4661063"/>
            <a:ext cx="324795" cy="324795"/>
          </a:xfrm>
          <a:prstGeom prst="rect">
            <a:avLst/>
          </a:prstGeom>
        </p:spPr>
      </p:pic>
      <p:sp>
        <p:nvSpPr>
          <p:cNvPr id="17" name="Icon dot"/>
          <p:cNvSpPr/>
          <p:nvPr/>
        </p:nvSpPr>
        <p:spPr>
          <a:xfrm>
            <a:off x="9125712" y="5742432"/>
            <a:ext cx="676656" cy="676656"/>
          </a:xfrm>
          <a:prstGeom prst="ellipse">
            <a:avLst/>
          </a:prstGeom>
          <a:solidFill>
            <a:srgbClr val="0A1F5C"/>
          </a:solidFill>
          <a:ln w="25400">
            <a:solidFill>
              <a:srgbClr val="3CC3F0"/>
            </a:solidFill>
            <a:prstDash val="solid"/>
          </a:ln>
        </p:spPr>
      </p:sp>
      <p:pic>
        <p:nvPicPr>
          <p:cNvPr id="18" name="Image 4" descr="BookMedical icon">    </p:cNvPr>
          <p:cNvPicPr>
            <a:picLocks noChangeAspect="1"/>
          </p:cNvPicPr>
          <p:nvPr/>
        </p:nvPicPr>
        <p:blipFill>
          <a:blip r:embed="rId5"/>
          <a:stretch>
            <a:fillRect/>
          </a:stretch>
        </p:blipFill>
        <p:spPr>
          <a:xfrm>
            <a:off x="9301643" y="5918363"/>
            <a:ext cx="324795" cy="324795"/>
          </a:xfrm>
          <a:prstGeom prst="rect">
            <a:avLst/>
          </a:prstGeom>
        </p:spPr>
      </p:pic>
      <p:sp>
        <p:nvSpPr>
          <p:cNvPr id="19" name="Icon dot"/>
          <p:cNvSpPr/>
          <p:nvPr/>
        </p:nvSpPr>
        <p:spPr>
          <a:xfrm>
            <a:off x="6948005" y="4485132"/>
            <a:ext cx="676656" cy="676656"/>
          </a:xfrm>
          <a:prstGeom prst="ellipse">
            <a:avLst/>
          </a:prstGeom>
          <a:solidFill>
            <a:srgbClr val="0A1F5C"/>
          </a:solidFill>
          <a:ln w="25400">
            <a:solidFill>
              <a:srgbClr val="3CC3F0"/>
            </a:solidFill>
            <a:prstDash val="solid"/>
          </a:ln>
        </p:spPr>
      </p:sp>
      <p:pic>
        <p:nvPicPr>
          <p:cNvPr id="20" name="Image 5" descr="Bell icon">    </p:cNvPr>
          <p:cNvPicPr>
            <a:picLocks noChangeAspect="1"/>
          </p:cNvPicPr>
          <p:nvPr/>
        </p:nvPicPr>
        <p:blipFill>
          <a:blip r:embed="rId6"/>
          <a:stretch>
            <a:fillRect/>
          </a:stretch>
        </p:blipFill>
        <p:spPr>
          <a:xfrm>
            <a:off x="7123935" y="4661063"/>
            <a:ext cx="324795" cy="324795"/>
          </a:xfrm>
          <a:prstGeom prst="rect">
            <a:avLst/>
          </a:prstGeom>
        </p:spPr>
      </p:pic>
      <p:sp>
        <p:nvSpPr>
          <p:cNvPr id="21" name="Icon dot"/>
          <p:cNvSpPr/>
          <p:nvPr/>
        </p:nvSpPr>
        <p:spPr>
          <a:xfrm>
            <a:off x="6948005" y="1970532"/>
            <a:ext cx="676656" cy="676656"/>
          </a:xfrm>
          <a:prstGeom prst="ellipse">
            <a:avLst/>
          </a:prstGeom>
          <a:solidFill>
            <a:srgbClr val="0A1F5C"/>
          </a:solidFill>
          <a:ln w="25400">
            <a:solidFill>
              <a:srgbClr val="3CC3F0"/>
            </a:solidFill>
            <a:prstDash val="solid"/>
          </a:ln>
        </p:spPr>
      </p:sp>
      <p:pic>
        <p:nvPicPr>
          <p:cNvPr id="22" name="Image 6" descr="UserMd icon">    </p:cNvPr>
          <p:cNvPicPr>
            <a:picLocks noChangeAspect="1"/>
          </p:cNvPicPr>
          <p:nvPr/>
        </p:nvPicPr>
        <p:blipFill>
          <a:blip r:embed="rId7"/>
          <a:stretch>
            <a:fillRect/>
          </a:stretch>
        </p:blipFill>
        <p:spPr>
          <a:xfrm>
            <a:off x="7123935" y="2146463"/>
            <a:ext cx="324795" cy="3247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468880"/>
            <a:ext cx="3291840" cy="731520"/>
          </a:xfrm>
          <a:prstGeom prst="rect">
            <a:avLst/>
          </a:prstGeom>
          <a:noFill/>
          <a:ln/>
        </p:spPr>
        <p:txBody>
          <a:bodyPr wrap="square" lIns="0" tIns="0" rIns="0" bIns="0" rtlCol="0" anchor="t"/>
          <a:lstStyle/>
          <a:p>
            <a:pPr indent="0" marL="0">
              <a:buNone/>
            </a:pPr>
            <a:r>
              <a:rPr lang="en-US" sz="3400" b="1" dirty="0">
                <a:solidFill>
                  <a:srgbClr val="FFFFFF"/>
                </a:solidFill>
              </a:rPr>
              <a:t>Agenda</a:t>
            </a:r>
            <a:endParaRPr lang="en-US" sz="3400" dirty="0"/>
          </a:p>
        </p:txBody>
      </p:sp>
      <p:sp>
        <p:nvSpPr>
          <p:cNvPr id="3" name="Text 1"/>
          <p:cNvSpPr txBox="1"/>
          <p:nvPr/>
        </p:nvSpPr>
        <p:spPr>
          <a:xfrm>
            <a:off x="548640" y="3291840"/>
            <a:ext cx="3108960" cy="1280160"/>
          </a:xfrm>
          <a:prstGeom prst="rect">
            <a:avLst/>
          </a:prstGeom>
          <a:noFill/>
          <a:ln/>
        </p:spPr>
        <p:txBody>
          <a:bodyPr wrap="square" lIns="0" tIns="0" rIns="0" bIns="0" rtlCol="0" anchor="t"/>
          <a:lstStyle/>
          <a:p>
            <a:pPr indent="0" marL="0">
              <a:buNone/>
            </a:pPr>
            <a:r>
              <a:rPr lang="en-US" sz="1300" dirty="0">
                <a:solidFill>
                  <a:srgbClr val="CFE0FF"/>
                </a:solidFill>
              </a:rPr>
              <a:t>From the use case to a safe, working, testable multi-agent system. Click any item to jump to it.</a:t>
            </a:r>
            <a:endParaRPr lang="en-US" sz="1300" dirty="0"/>
          </a:p>
        </p:txBody>
      </p:sp>
      <p:sp>
        <p:nvSpPr>
          <p:cNvPr id="4" name="Agenda item"/>
          <p:cNvSpPr/>
          <p:nvPr/>
        </p:nvSpPr>
        <p:spPr>
          <a:xfrm>
            <a:off x="4663440" y="566928"/>
            <a:ext cx="6976872" cy="713232"/>
          </a:xfrm>
          <a:prstGeom prst="roundRect">
            <a:avLst>
              <a:gd name="adj" fmla="val 1538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5" name="Shape 3"/>
          <p:cNvSpPr/>
          <p:nvPr/>
        </p:nvSpPr>
        <p:spPr>
          <a:xfrm>
            <a:off x="4846320" y="694944"/>
            <a:ext cx="457200" cy="457200"/>
          </a:xfrm>
          <a:prstGeom prst="rect">
            <a:avLst/>
          </a:prstGeom>
          <a:solidFill>
            <a:srgbClr val="1547C8"/>
          </a:solidFill>
          <a:ln w="12700">
            <a:solidFill>
              <a:srgbClr val="1547C8"/>
            </a:solidFill>
            <a:prstDash val="solid"/>
          </a:ln>
        </p:spPr>
      </p:sp>
      <p:sp>
        <p:nvSpPr>
          <p:cNvPr id="6" name="Text 4"/>
          <p:cNvSpPr txBox="1"/>
          <p:nvPr/>
        </p:nvSpPr>
        <p:spPr>
          <a:xfrm>
            <a:off x="4846320" y="6949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01</a:t>
            </a:r>
            <a:endParaRPr lang="en-US" sz="1300" dirty="0"/>
          </a:p>
        </p:txBody>
      </p:sp>
      <p:sp>
        <p:nvSpPr>
          <p:cNvPr id="7" name="Text 5"/>
          <p:cNvSpPr txBox="1"/>
          <p:nvPr/>
        </p:nvSpPr>
        <p:spPr>
          <a:xfrm>
            <a:off x="5532120" y="658368"/>
            <a:ext cx="5943600" cy="292608"/>
          </a:xfrm>
          <a:prstGeom prst="rect">
            <a:avLst/>
          </a:prstGeom>
          <a:noFill/>
          <a:ln/>
        </p:spPr>
        <p:txBody>
          <a:bodyPr wrap="square" lIns="0" tIns="0" rIns="0" bIns="0" rtlCol="0" anchor="t"/>
          <a:lstStyle/>
          <a:p>
            <a:pPr indent="0" marL="0">
              <a:buNone/>
            </a:pPr>
            <a:r>
              <a:rPr lang="en-US" sz="1400" b="1" u="sng" dirty="0">
                <a:solidFill>
                  <a:srgbClr val="1F2937"/>
                </a:solidFill>
                <a:hlinkClick r:id="rId1" action="ppaction://hlinksldjump" tooltip="Go to slide 3">
                  <a:extLst>
                    <a:ext uri="{A12FA001-AC4F-418D-AE19-62706E023703}">
                      <ahyp:hlinkClr xmlns:ahyp="http://schemas.microsoft.com/office/drawing/2018/hyperlinkcolor" val="tx"/>
                    </a:ext>
                  </a:extLst>
                </a:hlinkClick>
              </a:rPr>
              <a:t>The use case</a:t>
            </a:r>
            <a:endParaRPr lang="en-US" sz="1400" dirty="0"/>
          </a:p>
        </p:txBody>
      </p:sp>
      <p:sp>
        <p:nvSpPr>
          <p:cNvPr id="8" name="Text 6"/>
          <p:cNvSpPr txBox="1"/>
          <p:nvPr/>
        </p:nvSpPr>
        <p:spPr>
          <a:xfrm>
            <a:off x="5532120" y="960120"/>
            <a:ext cx="5943600" cy="237744"/>
          </a:xfrm>
          <a:prstGeom prst="rect">
            <a:avLst/>
          </a:prstGeom>
          <a:noFill/>
          <a:ln/>
        </p:spPr>
        <p:txBody>
          <a:bodyPr wrap="square" lIns="0" tIns="0" rIns="0" bIns="0" rtlCol="0" anchor="t"/>
          <a:lstStyle/>
          <a:p>
            <a:pPr indent="0" marL="0">
              <a:buNone/>
            </a:pPr>
            <a:r>
              <a:rPr lang="en-US" sz="1150" dirty="0">
                <a:solidFill>
                  <a:srgbClr val="5B6478"/>
                </a:solidFill>
              </a:rPr>
              <a:t>Why safe follow-up does not scale today</a:t>
            </a:r>
            <a:endParaRPr lang="en-US" sz="1150" dirty="0"/>
          </a:p>
        </p:txBody>
      </p:sp>
      <p:sp>
        <p:nvSpPr>
          <p:cNvPr id="9" name="Agenda item"/>
          <p:cNvSpPr/>
          <p:nvPr/>
        </p:nvSpPr>
        <p:spPr>
          <a:xfrm>
            <a:off x="4663440" y="1389888"/>
            <a:ext cx="6976872" cy="713232"/>
          </a:xfrm>
          <a:prstGeom prst="roundRect">
            <a:avLst>
              <a:gd name="adj" fmla="val 1538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10" name="Shape 8"/>
          <p:cNvSpPr/>
          <p:nvPr/>
        </p:nvSpPr>
        <p:spPr>
          <a:xfrm>
            <a:off x="4846320" y="1517904"/>
            <a:ext cx="457200" cy="457200"/>
          </a:xfrm>
          <a:prstGeom prst="rect">
            <a:avLst/>
          </a:prstGeom>
          <a:solidFill>
            <a:srgbClr val="1547C8"/>
          </a:solidFill>
          <a:ln w="12700">
            <a:solidFill>
              <a:srgbClr val="1547C8"/>
            </a:solidFill>
            <a:prstDash val="solid"/>
          </a:ln>
        </p:spPr>
      </p:sp>
      <p:sp>
        <p:nvSpPr>
          <p:cNvPr id="11" name="Text 9"/>
          <p:cNvSpPr txBox="1"/>
          <p:nvPr/>
        </p:nvSpPr>
        <p:spPr>
          <a:xfrm>
            <a:off x="4846320" y="15179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02</a:t>
            </a:r>
            <a:endParaRPr lang="en-US" sz="1300" dirty="0"/>
          </a:p>
        </p:txBody>
      </p:sp>
      <p:sp>
        <p:nvSpPr>
          <p:cNvPr id="12" name="Text 10"/>
          <p:cNvSpPr txBox="1"/>
          <p:nvPr/>
        </p:nvSpPr>
        <p:spPr>
          <a:xfrm>
            <a:off x="5532120" y="1481328"/>
            <a:ext cx="5943600" cy="292608"/>
          </a:xfrm>
          <a:prstGeom prst="rect">
            <a:avLst/>
          </a:prstGeom>
          <a:noFill/>
          <a:ln/>
        </p:spPr>
        <p:txBody>
          <a:bodyPr wrap="square" lIns="0" tIns="0" rIns="0" bIns="0" rtlCol="0" anchor="t"/>
          <a:lstStyle/>
          <a:p>
            <a:pPr indent="0" marL="0">
              <a:buNone/>
            </a:pPr>
            <a:r>
              <a:rPr lang="en-US" sz="1400" b="1" u="sng" dirty="0">
                <a:solidFill>
                  <a:srgbClr val="1F2937"/>
                </a:solidFill>
                <a:hlinkClick r:id="rId2" action="ppaction://hlinksldjump" tooltip="Go to slide 4">
                  <a:extLst>
                    <a:ext uri="{A12FA001-AC4F-418D-AE19-62706E023703}">
                      <ahyp:hlinkClr xmlns:ahyp="http://schemas.microsoft.com/office/drawing/2018/hyperlinkcolor" val="tx"/>
                    </a:ext>
                  </a:extLst>
                </a:hlinkClick>
              </a:rPr>
              <a:t>Solution and design principle</a:t>
            </a:r>
            <a:endParaRPr lang="en-US" sz="1400" dirty="0"/>
          </a:p>
        </p:txBody>
      </p:sp>
      <p:sp>
        <p:nvSpPr>
          <p:cNvPr id="13" name="Text 11"/>
          <p:cNvSpPr txBox="1"/>
          <p:nvPr/>
        </p:nvSpPr>
        <p:spPr>
          <a:xfrm>
            <a:off x="5532120" y="1783080"/>
            <a:ext cx="5943600" cy="237744"/>
          </a:xfrm>
          <a:prstGeom prst="rect">
            <a:avLst/>
          </a:prstGeom>
          <a:noFill/>
          <a:ln/>
        </p:spPr>
        <p:txBody>
          <a:bodyPr wrap="square" lIns="0" tIns="0" rIns="0" bIns="0" rtlCol="0" anchor="t"/>
          <a:lstStyle/>
          <a:p>
            <a:pPr indent="0" marL="0">
              <a:buNone/>
            </a:pPr>
            <a:r>
              <a:rPr lang="en-US" sz="1150" dirty="0">
                <a:solidFill>
                  <a:srgbClr val="5B6478"/>
                </a:solidFill>
              </a:rPr>
              <a:t>Six agents; code decides facts, AI words them</a:t>
            </a:r>
            <a:endParaRPr lang="en-US" sz="1150" dirty="0"/>
          </a:p>
        </p:txBody>
      </p:sp>
      <p:sp>
        <p:nvSpPr>
          <p:cNvPr id="14" name="Agenda item"/>
          <p:cNvSpPr/>
          <p:nvPr/>
        </p:nvSpPr>
        <p:spPr>
          <a:xfrm>
            <a:off x="4663440" y="2212848"/>
            <a:ext cx="6976872" cy="713232"/>
          </a:xfrm>
          <a:prstGeom prst="roundRect">
            <a:avLst>
              <a:gd name="adj" fmla="val 1538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15" name="Shape 13"/>
          <p:cNvSpPr/>
          <p:nvPr/>
        </p:nvSpPr>
        <p:spPr>
          <a:xfrm>
            <a:off x="4846320" y="2340864"/>
            <a:ext cx="457200" cy="457200"/>
          </a:xfrm>
          <a:prstGeom prst="rect">
            <a:avLst/>
          </a:prstGeom>
          <a:solidFill>
            <a:srgbClr val="1547C8"/>
          </a:solidFill>
          <a:ln w="12700">
            <a:solidFill>
              <a:srgbClr val="1547C8"/>
            </a:solidFill>
            <a:prstDash val="solid"/>
          </a:ln>
        </p:spPr>
      </p:sp>
      <p:sp>
        <p:nvSpPr>
          <p:cNvPr id="16" name="Text 14"/>
          <p:cNvSpPr txBox="1"/>
          <p:nvPr/>
        </p:nvSpPr>
        <p:spPr>
          <a:xfrm>
            <a:off x="4846320" y="234086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03</a:t>
            </a:r>
            <a:endParaRPr lang="en-US" sz="1300" dirty="0"/>
          </a:p>
        </p:txBody>
      </p:sp>
      <p:sp>
        <p:nvSpPr>
          <p:cNvPr id="17" name="Text 15"/>
          <p:cNvSpPr txBox="1"/>
          <p:nvPr/>
        </p:nvSpPr>
        <p:spPr>
          <a:xfrm>
            <a:off x="5532120" y="2304288"/>
            <a:ext cx="5943600" cy="292608"/>
          </a:xfrm>
          <a:prstGeom prst="rect">
            <a:avLst/>
          </a:prstGeom>
          <a:noFill/>
          <a:ln/>
        </p:spPr>
        <p:txBody>
          <a:bodyPr wrap="square" lIns="0" tIns="0" rIns="0" bIns="0" rtlCol="0" anchor="t"/>
          <a:lstStyle/>
          <a:p>
            <a:pPr indent="0" marL="0">
              <a:buNone/>
            </a:pPr>
            <a:r>
              <a:rPr lang="en-US" sz="1400" b="1" u="sng" dirty="0">
                <a:solidFill>
                  <a:srgbClr val="1F2937"/>
                </a:solidFill>
                <a:hlinkClick r:id="rId3" action="ppaction://hlinksldjump" tooltip="Go to slide 6">
                  <a:extLst>
                    <a:ext uri="{A12FA001-AC4F-418D-AE19-62706E023703}">
                      <ahyp:hlinkClr xmlns:ahyp="http://schemas.microsoft.com/office/drawing/2018/hyperlinkcolor" val="tx"/>
                    </a:ext>
                  </a:extLst>
                </a:hlinkClick>
              </a:rPr>
              <a:t>Architecture and RAG</a:t>
            </a:r>
            <a:endParaRPr lang="en-US" sz="1400" dirty="0"/>
          </a:p>
        </p:txBody>
      </p:sp>
      <p:sp>
        <p:nvSpPr>
          <p:cNvPr id="18" name="Text 16"/>
          <p:cNvSpPr txBox="1"/>
          <p:nvPr/>
        </p:nvSpPr>
        <p:spPr>
          <a:xfrm>
            <a:off x="5532120" y="2606040"/>
            <a:ext cx="5943600" cy="237744"/>
          </a:xfrm>
          <a:prstGeom prst="rect">
            <a:avLst/>
          </a:prstGeom>
          <a:noFill/>
          <a:ln/>
        </p:spPr>
        <p:txBody>
          <a:bodyPr wrap="square" lIns="0" tIns="0" rIns="0" bIns="0" rtlCol="0" anchor="t"/>
          <a:lstStyle/>
          <a:p>
            <a:pPr indent="0" marL="0">
              <a:buNone/>
            </a:pPr>
            <a:r>
              <a:rPr lang="en-US" sz="1150" dirty="0">
                <a:solidFill>
                  <a:srgbClr val="5B6478"/>
                </a:solidFill>
              </a:rPr>
              <a:t>One message end to end; grounded answers</a:t>
            </a:r>
            <a:endParaRPr lang="en-US" sz="1150" dirty="0"/>
          </a:p>
        </p:txBody>
      </p:sp>
      <p:sp>
        <p:nvSpPr>
          <p:cNvPr id="19" name="Agenda item"/>
          <p:cNvSpPr/>
          <p:nvPr/>
        </p:nvSpPr>
        <p:spPr>
          <a:xfrm>
            <a:off x="4663440" y="3035808"/>
            <a:ext cx="6976872" cy="713232"/>
          </a:xfrm>
          <a:prstGeom prst="roundRect">
            <a:avLst>
              <a:gd name="adj" fmla="val 1538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0" name="Shape 18"/>
          <p:cNvSpPr/>
          <p:nvPr/>
        </p:nvSpPr>
        <p:spPr>
          <a:xfrm>
            <a:off x="4846320" y="3163824"/>
            <a:ext cx="457200" cy="457200"/>
          </a:xfrm>
          <a:prstGeom prst="rect">
            <a:avLst/>
          </a:prstGeom>
          <a:solidFill>
            <a:srgbClr val="1547C8"/>
          </a:solidFill>
          <a:ln w="12700">
            <a:solidFill>
              <a:srgbClr val="1547C8"/>
            </a:solidFill>
            <a:prstDash val="solid"/>
          </a:ln>
        </p:spPr>
      </p:sp>
      <p:sp>
        <p:nvSpPr>
          <p:cNvPr id="21" name="Text 19"/>
          <p:cNvSpPr txBox="1"/>
          <p:nvPr/>
        </p:nvSpPr>
        <p:spPr>
          <a:xfrm>
            <a:off x="4846320" y="31638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04</a:t>
            </a:r>
            <a:endParaRPr lang="en-US" sz="1300" dirty="0"/>
          </a:p>
        </p:txBody>
      </p:sp>
      <p:sp>
        <p:nvSpPr>
          <p:cNvPr id="22" name="Text 20"/>
          <p:cNvSpPr txBox="1"/>
          <p:nvPr/>
        </p:nvSpPr>
        <p:spPr>
          <a:xfrm>
            <a:off x="5532120" y="3127248"/>
            <a:ext cx="5943600" cy="292608"/>
          </a:xfrm>
          <a:prstGeom prst="rect">
            <a:avLst/>
          </a:prstGeom>
          <a:noFill/>
          <a:ln/>
        </p:spPr>
        <p:txBody>
          <a:bodyPr wrap="square" lIns="0" tIns="0" rIns="0" bIns="0" rtlCol="0" anchor="t"/>
          <a:lstStyle/>
          <a:p>
            <a:pPr indent="0" marL="0">
              <a:buNone/>
            </a:pPr>
            <a:r>
              <a:rPr lang="en-US" sz="1400" b="1" u="sng" dirty="0">
                <a:solidFill>
                  <a:srgbClr val="1F2937"/>
                </a:solidFill>
                <a:hlinkClick r:id="rId4" action="ppaction://hlinksldjump" tooltip="Go to slide 8">
                  <a:extLst>
                    <a:ext uri="{A12FA001-AC4F-418D-AE19-62706E023703}">
                      <ahyp:hlinkClr xmlns:ahyp="http://schemas.microsoft.com/office/drawing/2018/hyperlinkcolor" val="tx"/>
                    </a:ext>
                  </a:extLst>
                </a:hlinkClick>
              </a:rPr>
              <a:t>Live demo and try it</a:t>
            </a:r>
            <a:endParaRPr lang="en-US" sz="1400" dirty="0"/>
          </a:p>
        </p:txBody>
      </p:sp>
      <p:sp>
        <p:nvSpPr>
          <p:cNvPr id="23" name="Text 21"/>
          <p:cNvSpPr txBox="1"/>
          <p:nvPr/>
        </p:nvSpPr>
        <p:spPr>
          <a:xfrm>
            <a:off x="5532120" y="3429000"/>
            <a:ext cx="5943600" cy="237744"/>
          </a:xfrm>
          <a:prstGeom prst="rect">
            <a:avLst/>
          </a:prstGeom>
          <a:noFill/>
          <a:ln/>
        </p:spPr>
        <p:txBody>
          <a:bodyPr wrap="square" lIns="0" tIns="0" rIns="0" bIns="0" rtlCol="0" anchor="t"/>
          <a:lstStyle/>
          <a:p>
            <a:pPr indent="0" marL="0">
              <a:buNone/>
            </a:pPr>
            <a:r>
              <a:rPr lang="en-US" sz="1150" dirty="0">
                <a:solidFill>
                  <a:srgbClr val="5B6478"/>
                </a:solidFill>
              </a:rPr>
              <a:t>A normal, an exception and a safety path</a:t>
            </a:r>
            <a:endParaRPr lang="en-US" sz="1150" dirty="0"/>
          </a:p>
        </p:txBody>
      </p:sp>
      <p:sp>
        <p:nvSpPr>
          <p:cNvPr id="24" name="Agenda item"/>
          <p:cNvSpPr/>
          <p:nvPr/>
        </p:nvSpPr>
        <p:spPr>
          <a:xfrm>
            <a:off x="4663440" y="3858768"/>
            <a:ext cx="6976872" cy="713232"/>
          </a:xfrm>
          <a:prstGeom prst="roundRect">
            <a:avLst>
              <a:gd name="adj" fmla="val 1538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5" name="Shape 23"/>
          <p:cNvSpPr/>
          <p:nvPr/>
        </p:nvSpPr>
        <p:spPr>
          <a:xfrm>
            <a:off x="4846320" y="3986784"/>
            <a:ext cx="457200" cy="457200"/>
          </a:xfrm>
          <a:prstGeom prst="rect">
            <a:avLst/>
          </a:prstGeom>
          <a:solidFill>
            <a:srgbClr val="1547C8"/>
          </a:solidFill>
          <a:ln w="12700">
            <a:solidFill>
              <a:srgbClr val="1547C8"/>
            </a:solidFill>
            <a:prstDash val="solid"/>
          </a:ln>
        </p:spPr>
      </p:sp>
      <p:sp>
        <p:nvSpPr>
          <p:cNvPr id="26" name="Text 24"/>
          <p:cNvSpPr txBox="1"/>
          <p:nvPr/>
        </p:nvSpPr>
        <p:spPr>
          <a:xfrm>
            <a:off x="4846320" y="3986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05</a:t>
            </a:r>
            <a:endParaRPr lang="en-US" sz="1300" dirty="0"/>
          </a:p>
        </p:txBody>
      </p:sp>
      <p:sp>
        <p:nvSpPr>
          <p:cNvPr id="27" name="Text 25"/>
          <p:cNvSpPr txBox="1"/>
          <p:nvPr/>
        </p:nvSpPr>
        <p:spPr>
          <a:xfrm>
            <a:off x="5532120" y="3950208"/>
            <a:ext cx="5943600" cy="292608"/>
          </a:xfrm>
          <a:prstGeom prst="rect">
            <a:avLst/>
          </a:prstGeom>
          <a:noFill/>
          <a:ln/>
        </p:spPr>
        <p:txBody>
          <a:bodyPr wrap="square" lIns="0" tIns="0" rIns="0" bIns="0" rtlCol="0" anchor="t"/>
          <a:lstStyle/>
          <a:p>
            <a:pPr indent="0" marL="0">
              <a:buNone/>
            </a:pPr>
            <a:r>
              <a:rPr lang="en-US" sz="1400" b="1" u="sng" dirty="0">
                <a:solidFill>
                  <a:srgbClr val="1F2937"/>
                </a:solidFill>
                <a:hlinkClick r:id="rId5" action="ppaction://hlinksldjump" tooltip="Go to slide 14">
                  <a:extLst>
                    <a:ext uri="{A12FA001-AC4F-418D-AE19-62706E023703}">
                      <ahyp:hlinkClr xmlns:ahyp="http://schemas.microsoft.com/office/drawing/2018/hyperlinkcolor" val="tx"/>
                    </a:ext>
                  </a:extLst>
                </a:hlinkClick>
              </a:rPr>
              <a:t>Escalation rules</a:t>
            </a:r>
            <a:endParaRPr lang="en-US" sz="1400" dirty="0"/>
          </a:p>
        </p:txBody>
      </p:sp>
      <p:sp>
        <p:nvSpPr>
          <p:cNvPr id="28" name="Text 26"/>
          <p:cNvSpPr txBox="1"/>
          <p:nvPr/>
        </p:nvSpPr>
        <p:spPr>
          <a:xfrm>
            <a:off x="5532120" y="4251960"/>
            <a:ext cx="5943600" cy="237744"/>
          </a:xfrm>
          <a:prstGeom prst="rect">
            <a:avLst/>
          </a:prstGeom>
          <a:noFill/>
          <a:ln/>
        </p:spPr>
        <p:txBody>
          <a:bodyPr wrap="square" lIns="0" tIns="0" rIns="0" bIns="0" rtlCol="0" anchor="t"/>
          <a:lstStyle/>
          <a:p>
            <a:pPr indent="0" marL="0">
              <a:buNone/>
            </a:pPr>
            <a:r>
              <a:rPr lang="en-US" sz="1150" dirty="0">
                <a:solidFill>
                  <a:srgbClr val="5B6478"/>
                </a:solidFill>
              </a:rPr>
              <a:t>Four rules applied exactly as supplied</a:t>
            </a:r>
            <a:endParaRPr lang="en-US" sz="1150" dirty="0"/>
          </a:p>
        </p:txBody>
      </p:sp>
      <p:sp>
        <p:nvSpPr>
          <p:cNvPr id="29" name="Agenda item"/>
          <p:cNvSpPr/>
          <p:nvPr/>
        </p:nvSpPr>
        <p:spPr>
          <a:xfrm>
            <a:off x="4663440" y="4681728"/>
            <a:ext cx="6976872" cy="713232"/>
          </a:xfrm>
          <a:prstGeom prst="roundRect">
            <a:avLst>
              <a:gd name="adj" fmla="val 1538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0" name="Shape 28"/>
          <p:cNvSpPr/>
          <p:nvPr/>
        </p:nvSpPr>
        <p:spPr>
          <a:xfrm>
            <a:off x="4846320" y="4809744"/>
            <a:ext cx="457200" cy="457200"/>
          </a:xfrm>
          <a:prstGeom prst="rect">
            <a:avLst/>
          </a:prstGeom>
          <a:solidFill>
            <a:srgbClr val="1547C8"/>
          </a:solidFill>
          <a:ln w="12700">
            <a:solidFill>
              <a:srgbClr val="1547C8"/>
            </a:solidFill>
            <a:prstDash val="solid"/>
          </a:ln>
        </p:spPr>
      </p:sp>
      <p:sp>
        <p:nvSpPr>
          <p:cNvPr id="31" name="Text 29"/>
          <p:cNvSpPr txBox="1"/>
          <p:nvPr/>
        </p:nvSpPr>
        <p:spPr>
          <a:xfrm>
            <a:off x="4846320" y="48097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06</a:t>
            </a:r>
            <a:endParaRPr lang="en-US" sz="1300" dirty="0"/>
          </a:p>
        </p:txBody>
      </p:sp>
      <p:sp>
        <p:nvSpPr>
          <p:cNvPr id="32" name="Text 30"/>
          <p:cNvSpPr txBox="1"/>
          <p:nvPr/>
        </p:nvSpPr>
        <p:spPr>
          <a:xfrm>
            <a:off x="5532120" y="4773168"/>
            <a:ext cx="5943600" cy="292608"/>
          </a:xfrm>
          <a:prstGeom prst="rect">
            <a:avLst/>
          </a:prstGeom>
          <a:noFill/>
          <a:ln/>
        </p:spPr>
        <p:txBody>
          <a:bodyPr wrap="square" lIns="0" tIns="0" rIns="0" bIns="0" rtlCol="0" anchor="t"/>
          <a:lstStyle/>
          <a:p>
            <a:pPr indent="0" marL="0">
              <a:buNone/>
            </a:pPr>
            <a:r>
              <a:rPr lang="en-US" sz="1400" b="1" u="sng" dirty="0">
                <a:solidFill>
                  <a:srgbClr val="1F2937"/>
                </a:solidFill>
                <a:hlinkClick r:id="rId6" action="ppaction://hlinksldjump" tooltip="Go to slide 15">
                  <a:extLst>
                    <a:ext uri="{A12FA001-AC4F-418D-AE19-62706E023703}">
                      <ahyp:hlinkClr xmlns:ahyp="http://schemas.microsoft.com/office/drawing/2018/hyperlinkcolor" val="tx"/>
                    </a:ext>
                  </a:extLst>
                </a:hlinkClick>
              </a:rPr>
              <a:t>Testing and results</a:t>
            </a:r>
            <a:endParaRPr lang="en-US" sz="1400" dirty="0"/>
          </a:p>
        </p:txBody>
      </p:sp>
      <p:sp>
        <p:nvSpPr>
          <p:cNvPr id="33" name="Text 31"/>
          <p:cNvSpPr txBox="1"/>
          <p:nvPr/>
        </p:nvSpPr>
        <p:spPr>
          <a:xfrm>
            <a:off x="5532120" y="5074920"/>
            <a:ext cx="5943600" cy="237744"/>
          </a:xfrm>
          <a:prstGeom prst="rect">
            <a:avLst/>
          </a:prstGeom>
          <a:noFill/>
          <a:ln/>
        </p:spPr>
        <p:txBody>
          <a:bodyPr wrap="square" lIns="0" tIns="0" rIns="0" bIns="0" rtlCol="0" anchor="t"/>
          <a:lstStyle/>
          <a:p>
            <a:pPr indent="0" marL="0">
              <a:buNone/>
            </a:pPr>
            <a:r>
              <a:rPr lang="en-US" sz="1150" dirty="0">
                <a:solidFill>
                  <a:srgbClr val="5B6478"/>
                </a:solidFill>
              </a:rPr>
              <a:t>14 scenarios across the normal, unsafe and broken</a:t>
            </a:r>
            <a:endParaRPr lang="en-US" sz="1150" dirty="0"/>
          </a:p>
        </p:txBody>
      </p:sp>
      <p:sp>
        <p:nvSpPr>
          <p:cNvPr id="34" name="Agenda item"/>
          <p:cNvSpPr/>
          <p:nvPr/>
        </p:nvSpPr>
        <p:spPr>
          <a:xfrm>
            <a:off x="4663440" y="5504688"/>
            <a:ext cx="6976872" cy="713232"/>
          </a:xfrm>
          <a:prstGeom prst="roundRect">
            <a:avLst>
              <a:gd name="adj" fmla="val 1538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5" name="Shape 33"/>
          <p:cNvSpPr/>
          <p:nvPr/>
        </p:nvSpPr>
        <p:spPr>
          <a:xfrm>
            <a:off x="4846320" y="5632704"/>
            <a:ext cx="457200" cy="457200"/>
          </a:xfrm>
          <a:prstGeom prst="rect">
            <a:avLst/>
          </a:prstGeom>
          <a:solidFill>
            <a:srgbClr val="1547C8"/>
          </a:solidFill>
          <a:ln w="12700">
            <a:solidFill>
              <a:srgbClr val="1547C8"/>
            </a:solidFill>
            <a:prstDash val="solid"/>
          </a:ln>
        </p:spPr>
      </p:sp>
      <p:sp>
        <p:nvSpPr>
          <p:cNvPr id="36" name="Text 34"/>
          <p:cNvSpPr txBox="1"/>
          <p:nvPr/>
        </p:nvSpPr>
        <p:spPr>
          <a:xfrm>
            <a:off x="4846320" y="56327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07</a:t>
            </a:r>
            <a:endParaRPr lang="en-US" sz="1300" dirty="0"/>
          </a:p>
        </p:txBody>
      </p:sp>
      <p:sp>
        <p:nvSpPr>
          <p:cNvPr id="37" name="Text 35"/>
          <p:cNvSpPr txBox="1"/>
          <p:nvPr/>
        </p:nvSpPr>
        <p:spPr>
          <a:xfrm>
            <a:off x="5532120" y="5596128"/>
            <a:ext cx="5943600" cy="292608"/>
          </a:xfrm>
          <a:prstGeom prst="rect">
            <a:avLst/>
          </a:prstGeom>
          <a:noFill/>
          <a:ln/>
        </p:spPr>
        <p:txBody>
          <a:bodyPr wrap="square" lIns="0" tIns="0" rIns="0" bIns="0" rtlCol="0" anchor="t"/>
          <a:lstStyle/>
          <a:p>
            <a:pPr indent="0" marL="0">
              <a:buNone/>
            </a:pPr>
            <a:r>
              <a:rPr lang="en-US" sz="1400" b="1" u="sng" dirty="0">
                <a:solidFill>
                  <a:srgbClr val="1F2937"/>
                </a:solidFill>
                <a:hlinkClick r:id="rId7" action="ppaction://hlinksldjump" tooltip="Go to slide 16">
                  <a:extLst>
                    <a:ext uri="{A12FA001-AC4F-418D-AE19-62706E023703}">
                      <ahyp:hlinkClr xmlns:ahyp="http://schemas.microsoft.com/office/drawing/2018/hyperlinkcolor" val="tx"/>
                    </a:ext>
                  </a:extLst>
                </a:hlinkClick>
              </a:rPr>
              <a:t>Limits, next steps, conclusion</a:t>
            </a:r>
            <a:endParaRPr lang="en-US" sz="1400" dirty="0"/>
          </a:p>
        </p:txBody>
      </p:sp>
      <p:sp>
        <p:nvSpPr>
          <p:cNvPr id="38" name="Text 36"/>
          <p:cNvSpPr txBox="1"/>
          <p:nvPr/>
        </p:nvSpPr>
        <p:spPr>
          <a:xfrm>
            <a:off x="5532120" y="5897880"/>
            <a:ext cx="5943600" cy="237744"/>
          </a:xfrm>
          <a:prstGeom prst="rect">
            <a:avLst/>
          </a:prstGeom>
          <a:noFill/>
          <a:ln/>
        </p:spPr>
        <p:txBody>
          <a:bodyPr wrap="square" lIns="0" tIns="0" rIns="0" bIns="0" rtlCol="0" anchor="t"/>
          <a:lstStyle/>
          <a:p>
            <a:pPr indent="0" marL="0">
              <a:buNone/>
            </a:pPr>
            <a:r>
              <a:rPr lang="en-US" sz="1150" dirty="0">
                <a:solidFill>
                  <a:srgbClr val="5B6478"/>
                </a:solidFill>
              </a:rPr>
              <a:t>What is open and what comes next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01  ·  THE USE CASE</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Care teams cannot scale follow-up safely</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Problem</a:t>
            </a:r>
            <a:endParaRPr lang="en-US" sz="950" dirty="0"/>
          </a:p>
        </p:txBody>
      </p:sp>
      <p:sp>
        <p:nvSpPr>
          <p:cNvPr id="6" name="Shape 4"/>
          <p:cNvSpPr/>
          <p:nvPr/>
        </p:nvSpPr>
        <p:spPr>
          <a:xfrm>
            <a:off x="2912364" y="6309360"/>
            <a:ext cx="73152" cy="73152"/>
          </a:xfrm>
          <a:prstGeom prst="ellipse">
            <a:avLst/>
          </a:prstGeom>
          <a:solidFill>
            <a:srgbClr val="1547C8"/>
          </a:solidFill>
          <a:ln w="12700">
            <a:solidFill>
              <a:srgbClr val="1547C8"/>
            </a:solidFill>
            <a:prstDash val="solid"/>
          </a:ln>
        </p:spPr>
      </p:sp>
      <p:sp>
        <p:nvSpPr>
          <p:cNvPr id="7" name="Text 5"/>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8" name="Text 6"/>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9" name="Text 7"/>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10" name="Text 8"/>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1" name="Text 9"/>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2" name="Text 10"/>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3" name="Text 11"/>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Text 14"/>
          <p:cNvSpPr txBox="1"/>
          <p:nvPr/>
        </p:nvSpPr>
        <p:spPr>
          <a:xfrm>
            <a:off x="548640" y="1463040"/>
            <a:ext cx="5852160" cy="1554480"/>
          </a:xfrm>
          <a:prstGeom prst="rect">
            <a:avLst/>
          </a:prstGeom>
          <a:noFill/>
          <a:ln/>
        </p:spPr>
        <p:txBody>
          <a:bodyPr wrap="square" lIns="0" tIns="0" rIns="0" bIns="0" rtlCol="0" anchor="t"/>
          <a:lstStyle/>
          <a:p>
            <a:pPr indent="0" marL="0">
              <a:buNone/>
            </a:pPr>
            <a:r>
              <a:rPr lang="en-US" sz="2600" b="1" dirty="0">
                <a:solidFill>
                  <a:srgbClr val="1F2937"/>
                </a:solidFill>
              </a:rPr>
              <a:t>Scale education and follow-up, </a:t>
            </a:r>
            <a:pPr indent="0" marL="0">
              <a:buNone/>
            </a:pPr>
            <a:r>
              <a:rPr lang="en-US" sz="2600" b="1" dirty="0">
                <a:solidFill>
                  <a:srgbClr val="1547C8"/>
                </a:solidFill>
              </a:rPr>
              <a:t>while every clinical decision stays with people.</a:t>
            </a:r>
            <a:endParaRPr lang="en-US" sz="2600" dirty="0"/>
          </a:p>
        </p:txBody>
      </p:sp>
      <p:sp>
        <p:nvSpPr>
          <p:cNvPr id="17" name="Pain tile"/>
          <p:cNvSpPr/>
          <p:nvPr/>
        </p:nvSpPr>
        <p:spPr>
          <a:xfrm>
            <a:off x="548640" y="3291840"/>
            <a:ext cx="2834640" cy="1188720"/>
          </a:xfrm>
          <a:prstGeom prst="roundRect">
            <a:avLst>
              <a:gd name="adj" fmla="val 9231"/>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18" name="Text 16"/>
          <p:cNvSpPr txBox="1"/>
          <p:nvPr/>
        </p:nvSpPr>
        <p:spPr>
          <a:xfrm>
            <a:off x="749808" y="3429000"/>
            <a:ext cx="640080" cy="274320"/>
          </a:xfrm>
          <a:prstGeom prst="rect">
            <a:avLst/>
          </a:prstGeom>
          <a:noFill/>
          <a:ln/>
        </p:spPr>
        <p:txBody>
          <a:bodyPr wrap="square" lIns="0" tIns="0" rIns="0" bIns="0" rtlCol="0" anchor="t"/>
          <a:lstStyle/>
          <a:p>
            <a:pPr indent="0" marL="0">
              <a:buNone/>
            </a:pPr>
            <a:r>
              <a:rPr lang="en-US" sz="1200" b="1" dirty="0">
                <a:solidFill>
                  <a:srgbClr val="1547C8"/>
                </a:solidFill>
              </a:rPr>
              <a:t>01</a:t>
            </a:r>
            <a:endParaRPr lang="en-US" sz="1200" dirty="0"/>
          </a:p>
        </p:txBody>
      </p:sp>
      <p:sp>
        <p:nvSpPr>
          <p:cNvPr id="19" name="Text 17"/>
          <p:cNvSpPr txBox="1"/>
          <p:nvPr/>
        </p:nvSpPr>
        <p:spPr>
          <a:xfrm>
            <a:off x="749808" y="3703320"/>
            <a:ext cx="2468880" cy="274320"/>
          </a:xfrm>
          <a:prstGeom prst="rect">
            <a:avLst/>
          </a:prstGeom>
          <a:noFill/>
          <a:ln/>
        </p:spPr>
        <p:txBody>
          <a:bodyPr wrap="square" lIns="0" tIns="0" rIns="0" bIns="0" rtlCol="0" anchor="t"/>
          <a:lstStyle/>
          <a:p>
            <a:pPr indent="0" marL="0">
              <a:buNone/>
            </a:pPr>
            <a:r>
              <a:rPr lang="en-US" sz="1400" b="1" dirty="0">
                <a:solidFill>
                  <a:srgbClr val="1F2937"/>
                </a:solidFill>
              </a:rPr>
              <a:t>Repeated questions</a:t>
            </a:r>
            <a:endParaRPr lang="en-US" sz="1400" dirty="0"/>
          </a:p>
        </p:txBody>
      </p:sp>
      <p:sp>
        <p:nvSpPr>
          <p:cNvPr id="20" name="Text 18"/>
          <p:cNvSpPr txBox="1"/>
          <p:nvPr/>
        </p:nvSpPr>
        <p:spPr>
          <a:xfrm>
            <a:off x="749808" y="4005072"/>
            <a:ext cx="2468880" cy="411480"/>
          </a:xfrm>
          <a:prstGeom prst="rect">
            <a:avLst/>
          </a:prstGeom>
          <a:noFill/>
          <a:ln/>
        </p:spPr>
        <p:txBody>
          <a:bodyPr wrap="square" lIns="0" tIns="0" rIns="0" bIns="0" rtlCol="0" anchor="t"/>
          <a:lstStyle/>
          <a:p>
            <a:pPr indent="0" marL="0">
              <a:buNone/>
            </a:pPr>
            <a:r>
              <a:rPr lang="en-US" sz="1150" dirty="0">
                <a:solidFill>
                  <a:srgbClr val="5B6478"/>
                </a:solidFill>
              </a:rPr>
              <a:t>Coordinators answer the same questions all day</a:t>
            </a:r>
            <a:endParaRPr lang="en-US" sz="1150" dirty="0"/>
          </a:p>
        </p:txBody>
      </p:sp>
      <p:sp>
        <p:nvSpPr>
          <p:cNvPr id="21" name="Pain tile"/>
          <p:cNvSpPr/>
          <p:nvPr/>
        </p:nvSpPr>
        <p:spPr>
          <a:xfrm>
            <a:off x="3566160" y="3291840"/>
            <a:ext cx="2834640" cy="1188720"/>
          </a:xfrm>
          <a:prstGeom prst="roundRect">
            <a:avLst>
              <a:gd name="adj" fmla="val 9231"/>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2" name="Text 20"/>
          <p:cNvSpPr txBox="1"/>
          <p:nvPr/>
        </p:nvSpPr>
        <p:spPr>
          <a:xfrm>
            <a:off x="3767328" y="3429000"/>
            <a:ext cx="640080" cy="274320"/>
          </a:xfrm>
          <a:prstGeom prst="rect">
            <a:avLst/>
          </a:prstGeom>
          <a:noFill/>
          <a:ln/>
        </p:spPr>
        <p:txBody>
          <a:bodyPr wrap="square" lIns="0" tIns="0" rIns="0" bIns="0" rtlCol="0" anchor="t"/>
          <a:lstStyle/>
          <a:p>
            <a:pPr indent="0" marL="0">
              <a:buNone/>
            </a:pPr>
            <a:r>
              <a:rPr lang="en-US" sz="1200" b="1" dirty="0">
                <a:solidFill>
                  <a:srgbClr val="1547C8"/>
                </a:solidFill>
              </a:rPr>
              <a:t>02</a:t>
            </a:r>
            <a:endParaRPr lang="en-US" sz="1200" dirty="0"/>
          </a:p>
        </p:txBody>
      </p:sp>
      <p:sp>
        <p:nvSpPr>
          <p:cNvPr id="23" name="Text 21"/>
          <p:cNvSpPr txBox="1"/>
          <p:nvPr/>
        </p:nvSpPr>
        <p:spPr>
          <a:xfrm>
            <a:off x="3767328" y="3703320"/>
            <a:ext cx="2468880" cy="274320"/>
          </a:xfrm>
          <a:prstGeom prst="rect">
            <a:avLst/>
          </a:prstGeom>
          <a:noFill/>
          <a:ln/>
        </p:spPr>
        <p:txBody>
          <a:bodyPr wrap="square" lIns="0" tIns="0" rIns="0" bIns="0" rtlCol="0" anchor="t"/>
          <a:lstStyle/>
          <a:p>
            <a:pPr indent="0" marL="0">
              <a:buNone/>
            </a:pPr>
            <a:r>
              <a:rPr lang="en-US" sz="1400" b="1" dirty="0">
                <a:solidFill>
                  <a:srgbClr val="1F2937"/>
                </a:solidFill>
              </a:rPr>
              <a:t>Forgotten tasks</a:t>
            </a:r>
            <a:endParaRPr lang="en-US" sz="1400" dirty="0"/>
          </a:p>
        </p:txBody>
      </p:sp>
      <p:sp>
        <p:nvSpPr>
          <p:cNvPr id="24" name="Text 22"/>
          <p:cNvSpPr txBox="1"/>
          <p:nvPr/>
        </p:nvSpPr>
        <p:spPr>
          <a:xfrm>
            <a:off x="3767328" y="4005072"/>
            <a:ext cx="2468880" cy="411480"/>
          </a:xfrm>
          <a:prstGeom prst="rect">
            <a:avLst/>
          </a:prstGeom>
          <a:noFill/>
          <a:ln/>
        </p:spPr>
        <p:txBody>
          <a:bodyPr wrap="square" lIns="0" tIns="0" rIns="0" bIns="0" rtlCol="0" anchor="t"/>
          <a:lstStyle/>
          <a:p>
            <a:pPr indent="0" marL="0">
              <a:buNone/>
            </a:pPr>
            <a:r>
              <a:rPr lang="en-US" sz="1150" dirty="0">
                <a:solidFill>
                  <a:srgbClr val="5B6478"/>
                </a:solidFill>
              </a:rPr>
              <a:t>Members miss readings and modules</a:t>
            </a:r>
            <a:endParaRPr lang="en-US" sz="1150" dirty="0"/>
          </a:p>
        </p:txBody>
      </p:sp>
      <p:sp>
        <p:nvSpPr>
          <p:cNvPr id="25" name="Pain tile"/>
          <p:cNvSpPr/>
          <p:nvPr/>
        </p:nvSpPr>
        <p:spPr>
          <a:xfrm>
            <a:off x="548640" y="4663440"/>
            <a:ext cx="2834640" cy="1188720"/>
          </a:xfrm>
          <a:prstGeom prst="roundRect">
            <a:avLst>
              <a:gd name="adj" fmla="val 9231"/>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6" name="Text 24"/>
          <p:cNvSpPr txBox="1"/>
          <p:nvPr/>
        </p:nvSpPr>
        <p:spPr>
          <a:xfrm>
            <a:off x="749808" y="4800600"/>
            <a:ext cx="640080" cy="274320"/>
          </a:xfrm>
          <a:prstGeom prst="rect">
            <a:avLst/>
          </a:prstGeom>
          <a:noFill/>
          <a:ln/>
        </p:spPr>
        <p:txBody>
          <a:bodyPr wrap="square" lIns="0" tIns="0" rIns="0" bIns="0" rtlCol="0" anchor="t"/>
          <a:lstStyle/>
          <a:p>
            <a:pPr indent="0" marL="0">
              <a:buNone/>
            </a:pPr>
            <a:r>
              <a:rPr lang="en-US" sz="1200" b="1" dirty="0">
                <a:solidFill>
                  <a:srgbClr val="1547C8"/>
                </a:solidFill>
              </a:rPr>
              <a:t>03</a:t>
            </a:r>
            <a:endParaRPr lang="en-US" sz="1200" dirty="0"/>
          </a:p>
        </p:txBody>
      </p:sp>
      <p:sp>
        <p:nvSpPr>
          <p:cNvPr id="27" name="Text 25"/>
          <p:cNvSpPr txBox="1"/>
          <p:nvPr/>
        </p:nvSpPr>
        <p:spPr>
          <a:xfrm>
            <a:off x="749808" y="5074920"/>
            <a:ext cx="2468880" cy="274320"/>
          </a:xfrm>
          <a:prstGeom prst="rect">
            <a:avLst/>
          </a:prstGeom>
          <a:noFill/>
          <a:ln/>
        </p:spPr>
        <p:txBody>
          <a:bodyPr wrap="square" lIns="0" tIns="0" rIns="0" bIns="0" rtlCol="0" anchor="t"/>
          <a:lstStyle/>
          <a:p>
            <a:pPr indent="0" marL="0">
              <a:buNone/>
            </a:pPr>
            <a:r>
              <a:rPr lang="en-US" sz="1400" b="1" dirty="0">
                <a:solidFill>
                  <a:srgbClr val="1F2937"/>
                </a:solidFill>
              </a:rPr>
              <a:t>Messy hand-offs</a:t>
            </a:r>
            <a:endParaRPr lang="en-US" sz="1400" dirty="0"/>
          </a:p>
        </p:txBody>
      </p:sp>
      <p:sp>
        <p:nvSpPr>
          <p:cNvPr id="28" name="Text 26"/>
          <p:cNvSpPr txBox="1"/>
          <p:nvPr/>
        </p:nvSpPr>
        <p:spPr>
          <a:xfrm>
            <a:off x="749808" y="5376672"/>
            <a:ext cx="2468880" cy="411480"/>
          </a:xfrm>
          <a:prstGeom prst="rect">
            <a:avLst/>
          </a:prstGeom>
          <a:noFill/>
          <a:ln/>
        </p:spPr>
        <p:txBody>
          <a:bodyPr wrap="square" lIns="0" tIns="0" rIns="0" bIns="0" rtlCol="0" anchor="t"/>
          <a:lstStyle/>
          <a:p>
            <a:pPr indent="0" marL="0">
              <a:buNone/>
            </a:pPr>
            <a:r>
              <a:rPr lang="en-US" sz="1150" dirty="0">
                <a:solidFill>
                  <a:srgbClr val="5B6478"/>
                </a:solidFill>
              </a:rPr>
              <a:t>Raw messages before every call</a:t>
            </a:r>
            <a:endParaRPr lang="en-US" sz="1150" dirty="0"/>
          </a:p>
        </p:txBody>
      </p:sp>
      <p:sp>
        <p:nvSpPr>
          <p:cNvPr id="29" name="Pain tile"/>
          <p:cNvSpPr/>
          <p:nvPr/>
        </p:nvSpPr>
        <p:spPr>
          <a:xfrm>
            <a:off x="3566160" y="4663440"/>
            <a:ext cx="2834640" cy="1188720"/>
          </a:xfrm>
          <a:prstGeom prst="roundRect">
            <a:avLst>
              <a:gd name="adj" fmla="val 9231"/>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0" name="Text 28"/>
          <p:cNvSpPr txBox="1"/>
          <p:nvPr/>
        </p:nvSpPr>
        <p:spPr>
          <a:xfrm>
            <a:off x="3767328" y="4800600"/>
            <a:ext cx="640080" cy="274320"/>
          </a:xfrm>
          <a:prstGeom prst="rect">
            <a:avLst/>
          </a:prstGeom>
          <a:noFill/>
          <a:ln/>
        </p:spPr>
        <p:txBody>
          <a:bodyPr wrap="square" lIns="0" tIns="0" rIns="0" bIns="0" rtlCol="0" anchor="t"/>
          <a:lstStyle/>
          <a:p>
            <a:pPr indent="0" marL="0">
              <a:buNone/>
            </a:pPr>
            <a:r>
              <a:rPr lang="en-US" sz="1200" b="1" dirty="0">
                <a:solidFill>
                  <a:srgbClr val="1547C8"/>
                </a:solidFill>
              </a:rPr>
              <a:t>04</a:t>
            </a:r>
            <a:endParaRPr lang="en-US" sz="1200" dirty="0"/>
          </a:p>
        </p:txBody>
      </p:sp>
      <p:sp>
        <p:nvSpPr>
          <p:cNvPr id="31" name="Text 29"/>
          <p:cNvSpPr txBox="1"/>
          <p:nvPr/>
        </p:nvSpPr>
        <p:spPr>
          <a:xfrm>
            <a:off x="3767328" y="5074920"/>
            <a:ext cx="2468880" cy="274320"/>
          </a:xfrm>
          <a:prstGeom prst="rect">
            <a:avLst/>
          </a:prstGeom>
          <a:noFill/>
          <a:ln/>
        </p:spPr>
        <p:txBody>
          <a:bodyPr wrap="square" lIns="0" tIns="0" rIns="0" bIns="0" rtlCol="0" anchor="t"/>
          <a:lstStyle/>
          <a:p>
            <a:pPr indent="0" marL="0">
              <a:buNone/>
            </a:pPr>
            <a:r>
              <a:rPr lang="en-US" sz="1400" b="1" dirty="0">
                <a:solidFill>
                  <a:srgbClr val="1F2937"/>
                </a:solidFill>
              </a:rPr>
              <a:t>Unsafe chatbots</a:t>
            </a:r>
            <a:endParaRPr lang="en-US" sz="1400" dirty="0"/>
          </a:p>
        </p:txBody>
      </p:sp>
      <p:sp>
        <p:nvSpPr>
          <p:cNvPr id="32" name="Text 30"/>
          <p:cNvSpPr txBox="1"/>
          <p:nvPr/>
        </p:nvSpPr>
        <p:spPr>
          <a:xfrm>
            <a:off x="3767328" y="5376672"/>
            <a:ext cx="2468880" cy="411480"/>
          </a:xfrm>
          <a:prstGeom prst="rect">
            <a:avLst/>
          </a:prstGeom>
          <a:noFill/>
          <a:ln/>
        </p:spPr>
        <p:txBody>
          <a:bodyPr wrap="square" lIns="0" tIns="0" rIns="0" bIns="0" rtlCol="0" anchor="t"/>
          <a:lstStyle/>
          <a:p>
            <a:pPr indent="0" marL="0">
              <a:buNone/>
            </a:pPr>
            <a:r>
              <a:rPr lang="en-US" sz="1150" dirty="0">
                <a:solidFill>
                  <a:srgbClr val="5B6478"/>
                </a:solidFill>
              </a:rPr>
              <a:t>A free-form bot can invent facts or advise</a:t>
            </a:r>
            <a:endParaRPr lang="en-US" sz="1150" dirty="0"/>
          </a:p>
        </p:txBody>
      </p:sp>
      <p:sp>
        <p:nvSpPr>
          <p:cNvPr id="33" name="Text 31"/>
          <p:cNvSpPr txBox="1"/>
          <p:nvPr/>
        </p:nvSpPr>
        <p:spPr>
          <a:xfrm>
            <a:off x="6903720" y="1508760"/>
            <a:ext cx="4572000" cy="256032"/>
          </a:xfrm>
          <a:prstGeom prst="rect">
            <a:avLst/>
          </a:prstGeom>
          <a:noFill/>
          <a:ln/>
        </p:spPr>
        <p:txBody>
          <a:bodyPr wrap="square" lIns="0" tIns="0" rIns="0" bIns="0" rtlCol="0" anchor="t"/>
          <a:lstStyle/>
          <a:p>
            <a:pPr indent="0" marL="0">
              <a:buNone/>
            </a:pPr>
            <a:r>
              <a:rPr lang="en-US" sz="1100" b="1" spc="300" kern="0" dirty="0">
                <a:solidFill>
                  <a:srgbClr val="E5484D"/>
                </a:solidFill>
              </a:rPr>
              <a:t>THE SYSTEM MUST NEVER</a:t>
            </a:r>
            <a:endParaRPr lang="en-US" sz="1100" dirty="0"/>
          </a:p>
        </p:txBody>
      </p:sp>
      <p:sp>
        <p:nvSpPr>
          <p:cNvPr id="34" name="Never tile"/>
          <p:cNvSpPr/>
          <p:nvPr/>
        </p:nvSpPr>
        <p:spPr>
          <a:xfrm>
            <a:off x="6903720" y="1920240"/>
            <a:ext cx="4736592" cy="896112"/>
          </a:xfrm>
          <a:prstGeom prst="roundRect">
            <a:avLst>
              <a:gd name="adj" fmla="val 12245"/>
            </a:avLst>
          </a:prstGeom>
          <a:solidFill>
            <a:srgbClr val="FFF1F2"/>
          </a:solidFill>
          <a:ln w="12700">
            <a:solidFill>
              <a:srgbClr val="F3C5CA"/>
            </a:solidFill>
            <a:prstDash val="solid"/>
          </a:ln>
        </p:spPr>
      </p:sp>
      <p:sp>
        <p:nvSpPr>
          <p:cNvPr id="35" name="Icon dot"/>
          <p:cNvSpPr/>
          <p:nvPr/>
        </p:nvSpPr>
        <p:spPr>
          <a:xfrm>
            <a:off x="7132320" y="2103120"/>
            <a:ext cx="530352" cy="530352"/>
          </a:xfrm>
          <a:prstGeom prst="ellipse">
            <a:avLst/>
          </a:prstGeom>
          <a:solidFill>
            <a:srgbClr val="E5484D"/>
          </a:solidFill>
          <a:ln w="12700">
            <a:solidFill>
              <a:srgbClr val="E5484D"/>
            </a:solidFill>
            <a:prstDash val="solid"/>
          </a:ln>
        </p:spPr>
      </p:sp>
      <p:pic>
        <p:nvPicPr>
          <p:cNvPr id="36" name="Image 0" descr="Times icon">    </p:cNvPr>
          <p:cNvPicPr>
            <a:picLocks noChangeAspect="1"/>
          </p:cNvPicPr>
          <p:nvPr/>
        </p:nvPicPr>
        <p:blipFill>
          <a:blip r:embed="rId11"/>
          <a:stretch>
            <a:fillRect/>
          </a:stretch>
        </p:blipFill>
        <p:spPr>
          <a:xfrm>
            <a:off x="7270212" y="2241012"/>
            <a:ext cx="254569" cy="254569"/>
          </a:xfrm>
          <a:prstGeom prst="rect">
            <a:avLst/>
          </a:prstGeom>
        </p:spPr>
      </p:pic>
      <p:sp>
        <p:nvSpPr>
          <p:cNvPr id="37" name="Text 34"/>
          <p:cNvSpPr txBox="1"/>
          <p:nvPr/>
        </p:nvSpPr>
        <p:spPr>
          <a:xfrm>
            <a:off x="7863840" y="1920240"/>
            <a:ext cx="3657600" cy="896112"/>
          </a:xfrm>
          <a:prstGeom prst="rect">
            <a:avLst/>
          </a:prstGeom>
          <a:noFill/>
          <a:ln/>
        </p:spPr>
        <p:txBody>
          <a:bodyPr wrap="square" lIns="0" tIns="0" rIns="0" bIns="0" rtlCol="0" anchor="ctr"/>
          <a:lstStyle/>
          <a:p>
            <a:pPr indent="0" marL="0">
              <a:buNone/>
            </a:pPr>
            <a:r>
              <a:rPr lang="en-US" sz="1600" b="1" dirty="0">
                <a:solidFill>
                  <a:srgbClr val="1F2937"/>
                </a:solidFill>
              </a:rPr>
              <a:t>Diagnose or interpret a reading</a:t>
            </a:r>
            <a:endParaRPr lang="en-US" sz="1600" dirty="0"/>
          </a:p>
        </p:txBody>
      </p:sp>
      <p:sp>
        <p:nvSpPr>
          <p:cNvPr id="38" name="Never tile"/>
          <p:cNvSpPr/>
          <p:nvPr/>
        </p:nvSpPr>
        <p:spPr>
          <a:xfrm>
            <a:off x="6903720" y="2971800"/>
            <a:ext cx="4736592" cy="896112"/>
          </a:xfrm>
          <a:prstGeom prst="roundRect">
            <a:avLst>
              <a:gd name="adj" fmla="val 12245"/>
            </a:avLst>
          </a:prstGeom>
          <a:solidFill>
            <a:srgbClr val="FFF1F2"/>
          </a:solidFill>
          <a:ln w="12700">
            <a:solidFill>
              <a:srgbClr val="F3C5CA"/>
            </a:solidFill>
            <a:prstDash val="solid"/>
          </a:ln>
        </p:spPr>
      </p:sp>
      <p:sp>
        <p:nvSpPr>
          <p:cNvPr id="39" name="Icon dot"/>
          <p:cNvSpPr/>
          <p:nvPr/>
        </p:nvSpPr>
        <p:spPr>
          <a:xfrm>
            <a:off x="7132320" y="3154680"/>
            <a:ext cx="530352" cy="530352"/>
          </a:xfrm>
          <a:prstGeom prst="ellipse">
            <a:avLst/>
          </a:prstGeom>
          <a:solidFill>
            <a:srgbClr val="E5484D"/>
          </a:solidFill>
          <a:ln w="12700">
            <a:solidFill>
              <a:srgbClr val="E5484D"/>
            </a:solidFill>
            <a:prstDash val="solid"/>
          </a:ln>
        </p:spPr>
      </p:sp>
      <p:pic>
        <p:nvPicPr>
          <p:cNvPr id="40" name="Image 1" descr="Times icon">    </p:cNvPr>
          <p:cNvPicPr>
            <a:picLocks noChangeAspect="1"/>
          </p:cNvPicPr>
          <p:nvPr/>
        </p:nvPicPr>
        <p:blipFill>
          <a:blip r:embed="rId12"/>
          <a:stretch>
            <a:fillRect/>
          </a:stretch>
        </p:blipFill>
        <p:spPr>
          <a:xfrm>
            <a:off x="7270212" y="3292572"/>
            <a:ext cx="254569" cy="254569"/>
          </a:xfrm>
          <a:prstGeom prst="rect">
            <a:avLst/>
          </a:prstGeom>
        </p:spPr>
      </p:pic>
      <p:sp>
        <p:nvSpPr>
          <p:cNvPr id="41" name="Text 37"/>
          <p:cNvSpPr txBox="1"/>
          <p:nvPr/>
        </p:nvSpPr>
        <p:spPr>
          <a:xfrm>
            <a:off x="7863840" y="2971800"/>
            <a:ext cx="3657600" cy="896112"/>
          </a:xfrm>
          <a:prstGeom prst="rect">
            <a:avLst/>
          </a:prstGeom>
          <a:noFill/>
          <a:ln/>
        </p:spPr>
        <p:txBody>
          <a:bodyPr wrap="square" lIns="0" tIns="0" rIns="0" bIns="0" rtlCol="0" anchor="ctr"/>
          <a:lstStyle/>
          <a:p>
            <a:pPr indent="0" marL="0">
              <a:buNone/>
            </a:pPr>
            <a:r>
              <a:rPr lang="en-US" sz="1600" b="1" dirty="0">
                <a:solidFill>
                  <a:srgbClr val="1F2937"/>
                </a:solidFill>
              </a:rPr>
              <a:t>Predict deterioration</a:t>
            </a:r>
            <a:endParaRPr lang="en-US" sz="1600" dirty="0"/>
          </a:p>
        </p:txBody>
      </p:sp>
      <p:sp>
        <p:nvSpPr>
          <p:cNvPr id="42" name="Never tile"/>
          <p:cNvSpPr/>
          <p:nvPr/>
        </p:nvSpPr>
        <p:spPr>
          <a:xfrm>
            <a:off x="6903720" y="4023360"/>
            <a:ext cx="4736592" cy="896112"/>
          </a:xfrm>
          <a:prstGeom prst="roundRect">
            <a:avLst>
              <a:gd name="adj" fmla="val 12245"/>
            </a:avLst>
          </a:prstGeom>
          <a:solidFill>
            <a:srgbClr val="FFF1F2"/>
          </a:solidFill>
          <a:ln w="12700">
            <a:solidFill>
              <a:srgbClr val="F3C5CA"/>
            </a:solidFill>
            <a:prstDash val="solid"/>
          </a:ln>
        </p:spPr>
      </p:sp>
      <p:sp>
        <p:nvSpPr>
          <p:cNvPr id="43" name="Icon dot"/>
          <p:cNvSpPr/>
          <p:nvPr/>
        </p:nvSpPr>
        <p:spPr>
          <a:xfrm>
            <a:off x="7132320" y="4206240"/>
            <a:ext cx="530352" cy="530352"/>
          </a:xfrm>
          <a:prstGeom prst="ellipse">
            <a:avLst/>
          </a:prstGeom>
          <a:solidFill>
            <a:srgbClr val="E5484D"/>
          </a:solidFill>
          <a:ln w="12700">
            <a:solidFill>
              <a:srgbClr val="E5484D"/>
            </a:solidFill>
            <a:prstDash val="solid"/>
          </a:ln>
        </p:spPr>
      </p:sp>
      <p:pic>
        <p:nvPicPr>
          <p:cNvPr id="44" name="Image 2" descr="Times icon">    </p:cNvPr>
          <p:cNvPicPr>
            <a:picLocks noChangeAspect="1"/>
          </p:cNvPicPr>
          <p:nvPr/>
        </p:nvPicPr>
        <p:blipFill>
          <a:blip r:embed="rId13"/>
          <a:stretch>
            <a:fillRect/>
          </a:stretch>
        </p:blipFill>
        <p:spPr>
          <a:xfrm>
            <a:off x="7270212" y="4344132"/>
            <a:ext cx="254569" cy="254569"/>
          </a:xfrm>
          <a:prstGeom prst="rect">
            <a:avLst/>
          </a:prstGeom>
        </p:spPr>
      </p:pic>
      <p:sp>
        <p:nvSpPr>
          <p:cNvPr id="45" name="Text 40"/>
          <p:cNvSpPr txBox="1"/>
          <p:nvPr/>
        </p:nvSpPr>
        <p:spPr>
          <a:xfrm>
            <a:off x="7863840" y="4023360"/>
            <a:ext cx="3657600" cy="896112"/>
          </a:xfrm>
          <a:prstGeom prst="rect">
            <a:avLst/>
          </a:prstGeom>
          <a:noFill/>
          <a:ln/>
        </p:spPr>
        <p:txBody>
          <a:bodyPr wrap="square" lIns="0" tIns="0" rIns="0" bIns="0" rtlCol="0" anchor="ctr"/>
          <a:lstStyle/>
          <a:p>
            <a:pPr indent="0" marL="0">
              <a:buNone/>
            </a:pPr>
            <a:r>
              <a:rPr lang="en-US" sz="1600" b="1" dirty="0">
                <a:solidFill>
                  <a:srgbClr val="1F2937"/>
                </a:solidFill>
              </a:rPr>
              <a:t>Recommend or change medication</a:t>
            </a:r>
            <a:endParaRPr lang="en-US" sz="1600" dirty="0"/>
          </a:p>
        </p:txBody>
      </p:sp>
      <p:sp>
        <p:nvSpPr>
          <p:cNvPr id="46" name="Never tile"/>
          <p:cNvSpPr/>
          <p:nvPr/>
        </p:nvSpPr>
        <p:spPr>
          <a:xfrm>
            <a:off x="6903720" y="5074920"/>
            <a:ext cx="4736592" cy="896112"/>
          </a:xfrm>
          <a:prstGeom prst="roundRect">
            <a:avLst>
              <a:gd name="adj" fmla="val 12245"/>
            </a:avLst>
          </a:prstGeom>
          <a:solidFill>
            <a:srgbClr val="FFF1F2"/>
          </a:solidFill>
          <a:ln w="12700">
            <a:solidFill>
              <a:srgbClr val="F3C5CA"/>
            </a:solidFill>
            <a:prstDash val="solid"/>
          </a:ln>
        </p:spPr>
      </p:sp>
      <p:sp>
        <p:nvSpPr>
          <p:cNvPr id="47" name="Icon dot"/>
          <p:cNvSpPr/>
          <p:nvPr/>
        </p:nvSpPr>
        <p:spPr>
          <a:xfrm>
            <a:off x="7132320" y="5257800"/>
            <a:ext cx="530352" cy="530352"/>
          </a:xfrm>
          <a:prstGeom prst="ellipse">
            <a:avLst/>
          </a:prstGeom>
          <a:solidFill>
            <a:srgbClr val="E5484D"/>
          </a:solidFill>
          <a:ln w="12700">
            <a:solidFill>
              <a:srgbClr val="E5484D"/>
            </a:solidFill>
            <a:prstDash val="solid"/>
          </a:ln>
        </p:spPr>
      </p:sp>
      <p:pic>
        <p:nvPicPr>
          <p:cNvPr id="48" name="Image 3" descr="Times icon">    </p:cNvPr>
          <p:cNvPicPr>
            <a:picLocks noChangeAspect="1"/>
          </p:cNvPicPr>
          <p:nvPr/>
        </p:nvPicPr>
        <p:blipFill>
          <a:blip r:embed="rId14"/>
          <a:stretch>
            <a:fillRect/>
          </a:stretch>
        </p:blipFill>
        <p:spPr>
          <a:xfrm>
            <a:off x="7270212" y="5395692"/>
            <a:ext cx="254569" cy="254569"/>
          </a:xfrm>
          <a:prstGeom prst="rect">
            <a:avLst/>
          </a:prstGeom>
        </p:spPr>
      </p:pic>
      <p:sp>
        <p:nvSpPr>
          <p:cNvPr id="49" name="Text 43"/>
          <p:cNvSpPr txBox="1"/>
          <p:nvPr/>
        </p:nvSpPr>
        <p:spPr>
          <a:xfrm>
            <a:off x="7863840" y="5074920"/>
            <a:ext cx="3657600" cy="896112"/>
          </a:xfrm>
          <a:prstGeom prst="rect">
            <a:avLst/>
          </a:prstGeom>
          <a:noFill/>
          <a:ln/>
        </p:spPr>
        <p:txBody>
          <a:bodyPr wrap="square" lIns="0" tIns="0" rIns="0" bIns="0" rtlCol="0" anchor="ctr"/>
          <a:lstStyle/>
          <a:p>
            <a:pPr indent="0" marL="0">
              <a:buNone/>
            </a:pPr>
            <a:r>
              <a:rPr lang="en-US" sz="1600" b="1" dirty="0">
                <a:solidFill>
                  <a:srgbClr val="1F2937"/>
                </a:solidFill>
              </a:rPr>
              <a:t>Present itself as a clinician</a:t>
            </a:r>
            <a:endParaRPr lang="en-US" sz="16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02  ·  THE SOLUTION</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One orchestrator, five specialists</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Solution</a:t>
            </a:r>
            <a:endParaRPr lang="en-US" sz="950" dirty="0"/>
          </a:p>
        </p:txBody>
      </p:sp>
      <p:sp>
        <p:nvSpPr>
          <p:cNvPr id="7" name="Shape 5"/>
          <p:cNvSpPr/>
          <p:nvPr/>
        </p:nvSpPr>
        <p:spPr>
          <a:xfrm>
            <a:off x="3598164" y="6309360"/>
            <a:ext cx="73152" cy="73152"/>
          </a:xfrm>
          <a:prstGeom prst="ellipse">
            <a:avLst/>
          </a:prstGeom>
          <a:solidFill>
            <a:srgbClr val="1547C8"/>
          </a:solidFill>
          <a:ln w="12700">
            <a:solidFill>
              <a:srgbClr val="1547C8"/>
            </a:solidFill>
            <a:prstDash val="solid"/>
          </a:ln>
        </p:spPr>
      </p:sp>
      <p:sp>
        <p:nvSpPr>
          <p:cNvPr id="8" name="Text 6"/>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9" name="Text 7"/>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10" name="Text 8"/>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1" name="Text 9"/>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2" name="Text 10"/>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3" name="Text 11"/>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Connector"/>
          <p:cNvSpPr/>
          <p:nvPr/>
        </p:nvSpPr>
        <p:spPr>
          <a:xfrm>
            <a:off x="6099048" y="1965960"/>
            <a:ext cx="0" cy="1874520"/>
          </a:xfrm>
          <a:prstGeom prst="line">
            <a:avLst/>
          </a:prstGeom>
          <a:noFill/>
          <a:ln w="19050">
            <a:solidFill>
              <a:srgbClr val="9FB3E8"/>
            </a:solidFill>
            <a:prstDash val="dash"/>
          </a:ln>
        </p:spPr>
      </p:sp>
      <p:sp>
        <p:nvSpPr>
          <p:cNvPr id="17" name="Connector"/>
          <p:cNvSpPr/>
          <p:nvPr/>
        </p:nvSpPr>
        <p:spPr>
          <a:xfrm flipV="1">
            <a:off x="6099048" y="3261221"/>
            <a:ext cx="3782960" cy="579259"/>
          </a:xfrm>
          <a:prstGeom prst="line">
            <a:avLst/>
          </a:prstGeom>
          <a:noFill/>
          <a:ln w="19050">
            <a:solidFill>
              <a:srgbClr val="9FB3E8"/>
            </a:solidFill>
            <a:prstDash val="dash"/>
          </a:ln>
        </p:spPr>
      </p:sp>
      <p:sp>
        <p:nvSpPr>
          <p:cNvPr id="18" name="Connector"/>
          <p:cNvSpPr/>
          <p:nvPr/>
        </p:nvSpPr>
        <p:spPr>
          <a:xfrm>
            <a:off x="6099048" y="3840480"/>
            <a:ext cx="2337998" cy="1516519"/>
          </a:xfrm>
          <a:prstGeom prst="line">
            <a:avLst/>
          </a:prstGeom>
          <a:noFill/>
          <a:ln w="19050">
            <a:solidFill>
              <a:srgbClr val="9FB3E8"/>
            </a:solidFill>
            <a:prstDash val="dash"/>
          </a:ln>
        </p:spPr>
      </p:sp>
      <p:sp>
        <p:nvSpPr>
          <p:cNvPr id="19" name="Connector"/>
          <p:cNvSpPr/>
          <p:nvPr/>
        </p:nvSpPr>
        <p:spPr>
          <a:xfrm flipV="1">
            <a:off x="3761050" y="3840480"/>
            <a:ext cx="2337998" cy="1516519"/>
          </a:xfrm>
          <a:prstGeom prst="line">
            <a:avLst/>
          </a:prstGeom>
          <a:noFill/>
          <a:ln w="19050">
            <a:solidFill>
              <a:srgbClr val="9FB3E8"/>
            </a:solidFill>
            <a:prstDash val="dash"/>
          </a:ln>
        </p:spPr>
      </p:sp>
      <p:sp>
        <p:nvSpPr>
          <p:cNvPr id="20" name="Connector"/>
          <p:cNvSpPr/>
          <p:nvPr/>
        </p:nvSpPr>
        <p:spPr>
          <a:xfrm>
            <a:off x="2316088" y="3261221"/>
            <a:ext cx="3782960" cy="579259"/>
          </a:xfrm>
          <a:prstGeom prst="line">
            <a:avLst/>
          </a:prstGeom>
          <a:noFill/>
          <a:ln w="19050">
            <a:solidFill>
              <a:srgbClr val="9FB3E8"/>
            </a:solidFill>
            <a:prstDash val="dash"/>
          </a:ln>
        </p:spPr>
      </p:sp>
      <p:sp>
        <p:nvSpPr>
          <p:cNvPr id="21" name="Hub"/>
          <p:cNvSpPr/>
          <p:nvPr/>
        </p:nvSpPr>
        <p:spPr>
          <a:xfrm>
            <a:off x="5047488" y="2788920"/>
            <a:ext cx="2103120" cy="2103120"/>
          </a:xfrm>
          <a:prstGeom prst="ellipse">
            <a:avLst/>
          </a:prstGeom>
          <a:solidFill>
            <a:srgbClr val="1547C8"/>
          </a:solidFill>
          <a:ln w="50800">
            <a:solidFill>
              <a:srgbClr val="3CC3F0"/>
            </a:solidFill>
            <a:prstDash val="solid"/>
          </a:ln>
          <a:effectLst>
            <a:outerShdw sx="100000" sy="100000" kx="0" ky="0" algn="bl" rotWithShape="0" blurRad="127000" dist="25400" dir="5400000">
              <a:srgbClr val="1F2937">
                <a:alpha val="9000"/>
              </a:srgbClr>
            </a:outerShdw>
          </a:effectLst>
        </p:spPr>
      </p:sp>
      <p:sp>
        <p:nvSpPr>
          <p:cNvPr id="22" name="Text 20"/>
          <p:cNvSpPr txBox="1"/>
          <p:nvPr/>
        </p:nvSpPr>
        <p:spPr>
          <a:xfrm>
            <a:off x="5184648" y="3337560"/>
            <a:ext cx="1828800" cy="731520"/>
          </a:xfrm>
          <a:prstGeom prst="rect">
            <a:avLst/>
          </a:prstGeom>
          <a:noFill/>
          <a:ln/>
        </p:spPr>
        <p:txBody>
          <a:bodyPr wrap="square" lIns="0" tIns="0" rIns="0" bIns="0" rtlCol="0" anchor="ctr"/>
          <a:lstStyle/>
          <a:p>
            <a:pPr algn="ctr" indent="0" marL="0">
              <a:buNone/>
            </a:pPr>
            <a:r>
              <a:rPr lang="en-US" sz="1600" b="1" dirty="0">
                <a:solidFill>
                  <a:srgbClr val="FFFFFF"/>
                </a:solidFill>
              </a:rPr>
              <a:t>Care</a:t>
            </a:r>
            <a:endParaRPr lang="en-US" sz="1600" dirty="0"/>
          </a:p>
          <a:p>
            <a:pPr algn="ctr" indent="0" marL="0">
              <a:buNone/>
            </a:pPr>
            <a:r>
              <a:rPr lang="en-US" sz="1600" b="1" dirty="0">
                <a:solidFill>
                  <a:srgbClr val="FFFFFF"/>
                </a:solidFill>
              </a:rPr>
              <a:t>Orchestrator</a:t>
            </a:r>
            <a:endParaRPr lang="en-US" sz="1600" dirty="0"/>
          </a:p>
        </p:txBody>
      </p:sp>
      <p:sp>
        <p:nvSpPr>
          <p:cNvPr id="23" name="Text 21"/>
          <p:cNvSpPr txBox="1"/>
          <p:nvPr/>
        </p:nvSpPr>
        <p:spPr>
          <a:xfrm>
            <a:off x="5184648" y="4114800"/>
            <a:ext cx="1828800" cy="274320"/>
          </a:xfrm>
          <a:prstGeom prst="rect">
            <a:avLst/>
          </a:prstGeom>
          <a:noFill/>
          <a:ln/>
        </p:spPr>
        <p:txBody>
          <a:bodyPr wrap="square" lIns="0" tIns="0" rIns="0" bIns="0" rtlCol="0" anchor="t"/>
          <a:lstStyle/>
          <a:p>
            <a:pPr algn="ctr" indent="0" marL="0">
              <a:buNone/>
            </a:pPr>
            <a:r>
              <a:rPr lang="en-US" sz="1100" dirty="0">
                <a:solidFill>
                  <a:srgbClr val="CFE0FF"/>
                </a:solidFill>
              </a:rPr>
              <a:t>plain Python</a:t>
            </a:r>
            <a:endParaRPr lang="en-US" sz="1100" dirty="0"/>
          </a:p>
        </p:txBody>
      </p:sp>
      <p:sp>
        <p:nvSpPr>
          <p:cNvPr id="24" name="Agent node"/>
          <p:cNvSpPr/>
          <p:nvPr/>
        </p:nvSpPr>
        <p:spPr>
          <a:xfrm>
            <a:off x="4590288" y="1485900"/>
            <a:ext cx="3017520" cy="960120"/>
          </a:xfrm>
          <a:prstGeom prst="roundRect">
            <a:avLst>
              <a:gd name="adj" fmla="val 11429"/>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5" name="Icon dot"/>
          <p:cNvSpPr/>
          <p:nvPr/>
        </p:nvSpPr>
        <p:spPr>
          <a:xfrm>
            <a:off x="4773168" y="1719072"/>
            <a:ext cx="493776" cy="493776"/>
          </a:xfrm>
          <a:prstGeom prst="ellipse">
            <a:avLst/>
          </a:prstGeom>
          <a:solidFill>
            <a:srgbClr val="1547C8"/>
          </a:solidFill>
          <a:ln w="12700">
            <a:solidFill>
              <a:srgbClr val="1547C8"/>
            </a:solidFill>
            <a:prstDash val="solid"/>
          </a:ln>
        </p:spPr>
      </p:sp>
      <p:pic>
        <p:nvPicPr>
          <p:cNvPr id="26" name="Image 0" descr="ChartLine icon">    </p:cNvPr>
          <p:cNvPicPr>
            <a:picLocks noChangeAspect="1"/>
          </p:cNvPicPr>
          <p:nvPr/>
        </p:nvPicPr>
        <p:blipFill>
          <a:blip r:embed="rId11"/>
          <a:stretch>
            <a:fillRect/>
          </a:stretch>
        </p:blipFill>
        <p:spPr>
          <a:xfrm>
            <a:off x="4901550" y="1847454"/>
            <a:ext cx="237012" cy="237012"/>
          </a:xfrm>
          <a:prstGeom prst="rect">
            <a:avLst/>
          </a:prstGeom>
        </p:spPr>
      </p:pic>
      <p:sp>
        <p:nvSpPr>
          <p:cNvPr id="27" name="Text 24"/>
          <p:cNvSpPr txBox="1"/>
          <p:nvPr/>
        </p:nvSpPr>
        <p:spPr>
          <a:xfrm>
            <a:off x="5413248" y="1673352"/>
            <a:ext cx="2103120" cy="274320"/>
          </a:xfrm>
          <a:prstGeom prst="rect">
            <a:avLst/>
          </a:prstGeom>
          <a:noFill/>
          <a:ln/>
        </p:spPr>
        <p:txBody>
          <a:bodyPr wrap="square" lIns="0" tIns="0" rIns="0" bIns="0" rtlCol="0" anchor="t"/>
          <a:lstStyle/>
          <a:p>
            <a:pPr indent="0" marL="0">
              <a:buNone/>
            </a:pPr>
            <a:r>
              <a:rPr lang="en-US" sz="1400" b="1" dirty="0">
                <a:solidFill>
                  <a:srgbClr val="1F2937"/>
                </a:solidFill>
              </a:rPr>
              <a:t>Reading Summary</a:t>
            </a:r>
            <a:endParaRPr lang="en-US" sz="1400" dirty="0"/>
          </a:p>
        </p:txBody>
      </p:sp>
      <p:sp>
        <p:nvSpPr>
          <p:cNvPr id="28" name="Text 25"/>
          <p:cNvSpPr txBox="1"/>
          <p:nvPr/>
        </p:nvSpPr>
        <p:spPr>
          <a:xfrm>
            <a:off x="5413248" y="1965960"/>
            <a:ext cx="2103120" cy="274320"/>
          </a:xfrm>
          <a:prstGeom prst="rect">
            <a:avLst/>
          </a:prstGeom>
          <a:noFill/>
          <a:ln/>
        </p:spPr>
        <p:txBody>
          <a:bodyPr wrap="square" lIns="0" tIns="0" rIns="0" bIns="0" rtlCol="0" anchor="t"/>
          <a:lstStyle/>
          <a:p>
            <a:pPr indent="0" marL="0">
              <a:buNone/>
            </a:pPr>
            <a:r>
              <a:rPr lang="en-US" sz="1050" b="1" dirty="0">
                <a:solidFill>
                  <a:srgbClr val="1547C8"/>
                </a:solidFill>
              </a:rPr>
              <a:t>Sees: one member's readings</a:t>
            </a:r>
            <a:endParaRPr lang="en-US" sz="1050" dirty="0"/>
          </a:p>
        </p:txBody>
      </p:sp>
      <p:sp>
        <p:nvSpPr>
          <p:cNvPr id="29" name="Agent node"/>
          <p:cNvSpPr/>
          <p:nvPr/>
        </p:nvSpPr>
        <p:spPr>
          <a:xfrm>
            <a:off x="8373248" y="2781161"/>
            <a:ext cx="3017520" cy="960120"/>
          </a:xfrm>
          <a:prstGeom prst="roundRect">
            <a:avLst>
              <a:gd name="adj" fmla="val 11429"/>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0" name="Icon dot"/>
          <p:cNvSpPr/>
          <p:nvPr/>
        </p:nvSpPr>
        <p:spPr>
          <a:xfrm>
            <a:off x="8556128" y="3014333"/>
            <a:ext cx="493776" cy="493776"/>
          </a:xfrm>
          <a:prstGeom prst="ellipse">
            <a:avLst/>
          </a:prstGeom>
          <a:solidFill>
            <a:srgbClr val="1547C8"/>
          </a:solidFill>
          <a:ln w="12700">
            <a:solidFill>
              <a:srgbClr val="1547C8"/>
            </a:solidFill>
            <a:prstDash val="solid"/>
          </a:ln>
        </p:spPr>
      </p:sp>
      <p:pic>
        <p:nvPicPr>
          <p:cNvPr id="31" name="Image 1" descr="ClipboardList icon">    </p:cNvPr>
          <p:cNvPicPr>
            <a:picLocks noChangeAspect="1"/>
          </p:cNvPicPr>
          <p:nvPr/>
        </p:nvPicPr>
        <p:blipFill>
          <a:blip r:embed="rId12"/>
          <a:stretch>
            <a:fillRect/>
          </a:stretch>
        </p:blipFill>
        <p:spPr>
          <a:xfrm>
            <a:off x="8684510" y="3142715"/>
            <a:ext cx="237012" cy="237012"/>
          </a:xfrm>
          <a:prstGeom prst="rect">
            <a:avLst/>
          </a:prstGeom>
        </p:spPr>
      </p:pic>
      <p:sp>
        <p:nvSpPr>
          <p:cNvPr id="32" name="Text 28"/>
          <p:cNvSpPr txBox="1"/>
          <p:nvPr/>
        </p:nvSpPr>
        <p:spPr>
          <a:xfrm>
            <a:off x="9196208" y="2968613"/>
            <a:ext cx="2103120" cy="274320"/>
          </a:xfrm>
          <a:prstGeom prst="rect">
            <a:avLst/>
          </a:prstGeom>
          <a:noFill/>
          <a:ln/>
        </p:spPr>
        <p:txBody>
          <a:bodyPr wrap="square" lIns="0" tIns="0" rIns="0" bIns="0" rtlCol="0" anchor="t"/>
          <a:lstStyle/>
          <a:p>
            <a:pPr indent="0" marL="0">
              <a:buNone/>
            </a:pPr>
            <a:r>
              <a:rPr lang="en-US" sz="1400" b="1" dirty="0">
                <a:solidFill>
                  <a:srgbClr val="1F2937"/>
                </a:solidFill>
              </a:rPr>
              <a:t>Care Plan</a:t>
            </a:r>
            <a:endParaRPr lang="en-US" sz="1400" dirty="0"/>
          </a:p>
        </p:txBody>
      </p:sp>
      <p:sp>
        <p:nvSpPr>
          <p:cNvPr id="33" name="Text 29"/>
          <p:cNvSpPr txBox="1"/>
          <p:nvPr/>
        </p:nvSpPr>
        <p:spPr>
          <a:xfrm>
            <a:off x="9196208" y="3261221"/>
            <a:ext cx="2103120" cy="274320"/>
          </a:xfrm>
          <a:prstGeom prst="rect">
            <a:avLst/>
          </a:prstGeom>
          <a:noFill/>
          <a:ln/>
        </p:spPr>
        <p:txBody>
          <a:bodyPr wrap="square" lIns="0" tIns="0" rIns="0" bIns="0" rtlCol="0" anchor="t"/>
          <a:lstStyle/>
          <a:p>
            <a:pPr indent="0" marL="0">
              <a:buNone/>
            </a:pPr>
            <a:r>
              <a:rPr lang="en-US" sz="1050" b="1" dirty="0">
                <a:solidFill>
                  <a:srgbClr val="1547C8"/>
                </a:solidFill>
              </a:rPr>
              <a:t>Sees: that member's tasks</a:t>
            </a:r>
            <a:endParaRPr lang="en-US" sz="1050" dirty="0"/>
          </a:p>
        </p:txBody>
      </p:sp>
      <p:sp>
        <p:nvSpPr>
          <p:cNvPr id="34" name="Agent node"/>
          <p:cNvSpPr/>
          <p:nvPr/>
        </p:nvSpPr>
        <p:spPr>
          <a:xfrm>
            <a:off x="6928286" y="4876939"/>
            <a:ext cx="3017520" cy="960120"/>
          </a:xfrm>
          <a:prstGeom prst="roundRect">
            <a:avLst>
              <a:gd name="adj" fmla="val 11429"/>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5" name="Icon dot"/>
          <p:cNvSpPr/>
          <p:nvPr/>
        </p:nvSpPr>
        <p:spPr>
          <a:xfrm>
            <a:off x="7111166" y="5110111"/>
            <a:ext cx="493776" cy="493776"/>
          </a:xfrm>
          <a:prstGeom prst="ellipse">
            <a:avLst/>
          </a:prstGeom>
          <a:solidFill>
            <a:srgbClr val="1547C8"/>
          </a:solidFill>
          <a:ln w="12700">
            <a:solidFill>
              <a:srgbClr val="1547C8"/>
            </a:solidFill>
            <a:prstDash val="solid"/>
          </a:ln>
        </p:spPr>
      </p:sp>
      <p:pic>
        <p:nvPicPr>
          <p:cNvPr id="36" name="Image 2" descr="BookMedical icon">    </p:cNvPr>
          <p:cNvPicPr>
            <a:picLocks noChangeAspect="1"/>
          </p:cNvPicPr>
          <p:nvPr/>
        </p:nvPicPr>
        <p:blipFill>
          <a:blip r:embed="rId13"/>
          <a:stretch>
            <a:fillRect/>
          </a:stretch>
        </p:blipFill>
        <p:spPr>
          <a:xfrm>
            <a:off x="7239548" y="5238492"/>
            <a:ext cx="237012" cy="237012"/>
          </a:xfrm>
          <a:prstGeom prst="rect">
            <a:avLst/>
          </a:prstGeom>
        </p:spPr>
      </p:pic>
      <p:sp>
        <p:nvSpPr>
          <p:cNvPr id="37" name="Text 32"/>
          <p:cNvSpPr txBox="1"/>
          <p:nvPr/>
        </p:nvSpPr>
        <p:spPr>
          <a:xfrm>
            <a:off x="7751246" y="5064391"/>
            <a:ext cx="2103120" cy="274320"/>
          </a:xfrm>
          <a:prstGeom prst="rect">
            <a:avLst/>
          </a:prstGeom>
          <a:noFill/>
          <a:ln/>
        </p:spPr>
        <p:txBody>
          <a:bodyPr wrap="square" lIns="0" tIns="0" rIns="0" bIns="0" rtlCol="0" anchor="t"/>
          <a:lstStyle/>
          <a:p>
            <a:pPr indent="0" marL="0">
              <a:buNone/>
            </a:pPr>
            <a:r>
              <a:rPr lang="en-US" sz="1400" b="1" dirty="0">
                <a:solidFill>
                  <a:srgbClr val="1F2937"/>
                </a:solidFill>
              </a:rPr>
              <a:t>Education RAG</a:t>
            </a:r>
            <a:endParaRPr lang="en-US" sz="1400" dirty="0"/>
          </a:p>
        </p:txBody>
      </p:sp>
      <p:sp>
        <p:nvSpPr>
          <p:cNvPr id="38" name="Text 33"/>
          <p:cNvSpPr txBox="1"/>
          <p:nvPr/>
        </p:nvSpPr>
        <p:spPr>
          <a:xfrm>
            <a:off x="7751246" y="5356999"/>
            <a:ext cx="2103120" cy="274320"/>
          </a:xfrm>
          <a:prstGeom prst="rect">
            <a:avLst/>
          </a:prstGeom>
          <a:noFill/>
          <a:ln/>
        </p:spPr>
        <p:txBody>
          <a:bodyPr wrap="square" lIns="0" tIns="0" rIns="0" bIns="0" rtlCol="0" anchor="t"/>
          <a:lstStyle/>
          <a:p>
            <a:pPr indent="0" marL="0">
              <a:buNone/>
            </a:pPr>
            <a:r>
              <a:rPr lang="en-US" sz="1050" b="1" dirty="0">
                <a:solidFill>
                  <a:srgbClr val="1547C8"/>
                </a:solidFill>
              </a:rPr>
              <a:t>Sees: approved articles only</a:t>
            </a:r>
            <a:endParaRPr lang="en-US" sz="1050" dirty="0"/>
          </a:p>
        </p:txBody>
      </p:sp>
      <p:sp>
        <p:nvSpPr>
          <p:cNvPr id="39" name="Agent node"/>
          <p:cNvSpPr/>
          <p:nvPr/>
        </p:nvSpPr>
        <p:spPr>
          <a:xfrm>
            <a:off x="2252290" y="4876939"/>
            <a:ext cx="3017520" cy="960120"/>
          </a:xfrm>
          <a:prstGeom prst="roundRect">
            <a:avLst>
              <a:gd name="adj" fmla="val 11429"/>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40" name="Icon dot"/>
          <p:cNvSpPr/>
          <p:nvPr/>
        </p:nvSpPr>
        <p:spPr>
          <a:xfrm>
            <a:off x="2435170" y="5110111"/>
            <a:ext cx="493776" cy="493776"/>
          </a:xfrm>
          <a:prstGeom prst="ellipse">
            <a:avLst/>
          </a:prstGeom>
          <a:solidFill>
            <a:srgbClr val="1547C8"/>
          </a:solidFill>
          <a:ln w="12700">
            <a:solidFill>
              <a:srgbClr val="1547C8"/>
            </a:solidFill>
            <a:prstDash val="solid"/>
          </a:ln>
        </p:spPr>
      </p:sp>
      <p:pic>
        <p:nvPicPr>
          <p:cNvPr id="41" name="Image 3" descr="Bell icon">    </p:cNvPr>
          <p:cNvPicPr>
            <a:picLocks noChangeAspect="1"/>
          </p:cNvPicPr>
          <p:nvPr/>
        </p:nvPicPr>
        <p:blipFill>
          <a:blip r:embed="rId14"/>
          <a:stretch>
            <a:fillRect/>
          </a:stretch>
        </p:blipFill>
        <p:spPr>
          <a:xfrm>
            <a:off x="2563552" y="5238492"/>
            <a:ext cx="237012" cy="237012"/>
          </a:xfrm>
          <a:prstGeom prst="rect">
            <a:avLst/>
          </a:prstGeom>
        </p:spPr>
      </p:pic>
      <p:sp>
        <p:nvSpPr>
          <p:cNvPr id="42" name="Text 36"/>
          <p:cNvSpPr txBox="1"/>
          <p:nvPr/>
        </p:nvSpPr>
        <p:spPr>
          <a:xfrm>
            <a:off x="3075250" y="5064391"/>
            <a:ext cx="2103120" cy="274320"/>
          </a:xfrm>
          <a:prstGeom prst="rect">
            <a:avLst/>
          </a:prstGeom>
          <a:noFill/>
          <a:ln/>
        </p:spPr>
        <p:txBody>
          <a:bodyPr wrap="square" lIns="0" tIns="0" rIns="0" bIns="0" rtlCol="0" anchor="t"/>
          <a:lstStyle/>
          <a:p>
            <a:pPr indent="0" marL="0">
              <a:buNone/>
            </a:pPr>
            <a:r>
              <a:rPr lang="en-US" sz="1400" b="1" dirty="0">
                <a:solidFill>
                  <a:srgbClr val="1F2937"/>
                </a:solidFill>
              </a:rPr>
              <a:t>Engagement</a:t>
            </a:r>
            <a:endParaRPr lang="en-US" sz="1400" dirty="0"/>
          </a:p>
        </p:txBody>
      </p:sp>
      <p:sp>
        <p:nvSpPr>
          <p:cNvPr id="43" name="Text 37"/>
          <p:cNvSpPr txBox="1"/>
          <p:nvPr/>
        </p:nvSpPr>
        <p:spPr>
          <a:xfrm>
            <a:off x="3075250" y="5356999"/>
            <a:ext cx="2103120" cy="274320"/>
          </a:xfrm>
          <a:prstGeom prst="rect">
            <a:avLst/>
          </a:prstGeom>
          <a:noFill/>
          <a:ln/>
        </p:spPr>
        <p:txBody>
          <a:bodyPr wrap="square" lIns="0" tIns="0" rIns="0" bIns="0" rtlCol="0" anchor="t"/>
          <a:lstStyle/>
          <a:p>
            <a:pPr indent="0" marL="0">
              <a:buNone/>
            </a:pPr>
            <a:r>
              <a:rPr lang="en-US" sz="1050" b="1" dirty="0">
                <a:solidFill>
                  <a:srgbClr val="1547C8"/>
                </a:solidFill>
              </a:rPr>
              <a:t>Sees: due tasks and channel</a:t>
            </a:r>
            <a:endParaRPr lang="en-US" sz="1050" dirty="0"/>
          </a:p>
        </p:txBody>
      </p:sp>
      <p:sp>
        <p:nvSpPr>
          <p:cNvPr id="44" name="Agent node"/>
          <p:cNvSpPr/>
          <p:nvPr/>
        </p:nvSpPr>
        <p:spPr>
          <a:xfrm>
            <a:off x="807328" y="2781161"/>
            <a:ext cx="3017520" cy="960120"/>
          </a:xfrm>
          <a:prstGeom prst="roundRect">
            <a:avLst>
              <a:gd name="adj" fmla="val 11429"/>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45" name="Icon dot"/>
          <p:cNvSpPr/>
          <p:nvPr/>
        </p:nvSpPr>
        <p:spPr>
          <a:xfrm>
            <a:off x="990208" y="3014333"/>
            <a:ext cx="493776" cy="493776"/>
          </a:xfrm>
          <a:prstGeom prst="ellipse">
            <a:avLst/>
          </a:prstGeom>
          <a:solidFill>
            <a:srgbClr val="1547C8"/>
          </a:solidFill>
          <a:ln w="12700">
            <a:solidFill>
              <a:srgbClr val="1547C8"/>
            </a:solidFill>
            <a:prstDash val="solid"/>
          </a:ln>
        </p:spPr>
      </p:sp>
      <p:pic>
        <p:nvPicPr>
          <p:cNvPr id="46" name="Image 4" descr="UserMd icon">    </p:cNvPr>
          <p:cNvPicPr>
            <a:picLocks noChangeAspect="1"/>
          </p:cNvPicPr>
          <p:nvPr/>
        </p:nvPicPr>
        <p:blipFill>
          <a:blip r:embed="rId15"/>
          <a:stretch>
            <a:fillRect/>
          </a:stretch>
        </p:blipFill>
        <p:spPr>
          <a:xfrm>
            <a:off x="1118589" y="3142715"/>
            <a:ext cx="237012" cy="237012"/>
          </a:xfrm>
          <a:prstGeom prst="rect">
            <a:avLst/>
          </a:prstGeom>
        </p:spPr>
      </p:pic>
      <p:sp>
        <p:nvSpPr>
          <p:cNvPr id="47" name="Text 40"/>
          <p:cNvSpPr txBox="1"/>
          <p:nvPr/>
        </p:nvSpPr>
        <p:spPr>
          <a:xfrm>
            <a:off x="1630288" y="2968613"/>
            <a:ext cx="2103120" cy="274320"/>
          </a:xfrm>
          <a:prstGeom prst="rect">
            <a:avLst/>
          </a:prstGeom>
          <a:noFill/>
          <a:ln/>
        </p:spPr>
        <p:txBody>
          <a:bodyPr wrap="square" lIns="0" tIns="0" rIns="0" bIns="0" rtlCol="0" anchor="t"/>
          <a:lstStyle/>
          <a:p>
            <a:pPr indent="0" marL="0">
              <a:buNone/>
            </a:pPr>
            <a:r>
              <a:rPr lang="en-US" sz="1400" b="1" dirty="0">
                <a:solidFill>
                  <a:srgbClr val="1F2937"/>
                </a:solidFill>
              </a:rPr>
              <a:t>Escalation</a:t>
            </a:r>
            <a:endParaRPr lang="en-US" sz="1400" dirty="0"/>
          </a:p>
        </p:txBody>
      </p:sp>
      <p:sp>
        <p:nvSpPr>
          <p:cNvPr id="48" name="Text 41"/>
          <p:cNvSpPr txBox="1"/>
          <p:nvPr/>
        </p:nvSpPr>
        <p:spPr>
          <a:xfrm>
            <a:off x="1630288" y="3261221"/>
            <a:ext cx="2103120" cy="274320"/>
          </a:xfrm>
          <a:prstGeom prst="rect">
            <a:avLst/>
          </a:prstGeom>
          <a:noFill/>
          <a:ln/>
        </p:spPr>
        <p:txBody>
          <a:bodyPr wrap="square" lIns="0" tIns="0" rIns="0" bIns="0" rtlCol="0" anchor="t"/>
          <a:lstStyle/>
          <a:p>
            <a:pPr indent="0" marL="0">
              <a:buNone/>
            </a:pPr>
            <a:r>
              <a:rPr lang="en-US" sz="1050" b="1" dirty="0">
                <a:solidFill>
                  <a:srgbClr val="1547C8"/>
                </a:solidFill>
              </a:rPr>
              <a:t>Sees: matched rules only</a:t>
            </a:r>
            <a:endParaRPr lang="en-US" sz="10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02  ·  DESIGN PRINCIPLE</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Code decides the facts. Agents only word them</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Principle</a:t>
            </a:r>
            <a:endParaRPr lang="en-US" sz="950" dirty="0"/>
          </a:p>
        </p:txBody>
      </p:sp>
      <p:sp>
        <p:nvSpPr>
          <p:cNvPr id="8" name="Shape 6"/>
          <p:cNvSpPr/>
          <p:nvPr/>
        </p:nvSpPr>
        <p:spPr>
          <a:xfrm>
            <a:off x="4283964" y="6309360"/>
            <a:ext cx="73152" cy="73152"/>
          </a:xfrm>
          <a:prstGeom prst="ellipse">
            <a:avLst/>
          </a:prstGeom>
          <a:solidFill>
            <a:srgbClr val="1547C8"/>
          </a:solidFill>
          <a:ln w="12700">
            <a:solidFill>
              <a:srgbClr val="1547C8"/>
            </a:solidFill>
            <a:prstDash val="solid"/>
          </a:ln>
        </p:spPr>
      </p:sp>
      <p:sp>
        <p:nvSpPr>
          <p:cNvPr id="9" name="Text 7"/>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10" name="Text 8"/>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1" name="Text 9"/>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2" name="Text 10"/>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3" name="Text 11"/>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Code panel"/>
          <p:cNvSpPr/>
          <p:nvPr/>
        </p:nvSpPr>
        <p:spPr>
          <a:xfrm>
            <a:off x="548640" y="1417320"/>
            <a:ext cx="5440680" cy="3611880"/>
          </a:xfrm>
          <a:prstGeom prst="roundRect">
            <a:avLst>
              <a:gd name="adj" fmla="val 4051"/>
            </a:avLst>
          </a:prstGeom>
          <a:solidFill>
            <a:srgbClr val="1547C8"/>
          </a:solidFill>
          <a:ln w="12700">
            <a:solidFill>
              <a:srgbClr val="1547C8"/>
            </a:solidFill>
            <a:prstDash val="solid"/>
          </a:ln>
          <a:effectLst>
            <a:outerShdw sx="100000" sy="100000" kx="0" ky="0" algn="bl" rotWithShape="0" blurRad="127000" dist="25400" dir="5400000">
              <a:srgbClr val="1F2937">
                <a:alpha val="9000"/>
              </a:srgbClr>
            </a:outerShdw>
          </a:effectLst>
        </p:spPr>
      </p:sp>
      <p:sp>
        <p:nvSpPr>
          <p:cNvPr id="17" name="AI panel"/>
          <p:cNvSpPr/>
          <p:nvPr/>
        </p:nvSpPr>
        <p:spPr>
          <a:xfrm>
            <a:off x="6199632" y="1417320"/>
            <a:ext cx="5440680" cy="3611880"/>
          </a:xfrm>
          <a:prstGeom prst="roundRect">
            <a:avLst>
              <a:gd name="adj" fmla="val 4051"/>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18" name="Text 16"/>
          <p:cNvSpPr txBox="1"/>
          <p:nvPr/>
        </p:nvSpPr>
        <p:spPr>
          <a:xfrm>
            <a:off x="868680" y="1600200"/>
            <a:ext cx="2743200" cy="822960"/>
          </a:xfrm>
          <a:prstGeom prst="rect">
            <a:avLst/>
          </a:prstGeom>
          <a:noFill/>
          <a:ln/>
        </p:spPr>
        <p:txBody>
          <a:bodyPr wrap="square" lIns="0" tIns="0" rIns="0" bIns="0" rtlCol="0" anchor="t"/>
          <a:lstStyle/>
          <a:p>
            <a:pPr indent="0" marL="0">
              <a:buNone/>
            </a:pPr>
            <a:r>
              <a:rPr lang="en-US" sz="4800" b="1" dirty="0">
                <a:solidFill>
                  <a:srgbClr val="FFFFFF"/>
                </a:solidFill>
              </a:rPr>
              <a:t>CODE</a:t>
            </a:r>
            <a:endParaRPr lang="en-US" sz="4800" dirty="0"/>
          </a:p>
        </p:txBody>
      </p:sp>
      <p:sp>
        <p:nvSpPr>
          <p:cNvPr id="19" name="Text 17"/>
          <p:cNvSpPr txBox="1"/>
          <p:nvPr/>
        </p:nvSpPr>
        <p:spPr>
          <a:xfrm>
            <a:off x="868680" y="2423160"/>
            <a:ext cx="4572000" cy="274320"/>
          </a:xfrm>
          <a:prstGeom prst="rect">
            <a:avLst/>
          </a:prstGeom>
          <a:noFill/>
          <a:ln/>
        </p:spPr>
        <p:txBody>
          <a:bodyPr wrap="square" lIns="0" tIns="0" rIns="0" bIns="0" rtlCol="0" anchor="t"/>
          <a:lstStyle/>
          <a:p>
            <a:pPr indent="0" marL="0">
              <a:buNone/>
            </a:pPr>
            <a:r>
              <a:rPr lang="en-US" sz="1250" dirty="0">
                <a:solidFill>
                  <a:srgbClr val="CFE0FF"/>
                </a:solidFill>
              </a:rPr>
              <a:t>exact, repeatable, unit-tested</a:t>
            </a:r>
            <a:endParaRPr lang="en-US" sz="1250" dirty="0"/>
          </a:p>
        </p:txBody>
      </p:sp>
      <p:sp>
        <p:nvSpPr>
          <p:cNvPr id="20" name="Text 18"/>
          <p:cNvSpPr txBox="1"/>
          <p:nvPr/>
        </p:nvSpPr>
        <p:spPr>
          <a:xfrm>
            <a:off x="6519672" y="1600200"/>
            <a:ext cx="2743200" cy="822960"/>
          </a:xfrm>
          <a:prstGeom prst="rect">
            <a:avLst/>
          </a:prstGeom>
          <a:noFill/>
          <a:ln/>
        </p:spPr>
        <p:txBody>
          <a:bodyPr wrap="square" lIns="0" tIns="0" rIns="0" bIns="0" rtlCol="0" anchor="t"/>
          <a:lstStyle/>
          <a:p>
            <a:pPr indent="0" marL="0">
              <a:buNone/>
            </a:pPr>
            <a:r>
              <a:rPr lang="en-US" sz="4800" b="1" dirty="0">
                <a:solidFill>
                  <a:srgbClr val="1547C8"/>
                </a:solidFill>
              </a:rPr>
              <a:t>AI</a:t>
            </a:r>
            <a:endParaRPr lang="en-US" sz="4800" dirty="0"/>
          </a:p>
        </p:txBody>
      </p:sp>
      <p:sp>
        <p:nvSpPr>
          <p:cNvPr id="21" name="Text 19"/>
          <p:cNvSpPr txBox="1"/>
          <p:nvPr/>
        </p:nvSpPr>
        <p:spPr>
          <a:xfrm>
            <a:off x="6519672" y="2423160"/>
            <a:ext cx="4572000" cy="274320"/>
          </a:xfrm>
          <a:prstGeom prst="rect">
            <a:avLst/>
          </a:prstGeom>
          <a:noFill/>
          <a:ln/>
        </p:spPr>
        <p:txBody>
          <a:bodyPr wrap="square" lIns="0" tIns="0" rIns="0" bIns="0" rtlCol="0" anchor="t"/>
          <a:lstStyle/>
          <a:p>
            <a:pPr indent="0" marL="0">
              <a:buNone/>
            </a:pPr>
            <a:r>
              <a:rPr lang="en-US" sz="1250" dirty="0">
                <a:solidFill>
                  <a:srgbClr val="5B6478"/>
                </a:solidFill>
              </a:rPr>
              <a:t>language only, never a decision</a:t>
            </a:r>
            <a:endParaRPr lang="en-US" sz="1250" dirty="0"/>
          </a:p>
        </p:txBody>
      </p:sp>
      <p:pic>
        <p:nvPicPr>
          <p:cNvPr id="22" name="Image 0" descr="Check">    </p:cNvPr>
          <p:cNvPicPr>
            <a:picLocks noChangeAspect="1"/>
          </p:cNvPicPr>
          <p:nvPr/>
        </p:nvPicPr>
        <p:blipFill>
          <a:blip r:embed="rId11"/>
          <a:stretch>
            <a:fillRect/>
          </a:stretch>
        </p:blipFill>
        <p:spPr>
          <a:xfrm>
            <a:off x="868680" y="2962656"/>
            <a:ext cx="256032" cy="256032"/>
          </a:xfrm>
          <a:prstGeom prst="rect">
            <a:avLst/>
          </a:prstGeom>
        </p:spPr>
      </p:pic>
      <p:sp>
        <p:nvSpPr>
          <p:cNvPr id="23" name="Text 20"/>
          <p:cNvSpPr txBox="1"/>
          <p:nvPr/>
        </p:nvSpPr>
        <p:spPr>
          <a:xfrm>
            <a:off x="1325880" y="2926080"/>
            <a:ext cx="4480560" cy="329184"/>
          </a:xfrm>
          <a:prstGeom prst="rect">
            <a:avLst/>
          </a:prstGeom>
          <a:noFill/>
          <a:ln/>
        </p:spPr>
        <p:txBody>
          <a:bodyPr wrap="square" lIns="0" tIns="0" rIns="0" bIns="0" rtlCol="0" anchor="ctr"/>
          <a:lstStyle/>
          <a:p>
            <a:pPr indent="0" marL="0">
              <a:buNone/>
            </a:pPr>
            <a:r>
              <a:rPr lang="en-US" sz="1400" dirty="0">
                <a:solidFill>
                  <a:srgbClr val="FFFFFF"/>
                </a:solidFill>
              </a:rPr>
              <a:t>Consent check (ER-501)</a:t>
            </a:r>
            <a:endParaRPr lang="en-US" sz="1400" dirty="0"/>
          </a:p>
        </p:txBody>
      </p:sp>
      <p:pic>
        <p:nvPicPr>
          <p:cNvPr id="24" name="Image 1" descr="Check">    </p:cNvPr>
          <p:cNvPicPr>
            <a:picLocks noChangeAspect="1"/>
          </p:cNvPicPr>
          <p:nvPr/>
        </p:nvPicPr>
        <p:blipFill>
          <a:blip r:embed="rId12"/>
          <a:stretch>
            <a:fillRect/>
          </a:stretch>
        </p:blipFill>
        <p:spPr>
          <a:xfrm>
            <a:off x="868680" y="3419856"/>
            <a:ext cx="256032" cy="256032"/>
          </a:xfrm>
          <a:prstGeom prst="rect">
            <a:avLst/>
          </a:prstGeom>
        </p:spPr>
      </p:pic>
      <p:sp>
        <p:nvSpPr>
          <p:cNvPr id="25" name="Text 21"/>
          <p:cNvSpPr txBox="1"/>
          <p:nvPr/>
        </p:nvSpPr>
        <p:spPr>
          <a:xfrm>
            <a:off x="1325880" y="3383280"/>
            <a:ext cx="4480560" cy="329184"/>
          </a:xfrm>
          <a:prstGeom prst="rect">
            <a:avLst/>
          </a:prstGeom>
          <a:noFill/>
          <a:ln/>
        </p:spPr>
        <p:txBody>
          <a:bodyPr wrap="square" lIns="0" tIns="0" rIns="0" bIns="0" rtlCol="0" anchor="ctr"/>
          <a:lstStyle/>
          <a:p>
            <a:pPr indent="0" marL="0">
              <a:buNone/>
            </a:pPr>
            <a:r>
              <a:rPr lang="en-US" sz="1400" dirty="0">
                <a:solidFill>
                  <a:srgbClr val="FFFFFF"/>
                </a:solidFill>
              </a:rPr>
              <a:t>Rules ER-502 to ER-504</a:t>
            </a:r>
            <a:endParaRPr lang="en-US" sz="1400" dirty="0"/>
          </a:p>
        </p:txBody>
      </p:sp>
      <p:pic>
        <p:nvPicPr>
          <p:cNvPr id="26" name="Image 2" descr="Check">    </p:cNvPr>
          <p:cNvPicPr>
            <a:picLocks noChangeAspect="1"/>
          </p:cNvPicPr>
          <p:nvPr/>
        </p:nvPicPr>
        <p:blipFill>
          <a:blip r:embed="rId13"/>
          <a:stretch>
            <a:fillRect/>
          </a:stretch>
        </p:blipFill>
        <p:spPr>
          <a:xfrm>
            <a:off x="868680" y="3877056"/>
            <a:ext cx="256032" cy="256032"/>
          </a:xfrm>
          <a:prstGeom prst="rect">
            <a:avLst/>
          </a:prstGeom>
        </p:spPr>
      </p:pic>
      <p:sp>
        <p:nvSpPr>
          <p:cNvPr id="27" name="Text 22"/>
          <p:cNvSpPr txBox="1"/>
          <p:nvPr/>
        </p:nvSpPr>
        <p:spPr>
          <a:xfrm>
            <a:off x="1325880" y="3840480"/>
            <a:ext cx="4480560" cy="329184"/>
          </a:xfrm>
          <a:prstGeom prst="rect">
            <a:avLst/>
          </a:prstGeom>
          <a:noFill/>
          <a:ln/>
        </p:spPr>
        <p:txBody>
          <a:bodyPr wrap="square" lIns="0" tIns="0" rIns="0" bIns="0" rtlCol="0" anchor="ctr"/>
          <a:lstStyle/>
          <a:p>
            <a:pPr indent="0" marL="0">
              <a:buNone/>
            </a:pPr>
            <a:r>
              <a:rPr lang="en-US" sz="1400" dirty="0">
                <a:solidFill>
                  <a:srgbClr val="FFFFFF"/>
                </a:solidFill>
              </a:rPr>
              <a:t>Counts, min / max, missing dates</a:t>
            </a:r>
            <a:endParaRPr lang="en-US" sz="1400" dirty="0"/>
          </a:p>
        </p:txBody>
      </p:sp>
      <p:pic>
        <p:nvPicPr>
          <p:cNvPr id="28" name="Image 3" descr="Check">    </p:cNvPr>
          <p:cNvPicPr>
            <a:picLocks noChangeAspect="1"/>
          </p:cNvPicPr>
          <p:nvPr/>
        </p:nvPicPr>
        <p:blipFill>
          <a:blip r:embed="rId14"/>
          <a:stretch>
            <a:fillRect/>
          </a:stretch>
        </p:blipFill>
        <p:spPr>
          <a:xfrm>
            <a:off x="868680" y="4334256"/>
            <a:ext cx="256032" cy="256032"/>
          </a:xfrm>
          <a:prstGeom prst="rect">
            <a:avLst/>
          </a:prstGeom>
        </p:spPr>
      </p:pic>
      <p:sp>
        <p:nvSpPr>
          <p:cNvPr id="29" name="Text 23"/>
          <p:cNvSpPr txBox="1"/>
          <p:nvPr/>
        </p:nvSpPr>
        <p:spPr>
          <a:xfrm>
            <a:off x="1325880" y="4297680"/>
            <a:ext cx="4480560" cy="329184"/>
          </a:xfrm>
          <a:prstGeom prst="rect">
            <a:avLst/>
          </a:prstGeom>
          <a:noFill/>
          <a:ln/>
        </p:spPr>
        <p:txBody>
          <a:bodyPr wrap="square" lIns="0" tIns="0" rIns="0" bIns="0" rtlCol="0" anchor="ctr"/>
          <a:lstStyle/>
          <a:p>
            <a:pPr indent="0" marL="0">
              <a:buNone/>
            </a:pPr>
            <a:r>
              <a:rPr lang="en-US" sz="1400" dirty="0">
                <a:solidFill>
                  <a:srgbClr val="FFFFFF"/>
                </a:solidFill>
              </a:rPr>
              <a:t>Citation check: ID, status, program, version</a:t>
            </a:r>
            <a:endParaRPr lang="en-US" sz="1400" dirty="0"/>
          </a:p>
        </p:txBody>
      </p:sp>
      <p:pic>
        <p:nvPicPr>
          <p:cNvPr id="30" name="Image 4" descr="Check">    </p:cNvPr>
          <p:cNvPicPr>
            <a:picLocks noChangeAspect="1"/>
          </p:cNvPicPr>
          <p:nvPr/>
        </p:nvPicPr>
        <p:blipFill>
          <a:blip r:embed="rId15"/>
          <a:stretch>
            <a:fillRect/>
          </a:stretch>
        </p:blipFill>
        <p:spPr>
          <a:xfrm>
            <a:off x="6519672" y="2962656"/>
            <a:ext cx="256032" cy="256032"/>
          </a:xfrm>
          <a:prstGeom prst="rect">
            <a:avLst/>
          </a:prstGeom>
        </p:spPr>
      </p:pic>
      <p:sp>
        <p:nvSpPr>
          <p:cNvPr id="31" name="Text 24"/>
          <p:cNvSpPr txBox="1"/>
          <p:nvPr/>
        </p:nvSpPr>
        <p:spPr>
          <a:xfrm>
            <a:off x="6976872" y="2926080"/>
            <a:ext cx="4480560" cy="329184"/>
          </a:xfrm>
          <a:prstGeom prst="rect">
            <a:avLst/>
          </a:prstGeom>
          <a:noFill/>
          <a:ln/>
        </p:spPr>
        <p:txBody>
          <a:bodyPr wrap="square" lIns="0" tIns="0" rIns="0" bIns="0" rtlCol="0" anchor="ctr"/>
          <a:lstStyle/>
          <a:p>
            <a:pPr indent="0" marL="0">
              <a:buNone/>
            </a:pPr>
            <a:r>
              <a:rPr lang="en-US" sz="1400" dirty="0">
                <a:solidFill>
                  <a:srgbClr val="1F2937"/>
                </a:solidFill>
              </a:rPr>
              <a:t>Understand what the member asked</a:t>
            </a:r>
            <a:endParaRPr lang="en-US" sz="1400" dirty="0"/>
          </a:p>
        </p:txBody>
      </p:sp>
      <p:pic>
        <p:nvPicPr>
          <p:cNvPr id="32" name="Image 5" descr="Check">    </p:cNvPr>
          <p:cNvPicPr>
            <a:picLocks noChangeAspect="1"/>
          </p:cNvPicPr>
          <p:nvPr/>
        </p:nvPicPr>
        <p:blipFill>
          <a:blip r:embed="rId16"/>
          <a:stretch>
            <a:fillRect/>
          </a:stretch>
        </p:blipFill>
        <p:spPr>
          <a:xfrm>
            <a:off x="6519672" y="3419856"/>
            <a:ext cx="256032" cy="256032"/>
          </a:xfrm>
          <a:prstGeom prst="rect">
            <a:avLst/>
          </a:prstGeom>
        </p:spPr>
      </p:pic>
      <p:sp>
        <p:nvSpPr>
          <p:cNvPr id="33" name="Text 25"/>
          <p:cNvSpPr txBox="1"/>
          <p:nvPr/>
        </p:nvSpPr>
        <p:spPr>
          <a:xfrm>
            <a:off x="6976872" y="3383280"/>
            <a:ext cx="4480560" cy="329184"/>
          </a:xfrm>
          <a:prstGeom prst="rect">
            <a:avLst/>
          </a:prstGeom>
          <a:noFill/>
          <a:ln/>
        </p:spPr>
        <p:txBody>
          <a:bodyPr wrap="square" lIns="0" tIns="0" rIns="0" bIns="0" rtlCol="0" anchor="ctr"/>
          <a:lstStyle/>
          <a:p>
            <a:pPr indent="0" marL="0">
              <a:buNone/>
            </a:pPr>
            <a:r>
              <a:rPr lang="en-US" sz="1400" dirty="0">
                <a:solidFill>
                  <a:srgbClr val="1F2937"/>
                </a:solidFill>
              </a:rPr>
              <a:t>Word summaries and reminders</a:t>
            </a:r>
            <a:endParaRPr lang="en-US" sz="1400" dirty="0"/>
          </a:p>
        </p:txBody>
      </p:sp>
      <p:pic>
        <p:nvPicPr>
          <p:cNvPr id="34" name="Image 6" descr="Check">    </p:cNvPr>
          <p:cNvPicPr>
            <a:picLocks noChangeAspect="1"/>
          </p:cNvPicPr>
          <p:nvPr/>
        </p:nvPicPr>
        <p:blipFill>
          <a:blip r:embed="rId17"/>
          <a:stretch>
            <a:fillRect/>
          </a:stretch>
        </p:blipFill>
        <p:spPr>
          <a:xfrm>
            <a:off x="6519672" y="3877056"/>
            <a:ext cx="256032" cy="256032"/>
          </a:xfrm>
          <a:prstGeom prst="rect">
            <a:avLst/>
          </a:prstGeom>
        </p:spPr>
      </p:pic>
      <p:sp>
        <p:nvSpPr>
          <p:cNvPr id="35" name="Text 26"/>
          <p:cNvSpPr txBox="1"/>
          <p:nvPr/>
        </p:nvSpPr>
        <p:spPr>
          <a:xfrm>
            <a:off x="6976872" y="3840480"/>
            <a:ext cx="4480560" cy="329184"/>
          </a:xfrm>
          <a:prstGeom prst="rect">
            <a:avLst/>
          </a:prstGeom>
          <a:noFill/>
          <a:ln/>
        </p:spPr>
        <p:txBody>
          <a:bodyPr wrap="square" lIns="0" tIns="0" rIns="0" bIns="0" rtlCol="0" anchor="ctr"/>
          <a:lstStyle/>
          <a:p>
            <a:pPr indent="0" marL="0">
              <a:buNone/>
            </a:pPr>
            <a:r>
              <a:rPr lang="en-US" sz="1400" dirty="0">
                <a:solidFill>
                  <a:srgbClr val="1F2937"/>
                </a:solidFill>
              </a:rPr>
              <a:t>Answer from retrieved approved text</a:t>
            </a:r>
            <a:endParaRPr lang="en-US" sz="1400" dirty="0"/>
          </a:p>
        </p:txBody>
      </p:sp>
      <p:sp>
        <p:nvSpPr>
          <p:cNvPr id="36" name="Shape 27"/>
          <p:cNvSpPr/>
          <p:nvPr/>
        </p:nvSpPr>
        <p:spPr>
          <a:xfrm>
            <a:off x="5824728" y="2926080"/>
            <a:ext cx="548640" cy="548640"/>
          </a:xfrm>
          <a:prstGeom prst="ellipse">
            <a:avLst/>
          </a:prstGeom>
          <a:solidFill>
            <a:srgbClr val="3CC3F0"/>
          </a:solidFill>
          <a:ln w="38100">
            <a:solidFill>
              <a:srgbClr val="F4F6FB"/>
            </a:solidFill>
            <a:prstDash val="solid"/>
          </a:ln>
        </p:spPr>
      </p:sp>
      <p:sp>
        <p:nvSpPr>
          <p:cNvPr id="37" name="Text 28"/>
          <p:cNvSpPr txBox="1"/>
          <p:nvPr/>
        </p:nvSpPr>
        <p:spPr>
          <a:xfrm>
            <a:off x="5824728" y="2926080"/>
            <a:ext cx="548640" cy="548640"/>
          </a:xfrm>
          <a:prstGeom prst="rect">
            <a:avLst/>
          </a:prstGeom>
          <a:noFill/>
          <a:ln/>
        </p:spPr>
        <p:txBody>
          <a:bodyPr wrap="square" lIns="0" tIns="0" rIns="0" bIns="0" rtlCol="0" anchor="ctr"/>
          <a:lstStyle/>
          <a:p>
            <a:pPr algn="ctr" indent="0" marL="0">
              <a:buNone/>
            </a:pPr>
            <a:r>
              <a:rPr lang="en-US" sz="2200" b="1" dirty="0">
                <a:solidFill>
                  <a:srgbClr val="0A1F5C"/>
                </a:solidFill>
              </a:rPr>
              <a:t>+</a:t>
            </a:r>
            <a:endParaRPr lang="en-US" sz="2200" dirty="0"/>
          </a:p>
        </p:txBody>
      </p:sp>
      <p:sp>
        <p:nvSpPr>
          <p:cNvPr id="38" name="Rejection strip"/>
          <p:cNvSpPr/>
          <p:nvPr/>
        </p:nvSpPr>
        <p:spPr>
          <a:xfrm>
            <a:off x="548640" y="5257800"/>
            <a:ext cx="11091672" cy="914400"/>
          </a:xfrm>
          <a:prstGeom prst="roundRect">
            <a:avLst>
              <a:gd name="adj" fmla="val 12000"/>
            </a:avLst>
          </a:prstGeom>
          <a:solidFill>
            <a:srgbClr val="FFF1F2"/>
          </a:solidFill>
          <a:ln w="12700">
            <a:solidFill>
              <a:srgbClr val="F3C5CA"/>
            </a:solidFill>
            <a:prstDash val="solid"/>
          </a:ln>
        </p:spPr>
      </p:sp>
      <p:sp>
        <p:nvSpPr>
          <p:cNvPr id="39" name="Text 30"/>
          <p:cNvSpPr txBox="1"/>
          <p:nvPr/>
        </p:nvSpPr>
        <p:spPr>
          <a:xfrm>
            <a:off x="777240" y="5394960"/>
            <a:ext cx="2651760" cy="640080"/>
          </a:xfrm>
          <a:prstGeom prst="rect">
            <a:avLst/>
          </a:prstGeom>
          <a:noFill/>
          <a:ln/>
        </p:spPr>
        <p:txBody>
          <a:bodyPr wrap="square" lIns="0" tIns="0" rIns="0" bIns="0" rtlCol="0" anchor="ctr"/>
          <a:lstStyle/>
          <a:p>
            <a:pPr indent="0" marL="0">
              <a:buNone/>
            </a:pPr>
            <a:r>
              <a:rPr lang="en-US" sz="1000" b="1" spc="200" kern="0" dirty="0">
                <a:solidFill>
                  <a:srgbClr val="E5484D"/>
                </a:solidFill>
              </a:rPr>
              <a:t>AI TEXT IS REJECTED, AND A</a:t>
            </a:r>
            <a:endParaRPr lang="en-US" sz="1000" dirty="0"/>
          </a:p>
          <a:p>
            <a:pPr indent="0" marL="0">
              <a:buNone/>
            </a:pPr>
            <a:r>
              <a:rPr lang="en-US" sz="1000" b="1" spc="200" kern="0" dirty="0">
                <a:solidFill>
                  <a:srgbClr val="E5484D"/>
                </a:solidFill>
              </a:rPr>
              <a:t>FIXED TEMPLATE IS USED, IF IT HAS</a:t>
            </a:r>
            <a:endParaRPr lang="en-US" sz="1000" dirty="0"/>
          </a:p>
        </p:txBody>
      </p:sp>
      <p:pic>
        <p:nvPicPr>
          <p:cNvPr id="40" name="Image 7" descr="Rejected">    </p:cNvPr>
          <p:cNvPicPr>
            <a:picLocks noChangeAspect="1"/>
          </p:cNvPicPr>
          <p:nvPr/>
        </p:nvPicPr>
        <p:blipFill>
          <a:blip r:embed="rId18"/>
          <a:stretch>
            <a:fillRect/>
          </a:stretch>
        </p:blipFill>
        <p:spPr>
          <a:xfrm>
            <a:off x="3611880" y="5577840"/>
            <a:ext cx="256032" cy="256032"/>
          </a:xfrm>
          <a:prstGeom prst="rect">
            <a:avLst/>
          </a:prstGeom>
        </p:spPr>
      </p:pic>
      <p:sp>
        <p:nvSpPr>
          <p:cNvPr id="41" name="Text 31"/>
          <p:cNvSpPr txBox="1"/>
          <p:nvPr/>
        </p:nvSpPr>
        <p:spPr>
          <a:xfrm>
            <a:off x="3941064" y="5394960"/>
            <a:ext cx="1600200" cy="640080"/>
          </a:xfrm>
          <a:prstGeom prst="rect">
            <a:avLst/>
          </a:prstGeom>
          <a:noFill/>
          <a:ln/>
        </p:spPr>
        <p:txBody>
          <a:bodyPr wrap="square" lIns="0" tIns="0" rIns="0" bIns="0" rtlCol="0" anchor="ctr"/>
          <a:lstStyle/>
          <a:p>
            <a:pPr indent="0" marL="0">
              <a:buNone/>
            </a:pPr>
            <a:r>
              <a:rPr lang="en-US" sz="1150" dirty="0">
                <a:solidFill>
                  <a:srgbClr val="1F2937"/>
                </a:solidFill>
              </a:rPr>
              <a:t>A number not in the facts</a:t>
            </a:r>
            <a:endParaRPr lang="en-US" sz="1150" dirty="0"/>
          </a:p>
        </p:txBody>
      </p:sp>
      <p:pic>
        <p:nvPicPr>
          <p:cNvPr id="42" name="Image 8" descr="Rejected">    </p:cNvPr>
          <p:cNvPicPr>
            <a:picLocks noChangeAspect="1"/>
          </p:cNvPicPr>
          <p:nvPr/>
        </p:nvPicPr>
        <p:blipFill>
          <a:blip r:embed="rId19"/>
          <a:stretch>
            <a:fillRect/>
          </a:stretch>
        </p:blipFill>
        <p:spPr>
          <a:xfrm>
            <a:off x="5623560" y="5577840"/>
            <a:ext cx="256032" cy="256032"/>
          </a:xfrm>
          <a:prstGeom prst="rect">
            <a:avLst/>
          </a:prstGeom>
        </p:spPr>
      </p:pic>
      <p:sp>
        <p:nvSpPr>
          <p:cNvPr id="43" name="Text 32"/>
          <p:cNvSpPr txBox="1"/>
          <p:nvPr/>
        </p:nvSpPr>
        <p:spPr>
          <a:xfrm>
            <a:off x="5952744" y="5394960"/>
            <a:ext cx="1600200" cy="640080"/>
          </a:xfrm>
          <a:prstGeom prst="rect">
            <a:avLst/>
          </a:prstGeom>
          <a:noFill/>
          <a:ln/>
        </p:spPr>
        <p:txBody>
          <a:bodyPr wrap="square" lIns="0" tIns="0" rIns="0" bIns="0" rtlCol="0" anchor="ctr"/>
          <a:lstStyle/>
          <a:p>
            <a:pPr indent="0" marL="0">
              <a:buNone/>
            </a:pPr>
            <a:r>
              <a:rPr lang="en-US" sz="1150" dirty="0">
                <a:solidFill>
                  <a:srgbClr val="1F2937"/>
                </a:solidFill>
              </a:rPr>
              <a:t>A diagnosis or judgement</a:t>
            </a:r>
            <a:endParaRPr lang="en-US" sz="1150" dirty="0"/>
          </a:p>
        </p:txBody>
      </p:sp>
      <p:pic>
        <p:nvPicPr>
          <p:cNvPr id="44" name="Image 9" descr="Rejected">    </p:cNvPr>
          <p:cNvPicPr>
            <a:picLocks noChangeAspect="1"/>
          </p:cNvPicPr>
          <p:nvPr/>
        </p:nvPicPr>
        <p:blipFill>
          <a:blip r:embed="rId20"/>
          <a:stretch>
            <a:fillRect/>
          </a:stretch>
        </p:blipFill>
        <p:spPr>
          <a:xfrm>
            <a:off x="7635240" y="5577840"/>
            <a:ext cx="256032" cy="256032"/>
          </a:xfrm>
          <a:prstGeom prst="rect">
            <a:avLst/>
          </a:prstGeom>
        </p:spPr>
      </p:pic>
      <p:sp>
        <p:nvSpPr>
          <p:cNvPr id="45" name="Text 33"/>
          <p:cNvSpPr txBox="1"/>
          <p:nvPr/>
        </p:nvSpPr>
        <p:spPr>
          <a:xfrm>
            <a:off x="7964424" y="5394960"/>
            <a:ext cx="1600200" cy="640080"/>
          </a:xfrm>
          <a:prstGeom prst="rect">
            <a:avLst/>
          </a:prstGeom>
          <a:noFill/>
          <a:ln/>
        </p:spPr>
        <p:txBody>
          <a:bodyPr wrap="square" lIns="0" tIns="0" rIns="0" bIns="0" rtlCol="0" anchor="ctr"/>
          <a:lstStyle/>
          <a:p>
            <a:pPr indent="0" marL="0">
              <a:buNone/>
            </a:pPr>
            <a:r>
              <a:rPr lang="en-US" sz="1150" dirty="0">
                <a:solidFill>
                  <a:srgbClr val="1F2937"/>
                </a:solidFill>
              </a:rPr>
              <a:t>Medication advice or prediction</a:t>
            </a:r>
            <a:endParaRPr lang="en-US" sz="1150" dirty="0"/>
          </a:p>
        </p:txBody>
      </p:sp>
      <p:pic>
        <p:nvPicPr>
          <p:cNvPr id="46" name="Image 10" descr="Rejected">    </p:cNvPr>
          <p:cNvPicPr>
            <a:picLocks noChangeAspect="1"/>
          </p:cNvPicPr>
          <p:nvPr/>
        </p:nvPicPr>
        <p:blipFill>
          <a:blip r:embed="rId21"/>
          <a:stretch>
            <a:fillRect/>
          </a:stretch>
        </p:blipFill>
        <p:spPr>
          <a:xfrm>
            <a:off x="9646920" y="5577840"/>
            <a:ext cx="256032" cy="256032"/>
          </a:xfrm>
          <a:prstGeom prst="rect">
            <a:avLst/>
          </a:prstGeom>
        </p:spPr>
      </p:pic>
      <p:sp>
        <p:nvSpPr>
          <p:cNvPr id="47" name="Text 34"/>
          <p:cNvSpPr txBox="1"/>
          <p:nvPr/>
        </p:nvSpPr>
        <p:spPr>
          <a:xfrm>
            <a:off x="9976104" y="5394960"/>
            <a:ext cx="1600200" cy="640080"/>
          </a:xfrm>
          <a:prstGeom prst="rect">
            <a:avLst/>
          </a:prstGeom>
          <a:noFill/>
          <a:ln/>
        </p:spPr>
        <p:txBody>
          <a:bodyPr wrap="square" lIns="0" tIns="0" rIns="0" bIns="0" rtlCol="0" anchor="ctr"/>
          <a:lstStyle/>
          <a:p>
            <a:pPr indent="0" marL="0">
              <a:buNone/>
            </a:pPr>
            <a:r>
              <a:rPr lang="en-US" sz="1150" dirty="0">
                <a:solidFill>
                  <a:srgbClr val="1F2937"/>
                </a:solidFill>
              </a:rPr>
              <a:t>A claim to be a clinician</a:t>
            </a:r>
            <a:endParaRPr lang="en-US" sz="11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03  ·  ARCHITECTURE</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How one message moves through the desk</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Flow</a:t>
            </a:r>
            <a:endParaRPr lang="en-US" sz="950" dirty="0"/>
          </a:p>
        </p:txBody>
      </p:sp>
      <p:sp>
        <p:nvSpPr>
          <p:cNvPr id="9" name="Shape 7"/>
          <p:cNvSpPr/>
          <p:nvPr/>
        </p:nvSpPr>
        <p:spPr>
          <a:xfrm>
            <a:off x="4969764" y="6309360"/>
            <a:ext cx="73152" cy="73152"/>
          </a:xfrm>
          <a:prstGeom prst="ellipse">
            <a:avLst/>
          </a:prstGeom>
          <a:solidFill>
            <a:srgbClr val="1547C8"/>
          </a:solidFill>
          <a:ln w="12700">
            <a:solidFill>
              <a:srgbClr val="1547C8"/>
            </a:solidFill>
            <a:prstDash val="solid"/>
          </a:ln>
        </p:spPr>
      </p:sp>
      <p:sp>
        <p:nvSpPr>
          <p:cNvPr id="10" name="Text 8"/>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1" name="Text 9"/>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2" name="Text 10"/>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3" name="Text 11"/>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Connector"/>
          <p:cNvSpPr/>
          <p:nvPr/>
        </p:nvSpPr>
        <p:spPr>
          <a:xfrm>
            <a:off x="822960" y="3429000"/>
            <a:ext cx="10424160" cy="0"/>
          </a:xfrm>
          <a:prstGeom prst="line">
            <a:avLst/>
          </a:prstGeom>
          <a:noFill/>
          <a:ln w="38100">
            <a:solidFill>
              <a:srgbClr val="9FB3E8"/>
            </a:solidFill>
            <a:prstDash val="solid"/>
          </a:ln>
        </p:spPr>
      </p:sp>
      <p:sp>
        <p:nvSpPr>
          <p:cNvPr id="17" name="Timeline node"/>
          <p:cNvSpPr/>
          <p:nvPr/>
        </p:nvSpPr>
        <p:spPr>
          <a:xfrm>
            <a:off x="1225296" y="3099816"/>
            <a:ext cx="658368" cy="658368"/>
          </a:xfrm>
          <a:prstGeom prst="ellipse">
            <a:avLst/>
          </a:prstGeom>
          <a:solidFill>
            <a:srgbClr val="1547C8"/>
          </a:solidFill>
          <a:ln w="50800">
            <a:solidFill>
              <a:srgbClr val="F4F6FB"/>
            </a:solidFill>
            <a:prstDash val="solid"/>
          </a:ln>
          <a:effectLst>
            <a:outerShdw sx="100000" sy="100000" kx="0" ky="0" algn="bl" rotWithShape="0" blurRad="127000" dist="25400" dir="5400000">
              <a:srgbClr val="1F2937">
                <a:alpha val="9000"/>
              </a:srgbClr>
            </a:outerShdw>
          </a:effectLst>
        </p:spPr>
      </p:sp>
      <p:sp>
        <p:nvSpPr>
          <p:cNvPr id="18" name="Text 16"/>
          <p:cNvSpPr txBox="1"/>
          <p:nvPr/>
        </p:nvSpPr>
        <p:spPr>
          <a:xfrm>
            <a:off x="1225296" y="309981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9" name="Text 17"/>
          <p:cNvSpPr txBox="1"/>
          <p:nvPr/>
        </p:nvSpPr>
        <p:spPr>
          <a:xfrm>
            <a:off x="685800" y="1600200"/>
            <a:ext cx="1737360" cy="310896"/>
          </a:xfrm>
          <a:prstGeom prst="rect">
            <a:avLst/>
          </a:prstGeom>
          <a:noFill/>
          <a:ln/>
        </p:spPr>
        <p:txBody>
          <a:bodyPr wrap="square" lIns="0" tIns="0" rIns="0" bIns="0" rtlCol="0" anchor="t"/>
          <a:lstStyle/>
          <a:p>
            <a:pPr algn="ctr" indent="0" marL="0">
              <a:buNone/>
            </a:pPr>
            <a:r>
              <a:rPr lang="en-US" sz="1500" b="1" dirty="0">
                <a:solidFill>
                  <a:srgbClr val="1F2937"/>
                </a:solidFill>
              </a:rPr>
              <a:t>Consent check</a:t>
            </a:r>
            <a:endParaRPr lang="en-US" sz="1500" dirty="0"/>
          </a:p>
        </p:txBody>
      </p:sp>
      <p:sp>
        <p:nvSpPr>
          <p:cNvPr id="20" name="Text 18"/>
          <p:cNvSpPr txBox="1"/>
          <p:nvPr/>
        </p:nvSpPr>
        <p:spPr>
          <a:xfrm>
            <a:off x="685800" y="1947672"/>
            <a:ext cx="1737360" cy="731520"/>
          </a:xfrm>
          <a:prstGeom prst="rect">
            <a:avLst/>
          </a:prstGeom>
          <a:noFill/>
          <a:ln/>
        </p:spPr>
        <p:txBody>
          <a:bodyPr wrap="square" lIns="0" tIns="0" rIns="0" bIns="0" rtlCol="0" anchor="t"/>
          <a:lstStyle/>
          <a:p>
            <a:pPr algn="ctr" indent="0" marL="0">
              <a:buNone/>
            </a:pPr>
            <a:r>
              <a:rPr lang="en-US" sz="1150" dirty="0">
                <a:solidFill>
                  <a:srgbClr val="5B6478"/>
                </a:solidFill>
              </a:rPr>
              <a:t>Active consent or stop</a:t>
            </a:r>
            <a:endParaRPr lang="en-US" sz="1150" dirty="0"/>
          </a:p>
        </p:txBody>
      </p:sp>
      <p:sp>
        <p:nvSpPr>
          <p:cNvPr id="21" name="Pill"/>
          <p:cNvSpPr/>
          <p:nvPr/>
        </p:nvSpPr>
        <p:spPr>
          <a:xfrm>
            <a:off x="685800" y="4023360"/>
            <a:ext cx="1737360" cy="329184"/>
          </a:xfrm>
          <a:prstGeom prst="roundRect">
            <a:avLst>
              <a:gd name="adj" fmla="val 50000"/>
            </a:avLst>
          </a:prstGeom>
          <a:solidFill>
            <a:srgbClr val="E5484D"/>
          </a:solidFill>
          <a:ln w="12700">
            <a:solidFill>
              <a:srgbClr val="E5484D"/>
            </a:solidFill>
            <a:prstDash val="solid"/>
          </a:ln>
        </p:spPr>
      </p:sp>
      <p:sp>
        <p:nvSpPr>
          <p:cNvPr id="22" name="Text 20"/>
          <p:cNvSpPr txBox="1"/>
          <p:nvPr/>
        </p:nvSpPr>
        <p:spPr>
          <a:xfrm>
            <a:off x="685800" y="4023360"/>
            <a:ext cx="1737360" cy="329184"/>
          </a:xfrm>
          <a:prstGeom prst="rect">
            <a:avLst/>
          </a:prstGeom>
          <a:noFill/>
          <a:ln/>
        </p:spPr>
        <p:txBody>
          <a:bodyPr wrap="square" lIns="0" tIns="0" rIns="0" bIns="0" rtlCol="0" anchor="ctr"/>
          <a:lstStyle/>
          <a:p>
            <a:pPr algn="ctr" indent="0" marL="0">
              <a:buNone/>
            </a:pPr>
            <a:r>
              <a:rPr lang="en-US" sz="850" b="1" dirty="0">
                <a:solidFill>
                  <a:srgbClr val="FFFFFF"/>
                </a:solidFill>
              </a:rPr>
              <a:t>STOP → staff · ER-501</a:t>
            </a:r>
            <a:endParaRPr lang="en-US" sz="850" dirty="0"/>
          </a:p>
        </p:txBody>
      </p:sp>
      <p:sp>
        <p:nvSpPr>
          <p:cNvPr id="23" name="Timeline node"/>
          <p:cNvSpPr/>
          <p:nvPr/>
        </p:nvSpPr>
        <p:spPr>
          <a:xfrm>
            <a:off x="3008376" y="3099816"/>
            <a:ext cx="658368" cy="658368"/>
          </a:xfrm>
          <a:prstGeom prst="ellipse">
            <a:avLst/>
          </a:prstGeom>
          <a:solidFill>
            <a:srgbClr val="1547C8"/>
          </a:solidFill>
          <a:ln w="50800">
            <a:solidFill>
              <a:srgbClr val="F4F6FB"/>
            </a:solidFill>
            <a:prstDash val="solid"/>
          </a:ln>
          <a:effectLst>
            <a:outerShdw sx="100000" sy="100000" kx="0" ky="0" algn="bl" rotWithShape="0" blurRad="127000" dist="25400" dir="5400000">
              <a:srgbClr val="1F2937">
                <a:alpha val="9000"/>
              </a:srgbClr>
            </a:outerShdw>
          </a:effectLst>
        </p:spPr>
      </p:sp>
      <p:sp>
        <p:nvSpPr>
          <p:cNvPr id="24" name="Text 22"/>
          <p:cNvSpPr txBox="1"/>
          <p:nvPr/>
        </p:nvSpPr>
        <p:spPr>
          <a:xfrm>
            <a:off x="3008376" y="309981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5" name="Text 23"/>
          <p:cNvSpPr txBox="1"/>
          <p:nvPr/>
        </p:nvSpPr>
        <p:spPr>
          <a:xfrm>
            <a:off x="2468880" y="4069080"/>
            <a:ext cx="1737360" cy="310896"/>
          </a:xfrm>
          <a:prstGeom prst="rect">
            <a:avLst/>
          </a:prstGeom>
          <a:noFill/>
          <a:ln/>
        </p:spPr>
        <p:txBody>
          <a:bodyPr wrap="square" lIns="0" tIns="0" rIns="0" bIns="0" rtlCol="0" anchor="t"/>
          <a:lstStyle/>
          <a:p>
            <a:pPr algn="ctr" indent="0" marL="0">
              <a:buNone/>
            </a:pPr>
            <a:r>
              <a:rPr lang="en-US" sz="1500" b="1" dirty="0">
                <a:solidFill>
                  <a:srgbClr val="1F2937"/>
                </a:solidFill>
              </a:rPr>
              <a:t>Safety guard</a:t>
            </a:r>
            <a:endParaRPr lang="en-US" sz="1500" dirty="0"/>
          </a:p>
        </p:txBody>
      </p:sp>
      <p:sp>
        <p:nvSpPr>
          <p:cNvPr id="26" name="Text 24"/>
          <p:cNvSpPr txBox="1"/>
          <p:nvPr/>
        </p:nvSpPr>
        <p:spPr>
          <a:xfrm>
            <a:off x="2468880" y="4416552"/>
            <a:ext cx="1737360" cy="731520"/>
          </a:xfrm>
          <a:prstGeom prst="rect">
            <a:avLst/>
          </a:prstGeom>
          <a:noFill/>
          <a:ln/>
        </p:spPr>
        <p:txBody>
          <a:bodyPr wrap="square" lIns="0" tIns="0" rIns="0" bIns="0" rtlCol="0" anchor="t"/>
          <a:lstStyle/>
          <a:p>
            <a:pPr algn="ctr" indent="0" marL="0">
              <a:buNone/>
            </a:pPr>
            <a:r>
              <a:rPr lang="en-US" sz="1150" dirty="0">
                <a:solidFill>
                  <a:srgbClr val="5B6478"/>
                </a:solidFill>
              </a:rPr>
              <a:t>Injection and medication rule</a:t>
            </a:r>
            <a:endParaRPr lang="en-US" sz="1150" dirty="0"/>
          </a:p>
        </p:txBody>
      </p:sp>
      <p:sp>
        <p:nvSpPr>
          <p:cNvPr id="27" name="Pill"/>
          <p:cNvSpPr/>
          <p:nvPr/>
        </p:nvSpPr>
        <p:spPr>
          <a:xfrm>
            <a:off x="2468880" y="2651760"/>
            <a:ext cx="1737360" cy="329184"/>
          </a:xfrm>
          <a:prstGeom prst="roundRect">
            <a:avLst>
              <a:gd name="adj" fmla="val 50000"/>
            </a:avLst>
          </a:prstGeom>
          <a:solidFill>
            <a:srgbClr val="E5484D"/>
          </a:solidFill>
          <a:ln w="12700">
            <a:solidFill>
              <a:srgbClr val="E5484D"/>
            </a:solidFill>
            <a:prstDash val="solid"/>
          </a:ln>
        </p:spPr>
      </p:sp>
      <p:sp>
        <p:nvSpPr>
          <p:cNvPr id="28" name="Text 26"/>
          <p:cNvSpPr txBox="1"/>
          <p:nvPr/>
        </p:nvSpPr>
        <p:spPr>
          <a:xfrm>
            <a:off x="2468880" y="2651760"/>
            <a:ext cx="1737360" cy="329184"/>
          </a:xfrm>
          <a:prstGeom prst="rect">
            <a:avLst/>
          </a:prstGeom>
          <a:noFill/>
          <a:ln/>
        </p:spPr>
        <p:txBody>
          <a:bodyPr wrap="square" lIns="0" tIns="0" rIns="0" bIns="0" rtlCol="0" anchor="ctr"/>
          <a:lstStyle/>
          <a:p>
            <a:pPr algn="ctr" indent="0" marL="0">
              <a:buNone/>
            </a:pPr>
            <a:r>
              <a:rPr lang="en-US" sz="850" b="1" dirty="0">
                <a:solidFill>
                  <a:srgbClr val="FFFFFF"/>
                </a:solidFill>
              </a:rPr>
              <a:t>DECLINE · ER-503</a:t>
            </a:r>
            <a:endParaRPr lang="en-US" sz="850" dirty="0"/>
          </a:p>
        </p:txBody>
      </p:sp>
      <p:sp>
        <p:nvSpPr>
          <p:cNvPr id="29" name="Timeline node"/>
          <p:cNvSpPr/>
          <p:nvPr/>
        </p:nvSpPr>
        <p:spPr>
          <a:xfrm>
            <a:off x="4791456" y="3099816"/>
            <a:ext cx="658368" cy="658368"/>
          </a:xfrm>
          <a:prstGeom prst="ellipse">
            <a:avLst/>
          </a:prstGeom>
          <a:solidFill>
            <a:srgbClr val="1547C8"/>
          </a:solidFill>
          <a:ln w="50800">
            <a:solidFill>
              <a:srgbClr val="F4F6FB"/>
            </a:solidFill>
            <a:prstDash val="solid"/>
          </a:ln>
          <a:effectLst>
            <a:outerShdw sx="100000" sy="100000" kx="0" ky="0" algn="bl" rotWithShape="0" blurRad="127000" dist="25400" dir="5400000">
              <a:srgbClr val="1F2937">
                <a:alpha val="9000"/>
              </a:srgbClr>
            </a:outerShdw>
          </a:effectLst>
        </p:spPr>
      </p:sp>
      <p:sp>
        <p:nvSpPr>
          <p:cNvPr id="30" name="Text 28"/>
          <p:cNvSpPr txBox="1"/>
          <p:nvPr/>
        </p:nvSpPr>
        <p:spPr>
          <a:xfrm>
            <a:off x="4791456" y="309981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31" name="Text 29"/>
          <p:cNvSpPr txBox="1"/>
          <p:nvPr/>
        </p:nvSpPr>
        <p:spPr>
          <a:xfrm>
            <a:off x="4251960" y="1600200"/>
            <a:ext cx="1737360" cy="310896"/>
          </a:xfrm>
          <a:prstGeom prst="rect">
            <a:avLst/>
          </a:prstGeom>
          <a:noFill/>
          <a:ln/>
        </p:spPr>
        <p:txBody>
          <a:bodyPr wrap="square" lIns="0" tIns="0" rIns="0" bIns="0" rtlCol="0" anchor="t"/>
          <a:lstStyle/>
          <a:p>
            <a:pPr algn="ctr" indent="0" marL="0">
              <a:buNone/>
            </a:pPr>
            <a:r>
              <a:rPr lang="en-US" sz="1500" b="1" dirty="0">
                <a:solidFill>
                  <a:srgbClr val="1F2937"/>
                </a:solidFill>
              </a:rPr>
              <a:t>Router</a:t>
            </a:r>
            <a:endParaRPr lang="en-US" sz="1500" dirty="0"/>
          </a:p>
        </p:txBody>
      </p:sp>
      <p:sp>
        <p:nvSpPr>
          <p:cNvPr id="32" name="Text 30"/>
          <p:cNvSpPr txBox="1"/>
          <p:nvPr/>
        </p:nvSpPr>
        <p:spPr>
          <a:xfrm>
            <a:off x="4251960" y="1947672"/>
            <a:ext cx="1737360" cy="731520"/>
          </a:xfrm>
          <a:prstGeom prst="rect">
            <a:avLst/>
          </a:prstGeom>
          <a:noFill/>
          <a:ln/>
        </p:spPr>
        <p:txBody>
          <a:bodyPr wrap="square" lIns="0" tIns="0" rIns="0" bIns="0" rtlCol="0" anchor="t"/>
          <a:lstStyle/>
          <a:p>
            <a:pPr algn="ctr" indent="0" marL="0">
              <a:buNone/>
            </a:pPr>
            <a:r>
              <a:rPr lang="en-US" sz="1150" dirty="0">
                <a:solidFill>
                  <a:srgbClr val="5B6478"/>
                </a:solidFill>
              </a:rPr>
              <a:t>Education, readings, plan or staff</a:t>
            </a:r>
            <a:endParaRPr lang="en-US" sz="1150" dirty="0"/>
          </a:p>
        </p:txBody>
      </p:sp>
      <p:sp>
        <p:nvSpPr>
          <p:cNvPr id="33" name="Timeline node"/>
          <p:cNvSpPr/>
          <p:nvPr/>
        </p:nvSpPr>
        <p:spPr>
          <a:xfrm>
            <a:off x="6574536" y="3099816"/>
            <a:ext cx="658368" cy="658368"/>
          </a:xfrm>
          <a:prstGeom prst="ellipse">
            <a:avLst/>
          </a:prstGeom>
          <a:solidFill>
            <a:srgbClr val="1547C8"/>
          </a:solidFill>
          <a:ln w="50800">
            <a:solidFill>
              <a:srgbClr val="F4F6FB"/>
            </a:solidFill>
            <a:prstDash val="solid"/>
          </a:ln>
          <a:effectLst>
            <a:outerShdw sx="100000" sy="100000" kx="0" ky="0" algn="bl" rotWithShape="0" blurRad="127000" dist="25400" dir="5400000">
              <a:srgbClr val="1F2937">
                <a:alpha val="9000"/>
              </a:srgbClr>
            </a:outerShdw>
          </a:effectLst>
        </p:spPr>
      </p:sp>
      <p:sp>
        <p:nvSpPr>
          <p:cNvPr id="34" name="Text 32"/>
          <p:cNvSpPr txBox="1"/>
          <p:nvPr/>
        </p:nvSpPr>
        <p:spPr>
          <a:xfrm>
            <a:off x="6574536" y="309981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35" name="Text 33"/>
          <p:cNvSpPr txBox="1"/>
          <p:nvPr/>
        </p:nvSpPr>
        <p:spPr>
          <a:xfrm>
            <a:off x="6035040" y="4069080"/>
            <a:ext cx="1737360" cy="310896"/>
          </a:xfrm>
          <a:prstGeom prst="rect">
            <a:avLst/>
          </a:prstGeom>
          <a:noFill/>
          <a:ln/>
        </p:spPr>
        <p:txBody>
          <a:bodyPr wrap="square" lIns="0" tIns="0" rIns="0" bIns="0" rtlCol="0" anchor="t"/>
          <a:lstStyle/>
          <a:p>
            <a:pPr algn="ctr" indent="0" marL="0">
              <a:buNone/>
            </a:pPr>
            <a:r>
              <a:rPr lang="en-US" sz="1500" b="1" dirty="0">
                <a:solidFill>
                  <a:srgbClr val="1F2937"/>
                </a:solidFill>
              </a:rPr>
              <a:t>Facts and rules</a:t>
            </a:r>
            <a:endParaRPr lang="en-US" sz="1500" dirty="0"/>
          </a:p>
        </p:txBody>
      </p:sp>
      <p:sp>
        <p:nvSpPr>
          <p:cNvPr id="36" name="Text 34"/>
          <p:cNvSpPr txBox="1"/>
          <p:nvPr/>
        </p:nvSpPr>
        <p:spPr>
          <a:xfrm>
            <a:off x="6035040" y="4416552"/>
            <a:ext cx="1737360" cy="731520"/>
          </a:xfrm>
          <a:prstGeom prst="rect">
            <a:avLst/>
          </a:prstGeom>
          <a:noFill/>
          <a:ln/>
        </p:spPr>
        <p:txBody>
          <a:bodyPr wrap="square" lIns="0" tIns="0" rIns="0" bIns="0" rtlCol="0" anchor="t"/>
          <a:lstStyle/>
          <a:p>
            <a:pPr algn="ctr" indent="0" marL="0">
              <a:buNone/>
            </a:pPr>
            <a:r>
              <a:rPr lang="en-US" sz="1150" dirty="0">
                <a:solidFill>
                  <a:srgbClr val="5B6478"/>
                </a:solidFill>
              </a:rPr>
              <a:t>Code reads data, applies ER-502 and ER-504</a:t>
            </a:r>
            <a:endParaRPr lang="en-US" sz="1150" dirty="0"/>
          </a:p>
        </p:txBody>
      </p:sp>
      <p:sp>
        <p:nvSpPr>
          <p:cNvPr id="37" name="Pill"/>
          <p:cNvSpPr/>
          <p:nvPr/>
        </p:nvSpPr>
        <p:spPr>
          <a:xfrm>
            <a:off x="6035040" y="2651760"/>
            <a:ext cx="1737360" cy="329184"/>
          </a:xfrm>
          <a:prstGeom prst="roundRect">
            <a:avLst>
              <a:gd name="adj" fmla="val 50000"/>
            </a:avLst>
          </a:prstGeom>
          <a:solidFill>
            <a:srgbClr val="F5A524"/>
          </a:solidFill>
          <a:ln w="12700">
            <a:solidFill>
              <a:srgbClr val="F5A524"/>
            </a:solidFill>
            <a:prstDash val="solid"/>
          </a:ln>
        </p:spPr>
      </p:sp>
      <p:sp>
        <p:nvSpPr>
          <p:cNvPr id="38" name="Text 36"/>
          <p:cNvSpPr txBox="1"/>
          <p:nvPr/>
        </p:nvSpPr>
        <p:spPr>
          <a:xfrm>
            <a:off x="6035040" y="2651760"/>
            <a:ext cx="1737360" cy="329184"/>
          </a:xfrm>
          <a:prstGeom prst="rect">
            <a:avLst/>
          </a:prstGeom>
          <a:noFill/>
          <a:ln/>
        </p:spPr>
        <p:txBody>
          <a:bodyPr wrap="square" lIns="0" tIns="0" rIns="0" bIns="0" rtlCol="0" anchor="ctr"/>
          <a:lstStyle/>
          <a:p>
            <a:pPr algn="ctr" indent="0" marL="0">
              <a:buNone/>
            </a:pPr>
            <a:r>
              <a:rPr lang="en-US" sz="850" b="1" dirty="0">
                <a:solidFill>
                  <a:srgbClr val="1F2937"/>
                </a:solidFill>
              </a:rPr>
              <a:t>STAFF QUEUE · ER-502/504</a:t>
            </a:r>
            <a:endParaRPr lang="en-US" sz="850" dirty="0"/>
          </a:p>
        </p:txBody>
      </p:sp>
      <p:sp>
        <p:nvSpPr>
          <p:cNvPr id="39" name="Timeline node"/>
          <p:cNvSpPr/>
          <p:nvPr/>
        </p:nvSpPr>
        <p:spPr>
          <a:xfrm>
            <a:off x="8357616" y="3099816"/>
            <a:ext cx="658368" cy="658368"/>
          </a:xfrm>
          <a:prstGeom prst="ellipse">
            <a:avLst/>
          </a:prstGeom>
          <a:solidFill>
            <a:srgbClr val="1547C8"/>
          </a:solidFill>
          <a:ln w="50800">
            <a:solidFill>
              <a:srgbClr val="F4F6FB"/>
            </a:solidFill>
            <a:prstDash val="solid"/>
          </a:ln>
          <a:effectLst>
            <a:outerShdw sx="100000" sy="100000" kx="0" ky="0" algn="bl" rotWithShape="0" blurRad="127000" dist="25400" dir="5400000">
              <a:srgbClr val="1F2937">
                <a:alpha val="9000"/>
              </a:srgbClr>
            </a:outerShdw>
          </a:effectLst>
        </p:spPr>
      </p:sp>
      <p:sp>
        <p:nvSpPr>
          <p:cNvPr id="40" name="Text 38"/>
          <p:cNvSpPr txBox="1"/>
          <p:nvPr/>
        </p:nvSpPr>
        <p:spPr>
          <a:xfrm>
            <a:off x="8357616" y="309981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41" name="Text 39"/>
          <p:cNvSpPr txBox="1"/>
          <p:nvPr/>
        </p:nvSpPr>
        <p:spPr>
          <a:xfrm>
            <a:off x="7818120" y="1600200"/>
            <a:ext cx="1737360" cy="310896"/>
          </a:xfrm>
          <a:prstGeom prst="rect">
            <a:avLst/>
          </a:prstGeom>
          <a:noFill/>
          <a:ln/>
        </p:spPr>
        <p:txBody>
          <a:bodyPr wrap="square" lIns="0" tIns="0" rIns="0" bIns="0" rtlCol="0" anchor="t"/>
          <a:lstStyle/>
          <a:p>
            <a:pPr algn="ctr" indent="0" marL="0">
              <a:buNone/>
            </a:pPr>
            <a:r>
              <a:rPr lang="en-US" sz="1500" b="1" dirty="0">
                <a:solidFill>
                  <a:srgbClr val="1F2937"/>
                </a:solidFill>
              </a:rPr>
              <a:t>Specialist agent</a:t>
            </a:r>
            <a:endParaRPr lang="en-US" sz="1500" dirty="0"/>
          </a:p>
        </p:txBody>
      </p:sp>
      <p:sp>
        <p:nvSpPr>
          <p:cNvPr id="42" name="Text 40"/>
          <p:cNvSpPr txBox="1"/>
          <p:nvPr/>
        </p:nvSpPr>
        <p:spPr>
          <a:xfrm>
            <a:off x="7818120" y="1947672"/>
            <a:ext cx="1737360" cy="731520"/>
          </a:xfrm>
          <a:prstGeom prst="rect">
            <a:avLst/>
          </a:prstGeom>
          <a:noFill/>
          <a:ln/>
        </p:spPr>
        <p:txBody>
          <a:bodyPr wrap="square" lIns="0" tIns="0" rIns="0" bIns="0" rtlCol="0" anchor="t"/>
          <a:lstStyle/>
          <a:p>
            <a:pPr algn="ctr" indent="0" marL="0">
              <a:buNone/>
            </a:pPr>
            <a:r>
              <a:rPr lang="en-US" sz="1150" dirty="0">
                <a:solidFill>
                  <a:srgbClr val="5B6478"/>
                </a:solidFill>
              </a:rPr>
              <a:t>Words the answer from the facts</a:t>
            </a:r>
            <a:endParaRPr lang="en-US" sz="1150" dirty="0"/>
          </a:p>
        </p:txBody>
      </p:sp>
      <p:sp>
        <p:nvSpPr>
          <p:cNvPr id="43" name="Timeline node"/>
          <p:cNvSpPr/>
          <p:nvPr/>
        </p:nvSpPr>
        <p:spPr>
          <a:xfrm>
            <a:off x="10140696" y="3099816"/>
            <a:ext cx="658368" cy="658368"/>
          </a:xfrm>
          <a:prstGeom prst="ellipse">
            <a:avLst/>
          </a:prstGeom>
          <a:solidFill>
            <a:srgbClr val="1547C8"/>
          </a:solidFill>
          <a:ln w="50800">
            <a:solidFill>
              <a:srgbClr val="F4F6FB"/>
            </a:solidFill>
            <a:prstDash val="solid"/>
          </a:ln>
          <a:effectLst>
            <a:outerShdw sx="100000" sy="100000" kx="0" ky="0" algn="bl" rotWithShape="0" blurRad="127000" dist="25400" dir="5400000">
              <a:srgbClr val="1F2937">
                <a:alpha val="9000"/>
              </a:srgbClr>
            </a:outerShdw>
          </a:effectLst>
        </p:spPr>
      </p:sp>
      <p:sp>
        <p:nvSpPr>
          <p:cNvPr id="44" name="Text 42"/>
          <p:cNvSpPr txBox="1"/>
          <p:nvPr/>
        </p:nvSpPr>
        <p:spPr>
          <a:xfrm>
            <a:off x="10140696" y="3099816"/>
            <a:ext cx="658368" cy="658368"/>
          </a:xfrm>
          <a:prstGeom prst="rect">
            <a:avLst/>
          </a:prstGeom>
          <a:no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45" name="Text 43"/>
          <p:cNvSpPr txBox="1"/>
          <p:nvPr/>
        </p:nvSpPr>
        <p:spPr>
          <a:xfrm>
            <a:off x="9601200" y="4069080"/>
            <a:ext cx="1737360" cy="310896"/>
          </a:xfrm>
          <a:prstGeom prst="rect">
            <a:avLst/>
          </a:prstGeom>
          <a:noFill/>
          <a:ln/>
        </p:spPr>
        <p:txBody>
          <a:bodyPr wrap="square" lIns="0" tIns="0" rIns="0" bIns="0" rtlCol="0" anchor="t"/>
          <a:lstStyle/>
          <a:p>
            <a:pPr algn="ctr" indent="0" marL="0">
              <a:buNone/>
            </a:pPr>
            <a:r>
              <a:rPr lang="en-US" sz="1500" b="1" dirty="0">
                <a:solidFill>
                  <a:srgbClr val="1F2937"/>
                </a:solidFill>
              </a:rPr>
              <a:t>Outputs</a:t>
            </a:r>
            <a:endParaRPr lang="en-US" sz="1500" dirty="0"/>
          </a:p>
        </p:txBody>
      </p:sp>
      <p:sp>
        <p:nvSpPr>
          <p:cNvPr id="46" name="Text 44"/>
          <p:cNvSpPr txBox="1"/>
          <p:nvPr/>
        </p:nvSpPr>
        <p:spPr>
          <a:xfrm>
            <a:off x="9601200" y="4416552"/>
            <a:ext cx="1737360" cy="731520"/>
          </a:xfrm>
          <a:prstGeom prst="rect">
            <a:avLst/>
          </a:prstGeom>
          <a:noFill/>
          <a:ln/>
        </p:spPr>
        <p:txBody>
          <a:bodyPr wrap="square" lIns="0" tIns="0" rIns="0" bIns="0" rtlCol="0" anchor="t"/>
          <a:lstStyle/>
          <a:p>
            <a:pPr algn="ctr" indent="0" marL="0">
              <a:buNone/>
            </a:pPr>
            <a:r>
              <a:rPr lang="en-US" sz="1150" dirty="0">
                <a:solidFill>
                  <a:srgbClr val="5B6478"/>
                </a:solidFill>
              </a:rPr>
              <a:t>Member view, staff packet, audit</a:t>
            </a:r>
            <a:endParaRPr lang="en-US" sz="1150" dirty="0"/>
          </a:p>
        </p:txBody>
      </p:sp>
      <p:sp>
        <p:nvSpPr>
          <p:cNvPr id="47" name="Pill"/>
          <p:cNvSpPr/>
          <p:nvPr/>
        </p:nvSpPr>
        <p:spPr>
          <a:xfrm>
            <a:off x="9601200" y="2651760"/>
            <a:ext cx="1737360" cy="329184"/>
          </a:xfrm>
          <a:prstGeom prst="roundRect">
            <a:avLst>
              <a:gd name="adj" fmla="val 50000"/>
            </a:avLst>
          </a:prstGeom>
          <a:solidFill>
            <a:srgbClr val="12A36B"/>
          </a:solidFill>
          <a:ln w="12700">
            <a:solidFill>
              <a:srgbClr val="12A36B"/>
            </a:solidFill>
            <a:prstDash val="solid"/>
          </a:ln>
        </p:spPr>
      </p:sp>
      <p:sp>
        <p:nvSpPr>
          <p:cNvPr id="48" name="Text 46"/>
          <p:cNvSpPr txBox="1"/>
          <p:nvPr/>
        </p:nvSpPr>
        <p:spPr>
          <a:xfrm>
            <a:off x="9601200" y="2651760"/>
            <a:ext cx="1737360" cy="329184"/>
          </a:xfrm>
          <a:prstGeom prst="rect">
            <a:avLst/>
          </a:prstGeom>
          <a:noFill/>
          <a:ln/>
        </p:spPr>
        <p:txBody>
          <a:bodyPr wrap="square" lIns="0" tIns="0" rIns="0" bIns="0" rtlCol="0" anchor="ctr"/>
          <a:lstStyle/>
          <a:p>
            <a:pPr algn="ctr" indent="0" marL="0">
              <a:buNone/>
            </a:pPr>
            <a:r>
              <a:rPr lang="en-US" sz="850" b="1" dirty="0">
                <a:solidFill>
                  <a:srgbClr val="FFFFFF"/>
                </a:solidFill>
              </a:rPr>
              <a:t>SEPARATE VIEWS</a:t>
            </a:r>
            <a:endParaRPr lang="en-US" sz="850" dirty="0"/>
          </a:p>
        </p:txBody>
      </p:sp>
      <p:sp>
        <p:nvSpPr>
          <p:cNvPr id="49" name="Output chip"/>
          <p:cNvSpPr/>
          <p:nvPr/>
        </p:nvSpPr>
        <p:spPr>
          <a:xfrm>
            <a:off x="548640" y="5349240"/>
            <a:ext cx="3611880" cy="777240"/>
          </a:xfrm>
          <a:prstGeom prst="roundRect">
            <a:avLst>
              <a:gd name="adj" fmla="val 14118"/>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50" name="Icon dot"/>
          <p:cNvSpPr/>
          <p:nvPr/>
        </p:nvSpPr>
        <p:spPr>
          <a:xfrm>
            <a:off x="731520" y="5486400"/>
            <a:ext cx="502920" cy="502920"/>
          </a:xfrm>
          <a:prstGeom prst="ellipse">
            <a:avLst/>
          </a:prstGeom>
          <a:solidFill>
            <a:srgbClr val="1547C8"/>
          </a:solidFill>
          <a:ln w="12700">
            <a:solidFill>
              <a:srgbClr val="1547C8"/>
            </a:solidFill>
            <a:prstDash val="solid"/>
          </a:ln>
        </p:spPr>
      </p:sp>
      <p:pic>
        <p:nvPicPr>
          <p:cNvPr id="51" name="Image 0" descr="UserMd icon">    </p:cNvPr>
          <p:cNvPicPr>
            <a:picLocks noChangeAspect="1"/>
          </p:cNvPicPr>
          <p:nvPr/>
        </p:nvPicPr>
        <p:blipFill>
          <a:blip r:embed="rId11"/>
          <a:stretch>
            <a:fillRect/>
          </a:stretch>
        </p:blipFill>
        <p:spPr>
          <a:xfrm>
            <a:off x="862279" y="5617159"/>
            <a:ext cx="241402" cy="241402"/>
          </a:xfrm>
          <a:prstGeom prst="rect">
            <a:avLst/>
          </a:prstGeom>
        </p:spPr>
      </p:pic>
      <p:sp>
        <p:nvSpPr>
          <p:cNvPr id="52" name="Text 49"/>
          <p:cNvSpPr txBox="1"/>
          <p:nvPr/>
        </p:nvSpPr>
        <p:spPr>
          <a:xfrm>
            <a:off x="1417320" y="5440680"/>
            <a:ext cx="2651760" cy="274320"/>
          </a:xfrm>
          <a:prstGeom prst="rect">
            <a:avLst/>
          </a:prstGeom>
          <a:noFill/>
          <a:ln/>
        </p:spPr>
        <p:txBody>
          <a:bodyPr wrap="square" lIns="0" tIns="0" rIns="0" bIns="0" rtlCol="0" anchor="t"/>
          <a:lstStyle/>
          <a:p>
            <a:pPr indent="0" marL="0">
              <a:buNone/>
            </a:pPr>
            <a:r>
              <a:rPr lang="en-US" sz="1300" b="1" dirty="0">
                <a:solidFill>
                  <a:srgbClr val="1F2937"/>
                </a:solidFill>
              </a:rPr>
              <a:t>Member view</a:t>
            </a:r>
            <a:endParaRPr lang="en-US" sz="1300" dirty="0"/>
          </a:p>
        </p:txBody>
      </p:sp>
      <p:sp>
        <p:nvSpPr>
          <p:cNvPr id="53" name="Text 50"/>
          <p:cNvSpPr txBox="1"/>
          <p:nvPr/>
        </p:nvSpPr>
        <p:spPr>
          <a:xfrm>
            <a:off x="1417320" y="5733288"/>
            <a:ext cx="2651760" cy="274320"/>
          </a:xfrm>
          <a:prstGeom prst="rect">
            <a:avLst/>
          </a:prstGeom>
          <a:noFill/>
          <a:ln/>
        </p:spPr>
        <p:txBody>
          <a:bodyPr wrap="square" lIns="0" tIns="0" rIns="0" bIns="0" rtlCol="0" anchor="t"/>
          <a:lstStyle/>
          <a:p>
            <a:pPr indent="0" marL="0">
              <a:buNone/>
            </a:pPr>
            <a:r>
              <a:rPr lang="en-US" sz="1100" dirty="0">
                <a:solidFill>
                  <a:srgbClr val="5B6478"/>
                </a:solidFill>
              </a:rPr>
              <a:t>answer, plan items, sources</a:t>
            </a:r>
            <a:endParaRPr lang="en-US" sz="1100" dirty="0"/>
          </a:p>
        </p:txBody>
      </p:sp>
      <p:sp>
        <p:nvSpPr>
          <p:cNvPr id="54" name="Output chip"/>
          <p:cNvSpPr/>
          <p:nvPr/>
        </p:nvSpPr>
        <p:spPr>
          <a:xfrm>
            <a:off x="4297680" y="5349240"/>
            <a:ext cx="3611880" cy="777240"/>
          </a:xfrm>
          <a:prstGeom prst="roundRect">
            <a:avLst>
              <a:gd name="adj" fmla="val 14118"/>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55" name="Icon dot"/>
          <p:cNvSpPr/>
          <p:nvPr/>
        </p:nvSpPr>
        <p:spPr>
          <a:xfrm>
            <a:off x="4480560" y="5486400"/>
            <a:ext cx="502920" cy="502920"/>
          </a:xfrm>
          <a:prstGeom prst="ellipse">
            <a:avLst/>
          </a:prstGeom>
          <a:solidFill>
            <a:srgbClr val="0A1F5C"/>
          </a:solidFill>
          <a:ln w="12700">
            <a:solidFill>
              <a:srgbClr val="0A1F5C"/>
            </a:solidFill>
            <a:prstDash val="solid"/>
          </a:ln>
        </p:spPr>
      </p:sp>
      <p:pic>
        <p:nvPicPr>
          <p:cNvPr id="56" name="Image 1" descr="ClipboardList icon">    </p:cNvPr>
          <p:cNvPicPr>
            <a:picLocks noChangeAspect="1"/>
          </p:cNvPicPr>
          <p:nvPr/>
        </p:nvPicPr>
        <p:blipFill>
          <a:blip r:embed="rId12"/>
          <a:stretch>
            <a:fillRect/>
          </a:stretch>
        </p:blipFill>
        <p:spPr>
          <a:xfrm>
            <a:off x="4611319" y="5617159"/>
            <a:ext cx="241402" cy="241402"/>
          </a:xfrm>
          <a:prstGeom prst="rect">
            <a:avLst/>
          </a:prstGeom>
        </p:spPr>
      </p:pic>
      <p:sp>
        <p:nvSpPr>
          <p:cNvPr id="57" name="Text 53"/>
          <p:cNvSpPr txBox="1"/>
          <p:nvPr/>
        </p:nvSpPr>
        <p:spPr>
          <a:xfrm>
            <a:off x="5166360" y="5440680"/>
            <a:ext cx="2651760" cy="274320"/>
          </a:xfrm>
          <a:prstGeom prst="rect">
            <a:avLst/>
          </a:prstGeom>
          <a:noFill/>
          <a:ln/>
        </p:spPr>
        <p:txBody>
          <a:bodyPr wrap="square" lIns="0" tIns="0" rIns="0" bIns="0" rtlCol="0" anchor="t"/>
          <a:lstStyle/>
          <a:p>
            <a:pPr indent="0" marL="0">
              <a:buNone/>
            </a:pPr>
            <a:r>
              <a:rPr lang="en-US" sz="1300" b="1" dirty="0">
                <a:solidFill>
                  <a:srgbClr val="1F2937"/>
                </a:solidFill>
              </a:rPr>
              <a:t>Staff packet</a:t>
            </a:r>
            <a:endParaRPr lang="en-US" sz="1300" dirty="0"/>
          </a:p>
        </p:txBody>
      </p:sp>
      <p:sp>
        <p:nvSpPr>
          <p:cNvPr id="58" name="Text 54"/>
          <p:cNvSpPr txBox="1"/>
          <p:nvPr/>
        </p:nvSpPr>
        <p:spPr>
          <a:xfrm>
            <a:off x="5166360" y="5733288"/>
            <a:ext cx="2651760" cy="274320"/>
          </a:xfrm>
          <a:prstGeom prst="rect">
            <a:avLst/>
          </a:prstGeom>
          <a:noFill/>
          <a:ln/>
        </p:spPr>
        <p:txBody>
          <a:bodyPr wrap="square" lIns="0" tIns="0" rIns="0" bIns="0" rtlCol="0" anchor="t"/>
          <a:lstStyle/>
          <a:p>
            <a:pPr indent="0" marL="0">
              <a:buNone/>
            </a:pPr>
            <a:r>
              <a:rPr lang="en-US" sz="1100" dirty="0">
                <a:solidFill>
                  <a:srgbClr val="5B6478"/>
                </a:solidFill>
              </a:rPr>
              <a:t>readings, due actions, reasons</a:t>
            </a:r>
            <a:endParaRPr lang="en-US" sz="1100" dirty="0"/>
          </a:p>
        </p:txBody>
      </p:sp>
      <p:sp>
        <p:nvSpPr>
          <p:cNvPr id="59" name="Output chip"/>
          <p:cNvSpPr/>
          <p:nvPr/>
        </p:nvSpPr>
        <p:spPr>
          <a:xfrm>
            <a:off x="8046720" y="5349240"/>
            <a:ext cx="3611880" cy="777240"/>
          </a:xfrm>
          <a:prstGeom prst="roundRect">
            <a:avLst>
              <a:gd name="adj" fmla="val 14118"/>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60" name="Icon dot"/>
          <p:cNvSpPr/>
          <p:nvPr/>
        </p:nvSpPr>
        <p:spPr>
          <a:xfrm>
            <a:off x="8229600" y="5486400"/>
            <a:ext cx="502920" cy="502920"/>
          </a:xfrm>
          <a:prstGeom prst="ellipse">
            <a:avLst/>
          </a:prstGeom>
          <a:solidFill>
            <a:srgbClr val="12A36B"/>
          </a:solidFill>
          <a:ln w="12700">
            <a:solidFill>
              <a:srgbClr val="12A36B"/>
            </a:solidFill>
            <a:prstDash val="solid"/>
          </a:ln>
        </p:spPr>
      </p:sp>
      <p:pic>
        <p:nvPicPr>
          <p:cNvPr id="61" name="Image 2" descr="ShieldAlt icon">    </p:cNvPr>
          <p:cNvPicPr>
            <a:picLocks noChangeAspect="1"/>
          </p:cNvPicPr>
          <p:nvPr/>
        </p:nvPicPr>
        <p:blipFill>
          <a:blip r:embed="rId13"/>
          <a:stretch>
            <a:fillRect/>
          </a:stretch>
        </p:blipFill>
        <p:spPr>
          <a:xfrm>
            <a:off x="8360359" y="5617159"/>
            <a:ext cx="241402" cy="241402"/>
          </a:xfrm>
          <a:prstGeom prst="rect">
            <a:avLst/>
          </a:prstGeom>
        </p:spPr>
      </p:pic>
      <p:sp>
        <p:nvSpPr>
          <p:cNvPr id="62" name="Text 57"/>
          <p:cNvSpPr txBox="1"/>
          <p:nvPr/>
        </p:nvSpPr>
        <p:spPr>
          <a:xfrm>
            <a:off x="8915400" y="5440680"/>
            <a:ext cx="2651760" cy="274320"/>
          </a:xfrm>
          <a:prstGeom prst="rect">
            <a:avLst/>
          </a:prstGeom>
          <a:noFill/>
          <a:ln/>
        </p:spPr>
        <p:txBody>
          <a:bodyPr wrap="square" lIns="0" tIns="0" rIns="0" bIns="0" rtlCol="0" anchor="t"/>
          <a:lstStyle/>
          <a:p>
            <a:pPr indent="0" marL="0">
              <a:buNone/>
            </a:pPr>
            <a:r>
              <a:rPr lang="en-US" sz="1300" b="1" dirty="0">
                <a:solidFill>
                  <a:srgbClr val="1F2937"/>
                </a:solidFill>
              </a:rPr>
              <a:t>Audit record</a:t>
            </a:r>
            <a:endParaRPr lang="en-US" sz="1300" dirty="0"/>
          </a:p>
        </p:txBody>
      </p:sp>
      <p:sp>
        <p:nvSpPr>
          <p:cNvPr id="63" name="Text 58"/>
          <p:cNvSpPr txBox="1"/>
          <p:nvPr/>
        </p:nvSpPr>
        <p:spPr>
          <a:xfrm>
            <a:off x="8915400" y="5733288"/>
            <a:ext cx="2651760" cy="274320"/>
          </a:xfrm>
          <a:prstGeom prst="rect">
            <a:avLst/>
          </a:prstGeom>
          <a:noFill/>
          <a:ln/>
        </p:spPr>
        <p:txBody>
          <a:bodyPr wrap="square" lIns="0" tIns="0" rIns="0" bIns="0" rtlCol="0" anchor="t"/>
          <a:lstStyle/>
          <a:p>
            <a:pPr indent="0" marL="0">
              <a:buNone/>
            </a:pPr>
            <a:r>
              <a:rPr lang="en-US" sz="1100" dirty="0">
                <a:solidFill>
                  <a:srgbClr val="5B6478"/>
                </a:solidFill>
              </a:rPr>
              <a:t>masked ID, no message text</a:t>
            </a:r>
            <a:endParaRPr lang="en-US" sz="11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03  ·  KNOWLEDGE AND RAG</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RAG: grounded answers, or an honest gap</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RAG</a:t>
            </a:r>
            <a:endParaRPr lang="en-US" sz="950" dirty="0"/>
          </a:p>
        </p:txBody>
      </p:sp>
      <p:sp>
        <p:nvSpPr>
          <p:cNvPr id="10" name="Shape 8"/>
          <p:cNvSpPr/>
          <p:nvPr/>
        </p:nvSpPr>
        <p:spPr>
          <a:xfrm>
            <a:off x="5655564" y="6309360"/>
            <a:ext cx="73152" cy="73152"/>
          </a:xfrm>
          <a:prstGeom prst="ellipse">
            <a:avLst/>
          </a:prstGeom>
          <a:solidFill>
            <a:srgbClr val="1547C8"/>
          </a:solidFill>
          <a:ln w="12700">
            <a:solidFill>
              <a:srgbClr val="1547C8"/>
            </a:solidFill>
            <a:prstDash val="solid"/>
          </a:ln>
        </p:spPr>
      </p:sp>
      <p:sp>
        <p:nvSpPr>
          <p:cNvPr id="11" name="Text 9"/>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2" name="Text 10"/>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3" name="Text 11"/>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Stair step"/>
          <p:cNvSpPr/>
          <p:nvPr/>
        </p:nvSpPr>
        <p:spPr>
          <a:xfrm>
            <a:off x="548640" y="1417320"/>
            <a:ext cx="2606040" cy="1234440"/>
          </a:xfrm>
          <a:prstGeom prst="roundRect">
            <a:avLst>
              <a:gd name="adj" fmla="val 8889"/>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17" name="Icon dot"/>
          <p:cNvSpPr/>
          <p:nvPr/>
        </p:nvSpPr>
        <p:spPr>
          <a:xfrm>
            <a:off x="731520" y="1600200"/>
            <a:ext cx="502920" cy="502920"/>
          </a:xfrm>
          <a:prstGeom prst="ellipse">
            <a:avLst/>
          </a:prstGeom>
          <a:solidFill>
            <a:srgbClr val="1547C8"/>
          </a:solidFill>
          <a:ln w="12700">
            <a:solidFill>
              <a:srgbClr val="1547C8"/>
            </a:solidFill>
            <a:prstDash val="solid"/>
          </a:ln>
        </p:spPr>
      </p:sp>
      <p:pic>
        <p:nvPicPr>
          <p:cNvPr id="18" name="Image 0" descr="Cloud icon">    </p:cNvPr>
          <p:cNvPicPr>
            <a:picLocks noChangeAspect="1"/>
          </p:cNvPicPr>
          <p:nvPr/>
        </p:nvPicPr>
        <p:blipFill>
          <a:blip r:embed="rId11"/>
          <a:stretch>
            <a:fillRect/>
          </a:stretch>
        </p:blipFill>
        <p:spPr>
          <a:xfrm>
            <a:off x="862279" y="1730959"/>
            <a:ext cx="241402" cy="241402"/>
          </a:xfrm>
          <a:prstGeom prst="rect">
            <a:avLst/>
          </a:prstGeom>
        </p:spPr>
      </p:pic>
      <p:sp>
        <p:nvSpPr>
          <p:cNvPr id="19" name="Text 16"/>
          <p:cNvSpPr txBox="1"/>
          <p:nvPr/>
        </p:nvSpPr>
        <p:spPr>
          <a:xfrm>
            <a:off x="731520" y="2167128"/>
            <a:ext cx="2286000" cy="256032"/>
          </a:xfrm>
          <a:prstGeom prst="rect">
            <a:avLst/>
          </a:prstGeom>
          <a:noFill/>
          <a:ln/>
        </p:spPr>
        <p:txBody>
          <a:bodyPr wrap="square" lIns="0" tIns="0" rIns="0" bIns="0" rtlCol="0" anchor="t"/>
          <a:lstStyle/>
          <a:p>
            <a:pPr indent="0" marL="0">
              <a:buNone/>
            </a:pPr>
            <a:r>
              <a:rPr lang="en-US" sz="1400" b="1" dirty="0">
                <a:solidFill>
                  <a:srgbClr val="1F2937"/>
                </a:solidFill>
              </a:rPr>
              <a:t>Blob Storage</a:t>
            </a:r>
            <a:endParaRPr lang="en-US" sz="1400" dirty="0"/>
          </a:p>
        </p:txBody>
      </p:sp>
      <p:sp>
        <p:nvSpPr>
          <p:cNvPr id="20" name="Text 17"/>
          <p:cNvSpPr txBox="1"/>
          <p:nvPr/>
        </p:nvSpPr>
        <p:spPr>
          <a:xfrm>
            <a:off x="731520" y="2404872"/>
            <a:ext cx="2286000" cy="228600"/>
          </a:xfrm>
          <a:prstGeom prst="rect">
            <a:avLst/>
          </a:prstGeom>
          <a:noFill/>
          <a:ln/>
        </p:spPr>
        <p:txBody>
          <a:bodyPr wrap="square" lIns="0" tIns="0" rIns="0" bIns="0" rtlCol="0" anchor="t"/>
          <a:lstStyle/>
          <a:p>
            <a:pPr indent="0" marL="0">
              <a:buNone/>
            </a:pPr>
            <a:r>
              <a:rPr lang="en-US" sz="1050" dirty="0">
                <a:solidFill>
                  <a:srgbClr val="5B6478"/>
                </a:solidFill>
              </a:rPr>
              <a:t>Approved Markdown articles</a:t>
            </a:r>
            <a:endParaRPr lang="en-US" sz="1050" dirty="0"/>
          </a:p>
        </p:txBody>
      </p:sp>
      <p:sp>
        <p:nvSpPr>
          <p:cNvPr id="21" name="Text 18"/>
          <p:cNvSpPr txBox="1"/>
          <p:nvPr/>
        </p:nvSpPr>
        <p:spPr>
          <a:xfrm>
            <a:off x="2560320" y="1581912"/>
            <a:ext cx="457200" cy="365760"/>
          </a:xfrm>
          <a:prstGeom prst="rect">
            <a:avLst/>
          </a:prstGeom>
          <a:noFill/>
          <a:ln/>
        </p:spPr>
        <p:txBody>
          <a:bodyPr wrap="square" lIns="0" tIns="0" rIns="0" bIns="0" rtlCol="0" anchor="t"/>
          <a:lstStyle/>
          <a:p>
            <a:pPr algn="r" indent="0" marL="0">
              <a:buNone/>
            </a:pPr>
            <a:r>
              <a:rPr lang="en-US" sz="2200" b="1" dirty="0">
                <a:solidFill>
                  <a:srgbClr val="1547C8"/>
                </a:solidFill>
              </a:rPr>
              <a:t>1</a:t>
            </a:r>
            <a:endParaRPr lang="en-US" sz="2200" dirty="0"/>
          </a:p>
        </p:txBody>
      </p:sp>
      <p:pic>
        <p:nvPicPr>
          <p:cNvPr id="22" name="Image 1" descr="Next">    </p:cNvPr>
          <p:cNvPicPr>
            <a:picLocks noChangeAspect="1"/>
          </p:cNvPicPr>
          <p:nvPr/>
        </p:nvPicPr>
        <p:blipFill>
          <a:blip r:embed="rId12"/>
          <a:stretch>
            <a:fillRect/>
          </a:stretch>
        </p:blipFill>
        <p:spPr>
          <a:xfrm>
            <a:off x="3246120" y="1920240"/>
            <a:ext cx="201168" cy="201168"/>
          </a:xfrm>
          <a:prstGeom prst="rect">
            <a:avLst/>
          </a:prstGeom>
        </p:spPr>
      </p:pic>
      <p:sp>
        <p:nvSpPr>
          <p:cNvPr id="23" name="Stair step"/>
          <p:cNvSpPr/>
          <p:nvPr/>
        </p:nvSpPr>
        <p:spPr>
          <a:xfrm>
            <a:off x="3383280" y="2057400"/>
            <a:ext cx="2606040" cy="1234440"/>
          </a:xfrm>
          <a:prstGeom prst="roundRect">
            <a:avLst>
              <a:gd name="adj" fmla="val 8889"/>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4" name="Icon dot"/>
          <p:cNvSpPr/>
          <p:nvPr/>
        </p:nvSpPr>
        <p:spPr>
          <a:xfrm>
            <a:off x="3566160" y="2240280"/>
            <a:ext cx="502920" cy="502920"/>
          </a:xfrm>
          <a:prstGeom prst="ellipse">
            <a:avLst/>
          </a:prstGeom>
          <a:solidFill>
            <a:srgbClr val="1547C8"/>
          </a:solidFill>
          <a:ln w="12700">
            <a:solidFill>
              <a:srgbClr val="1547C8"/>
            </a:solidFill>
            <a:prstDash val="solid"/>
          </a:ln>
        </p:spPr>
      </p:sp>
      <p:pic>
        <p:nvPicPr>
          <p:cNvPr id="25" name="Image 2" descr="Search icon">    </p:cNvPr>
          <p:cNvPicPr>
            <a:picLocks noChangeAspect="1"/>
          </p:cNvPicPr>
          <p:nvPr/>
        </p:nvPicPr>
        <p:blipFill>
          <a:blip r:embed="rId13"/>
          <a:stretch>
            <a:fillRect/>
          </a:stretch>
        </p:blipFill>
        <p:spPr>
          <a:xfrm>
            <a:off x="3696919" y="2371039"/>
            <a:ext cx="241402" cy="241402"/>
          </a:xfrm>
          <a:prstGeom prst="rect">
            <a:avLst/>
          </a:prstGeom>
        </p:spPr>
      </p:pic>
      <p:sp>
        <p:nvSpPr>
          <p:cNvPr id="26" name="Text 21"/>
          <p:cNvSpPr txBox="1"/>
          <p:nvPr/>
        </p:nvSpPr>
        <p:spPr>
          <a:xfrm>
            <a:off x="3566160" y="2807208"/>
            <a:ext cx="2286000" cy="256032"/>
          </a:xfrm>
          <a:prstGeom prst="rect">
            <a:avLst/>
          </a:prstGeom>
          <a:noFill/>
          <a:ln/>
        </p:spPr>
        <p:txBody>
          <a:bodyPr wrap="square" lIns="0" tIns="0" rIns="0" bIns="0" rtlCol="0" anchor="t"/>
          <a:lstStyle/>
          <a:p>
            <a:pPr indent="0" marL="0">
              <a:buNone/>
            </a:pPr>
            <a:r>
              <a:rPr lang="en-US" sz="1400" b="1" dirty="0">
                <a:solidFill>
                  <a:srgbClr val="1F2937"/>
                </a:solidFill>
              </a:rPr>
              <a:t>Azure AI Search</a:t>
            </a:r>
            <a:endParaRPr lang="en-US" sz="1400" dirty="0"/>
          </a:p>
        </p:txBody>
      </p:sp>
      <p:sp>
        <p:nvSpPr>
          <p:cNvPr id="27" name="Text 22"/>
          <p:cNvSpPr txBox="1"/>
          <p:nvPr/>
        </p:nvSpPr>
        <p:spPr>
          <a:xfrm>
            <a:off x="3566160" y="3044952"/>
            <a:ext cx="2286000" cy="228600"/>
          </a:xfrm>
          <a:prstGeom prst="rect">
            <a:avLst/>
          </a:prstGeom>
          <a:noFill/>
          <a:ln/>
        </p:spPr>
        <p:txBody>
          <a:bodyPr wrap="square" lIns="0" tIns="0" rIns="0" bIns="0" rtlCol="0" anchor="t"/>
          <a:lstStyle/>
          <a:p>
            <a:pPr indent="0" marL="0">
              <a:buNone/>
            </a:pPr>
            <a:r>
              <a:rPr lang="en-US" sz="1050" dirty="0">
                <a:solidFill>
                  <a:srgbClr val="5B6478"/>
                </a:solidFill>
              </a:rPr>
              <a:t>Education, FAQ, Care-plan indexes</a:t>
            </a:r>
            <a:endParaRPr lang="en-US" sz="1050" dirty="0"/>
          </a:p>
        </p:txBody>
      </p:sp>
      <p:sp>
        <p:nvSpPr>
          <p:cNvPr id="28" name="Text 23"/>
          <p:cNvSpPr txBox="1"/>
          <p:nvPr/>
        </p:nvSpPr>
        <p:spPr>
          <a:xfrm>
            <a:off x="5394960" y="2221992"/>
            <a:ext cx="457200" cy="365760"/>
          </a:xfrm>
          <a:prstGeom prst="rect">
            <a:avLst/>
          </a:prstGeom>
          <a:noFill/>
          <a:ln/>
        </p:spPr>
        <p:txBody>
          <a:bodyPr wrap="square" lIns="0" tIns="0" rIns="0" bIns="0" rtlCol="0" anchor="t"/>
          <a:lstStyle/>
          <a:p>
            <a:pPr algn="r" indent="0" marL="0">
              <a:buNone/>
            </a:pPr>
            <a:r>
              <a:rPr lang="en-US" sz="2200" b="1" dirty="0">
                <a:solidFill>
                  <a:srgbClr val="1547C8"/>
                </a:solidFill>
              </a:rPr>
              <a:t>2</a:t>
            </a:r>
            <a:endParaRPr lang="en-US" sz="2200" dirty="0"/>
          </a:p>
        </p:txBody>
      </p:sp>
      <p:pic>
        <p:nvPicPr>
          <p:cNvPr id="29" name="Image 3" descr="Next">    </p:cNvPr>
          <p:cNvPicPr>
            <a:picLocks noChangeAspect="1"/>
          </p:cNvPicPr>
          <p:nvPr/>
        </p:nvPicPr>
        <p:blipFill>
          <a:blip r:embed="rId14"/>
          <a:stretch>
            <a:fillRect/>
          </a:stretch>
        </p:blipFill>
        <p:spPr>
          <a:xfrm>
            <a:off x="6080760" y="2560320"/>
            <a:ext cx="201168" cy="201168"/>
          </a:xfrm>
          <a:prstGeom prst="rect">
            <a:avLst/>
          </a:prstGeom>
        </p:spPr>
      </p:pic>
      <p:sp>
        <p:nvSpPr>
          <p:cNvPr id="30" name="Stair step"/>
          <p:cNvSpPr/>
          <p:nvPr/>
        </p:nvSpPr>
        <p:spPr>
          <a:xfrm>
            <a:off x="6217920" y="2697480"/>
            <a:ext cx="2606040" cy="1234440"/>
          </a:xfrm>
          <a:prstGeom prst="roundRect">
            <a:avLst>
              <a:gd name="adj" fmla="val 8889"/>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1" name="Icon dot"/>
          <p:cNvSpPr/>
          <p:nvPr/>
        </p:nvSpPr>
        <p:spPr>
          <a:xfrm>
            <a:off x="6400800" y="2880360"/>
            <a:ext cx="502920" cy="502920"/>
          </a:xfrm>
          <a:prstGeom prst="ellipse">
            <a:avLst/>
          </a:prstGeom>
          <a:solidFill>
            <a:srgbClr val="1547C8"/>
          </a:solidFill>
          <a:ln w="12700">
            <a:solidFill>
              <a:srgbClr val="1547C8"/>
            </a:solidFill>
            <a:prstDash val="solid"/>
          </a:ln>
        </p:spPr>
      </p:sp>
      <p:pic>
        <p:nvPicPr>
          <p:cNvPr id="32" name="Image 4" descr="BookMedical icon">    </p:cNvPr>
          <p:cNvPicPr>
            <a:picLocks noChangeAspect="1"/>
          </p:cNvPicPr>
          <p:nvPr/>
        </p:nvPicPr>
        <p:blipFill>
          <a:blip r:embed="rId15"/>
          <a:stretch>
            <a:fillRect/>
          </a:stretch>
        </p:blipFill>
        <p:spPr>
          <a:xfrm>
            <a:off x="6531559" y="3011119"/>
            <a:ext cx="241402" cy="241402"/>
          </a:xfrm>
          <a:prstGeom prst="rect">
            <a:avLst/>
          </a:prstGeom>
        </p:spPr>
      </p:pic>
      <p:sp>
        <p:nvSpPr>
          <p:cNvPr id="33" name="Text 26"/>
          <p:cNvSpPr txBox="1"/>
          <p:nvPr/>
        </p:nvSpPr>
        <p:spPr>
          <a:xfrm>
            <a:off x="6400800" y="3447288"/>
            <a:ext cx="2286000" cy="256032"/>
          </a:xfrm>
          <a:prstGeom prst="rect">
            <a:avLst/>
          </a:prstGeom>
          <a:noFill/>
          <a:ln/>
        </p:spPr>
        <p:txBody>
          <a:bodyPr wrap="square" lIns="0" tIns="0" rIns="0" bIns="0" rtlCol="0" anchor="t"/>
          <a:lstStyle/>
          <a:p>
            <a:pPr indent="0" marL="0">
              <a:buNone/>
            </a:pPr>
            <a:r>
              <a:rPr lang="en-US" sz="1400" b="1" dirty="0">
                <a:solidFill>
                  <a:srgbClr val="1F2937"/>
                </a:solidFill>
              </a:rPr>
              <a:t>Education RAG agent</a:t>
            </a:r>
            <a:endParaRPr lang="en-US" sz="1400" dirty="0"/>
          </a:p>
        </p:txBody>
      </p:sp>
      <p:sp>
        <p:nvSpPr>
          <p:cNvPr id="34" name="Text 27"/>
          <p:cNvSpPr txBox="1"/>
          <p:nvPr/>
        </p:nvSpPr>
        <p:spPr>
          <a:xfrm>
            <a:off x="6400800" y="3685032"/>
            <a:ext cx="2286000" cy="228600"/>
          </a:xfrm>
          <a:prstGeom prst="rect">
            <a:avLst/>
          </a:prstGeom>
          <a:noFill/>
          <a:ln/>
        </p:spPr>
        <p:txBody>
          <a:bodyPr wrap="square" lIns="0" tIns="0" rIns="0" bIns="0" rtlCol="0" anchor="t"/>
          <a:lstStyle/>
          <a:p>
            <a:pPr indent="0" marL="0">
              <a:buNone/>
            </a:pPr>
            <a:r>
              <a:rPr lang="en-US" sz="1050" dirty="0">
                <a:solidFill>
                  <a:srgbClr val="5B6478"/>
                </a:solidFill>
              </a:rPr>
              <a:t>Answers only from retrieved text</a:t>
            </a:r>
            <a:endParaRPr lang="en-US" sz="1050" dirty="0"/>
          </a:p>
        </p:txBody>
      </p:sp>
      <p:sp>
        <p:nvSpPr>
          <p:cNvPr id="35" name="Text 28"/>
          <p:cNvSpPr txBox="1"/>
          <p:nvPr/>
        </p:nvSpPr>
        <p:spPr>
          <a:xfrm>
            <a:off x="8229600" y="2862072"/>
            <a:ext cx="457200" cy="365760"/>
          </a:xfrm>
          <a:prstGeom prst="rect">
            <a:avLst/>
          </a:prstGeom>
          <a:noFill/>
          <a:ln/>
        </p:spPr>
        <p:txBody>
          <a:bodyPr wrap="square" lIns="0" tIns="0" rIns="0" bIns="0" rtlCol="0" anchor="t"/>
          <a:lstStyle/>
          <a:p>
            <a:pPr algn="r" indent="0" marL="0">
              <a:buNone/>
            </a:pPr>
            <a:r>
              <a:rPr lang="en-US" sz="2200" b="1" dirty="0">
                <a:solidFill>
                  <a:srgbClr val="1547C8"/>
                </a:solidFill>
              </a:rPr>
              <a:t>3</a:t>
            </a:r>
            <a:endParaRPr lang="en-US" sz="2200" dirty="0"/>
          </a:p>
        </p:txBody>
      </p:sp>
      <p:pic>
        <p:nvPicPr>
          <p:cNvPr id="36" name="Image 5" descr="Next">    </p:cNvPr>
          <p:cNvPicPr>
            <a:picLocks noChangeAspect="1"/>
          </p:cNvPicPr>
          <p:nvPr/>
        </p:nvPicPr>
        <p:blipFill>
          <a:blip r:embed="rId16"/>
          <a:stretch>
            <a:fillRect/>
          </a:stretch>
        </p:blipFill>
        <p:spPr>
          <a:xfrm>
            <a:off x="8915400" y="3200400"/>
            <a:ext cx="201168" cy="201168"/>
          </a:xfrm>
          <a:prstGeom prst="rect">
            <a:avLst/>
          </a:prstGeom>
        </p:spPr>
      </p:pic>
      <p:sp>
        <p:nvSpPr>
          <p:cNvPr id="37" name="Stair step"/>
          <p:cNvSpPr/>
          <p:nvPr/>
        </p:nvSpPr>
        <p:spPr>
          <a:xfrm>
            <a:off x="9052560" y="3337560"/>
            <a:ext cx="2606040" cy="1234440"/>
          </a:xfrm>
          <a:prstGeom prst="roundRect">
            <a:avLst>
              <a:gd name="adj" fmla="val 8889"/>
            </a:avLst>
          </a:prstGeom>
          <a:solidFill>
            <a:srgbClr val="0A1F5C"/>
          </a:solidFill>
          <a:ln w="12700">
            <a:solidFill>
              <a:srgbClr val="0A1F5C"/>
            </a:solidFill>
            <a:prstDash val="solid"/>
          </a:ln>
          <a:effectLst>
            <a:outerShdw sx="100000" sy="100000" kx="0" ky="0" algn="bl" rotWithShape="0" blurRad="127000" dist="25400" dir="5400000">
              <a:srgbClr val="1F2937">
                <a:alpha val="9000"/>
              </a:srgbClr>
            </a:outerShdw>
          </a:effectLst>
        </p:spPr>
      </p:sp>
      <p:sp>
        <p:nvSpPr>
          <p:cNvPr id="38" name="Icon dot"/>
          <p:cNvSpPr/>
          <p:nvPr/>
        </p:nvSpPr>
        <p:spPr>
          <a:xfrm>
            <a:off x="9235440" y="3520440"/>
            <a:ext cx="502920" cy="502920"/>
          </a:xfrm>
          <a:prstGeom prst="ellipse">
            <a:avLst/>
          </a:prstGeom>
          <a:solidFill>
            <a:srgbClr val="3CC3F0"/>
          </a:solidFill>
          <a:ln w="12700">
            <a:solidFill>
              <a:srgbClr val="3CC3F0"/>
            </a:solidFill>
            <a:prstDash val="solid"/>
          </a:ln>
        </p:spPr>
      </p:sp>
      <p:pic>
        <p:nvPicPr>
          <p:cNvPr id="39" name="Image 6" descr="CheckCircle icon">    </p:cNvPr>
          <p:cNvPicPr>
            <a:picLocks noChangeAspect="1"/>
          </p:cNvPicPr>
          <p:nvPr/>
        </p:nvPicPr>
        <p:blipFill>
          <a:blip r:embed="rId17"/>
          <a:stretch>
            <a:fillRect/>
          </a:stretch>
        </p:blipFill>
        <p:spPr>
          <a:xfrm>
            <a:off x="9366199" y="3651199"/>
            <a:ext cx="241402" cy="241402"/>
          </a:xfrm>
          <a:prstGeom prst="rect">
            <a:avLst/>
          </a:prstGeom>
        </p:spPr>
      </p:pic>
      <p:sp>
        <p:nvSpPr>
          <p:cNvPr id="40" name="Text 31"/>
          <p:cNvSpPr txBox="1"/>
          <p:nvPr/>
        </p:nvSpPr>
        <p:spPr>
          <a:xfrm>
            <a:off x="9235440" y="4087368"/>
            <a:ext cx="2286000" cy="256032"/>
          </a:xfrm>
          <a:prstGeom prst="rect">
            <a:avLst/>
          </a:prstGeom>
          <a:noFill/>
          <a:ln/>
        </p:spPr>
        <p:txBody>
          <a:bodyPr wrap="square" lIns="0" tIns="0" rIns="0" bIns="0" rtlCol="0" anchor="t"/>
          <a:lstStyle/>
          <a:p>
            <a:pPr indent="0" marL="0">
              <a:buNone/>
            </a:pPr>
            <a:r>
              <a:rPr lang="en-US" sz="1400" b="1" dirty="0">
                <a:solidFill>
                  <a:srgbClr val="FFFFFF"/>
                </a:solidFill>
              </a:rPr>
              <a:t>Citation validator</a:t>
            </a:r>
            <a:endParaRPr lang="en-US" sz="1400" dirty="0"/>
          </a:p>
        </p:txBody>
      </p:sp>
      <p:sp>
        <p:nvSpPr>
          <p:cNvPr id="41" name="Text 32"/>
          <p:cNvSpPr txBox="1"/>
          <p:nvPr/>
        </p:nvSpPr>
        <p:spPr>
          <a:xfrm>
            <a:off x="9235440" y="4325112"/>
            <a:ext cx="2286000" cy="228600"/>
          </a:xfrm>
          <a:prstGeom prst="rect">
            <a:avLst/>
          </a:prstGeom>
          <a:noFill/>
          <a:ln/>
        </p:spPr>
        <p:txBody>
          <a:bodyPr wrap="square" lIns="0" tIns="0" rIns="0" bIns="0" rtlCol="0" anchor="t"/>
          <a:lstStyle/>
          <a:p>
            <a:pPr indent="0" marL="0">
              <a:buNone/>
            </a:pPr>
            <a:r>
              <a:rPr lang="en-US" sz="1050" dirty="0">
                <a:solidFill>
                  <a:srgbClr val="CFE0FF"/>
                </a:solidFill>
              </a:rPr>
              <a:t>Code checks before anyone sees it</a:t>
            </a:r>
            <a:endParaRPr lang="en-US" sz="1050" dirty="0"/>
          </a:p>
        </p:txBody>
      </p:sp>
      <p:sp>
        <p:nvSpPr>
          <p:cNvPr id="42" name="Text 33"/>
          <p:cNvSpPr txBox="1"/>
          <p:nvPr/>
        </p:nvSpPr>
        <p:spPr>
          <a:xfrm>
            <a:off x="11064240" y="3502152"/>
            <a:ext cx="457200" cy="365760"/>
          </a:xfrm>
          <a:prstGeom prst="rect">
            <a:avLst/>
          </a:prstGeom>
          <a:noFill/>
          <a:ln/>
        </p:spPr>
        <p:txBody>
          <a:bodyPr wrap="square" lIns="0" tIns="0" rIns="0" bIns="0" rtlCol="0" anchor="t"/>
          <a:lstStyle/>
          <a:p>
            <a:pPr algn="r" indent="0" marL="0">
              <a:buNone/>
            </a:pPr>
            <a:r>
              <a:rPr lang="en-US" sz="2200" b="1" dirty="0">
                <a:solidFill>
                  <a:srgbClr val="3CC3F0"/>
                </a:solidFill>
              </a:rPr>
              <a:t>4</a:t>
            </a:r>
            <a:endParaRPr lang="en-US" sz="2200" dirty="0"/>
          </a:p>
        </p:txBody>
      </p:sp>
      <p:sp>
        <p:nvSpPr>
          <p:cNvPr id="43" name="Validator checks"/>
          <p:cNvSpPr/>
          <p:nvPr/>
        </p:nvSpPr>
        <p:spPr>
          <a:xfrm>
            <a:off x="548640" y="3840480"/>
            <a:ext cx="5120640" cy="2286000"/>
          </a:xfrm>
          <a:prstGeom prst="roundRect">
            <a:avLst>
              <a:gd name="adj" fmla="val 4800"/>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44" name="Text 35"/>
          <p:cNvSpPr txBox="1"/>
          <p:nvPr/>
        </p:nvSpPr>
        <p:spPr>
          <a:xfrm>
            <a:off x="822960" y="4041648"/>
            <a:ext cx="4114800" cy="228600"/>
          </a:xfrm>
          <a:prstGeom prst="rect">
            <a:avLst/>
          </a:prstGeom>
          <a:noFill/>
          <a:ln/>
        </p:spPr>
        <p:txBody>
          <a:bodyPr wrap="square" lIns="0" tIns="0" rIns="0" bIns="0" rtlCol="0" anchor="t"/>
          <a:lstStyle/>
          <a:p>
            <a:pPr indent="0" marL="0">
              <a:buNone/>
            </a:pPr>
            <a:r>
              <a:rPr lang="en-US" sz="1050" b="1" spc="300" kern="0" dirty="0">
                <a:solidFill>
                  <a:srgbClr val="1547C8"/>
                </a:solidFill>
              </a:rPr>
              <a:t>THE VALIDATOR CHECKS</a:t>
            </a:r>
            <a:endParaRPr lang="en-US" sz="1050" dirty="0"/>
          </a:p>
        </p:txBody>
      </p:sp>
      <p:pic>
        <p:nvPicPr>
          <p:cNvPr id="45" name="Image 7" descr="Check">    </p:cNvPr>
          <p:cNvPicPr>
            <a:picLocks noChangeAspect="1"/>
          </p:cNvPicPr>
          <p:nvPr/>
        </p:nvPicPr>
        <p:blipFill>
          <a:blip r:embed="rId18"/>
          <a:stretch>
            <a:fillRect/>
          </a:stretch>
        </p:blipFill>
        <p:spPr>
          <a:xfrm>
            <a:off x="822960" y="4462272"/>
            <a:ext cx="237744" cy="237744"/>
          </a:xfrm>
          <a:prstGeom prst="rect">
            <a:avLst/>
          </a:prstGeom>
        </p:spPr>
      </p:pic>
      <p:sp>
        <p:nvSpPr>
          <p:cNvPr id="46" name="Text 36"/>
          <p:cNvSpPr txBox="1"/>
          <p:nvPr/>
        </p:nvSpPr>
        <p:spPr>
          <a:xfrm>
            <a:off x="1234440" y="4434840"/>
            <a:ext cx="4206240" cy="310896"/>
          </a:xfrm>
          <a:prstGeom prst="rect">
            <a:avLst/>
          </a:prstGeom>
          <a:noFill/>
          <a:ln/>
        </p:spPr>
        <p:txBody>
          <a:bodyPr wrap="square" lIns="0" tIns="0" rIns="0" bIns="0" rtlCol="0" anchor="ctr"/>
          <a:lstStyle/>
          <a:p>
            <a:pPr indent="0" marL="0">
              <a:buNone/>
            </a:pPr>
            <a:r>
              <a:rPr lang="en-US" sz="1350" dirty="0">
                <a:solidFill>
                  <a:srgbClr val="1F2937"/>
                </a:solidFill>
              </a:rPr>
              <a:t>The article ID exists</a:t>
            </a:r>
            <a:endParaRPr lang="en-US" sz="1350" dirty="0"/>
          </a:p>
        </p:txBody>
      </p:sp>
      <p:pic>
        <p:nvPicPr>
          <p:cNvPr id="47" name="Image 8" descr="Check">    </p:cNvPr>
          <p:cNvPicPr>
            <a:picLocks noChangeAspect="1"/>
          </p:cNvPicPr>
          <p:nvPr/>
        </p:nvPicPr>
        <p:blipFill>
          <a:blip r:embed="rId19"/>
          <a:stretch>
            <a:fillRect/>
          </a:stretch>
        </p:blipFill>
        <p:spPr>
          <a:xfrm>
            <a:off x="822960" y="4846320"/>
            <a:ext cx="237744" cy="237744"/>
          </a:xfrm>
          <a:prstGeom prst="rect">
            <a:avLst/>
          </a:prstGeom>
        </p:spPr>
      </p:pic>
      <p:sp>
        <p:nvSpPr>
          <p:cNvPr id="48" name="Text 37"/>
          <p:cNvSpPr txBox="1"/>
          <p:nvPr/>
        </p:nvSpPr>
        <p:spPr>
          <a:xfrm>
            <a:off x="1234440" y="4818888"/>
            <a:ext cx="4206240" cy="310896"/>
          </a:xfrm>
          <a:prstGeom prst="rect">
            <a:avLst/>
          </a:prstGeom>
          <a:noFill/>
          <a:ln/>
        </p:spPr>
        <p:txBody>
          <a:bodyPr wrap="square" lIns="0" tIns="0" rIns="0" bIns="0" rtlCol="0" anchor="ctr"/>
          <a:lstStyle/>
          <a:p>
            <a:pPr indent="0" marL="0">
              <a:buNone/>
            </a:pPr>
            <a:r>
              <a:rPr lang="en-US" sz="1350" dirty="0">
                <a:solidFill>
                  <a:srgbClr val="1F2937"/>
                </a:solidFill>
              </a:rPr>
              <a:t>Its status is Approved</a:t>
            </a:r>
            <a:endParaRPr lang="en-US" sz="1350" dirty="0"/>
          </a:p>
        </p:txBody>
      </p:sp>
      <p:pic>
        <p:nvPicPr>
          <p:cNvPr id="49" name="Image 9" descr="Check">    </p:cNvPr>
          <p:cNvPicPr>
            <a:picLocks noChangeAspect="1"/>
          </p:cNvPicPr>
          <p:nvPr/>
        </p:nvPicPr>
        <p:blipFill>
          <a:blip r:embed="rId20"/>
          <a:stretch>
            <a:fillRect/>
          </a:stretch>
        </p:blipFill>
        <p:spPr>
          <a:xfrm>
            <a:off x="822960" y="5230368"/>
            <a:ext cx="237744" cy="237744"/>
          </a:xfrm>
          <a:prstGeom prst="rect">
            <a:avLst/>
          </a:prstGeom>
        </p:spPr>
      </p:pic>
      <p:sp>
        <p:nvSpPr>
          <p:cNvPr id="50" name="Text 38"/>
          <p:cNvSpPr txBox="1"/>
          <p:nvPr/>
        </p:nvSpPr>
        <p:spPr>
          <a:xfrm>
            <a:off x="1234440" y="5202936"/>
            <a:ext cx="4206240" cy="310896"/>
          </a:xfrm>
          <a:prstGeom prst="rect">
            <a:avLst/>
          </a:prstGeom>
          <a:noFill/>
          <a:ln/>
        </p:spPr>
        <p:txBody>
          <a:bodyPr wrap="square" lIns="0" tIns="0" rIns="0" bIns="0" rtlCol="0" anchor="ctr"/>
          <a:lstStyle/>
          <a:p>
            <a:pPr indent="0" marL="0">
              <a:buNone/>
            </a:pPr>
            <a:r>
              <a:rPr lang="en-US" sz="1350" dirty="0">
                <a:solidFill>
                  <a:srgbClr val="1F2937"/>
                </a:solidFill>
              </a:rPr>
              <a:t>It fits the member's program</a:t>
            </a:r>
            <a:endParaRPr lang="en-US" sz="1350" dirty="0"/>
          </a:p>
        </p:txBody>
      </p:sp>
      <p:pic>
        <p:nvPicPr>
          <p:cNvPr id="51" name="Image 10" descr="Check">    </p:cNvPr>
          <p:cNvPicPr>
            <a:picLocks noChangeAspect="1"/>
          </p:cNvPicPr>
          <p:nvPr/>
        </p:nvPicPr>
        <p:blipFill>
          <a:blip r:embed="rId21"/>
          <a:stretch>
            <a:fillRect/>
          </a:stretch>
        </p:blipFill>
        <p:spPr>
          <a:xfrm>
            <a:off x="822960" y="5614416"/>
            <a:ext cx="237744" cy="237744"/>
          </a:xfrm>
          <a:prstGeom prst="rect">
            <a:avLst/>
          </a:prstGeom>
        </p:spPr>
      </p:pic>
      <p:sp>
        <p:nvSpPr>
          <p:cNvPr id="52" name="Text 39"/>
          <p:cNvSpPr txBox="1"/>
          <p:nvPr/>
        </p:nvSpPr>
        <p:spPr>
          <a:xfrm>
            <a:off x="1234440" y="5586984"/>
            <a:ext cx="4206240" cy="310896"/>
          </a:xfrm>
          <a:prstGeom prst="rect">
            <a:avLst/>
          </a:prstGeom>
          <a:noFill/>
          <a:ln/>
        </p:spPr>
        <p:txBody>
          <a:bodyPr wrap="square" lIns="0" tIns="0" rIns="0" bIns="0" rtlCol="0" anchor="ctr"/>
          <a:lstStyle/>
          <a:p>
            <a:pPr indent="0" marL="0">
              <a:buNone/>
            </a:pPr>
            <a:r>
              <a:rPr lang="en-US" sz="1350" dirty="0">
                <a:solidFill>
                  <a:srgbClr val="1F2937"/>
                </a:solidFill>
              </a:rPr>
              <a:t>It matches the current version</a:t>
            </a:r>
            <a:endParaRPr lang="en-US" sz="1350" dirty="0"/>
          </a:p>
        </p:txBody>
      </p:sp>
      <p:sp>
        <p:nvSpPr>
          <p:cNvPr id="53" name="Valid outcome"/>
          <p:cNvSpPr/>
          <p:nvPr/>
        </p:nvSpPr>
        <p:spPr>
          <a:xfrm>
            <a:off x="5943600" y="4846320"/>
            <a:ext cx="2834640" cy="1280160"/>
          </a:xfrm>
          <a:prstGeom prst="roundRect">
            <a:avLst>
              <a:gd name="adj" fmla="val 8571"/>
            </a:avLst>
          </a:prstGeom>
          <a:solidFill>
            <a:srgbClr val="EAF7F1"/>
          </a:solidFill>
          <a:ln w="12700">
            <a:solidFill>
              <a:srgbClr val="BFE6D3"/>
            </a:solidFill>
            <a:prstDash val="solid"/>
          </a:ln>
        </p:spPr>
      </p:sp>
      <p:sp>
        <p:nvSpPr>
          <p:cNvPr id="54" name="Icon dot"/>
          <p:cNvSpPr/>
          <p:nvPr/>
        </p:nvSpPr>
        <p:spPr>
          <a:xfrm>
            <a:off x="6172200" y="4983480"/>
            <a:ext cx="457200" cy="457200"/>
          </a:xfrm>
          <a:prstGeom prst="ellipse">
            <a:avLst/>
          </a:prstGeom>
          <a:solidFill>
            <a:srgbClr val="12A36B"/>
          </a:solidFill>
          <a:ln w="12700">
            <a:solidFill>
              <a:srgbClr val="12A36B"/>
            </a:solidFill>
            <a:prstDash val="solid"/>
          </a:ln>
        </p:spPr>
      </p:sp>
      <p:pic>
        <p:nvPicPr>
          <p:cNvPr id="55" name="Image 11" descr="CheckCircle icon">    </p:cNvPr>
          <p:cNvPicPr>
            <a:picLocks noChangeAspect="1"/>
          </p:cNvPicPr>
          <p:nvPr/>
        </p:nvPicPr>
        <p:blipFill>
          <a:blip r:embed="rId22"/>
          <a:stretch>
            <a:fillRect/>
          </a:stretch>
        </p:blipFill>
        <p:spPr>
          <a:xfrm>
            <a:off x="6291072" y="5102352"/>
            <a:ext cx="219456" cy="219456"/>
          </a:xfrm>
          <a:prstGeom prst="rect">
            <a:avLst/>
          </a:prstGeom>
        </p:spPr>
      </p:pic>
      <p:sp>
        <p:nvSpPr>
          <p:cNvPr id="56" name="Text 42"/>
          <p:cNvSpPr txBox="1"/>
          <p:nvPr/>
        </p:nvSpPr>
        <p:spPr>
          <a:xfrm>
            <a:off x="6766560" y="4983480"/>
            <a:ext cx="1828800" cy="457200"/>
          </a:xfrm>
          <a:prstGeom prst="rect">
            <a:avLst/>
          </a:prstGeom>
          <a:noFill/>
          <a:ln/>
        </p:spPr>
        <p:txBody>
          <a:bodyPr wrap="square" lIns="0" tIns="0" rIns="0" bIns="0" rtlCol="0" anchor="ctr"/>
          <a:lstStyle/>
          <a:p>
            <a:pPr indent="0" marL="0">
              <a:buNone/>
            </a:pPr>
            <a:r>
              <a:rPr lang="en-US" sz="1500" b="1" dirty="0">
                <a:solidFill>
                  <a:srgbClr val="1F2937"/>
                </a:solidFill>
              </a:rPr>
              <a:t>Valid</a:t>
            </a:r>
            <a:endParaRPr lang="en-US" sz="1500" dirty="0"/>
          </a:p>
        </p:txBody>
      </p:sp>
      <p:sp>
        <p:nvSpPr>
          <p:cNvPr id="57" name="Text 43"/>
          <p:cNvSpPr txBox="1"/>
          <p:nvPr/>
        </p:nvSpPr>
        <p:spPr>
          <a:xfrm>
            <a:off x="6172200" y="5532120"/>
            <a:ext cx="2468880" cy="502920"/>
          </a:xfrm>
          <a:prstGeom prst="rect">
            <a:avLst/>
          </a:prstGeom>
          <a:noFill/>
          <a:ln/>
        </p:spPr>
        <p:txBody>
          <a:bodyPr wrap="square" lIns="0" tIns="0" rIns="0" bIns="0" rtlCol="0" anchor="t"/>
          <a:lstStyle/>
          <a:p>
            <a:pPr indent="0" marL="0">
              <a:buNone/>
            </a:pPr>
            <a:r>
              <a:rPr lang="en-US" sz="1150" dirty="0">
                <a:solidFill>
                  <a:srgbClr val="5B6478"/>
                </a:solidFill>
              </a:rPr>
              <a:t>Answer with a citation, e.g. EDU-401 (v4)</a:t>
            </a:r>
            <a:endParaRPr lang="en-US" sz="1150" dirty="0"/>
          </a:p>
        </p:txBody>
      </p:sp>
      <p:sp>
        <p:nvSpPr>
          <p:cNvPr id="58" name="Gap outcome"/>
          <p:cNvSpPr/>
          <p:nvPr/>
        </p:nvSpPr>
        <p:spPr>
          <a:xfrm>
            <a:off x="8915400" y="4846320"/>
            <a:ext cx="2724912" cy="1280160"/>
          </a:xfrm>
          <a:prstGeom prst="roundRect">
            <a:avLst>
              <a:gd name="adj" fmla="val 8571"/>
            </a:avLst>
          </a:prstGeom>
          <a:solidFill>
            <a:srgbClr val="FFF4DD"/>
          </a:solidFill>
          <a:ln w="12700">
            <a:solidFill>
              <a:srgbClr val="F3D9A4"/>
            </a:solidFill>
            <a:prstDash val="solid"/>
          </a:ln>
        </p:spPr>
      </p:sp>
      <p:sp>
        <p:nvSpPr>
          <p:cNvPr id="59" name="Icon dot"/>
          <p:cNvSpPr/>
          <p:nvPr/>
        </p:nvSpPr>
        <p:spPr>
          <a:xfrm>
            <a:off x="9144000" y="4983480"/>
            <a:ext cx="457200" cy="457200"/>
          </a:xfrm>
          <a:prstGeom prst="ellipse">
            <a:avLst/>
          </a:prstGeom>
          <a:solidFill>
            <a:srgbClr val="F5A524"/>
          </a:solidFill>
          <a:ln w="12700">
            <a:solidFill>
              <a:srgbClr val="F5A524"/>
            </a:solidFill>
            <a:prstDash val="solid"/>
          </a:ln>
        </p:spPr>
      </p:sp>
      <p:pic>
        <p:nvPicPr>
          <p:cNvPr id="60" name="Image 12" descr="QuestionCircle icon">    </p:cNvPr>
          <p:cNvPicPr>
            <a:picLocks noChangeAspect="1"/>
          </p:cNvPicPr>
          <p:nvPr/>
        </p:nvPicPr>
        <p:blipFill>
          <a:blip r:embed="rId23"/>
          <a:stretch>
            <a:fillRect/>
          </a:stretch>
        </p:blipFill>
        <p:spPr>
          <a:xfrm>
            <a:off x="9262872" y="5102352"/>
            <a:ext cx="219456" cy="219456"/>
          </a:xfrm>
          <a:prstGeom prst="rect">
            <a:avLst/>
          </a:prstGeom>
        </p:spPr>
      </p:pic>
      <p:sp>
        <p:nvSpPr>
          <p:cNvPr id="61" name="Text 46"/>
          <p:cNvSpPr txBox="1"/>
          <p:nvPr/>
        </p:nvSpPr>
        <p:spPr>
          <a:xfrm>
            <a:off x="9738360" y="4983480"/>
            <a:ext cx="1737360" cy="457200"/>
          </a:xfrm>
          <a:prstGeom prst="rect">
            <a:avLst/>
          </a:prstGeom>
          <a:noFill/>
          <a:ln/>
        </p:spPr>
        <p:txBody>
          <a:bodyPr wrap="square" lIns="0" tIns="0" rIns="0" bIns="0" rtlCol="0" anchor="ctr"/>
          <a:lstStyle/>
          <a:p>
            <a:pPr indent="0" marL="0">
              <a:buNone/>
            </a:pPr>
            <a:r>
              <a:rPr lang="en-US" sz="1500" b="1" dirty="0">
                <a:solidFill>
                  <a:srgbClr val="1F2937"/>
                </a:solidFill>
              </a:rPr>
              <a:t>No match</a:t>
            </a:r>
            <a:endParaRPr lang="en-US" sz="1500" dirty="0"/>
          </a:p>
        </p:txBody>
      </p:sp>
      <p:sp>
        <p:nvSpPr>
          <p:cNvPr id="62" name="Text 47"/>
          <p:cNvSpPr txBox="1"/>
          <p:nvPr/>
        </p:nvSpPr>
        <p:spPr>
          <a:xfrm>
            <a:off x="9144000" y="5532120"/>
            <a:ext cx="2331720" cy="502920"/>
          </a:xfrm>
          <a:prstGeom prst="rect">
            <a:avLst/>
          </a:prstGeom>
          <a:noFill/>
          <a:ln/>
        </p:spPr>
        <p:txBody>
          <a:bodyPr wrap="square" lIns="0" tIns="0" rIns="0" bIns="0" rtlCol="0" anchor="t"/>
          <a:lstStyle/>
          <a:p>
            <a:pPr indent="0" marL="0">
              <a:buNone/>
            </a:pPr>
            <a:r>
              <a:rPr lang="en-US" sz="1150" dirty="0">
                <a:solidFill>
                  <a:srgbClr val="5B6478"/>
                </a:solidFill>
              </a:rPr>
              <a:t>Say so, never guess; staff follow up</a:t>
            </a:r>
            <a:endParaRPr lang="en-US" sz="11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04  ·  LIVE DEMO</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Live demo: a normal, an exception and a safety path</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Demo</a:t>
            </a:r>
            <a:endParaRPr lang="en-US" sz="950" dirty="0"/>
          </a:p>
        </p:txBody>
      </p:sp>
      <p:sp>
        <p:nvSpPr>
          <p:cNvPr id="11" name="Shape 9"/>
          <p:cNvSpPr/>
          <p:nvPr/>
        </p:nvSpPr>
        <p:spPr>
          <a:xfrm>
            <a:off x="6341364" y="6309360"/>
            <a:ext cx="73152" cy="73152"/>
          </a:xfrm>
          <a:prstGeom prst="ellipse">
            <a:avLst/>
          </a:prstGeom>
          <a:solidFill>
            <a:srgbClr val="1547C8"/>
          </a:solidFill>
          <a:ln w="12700">
            <a:solidFill>
              <a:srgbClr val="1547C8"/>
            </a:solidFill>
            <a:prstDash val="solid"/>
          </a:ln>
        </p:spPr>
      </p:sp>
      <p:sp>
        <p:nvSpPr>
          <p:cNvPr id="12" name="Text 10"/>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3" name="Text 11"/>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Browser frame A"/>
          <p:cNvSpPr/>
          <p:nvPr/>
        </p:nvSpPr>
        <p:spPr>
          <a:xfrm>
            <a:off x="548640" y="1417320"/>
            <a:ext cx="6309360" cy="3108960"/>
          </a:xfrm>
          <a:prstGeom prst="roundRect">
            <a:avLst>
              <a:gd name="adj" fmla="val 4706"/>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17" name="Shape 15"/>
          <p:cNvSpPr/>
          <p:nvPr/>
        </p:nvSpPr>
        <p:spPr>
          <a:xfrm>
            <a:off x="749808" y="1554480"/>
            <a:ext cx="109728" cy="109728"/>
          </a:xfrm>
          <a:prstGeom prst="ellipse">
            <a:avLst/>
          </a:prstGeom>
          <a:solidFill>
            <a:srgbClr val="FF6B70"/>
          </a:solidFill>
          <a:ln w="12700">
            <a:solidFill>
              <a:srgbClr val="FF6B70"/>
            </a:solidFill>
            <a:prstDash val="solid"/>
          </a:ln>
        </p:spPr>
      </p:sp>
      <p:sp>
        <p:nvSpPr>
          <p:cNvPr id="18" name="Shape 16"/>
          <p:cNvSpPr/>
          <p:nvPr/>
        </p:nvSpPr>
        <p:spPr>
          <a:xfrm>
            <a:off x="932688" y="1554480"/>
            <a:ext cx="109728" cy="109728"/>
          </a:xfrm>
          <a:prstGeom prst="ellipse">
            <a:avLst/>
          </a:prstGeom>
          <a:solidFill>
            <a:srgbClr val="F5A524"/>
          </a:solidFill>
          <a:ln w="12700">
            <a:solidFill>
              <a:srgbClr val="F5A524"/>
            </a:solidFill>
            <a:prstDash val="solid"/>
          </a:ln>
        </p:spPr>
      </p:sp>
      <p:sp>
        <p:nvSpPr>
          <p:cNvPr id="19" name="Shape 17"/>
          <p:cNvSpPr/>
          <p:nvPr/>
        </p:nvSpPr>
        <p:spPr>
          <a:xfrm>
            <a:off x="1115568" y="1554480"/>
            <a:ext cx="109728" cy="109728"/>
          </a:xfrm>
          <a:prstGeom prst="ellipse">
            <a:avLst/>
          </a:prstGeom>
          <a:solidFill>
            <a:srgbClr val="3CC3F0"/>
          </a:solidFill>
          <a:ln w="12700">
            <a:solidFill>
              <a:srgbClr val="3CC3F0"/>
            </a:solidFill>
            <a:prstDash val="solid"/>
          </a:ln>
        </p:spPr>
      </p:sp>
      <p:pic>
        <p:nvPicPr>
          <p:cNvPr id="20" name="Image 0" descr="Care assistant screen declining a medication-change request">    </p:cNvPr>
          <p:cNvPicPr>
            <a:picLocks noChangeAspect="1"/>
          </p:cNvPicPr>
          <p:nvPr/>
        </p:nvPicPr>
        <p:blipFill>
          <a:blip r:embed="rId11"/>
          <a:stretch>
            <a:fillRect/>
          </a:stretch>
        </p:blipFill>
        <p:spPr>
          <a:xfrm>
            <a:off x="685800" y="1828800"/>
            <a:ext cx="6035040" cy="2449868"/>
          </a:xfrm>
          <a:prstGeom prst="rect">
            <a:avLst/>
          </a:prstGeom>
        </p:spPr>
      </p:pic>
      <p:sp>
        <p:nvSpPr>
          <p:cNvPr id="21" name="Browser frame B"/>
          <p:cNvSpPr/>
          <p:nvPr/>
        </p:nvSpPr>
        <p:spPr>
          <a:xfrm>
            <a:off x="3749040" y="3840480"/>
            <a:ext cx="4023360" cy="2286000"/>
          </a:xfrm>
          <a:prstGeom prst="roundRect">
            <a:avLst>
              <a:gd name="adj" fmla="val 6400"/>
            </a:avLst>
          </a:prstGeom>
          <a:solidFill>
            <a:srgbClr val="FFFFFF"/>
          </a:solidFill>
          <a:ln w="19050">
            <a:solidFill>
              <a:srgbClr val="1547C8"/>
            </a:solidFill>
            <a:prstDash val="solid"/>
          </a:ln>
          <a:effectLst>
            <a:outerShdw sx="100000" sy="100000" kx="0" ky="0" algn="bl" rotWithShape="0" blurRad="127000" dist="25400" dir="5400000">
              <a:srgbClr val="1F2937">
                <a:alpha val="9000"/>
              </a:srgbClr>
            </a:outerShdw>
          </a:effectLst>
        </p:spPr>
      </p:sp>
      <p:sp>
        <p:nvSpPr>
          <p:cNvPr id="22" name="Shape 19"/>
          <p:cNvSpPr/>
          <p:nvPr/>
        </p:nvSpPr>
        <p:spPr>
          <a:xfrm>
            <a:off x="3931920" y="3968496"/>
            <a:ext cx="109728" cy="109728"/>
          </a:xfrm>
          <a:prstGeom prst="ellipse">
            <a:avLst/>
          </a:prstGeom>
          <a:solidFill>
            <a:srgbClr val="FF6B70"/>
          </a:solidFill>
          <a:ln w="12700">
            <a:solidFill>
              <a:srgbClr val="FF6B70"/>
            </a:solidFill>
            <a:prstDash val="solid"/>
          </a:ln>
        </p:spPr>
      </p:sp>
      <p:sp>
        <p:nvSpPr>
          <p:cNvPr id="23" name="Shape 20"/>
          <p:cNvSpPr/>
          <p:nvPr/>
        </p:nvSpPr>
        <p:spPr>
          <a:xfrm>
            <a:off x="4114800" y="3968496"/>
            <a:ext cx="109728" cy="109728"/>
          </a:xfrm>
          <a:prstGeom prst="ellipse">
            <a:avLst/>
          </a:prstGeom>
          <a:solidFill>
            <a:srgbClr val="F5A524"/>
          </a:solidFill>
          <a:ln w="12700">
            <a:solidFill>
              <a:srgbClr val="F5A524"/>
            </a:solidFill>
            <a:prstDash val="solid"/>
          </a:ln>
        </p:spPr>
      </p:sp>
      <p:sp>
        <p:nvSpPr>
          <p:cNvPr id="24" name="Shape 21"/>
          <p:cNvSpPr/>
          <p:nvPr/>
        </p:nvSpPr>
        <p:spPr>
          <a:xfrm>
            <a:off x="4297680" y="3968496"/>
            <a:ext cx="109728" cy="109728"/>
          </a:xfrm>
          <a:prstGeom prst="ellipse">
            <a:avLst/>
          </a:prstGeom>
          <a:solidFill>
            <a:srgbClr val="3CC3F0"/>
          </a:solidFill>
          <a:ln w="12700">
            <a:solidFill>
              <a:srgbClr val="3CC3F0"/>
            </a:solidFill>
            <a:prstDash val="solid"/>
          </a:ln>
        </p:spPr>
      </p:sp>
      <p:pic>
        <p:nvPicPr>
          <p:cNvPr id="25" name="Image 1" descr="Staff review queue listing urgent cases">    </p:cNvPr>
          <p:cNvPicPr>
            <a:picLocks noChangeAspect="1"/>
          </p:cNvPicPr>
          <p:nvPr/>
        </p:nvPicPr>
        <p:blipFill>
          <a:blip r:embed="rId12"/>
          <a:stretch>
            <a:fillRect/>
          </a:stretch>
        </p:blipFill>
        <p:spPr>
          <a:xfrm>
            <a:off x="3886200" y="4224528"/>
            <a:ext cx="3749040" cy="1893080"/>
          </a:xfrm>
          <a:prstGeom prst="rect">
            <a:avLst/>
          </a:prstGeom>
        </p:spPr>
      </p:pic>
      <p:sp>
        <p:nvSpPr>
          <p:cNvPr id="26" name="Text 22"/>
          <p:cNvSpPr txBox="1"/>
          <p:nvPr/>
        </p:nvSpPr>
        <p:spPr>
          <a:xfrm>
            <a:off x="548640" y="4754880"/>
            <a:ext cx="3017520" cy="228600"/>
          </a:xfrm>
          <a:prstGeom prst="rect">
            <a:avLst/>
          </a:prstGeom>
          <a:noFill/>
          <a:ln/>
        </p:spPr>
        <p:txBody>
          <a:bodyPr wrap="square" lIns="0" tIns="0" rIns="0" bIns="0" rtlCol="0" anchor="t"/>
          <a:lstStyle/>
          <a:p>
            <a:pPr indent="0" marL="0">
              <a:buNone/>
            </a:pPr>
            <a:r>
              <a:rPr lang="en-US" sz="1000" b="1" spc="300" kern="0" dirty="0">
                <a:solidFill>
                  <a:srgbClr val="1547C8"/>
                </a:solidFill>
              </a:rPr>
              <a:t>WHAT TO WATCH FOR</a:t>
            </a:r>
            <a:endParaRPr lang="en-US" sz="1000" dirty="0"/>
          </a:p>
        </p:txBody>
      </p:sp>
      <p:pic>
        <p:nvPicPr>
          <p:cNvPr id="27" name="Image 2" descr="Check">    </p:cNvPr>
          <p:cNvPicPr>
            <a:picLocks noChangeAspect="1"/>
          </p:cNvPicPr>
          <p:nvPr/>
        </p:nvPicPr>
        <p:blipFill>
          <a:blip r:embed="rId13"/>
          <a:stretch>
            <a:fillRect/>
          </a:stretch>
        </p:blipFill>
        <p:spPr>
          <a:xfrm>
            <a:off x="548640" y="5111496"/>
            <a:ext cx="237744" cy="237744"/>
          </a:xfrm>
          <a:prstGeom prst="rect">
            <a:avLst/>
          </a:prstGeom>
        </p:spPr>
      </p:pic>
      <p:sp>
        <p:nvSpPr>
          <p:cNvPr id="28" name="Text 23"/>
          <p:cNvSpPr txBox="1"/>
          <p:nvPr/>
        </p:nvSpPr>
        <p:spPr>
          <a:xfrm>
            <a:off x="914400" y="5074920"/>
            <a:ext cx="2651760" cy="310896"/>
          </a:xfrm>
          <a:prstGeom prst="rect">
            <a:avLst/>
          </a:prstGeom>
          <a:noFill/>
          <a:ln/>
        </p:spPr>
        <p:txBody>
          <a:bodyPr wrap="square" lIns="0" tIns="0" rIns="0" bIns="0" rtlCol="0" anchor="ctr"/>
          <a:lstStyle/>
          <a:p>
            <a:pPr indent="0" marL="0">
              <a:buNone/>
            </a:pPr>
            <a:r>
              <a:rPr lang="en-US" sz="1300" b="1" dirty="0">
                <a:solidFill>
                  <a:srgbClr val="1F2937"/>
                </a:solidFill>
              </a:rPr>
              <a:t>No diagnosis</a:t>
            </a:r>
            <a:endParaRPr lang="en-US" sz="1300" dirty="0"/>
          </a:p>
        </p:txBody>
      </p:sp>
      <p:pic>
        <p:nvPicPr>
          <p:cNvPr id="29" name="Image 3" descr="Check">    </p:cNvPr>
          <p:cNvPicPr>
            <a:picLocks noChangeAspect="1"/>
          </p:cNvPicPr>
          <p:nvPr/>
        </p:nvPicPr>
        <p:blipFill>
          <a:blip r:embed="rId14"/>
          <a:stretch>
            <a:fillRect/>
          </a:stretch>
        </p:blipFill>
        <p:spPr>
          <a:xfrm>
            <a:off x="548640" y="5550408"/>
            <a:ext cx="237744" cy="237744"/>
          </a:xfrm>
          <a:prstGeom prst="rect">
            <a:avLst/>
          </a:prstGeom>
        </p:spPr>
      </p:pic>
      <p:sp>
        <p:nvSpPr>
          <p:cNvPr id="30" name="Text 24"/>
          <p:cNvSpPr txBox="1"/>
          <p:nvPr/>
        </p:nvSpPr>
        <p:spPr>
          <a:xfrm>
            <a:off x="914400" y="5513832"/>
            <a:ext cx="2651760" cy="310896"/>
          </a:xfrm>
          <a:prstGeom prst="rect">
            <a:avLst/>
          </a:prstGeom>
          <a:noFill/>
          <a:ln/>
        </p:spPr>
        <p:txBody>
          <a:bodyPr wrap="square" lIns="0" tIns="0" rIns="0" bIns="0" rtlCol="0" anchor="ctr"/>
          <a:lstStyle/>
          <a:p>
            <a:pPr indent="0" marL="0">
              <a:buNone/>
            </a:pPr>
            <a:r>
              <a:rPr lang="en-US" sz="1300" b="1" dirty="0">
                <a:solidFill>
                  <a:srgbClr val="1F2937"/>
                </a:solidFill>
              </a:rPr>
              <a:t>Sources shown</a:t>
            </a:r>
            <a:endParaRPr lang="en-US" sz="1300" dirty="0"/>
          </a:p>
        </p:txBody>
      </p:sp>
      <p:pic>
        <p:nvPicPr>
          <p:cNvPr id="31" name="Image 4" descr="Check">    </p:cNvPr>
          <p:cNvPicPr>
            <a:picLocks noChangeAspect="1"/>
          </p:cNvPicPr>
          <p:nvPr/>
        </p:nvPicPr>
        <p:blipFill>
          <a:blip r:embed="rId15"/>
          <a:stretch>
            <a:fillRect/>
          </a:stretch>
        </p:blipFill>
        <p:spPr>
          <a:xfrm>
            <a:off x="548640" y="5989320"/>
            <a:ext cx="237744" cy="237744"/>
          </a:xfrm>
          <a:prstGeom prst="rect">
            <a:avLst/>
          </a:prstGeom>
        </p:spPr>
      </p:pic>
      <p:sp>
        <p:nvSpPr>
          <p:cNvPr id="32" name="Text 25"/>
          <p:cNvSpPr txBox="1"/>
          <p:nvPr/>
        </p:nvSpPr>
        <p:spPr>
          <a:xfrm>
            <a:off x="914400" y="5952744"/>
            <a:ext cx="2651760" cy="310896"/>
          </a:xfrm>
          <a:prstGeom prst="rect">
            <a:avLst/>
          </a:prstGeom>
          <a:noFill/>
          <a:ln/>
        </p:spPr>
        <p:txBody>
          <a:bodyPr wrap="square" lIns="0" tIns="0" rIns="0" bIns="0" rtlCol="0" anchor="ctr"/>
          <a:lstStyle/>
          <a:p>
            <a:pPr indent="0" marL="0">
              <a:buNone/>
            </a:pPr>
            <a:r>
              <a:rPr lang="en-US" sz="1300" b="1" dirty="0">
                <a:solidFill>
                  <a:srgbClr val="1F2937"/>
                </a:solidFill>
              </a:rPr>
              <a:t>Disclaimer on every reply</a:t>
            </a:r>
            <a:endParaRPr lang="en-US" sz="1300" dirty="0"/>
          </a:p>
        </p:txBody>
      </p:sp>
      <p:sp>
        <p:nvSpPr>
          <p:cNvPr id="33" name="Path card"/>
          <p:cNvSpPr/>
          <p:nvPr/>
        </p:nvSpPr>
        <p:spPr>
          <a:xfrm>
            <a:off x="8138160" y="1417320"/>
            <a:ext cx="3502152" cy="1463040"/>
          </a:xfrm>
          <a:prstGeom prst="roundRect">
            <a:avLst>
              <a:gd name="adj" fmla="val 7500"/>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4" name="Text 27"/>
          <p:cNvSpPr txBox="1"/>
          <p:nvPr/>
        </p:nvSpPr>
        <p:spPr>
          <a:xfrm>
            <a:off x="8321040" y="1527048"/>
            <a:ext cx="548640" cy="548640"/>
          </a:xfrm>
          <a:prstGeom prst="rect">
            <a:avLst/>
          </a:prstGeom>
          <a:noFill/>
          <a:ln/>
        </p:spPr>
        <p:txBody>
          <a:bodyPr wrap="square" lIns="0" tIns="0" rIns="0" bIns="0" rtlCol="0" anchor="t"/>
          <a:lstStyle/>
          <a:p>
            <a:pPr indent="0" marL="0">
              <a:buNone/>
            </a:pPr>
            <a:r>
              <a:rPr lang="en-US" sz="3200" b="1" dirty="0">
                <a:solidFill>
                  <a:srgbClr val="1547C8"/>
                </a:solidFill>
              </a:rPr>
              <a:t>1</a:t>
            </a:r>
            <a:endParaRPr lang="en-US" sz="3200" dirty="0"/>
          </a:p>
        </p:txBody>
      </p:sp>
      <p:sp>
        <p:nvSpPr>
          <p:cNvPr id="35" name="Text 28"/>
          <p:cNvSpPr txBox="1"/>
          <p:nvPr/>
        </p:nvSpPr>
        <p:spPr>
          <a:xfrm>
            <a:off x="8915400" y="1600200"/>
            <a:ext cx="2560320" cy="228600"/>
          </a:xfrm>
          <a:prstGeom prst="rect">
            <a:avLst/>
          </a:prstGeom>
          <a:noFill/>
          <a:ln/>
        </p:spPr>
        <p:txBody>
          <a:bodyPr wrap="square" lIns="0" tIns="0" rIns="0" bIns="0" rtlCol="0" anchor="t"/>
          <a:lstStyle/>
          <a:p>
            <a:pPr indent="0" marL="0">
              <a:buNone/>
            </a:pPr>
            <a:r>
              <a:rPr lang="en-US" sz="1050" b="1" spc="300" kern="0" dirty="0">
                <a:solidFill>
                  <a:srgbClr val="1547C8"/>
                </a:solidFill>
              </a:rPr>
              <a:t>NORMAL</a:t>
            </a:r>
            <a:endParaRPr lang="en-US" sz="1050" dirty="0"/>
          </a:p>
        </p:txBody>
      </p:sp>
      <p:sp>
        <p:nvSpPr>
          <p:cNvPr id="36" name="Text 29"/>
          <p:cNvSpPr txBox="1"/>
          <p:nvPr/>
        </p:nvSpPr>
        <p:spPr>
          <a:xfrm>
            <a:off x="8321040" y="2075688"/>
            <a:ext cx="3154680" cy="457200"/>
          </a:xfrm>
          <a:prstGeom prst="rect">
            <a:avLst/>
          </a:prstGeom>
          <a:noFill/>
          <a:ln/>
        </p:spPr>
        <p:txBody>
          <a:bodyPr wrap="square" lIns="0" tIns="0" rIns="0" bIns="0" rtlCol="0" anchor="t"/>
          <a:lstStyle/>
          <a:p>
            <a:pPr indent="0" marL="0">
              <a:buNone/>
            </a:pPr>
            <a:r>
              <a:rPr lang="en-US" sz="1150" dirty="0">
                <a:solidFill>
                  <a:srgbClr val="1F2937"/>
                </a:solidFill>
              </a:rPr>
              <a:t>M-101 asks why to record readings at home</a:t>
            </a:r>
            <a:endParaRPr lang="en-US" sz="1150" dirty="0"/>
          </a:p>
        </p:txBody>
      </p:sp>
      <p:sp>
        <p:nvSpPr>
          <p:cNvPr id="37" name="Text 30"/>
          <p:cNvSpPr txBox="1"/>
          <p:nvPr/>
        </p:nvSpPr>
        <p:spPr>
          <a:xfrm>
            <a:off x="8321040" y="2532888"/>
            <a:ext cx="3154680" cy="274320"/>
          </a:xfrm>
          <a:prstGeom prst="rect">
            <a:avLst/>
          </a:prstGeom>
          <a:noFill/>
          <a:ln/>
        </p:spPr>
        <p:txBody>
          <a:bodyPr wrap="square" lIns="0" tIns="0" rIns="0" bIns="0" rtlCol="0" anchor="t"/>
          <a:lstStyle/>
          <a:p>
            <a:pPr indent="0" marL="0">
              <a:buNone/>
            </a:pPr>
            <a:r>
              <a:rPr lang="en-US" sz="1100" b="1" dirty="0">
                <a:solidFill>
                  <a:srgbClr val="5B6478"/>
                </a:solidFill>
              </a:rPr>
              <a:t>Cited answer: EDU-401 (v4)</a:t>
            </a:r>
            <a:endParaRPr lang="en-US" sz="1100" dirty="0"/>
          </a:p>
        </p:txBody>
      </p:sp>
      <p:sp>
        <p:nvSpPr>
          <p:cNvPr id="38" name="Path card"/>
          <p:cNvSpPr/>
          <p:nvPr/>
        </p:nvSpPr>
        <p:spPr>
          <a:xfrm>
            <a:off x="8138160" y="3017520"/>
            <a:ext cx="3502152" cy="1463040"/>
          </a:xfrm>
          <a:prstGeom prst="roundRect">
            <a:avLst>
              <a:gd name="adj" fmla="val 7500"/>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9" name="Text 32"/>
          <p:cNvSpPr txBox="1"/>
          <p:nvPr/>
        </p:nvSpPr>
        <p:spPr>
          <a:xfrm>
            <a:off x="8321040" y="3127248"/>
            <a:ext cx="548640" cy="548640"/>
          </a:xfrm>
          <a:prstGeom prst="rect">
            <a:avLst/>
          </a:prstGeom>
          <a:noFill/>
          <a:ln/>
        </p:spPr>
        <p:txBody>
          <a:bodyPr wrap="square" lIns="0" tIns="0" rIns="0" bIns="0" rtlCol="0" anchor="t"/>
          <a:lstStyle/>
          <a:p>
            <a:pPr indent="0" marL="0">
              <a:buNone/>
            </a:pPr>
            <a:r>
              <a:rPr lang="en-US" sz="3200" b="1" dirty="0">
                <a:solidFill>
                  <a:srgbClr val="F5A524"/>
                </a:solidFill>
              </a:rPr>
              <a:t>2</a:t>
            </a:r>
            <a:endParaRPr lang="en-US" sz="3200" dirty="0"/>
          </a:p>
        </p:txBody>
      </p:sp>
      <p:sp>
        <p:nvSpPr>
          <p:cNvPr id="40" name="Text 33"/>
          <p:cNvSpPr txBox="1"/>
          <p:nvPr/>
        </p:nvSpPr>
        <p:spPr>
          <a:xfrm>
            <a:off x="8915400" y="3200400"/>
            <a:ext cx="2560320" cy="228600"/>
          </a:xfrm>
          <a:prstGeom prst="rect">
            <a:avLst/>
          </a:prstGeom>
          <a:noFill/>
          <a:ln/>
        </p:spPr>
        <p:txBody>
          <a:bodyPr wrap="square" lIns="0" tIns="0" rIns="0" bIns="0" rtlCol="0" anchor="t"/>
          <a:lstStyle/>
          <a:p>
            <a:pPr indent="0" marL="0">
              <a:buNone/>
            </a:pPr>
            <a:r>
              <a:rPr lang="en-US" sz="1050" b="1" spc="300" kern="0" dirty="0">
                <a:solidFill>
                  <a:srgbClr val="F5A524"/>
                </a:solidFill>
              </a:rPr>
              <a:t>EXCEPTION</a:t>
            </a:r>
            <a:endParaRPr lang="en-US" sz="1050" dirty="0"/>
          </a:p>
        </p:txBody>
      </p:sp>
      <p:sp>
        <p:nvSpPr>
          <p:cNvPr id="41" name="Text 34"/>
          <p:cNvSpPr txBox="1"/>
          <p:nvPr/>
        </p:nvSpPr>
        <p:spPr>
          <a:xfrm>
            <a:off x="8321040" y="3675888"/>
            <a:ext cx="3154680" cy="457200"/>
          </a:xfrm>
          <a:prstGeom prst="rect">
            <a:avLst/>
          </a:prstGeom>
          <a:noFill/>
          <a:ln/>
        </p:spPr>
        <p:txBody>
          <a:bodyPr wrap="square" lIns="0" tIns="0" rIns="0" bIns="0" rtlCol="0" anchor="t"/>
          <a:lstStyle/>
          <a:p>
            <a:pPr indent="0" marL="0">
              <a:buNone/>
            </a:pPr>
            <a:r>
              <a:rPr lang="en-US" sz="1150" dirty="0">
                <a:solidFill>
                  <a:srgbClr val="1F2937"/>
                </a:solidFill>
              </a:rPr>
              <a:t>M-103: consent has expired</a:t>
            </a:r>
            <a:endParaRPr lang="en-US" sz="1150" dirty="0"/>
          </a:p>
        </p:txBody>
      </p:sp>
      <p:sp>
        <p:nvSpPr>
          <p:cNvPr id="42" name="Text 35"/>
          <p:cNvSpPr txBox="1"/>
          <p:nvPr/>
        </p:nvSpPr>
        <p:spPr>
          <a:xfrm>
            <a:off x="8321040" y="4133088"/>
            <a:ext cx="3154680" cy="274320"/>
          </a:xfrm>
          <a:prstGeom prst="rect">
            <a:avLst/>
          </a:prstGeom>
          <a:noFill/>
          <a:ln/>
        </p:spPr>
        <p:txBody>
          <a:bodyPr wrap="square" lIns="0" tIns="0" rIns="0" bIns="0" rtlCol="0" anchor="t"/>
          <a:lstStyle/>
          <a:p>
            <a:pPr indent="0" marL="0">
              <a:buNone/>
            </a:pPr>
            <a:r>
              <a:rPr lang="en-US" sz="1100" b="1" dirty="0">
                <a:solidFill>
                  <a:srgbClr val="5B6478"/>
                </a:solidFill>
              </a:rPr>
              <a:t>Processing stops: ER-501</a:t>
            </a:r>
            <a:endParaRPr lang="en-US" sz="1100" dirty="0"/>
          </a:p>
        </p:txBody>
      </p:sp>
      <p:sp>
        <p:nvSpPr>
          <p:cNvPr id="43" name="Path card"/>
          <p:cNvSpPr/>
          <p:nvPr/>
        </p:nvSpPr>
        <p:spPr>
          <a:xfrm>
            <a:off x="8138160" y="4617720"/>
            <a:ext cx="3502152" cy="1463040"/>
          </a:xfrm>
          <a:prstGeom prst="roundRect">
            <a:avLst>
              <a:gd name="adj" fmla="val 7500"/>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44" name="Text 37"/>
          <p:cNvSpPr txBox="1"/>
          <p:nvPr/>
        </p:nvSpPr>
        <p:spPr>
          <a:xfrm>
            <a:off x="8321040" y="4727448"/>
            <a:ext cx="548640" cy="548640"/>
          </a:xfrm>
          <a:prstGeom prst="rect">
            <a:avLst/>
          </a:prstGeom>
          <a:noFill/>
          <a:ln/>
        </p:spPr>
        <p:txBody>
          <a:bodyPr wrap="square" lIns="0" tIns="0" rIns="0" bIns="0" rtlCol="0" anchor="t"/>
          <a:lstStyle/>
          <a:p>
            <a:pPr indent="0" marL="0">
              <a:buNone/>
            </a:pPr>
            <a:r>
              <a:rPr lang="en-US" sz="3200" b="1" dirty="0">
                <a:solidFill>
                  <a:srgbClr val="E5484D"/>
                </a:solidFill>
              </a:rPr>
              <a:t>3</a:t>
            </a:r>
            <a:endParaRPr lang="en-US" sz="3200" dirty="0"/>
          </a:p>
        </p:txBody>
      </p:sp>
      <p:sp>
        <p:nvSpPr>
          <p:cNvPr id="45" name="Text 38"/>
          <p:cNvSpPr txBox="1"/>
          <p:nvPr/>
        </p:nvSpPr>
        <p:spPr>
          <a:xfrm>
            <a:off x="8915400" y="4800600"/>
            <a:ext cx="2560320" cy="228600"/>
          </a:xfrm>
          <a:prstGeom prst="rect">
            <a:avLst/>
          </a:prstGeom>
          <a:noFill/>
          <a:ln/>
        </p:spPr>
        <p:txBody>
          <a:bodyPr wrap="square" lIns="0" tIns="0" rIns="0" bIns="0" rtlCol="0" anchor="t"/>
          <a:lstStyle/>
          <a:p>
            <a:pPr indent="0" marL="0">
              <a:buNone/>
            </a:pPr>
            <a:r>
              <a:rPr lang="en-US" sz="1050" b="1" spc="300" kern="0" dirty="0">
                <a:solidFill>
                  <a:srgbClr val="E5484D"/>
                </a:solidFill>
              </a:rPr>
              <a:t>SAFETY</a:t>
            </a:r>
            <a:endParaRPr lang="en-US" sz="1050" dirty="0"/>
          </a:p>
        </p:txBody>
      </p:sp>
      <p:sp>
        <p:nvSpPr>
          <p:cNvPr id="46" name="Text 39"/>
          <p:cNvSpPr txBox="1"/>
          <p:nvPr/>
        </p:nvSpPr>
        <p:spPr>
          <a:xfrm>
            <a:off x="8321040" y="5276088"/>
            <a:ext cx="3154680" cy="457200"/>
          </a:xfrm>
          <a:prstGeom prst="rect">
            <a:avLst/>
          </a:prstGeom>
          <a:noFill/>
          <a:ln/>
        </p:spPr>
        <p:txBody>
          <a:bodyPr wrap="square" lIns="0" tIns="0" rIns="0" bIns="0" rtlCol="0" anchor="t"/>
          <a:lstStyle/>
          <a:p>
            <a:pPr indent="0" marL="0">
              <a:buNone/>
            </a:pPr>
            <a:r>
              <a:rPr lang="en-US" sz="1150" dirty="0">
                <a:solidFill>
                  <a:srgbClr val="1F2937"/>
                </a:solidFill>
              </a:rPr>
              <a:t>M-101 asks to raise an insulin dose; M-102 asks for a blood pressure summary</a:t>
            </a:r>
            <a:endParaRPr lang="en-US" sz="1150" dirty="0"/>
          </a:p>
        </p:txBody>
      </p:sp>
      <p:sp>
        <p:nvSpPr>
          <p:cNvPr id="47" name="Text 40"/>
          <p:cNvSpPr txBox="1"/>
          <p:nvPr/>
        </p:nvSpPr>
        <p:spPr>
          <a:xfrm>
            <a:off x="8321040" y="5733288"/>
            <a:ext cx="3154680" cy="274320"/>
          </a:xfrm>
          <a:prstGeom prst="rect">
            <a:avLst/>
          </a:prstGeom>
          <a:noFill/>
          <a:ln/>
        </p:spPr>
        <p:txBody>
          <a:bodyPr wrap="square" lIns="0" tIns="0" rIns="0" bIns="0" rtlCol="0" anchor="t"/>
          <a:lstStyle/>
          <a:p>
            <a:pPr indent="0" marL="0">
              <a:buNone/>
            </a:pPr>
            <a:r>
              <a:rPr lang="en-US" sz="1100" b="1" dirty="0">
                <a:solidFill>
                  <a:srgbClr val="5B6478"/>
                </a:solidFill>
              </a:rPr>
              <a:t>ER-503 declined · ER-502 urgent review</a:t>
            </a:r>
            <a:endParaRPr lang="en-US" sz="11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04  ·  TRY IT</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Pick a question and see what the system does</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Try it</a:t>
            </a:r>
            <a:endParaRPr lang="en-US" sz="950" dirty="0"/>
          </a:p>
        </p:txBody>
      </p:sp>
      <p:sp>
        <p:nvSpPr>
          <p:cNvPr id="12" name="Shape 10"/>
          <p:cNvSpPr/>
          <p:nvPr/>
        </p:nvSpPr>
        <p:spPr>
          <a:xfrm>
            <a:off x="7027164" y="6309360"/>
            <a:ext cx="73152" cy="73152"/>
          </a:xfrm>
          <a:prstGeom prst="ellipse">
            <a:avLst/>
          </a:prstGeom>
          <a:solidFill>
            <a:srgbClr val="1547C8"/>
          </a:solidFill>
          <a:ln w="12700">
            <a:solidFill>
              <a:srgbClr val="1547C8"/>
            </a:solidFill>
            <a:prstDash val="solid"/>
          </a:ln>
        </p:spPr>
      </p:sp>
      <p:sp>
        <p:nvSpPr>
          <p:cNvPr id="13" name="Text 11"/>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Prompt button"/>
          <p:cNvSpPr/>
          <p:nvPr/>
        </p:nvSpPr>
        <p:spPr>
          <a:xfrm>
            <a:off x="548640" y="1463040"/>
            <a:ext cx="5440680" cy="2103120"/>
          </a:xfrm>
          <a:prstGeom prst="roundRect">
            <a:avLst>
              <a:gd name="adj" fmla="val 5217"/>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17" name="Pill"/>
          <p:cNvSpPr/>
          <p:nvPr/>
        </p:nvSpPr>
        <p:spPr>
          <a:xfrm>
            <a:off x="822960" y="1719072"/>
            <a:ext cx="731520" cy="310896"/>
          </a:xfrm>
          <a:prstGeom prst="roundRect">
            <a:avLst>
              <a:gd name="adj" fmla="val 50000"/>
            </a:avLst>
          </a:prstGeom>
          <a:solidFill>
            <a:srgbClr val="1547C8"/>
          </a:solidFill>
          <a:ln w="12700">
            <a:solidFill>
              <a:srgbClr val="1547C8"/>
            </a:solidFill>
            <a:prstDash val="solid"/>
          </a:ln>
        </p:spPr>
      </p:sp>
      <p:sp>
        <p:nvSpPr>
          <p:cNvPr id="18" name="Text 16"/>
          <p:cNvSpPr txBox="1"/>
          <p:nvPr/>
        </p:nvSpPr>
        <p:spPr>
          <a:xfrm>
            <a:off x="822960" y="1719072"/>
            <a:ext cx="731520" cy="310896"/>
          </a:xfrm>
          <a:prstGeom prst="rect">
            <a:avLst/>
          </a:prstGeom>
          <a:noFill/>
          <a:ln/>
        </p:spPr>
        <p:txBody>
          <a:bodyPr wrap="square" lIns="0" tIns="0" rIns="0" bIns="0" rtlCol="0" anchor="ctr"/>
          <a:lstStyle/>
          <a:p>
            <a:pPr algn="ctr" indent="0" marL="0">
              <a:buNone/>
            </a:pPr>
            <a:r>
              <a:rPr lang="en-US" sz="1100" b="1" dirty="0">
                <a:solidFill>
                  <a:srgbClr val="FFFFFF"/>
                </a:solidFill>
              </a:rPr>
              <a:t>M-101</a:t>
            </a:r>
            <a:endParaRPr lang="en-US" sz="1100" dirty="0"/>
          </a:p>
        </p:txBody>
      </p:sp>
      <p:sp>
        <p:nvSpPr>
          <p:cNvPr id="19" name="Text 17"/>
          <p:cNvSpPr txBox="1"/>
          <p:nvPr/>
        </p:nvSpPr>
        <p:spPr>
          <a:xfrm>
            <a:off x="822960" y="2194560"/>
            <a:ext cx="4892040" cy="731520"/>
          </a:xfrm>
          <a:prstGeom prst="rect">
            <a:avLst/>
          </a:prstGeom>
          <a:noFill/>
          <a:ln/>
        </p:spPr>
        <p:txBody>
          <a:bodyPr wrap="square" lIns="0" tIns="0" rIns="0" bIns="0" rtlCol="0" anchor="t"/>
          <a:lstStyle/>
          <a:p>
            <a:pPr indent="0" marL="0">
              <a:buNone/>
            </a:pPr>
            <a:r>
              <a:rPr lang="en-US" sz="1500" b="1" u="sng" dirty="0">
                <a:solidFill>
                  <a:srgbClr val="1F2937"/>
                </a:solidFill>
                <a:hlinkClick r:id="rId11" action="ppaction://hlinksldjump" tooltip="See the result">
                  <a:extLst>
                    <a:ext uri="{A12FA001-AC4F-418D-AE19-62706E023703}">
                      <ahyp:hlinkClr xmlns:ahyp="http://schemas.microsoft.com/office/drawing/2018/hyperlinkcolor" val="tx"/>
                    </a:ext>
                  </a:extLst>
                </a:hlinkClick>
              </a:rPr>
              <a:t>“Why should I record my readings at home?”</a:t>
            </a:r>
            <a:endParaRPr lang="en-US" sz="1500" dirty="0"/>
          </a:p>
        </p:txBody>
      </p:sp>
      <p:sp>
        <p:nvSpPr>
          <p:cNvPr id="20" name="Text 18"/>
          <p:cNvSpPr txBox="1"/>
          <p:nvPr/>
        </p:nvSpPr>
        <p:spPr>
          <a:xfrm>
            <a:off x="822960" y="3063240"/>
            <a:ext cx="2743200" cy="274320"/>
          </a:xfrm>
          <a:prstGeom prst="rect">
            <a:avLst/>
          </a:prstGeom>
          <a:noFill/>
          <a:ln/>
        </p:spPr>
        <p:txBody>
          <a:bodyPr wrap="square" lIns="0" tIns="0" rIns="0" bIns="0" rtlCol="0" anchor="t"/>
          <a:lstStyle/>
          <a:p>
            <a:pPr indent="0" marL="0">
              <a:buNone/>
            </a:pPr>
            <a:r>
              <a:rPr lang="en-US" sz="1200" b="1" u="sng" dirty="0">
                <a:solidFill>
                  <a:srgbClr val="1F2937"/>
                </a:solidFill>
                <a:hlinkClick r:id="rId12" action="ppaction://hlinksldjump" tooltip="See the result">
                  <a:extLst>
                    <a:ext uri="{A12FA001-AC4F-418D-AE19-62706E023703}">
                      <ahyp:hlinkClr xmlns:ahyp="http://schemas.microsoft.com/office/drawing/2018/hyperlinkcolor" val="tx"/>
                    </a:ext>
                  </a:extLst>
                </a:hlinkClick>
              </a:rPr>
              <a:t>See the result →</a:t>
            </a:r>
            <a:endParaRPr lang="en-US" sz="1200" dirty="0"/>
          </a:p>
        </p:txBody>
      </p:sp>
      <p:sp>
        <p:nvSpPr>
          <p:cNvPr id="21" name="Text 19"/>
          <p:cNvSpPr txBox="1"/>
          <p:nvPr/>
        </p:nvSpPr>
        <p:spPr>
          <a:xfrm>
            <a:off x="3474720" y="3063240"/>
            <a:ext cx="2240280" cy="274320"/>
          </a:xfrm>
          <a:prstGeom prst="rect">
            <a:avLst/>
          </a:prstGeom>
          <a:noFill/>
          <a:ln/>
        </p:spPr>
        <p:txBody>
          <a:bodyPr wrap="square" lIns="0" tIns="0" rIns="0" bIns="0" rtlCol="0" anchor="t"/>
          <a:lstStyle/>
          <a:p>
            <a:pPr algn="r" indent="0" marL="0">
              <a:buNone/>
            </a:pPr>
            <a:r>
              <a:rPr lang="en-US" sz="1150" dirty="0">
                <a:solidFill>
                  <a:srgbClr val="5B6478"/>
                </a:solidFill>
              </a:rPr>
              <a:t>A cited answer</a:t>
            </a:r>
            <a:endParaRPr lang="en-US" sz="1150" dirty="0"/>
          </a:p>
        </p:txBody>
      </p:sp>
      <p:sp>
        <p:nvSpPr>
          <p:cNvPr id="22" name="Prompt button"/>
          <p:cNvSpPr/>
          <p:nvPr/>
        </p:nvSpPr>
        <p:spPr>
          <a:xfrm>
            <a:off x="6199632" y="1463040"/>
            <a:ext cx="5440680" cy="2103120"/>
          </a:xfrm>
          <a:prstGeom prst="roundRect">
            <a:avLst>
              <a:gd name="adj" fmla="val 5217"/>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3" name="Pill"/>
          <p:cNvSpPr/>
          <p:nvPr/>
        </p:nvSpPr>
        <p:spPr>
          <a:xfrm>
            <a:off x="6473952" y="1719072"/>
            <a:ext cx="731520" cy="310896"/>
          </a:xfrm>
          <a:prstGeom prst="roundRect">
            <a:avLst>
              <a:gd name="adj" fmla="val 50000"/>
            </a:avLst>
          </a:prstGeom>
          <a:solidFill>
            <a:srgbClr val="E5484D"/>
          </a:solidFill>
          <a:ln w="12700">
            <a:solidFill>
              <a:srgbClr val="E5484D"/>
            </a:solidFill>
            <a:prstDash val="solid"/>
          </a:ln>
        </p:spPr>
      </p:sp>
      <p:sp>
        <p:nvSpPr>
          <p:cNvPr id="24" name="Text 22"/>
          <p:cNvSpPr txBox="1"/>
          <p:nvPr/>
        </p:nvSpPr>
        <p:spPr>
          <a:xfrm>
            <a:off x="6473952" y="1719072"/>
            <a:ext cx="731520" cy="310896"/>
          </a:xfrm>
          <a:prstGeom prst="rect">
            <a:avLst/>
          </a:prstGeom>
          <a:noFill/>
          <a:ln/>
        </p:spPr>
        <p:txBody>
          <a:bodyPr wrap="square" lIns="0" tIns="0" rIns="0" bIns="0" rtlCol="0" anchor="ctr"/>
          <a:lstStyle/>
          <a:p>
            <a:pPr algn="ctr" indent="0" marL="0">
              <a:buNone/>
            </a:pPr>
            <a:r>
              <a:rPr lang="en-US" sz="1100" b="1" dirty="0">
                <a:solidFill>
                  <a:srgbClr val="FFFFFF"/>
                </a:solidFill>
              </a:rPr>
              <a:t>M-101</a:t>
            </a:r>
            <a:endParaRPr lang="en-US" sz="1100" dirty="0"/>
          </a:p>
        </p:txBody>
      </p:sp>
      <p:sp>
        <p:nvSpPr>
          <p:cNvPr id="25" name="Text 23"/>
          <p:cNvSpPr txBox="1"/>
          <p:nvPr/>
        </p:nvSpPr>
        <p:spPr>
          <a:xfrm>
            <a:off x="6473952" y="2194560"/>
            <a:ext cx="4892040" cy="731520"/>
          </a:xfrm>
          <a:prstGeom prst="rect">
            <a:avLst/>
          </a:prstGeom>
          <a:noFill/>
          <a:ln/>
        </p:spPr>
        <p:txBody>
          <a:bodyPr wrap="square" lIns="0" tIns="0" rIns="0" bIns="0" rtlCol="0" anchor="t"/>
          <a:lstStyle/>
          <a:p>
            <a:pPr indent="0" marL="0">
              <a:buNone/>
            </a:pPr>
            <a:r>
              <a:rPr lang="en-US" sz="1500" b="1" u="sng" dirty="0">
                <a:solidFill>
                  <a:srgbClr val="1F2937"/>
                </a:solidFill>
                <a:hlinkClick r:id="rId13" action="ppaction://hlinksldjump" tooltip="See the result">
                  <a:extLst>
                    <a:ext uri="{A12FA001-AC4F-418D-AE19-62706E023703}">
                      <ahyp:hlinkClr xmlns:ahyp="http://schemas.microsoft.com/office/drawing/2018/hyperlinkcolor" val="tx"/>
                    </a:ext>
                  </a:extLst>
                </a:hlinkClick>
              </a:rPr>
              <a:t>“Can I increase my insulin dose this week?”</a:t>
            </a:r>
            <a:endParaRPr lang="en-US" sz="1500" dirty="0"/>
          </a:p>
        </p:txBody>
      </p:sp>
      <p:sp>
        <p:nvSpPr>
          <p:cNvPr id="26" name="Text 24"/>
          <p:cNvSpPr txBox="1"/>
          <p:nvPr/>
        </p:nvSpPr>
        <p:spPr>
          <a:xfrm>
            <a:off x="6473952" y="3063240"/>
            <a:ext cx="2743200" cy="274320"/>
          </a:xfrm>
          <a:prstGeom prst="rect">
            <a:avLst/>
          </a:prstGeom>
          <a:noFill/>
          <a:ln/>
        </p:spPr>
        <p:txBody>
          <a:bodyPr wrap="square" lIns="0" tIns="0" rIns="0" bIns="0" rtlCol="0" anchor="t"/>
          <a:lstStyle/>
          <a:p>
            <a:pPr indent="0" marL="0">
              <a:buNone/>
            </a:pPr>
            <a:r>
              <a:rPr lang="en-US" sz="1200" b="1" u="sng" dirty="0">
                <a:solidFill>
                  <a:srgbClr val="1F2937"/>
                </a:solidFill>
                <a:hlinkClick r:id="rId14" action="ppaction://hlinksldjump" tooltip="See the result">
                  <a:extLst>
                    <a:ext uri="{A12FA001-AC4F-418D-AE19-62706E023703}">
                      <ahyp:hlinkClr xmlns:ahyp="http://schemas.microsoft.com/office/drawing/2018/hyperlinkcolor" val="tx"/>
                    </a:ext>
                  </a:extLst>
                </a:hlinkClick>
              </a:rPr>
              <a:t>See the result →</a:t>
            </a:r>
            <a:endParaRPr lang="en-US" sz="1200" dirty="0"/>
          </a:p>
        </p:txBody>
      </p:sp>
      <p:sp>
        <p:nvSpPr>
          <p:cNvPr id="27" name="Text 25"/>
          <p:cNvSpPr txBox="1"/>
          <p:nvPr/>
        </p:nvSpPr>
        <p:spPr>
          <a:xfrm>
            <a:off x="9125712" y="3063240"/>
            <a:ext cx="2240280" cy="274320"/>
          </a:xfrm>
          <a:prstGeom prst="rect">
            <a:avLst/>
          </a:prstGeom>
          <a:noFill/>
          <a:ln/>
        </p:spPr>
        <p:txBody>
          <a:bodyPr wrap="square" lIns="0" tIns="0" rIns="0" bIns="0" rtlCol="0" anchor="t"/>
          <a:lstStyle/>
          <a:p>
            <a:pPr algn="r" indent="0" marL="0">
              <a:buNone/>
            </a:pPr>
            <a:r>
              <a:rPr lang="en-US" sz="1150" dirty="0">
                <a:solidFill>
                  <a:srgbClr val="5B6478"/>
                </a:solidFill>
              </a:rPr>
              <a:t>A declined request</a:t>
            </a:r>
            <a:endParaRPr lang="en-US" sz="1150" dirty="0"/>
          </a:p>
        </p:txBody>
      </p:sp>
      <p:sp>
        <p:nvSpPr>
          <p:cNvPr id="28" name="Prompt button"/>
          <p:cNvSpPr/>
          <p:nvPr/>
        </p:nvSpPr>
        <p:spPr>
          <a:xfrm>
            <a:off x="548640" y="3794760"/>
            <a:ext cx="5440680" cy="2103120"/>
          </a:xfrm>
          <a:prstGeom prst="roundRect">
            <a:avLst>
              <a:gd name="adj" fmla="val 5217"/>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9" name="Pill"/>
          <p:cNvSpPr/>
          <p:nvPr/>
        </p:nvSpPr>
        <p:spPr>
          <a:xfrm>
            <a:off x="822960" y="4050792"/>
            <a:ext cx="731520" cy="310896"/>
          </a:xfrm>
          <a:prstGeom prst="roundRect">
            <a:avLst>
              <a:gd name="adj" fmla="val 50000"/>
            </a:avLst>
          </a:prstGeom>
          <a:solidFill>
            <a:srgbClr val="F5A524"/>
          </a:solidFill>
          <a:ln w="12700">
            <a:solidFill>
              <a:srgbClr val="F5A524"/>
            </a:solidFill>
            <a:prstDash val="solid"/>
          </a:ln>
        </p:spPr>
      </p:sp>
      <p:sp>
        <p:nvSpPr>
          <p:cNvPr id="30" name="Text 28"/>
          <p:cNvSpPr txBox="1"/>
          <p:nvPr/>
        </p:nvSpPr>
        <p:spPr>
          <a:xfrm>
            <a:off x="822960" y="4050792"/>
            <a:ext cx="731520" cy="310896"/>
          </a:xfrm>
          <a:prstGeom prst="rect">
            <a:avLst/>
          </a:prstGeom>
          <a:noFill/>
          <a:ln/>
        </p:spPr>
        <p:txBody>
          <a:bodyPr wrap="square" lIns="0" tIns="0" rIns="0" bIns="0" rtlCol="0" anchor="ctr"/>
          <a:lstStyle/>
          <a:p>
            <a:pPr algn="ctr" indent="0" marL="0">
              <a:buNone/>
            </a:pPr>
            <a:r>
              <a:rPr lang="en-US" sz="1100" b="1" dirty="0">
                <a:solidFill>
                  <a:srgbClr val="1F2937"/>
                </a:solidFill>
              </a:rPr>
              <a:t>M-103</a:t>
            </a:r>
            <a:endParaRPr lang="en-US" sz="1100" dirty="0"/>
          </a:p>
        </p:txBody>
      </p:sp>
      <p:sp>
        <p:nvSpPr>
          <p:cNvPr id="31" name="Text 29"/>
          <p:cNvSpPr txBox="1"/>
          <p:nvPr/>
        </p:nvSpPr>
        <p:spPr>
          <a:xfrm>
            <a:off x="822960" y="4526280"/>
            <a:ext cx="4892040" cy="731520"/>
          </a:xfrm>
          <a:prstGeom prst="rect">
            <a:avLst/>
          </a:prstGeom>
          <a:noFill/>
          <a:ln/>
        </p:spPr>
        <p:txBody>
          <a:bodyPr wrap="square" lIns="0" tIns="0" rIns="0" bIns="0" rtlCol="0" anchor="t"/>
          <a:lstStyle/>
          <a:p>
            <a:pPr indent="0" marL="0">
              <a:buNone/>
            </a:pPr>
            <a:r>
              <a:rPr lang="en-US" sz="1500" b="1" u="sng" dirty="0">
                <a:solidFill>
                  <a:srgbClr val="1F2937"/>
                </a:solidFill>
                <a:hlinkClick r:id="rId15" action="ppaction://hlinksldjump" tooltip="See the result">
                  <a:extLst>
                    <a:ext uri="{A12FA001-AC4F-418D-AE19-62706E023703}">
                      <ahyp:hlinkClr xmlns:ahyp="http://schemas.microsoft.com/office/drawing/2018/hyperlinkcolor" val="tx"/>
                    </a:ext>
                  </a:extLst>
                </a:hlinkClick>
              </a:rPr>
              <a:t>“Can you explain home readings?”</a:t>
            </a:r>
            <a:endParaRPr lang="en-US" sz="1500" dirty="0"/>
          </a:p>
        </p:txBody>
      </p:sp>
      <p:sp>
        <p:nvSpPr>
          <p:cNvPr id="32" name="Text 30"/>
          <p:cNvSpPr txBox="1"/>
          <p:nvPr/>
        </p:nvSpPr>
        <p:spPr>
          <a:xfrm>
            <a:off x="822960" y="5394960"/>
            <a:ext cx="2743200" cy="274320"/>
          </a:xfrm>
          <a:prstGeom prst="rect">
            <a:avLst/>
          </a:prstGeom>
          <a:noFill/>
          <a:ln/>
        </p:spPr>
        <p:txBody>
          <a:bodyPr wrap="square" lIns="0" tIns="0" rIns="0" bIns="0" rtlCol="0" anchor="t"/>
          <a:lstStyle/>
          <a:p>
            <a:pPr indent="0" marL="0">
              <a:buNone/>
            </a:pPr>
            <a:r>
              <a:rPr lang="en-US" sz="1200" b="1" u="sng" dirty="0">
                <a:solidFill>
                  <a:srgbClr val="1F2937"/>
                </a:solidFill>
                <a:hlinkClick r:id="rId16" action="ppaction://hlinksldjump" tooltip="See the result">
                  <a:extLst>
                    <a:ext uri="{A12FA001-AC4F-418D-AE19-62706E023703}">
                      <ahyp:hlinkClr xmlns:ahyp="http://schemas.microsoft.com/office/drawing/2018/hyperlinkcolor" val="tx"/>
                    </a:ext>
                  </a:extLst>
                </a:hlinkClick>
              </a:rPr>
              <a:t>See the result →</a:t>
            </a:r>
            <a:endParaRPr lang="en-US" sz="1200" dirty="0"/>
          </a:p>
        </p:txBody>
      </p:sp>
      <p:sp>
        <p:nvSpPr>
          <p:cNvPr id="33" name="Text 31"/>
          <p:cNvSpPr txBox="1"/>
          <p:nvPr/>
        </p:nvSpPr>
        <p:spPr>
          <a:xfrm>
            <a:off x="3474720" y="5394960"/>
            <a:ext cx="2240280" cy="274320"/>
          </a:xfrm>
          <a:prstGeom prst="rect">
            <a:avLst/>
          </a:prstGeom>
          <a:noFill/>
          <a:ln/>
        </p:spPr>
        <p:txBody>
          <a:bodyPr wrap="square" lIns="0" tIns="0" rIns="0" bIns="0" rtlCol="0" anchor="t"/>
          <a:lstStyle/>
          <a:p>
            <a:pPr algn="r" indent="0" marL="0">
              <a:buNone/>
            </a:pPr>
            <a:r>
              <a:rPr lang="en-US" sz="1150" dirty="0">
                <a:solidFill>
                  <a:srgbClr val="5B6478"/>
                </a:solidFill>
              </a:rPr>
              <a:t>Consent has expired</a:t>
            </a:r>
            <a:endParaRPr lang="en-US" sz="1150" dirty="0"/>
          </a:p>
        </p:txBody>
      </p:sp>
      <p:sp>
        <p:nvSpPr>
          <p:cNvPr id="34" name="Prompt button"/>
          <p:cNvSpPr/>
          <p:nvPr/>
        </p:nvSpPr>
        <p:spPr>
          <a:xfrm>
            <a:off x="6199632" y="3794760"/>
            <a:ext cx="5440680" cy="2103120"/>
          </a:xfrm>
          <a:prstGeom prst="roundRect">
            <a:avLst>
              <a:gd name="adj" fmla="val 5217"/>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5" name="Pill"/>
          <p:cNvSpPr/>
          <p:nvPr/>
        </p:nvSpPr>
        <p:spPr>
          <a:xfrm>
            <a:off x="6473952" y="4050792"/>
            <a:ext cx="731520" cy="310896"/>
          </a:xfrm>
          <a:prstGeom prst="roundRect">
            <a:avLst>
              <a:gd name="adj" fmla="val 50000"/>
            </a:avLst>
          </a:prstGeom>
          <a:solidFill>
            <a:srgbClr val="8338EC"/>
          </a:solidFill>
          <a:ln w="12700">
            <a:solidFill>
              <a:srgbClr val="8338EC"/>
            </a:solidFill>
            <a:prstDash val="solid"/>
          </a:ln>
        </p:spPr>
      </p:sp>
      <p:sp>
        <p:nvSpPr>
          <p:cNvPr id="36" name="Text 34"/>
          <p:cNvSpPr txBox="1"/>
          <p:nvPr/>
        </p:nvSpPr>
        <p:spPr>
          <a:xfrm>
            <a:off x="6473952" y="4050792"/>
            <a:ext cx="731520" cy="310896"/>
          </a:xfrm>
          <a:prstGeom prst="rect">
            <a:avLst/>
          </a:prstGeom>
          <a:noFill/>
          <a:ln/>
        </p:spPr>
        <p:txBody>
          <a:bodyPr wrap="square" lIns="0" tIns="0" rIns="0" bIns="0" rtlCol="0" anchor="ctr"/>
          <a:lstStyle/>
          <a:p>
            <a:pPr algn="ctr" indent="0" marL="0">
              <a:buNone/>
            </a:pPr>
            <a:r>
              <a:rPr lang="en-US" sz="1100" b="1" dirty="0">
                <a:solidFill>
                  <a:srgbClr val="FFFFFF"/>
                </a:solidFill>
              </a:rPr>
              <a:t>M-102</a:t>
            </a:r>
            <a:endParaRPr lang="en-US" sz="1100" dirty="0"/>
          </a:p>
        </p:txBody>
      </p:sp>
      <p:sp>
        <p:nvSpPr>
          <p:cNvPr id="37" name="Text 35"/>
          <p:cNvSpPr txBox="1"/>
          <p:nvPr/>
        </p:nvSpPr>
        <p:spPr>
          <a:xfrm>
            <a:off x="6473952" y="4526280"/>
            <a:ext cx="4892040" cy="731520"/>
          </a:xfrm>
          <a:prstGeom prst="rect">
            <a:avLst/>
          </a:prstGeom>
          <a:noFill/>
          <a:ln/>
        </p:spPr>
        <p:txBody>
          <a:bodyPr wrap="square" lIns="0" tIns="0" rIns="0" bIns="0" rtlCol="0" anchor="t"/>
          <a:lstStyle/>
          <a:p>
            <a:pPr indent="0" marL="0">
              <a:buNone/>
            </a:pPr>
            <a:r>
              <a:rPr lang="en-US" sz="1500" b="1" u="sng" dirty="0">
                <a:solidFill>
                  <a:srgbClr val="1F2937"/>
                </a:solidFill>
                <a:hlinkClick r:id="rId17" action="ppaction://hlinksldjump" tooltip="See the result">
                  <a:extLst>
                    <a:ext uri="{A12FA001-AC4F-418D-AE19-62706E023703}">
                      <ahyp:hlinkClr xmlns:ahyp="http://schemas.microsoft.com/office/drawing/2018/hyperlinkcolor" val="tx"/>
                    </a:ext>
                  </a:extLst>
                </a:hlinkClick>
              </a:rPr>
              <a:t>“Summarize my blood pressure for the last week”</a:t>
            </a:r>
            <a:endParaRPr lang="en-US" sz="1500" dirty="0"/>
          </a:p>
        </p:txBody>
      </p:sp>
      <p:sp>
        <p:nvSpPr>
          <p:cNvPr id="38" name="Text 36"/>
          <p:cNvSpPr txBox="1"/>
          <p:nvPr/>
        </p:nvSpPr>
        <p:spPr>
          <a:xfrm>
            <a:off x="6473952" y="5394960"/>
            <a:ext cx="2743200" cy="274320"/>
          </a:xfrm>
          <a:prstGeom prst="rect">
            <a:avLst/>
          </a:prstGeom>
          <a:noFill/>
          <a:ln/>
        </p:spPr>
        <p:txBody>
          <a:bodyPr wrap="square" lIns="0" tIns="0" rIns="0" bIns="0" rtlCol="0" anchor="t"/>
          <a:lstStyle/>
          <a:p>
            <a:pPr indent="0" marL="0">
              <a:buNone/>
            </a:pPr>
            <a:r>
              <a:rPr lang="en-US" sz="1200" b="1" u="sng" dirty="0">
                <a:solidFill>
                  <a:srgbClr val="1F2937"/>
                </a:solidFill>
                <a:hlinkClick r:id="rId18" action="ppaction://hlinksldjump" tooltip="See the result">
                  <a:extLst>
                    <a:ext uri="{A12FA001-AC4F-418D-AE19-62706E023703}">
                      <ahyp:hlinkClr xmlns:ahyp="http://schemas.microsoft.com/office/drawing/2018/hyperlinkcolor" val="tx"/>
                    </a:ext>
                  </a:extLst>
                </a:hlinkClick>
              </a:rPr>
              <a:t>See the result →</a:t>
            </a:r>
            <a:endParaRPr lang="en-US" sz="1200" dirty="0"/>
          </a:p>
        </p:txBody>
      </p:sp>
      <p:sp>
        <p:nvSpPr>
          <p:cNvPr id="39" name="Text 37"/>
          <p:cNvSpPr txBox="1"/>
          <p:nvPr/>
        </p:nvSpPr>
        <p:spPr>
          <a:xfrm>
            <a:off x="9125712" y="5394960"/>
            <a:ext cx="2240280" cy="274320"/>
          </a:xfrm>
          <a:prstGeom prst="rect">
            <a:avLst/>
          </a:prstGeom>
          <a:noFill/>
          <a:ln/>
        </p:spPr>
        <p:txBody>
          <a:bodyPr wrap="square" lIns="0" tIns="0" rIns="0" bIns="0" rtlCol="0" anchor="t"/>
          <a:lstStyle/>
          <a:p>
            <a:pPr algn="r" indent="0" marL="0">
              <a:buNone/>
            </a:pPr>
            <a:r>
              <a:rPr lang="en-US" sz="1150" dirty="0">
                <a:solidFill>
                  <a:srgbClr val="5B6478"/>
                </a:solidFill>
              </a:rPr>
              <a:t>An urgent staff review</a:t>
            </a:r>
            <a:endParaRPr lang="en-US" sz="11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04  ·  TRY IT  ·  RESULT</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A cited answer from approved content</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Try it</a:t>
            </a:r>
            <a:endParaRPr lang="en-US" sz="950" dirty="0"/>
          </a:p>
        </p:txBody>
      </p:sp>
      <p:sp>
        <p:nvSpPr>
          <p:cNvPr id="12" name="Shape 10"/>
          <p:cNvSpPr/>
          <p:nvPr/>
        </p:nvSpPr>
        <p:spPr>
          <a:xfrm>
            <a:off x="7027164" y="6309360"/>
            <a:ext cx="73152" cy="73152"/>
          </a:xfrm>
          <a:prstGeom prst="ellipse">
            <a:avLst/>
          </a:prstGeom>
          <a:solidFill>
            <a:srgbClr val="1547C8"/>
          </a:solidFill>
          <a:ln w="12700">
            <a:solidFill>
              <a:srgbClr val="1547C8"/>
            </a:solidFill>
            <a:prstDash val="solid"/>
          </a:ln>
        </p:spPr>
      </p:sp>
      <p:sp>
        <p:nvSpPr>
          <p:cNvPr id="13" name="Text 11"/>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Question"/>
          <p:cNvSpPr/>
          <p:nvPr/>
        </p:nvSpPr>
        <p:spPr>
          <a:xfrm>
            <a:off x="548640" y="1463040"/>
            <a:ext cx="11091672" cy="1097280"/>
          </a:xfrm>
          <a:prstGeom prst="roundRect">
            <a:avLst>
              <a:gd name="adj" fmla="val 10000"/>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17" name="Text 15"/>
          <p:cNvSpPr txBox="1"/>
          <p:nvPr/>
        </p:nvSpPr>
        <p:spPr>
          <a:xfrm>
            <a:off x="822960" y="1600200"/>
            <a:ext cx="2743200" cy="228600"/>
          </a:xfrm>
          <a:prstGeom prst="rect">
            <a:avLst/>
          </a:prstGeom>
          <a:noFill/>
          <a:ln/>
        </p:spPr>
        <p:txBody>
          <a:bodyPr wrap="square" lIns="0" tIns="0" rIns="0" bIns="0" rtlCol="0" anchor="t"/>
          <a:lstStyle/>
          <a:p>
            <a:pPr indent="0" marL="0">
              <a:buNone/>
            </a:pPr>
            <a:r>
              <a:rPr lang="en-US" sz="1000" b="1" spc="300" kern="0" dirty="0">
                <a:solidFill>
                  <a:srgbClr val="1547C8"/>
                </a:solidFill>
              </a:rPr>
              <a:t>MEMBER ASKS</a:t>
            </a:r>
            <a:endParaRPr lang="en-US" sz="1000" dirty="0"/>
          </a:p>
        </p:txBody>
      </p:sp>
      <p:sp>
        <p:nvSpPr>
          <p:cNvPr id="18" name="Text 16"/>
          <p:cNvSpPr txBox="1"/>
          <p:nvPr/>
        </p:nvSpPr>
        <p:spPr>
          <a:xfrm>
            <a:off x="822960" y="1828800"/>
            <a:ext cx="8138160" cy="411480"/>
          </a:xfrm>
          <a:prstGeom prst="rect">
            <a:avLst/>
          </a:prstGeom>
          <a:noFill/>
          <a:ln/>
        </p:spPr>
        <p:txBody>
          <a:bodyPr wrap="square" lIns="0" tIns="0" rIns="0" bIns="0" rtlCol="0" anchor="ctr"/>
          <a:lstStyle/>
          <a:p>
            <a:pPr indent="0" marL="0">
              <a:buNone/>
            </a:pPr>
            <a:r>
              <a:rPr lang="en-US" sz="1600" dirty="0">
                <a:solidFill>
                  <a:srgbClr val="1F2937"/>
                </a:solidFill>
                <a:latin typeface="Courier New" pitchFamily="34" charset="0"/>
                <a:ea typeface="Courier New" pitchFamily="34" charset="-122"/>
                <a:cs typeface="Courier New" pitchFamily="34" charset="-120"/>
              </a:rPr>
              <a:t>Why should I record my readings at home?</a:t>
            </a:r>
            <a:endParaRPr lang="en-US" sz="1600" dirty="0"/>
          </a:p>
        </p:txBody>
      </p:sp>
      <p:sp>
        <p:nvSpPr>
          <p:cNvPr id="19" name="Text 17"/>
          <p:cNvSpPr txBox="1"/>
          <p:nvPr/>
        </p:nvSpPr>
        <p:spPr>
          <a:xfrm>
            <a:off x="822960" y="2286000"/>
            <a:ext cx="8138160" cy="256032"/>
          </a:xfrm>
          <a:prstGeom prst="rect">
            <a:avLst/>
          </a:prstGeom>
          <a:noFill/>
          <a:ln/>
        </p:spPr>
        <p:txBody>
          <a:bodyPr wrap="square" lIns="0" tIns="0" rIns="0" bIns="0" rtlCol="0" anchor="t"/>
          <a:lstStyle/>
          <a:p>
            <a:pPr indent="0" marL="0">
              <a:buNone/>
            </a:pPr>
            <a:r>
              <a:rPr lang="en-US" sz="1100" dirty="0">
                <a:solidFill>
                  <a:srgbClr val="5B6478"/>
                </a:solidFill>
              </a:rPr>
              <a:t>M-101 · Diabetes Support</a:t>
            </a:r>
            <a:endParaRPr lang="en-US" sz="1100" dirty="0"/>
          </a:p>
        </p:txBody>
      </p:sp>
      <p:sp>
        <p:nvSpPr>
          <p:cNvPr id="20" name="Pill"/>
          <p:cNvSpPr/>
          <p:nvPr/>
        </p:nvSpPr>
        <p:spPr>
          <a:xfrm>
            <a:off x="9509760" y="1783080"/>
            <a:ext cx="1828800" cy="457200"/>
          </a:xfrm>
          <a:prstGeom prst="roundRect">
            <a:avLst>
              <a:gd name="adj" fmla="val 50000"/>
            </a:avLst>
          </a:prstGeom>
          <a:solidFill>
            <a:srgbClr val="12A36B"/>
          </a:solidFill>
          <a:ln w="12700">
            <a:solidFill>
              <a:srgbClr val="12A36B"/>
            </a:solidFill>
            <a:prstDash val="solid"/>
          </a:ln>
        </p:spPr>
      </p:sp>
      <p:sp>
        <p:nvSpPr>
          <p:cNvPr id="21" name="Text 19"/>
          <p:cNvSpPr txBox="1"/>
          <p:nvPr/>
        </p:nvSpPr>
        <p:spPr>
          <a:xfrm>
            <a:off x="9509760" y="1783080"/>
            <a:ext cx="1828800" cy="457200"/>
          </a:xfrm>
          <a:prstGeom prst="rect">
            <a:avLst/>
          </a:prstGeom>
          <a:noFill/>
          <a:ln/>
        </p:spPr>
        <p:txBody>
          <a:bodyPr wrap="square" lIns="0" tIns="0" rIns="0" bIns="0" rtlCol="0" anchor="ctr"/>
          <a:lstStyle/>
          <a:p>
            <a:pPr algn="ctr" indent="0" marL="0">
              <a:buNone/>
            </a:pPr>
            <a:r>
              <a:rPr lang="en-US" sz="1400" b="1" dirty="0">
                <a:solidFill>
                  <a:srgbClr val="FFFFFF"/>
                </a:solidFill>
              </a:rPr>
              <a:t>NO RULE TRIGGERED</a:t>
            </a:r>
            <a:endParaRPr lang="en-US" sz="1400" dirty="0"/>
          </a:p>
        </p:txBody>
      </p:sp>
      <p:sp>
        <p:nvSpPr>
          <p:cNvPr id="22" name="MEMBER SEES"/>
          <p:cNvSpPr/>
          <p:nvPr/>
        </p:nvSpPr>
        <p:spPr>
          <a:xfrm>
            <a:off x="548640" y="2788920"/>
            <a:ext cx="5440680" cy="2377440"/>
          </a:xfrm>
          <a:prstGeom prst="roundRect">
            <a:avLst>
              <a:gd name="adj" fmla="val 461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3" name="Icon dot"/>
          <p:cNvSpPr/>
          <p:nvPr/>
        </p:nvSpPr>
        <p:spPr>
          <a:xfrm>
            <a:off x="822960" y="3017520"/>
            <a:ext cx="457200" cy="457200"/>
          </a:xfrm>
          <a:prstGeom prst="ellipse">
            <a:avLst/>
          </a:prstGeom>
          <a:solidFill>
            <a:srgbClr val="1547C8"/>
          </a:solidFill>
          <a:ln w="12700">
            <a:solidFill>
              <a:srgbClr val="1547C8"/>
            </a:solidFill>
            <a:prstDash val="solid"/>
          </a:ln>
        </p:spPr>
      </p:sp>
      <p:pic>
        <p:nvPicPr>
          <p:cNvPr id="24" name="Image 0" descr="UserMd icon">    </p:cNvPr>
          <p:cNvPicPr>
            <a:picLocks noChangeAspect="1"/>
          </p:cNvPicPr>
          <p:nvPr/>
        </p:nvPicPr>
        <p:blipFill>
          <a:blip r:embed="rId11"/>
          <a:stretch>
            <a:fillRect/>
          </a:stretch>
        </p:blipFill>
        <p:spPr>
          <a:xfrm>
            <a:off x="941832" y="3136392"/>
            <a:ext cx="219456" cy="219456"/>
          </a:xfrm>
          <a:prstGeom prst="rect">
            <a:avLst/>
          </a:prstGeom>
        </p:spPr>
      </p:pic>
      <p:sp>
        <p:nvSpPr>
          <p:cNvPr id="25" name="Text 22"/>
          <p:cNvSpPr txBox="1"/>
          <p:nvPr/>
        </p:nvSpPr>
        <p:spPr>
          <a:xfrm>
            <a:off x="1463040" y="3017520"/>
            <a:ext cx="4114800" cy="457200"/>
          </a:xfrm>
          <a:prstGeom prst="rect">
            <a:avLst/>
          </a:prstGeom>
          <a:noFill/>
          <a:ln/>
        </p:spPr>
        <p:txBody>
          <a:bodyPr wrap="square" lIns="0" tIns="0" rIns="0" bIns="0" rtlCol="0" anchor="ctr"/>
          <a:lstStyle/>
          <a:p>
            <a:pPr indent="0" marL="0">
              <a:buNone/>
            </a:pPr>
            <a:r>
              <a:rPr lang="en-US" sz="1200" b="1" spc="300" kern="0" dirty="0">
                <a:solidFill>
                  <a:srgbClr val="1547C8"/>
                </a:solidFill>
              </a:rPr>
              <a:t>MEMBER SEES</a:t>
            </a:r>
            <a:endParaRPr lang="en-US" sz="1200" dirty="0"/>
          </a:p>
        </p:txBody>
      </p:sp>
      <p:pic>
        <p:nvPicPr>
          <p:cNvPr id="26" name="Image 1" descr="Item">    </p:cNvPr>
          <p:cNvPicPr>
            <a:picLocks noChangeAspect="1"/>
          </p:cNvPicPr>
          <p:nvPr/>
        </p:nvPicPr>
        <p:blipFill>
          <a:blip r:embed="rId12"/>
          <a:stretch>
            <a:fillRect/>
          </a:stretch>
        </p:blipFill>
        <p:spPr>
          <a:xfrm>
            <a:off x="822960" y="3703320"/>
            <a:ext cx="219456" cy="219456"/>
          </a:xfrm>
          <a:prstGeom prst="rect">
            <a:avLst/>
          </a:prstGeom>
        </p:spPr>
      </p:pic>
      <p:sp>
        <p:nvSpPr>
          <p:cNvPr id="27" name="Text 23"/>
          <p:cNvSpPr txBox="1"/>
          <p:nvPr/>
        </p:nvSpPr>
        <p:spPr>
          <a:xfrm>
            <a:off x="1188720" y="3657600"/>
            <a:ext cx="4572000" cy="420624"/>
          </a:xfrm>
          <a:prstGeom prst="rect">
            <a:avLst/>
          </a:prstGeom>
          <a:noFill/>
          <a:ln/>
        </p:spPr>
        <p:txBody>
          <a:bodyPr wrap="square" lIns="0" tIns="0" rIns="0" bIns="0" rtlCol="0" anchor="ctr"/>
          <a:lstStyle/>
          <a:p>
            <a:pPr indent="0" marL="0">
              <a:buNone/>
            </a:pPr>
            <a:r>
              <a:rPr lang="en-US" sz="1300" dirty="0">
                <a:solidFill>
                  <a:srgbClr val="1F2937"/>
                </a:solidFill>
              </a:rPr>
              <a:t>A short, plain-language answer from the approved article</a:t>
            </a:r>
            <a:endParaRPr lang="en-US" sz="1300" dirty="0"/>
          </a:p>
        </p:txBody>
      </p:sp>
      <p:pic>
        <p:nvPicPr>
          <p:cNvPr id="28" name="Image 2" descr="Item">    </p:cNvPr>
          <p:cNvPicPr>
            <a:picLocks noChangeAspect="1"/>
          </p:cNvPicPr>
          <p:nvPr/>
        </p:nvPicPr>
        <p:blipFill>
          <a:blip r:embed="rId13"/>
          <a:stretch>
            <a:fillRect/>
          </a:stretch>
        </p:blipFill>
        <p:spPr>
          <a:xfrm>
            <a:off x="822960" y="4178808"/>
            <a:ext cx="219456" cy="219456"/>
          </a:xfrm>
          <a:prstGeom prst="rect">
            <a:avLst/>
          </a:prstGeom>
        </p:spPr>
      </p:pic>
      <p:sp>
        <p:nvSpPr>
          <p:cNvPr id="29" name="Text 24"/>
          <p:cNvSpPr txBox="1"/>
          <p:nvPr/>
        </p:nvSpPr>
        <p:spPr>
          <a:xfrm>
            <a:off x="1188720" y="4133088"/>
            <a:ext cx="4572000" cy="420624"/>
          </a:xfrm>
          <a:prstGeom prst="rect">
            <a:avLst/>
          </a:prstGeom>
          <a:noFill/>
          <a:ln/>
        </p:spPr>
        <p:txBody>
          <a:bodyPr wrap="square" lIns="0" tIns="0" rIns="0" bIns="0" rtlCol="0" anchor="ctr"/>
          <a:lstStyle/>
          <a:p>
            <a:pPr indent="0" marL="0">
              <a:buNone/>
            </a:pPr>
            <a:r>
              <a:rPr lang="en-US" sz="1300" dirty="0">
                <a:solidFill>
                  <a:srgbClr val="1F2937"/>
                </a:solidFill>
              </a:rPr>
              <a:t>Source shown: EDU-401 (v4)</a:t>
            </a:r>
            <a:endParaRPr lang="en-US" sz="1300" dirty="0"/>
          </a:p>
        </p:txBody>
      </p:sp>
      <p:pic>
        <p:nvPicPr>
          <p:cNvPr id="30" name="Image 3" descr="Item">    </p:cNvPr>
          <p:cNvPicPr>
            <a:picLocks noChangeAspect="1"/>
          </p:cNvPicPr>
          <p:nvPr/>
        </p:nvPicPr>
        <p:blipFill>
          <a:blip r:embed="rId14"/>
          <a:stretch>
            <a:fillRect/>
          </a:stretch>
        </p:blipFill>
        <p:spPr>
          <a:xfrm>
            <a:off x="822960" y="4654296"/>
            <a:ext cx="219456" cy="219456"/>
          </a:xfrm>
          <a:prstGeom prst="rect">
            <a:avLst/>
          </a:prstGeom>
        </p:spPr>
      </p:pic>
      <p:sp>
        <p:nvSpPr>
          <p:cNvPr id="31" name="Text 25"/>
          <p:cNvSpPr txBox="1"/>
          <p:nvPr/>
        </p:nvSpPr>
        <p:spPr>
          <a:xfrm>
            <a:off x="1188720" y="4608576"/>
            <a:ext cx="4572000" cy="420624"/>
          </a:xfrm>
          <a:prstGeom prst="rect">
            <a:avLst/>
          </a:prstGeom>
          <a:noFill/>
          <a:ln/>
        </p:spPr>
        <p:txBody>
          <a:bodyPr wrap="square" lIns="0" tIns="0" rIns="0" bIns="0" rtlCol="0" anchor="ctr"/>
          <a:lstStyle/>
          <a:p>
            <a:pPr indent="0" marL="0">
              <a:buNone/>
            </a:pPr>
            <a:r>
              <a:rPr lang="en-US" sz="1300" dirty="0">
                <a:solidFill>
                  <a:srgbClr val="1F2937"/>
                </a:solidFill>
              </a:rPr>
              <a:t>Due plan items and the disclaimer</a:t>
            </a:r>
            <a:endParaRPr lang="en-US" sz="1300" dirty="0"/>
          </a:p>
        </p:txBody>
      </p:sp>
      <p:sp>
        <p:nvSpPr>
          <p:cNvPr id="32" name="STAFF SEES"/>
          <p:cNvSpPr/>
          <p:nvPr/>
        </p:nvSpPr>
        <p:spPr>
          <a:xfrm>
            <a:off x="6199632" y="2788920"/>
            <a:ext cx="5440680" cy="2377440"/>
          </a:xfrm>
          <a:prstGeom prst="roundRect">
            <a:avLst>
              <a:gd name="adj" fmla="val 461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3" name="Icon dot"/>
          <p:cNvSpPr/>
          <p:nvPr/>
        </p:nvSpPr>
        <p:spPr>
          <a:xfrm>
            <a:off x="6473952" y="3017520"/>
            <a:ext cx="457200" cy="457200"/>
          </a:xfrm>
          <a:prstGeom prst="ellipse">
            <a:avLst/>
          </a:prstGeom>
          <a:solidFill>
            <a:srgbClr val="1547C8"/>
          </a:solidFill>
          <a:ln w="12700">
            <a:solidFill>
              <a:srgbClr val="1547C8"/>
            </a:solidFill>
            <a:prstDash val="solid"/>
          </a:ln>
        </p:spPr>
      </p:sp>
      <p:pic>
        <p:nvPicPr>
          <p:cNvPr id="34" name="Image 4" descr="ClipboardList icon">    </p:cNvPr>
          <p:cNvPicPr>
            <a:picLocks noChangeAspect="1"/>
          </p:cNvPicPr>
          <p:nvPr/>
        </p:nvPicPr>
        <p:blipFill>
          <a:blip r:embed="rId15"/>
          <a:stretch>
            <a:fillRect/>
          </a:stretch>
        </p:blipFill>
        <p:spPr>
          <a:xfrm>
            <a:off x="6592824" y="3136392"/>
            <a:ext cx="219456" cy="219456"/>
          </a:xfrm>
          <a:prstGeom prst="rect">
            <a:avLst/>
          </a:prstGeom>
        </p:spPr>
      </p:pic>
      <p:sp>
        <p:nvSpPr>
          <p:cNvPr id="35" name="Text 28"/>
          <p:cNvSpPr txBox="1"/>
          <p:nvPr/>
        </p:nvSpPr>
        <p:spPr>
          <a:xfrm>
            <a:off x="7114032" y="3017520"/>
            <a:ext cx="4114800" cy="457200"/>
          </a:xfrm>
          <a:prstGeom prst="rect">
            <a:avLst/>
          </a:prstGeom>
          <a:noFill/>
          <a:ln/>
        </p:spPr>
        <p:txBody>
          <a:bodyPr wrap="square" lIns="0" tIns="0" rIns="0" bIns="0" rtlCol="0" anchor="ctr"/>
          <a:lstStyle/>
          <a:p>
            <a:pPr indent="0" marL="0">
              <a:buNone/>
            </a:pPr>
            <a:r>
              <a:rPr lang="en-US" sz="1200" b="1" spc="300" kern="0" dirty="0">
                <a:solidFill>
                  <a:srgbClr val="1547C8"/>
                </a:solidFill>
              </a:rPr>
              <a:t>STAFF SEES</a:t>
            </a:r>
            <a:endParaRPr lang="en-US" sz="1200" dirty="0"/>
          </a:p>
        </p:txBody>
      </p:sp>
      <p:pic>
        <p:nvPicPr>
          <p:cNvPr id="36" name="Image 5" descr="Item">    </p:cNvPr>
          <p:cNvPicPr>
            <a:picLocks noChangeAspect="1"/>
          </p:cNvPicPr>
          <p:nvPr/>
        </p:nvPicPr>
        <p:blipFill>
          <a:blip r:embed="rId16"/>
          <a:stretch>
            <a:fillRect/>
          </a:stretch>
        </p:blipFill>
        <p:spPr>
          <a:xfrm>
            <a:off x="6473952" y="3703320"/>
            <a:ext cx="219456" cy="219456"/>
          </a:xfrm>
          <a:prstGeom prst="rect">
            <a:avLst/>
          </a:prstGeom>
        </p:spPr>
      </p:pic>
      <p:sp>
        <p:nvSpPr>
          <p:cNvPr id="37" name="Text 29"/>
          <p:cNvSpPr txBox="1"/>
          <p:nvPr/>
        </p:nvSpPr>
        <p:spPr>
          <a:xfrm>
            <a:off x="6839712" y="3657600"/>
            <a:ext cx="4572000" cy="420624"/>
          </a:xfrm>
          <a:prstGeom prst="rect">
            <a:avLst/>
          </a:prstGeom>
          <a:noFill/>
          <a:ln/>
        </p:spPr>
        <p:txBody>
          <a:bodyPr wrap="square" lIns="0" tIns="0" rIns="0" bIns="0" rtlCol="0" anchor="ctr"/>
          <a:lstStyle/>
          <a:p>
            <a:pPr indent="0" marL="0">
              <a:buNone/>
            </a:pPr>
            <a:r>
              <a:rPr lang="en-US" sz="1300" dirty="0">
                <a:solidFill>
                  <a:srgbClr val="1F2937"/>
                </a:solidFill>
              </a:rPr>
              <a:t>Request: general education question</a:t>
            </a:r>
            <a:endParaRPr lang="en-US" sz="1300" dirty="0"/>
          </a:p>
        </p:txBody>
      </p:sp>
      <p:pic>
        <p:nvPicPr>
          <p:cNvPr id="38" name="Image 6" descr="Item">    </p:cNvPr>
          <p:cNvPicPr>
            <a:picLocks noChangeAspect="1"/>
          </p:cNvPicPr>
          <p:nvPr/>
        </p:nvPicPr>
        <p:blipFill>
          <a:blip r:embed="rId17"/>
          <a:stretch>
            <a:fillRect/>
          </a:stretch>
        </p:blipFill>
        <p:spPr>
          <a:xfrm>
            <a:off x="6473952" y="4178808"/>
            <a:ext cx="219456" cy="219456"/>
          </a:xfrm>
          <a:prstGeom prst="rect">
            <a:avLst/>
          </a:prstGeom>
        </p:spPr>
      </p:pic>
      <p:sp>
        <p:nvSpPr>
          <p:cNvPr id="39" name="Text 30"/>
          <p:cNvSpPr txBox="1"/>
          <p:nvPr/>
        </p:nvSpPr>
        <p:spPr>
          <a:xfrm>
            <a:off x="6839712" y="4133088"/>
            <a:ext cx="4572000" cy="420624"/>
          </a:xfrm>
          <a:prstGeom prst="rect">
            <a:avLst/>
          </a:prstGeom>
          <a:noFill/>
          <a:ln/>
        </p:spPr>
        <p:txBody>
          <a:bodyPr wrap="square" lIns="0" tIns="0" rIns="0" bIns="0" rtlCol="0" anchor="ctr"/>
          <a:lstStyle/>
          <a:p>
            <a:pPr indent="0" marL="0">
              <a:buNone/>
            </a:pPr>
            <a:r>
              <a:rPr lang="en-US" sz="1300" dirty="0">
                <a:solidFill>
                  <a:srgbClr val="1F2937"/>
                </a:solidFill>
              </a:rPr>
              <a:t>Retrieved source: EDU-401 v4</a:t>
            </a:r>
            <a:endParaRPr lang="en-US" sz="1300" dirty="0"/>
          </a:p>
        </p:txBody>
      </p:sp>
      <p:pic>
        <p:nvPicPr>
          <p:cNvPr id="40" name="Image 7" descr="Item">    </p:cNvPr>
          <p:cNvPicPr>
            <a:picLocks noChangeAspect="1"/>
          </p:cNvPicPr>
          <p:nvPr/>
        </p:nvPicPr>
        <p:blipFill>
          <a:blip r:embed="rId18"/>
          <a:stretch>
            <a:fillRect/>
          </a:stretch>
        </p:blipFill>
        <p:spPr>
          <a:xfrm>
            <a:off x="6473952" y="4654296"/>
            <a:ext cx="219456" cy="219456"/>
          </a:xfrm>
          <a:prstGeom prst="rect">
            <a:avLst/>
          </a:prstGeom>
        </p:spPr>
      </p:pic>
      <p:sp>
        <p:nvSpPr>
          <p:cNvPr id="41" name="Text 31"/>
          <p:cNvSpPr txBox="1"/>
          <p:nvPr/>
        </p:nvSpPr>
        <p:spPr>
          <a:xfrm>
            <a:off x="6839712" y="4608576"/>
            <a:ext cx="4572000" cy="420624"/>
          </a:xfrm>
          <a:prstGeom prst="rect">
            <a:avLst/>
          </a:prstGeom>
          <a:noFill/>
          <a:ln/>
        </p:spPr>
        <p:txBody>
          <a:bodyPr wrap="square" lIns="0" tIns="0" rIns="0" bIns="0" rtlCol="0" anchor="ctr"/>
          <a:lstStyle/>
          <a:p>
            <a:pPr indent="0" marL="0">
              <a:buNone/>
            </a:pPr>
            <a:r>
              <a:rPr lang="en-US" sz="1300" dirty="0">
                <a:solidFill>
                  <a:srgbClr val="1F2937"/>
                </a:solidFill>
              </a:rPr>
              <a:t>No escalation</a:t>
            </a:r>
            <a:endParaRPr lang="en-US" sz="1300" dirty="0"/>
          </a:p>
        </p:txBody>
      </p:sp>
      <p:sp>
        <p:nvSpPr>
          <p:cNvPr id="42" name="Why"/>
          <p:cNvSpPr/>
          <p:nvPr/>
        </p:nvSpPr>
        <p:spPr>
          <a:xfrm>
            <a:off x="548640" y="5394960"/>
            <a:ext cx="8229600" cy="731520"/>
          </a:xfrm>
          <a:prstGeom prst="roundRect">
            <a:avLst>
              <a:gd name="adj" fmla="val 25000"/>
            </a:avLst>
          </a:prstGeom>
          <a:solidFill>
            <a:srgbClr val="EAF0FC"/>
          </a:solidFill>
          <a:ln w="12700">
            <a:solidFill>
              <a:srgbClr val="BFD0F5"/>
            </a:solidFill>
            <a:prstDash val="solid"/>
          </a:ln>
        </p:spPr>
      </p:sp>
      <p:sp>
        <p:nvSpPr>
          <p:cNvPr id="43" name="Text 33"/>
          <p:cNvSpPr txBox="1"/>
          <p:nvPr/>
        </p:nvSpPr>
        <p:spPr>
          <a:xfrm>
            <a:off x="822960" y="5394960"/>
            <a:ext cx="7772400" cy="731520"/>
          </a:xfrm>
          <a:prstGeom prst="rect">
            <a:avLst/>
          </a:prstGeom>
          <a:noFill/>
          <a:ln/>
        </p:spPr>
        <p:txBody>
          <a:bodyPr wrap="square" lIns="0" tIns="0" rIns="0" bIns="0" rtlCol="0" anchor="ctr"/>
          <a:lstStyle/>
          <a:p>
            <a:pPr indent="0" marL="0">
              <a:buNone/>
            </a:pPr>
            <a:r>
              <a:rPr lang="en-US" sz="1250" b="1" spc="200" kern="0" dirty="0">
                <a:solidFill>
                  <a:srgbClr val="1547C8"/>
                </a:solidFill>
              </a:rPr>
              <a:t>WHY  </a:t>
            </a:r>
            <a:pPr indent="0" marL="0">
              <a:buNone/>
            </a:pPr>
            <a:r>
              <a:rPr lang="en-US" sz="1250" dirty="0">
                <a:solidFill>
                  <a:srgbClr val="1F2937"/>
                </a:solidFill>
              </a:rPr>
              <a:t>The citation is checked in code: the ID, the status, the member's program and the version.</a:t>
            </a:r>
            <a:endParaRPr lang="en-US" sz="1250" dirty="0"/>
          </a:p>
        </p:txBody>
      </p:sp>
      <p:sp>
        <p:nvSpPr>
          <p:cNvPr id="44" name="Pill"/>
          <p:cNvSpPr/>
          <p:nvPr/>
        </p:nvSpPr>
        <p:spPr>
          <a:xfrm>
            <a:off x="9052560" y="5486400"/>
            <a:ext cx="2587752" cy="548640"/>
          </a:xfrm>
          <a:prstGeom prst="roundRect">
            <a:avLst>
              <a:gd name="adj" fmla="val 41667"/>
            </a:avLst>
          </a:prstGeom>
          <a:solidFill>
            <a:srgbClr val="1547C8"/>
          </a:solidFill>
          <a:ln w="12700">
            <a:solidFill>
              <a:srgbClr val="1547C8"/>
            </a:solidFill>
            <a:prstDash val="solid"/>
          </a:ln>
        </p:spPr>
      </p:sp>
      <p:sp>
        <p:nvSpPr>
          <p:cNvPr id="45" name="Text 35"/>
          <p:cNvSpPr txBox="1"/>
          <p:nvPr/>
        </p:nvSpPr>
        <p:spPr>
          <a:xfrm>
            <a:off x="9052560" y="5486400"/>
            <a:ext cx="2587752" cy="548640"/>
          </a:xfrm>
          <a:prstGeom prst="rect">
            <a:avLst/>
          </a:prstGeom>
          <a:noFill/>
          <a:ln/>
        </p:spPr>
        <p:txBody>
          <a:bodyPr wrap="square" lIns="0" tIns="0" rIns="0" bIns="0" rtlCol="0" anchor="ctr"/>
          <a:lstStyle/>
          <a:p>
            <a:pPr algn="ctr" indent="0" marL="0">
              <a:buNone/>
            </a:pPr>
            <a:endParaRPr lang="en-US" sz="1200" dirty="0"/>
          </a:p>
        </p:txBody>
      </p:sp>
      <p:sp>
        <p:nvSpPr>
          <p:cNvPr id="46" name="Text 36"/>
          <p:cNvSpPr txBox="1"/>
          <p:nvPr/>
        </p:nvSpPr>
        <p:spPr>
          <a:xfrm>
            <a:off x="9052560" y="5486400"/>
            <a:ext cx="2587752" cy="548640"/>
          </a:xfrm>
          <a:prstGeom prst="rect">
            <a:avLst/>
          </a:prstGeom>
          <a:noFill/>
          <a:ln/>
        </p:spPr>
        <p:txBody>
          <a:bodyPr wrap="square" lIns="0" tIns="0" rIns="0" bIns="0" rtlCol="0" anchor="ctr"/>
          <a:lstStyle/>
          <a:p>
            <a:pPr algn="ctr" indent="0" marL="0">
              <a:buNone/>
            </a:pPr>
            <a:r>
              <a:rPr lang="en-US" sz="1200" b="1" u="sng" dirty="0">
                <a:solidFill>
                  <a:srgbClr val="FFFFFF"/>
                </a:solidFill>
                <a:hlinkClick r:id="rId19" action="ppaction://hlinksldjump" tooltip="Back to the questions">
                  <a:extLst>
                    <a:ext uri="{A12FA001-AC4F-418D-AE19-62706E023703}">
                      <ahyp:hlinkClr xmlns:ahyp="http://schemas.microsoft.com/office/drawing/2018/hyperlinkcolor" val="tx"/>
                    </a:ext>
                  </a:extLst>
                </a:hlinkClick>
              </a:rPr>
              <a:t>← Back to the questions</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04  ·  TRY IT  ·  RESULT</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Declined and routed to a clinician</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Try it</a:t>
            </a:r>
            <a:endParaRPr lang="en-US" sz="950" dirty="0"/>
          </a:p>
        </p:txBody>
      </p:sp>
      <p:sp>
        <p:nvSpPr>
          <p:cNvPr id="12" name="Shape 10"/>
          <p:cNvSpPr/>
          <p:nvPr/>
        </p:nvSpPr>
        <p:spPr>
          <a:xfrm>
            <a:off x="7027164" y="6309360"/>
            <a:ext cx="73152" cy="73152"/>
          </a:xfrm>
          <a:prstGeom prst="ellipse">
            <a:avLst/>
          </a:prstGeom>
          <a:solidFill>
            <a:srgbClr val="1547C8"/>
          </a:solidFill>
          <a:ln w="12700">
            <a:solidFill>
              <a:srgbClr val="1547C8"/>
            </a:solidFill>
            <a:prstDash val="solid"/>
          </a:ln>
        </p:spPr>
      </p:sp>
      <p:sp>
        <p:nvSpPr>
          <p:cNvPr id="13" name="Text 11"/>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Question"/>
          <p:cNvSpPr/>
          <p:nvPr/>
        </p:nvSpPr>
        <p:spPr>
          <a:xfrm>
            <a:off x="548640" y="1463040"/>
            <a:ext cx="11091672" cy="1097280"/>
          </a:xfrm>
          <a:prstGeom prst="roundRect">
            <a:avLst>
              <a:gd name="adj" fmla="val 10000"/>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17" name="Text 15"/>
          <p:cNvSpPr txBox="1"/>
          <p:nvPr/>
        </p:nvSpPr>
        <p:spPr>
          <a:xfrm>
            <a:off x="822960" y="1600200"/>
            <a:ext cx="2743200" cy="228600"/>
          </a:xfrm>
          <a:prstGeom prst="rect">
            <a:avLst/>
          </a:prstGeom>
          <a:noFill/>
          <a:ln/>
        </p:spPr>
        <p:txBody>
          <a:bodyPr wrap="square" lIns="0" tIns="0" rIns="0" bIns="0" rtlCol="0" anchor="t"/>
          <a:lstStyle/>
          <a:p>
            <a:pPr indent="0" marL="0">
              <a:buNone/>
            </a:pPr>
            <a:r>
              <a:rPr lang="en-US" sz="1000" b="1" spc="300" kern="0" dirty="0">
                <a:solidFill>
                  <a:srgbClr val="1547C8"/>
                </a:solidFill>
              </a:rPr>
              <a:t>MEMBER ASKS</a:t>
            </a:r>
            <a:endParaRPr lang="en-US" sz="1000" dirty="0"/>
          </a:p>
        </p:txBody>
      </p:sp>
      <p:sp>
        <p:nvSpPr>
          <p:cNvPr id="18" name="Text 16"/>
          <p:cNvSpPr txBox="1"/>
          <p:nvPr/>
        </p:nvSpPr>
        <p:spPr>
          <a:xfrm>
            <a:off x="822960" y="1828800"/>
            <a:ext cx="8138160" cy="411480"/>
          </a:xfrm>
          <a:prstGeom prst="rect">
            <a:avLst/>
          </a:prstGeom>
          <a:noFill/>
          <a:ln/>
        </p:spPr>
        <p:txBody>
          <a:bodyPr wrap="square" lIns="0" tIns="0" rIns="0" bIns="0" rtlCol="0" anchor="ctr"/>
          <a:lstStyle/>
          <a:p>
            <a:pPr indent="0" marL="0">
              <a:buNone/>
            </a:pPr>
            <a:r>
              <a:rPr lang="en-US" sz="1600" dirty="0">
                <a:solidFill>
                  <a:srgbClr val="1F2937"/>
                </a:solidFill>
                <a:latin typeface="Courier New" pitchFamily="34" charset="0"/>
                <a:ea typeface="Courier New" pitchFamily="34" charset="-122"/>
                <a:cs typeface="Courier New" pitchFamily="34" charset="-120"/>
              </a:rPr>
              <a:t>Can I increase my insulin dose this week?</a:t>
            </a:r>
            <a:endParaRPr lang="en-US" sz="1600" dirty="0"/>
          </a:p>
        </p:txBody>
      </p:sp>
      <p:sp>
        <p:nvSpPr>
          <p:cNvPr id="19" name="Text 17"/>
          <p:cNvSpPr txBox="1"/>
          <p:nvPr/>
        </p:nvSpPr>
        <p:spPr>
          <a:xfrm>
            <a:off x="822960" y="2286000"/>
            <a:ext cx="8138160" cy="256032"/>
          </a:xfrm>
          <a:prstGeom prst="rect">
            <a:avLst/>
          </a:prstGeom>
          <a:noFill/>
          <a:ln/>
        </p:spPr>
        <p:txBody>
          <a:bodyPr wrap="square" lIns="0" tIns="0" rIns="0" bIns="0" rtlCol="0" anchor="t"/>
          <a:lstStyle/>
          <a:p>
            <a:pPr indent="0" marL="0">
              <a:buNone/>
            </a:pPr>
            <a:r>
              <a:rPr lang="en-US" sz="1100" dirty="0">
                <a:solidFill>
                  <a:srgbClr val="5B6478"/>
                </a:solidFill>
              </a:rPr>
              <a:t>M-101 · Diabetes Support</a:t>
            </a:r>
            <a:endParaRPr lang="en-US" sz="1100" dirty="0"/>
          </a:p>
        </p:txBody>
      </p:sp>
      <p:sp>
        <p:nvSpPr>
          <p:cNvPr id="20" name="Pill"/>
          <p:cNvSpPr/>
          <p:nvPr/>
        </p:nvSpPr>
        <p:spPr>
          <a:xfrm>
            <a:off x="9509760" y="1783080"/>
            <a:ext cx="1828800" cy="457200"/>
          </a:xfrm>
          <a:prstGeom prst="roundRect">
            <a:avLst>
              <a:gd name="adj" fmla="val 50000"/>
            </a:avLst>
          </a:prstGeom>
          <a:solidFill>
            <a:srgbClr val="E5484D"/>
          </a:solidFill>
          <a:ln w="12700">
            <a:solidFill>
              <a:srgbClr val="E5484D"/>
            </a:solidFill>
            <a:prstDash val="solid"/>
          </a:ln>
        </p:spPr>
      </p:sp>
      <p:sp>
        <p:nvSpPr>
          <p:cNvPr id="21" name="Text 19"/>
          <p:cNvSpPr txBox="1"/>
          <p:nvPr/>
        </p:nvSpPr>
        <p:spPr>
          <a:xfrm>
            <a:off x="9509760" y="1783080"/>
            <a:ext cx="1828800" cy="457200"/>
          </a:xfrm>
          <a:prstGeom prst="rect">
            <a:avLst/>
          </a:prstGeom>
          <a:noFill/>
          <a:ln/>
        </p:spPr>
        <p:txBody>
          <a:bodyPr wrap="square" lIns="0" tIns="0" rIns="0" bIns="0" rtlCol="0" anchor="ctr"/>
          <a:lstStyle/>
          <a:p>
            <a:pPr algn="ctr" indent="0" marL="0">
              <a:buNone/>
            </a:pPr>
            <a:r>
              <a:rPr lang="en-US" sz="1400" b="1" dirty="0">
                <a:solidFill>
                  <a:srgbClr val="FFFFFF"/>
                </a:solidFill>
              </a:rPr>
              <a:t>ER-503</a:t>
            </a:r>
            <a:endParaRPr lang="en-US" sz="1400" dirty="0"/>
          </a:p>
        </p:txBody>
      </p:sp>
      <p:sp>
        <p:nvSpPr>
          <p:cNvPr id="22" name="MEMBER SEES"/>
          <p:cNvSpPr/>
          <p:nvPr/>
        </p:nvSpPr>
        <p:spPr>
          <a:xfrm>
            <a:off x="548640" y="2788920"/>
            <a:ext cx="5440680" cy="2377440"/>
          </a:xfrm>
          <a:prstGeom prst="roundRect">
            <a:avLst>
              <a:gd name="adj" fmla="val 461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3" name="Icon dot"/>
          <p:cNvSpPr/>
          <p:nvPr/>
        </p:nvSpPr>
        <p:spPr>
          <a:xfrm>
            <a:off x="822960" y="3017520"/>
            <a:ext cx="457200" cy="457200"/>
          </a:xfrm>
          <a:prstGeom prst="ellipse">
            <a:avLst/>
          </a:prstGeom>
          <a:solidFill>
            <a:srgbClr val="1547C8"/>
          </a:solidFill>
          <a:ln w="12700">
            <a:solidFill>
              <a:srgbClr val="1547C8"/>
            </a:solidFill>
            <a:prstDash val="solid"/>
          </a:ln>
        </p:spPr>
      </p:sp>
      <p:pic>
        <p:nvPicPr>
          <p:cNvPr id="24" name="Image 0" descr="UserMd icon">    </p:cNvPr>
          <p:cNvPicPr>
            <a:picLocks noChangeAspect="1"/>
          </p:cNvPicPr>
          <p:nvPr/>
        </p:nvPicPr>
        <p:blipFill>
          <a:blip r:embed="rId11"/>
          <a:stretch>
            <a:fillRect/>
          </a:stretch>
        </p:blipFill>
        <p:spPr>
          <a:xfrm>
            <a:off x="941832" y="3136392"/>
            <a:ext cx="219456" cy="219456"/>
          </a:xfrm>
          <a:prstGeom prst="rect">
            <a:avLst/>
          </a:prstGeom>
        </p:spPr>
      </p:pic>
      <p:sp>
        <p:nvSpPr>
          <p:cNvPr id="25" name="Text 22"/>
          <p:cNvSpPr txBox="1"/>
          <p:nvPr/>
        </p:nvSpPr>
        <p:spPr>
          <a:xfrm>
            <a:off x="1463040" y="3017520"/>
            <a:ext cx="4114800" cy="457200"/>
          </a:xfrm>
          <a:prstGeom prst="rect">
            <a:avLst/>
          </a:prstGeom>
          <a:noFill/>
          <a:ln/>
        </p:spPr>
        <p:txBody>
          <a:bodyPr wrap="square" lIns="0" tIns="0" rIns="0" bIns="0" rtlCol="0" anchor="ctr"/>
          <a:lstStyle/>
          <a:p>
            <a:pPr indent="0" marL="0">
              <a:buNone/>
            </a:pPr>
            <a:r>
              <a:rPr lang="en-US" sz="1200" b="1" spc="300" kern="0" dirty="0">
                <a:solidFill>
                  <a:srgbClr val="1547C8"/>
                </a:solidFill>
              </a:rPr>
              <a:t>MEMBER SEES</a:t>
            </a:r>
            <a:endParaRPr lang="en-US" sz="1200" dirty="0"/>
          </a:p>
        </p:txBody>
      </p:sp>
      <p:pic>
        <p:nvPicPr>
          <p:cNvPr id="26" name="Image 1" descr="Item">    </p:cNvPr>
          <p:cNvPicPr>
            <a:picLocks noChangeAspect="1"/>
          </p:cNvPicPr>
          <p:nvPr/>
        </p:nvPicPr>
        <p:blipFill>
          <a:blip r:embed="rId12"/>
          <a:stretch>
            <a:fillRect/>
          </a:stretch>
        </p:blipFill>
        <p:spPr>
          <a:xfrm>
            <a:off x="822960" y="3703320"/>
            <a:ext cx="219456" cy="219456"/>
          </a:xfrm>
          <a:prstGeom prst="rect">
            <a:avLst/>
          </a:prstGeom>
        </p:spPr>
      </p:pic>
      <p:sp>
        <p:nvSpPr>
          <p:cNvPr id="27" name="Text 23"/>
          <p:cNvSpPr txBox="1"/>
          <p:nvPr/>
        </p:nvSpPr>
        <p:spPr>
          <a:xfrm>
            <a:off x="1188720" y="3657600"/>
            <a:ext cx="4572000" cy="420624"/>
          </a:xfrm>
          <a:prstGeom prst="rect">
            <a:avLst/>
          </a:prstGeom>
          <a:noFill/>
          <a:ln/>
        </p:spPr>
        <p:txBody>
          <a:bodyPr wrap="square" lIns="0" tIns="0" rIns="0" bIns="0" rtlCol="0" anchor="ctr"/>
          <a:lstStyle/>
          <a:p>
            <a:pPr indent="0" marL="0">
              <a:buNone/>
            </a:pPr>
            <a:r>
              <a:rPr lang="en-US" sz="1300" dirty="0">
                <a:solidFill>
                  <a:srgbClr val="1F2937"/>
                </a:solidFill>
              </a:rPr>
              <a:t>A clear refusal to change any medicine or dose</a:t>
            </a:r>
            <a:endParaRPr lang="en-US" sz="1300" dirty="0"/>
          </a:p>
        </p:txBody>
      </p:sp>
      <p:pic>
        <p:nvPicPr>
          <p:cNvPr id="28" name="Image 2" descr="Item">    </p:cNvPr>
          <p:cNvPicPr>
            <a:picLocks noChangeAspect="1"/>
          </p:cNvPicPr>
          <p:nvPr/>
        </p:nvPicPr>
        <p:blipFill>
          <a:blip r:embed="rId13"/>
          <a:stretch>
            <a:fillRect/>
          </a:stretch>
        </p:blipFill>
        <p:spPr>
          <a:xfrm>
            <a:off x="822960" y="4178808"/>
            <a:ext cx="219456" cy="219456"/>
          </a:xfrm>
          <a:prstGeom prst="rect">
            <a:avLst/>
          </a:prstGeom>
        </p:spPr>
      </p:pic>
      <p:sp>
        <p:nvSpPr>
          <p:cNvPr id="29" name="Text 24"/>
          <p:cNvSpPr txBox="1"/>
          <p:nvPr/>
        </p:nvSpPr>
        <p:spPr>
          <a:xfrm>
            <a:off x="1188720" y="4133088"/>
            <a:ext cx="4572000" cy="420624"/>
          </a:xfrm>
          <a:prstGeom prst="rect">
            <a:avLst/>
          </a:prstGeom>
          <a:noFill/>
          <a:ln/>
        </p:spPr>
        <p:txBody>
          <a:bodyPr wrap="square" lIns="0" tIns="0" rIns="0" bIns="0" rtlCol="0" anchor="ctr"/>
          <a:lstStyle/>
          <a:p>
            <a:pPr indent="0" marL="0">
              <a:buNone/>
            </a:pPr>
            <a:r>
              <a:rPr lang="en-US" sz="1300" dirty="0">
                <a:solidFill>
                  <a:srgbClr val="1F2937"/>
                </a:solidFill>
              </a:rPr>
              <a:t>Advice to speak to a qualified clinician</a:t>
            </a:r>
            <a:endParaRPr lang="en-US" sz="1300" dirty="0"/>
          </a:p>
        </p:txBody>
      </p:sp>
      <p:pic>
        <p:nvPicPr>
          <p:cNvPr id="30" name="Image 3" descr="Item">    </p:cNvPr>
          <p:cNvPicPr>
            <a:picLocks noChangeAspect="1"/>
          </p:cNvPicPr>
          <p:nvPr/>
        </p:nvPicPr>
        <p:blipFill>
          <a:blip r:embed="rId14"/>
          <a:stretch>
            <a:fillRect/>
          </a:stretch>
        </p:blipFill>
        <p:spPr>
          <a:xfrm>
            <a:off x="822960" y="4654296"/>
            <a:ext cx="219456" cy="219456"/>
          </a:xfrm>
          <a:prstGeom prst="rect">
            <a:avLst/>
          </a:prstGeom>
        </p:spPr>
      </p:pic>
      <p:sp>
        <p:nvSpPr>
          <p:cNvPr id="31" name="Text 25"/>
          <p:cNvSpPr txBox="1"/>
          <p:nvPr/>
        </p:nvSpPr>
        <p:spPr>
          <a:xfrm>
            <a:off x="1188720" y="4608576"/>
            <a:ext cx="4572000" cy="420624"/>
          </a:xfrm>
          <a:prstGeom prst="rect">
            <a:avLst/>
          </a:prstGeom>
          <a:noFill/>
          <a:ln/>
        </p:spPr>
        <p:txBody>
          <a:bodyPr wrap="square" lIns="0" tIns="0" rIns="0" bIns="0" rtlCol="0" anchor="ctr"/>
          <a:lstStyle/>
          <a:p>
            <a:pPr indent="0" marL="0">
              <a:buNone/>
            </a:pPr>
            <a:r>
              <a:rPr lang="en-US" sz="1300" dirty="0">
                <a:solidFill>
                  <a:srgbClr val="1F2937"/>
                </a:solidFill>
              </a:rPr>
              <a:t>A note that staff were informed</a:t>
            </a:r>
            <a:endParaRPr lang="en-US" sz="1300" dirty="0"/>
          </a:p>
        </p:txBody>
      </p:sp>
      <p:sp>
        <p:nvSpPr>
          <p:cNvPr id="32" name="STAFF SEES"/>
          <p:cNvSpPr/>
          <p:nvPr/>
        </p:nvSpPr>
        <p:spPr>
          <a:xfrm>
            <a:off x="6199632" y="2788920"/>
            <a:ext cx="5440680" cy="2377440"/>
          </a:xfrm>
          <a:prstGeom prst="roundRect">
            <a:avLst>
              <a:gd name="adj" fmla="val 461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3" name="Icon dot"/>
          <p:cNvSpPr/>
          <p:nvPr/>
        </p:nvSpPr>
        <p:spPr>
          <a:xfrm>
            <a:off x="6473952" y="3017520"/>
            <a:ext cx="457200" cy="457200"/>
          </a:xfrm>
          <a:prstGeom prst="ellipse">
            <a:avLst/>
          </a:prstGeom>
          <a:solidFill>
            <a:srgbClr val="1547C8"/>
          </a:solidFill>
          <a:ln w="12700">
            <a:solidFill>
              <a:srgbClr val="1547C8"/>
            </a:solidFill>
            <a:prstDash val="solid"/>
          </a:ln>
        </p:spPr>
      </p:sp>
      <p:pic>
        <p:nvPicPr>
          <p:cNvPr id="34" name="Image 4" descr="ClipboardList icon">    </p:cNvPr>
          <p:cNvPicPr>
            <a:picLocks noChangeAspect="1"/>
          </p:cNvPicPr>
          <p:nvPr/>
        </p:nvPicPr>
        <p:blipFill>
          <a:blip r:embed="rId15"/>
          <a:stretch>
            <a:fillRect/>
          </a:stretch>
        </p:blipFill>
        <p:spPr>
          <a:xfrm>
            <a:off x="6592824" y="3136392"/>
            <a:ext cx="219456" cy="219456"/>
          </a:xfrm>
          <a:prstGeom prst="rect">
            <a:avLst/>
          </a:prstGeom>
        </p:spPr>
      </p:pic>
      <p:sp>
        <p:nvSpPr>
          <p:cNvPr id="35" name="Text 28"/>
          <p:cNvSpPr txBox="1"/>
          <p:nvPr/>
        </p:nvSpPr>
        <p:spPr>
          <a:xfrm>
            <a:off x="7114032" y="3017520"/>
            <a:ext cx="4114800" cy="457200"/>
          </a:xfrm>
          <a:prstGeom prst="rect">
            <a:avLst/>
          </a:prstGeom>
          <a:noFill/>
          <a:ln/>
        </p:spPr>
        <p:txBody>
          <a:bodyPr wrap="square" lIns="0" tIns="0" rIns="0" bIns="0" rtlCol="0" anchor="ctr"/>
          <a:lstStyle/>
          <a:p>
            <a:pPr indent="0" marL="0">
              <a:buNone/>
            </a:pPr>
            <a:r>
              <a:rPr lang="en-US" sz="1200" b="1" spc="300" kern="0" dirty="0">
                <a:solidFill>
                  <a:srgbClr val="1547C8"/>
                </a:solidFill>
              </a:rPr>
              <a:t>STAFF SEES</a:t>
            </a:r>
            <a:endParaRPr lang="en-US" sz="1200" dirty="0"/>
          </a:p>
        </p:txBody>
      </p:sp>
      <p:pic>
        <p:nvPicPr>
          <p:cNvPr id="36" name="Image 5" descr="Item">    </p:cNvPr>
          <p:cNvPicPr>
            <a:picLocks noChangeAspect="1"/>
          </p:cNvPicPr>
          <p:nvPr/>
        </p:nvPicPr>
        <p:blipFill>
          <a:blip r:embed="rId16"/>
          <a:stretch>
            <a:fillRect/>
          </a:stretch>
        </p:blipFill>
        <p:spPr>
          <a:xfrm>
            <a:off x="6473952" y="3703320"/>
            <a:ext cx="219456" cy="219456"/>
          </a:xfrm>
          <a:prstGeom prst="rect">
            <a:avLst/>
          </a:prstGeom>
        </p:spPr>
      </p:pic>
      <p:sp>
        <p:nvSpPr>
          <p:cNvPr id="37" name="Text 29"/>
          <p:cNvSpPr txBox="1"/>
          <p:nvPr/>
        </p:nvSpPr>
        <p:spPr>
          <a:xfrm>
            <a:off x="6839712" y="3657600"/>
            <a:ext cx="4572000" cy="420624"/>
          </a:xfrm>
          <a:prstGeom prst="rect">
            <a:avLst/>
          </a:prstGeom>
          <a:noFill/>
          <a:ln/>
        </p:spPr>
        <p:txBody>
          <a:bodyPr wrap="square" lIns="0" tIns="0" rIns="0" bIns="0" rtlCol="0" anchor="ctr"/>
          <a:lstStyle/>
          <a:p>
            <a:pPr indent="0" marL="0">
              <a:buNone/>
            </a:pPr>
            <a:r>
              <a:rPr lang="en-US" sz="1300" dirty="0">
                <a:solidFill>
                  <a:srgbClr val="1F2937"/>
                </a:solidFill>
              </a:rPr>
              <a:t>Rule ER-503 matched</a:t>
            </a:r>
            <a:endParaRPr lang="en-US" sz="1300" dirty="0"/>
          </a:p>
        </p:txBody>
      </p:sp>
      <p:pic>
        <p:nvPicPr>
          <p:cNvPr id="38" name="Image 6" descr="Item">    </p:cNvPr>
          <p:cNvPicPr>
            <a:picLocks noChangeAspect="1"/>
          </p:cNvPicPr>
          <p:nvPr/>
        </p:nvPicPr>
        <p:blipFill>
          <a:blip r:embed="rId17"/>
          <a:stretch>
            <a:fillRect/>
          </a:stretch>
        </p:blipFill>
        <p:spPr>
          <a:xfrm>
            <a:off x="6473952" y="4178808"/>
            <a:ext cx="219456" cy="219456"/>
          </a:xfrm>
          <a:prstGeom prst="rect">
            <a:avLst/>
          </a:prstGeom>
        </p:spPr>
      </p:pic>
      <p:sp>
        <p:nvSpPr>
          <p:cNvPr id="39" name="Text 30"/>
          <p:cNvSpPr txBox="1"/>
          <p:nvPr/>
        </p:nvSpPr>
        <p:spPr>
          <a:xfrm>
            <a:off x="6839712" y="4133088"/>
            <a:ext cx="4572000" cy="420624"/>
          </a:xfrm>
          <a:prstGeom prst="rect">
            <a:avLst/>
          </a:prstGeom>
          <a:noFill/>
          <a:ln/>
        </p:spPr>
        <p:txBody>
          <a:bodyPr wrap="square" lIns="0" tIns="0" rIns="0" bIns="0" rtlCol="0" anchor="ctr"/>
          <a:lstStyle/>
          <a:p>
            <a:pPr indent="0" marL="0">
              <a:buNone/>
            </a:pPr>
            <a:r>
              <a:rPr lang="en-US" sz="1300" dirty="0">
                <a:solidFill>
                  <a:srgbClr val="1F2937"/>
                </a:solidFill>
              </a:rPr>
              <a:t>Request: asked to change medication</a:t>
            </a:r>
            <a:endParaRPr lang="en-US" sz="1300" dirty="0"/>
          </a:p>
        </p:txBody>
      </p:sp>
      <p:pic>
        <p:nvPicPr>
          <p:cNvPr id="40" name="Image 7" descr="Item">    </p:cNvPr>
          <p:cNvPicPr>
            <a:picLocks noChangeAspect="1"/>
          </p:cNvPicPr>
          <p:nvPr/>
        </p:nvPicPr>
        <p:blipFill>
          <a:blip r:embed="rId18"/>
          <a:stretch>
            <a:fillRect/>
          </a:stretch>
        </p:blipFill>
        <p:spPr>
          <a:xfrm>
            <a:off x="6473952" y="4654296"/>
            <a:ext cx="219456" cy="219456"/>
          </a:xfrm>
          <a:prstGeom prst="rect">
            <a:avLst/>
          </a:prstGeom>
        </p:spPr>
      </p:pic>
      <p:sp>
        <p:nvSpPr>
          <p:cNvPr id="41" name="Text 31"/>
          <p:cNvSpPr txBox="1"/>
          <p:nvPr/>
        </p:nvSpPr>
        <p:spPr>
          <a:xfrm>
            <a:off x="6839712" y="4608576"/>
            <a:ext cx="4572000" cy="420624"/>
          </a:xfrm>
          <a:prstGeom prst="rect">
            <a:avLst/>
          </a:prstGeom>
          <a:noFill/>
          <a:ln/>
        </p:spPr>
        <p:txBody>
          <a:bodyPr wrap="square" lIns="0" tIns="0" rIns="0" bIns="0" rtlCol="0" anchor="ctr"/>
          <a:lstStyle/>
          <a:p>
            <a:pPr indent="0" marL="0">
              <a:buNone/>
            </a:pPr>
            <a:r>
              <a:rPr lang="en-US" sz="1300" dirty="0">
                <a:solidFill>
                  <a:srgbClr val="1F2937"/>
                </a:solidFill>
              </a:rPr>
              <a:t>Recent readings and due tasks attached</a:t>
            </a:r>
            <a:endParaRPr lang="en-US" sz="1300" dirty="0"/>
          </a:p>
        </p:txBody>
      </p:sp>
      <p:sp>
        <p:nvSpPr>
          <p:cNvPr id="42" name="Why"/>
          <p:cNvSpPr/>
          <p:nvPr/>
        </p:nvSpPr>
        <p:spPr>
          <a:xfrm>
            <a:off x="548640" y="5394960"/>
            <a:ext cx="8229600" cy="731520"/>
          </a:xfrm>
          <a:prstGeom prst="roundRect">
            <a:avLst>
              <a:gd name="adj" fmla="val 25000"/>
            </a:avLst>
          </a:prstGeom>
          <a:solidFill>
            <a:srgbClr val="EAF0FC"/>
          </a:solidFill>
          <a:ln w="12700">
            <a:solidFill>
              <a:srgbClr val="BFD0F5"/>
            </a:solidFill>
            <a:prstDash val="solid"/>
          </a:ln>
        </p:spPr>
      </p:sp>
      <p:sp>
        <p:nvSpPr>
          <p:cNvPr id="43" name="Text 33"/>
          <p:cNvSpPr txBox="1"/>
          <p:nvPr/>
        </p:nvSpPr>
        <p:spPr>
          <a:xfrm>
            <a:off x="822960" y="5394960"/>
            <a:ext cx="7772400" cy="731520"/>
          </a:xfrm>
          <a:prstGeom prst="rect">
            <a:avLst/>
          </a:prstGeom>
          <a:noFill/>
          <a:ln/>
        </p:spPr>
        <p:txBody>
          <a:bodyPr wrap="square" lIns="0" tIns="0" rIns="0" bIns="0" rtlCol="0" anchor="ctr"/>
          <a:lstStyle/>
          <a:p>
            <a:pPr indent="0" marL="0">
              <a:buNone/>
            </a:pPr>
            <a:r>
              <a:rPr lang="en-US" sz="1250" b="1" spc="200" kern="0" dirty="0">
                <a:solidFill>
                  <a:srgbClr val="1547C8"/>
                </a:solidFill>
              </a:rPr>
              <a:t>WHY  </a:t>
            </a:r>
            <a:pPr indent="0" marL="0">
              <a:buNone/>
            </a:pPr>
            <a:r>
              <a:rPr lang="en-US" sz="1250" dirty="0">
                <a:solidFill>
                  <a:srgbClr val="1F2937"/>
                </a:solidFill>
              </a:rPr>
              <a:t>Medication wording is caught in code before any model is asked to answer.</a:t>
            </a:r>
            <a:endParaRPr lang="en-US" sz="1250" dirty="0"/>
          </a:p>
        </p:txBody>
      </p:sp>
      <p:sp>
        <p:nvSpPr>
          <p:cNvPr id="44" name="Pill"/>
          <p:cNvSpPr/>
          <p:nvPr/>
        </p:nvSpPr>
        <p:spPr>
          <a:xfrm>
            <a:off x="9052560" y="5486400"/>
            <a:ext cx="2587752" cy="548640"/>
          </a:xfrm>
          <a:prstGeom prst="roundRect">
            <a:avLst>
              <a:gd name="adj" fmla="val 41667"/>
            </a:avLst>
          </a:prstGeom>
          <a:solidFill>
            <a:srgbClr val="1547C8"/>
          </a:solidFill>
          <a:ln w="12700">
            <a:solidFill>
              <a:srgbClr val="1547C8"/>
            </a:solidFill>
            <a:prstDash val="solid"/>
          </a:ln>
        </p:spPr>
      </p:sp>
      <p:sp>
        <p:nvSpPr>
          <p:cNvPr id="45" name="Text 35"/>
          <p:cNvSpPr txBox="1"/>
          <p:nvPr/>
        </p:nvSpPr>
        <p:spPr>
          <a:xfrm>
            <a:off x="9052560" y="5486400"/>
            <a:ext cx="2587752" cy="548640"/>
          </a:xfrm>
          <a:prstGeom prst="rect">
            <a:avLst/>
          </a:prstGeom>
          <a:noFill/>
          <a:ln/>
        </p:spPr>
        <p:txBody>
          <a:bodyPr wrap="square" lIns="0" tIns="0" rIns="0" bIns="0" rtlCol="0" anchor="ctr"/>
          <a:lstStyle/>
          <a:p>
            <a:pPr algn="ctr" indent="0" marL="0">
              <a:buNone/>
            </a:pPr>
            <a:endParaRPr lang="en-US" sz="1200" dirty="0"/>
          </a:p>
        </p:txBody>
      </p:sp>
      <p:sp>
        <p:nvSpPr>
          <p:cNvPr id="46" name="Text 36"/>
          <p:cNvSpPr txBox="1"/>
          <p:nvPr/>
        </p:nvSpPr>
        <p:spPr>
          <a:xfrm>
            <a:off x="9052560" y="5486400"/>
            <a:ext cx="2587752" cy="548640"/>
          </a:xfrm>
          <a:prstGeom prst="rect">
            <a:avLst/>
          </a:prstGeom>
          <a:noFill/>
          <a:ln/>
        </p:spPr>
        <p:txBody>
          <a:bodyPr wrap="square" lIns="0" tIns="0" rIns="0" bIns="0" rtlCol="0" anchor="ctr"/>
          <a:lstStyle/>
          <a:p>
            <a:pPr algn="ctr" indent="0" marL="0">
              <a:buNone/>
            </a:pPr>
            <a:r>
              <a:rPr lang="en-US" sz="1200" b="1" u="sng" dirty="0">
                <a:solidFill>
                  <a:srgbClr val="FFFFFF"/>
                </a:solidFill>
                <a:hlinkClick r:id="rId19" action="ppaction://hlinksldjump" tooltip="Back to the questions">
                  <a:extLst>
                    <a:ext uri="{A12FA001-AC4F-418D-AE19-62706E023703}">
                      <ahyp:hlinkClr xmlns:ahyp="http://schemas.microsoft.com/office/drawing/2018/hyperlinkcolor" val="tx"/>
                    </a:ext>
                  </a:extLst>
                </a:hlinkClick>
              </a:rPr>
              <a:t>← Back to the questions</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04  ·  TRY IT  ·  RESULT</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Processing stops at the consent check</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Try it</a:t>
            </a:r>
            <a:endParaRPr lang="en-US" sz="950" dirty="0"/>
          </a:p>
        </p:txBody>
      </p:sp>
      <p:sp>
        <p:nvSpPr>
          <p:cNvPr id="12" name="Shape 10"/>
          <p:cNvSpPr/>
          <p:nvPr/>
        </p:nvSpPr>
        <p:spPr>
          <a:xfrm>
            <a:off x="7027164" y="6309360"/>
            <a:ext cx="73152" cy="73152"/>
          </a:xfrm>
          <a:prstGeom prst="ellipse">
            <a:avLst/>
          </a:prstGeom>
          <a:solidFill>
            <a:srgbClr val="1547C8"/>
          </a:solidFill>
          <a:ln w="12700">
            <a:solidFill>
              <a:srgbClr val="1547C8"/>
            </a:solidFill>
            <a:prstDash val="solid"/>
          </a:ln>
        </p:spPr>
      </p:sp>
      <p:sp>
        <p:nvSpPr>
          <p:cNvPr id="13" name="Text 11"/>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Question"/>
          <p:cNvSpPr/>
          <p:nvPr/>
        </p:nvSpPr>
        <p:spPr>
          <a:xfrm>
            <a:off x="548640" y="1463040"/>
            <a:ext cx="11091672" cy="1097280"/>
          </a:xfrm>
          <a:prstGeom prst="roundRect">
            <a:avLst>
              <a:gd name="adj" fmla="val 10000"/>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17" name="Text 15"/>
          <p:cNvSpPr txBox="1"/>
          <p:nvPr/>
        </p:nvSpPr>
        <p:spPr>
          <a:xfrm>
            <a:off x="822960" y="1600200"/>
            <a:ext cx="2743200" cy="228600"/>
          </a:xfrm>
          <a:prstGeom prst="rect">
            <a:avLst/>
          </a:prstGeom>
          <a:noFill/>
          <a:ln/>
        </p:spPr>
        <p:txBody>
          <a:bodyPr wrap="square" lIns="0" tIns="0" rIns="0" bIns="0" rtlCol="0" anchor="t"/>
          <a:lstStyle/>
          <a:p>
            <a:pPr indent="0" marL="0">
              <a:buNone/>
            </a:pPr>
            <a:r>
              <a:rPr lang="en-US" sz="1000" b="1" spc="300" kern="0" dirty="0">
                <a:solidFill>
                  <a:srgbClr val="1547C8"/>
                </a:solidFill>
              </a:rPr>
              <a:t>MEMBER ASKS</a:t>
            </a:r>
            <a:endParaRPr lang="en-US" sz="1000" dirty="0"/>
          </a:p>
        </p:txBody>
      </p:sp>
      <p:sp>
        <p:nvSpPr>
          <p:cNvPr id="18" name="Text 16"/>
          <p:cNvSpPr txBox="1"/>
          <p:nvPr/>
        </p:nvSpPr>
        <p:spPr>
          <a:xfrm>
            <a:off x="822960" y="1828800"/>
            <a:ext cx="8138160" cy="411480"/>
          </a:xfrm>
          <a:prstGeom prst="rect">
            <a:avLst/>
          </a:prstGeom>
          <a:noFill/>
          <a:ln/>
        </p:spPr>
        <p:txBody>
          <a:bodyPr wrap="square" lIns="0" tIns="0" rIns="0" bIns="0" rtlCol="0" anchor="ctr"/>
          <a:lstStyle/>
          <a:p>
            <a:pPr indent="0" marL="0">
              <a:buNone/>
            </a:pPr>
            <a:r>
              <a:rPr lang="en-US" sz="1600" dirty="0">
                <a:solidFill>
                  <a:srgbClr val="1F2937"/>
                </a:solidFill>
                <a:latin typeface="Courier New" pitchFamily="34" charset="0"/>
                <a:ea typeface="Courier New" pitchFamily="34" charset="-122"/>
                <a:cs typeface="Courier New" pitchFamily="34" charset="-120"/>
              </a:rPr>
              <a:t>Can you explain home readings?</a:t>
            </a:r>
            <a:endParaRPr lang="en-US" sz="1600" dirty="0"/>
          </a:p>
        </p:txBody>
      </p:sp>
      <p:sp>
        <p:nvSpPr>
          <p:cNvPr id="19" name="Text 17"/>
          <p:cNvSpPr txBox="1"/>
          <p:nvPr/>
        </p:nvSpPr>
        <p:spPr>
          <a:xfrm>
            <a:off x="822960" y="2286000"/>
            <a:ext cx="8138160" cy="256032"/>
          </a:xfrm>
          <a:prstGeom prst="rect">
            <a:avLst/>
          </a:prstGeom>
          <a:noFill/>
          <a:ln/>
        </p:spPr>
        <p:txBody>
          <a:bodyPr wrap="square" lIns="0" tIns="0" rIns="0" bIns="0" rtlCol="0" anchor="t"/>
          <a:lstStyle/>
          <a:p>
            <a:pPr indent="0" marL="0">
              <a:buNone/>
            </a:pPr>
            <a:r>
              <a:rPr lang="en-US" sz="1100" dirty="0">
                <a:solidFill>
                  <a:srgbClr val="5B6478"/>
                </a:solidFill>
              </a:rPr>
              <a:t>M-103 · Diabetes Support · consent expired</a:t>
            </a:r>
            <a:endParaRPr lang="en-US" sz="1100" dirty="0"/>
          </a:p>
        </p:txBody>
      </p:sp>
      <p:sp>
        <p:nvSpPr>
          <p:cNvPr id="20" name="Pill"/>
          <p:cNvSpPr/>
          <p:nvPr/>
        </p:nvSpPr>
        <p:spPr>
          <a:xfrm>
            <a:off x="9509760" y="1783080"/>
            <a:ext cx="1828800" cy="457200"/>
          </a:xfrm>
          <a:prstGeom prst="roundRect">
            <a:avLst>
              <a:gd name="adj" fmla="val 50000"/>
            </a:avLst>
          </a:prstGeom>
          <a:solidFill>
            <a:srgbClr val="F5A524"/>
          </a:solidFill>
          <a:ln w="12700">
            <a:solidFill>
              <a:srgbClr val="F5A524"/>
            </a:solidFill>
            <a:prstDash val="solid"/>
          </a:ln>
        </p:spPr>
      </p:sp>
      <p:sp>
        <p:nvSpPr>
          <p:cNvPr id="21" name="Text 19"/>
          <p:cNvSpPr txBox="1"/>
          <p:nvPr/>
        </p:nvSpPr>
        <p:spPr>
          <a:xfrm>
            <a:off x="9509760" y="1783080"/>
            <a:ext cx="1828800" cy="457200"/>
          </a:xfrm>
          <a:prstGeom prst="rect">
            <a:avLst/>
          </a:prstGeom>
          <a:noFill/>
          <a:ln/>
        </p:spPr>
        <p:txBody>
          <a:bodyPr wrap="square" lIns="0" tIns="0" rIns="0" bIns="0" rtlCol="0" anchor="ctr"/>
          <a:lstStyle/>
          <a:p>
            <a:pPr algn="ctr" indent="0" marL="0">
              <a:buNone/>
            </a:pPr>
            <a:r>
              <a:rPr lang="en-US" sz="1400" b="1" dirty="0">
                <a:solidFill>
                  <a:srgbClr val="1F2937"/>
                </a:solidFill>
              </a:rPr>
              <a:t>ER-501</a:t>
            </a:r>
            <a:endParaRPr lang="en-US" sz="1400" dirty="0"/>
          </a:p>
        </p:txBody>
      </p:sp>
      <p:sp>
        <p:nvSpPr>
          <p:cNvPr id="22" name="MEMBER SEES"/>
          <p:cNvSpPr/>
          <p:nvPr/>
        </p:nvSpPr>
        <p:spPr>
          <a:xfrm>
            <a:off x="548640" y="2788920"/>
            <a:ext cx="5440680" cy="2377440"/>
          </a:xfrm>
          <a:prstGeom prst="roundRect">
            <a:avLst>
              <a:gd name="adj" fmla="val 461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3" name="Icon dot"/>
          <p:cNvSpPr/>
          <p:nvPr/>
        </p:nvSpPr>
        <p:spPr>
          <a:xfrm>
            <a:off x="822960" y="3017520"/>
            <a:ext cx="457200" cy="457200"/>
          </a:xfrm>
          <a:prstGeom prst="ellipse">
            <a:avLst/>
          </a:prstGeom>
          <a:solidFill>
            <a:srgbClr val="1547C8"/>
          </a:solidFill>
          <a:ln w="12700">
            <a:solidFill>
              <a:srgbClr val="1547C8"/>
            </a:solidFill>
            <a:prstDash val="solid"/>
          </a:ln>
        </p:spPr>
      </p:sp>
      <p:pic>
        <p:nvPicPr>
          <p:cNvPr id="24" name="Image 0" descr="UserMd icon">    </p:cNvPr>
          <p:cNvPicPr>
            <a:picLocks noChangeAspect="1"/>
          </p:cNvPicPr>
          <p:nvPr/>
        </p:nvPicPr>
        <p:blipFill>
          <a:blip r:embed="rId11"/>
          <a:stretch>
            <a:fillRect/>
          </a:stretch>
        </p:blipFill>
        <p:spPr>
          <a:xfrm>
            <a:off x="941832" y="3136392"/>
            <a:ext cx="219456" cy="219456"/>
          </a:xfrm>
          <a:prstGeom prst="rect">
            <a:avLst/>
          </a:prstGeom>
        </p:spPr>
      </p:pic>
      <p:sp>
        <p:nvSpPr>
          <p:cNvPr id="25" name="Text 22"/>
          <p:cNvSpPr txBox="1"/>
          <p:nvPr/>
        </p:nvSpPr>
        <p:spPr>
          <a:xfrm>
            <a:off x="1463040" y="3017520"/>
            <a:ext cx="4114800" cy="457200"/>
          </a:xfrm>
          <a:prstGeom prst="rect">
            <a:avLst/>
          </a:prstGeom>
          <a:noFill/>
          <a:ln/>
        </p:spPr>
        <p:txBody>
          <a:bodyPr wrap="square" lIns="0" tIns="0" rIns="0" bIns="0" rtlCol="0" anchor="ctr"/>
          <a:lstStyle/>
          <a:p>
            <a:pPr indent="0" marL="0">
              <a:buNone/>
            </a:pPr>
            <a:r>
              <a:rPr lang="en-US" sz="1200" b="1" spc="300" kern="0" dirty="0">
                <a:solidFill>
                  <a:srgbClr val="1547C8"/>
                </a:solidFill>
              </a:rPr>
              <a:t>MEMBER SEES</a:t>
            </a:r>
            <a:endParaRPr lang="en-US" sz="1200" dirty="0"/>
          </a:p>
        </p:txBody>
      </p:sp>
      <p:pic>
        <p:nvPicPr>
          <p:cNvPr id="26" name="Image 1" descr="Item">    </p:cNvPr>
          <p:cNvPicPr>
            <a:picLocks noChangeAspect="1"/>
          </p:cNvPicPr>
          <p:nvPr/>
        </p:nvPicPr>
        <p:blipFill>
          <a:blip r:embed="rId12"/>
          <a:stretch>
            <a:fillRect/>
          </a:stretch>
        </p:blipFill>
        <p:spPr>
          <a:xfrm>
            <a:off x="822960" y="3703320"/>
            <a:ext cx="219456" cy="219456"/>
          </a:xfrm>
          <a:prstGeom prst="rect">
            <a:avLst/>
          </a:prstGeom>
        </p:spPr>
      </p:pic>
      <p:sp>
        <p:nvSpPr>
          <p:cNvPr id="27" name="Text 23"/>
          <p:cNvSpPr txBox="1"/>
          <p:nvPr/>
        </p:nvSpPr>
        <p:spPr>
          <a:xfrm>
            <a:off x="1188720" y="3657600"/>
            <a:ext cx="4572000" cy="420624"/>
          </a:xfrm>
          <a:prstGeom prst="rect">
            <a:avLst/>
          </a:prstGeom>
          <a:noFill/>
          <a:ln/>
        </p:spPr>
        <p:txBody>
          <a:bodyPr wrap="square" lIns="0" tIns="0" rIns="0" bIns="0" rtlCol="0" anchor="ctr"/>
          <a:lstStyle/>
          <a:p>
            <a:pPr indent="0" marL="0">
              <a:buNone/>
            </a:pPr>
            <a:r>
              <a:rPr lang="en-US" sz="1300" dirty="0">
                <a:solidFill>
                  <a:srgbClr val="1F2937"/>
                </a:solidFill>
              </a:rPr>
              <a:t>Consent is not active; please contact program staff</a:t>
            </a:r>
            <a:endParaRPr lang="en-US" sz="1300" dirty="0"/>
          </a:p>
        </p:txBody>
      </p:sp>
      <p:pic>
        <p:nvPicPr>
          <p:cNvPr id="28" name="Image 2" descr="Item">    </p:cNvPr>
          <p:cNvPicPr>
            <a:picLocks noChangeAspect="1"/>
          </p:cNvPicPr>
          <p:nvPr/>
        </p:nvPicPr>
        <p:blipFill>
          <a:blip r:embed="rId13"/>
          <a:stretch>
            <a:fillRect/>
          </a:stretch>
        </p:blipFill>
        <p:spPr>
          <a:xfrm>
            <a:off x="822960" y="4178808"/>
            <a:ext cx="219456" cy="219456"/>
          </a:xfrm>
          <a:prstGeom prst="rect">
            <a:avLst/>
          </a:prstGeom>
        </p:spPr>
      </p:pic>
      <p:sp>
        <p:nvSpPr>
          <p:cNvPr id="29" name="Text 24"/>
          <p:cNvSpPr txBox="1"/>
          <p:nvPr/>
        </p:nvSpPr>
        <p:spPr>
          <a:xfrm>
            <a:off x="1188720" y="4133088"/>
            <a:ext cx="4572000" cy="420624"/>
          </a:xfrm>
          <a:prstGeom prst="rect">
            <a:avLst/>
          </a:prstGeom>
          <a:noFill/>
          <a:ln/>
        </p:spPr>
        <p:txBody>
          <a:bodyPr wrap="square" lIns="0" tIns="0" rIns="0" bIns="0" rtlCol="0" anchor="ctr"/>
          <a:lstStyle/>
          <a:p>
            <a:pPr indent="0" marL="0">
              <a:buNone/>
            </a:pPr>
            <a:r>
              <a:rPr lang="en-US" sz="1300" dirty="0">
                <a:solidFill>
                  <a:srgbClr val="1F2937"/>
                </a:solidFill>
              </a:rPr>
              <a:t>No health information is shown</a:t>
            </a:r>
            <a:endParaRPr lang="en-US" sz="1300" dirty="0"/>
          </a:p>
        </p:txBody>
      </p:sp>
      <p:pic>
        <p:nvPicPr>
          <p:cNvPr id="30" name="Image 3" descr="Item">    </p:cNvPr>
          <p:cNvPicPr>
            <a:picLocks noChangeAspect="1"/>
          </p:cNvPicPr>
          <p:nvPr/>
        </p:nvPicPr>
        <p:blipFill>
          <a:blip r:embed="rId14"/>
          <a:stretch>
            <a:fillRect/>
          </a:stretch>
        </p:blipFill>
        <p:spPr>
          <a:xfrm>
            <a:off x="822960" y="4654296"/>
            <a:ext cx="219456" cy="219456"/>
          </a:xfrm>
          <a:prstGeom prst="rect">
            <a:avLst/>
          </a:prstGeom>
        </p:spPr>
      </p:pic>
      <p:sp>
        <p:nvSpPr>
          <p:cNvPr id="31" name="Text 25"/>
          <p:cNvSpPr txBox="1"/>
          <p:nvPr/>
        </p:nvSpPr>
        <p:spPr>
          <a:xfrm>
            <a:off x="1188720" y="4608576"/>
            <a:ext cx="4572000" cy="420624"/>
          </a:xfrm>
          <a:prstGeom prst="rect">
            <a:avLst/>
          </a:prstGeom>
          <a:noFill/>
          <a:ln/>
        </p:spPr>
        <p:txBody>
          <a:bodyPr wrap="square" lIns="0" tIns="0" rIns="0" bIns="0" rtlCol="0" anchor="ctr"/>
          <a:lstStyle/>
          <a:p>
            <a:pPr indent="0" marL="0">
              <a:buNone/>
            </a:pPr>
            <a:r>
              <a:rPr lang="en-US" sz="1300" dirty="0">
                <a:solidFill>
                  <a:srgbClr val="1F2937"/>
                </a:solidFill>
              </a:rPr>
              <a:t>The disclaimer</a:t>
            </a:r>
            <a:endParaRPr lang="en-US" sz="1300" dirty="0"/>
          </a:p>
        </p:txBody>
      </p:sp>
      <p:sp>
        <p:nvSpPr>
          <p:cNvPr id="32" name="STAFF SEES"/>
          <p:cNvSpPr/>
          <p:nvPr/>
        </p:nvSpPr>
        <p:spPr>
          <a:xfrm>
            <a:off x="6199632" y="2788920"/>
            <a:ext cx="5440680" cy="2377440"/>
          </a:xfrm>
          <a:prstGeom prst="roundRect">
            <a:avLst>
              <a:gd name="adj" fmla="val 461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3" name="Icon dot"/>
          <p:cNvSpPr/>
          <p:nvPr/>
        </p:nvSpPr>
        <p:spPr>
          <a:xfrm>
            <a:off x="6473952" y="3017520"/>
            <a:ext cx="457200" cy="457200"/>
          </a:xfrm>
          <a:prstGeom prst="ellipse">
            <a:avLst/>
          </a:prstGeom>
          <a:solidFill>
            <a:srgbClr val="1547C8"/>
          </a:solidFill>
          <a:ln w="12700">
            <a:solidFill>
              <a:srgbClr val="1547C8"/>
            </a:solidFill>
            <a:prstDash val="solid"/>
          </a:ln>
        </p:spPr>
      </p:sp>
      <p:pic>
        <p:nvPicPr>
          <p:cNvPr id="34" name="Image 4" descr="ClipboardList icon">    </p:cNvPr>
          <p:cNvPicPr>
            <a:picLocks noChangeAspect="1"/>
          </p:cNvPicPr>
          <p:nvPr/>
        </p:nvPicPr>
        <p:blipFill>
          <a:blip r:embed="rId15"/>
          <a:stretch>
            <a:fillRect/>
          </a:stretch>
        </p:blipFill>
        <p:spPr>
          <a:xfrm>
            <a:off x="6592824" y="3136392"/>
            <a:ext cx="219456" cy="219456"/>
          </a:xfrm>
          <a:prstGeom prst="rect">
            <a:avLst/>
          </a:prstGeom>
        </p:spPr>
      </p:pic>
      <p:sp>
        <p:nvSpPr>
          <p:cNvPr id="35" name="Text 28"/>
          <p:cNvSpPr txBox="1"/>
          <p:nvPr/>
        </p:nvSpPr>
        <p:spPr>
          <a:xfrm>
            <a:off x="7114032" y="3017520"/>
            <a:ext cx="4114800" cy="457200"/>
          </a:xfrm>
          <a:prstGeom prst="rect">
            <a:avLst/>
          </a:prstGeom>
          <a:noFill/>
          <a:ln/>
        </p:spPr>
        <p:txBody>
          <a:bodyPr wrap="square" lIns="0" tIns="0" rIns="0" bIns="0" rtlCol="0" anchor="ctr"/>
          <a:lstStyle/>
          <a:p>
            <a:pPr indent="0" marL="0">
              <a:buNone/>
            </a:pPr>
            <a:r>
              <a:rPr lang="en-US" sz="1200" b="1" spc="300" kern="0" dirty="0">
                <a:solidFill>
                  <a:srgbClr val="1547C8"/>
                </a:solidFill>
              </a:rPr>
              <a:t>STAFF SEES</a:t>
            </a:r>
            <a:endParaRPr lang="en-US" sz="1200" dirty="0"/>
          </a:p>
        </p:txBody>
      </p:sp>
      <p:pic>
        <p:nvPicPr>
          <p:cNvPr id="36" name="Image 5" descr="Item">    </p:cNvPr>
          <p:cNvPicPr>
            <a:picLocks noChangeAspect="1"/>
          </p:cNvPicPr>
          <p:nvPr/>
        </p:nvPicPr>
        <p:blipFill>
          <a:blip r:embed="rId16"/>
          <a:stretch>
            <a:fillRect/>
          </a:stretch>
        </p:blipFill>
        <p:spPr>
          <a:xfrm>
            <a:off x="6473952" y="3703320"/>
            <a:ext cx="219456" cy="219456"/>
          </a:xfrm>
          <a:prstGeom prst="rect">
            <a:avLst/>
          </a:prstGeom>
        </p:spPr>
      </p:pic>
      <p:sp>
        <p:nvSpPr>
          <p:cNvPr id="37" name="Text 29"/>
          <p:cNvSpPr txBox="1"/>
          <p:nvPr/>
        </p:nvSpPr>
        <p:spPr>
          <a:xfrm>
            <a:off x="6839712" y="3657600"/>
            <a:ext cx="4572000" cy="420624"/>
          </a:xfrm>
          <a:prstGeom prst="rect">
            <a:avLst/>
          </a:prstGeom>
          <a:noFill/>
          <a:ln/>
        </p:spPr>
        <p:txBody>
          <a:bodyPr wrap="square" lIns="0" tIns="0" rIns="0" bIns="0" rtlCol="0" anchor="ctr"/>
          <a:lstStyle/>
          <a:p>
            <a:pPr indent="0" marL="0">
              <a:buNone/>
            </a:pPr>
            <a:r>
              <a:rPr lang="en-US" sz="1300" dirty="0">
                <a:solidFill>
                  <a:srgbClr val="1F2937"/>
                </a:solidFill>
              </a:rPr>
              <a:t>Rule ER-501 matched; processing stopped</a:t>
            </a:r>
            <a:endParaRPr lang="en-US" sz="1300" dirty="0"/>
          </a:p>
        </p:txBody>
      </p:sp>
      <p:pic>
        <p:nvPicPr>
          <p:cNvPr id="38" name="Image 6" descr="Item">    </p:cNvPr>
          <p:cNvPicPr>
            <a:picLocks noChangeAspect="1"/>
          </p:cNvPicPr>
          <p:nvPr/>
        </p:nvPicPr>
        <p:blipFill>
          <a:blip r:embed="rId17"/>
          <a:stretch>
            <a:fillRect/>
          </a:stretch>
        </p:blipFill>
        <p:spPr>
          <a:xfrm>
            <a:off x="6473952" y="4178808"/>
            <a:ext cx="219456" cy="219456"/>
          </a:xfrm>
          <a:prstGeom prst="rect">
            <a:avLst/>
          </a:prstGeom>
        </p:spPr>
      </p:pic>
      <p:sp>
        <p:nvSpPr>
          <p:cNvPr id="39" name="Text 30"/>
          <p:cNvSpPr txBox="1"/>
          <p:nvPr/>
        </p:nvSpPr>
        <p:spPr>
          <a:xfrm>
            <a:off x="6839712" y="4133088"/>
            <a:ext cx="4572000" cy="420624"/>
          </a:xfrm>
          <a:prstGeom prst="rect">
            <a:avLst/>
          </a:prstGeom>
          <a:noFill/>
          <a:ln/>
        </p:spPr>
        <p:txBody>
          <a:bodyPr wrap="square" lIns="0" tIns="0" rIns="0" bIns="0" rtlCol="0" anchor="ctr"/>
          <a:lstStyle/>
          <a:p>
            <a:pPr indent="0" marL="0">
              <a:buNone/>
            </a:pPr>
            <a:r>
              <a:rPr lang="en-US" sz="1300" dirty="0">
                <a:solidFill>
                  <a:srgbClr val="1F2937"/>
                </a:solidFill>
              </a:rPr>
              <a:t>No readings or care plan were accessed</a:t>
            </a:r>
            <a:endParaRPr lang="en-US" sz="1300" dirty="0"/>
          </a:p>
        </p:txBody>
      </p:sp>
      <p:pic>
        <p:nvPicPr>
          <p:cNvPr id="40" name="Image 7" descr="Item">    </p:cNvPr>
          <p:cNvPicPr>
            <a:picLocks noChangeAspect="1"/>
          </p:cNvPicPr>
          <p:nvPr/>
        </p:nvPicPr>
        <p:blipFill>
          <a:blip r:embed="rId18"/>
          <a:stretch>
            <a:fillRect/>
          </a:stretch>
        </p:blipFill>
        <p:spPr>
          <a:xfrm>
            <a:off x="6473952" y="4654296"/>
            <a:ext cx="219456" cy="219456"/>
          </a:xfrm>
          <a:prstGeom prst="rect">
            <a:avLst/>
          </a:prstGeom>
        </p:spPr>
      </p:pic>
      <p:sp>
        <p:nvSpPr>
          <p:cNvPr id="41" name="Text 31"/>
          <p:cNvSpPr txBox="1"/>
          <p:nvPr/>
        </p:nvSpPr>
        <p:spPr>
          <a:xfrm>
            <a:off x="6839712" y="4608576"/>
            <a:ext cx="4572000" cy="420624"/>
          </a:xfrm>
          <a:prstGeom prst="rect">
            <a:avLst/>
          </a:prstGeom>
          <a:noFill/>
          <a:ln/>
        </p:spPr>
        <p:txBody>
          <a:bodyPr wrap="square" lIns="0" tIns="0" rIns="0" bIns="0" rtlCol="0" anchor="ctr"/>
          <a:lstStyle/>
          <a:p>
            <a:pPr indent="0" marL="0">
              <a:buNone/>
            </a:pPr>
            <a:r>
              <a:rPr lang="en-US" sz="1300" dirty="0">
                <a:solidFill>
                  <a:srgbClr val="1F2937"/>
                </a:solidFill>
              </a:rPr>
              <a:t>Member routed to program staff</a:t>
            </a:r>
            <a:endParaRPr lang="en-US" sz="1300" dirty="0"/>
          </a:p>
        </p:txBody>
      </p:sp>
      <p:sp>
        <p:nvSpPr>
          <p:cNvPr id="42" name="Why"/>
          <p:cNvSpPr/>
          <p:nvPr/>
        </p:nvSpPr>
        <p:spPr>
          <a:xfrm>
            <a:off x="548640" y="5394960"/>
            <a:ext cx="8229600" cy="731520"/>
          </a:xfrm>
          <a:prstGeom prst="roundRect">
            <a:avLst>
              <a:gd name="adj" fmla="val 25000"/>
            </a:avLst>
          </a:prstGeom>
          <a:solidFill>
            <a:srgbClr val="EAF0FC"/>
          </a:solidFill>
          <a:ln w="12700">
            <a:solidFill>
              <a:srgbClr val="BFD0F5"/>
            </a:solidFill>
            <a:prstDash val="solid"/>
          </a:ln>
        </p:spPr>
      </p:sp>
      <p:sp>
        <p:nvSpPr>
          <p:cNvPr id="43" name="Text 33"/>
          <p:cNvSpPr txBox="1"/>
          <p:nvPr/>
        </p:nvSpPr>
        <p:spPr>
          <a:xfrm>
            <a:off x="822960" y="5394960"/>
            <a:ext cx="7772400" cy="731520"/>
          </a:xfrm>
          <a:prstGeom prst="rect">
            <a:avLst/>
          </a:prstGeom>
          <a:noFill/>
          <a:ln/>
        </p:spPr>
        <p:txBody>
          <a:bodyPr wrap="square" lIns="0" tIns="0" rIns="0" bIns="0" rtlCol="0" anchor="ctr"/>
          <a:lstStyle/>
          <a:p>
            <a:pPr indent="0" marL="0">
              <a:buNone/>
            </a:pPr>
            <a:r>
              <a:rPr lang="en-US" sz="1250" b="1" spc="200" kern="0" dirty="0">
                <a:solidFill>
                  <a:srgbClr val="1547C8"/>
                </a:solidFill>
              </a:rPr>
              <a:t>WHY  </a:t>
            </a:r>
            <a:pPr indent="0" marL="0">
              <a:buNone/>
            </a:pPr>
            <a:r>
              <a:rPr lang="en-US" sz="1250" dirty="0">
                <a:solidFill>
                  <a:srgbClr val="1F2937"/>
                </a:solidFill>
              </a:rPr>
              <a:t>The consent check is the very first step. Nothing else runs without it.</a:t>
            </a:r>
            <a:endParaRPr lang="en-US" sz="1250" dirty="0"/>
          </a:p>
        </p:txBody>
      </p:sp>
      <p:sp>
        <p:nvSpPr>
          <p:cNvPr id="44" name="Pill"/>
          <p:cNvSpPr/>
          <p:nvPr/>
        </p:nvSpPr>
        <p:spPr>
          <a:xfrm>
            <a:off x="9052560" y="5486400"/>
            <a:ext cx="2587752" cy="548640"/>
          </a:xfrm>
          <a:prstGeom prst="roundRect">
            <a:avLst>
              <a:gd name="adj" fmla="val 41667"/>
            </a:avLst>
          </a:prstGeom>
          <a:solidFill>
            <a:srgbClr val="1547C8"/>
          </a:solidFill>
          <a:ln w="12700">
            <a:solidFill>
              <a:srgbClr val="1547C8"/>
            </a:solidFill>
            <a:prstDash val="solid"/>
          </a:ln>
        </p:spPr>
      </p:sp>
      <p:sp>
        <p:nvSpPr>
          <p:cNvPr id="45" name="Text 35"/>
          <p:cNvSpPr txBox="1"/>
          <p:nvPr/>
        </p:nvSpPr>
        <p:spPr>
          <a:xfrm>
            <a:off x="9052560" y="5486400"/>
            <a:ext cx="2587752" cy="548640"/>
          </a:xfrm>
          <a:prstGeom prst="rect">
            <a:avLst/>
          </a:prstGeom>
          <a:noFill/>
          <a:ln/>
        </p:spPr>
        <p:txBody>
          <a:bodyPr wrap="square" lIns="0" tIns="0" rIns="0" bIns="0" rtlCol="0" anchor="ctr"/>
          <a:lstStyle/>
          <a:p>
            <a:pPr algn="ctr" indent="0" marL="0">
              <a:buNone/>
            </a:pPr>
            <a:endParaRPr lang="en-US" sz="1200" dirty="0"/>
          </a:p>
        </p:txBody>
      </p:sp>
      <p:sp>
        <p:nvSpPr>
          <p:cNvPr id="46" name="Text 36"/>
          <p:cNvSpPr txBox="1"/>
          <p:nvPr/>
        </p:nvSpPr>
        <p:spPr>
          <a:xfrm>
            <a:off x="9052560" y="5486400"/>
            <a:ext cx="2587752" cy="548640"/>
          </a:xfrm>
          <a:prstGeom prst="rect">
            <a:avLst/>
          </a:prstGeom>
          <a:noFill/>
          <a:ln/>
        </p:spPr>
        <p:txBody>
          <a:bodyPr wrap="square" lIns="0" tIns="0" rIns="0" bIns="0" rtlCol="0" anchor="ctr"/>
          <a:lstStyle/>
          <a:p>
            <a:pPr algn="ctr" indent="0" marL="0">
              <a:buNone/>
            </a:pPr>
            <a:r>
              <a:rPr lang="en-US" sz="1200" b="1" u="sng" dirty="0">
                <a:solidFill>
                  <a:srgbClr val="FFFFFF"/>
                </a:solidFill>
                <a:hlinkClick r:id="rId19" action="ppaction://hlinksldjump" tooltip="Back to the questions">
                  <a:extLst>
                    <a:ext uri="{A12FA001-AC4F-418D-AE19-62706E023703}">
                      <ahyp:hlinkClr xmlns:ahyp="http://schemas.microsoft.com/office/drawing/2018/hyperlinkcolor" val="tx"/>
                    </a:ext>
                  </a:extLst>
                </a:hlinkClick>
              </a:rPr>
              <a:t>← Back to the questions</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04  ·  TRY IT  ·  RESULT</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A summary, plus an urgent staff review</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Try it</a:t>
            </a:r>
            <a:endParaRPr lang="en-US" sz="950" dirty="0"/>
          </a:p>
        </p:txBody>
      </p:sp>
      <p:sp>
        <p:nvSpPr>
          <p:cNvPr id="12" name="Shape 10"/>
          <p:cNvSpPr/>
          <p:nvPr/>
        </p:nvSpPr>
        <p:spPr>
          <a:xfrm>
            <a:off x="7027164" y="6309360"/>
            <a:ext cx="73152" cy="73152"/>
          </a:xfrm>
          <a:prstGeom prst="ellipse">
            <a:avLst/>
          </a:prstGeom>
          <a:solidFill>
            <a:srgbClr val="1547C8"/>
          </a:solidFill>
          <a:ln w="12700">
            <a:solidFill>
              <a:srgbClr val="1547C8"/>
            </a:solidFill>
            <a:prstDash val="solid"/>
          </a:ln>
        </p:spPr>
      </p:sp>
      <p:sp>
        <p:nvSpPr>
          <p:cNvPr id="13" name="Text 11"/>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4" name="Text 12"/>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Question"/>
          <p:cNvSpPr/>
          <p:nvPr/>
        </p:nvSpPr>
        <p:spPr>
          <a:xfrm>
            <a:off x="548640" y="1463040"/>
            <a:ext cx="11091672" cy="1097280"/>
          </a:xfrm>
          <a:prstGeom prst="roundRect">
            <a:avLst>
              <a:gd name="adj" fmla="val 10000"/>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17" name="Text 15"/>
          <p:cNvSpPr txBox="1"/>
          <p:nvPr/>
        </p:nvSpPr>
        <p:spPr>
          <a:xfrm>
            <a:off x="822960" y="1600200"/>
            <a:ext cx="2743200" cy="228600"/>
          </a:xfrm>
          <a:prstGeom prst="rect">
            <a:avLst/>
          </a:prstGeom>
          <a:noFill/>
          <a:ln/>
        </p:spPr>
        <p:txBody>
          <a:bodyPr wrap="square" lIns="0" tIns="0" rIns="0" bIns="0" rtlCol="0" anchor="t"/>
          <a:lstStyle/>
          <a:p>
            <a:pPr indent="0" marL="0">
              <a:buNone/>
            </a:pPr>
            <a:r>
              <a:rPr lang="en-US" sz="1000" b="1" spc="300" kern="0" dirty="0">
                <a:solidFill>
                  <a:srgbClr val="1547C8"/>
                </a:solidFill>
              </a:rPr>
              <a:t>MEMBER ASKS</a:t>
            </a:r>
            <a:endParaRPr lang="en-US" sz="1000" dirty="0"/>
          </a:p>
        </p:txBody>
      </p:sp>
      <p:sp>
        <p:nvSpPr>
          <p:cNvPr id="18" name="Text 16"/>
          <p:cNvSpPr txBox="1"/>
          <p:nvPr/>
        </p:nvSpPr>
        <p:spPr>
          <a:xfrm>
            <a:off x="822960" y="1828800"/>
            <a:ext cx="8138160" cy="411480"/>
          </a:xfrm>
          <a:prstGeom prst="rect">
            <a:avLst/>
          </a:prstGeom>
          <a:noFill/>
          <a:ln/>
        </p:spPr>
        <p:txBody>
          <a:bodyPr wrap="square" lIns="0" tIns="0" rIns="0" bIns="0" rtlCol="0" anchor="ctr"/>
          <a:lstStyle/>
          <a:p>
            <a:pPr indent="0" marL="0">
              <a:buNone/>
            </a:pPr>
            <a:r>
              <a:rPr lang="en-US" sz="1600" dirty="0">
                <a:solidFill>
                  <a:srgbClr val="1F2937"/>
                </a:solidFill>
                <a:latin typeface="Courier New" pitchFamily="34" charset="0"/>
                <a:ea typeface="Courier New" pitchFamily="34" charset="-122"/>
                <a:cs typeface="Courier New" pitchFamily="34" charset="-120"/>
              </a:rPr>
              <a:t>Summarize my blood pressure for the last week</a:t>
            </a:r>
            <a:endParaRPr lang="en-US" sz="1600" dirty="0"/>
          </a:p>
        </p:txBody>
      </p:sp>
      <p:sp>
        <p:nvSpPr>
          <p:cNvPr id="19" name="Text 17"/>
          <p:cNvSpPr txBox="1"/>
          <p:nvPr/>
        </p:nvSpPr>
        <p:spPr>
          <a:xfrm>
            <a:off x="822960" y="2286000"/>
            <a:ext cx="8138160" cy="256032"/>
          </a:xfrm>
          <a:prstGeom prst="rect">
            <a:avLst/>
          </a:prstGeom>
          <a:noFill/>
          <a:ln/>
        </p:spPr>
        <p:txBody>
          <a:bodyPr wrap="square" lIns="0" tIns="0" rIns="0" bIns="0" rtlCol="0" anchor="t"/>
          <a:lstStyle/>
          <a:p>
            <a:pPr indent="0" marL="0">
              <a:buNone/>
            </a:pPr>
            <a:r>
              <a:rPr lang="en-US" sz="1100" dirty="0">
                <a:solidFill>
                  <a:srgbClr val="5B6478"/>
                </a:solidFill>
              </a:rPr>
              <a:t>M-102 · Hypertension Support</a:t>
            </a:r>
            <a:endParaRPr lang="en-US" sz="1100" dirty="0"/>
          </a:p>
        </p:txBody>
      </p:sp>
      <p:sp>
        <p:nvSpPr>
          <p:cNvPr id="20" name="Pill"/>
          <p:cNvSpPr/>
          <p:nvPr/>
        </p:nvSpPr>
        <p:spPr>
          <a:xfrm>
            <a:off x="9509760" y="1783080"/>
            <a:ext cx="1828800" cy="457200"/>
          </a:xfrm>
          <a:prstGeom prst="roundRect">
            <a:avLst>
              <a:gd name="adj" fmla="val 50000"/>
            </a:avLst>
          </a:prstGeom>
          <a:solidFill>
            <a:srgbClr val="8338EC"/>
          </a:solidFill>
          <a:ln w="12700">
            <a:solidFill>
              <a:srgbClr val="8338EC"/>
            </a:solidFill>
            <a:prstDash val="solid"/>
          </a:ln>
        </p:spPr>
      </p:sp>
      <p:sp>
        <p:nvSpPr>
          <p:cNvPr id="21" name="Text 19"/>
          <p:cNvSpPr txBox="1"/>
          <p:nvPr/>
        </p:nvSpPr>
        <p:spPr>
          <a:xfrm>
            <a:off x="9509760" y="1783080"/>
            <a:ext cx="1828800" cy="457200"/>
          </a:xfrm>
          <a:prstGeom prst="rect">
            <a:avLst/>
          </a:prstGeom>
          <a:noFill/>
          <a:ln/>
        </p:spPr>
        <p:txBody>
          <a:bodyPr wrap="square" lIns="0" tIns="0" rIns="0" bIns="0" rtlCol="0" anchor="ctr"/>
          <a:lstStyle/>
          <a:p>
            <a:pPr algn="ctr" indent="0" marL="0">
              <a:buNone/>
            </a:pPr>
            <a:r>
              <a:rPr lang="en-US" sz="1400" b="1" dirty="0">
                <a:solidFill>
                  <a:srgbClr val="FFFFFF"/>
                </a:solidFill>
              </a:rPr>
              <a:t>ER-502</a:t>
            </a:r>
            <a:endParaRPr lang="en-US" sz="1400" dirty="0"/>
          </a:p>
        </p:txBody>
      </p:sp>
      <p:sp>
        <p:nvSpPr>
          <p:cNvPr id="22" name="MEMBER SEES"/>
          <p:cNvSpPr/>
          <p:nvPr/>
        </p:nvSpPr>
        <p:spPr>
          <a:xfrm>
            <a:off x="548640" y="2788920"/>
            <a:ext cx="5440680" cy="2377440"/>
          </a:xfrm>
          <a:prstGeom prst="roundRect">
            <a:avLst>
              <a:gd name="adj" fmla="val 461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3" name="Icon dot"/>
          <p:cNvSpPr/>
          <p:nvPr/>
        </p:nvSpPr>
        <p:spPr>
          <a:xfrm>
            <a:off x="822960" y="3017520"/>
            <a:ext cx="457200" cy="457200"/>
          </a:xfrm>
          <a:prstGeom prst="ellipse">
            <a:avLst/>
          </a:prstGeom>
          <a:solidFill>
            <a:srgbClr val="1547C8"/>
          </a:solidFill>
          <a:ln w="12700">
            <a:solidFill>
              <a:srgbClr val="1547C8"/>
            </a:solidFill>
            <a:prstDash val="solid"/>
          </a:ln>
        </p:spPr>
      </p:sp>
      <p:pic>
        <p:nvPicPr>
          <p:cNvPr id="24" name="Image 0" descr="UserMd icon">    </p:cNvPr>
          <p:cNvPicPr>
            <a:picLocks noChangeAspect="1"/>
          </p:cNvPicPr>
          <p:nvPr/>
        </p:nvPicPr>
        <p:blipFill>
          <a:blip r:embed="rId11"/>
          <a:stretch>
            <a:fillRect/>
          </a:stretch>
        </p:blipFill>
        <p:spPr>
          <a:xfrm>
            <a:off x="941832" y="3136392"/>
            <a:ext cx="219456" cy="219456"/>
          </a:xfrm>
          <a:prstGeom prst="rect">
            <a:avLst/>
          </a:prstGeom>
        </p:spPr>
      </p:pic>
      <p:sp>
        <p:nvSpPr>
          <p:cNvPr id="25" name="Text 22"/>
          <p:cNvSpPr txBox="1"/>
          <p:nvPr/>
        </p:nvSpPr>
        <p:spPr>
          <a:xfrm>
            <a:off x="1463040" y="3017520"/>
            <a:ext cx="4114800" cy="457200"/>
          </a:xfrm>
          <a:prstGeom prst="rect">
            <a:avLst/>
          </a:prstGeom>
          <a:noFill/>
          <a:ln/>
        </p:spPr>
        <p:txBody>
          <a:bodyPr wrap="square" lIns="0" tIns="0" rIns="0" bIns="0" rtlCol="0" anchor="ctr"/>
          <a:lstStyle/>
          <a:p>
            <a:pPr indent="0" marL="0">
              <a:buNone/>
            </a:pPr>
            <a:r>
              <a:rPr lang="en-US" sz="1200" b="1" spc="300" kern="0" dirty="0">
                <a:solidFill>
                  <a:srgbClr val="1547C8"/>
                </a:solidFill>
              </a:rPr>
              <a:t>MEMBER SEES</a:t>
            </a:r>
            <a:endParaRPr lang="en-US" sz="1200" dirty="0"/>
          </a:p>
        </p:txBody>
      </p:sp>
      <p:pic>
        <p:nvPicPr>
          <p:cNvPr id="26" name="Image 1" descr="Item">    </p:cNvPr>
          <p:cNvPicPr>
            <a:picLocks noChangeAspect="1"/>
          </p:cNvPicPr>
          <p:nvPr/>
        </p:nvPicPr>
        <p:blipFill>
          <a:blip r:embed="rId12"/>
          <a:stretch>
            <a:fillRect/>
          </a:stretch>
        </p:blipFill>
        <p:spPr>
          <a:xfrm>
            <a:off x="822960" y="3703320"/>
            <a:ext cx="219456" cy="219456"/>
          </a:xfrm>
          <a:prstGeom prst="rect">
            <a:avLst/>
          </a:prstGeom>
        </p:spPr>
      </p:pic>
      <p:sp>
        <p:nvSpPr>
          <p:cNvPr id="27" name="Text 23"/>
          <p:cNvSpPr txBox="1"/>
          <p:nvPr/>
        </p:nvSpPr>
        <p:spPr>
          <a:xfrm>
            <a:off x="1188720" y="3657600"/>
            <a:ext cx="4572000" cy="420624"/>
          </a:xfrm>
          <a:prstGeom prst="rect">
            <a:avLst/>
          </a:prstGeom>
          <a:noFill/>
          <a:ln/>
        </p:spPr>
        <p:txBody>
          <a:bodyPr wrap="square" lIns="0" tIns="0" rIns="0" bIns="0" rtlCol="0" anchor="ctr"/>
          <a:lstStyle/>
          <a:p>
            <a:pPr indent="0" marL="0">
              <a:buNone/>
            </a:pPr>
            <a:r>
              <a:rPr lang="en-US" sz="1300" dirty="0">
                <a:solidFill>
                  <a:srgbClr val="1F2937"/>
                </a:solidFill>
              </a:rPr>
              <a:t>A descriptive summary: count, minimum, maximum, missing dates</a:t>
            </a:r>
            <a:endParaRPr lang="en-US" sz="1300" dirty="0"/>
          </a:p>
        </p:txBody>
      </p:sp>
      <p:pic>
        <p:nvPicPr>
          <p:cNvPr id="28" name="Image 2" descr="Item">    </p:cNvPr>
          <p:cNvPicPr>
            <a:picLocks noChangeAspect="1"/>
          </p:cNvPicPr>
          <p:nvPr/>
        </p:nvPicPr>
        <p:blipFill>
          <a:blip r:embed="rId13"/>
          <a:stretch>
            <a:fillRect/>
          </a:stretch>
        </p:blipFill>
        <p:spPr>
          <a:xfrm>
            <a:off x="822960" y="4178808"/>
            <a:ext cx="219456" cy="219456"/>
          </a:xfrm>
          <a:prstGeom prst="rect">
            <a:avLst/>
          </a:prstGeom>
        </p:spPr>
      </p:pic>
      <p:sp>
        <p:nvSpPr>
          <p:cNvPr id="29" name="Text 24"/>
          <p:cNvSpPr txBox="1"/>
          <p:nvPr/>
        </p:nvSpPr>
        <p:spPr>
          <a:xfrm>
            <a:off x="1188720" y="4133088"/>
            <a:ext cx="4572000" cy="420624"/>
          </a:xfrm>
          <a:prstGeom prst="rect">
            <a:avLst/>
          </a:prstGeom>
          <a:noFill/>
          <a:ln/>
        </p:spPr>
        <p:txBody>
          <a:bodyPr wrap="square" lIns="0" tIns="0" rIns="0" bIns="0" rtlCol="0" anchor="ctr"/>
          <a:lstStyle/>
          <a:p>
            <a:pPr indent="0" marL="0">
              <a:buNone/>
            </a:pPr>
            <a:r>
              <a:rPr lang="en-US" sz="1300" dirty="0">
                <a:solidFill>
                  <a:srgbClr val="1F2937"/>
                </a:solidFill>
              </a:rPr>
              <a:t>A message that an entry was sent to staff for review</a:t>
            </a:r>
            <a:endParaRPr lang="en-US" sz="1300" dirty="0"/>
          </a:p>
        </p:txBody>
      </p:sp>
      <p:pic>
        <p:nvPicPr>
          <p:cNvPr id="30" name="Image 3" descr="Item">    </p:cNvPr>
          <p:cNvPicPr>
            <a:picLocks noChangeAspect="1"/>
          </p:cNvPicPr>
          <p:nvPr/>
        </p:nvPicPr>
        <p:blipFill>
          <a:blip r:embed="rId14"/>
          <a:stretch>
            <a:fillRect/>
          </a:stretch>
        </p:blipFill>
        <p:spPr>
          <a:xfrm>
            <a:off x="822960" y="4654296"/>
            <a:ext cx="219456" cy="219456"/>
          </a:xfrm>
          <a:prstGeom prst="rect">
            <a:avLst/>
          </a:prstGeom>
        </p:spPr>
      </p:pic>
      <p:sp>
        <p:nvSpPr>
          <p:cNvPr id="31" name="Text 25"/>
          <p:cNvSpPr txBox="1"/>
          <p:nvPr/>
        </p:nvSpPr>
        <p:spPr>
          <a:xfrm>
            <a:off x="1188720" y="4608576"/>
            <a:ext cx="4572000" cy="420624"/>
          </a:xfrm>
          <a:prstGeom prst="rect">
            <a:avLst/>
          </a:prstGeom>
          <a:noFill/>
          <a:ln/>
        </p:spPr>
        <p:txBody>
          <a:bodyPr wrap="square" lIns="0" tIns="0" rIns="0" bIns="0" rtlCol="0" anchor="ctr"/>
          <a:lstStyle/>
          <a:p>
            <a:pPr indent="0" marL="0">
              <a:buNone/>
            </a:pPr>
            <a:r>
              <a:rPr lang="en-US" sz="1300" dirty="0">
                <a:solidFill>
                  <a:srgbClr val="1F2937"/>
                </a:solidFill>
              </a:rPr>
              <a:t>No interpretation of any value</a:t>
            </a:r>
            <a:endParaRPr lang="en-US" sz="1300" dirty="0"/>
          </a:p>
        </p:txBody>
      </p:sp>
      <p:sp>
        <p:nvSpPr>
          <p:cNvPr id="32" name="STAFF SEES"/>
          <p:cNvSpPr/>
          <p:nvPr/>
        </p:nvSpPr>
        <p:spPr>
          <a:xfrm>
            <a:off x="6199632" y="2788920"/>
            <a:ext cx="5440680" cy="2377440"/>
          </a:xfrm>
          <a:prstGeom prst="roundRect">
            <a:avLst>
              <a:gd name="adj" fmla="val 4615"/>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3" name="Icon dot"/>
          <p:cNvSpPr/>
          <p:nvPr/>
        </p:nvSpPr>
        <p:spPr>
          <a:xfrm>
            <a:off x="6473952" y="3017520"/>
            <a:ext cx="457200" cy="457200"/>
          </a:xfrm>
          <a:prstGeom prst="ellipse">
            <a:avLst/>
          </a:prstGeom>
          <a:solidFill>
            <a:srgbClr val="1547C8"/>
          </a:solidFill>
          <a:ln w="12700">
            <a:solidFill>
              <a:srgbClr val="1547C8"/>
            </a:solidFill>
            <a:prstDash val="solid"/>
          </a:ln>
        </p:spPr>
      </p:sp>
      <p:pic>
        <p:nvPicPr>
          <p:cNvPr id="34" name="Image 4" descr="ClipboardList icon">    </p:cNvPr>
          <p:cNvPicPr>
            <a:picLocks noChangeAspect="1"/>
          </p:cNvPicPr>
          <p:nvPr/>
        </p:nvPicPr>
        <p:blipFill>
          <a:blip r:embed="rId15"/>
          <a:stretch>
            <a:fillRect/>
          </a:stretch>
        </p:blipFill>
        <p:spPr>
          <a:xfrm>
            <a:off x="6592824" y="3136392"/>
            <a:ext cx="219456" cy="219456"/>
          </a:xfrm>
          <a:prstGeom prst="rect">
            <a:avLst/>
          </a:prstGeom>
        </p:spPr>
      </p:pic>
      <p:sp>
        <p:nvSpPr>
          <p:cNvPr id="35" name="Text 28"/>
          <p:cNvSpPr txBox="1"/>
          <p:nvPr/>
        </p:nvSpPr>
        <p:spPr>
          <a:xfrm>
            <a:off x="7114032" y="3017520"/>
            <a:ext cx="4114800" cy="457200"/>
          </a:xfrm>
          <a:prstGeom prst="rect">
            <a:avLst/>
          </a:prstGeom>
          <a:noFill/>
          <a:ln/>
        </p:spPr>
        <p:txBody>
          <a:bodyPr wrap="square" lIns="0" tIns="0" rIns="0" bIns="0" rtlCol="0" anchor="ctr"/>
          <a:lstStyle/>
          <a:p>
            <a:pPr indent="0" marL="0">
              <a:buNone/>
            </a:pPr>
            <a:r>
              <a:rPr lang="en-US" sz="1200" b="1" spc="300" kern="0" dirty="0">
                <a:solidFill>
                  <a:srgbClr val="1547C8"/>
                </a:solidFill>
              </a:rPr>
              <a:t>STAFF SEES</a:t>
            </a:r>
            <a:endParaRPr lang="en-US" sz="1200" dirty="0"/>
          </a:p>
        </p:txBody>
      </p:sp>
      <p:pic>
        <p:nvPicPr>
          <p:cNvPr id="36" name="Image 5" descr="Item">    </p:cNvPr>
          <p:cNvPicPr>
            <a:picLocks noChangeAspect="1"/>
          </p:cNvPicPr>
          <p:nvPr/>
        </p:nvPicPr>
        <p:blipFill>
          <a:blip r:embed="rId16"/>
          <a:stretch>
            <a:fillRect/>
          </a:stretch>
        </p:blipFill>
        <p:spPr>
          <a:xfrm>
            <a:off x="6473952" y="3703320"/>
            <a:ext cx="219456" cy="219456"/>
          </a:xfrm>
          <a:prstGeom prst="rect">
            <a:avLst/>
          </a:prstGeom>
        </p:spPr>
      </p:pic>
      <p:sp>
        <p:nvSpPr>
          <p:cNvPr id="37" name="Text 29"/>
          <p:cNvSpPr txBox="1"/>
          <p:nvPr/>
        </p:nvSpPr>
        <p:spPr>
          <a:xfrm>
            <a:off x="6839712" y="3657600"/>
            <a:ext cx="4572000" cy="420624"/>
          </a:xfrm>
          <a:prstGeom prst="rect">
            <a:avLst/>
          </a:prstGeom>
          <a:noFill/>
          <a:ln/>
        </p:spPr>
        <p:txBody>
          <a:bodyPr wrap="square" lIns="0" tIns="0" rIns="0" bIns="0" rtlCol="0" anchor="ctr"/>
          <a:lstStyle/>
          <a:p>
            <a:pPr indent="0" marL="0">
              <a:buNone/>
            </a:pPr>
            <a:r>
              <a:rPr lang="en-US" sz="1300" dirty="0">
                <a:solidFill>
                  <a:srgbClr val="1F2937"/>
                </a:solidFill>
              </a:rPr>
              <a:t>Rule ER-502 matched; reading R-204</a:t>
            </a:r>
            <a:endParaRPr lang="en-US" sz="1300" dirty="0"/>
          </a:p>
        </p:txBody>
      </p:sp>
      <p:pic>
        <p:nvPicPr>
          <p:cNvPr id="38" name="Image 6" descr="Item">    </p:cNvPr>
          <p:cNvPicPr>
            <a:picLocks noChangeAspect="1"/>
          </p:cNvPicPr>
          <p:nvPr/>
        </p:nvPicPr>
        <p:blipFill>
          <a:blip r:embed="rId17"/>
          <a:stretch>
            <a:fillRect/>
          </a:stretch>
        </p:blipFill>
        <p:spPr>
          <a:xfrm>
            <a:off x="6473952" y="4178808"/>
            <a:ext cx="219456" cy="219456"/>
          </a:xfrm>
          <a:prstGeom prst="rect">
            <a:avLst/>
          </a:prstGeom>
        </p:spPr>
      </p:pic>
      <p:sp>
        <p:nvSpPr>
          <p:cNvPr id="39" name="Text 30"/>
          <p:cNvSpPr txBox="1"/>
          <p:nvPr/>
        </p:nvSpPr>
        <p:spPr>
          <a:xfrm>
            <a:off x="6839712" y="4133088"/>
            <a:ext cx="4572000" cy="420624"/>
          </a:xfrm>
          <a:prstGeom prst="rect">
            <a:avLst/>
          </a:prstGeom>
          <a:noFill/>
          <a:ln/>
        </p:spPr>
        <p:txBody>
          <a:bodyPr wrap="square" lIns="0" tIns="0" rIns="0" bIns="0" rtlCol="0" anchor="ctr"/>
          <a:lstStyle/>
          <a:p>
            <a:pPr indent="0" marL="0">
              <a:buNone/>
            </a:pPr>
            <a:r>
              <a:rPr lang="en-US" sz="1300" dirty="0">
                <a:solidFill>
                  <a:srgbClr val="1F2937"/>
                </a:solidFill>
              </a:rPr>
              <a:t>Urgent staff-review record created</a:t>
            </a:r>
            <a:endParaRPr lang="en-US" sz="1300" dirty="0"/>
          </a:p>
        </p:txBody>
      </p:sp>
      <p:pic>
        <p:nvPicPr>
          <p:cNvPr id="40" name="Image 7" descr="Item">    </p:cNvPr>
          <p:cNvPicPr>
            <a:picLocks noChangeAspect="1"/>
          </p:cNvPicPr>
          <p:nvPr/>
        </p:nvPicPr>
        <p:blipFill>
          <a:blip r:embed="rId18"/>
          <a:stretch>
            <a:fillRect/>
          </a:stretch>
        </p:blipFill>
        <p:spPr>
          <a:xfrm>
            <a:off x="6473952" y="4654296"/>
            <a:ext cx="219456" cy="219456"/>
          </a:xfrm>
          <a:prstGeom prst="rect">
            <a:avLst/>
          </a:prstGeom>
        </p:spPr>
      </p:pic>
      <p:sp>
        <p:nvSpPr>
          <p:cNvPr id="41" name="Text 31"/>
          <p:cNvSpPr txBox="1"/>
          <p:nvPr/>
        </p:nvSpPr>
        <p:spPr>
          <a:xfrm>
            <a:off x="6839712" y="4608576"/>
            <a:ext cx="4572000" cy="420624"/>
          </a:xfrm>
          <a:prstGeom prst="rect">
            <a:avLst/>
          </a:prstGeom>
          <a:noFill/>
          <a:ln/>
        </p:spPr>
        <p:txBody>
          <a:bodyPr wrap="square" lIns="0" tIns="0" rIns="0" bIns="0" rtlCol="0" anchor="ctr"/>
          <a:lstStyle/>
          <a:p>
            <a:pPr indent="0" marL="0">
              <a:buNone/>
            </a:pPr>
            <a:r>
              <a:rPr lang="en-US" sz="1300" dirty="0">
                <a:solidFill>
                  <a:srgbClr val="1F2937"/>
                </a:solidFill>
              </a:rPr>
              <a:t>Readings used and their sources listed</a:t>
            </a:r>
            <a:endParaRPr lang="en-US" sz="1300" dirty="0"/>
          </a:p>
        </p:txBody>
      </p:sp>
      <p:sp>
        <p:nvSpPr>
          <p:cNvPr id="42" name="Why"/>
          <p:cNvSpPr/>
          <p:nvPr/>
        </p:nvSpPr>
        <p:spPr>
          <a:xfrm>
            <a:off x="548640" y="5394960"/>
            <a:ext cx="8229600" cy="731520"/>
          </a:xfrm>
          <a:prstGeom prst="roundRect">
            <a:avLst>
              <a:gd name="adj" fmla="val 25000"/>
            </a:avLst>
          </a:prstGeom>
          <a:solidFill>
            <a:srgbClr val="EAF0FC"/>
          </a:solidFill>
          <a:ln w="12700">
            <a:solidFill>
              <a:srgbClr val="BFD0F5"/>
            </a:solidFill>
            <a:prstDash val="solid"/>
          </a:ln>
        </p:spPr>
      </p:sp>
      <p:sp>
        <p:nvSpPr>
          <p:cNvPr id="43" name="Text 33"/>
          <p:cNvSpPr txBox="1"/>
          <p:nvPr/>
        </p:nvSpPr>
        <p:spPr>
          <a:xfrm>
            <a:off x="822960" y="5394960"/>
            <a:ext cx="7772400" cy="731520"/>
          </a:xfrm>
          <a:prstGeom prst="rect">
            <a:avLst/>
          </a:prstGeom>
          <a:noFill/>
          <a:ln/>
        </p:spPr>
        <p:txBody>
          <a:bodyPr wrap="square" lIns="0" tIns="0" rIns="0" bIns="0" rtlCol="0" anchor="ctr"/>
          <a:lstStyle/>
          <a:p>
            <a:pPr indent="0" marL="0">
              <a:buNone/>
            </a:pPr>
            <a:r>
              <a:rPr lang="en-US" sz="1250" b="1" spc="200" kern="0" dirty="0">
                <a:solidFill>
                  <a:srgbClr val="1547C8"/>
                </a:solidFill>
              </a:rPr>
              <a:t>WHY  </a:t>
            </a:r>
            <a:pPr indent="0" marL="0">
              <a:buNone/>
            </a:pPr>
            <a:r>
              <a:rPr lang="en-US" sz="1250" dirty="0">
                <a:solidFill>
                  <a:srgbClr val="1F2937"/>
                </a:solidFill>
              </a:rPr>
              <a:t>A configured test value matched. The system compares and escalates; it never interprets.</a:t>
            </a:r>
            <a:endParaRPr lang="en-US" sz="1250" dirty="0"/>
          </a:p>
        </p:txBody>
      </p:sp>
      <p:sp>
        <p:nvSpPr>
          <p:cNvPr id="44" name="Pill"/>
          <p:cNvSpPr/>
          <p:nvPr/>
        </p:nvSpPr>
        <p:spPr>
          <a:xfrm>
            <a:off x="9052560" y="5486400"/>
            <a:ext cx="2587752" cy="548640"/>
          </a:xfrm>
          <a:prstGeom prst="roundRect">
            <a:avLst>
              <a:gd name="adj" fmla="val 41667"/>
            </a:avLst>
          </a:prstGeom>
          <a:solidFill>
            <a:srgbClr val="1547C8"/>
          </a:solidFill>
          <a:ln w="12700">
            <a:solidFill>
              <a:srgbClr val="1547C8"/>
            </a:solidFill>
            <a:prstDash val="solid"/>
          </a:ln>
        </p:spPr>
      </p:sp>
      <p:sp>
        <p:nvSpPr>
          <p:cNvPr id="45" name="Text 35"/>
          <p:cNvSpPr txBox="1"/>
          <p:nvPr/>
        </p:nvSpPr>
        <p:spPr>
          <a:xfrm>
            <a:off x="9052560" y="5486400"/>
            <a:ext cx="2587752" cy="548640"/>
          </a:xfrm>
          <a:prstGeom prst="rect">
            <a:avLst/>
          </a:prstGeom>
          <a:noFill/>
          <a:ln/>
        </p:spPr>
        <p:txBody>
          <a:bodyPr wrap="square" lIns="0" tIns="0" rIns="0" bIns="0" rtlCol="0" anchor="ctr"/>
          <a:lstStyle/>
          <a:p>
            <a:pPr algn="ctr" indent="0" marL="0">
              <a:buNone/>
            </a:pPr>
            <a:endParaRPr lang="en-US" sz="1200" dirty="0"/>
          </a:p>
        </p:txBody>
      </p:sp>
      <p:sp>
        <p:nvSpPr>
          <p:cNvPr id="46" name="Text 36"/>
          <p:cNvSpPr txBox="1"/>
          <p:nvPr/>
        </p:nvSpPr>
        <p:spPr>
          <a:xfrm>
            <a:off x="9052560" y="5486400"/>
            <a:ext cx="2587752" cy="548640"/>
          </a:xfrm>
          <a:prstGeom prst="rect">
            <a:avLst/>
          </a:prstGeom>
          <a:noFill/>
          <a:ln/>
        </p:spPr>
        <p:txBody>
          <a:bodyPr wrap="square" lIns="0" tIns="0" rIns="0" bIns="0" rtlCol="0" anchor="ctr"/>
          <a:lstStyle/>
          <a:p>
            <a:pPr algn="ctr" indent="0" marL="0">
              <a:buNone/>
            </a:pPr>
            <a:r>
              <a:rPr lang="en-US" sz="1200" b="1" u="sng" dirty="0">
                <a:solidFill>
                  <a:srgbClr val="FFFFFF"/>
                </a:solidFill>
                <a:hlinkClick r:id="rId19" action="ppaction://hlinksldjump" tooltip="Back to the questions">
                  <a:extLst>
                    <a:ext uri="{A12FA001-AC4F-418D-AE19-62706E023703}">
                      <ahyp:hlinkClr xmlns:ahyp="http://schemas.microsoft.com/office/drawing/2018/hyperlinkcolor" val="tx"/>
                    </a:ext>
                  </a:extLst>
                </a:hlinkClick>
              </a:rPr>
              <a:t>← Back to the questions</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04  ·  ESCALATION RULES</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Four rules, applied exactly as supplied</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2" name="Text 10"/>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Rules</a:t>
            </a:r>
            <a:endParaRPr lang="en-US" sz="950" dirty="0"/>
          </a:p>
        </p:txBody>
      </p:sp>
      <p:sp>
        <p:nvSpPr>
          <p:cNvPr id="13" name="Shape 11"/>
          <p:cNvSpPr/>
          <p:nvPr/>
        </p:nvSpPr>
        <p:spPr>
          <a:xfrm>
            <a:off x="7712964" y="6309360"/>
            <a:ext cx="73152" cy="73152"/>
          </a:xfrm>
          <a:prstGeom prst="ellipse">
            <a:avLst/>
          </a:prstGeom>
          <a:solidFill>
            <a:srgbClr val="1547C8"/>
          </a:solidFill>
          <a:ln w="12700">
            <a:solidFill>
              <a:srgbClr val="1547C8"/>
            </a:solidFill>
            <a:prstDash val="solid"/>
          </a:ln>
        </p:spPr>
      </p:sp>
      <p:sp>
        <p:nvSpPr>
          <p:cNvPr id="14" name="Text 12"/>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5" name="Text 13"/>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Rule tile"/>
          <p:cNvSpPr/>
          <p:nvPr/>
        </p:nvSpPr>
        <p:spPr>
          <a:xfrm>
            <a:off x="548640" y="1417320"/>
            <a:ext cx="5440680" cy="1920240"/>
          </a:xfrm>
          <a:prstGeom prst="roundRect">
            <a:avLst>
              <a:gd name="adj" fmla="val 5714"/>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17" name="Text 15"/>
          <p:cNvSpPr txBox="1"/>
          <p:nvPr/>
        </p:nvSpPr>
        <p:spPr>
          <a:xfrm>
            <a:off x="868680" y="1645920"/>
            <a:ext cx="3200400" cy="685800"/>
          </a:xfrm>
          <a:prstGeom prst="rect">
            <a:avLst/>
          </a:prstGeom>
          <a:noFill/>
          <a:ln/>
        </p:spPr>
        <p:txBody>
          <a:bodyPr wrap="square" lIns="0" tIns="0" rIns="0" bIns="0" rtlCol="0" anchor="ctr"/>
          <a:lstStyle/>
          <a:p>
            <a:pPr indent="0" marL="0">
              <a:buNone/>
            </a:pPr>
            <a:r>
              <a:rPr lang="en-US" sz="4000" b="1" dirty="0">
                <a:solidFill>
                  <a:srgbClr val="E5484D"/>
                </a:solidFill>
              </a:rPr>
              <a:t>ER-501</a:t>
            </a:r>
            <a:endParaRPr lang="en-US" sz="4000" dirty="0"/>
          </a:p>
        </p:txBody>
      </p:sp>
      <p:sp>
        <p:nvSpPr>
          <p:cNvPr id="18" name="Icon dot"/>
          <p:cNvSpPr/>
          <p:nvPr/>
        </p:nvSpPr>
        <p:spPr>
          <a:xfrm>
            <a:off x="5120640" y="1691640"/>
            <a:ext cx="594360" cy="594360"/>
          </a:xfrm>
          <a:prstGeom prst="ellipse">
            <a:avLst/>
          </a:prstGeom>
          <a:solidFill>
            <a:srgbClr val="E5484D"/>
          </a:solidFill>
          <a:ln w="12700">
            <a:solidFill>
              <a:srgbClr val="E5484D"/>
            </a:solidFill>
            <a:prstDash val="solid"/>
          </a:ln>
        </p:spPr>
      </p:sp>
      <p:pic>
        <p:nvPicPr>
          <p:cNvPr id="19" name="Image 0" descr="Lock icon">    </p:cNvPr>
          <p:cNvPicPr>
            <a:picLocks noChangeAspect="1"/>
          </p:cNvPicPr>
          <p:nvPr/>
        </p:nvPicPr>
        <p:blipFill>
          <a:blip r:embed="rId11"/>
          <a:stretch>
            <a:fillRect/>
          </a:stretch>
        </p:blipFill>
        <p:spPr>
          <a:xfrm>
            <a:off x="5275174" y="1846174"/>
            <a:ext cx="285293" cy="285293"/>
          </a:xfrm>
          <a:prstGeom prst="rect">
            <a:avLst/>
          </a:prstGeom>
        </p:spPr>
      </p:pic>
      <p:sp>
        <p:nvSpPr>
          <p:cNvPr id="20" name="Text 17"/>
          <p:cNvSpPr txBox="1"/>
          <p:nvPr/>
        </p:nvSpPr>
        <p:spPr>
          <a:xfrm>
            <a:off x="868680" y="2377440"/>
            <a:ext cx="4846320" cy="320040"/>
          </a:xfrm>
          <a:prstGeom prst="rect">
            <a:avLst/>
          </a:prstGeom>
          <a:noFill/>
          <a:ln/>
        </p:spPr>
        <p:txBody>
          <a:bodyPr wrap="square" lIns="0" tIns="0" rIns="0" bIns="0" rtlCol="0" anchor="t"/>
          <a:lstStyle/>
          <a:p>
            <a:pPr indent="0" marL="0">
              <a:buNone/>
            </a:pPr>
            <a:r>
              <a:rPr lang="en-US" sz="1600" b="1" dirty="0">
                <a:solidFill>
                  <a:srgbClr val="1F2937"/>
                </a:solidFill>
              </a:rPr>
              <a:t>Consent is not active</a:t>
            </a:r>
            <a:endParaRPr lang="en-US" sz="1600" dirty="0"/>
          </a:p>
        </p:txBody>
      </p:sp>
      <p:sp>
        <p:nvSpPr>
          <p:cNvPr id="21" name="Text 18"/>
          <p:cNvSpPr txBox="1"/>
          <p:nvPr/>
        </p:nvSpPr>
        <p:spPr>
          <a:xfrm>
            <a:off x="868680" y="2743200"/>
            <a:ext cx="4846320" cy="457200"/>
          </a:xfrm>
          <a:prstGeom prst="rect">
            <a:avLst/>
          </a:prstGeom>
          <a:noFill/>
          <a:ln/>
        </p:spPr>
        <p:txBody>
          <a:bodyPr wrap="square" lIns="0" tIns="0" rIns="0" bIns="0" rtlCol="0" anchor="t"/>
          <a:lstStyle/>
          <a:p>
            <a:pPr indent="0" marL="0">
              <a:buNone/>
            </a:pPr>
            <a:r>
              <a:rPr lang="en-US" sz="1250" dirty="0">
                <a:solidFill>
                  <a:srgbClr val="5B6478"/>
                </a:solidFill>
              </a:rPr>
              <a:t>Stop processing and direct the member to program staff</a:t>
            </a:r>
            <a:endParaRPr lang="en-US" sz="1250" dirty="0"/>
          </a:p>
        </p:txBody>
      </p:sp>
      <p:sp>
        <p:nvSpPr>
          <p:cNvPr id="22" name="Rule tile"/>
          <p:cNvSpPr/>
          <p:nvPr/>
        </p:nvSpPr>
        <p:spPr>
          <a:xfrm>
            <a:off x="6199632" y="1417320"/>
            <a:ext cx="5440680" cy="1920240"/>
          </a:xfrm>
          <a:prstGeom prst="roundRect">
            <a:avLst>
              <a:gd name="adj" fmla="val 5714"/>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3" name="Text 20"/>
          <p:cNvSpPr txBox="1"/>
          <p:nvPr/>
        </p:nvSpPr>
        <p:spPr>
          <a:xfrm>
            <a:off x="6519672" y="1645920"/>
            <a:ext cx="3200400" cy="685800"/>
          </a:xfrm>
          <a:prstGeom prst="rect">
            <a:avLst/>
          </a:prstGeom>
          <a:noFill/>
          <a:ln/>
        </p:spPr>
        <p:txBody>
          <a:bodyPr wrap="square" lIns="0" tIns="0" rIns="0" bIns="0" rtlCol="0" anchor="ctr"/>
          <a:lstStyle/>
          <a:p>
            <a:pPr indent="0" marL="0">
              <a:buNone/>
            </a:pPr>
            <a:r>
              <a:rPr lang="en-US" sz="4000" b="1" dirty="0">
                <a:solidFill>
                  <a:srgbClr val="F5A524"/>
                </a:solidFill>
              </a:rPr>
              <a:t>ER-502</a:t>
            </a:r>
            <a:endParaRPr lang="en-US" sz="4000" dirty="0"/>
          </a:p>
        </p:txBody>
      </p:sp>
      <p:sp>
        <p:nvSpPr>
          <p:cNvPr id="24" name="Icon dot"/>
          <p:cNvSpPr/>
          <p:nvPr/>
        </p:nvSpPr>
        <p:spPr>
          <a:xfrm>
            <a:off x="10771632" y="1691640"/>
            <a:ext cx="594360" cy="594360"/>
          </a:xfrm>
          <a:prstGeom prst="ellipse">
            <a:avLst/>
          </a:prstGeom>
          <a:solidFill>
            <a:srgbClr val="F5A524"/>
          </a:solidFill>
          <a:ln w="12700">
            <a:solidFill>
              <a:srgbClr val="F5A524"/>
            </a:solidFill>
            <a:prstDash val="solid"/>
          </a:ln>
        </p:spPr>
      </p:sp>
      <p:pic>
        <p:nvPicPr>
          <p:cNvPr id="25" name="Image 1" descr="Bell icon">    </p:cNvPr>
          <p:cNvPicPr>
            <a:picLocks noChangeAspect="1"/>
          </p:cNvPicPr>
          <p:nvPr/>
        </p:nvPicPr>
        <p:blipFill>
          <a:blip r:embed="rId12"/>
          <a:stretch>
            <a:fillRect/>
          </a:stretch>
        </p:blipFill>
        <p:spPr>
          <a:xfrm>
            <a:off x="10926166" y="1846174"/>
            <a:ext cx="285293" cy="285293"/>
          </a:xfrm>
          <a:prstGeom prst="rect">
            <a:avLst/>
          </a:prstGeom>
        </p:spPr>
      </p:pic>
      <p:sp>
        <p:nvSpPr>
          <p:cNvPr id="26" name="Text 22"/>
          <p:cNvSpPr txBox="1"/>
          <p:nvPr/>
        </p:nvSpPr>
        <p:spPr>
          <a:xfrm>
            <a:off x="6519672" y="2377440"/>
            <a:ext cx="4846320" cy="320040"/>
          </a:xfrm>
          <a:prstGeom prst="rect">
            <a:avLst/>
          </a:prstGeom>
          <a:noFill/>
          <a:ln/>
        </p:spPr>
        <p:txBody>
          <a:bodyPr wrap="square" lIns="0" tIns="0" rIns="0" bIns="0" rtlCol="0" anchor="t"/>
          <a:lstStyle/>
          <a:p>
            <a:pPr indent="0" marL="0">
              <a:buNone/>
            </a:pPr>
            <a:r>
              <a:rPr lang="en-US" sz="1600" b="1" dirty="0">
                <a:solidFill>
                  <a:srgbClr val="1F2937"/>
                </a:solidFill>
              </a:rPr>
              <a:t>Reading matches a configured test value</a:t>
            </a:r>
            <a:endParaRPr lang="en-US" sz="1600" dirty="0"/>
          </a:p>
        </p:txBody>
      </p:sp>
      <p:sp>
        <p:nvSpPr>
          <p:cNvPr id="27" name="Text 23"/>
          <p:cNvSpPr txBox="1"/>
          <p:nvPr/>
        </p:nvSpPr>
        <p:spPr>
          <a:xfrm>
            <a:off x="6519672" y="2743200"/>
            <a:ext cx="4846320" cy="457200"/>
          </a:xfrm>
          <a:prstGeom prst="rect">
            <a:avLst/>
          </a:prstGeom>
          <a:noFill/>
          <a:ln/>
        </p:spPr>
        <p:txBody>
          <a:bodyPr wrap="square" lIns="0" tIns="0" rIns="0" bIns="0" rtlCol="0" anchor="t"/>
          <a:lstStyle/>
          <a:p>
            <a:pPr indent="0" marL="0">
              <a:buNone/>
            </a:pPr>
            <a:r>
              <a:rPr lang="en-US" sz="1250" dirty="0">
                <a:solidFill>
                  <a:srgbClr val="5B6478"/>
                </a:solidFill>
              </a:rPr>
              <a:t>Create an urgent staff-review record; do not interpret</a:t>
            </a:r>
            <a:endParaRPr lang="en-US" sz="1250" dirty="0"/>
          </a:p>
        </p:txBody>
      </p:sp>
      <p:sp>
        <p:nvSpPr>
          <p:cNvPr id="28" name="Rule tile"/>
          <p:cNvSpPr/>
          <p:nvPr/>
        </p:nvSpPr>
        <p:spPr>
          <a:xfrm>
            <a:off x="548640" y="3520440"/>
            <a:ext cx="5440680" cy="1920240"/>
          </a:xfrm>
          <a:prstGeom prst="roundRect">
            <a:avLst>
              <a:gd name="adj" fmla="val 5714"/>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29" name="Text 25"/>
          <p:cNvSpPr txBox="1"/>
          <p:nvPr/>
        </p:nvSpPr>
        <p:spPr>
          <a:xfrm>
            <a:off x="868680" y="3749040"/>
            <a:ext cx="3200400" cy="685800"/>
          </a:xfrm>
          <a:prstGeom prst="rect">
            <a:avLst/>
          </a:prstGeom>
          <a:noFill/>
          <a:ln/>
        </p:spPr>
        <p:txBody>
          <a:bodyPr wrap="square" lIns="0" tIns="0" rIns="0" bIns="0" rtlCol="0" anchor="ctr"/>
          <a:lstStyle/>
          <a:p>
            <a:pPr indent="0" marL="0">
              <a:buNone/>
            </a:pPr>
            <a:r>
              <a:rPr lang="en-US" sz="4000" b="1" dirty="0">
                <a:solidFill>
                  <a:srgbClr val="1547C8"/>
                </a:solidFill>
              </a:rPr>
              <a:t>ER-503</a:t>
            </a:r>
            <a:endParaRPr lang="en-US" sz="4000" dirty="0"/>
          </a:p>
        </p:txBody>
      </p:sp>
      <p:sp>
        <p:nvSpPr>
          <p:cNvPr id="30" name="Icon dot"/>
          <p:cNvSpPr/>
          <p:nvPr/>
        </p:nvSpPr>
        <p:spPr>
          <a:xfrm>
            <a:off x="5120640" y="3794760"/>
            <a:ext cx="594360" cy="594360"/>
          </a:xfrm>
          <a:prstGeom prst="ellipse">
            <a:avLst/>
          </a:prstGeom>
          <a:solidFill>
            <a:srgbClr val="1547C8"/>
          </a:solidFill>
          <a:ln w="12700">
            <a:solidFill>
              <a:srgbClr val="1547C8"/>
            </a:solidFill>
            <a:prstDash val="solid"/>
          </a:ln>
        </p:spPr>
      </p:sp>
      <p:pic>
        <p:nvPicPr>
          <p:cNvPr id="31" name="Image 2" descr="UserMd icon">    </p:cNvPr>
          <p:cNvPicPr>
            <a:picLocks noChangeAspect="1"/>
          </p:cNvPicPr>
          <p:nvPr/>
        </p:nvPicPr>
        <p:blipFill>
          <a:blip r:embed="rId13"/>
          <a:stretch>
            <a:fillRect/>
          </a:stretch>
        </p:blipFill>
        <p:spPr>
          <a:xfrm>
            <a:off x="5275174" y="3949294"/>
            <a:ext cx="285293" cy="285293"/>
          </a:xfrm>
          <a:prstGeom prst="rect">
            <a:avLst/>
          </a:prstGeom>
        </p:spPr>
      </p:pic>
      <p:sp>
        <p:nvSpPr>
          <p:cNvPr id="32" name="Text 27"/>
          <p:cNvSpPr txBox="1"/>
          <p:nvPr/>
        </p:nvSpPr>
        <p:spPr>
          <a:xfrm>
            <a:off x="868680" y="4480560"/>
            <a:ext cx="4846320" cy="320040"/>
          </a:xfrm>
          <a:prstGeom prst="rect">
            <a:avLst/>
          </a:prstGeom>
          <a:noFill/>
          <a:ln/>
        </p:spPr>
        <p:txBody>
          <a:bodyPr wrap="square" lIns="0" tIns="0" rIns="0" bIns="0" rtlCol="0" anchor="t"/>
          <a:lstStyle/>
          <a:p>
            <a:pPr indent="0" marL="0">
              <a:buNone/>
            </a:pPr>
            <a:r>
              <a:rPr lang="en-US" sz="1600" b="1" dirty="0">
                <a:solidFill>
                  <a:srgbClr val="1F2937"/>
                </a:solidFill>
              </a:rPr>
              <a:t>Member asks to change medication</a:t>
            </a:r>
            <a:endParaRPr lang="en-US" sz="1600" dirty="0"/>
          </a:p>
        </p:txBody>
      </p:sp>
      <p:sp>
        <p:nvSpPr>
          <p:cNvPr id="33" name="Text 28"/>
          <p:cNvSpPr txBox="1"/>
          <p:nvPr/>
        </p:nvSpPr>
        <p:spPr>
          <a:xfrm>
            <a:off x="868680" y="4846320"/>
            <a:ext cx="4846320" cy="457200"/>
          </a:xfrm>
          <a:prstGeom prst="rect">
            <a:avLst/>
          </a:prstGeom>
          <a:noFill/>
          <a:ln/>
        </p:spPr>
        <p:txBody>
          <a:bodyPr wrap="square" lIns="0" tIns="0" rIns="0" bIns="0" rtlCol="0" anchor="t"/>
          <a:lstStyle/>
          <a:p>
            <a:pPr indent="0" marL="0">
              <a:buNone/>
            </a:pPr>
            <a:r>
              <a:rPr lang="en-US" sz="1250" dirty="0">
                <a:solidFill>
                  <a:srgbClr val="5B6478"/>
                </a:solidFill>
              </a:rPr>
              <a:t>Decline and direct to a qualified clinician</a:t>
            </a:r>
            <a:endParaRPr lang="en-US" sz="1250" dirty="0"/>
          </a:p>
        </p:txBody>
      </p:sp>
      <p:sp>
        <p:nvSpPr>
          <p:cNvPr id="34" name="Rule tile"/>
          <p:cNvSpPr/>
          <p:nvPr/>
        </p:nvSpPr>
        <p:spPr>
          <a:xfrm>
            <a:off x="6199632" y="3520440"/>
            <a:ext cx="5440680" cy="1920240"/>
          </a:xfrm>
          <a:prstGeom prst="roundRect">
            <a:avLst>
              <a:gd name="adj" fmla="val 5714"/>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5" name="Text 30"/>
          <p:cNvSpPr txBox="1"/>
          <p:nvPr/>
        </p:nvSpPr>
        <p:spPr>
          <a:xfrm>
            <a:off x="6519672" y="3749040"/>
            <a:ext cx="3200400" cy="685800"/>
          </a:xfrm>
          <a:prstGeom prst="rect">
            <a:avLst/>
          </a:prstGeom>
          <a:noFill/>
          <a:ln/>
        </p:spPr>
        <p:txBody>
          <a:bodyPr wrap="square" lIns="0" tIns="0" rIns="0" bIns="0" rtlCol="0" anchor="ctr"/>
          <a:lstStyle/>
          <a:p>
            <a:pPr indent="0" marL="0">
              <a:buNone/>
            </a:pPr>
            <a:r>
              <a:rPr lang="en-US" sz="4000" b="1" dirty="0">
                <a:solidFill>
                  <a:srgbClr val="8338EC"/>
                </a:solidFill>
              </a:rPr>
              <a:t>ER-504</a:t>
            </a:r>
            <a:endParaRPr lang="en-US" sz="4000" dirty="0"/>
          </a:p>
        </p:txBody>
      </p:sp>
      <p:sp>
        <p:nvSpPr>
          <p:cNvPr id="36" name="Icon dot"/>
          <p:cNvSpPr/>
          <p:nvPr/>
        </p:nvSpPr>
        <p:spPr>
          <a:xfrm>
            <a:off x="10771632" y="3794760"/>
            <a:ext cx="594360" cy="594360"/>
          </a:xfrm>
          <a:prstGeom prst="ellipse">
            <a:avLst/>
          </a:prstGeom>
          <a:solidFill>
            <a:srgbClr val="8338EC"/>
          </a:solidFill>
          <a:ln w="12700">
            <a:solidFill>
              <a:srgbClr val="8338EC"/>
            </a:solidFill>
            <a:prstDash val="solid"/>
          </a:ln>
        </p:spPr>
      </p:sp>
      <p:pic>
        <p:nvPicPr>
          <p:cNvPr id="37" name="Image 3" descr="BalanceScale icon">    </p:cNvPr>
          <p:cNvPicPr>
            <a:picLocks noChangeAspect="1"/>
          </p:cNvPicPr>
          <p:nvPr/>
        </p:nvPicPr>
        <p:blipFill>
          <a:blip r:embed="rId14"/>
          <a:stretch>
            <a:fillRect/>
          </a:stretch>
        </p:blipFill>
        <p:spPr>
          <a:xfrm>
            <a:off x="10926166" y="3949294"/>
            <a:ext cx="285293" cy="285293"/>
          </a:xfrm>
          <a:prstGeom prst="rect">
            <a:avLst/>
          </a:prstGeom>
        </p:spPr>
      </p:pic>
      <p:sp>
        <p:nvSpPr>
          <p:cNvPr id="38" name="Text 32"/>
          <p:cNvSpPr txBox="1"/>
          <p:nvPr/>
        </p:nvSpPr>
        <p:spPr>
          <a:xfrm>
            <a:off x="6519672" y="4480560"/>
            <a:ext cx="4846320" cy="320040"/>
          </a:xfrm>
          <a:prstGeom prst="rect">
            <a:avLst/>
          </a:prstGeom>
          <a:noFill/>
          <a:ln/>
        </p:spPr>
        <p:txBody>
          <a:bodyPr wrap="square" lIns="0" tIns="0" rIns="0" bIns="0" rtlCol="0" anchor="t"/>
          <a:lstStyle/>
          <a:p>
            <a:pPr indent="0" marL="0">
              <a:buNone/>
            </a:pPr>
            <a:r>
              <a:rPr lang="en-US" sz="1600" b="1" dirty="0">
                <a:solidFill>
                  <a:srgbClr val="1F2937"/>
                </a:solidFill>
              </a:rPr>
              <a:t>Source or reading is contradictory</a:t>
            </a:r>
            <a:endParaRPr lang="en-US" sz="1600" dirty="0"/>
          </a:p>
        </p:txBody>
      </p:sp>
      <p:sp>
        <p:nvSpPr>
          <p:cNvPr id="39" name="Text 33"/>
          <p:cNvSpPr txBox="1"/>
          <p:nvPr/>
        </p:nvSpPr>
        <p:spPr>
          <a:xfrm>
            <a:off x="6519672" y="4846320"/>
            <a:ext cx="4846320" cy="457200"/>
          </a:xfrm>
          <a:prstGeom prst="rect">
            <a:avLst/>
          </a:prstGeom>
          <a:noFill/>
          <a:ln/>
        </p:spPr>
        <p:txBody>
          <a:bodyPr wrap="square" lIns="0" tIns="0" rIns="0" bIns="0" rtlCol="0" anchor="t"/>
          <a:lstStyle/>
          <a:p>
            <a:pPr indent="0" marL="0">
              <a:buNone/>
            </a:pPr>
            <a:r>
              <a:rPr lang="en-US" sz="1250" dirty="0">
                <a:solidFill>
                  <a:srgbClr val="5B6478"/>
                </a:solidFill>
              </a:rPr>
              <a:t>Mark the uncertainty and request human review</a:t>
            </a:r>
            <a:endParaRPr lang="en-US" sz="1250" dirty="0"/>
          </a:p>
        </p:txBody>
      </p:sp>
      <p:sp>
        <p:nvSpPr>
          <p:cNvPr id="40" name="Placeholder note"/>
          <p:cNvSpPr/>
          <p:nvPr/>
        </p:nvSpPr>
        <p:spPr>
          <a:xfrm>
            <a:off x="548640" y="5669280"/>
            <a:ext cx="11091672" cy="530352"/>
          </a:xfrm>
          <a:prstGeom prst="roundRect">
            <a:avLst>
              <a:gd name="adj" fmla="val 50000"/>
            </a:avLst>
          </a:prstGeom>
          <a:solidFill>
            <a:srgbClr val="FFF4DD"/>
          </a:solidFill>
          <a:ln w="12700">
            <a:solidFill>
              <a:srgbClr val="F3D9A4"/>
            </a:solidFill>
            <a:prstDash val="solid"/>
          </a:ln>
        </p:spPr>
      </p:sp>
      <p:pic>
        <p:nvPicPr>
          <p:cNvPr id="41" name="Image 4" descr="Warning">    </p:cNvPr>
          <p:cNvPicPr>
            <a:picLocks noChangeAspect="1"/>
          </p:cNvPicPr>
          <p:nvPr/>
        </p:nvPicPr>
        <p:blipFill>
          <a:blip r:embed="rId15"/>
          <a:stretch>
            <a:fillRect/>
          </a:stretch>
        </p:blipFill>
        <p:spPr>
          <a:xfrm>
            <a:off x="777240" y="5824728"/>
            <a:ext cx="219456" cy="219456"/>
          </a:xfrm>
          <a:prstGeom prst="rect">
            <a:avLst/>
          </a:prstGeom>
        </p:spPr>
      </p:pic>
      <p:sp>
        <p:nvSpPr>
          <p:cNvPr id="42" name="Text 35"/>
          <p:cNvSpPr txBox="1"/>
          <p:nvPr/>
        </p:nvSpPr>
        <p:spPr>
          <a:xfrm>
            <a:off x="1143000" y="5669280"/>
            <a:ext cx="10332720" cy="530352"/>
          </a:xfrm>
          <a:prstGeom prst="rect">
            <a:avLst/>
          </a:prstGeom>
          <a:noFill/>
          <a:ln/>
        </p:spPr>
        <p:txBody>
          <a:bodyPr wrap="square" lIns="0" tIns="0" rIns="0" bIns="0" rtlCol="0" anchor="ctr"/>
          <a:lstStyle/>
          <a:p>
            <a:pPr indent="0" marL="0">
              <a:buNone/>
            </a:pPr>
            <a:r>
              <a:rPr lang="en-US" sz="1200" dirty="0">
                <a:solidFill>
                  <a:srgbClr val="1F2937"/>
                </a:solidFill>
              </a:rPr>
              <a:t>ER-502 values (blood pressure 160/100, glucose 300) are training placeholders, not clinical thresholds.</a:t>
            </a:r>
            <a:endParaRPr lang="en-US" sz="120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05  ·  TESTING</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14 test scenarios: normal, unsafe and broken</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2" name="Text 10"/>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Results</a:t>
            </a:r>
            <a:endParaRPr lang="en-US" sz="950" dirty="0"/>
          </a:p>
        </p:txBody>
      </p:sp>
      <p:sp>
        <p:nvSpPr>
          <p:cNvPr id="14" name="Shape 12"/>
          <p:cNvSpPr/>
          <p:nvPr/>
        </p:nvSpPr>
        <p:spPr>
          <a:xfrm>
            <a:off x="8398764" y="6309360"/>
            <a:ext cx="73152" cy="73152"/>
          </a:xfrm>
          <a:prstGeom prst="ellipse">
            <a:avLst/>
          </a:prstGeom>
          <a:solidFill>
            <a:srgbClr val="1547C8"/>
          </a:solidFill>
          <a:ln w="12700">
            <a:solidFill>
              <a:srgbClr val="1547C8"/>
            </a:solidFill>
            <a:prstDash val="solid"/>
          </a:ln>
        </p:spPr>
      </p:sp>
      <p:sp>
        <p:nvSpPr>
          <p:cNvPr id="15" name="Text 13"/>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Next">
                  <a:extLst>
                    <a:ext uri="{A12FA001-AC4F-418D-AE19-62706E023703}">
                      <ahyp:hlinkClr xmlns:ahyp="http://schemas.microsoft.com/office/drawing/2018/hyperlinkcolor" val="tx"/>
                    </a:ext>
                  </a:extLst>
                </a:hlinkClick>
              </a:rPr>
              <a:t>Next</a:t>
            </a:r>
            <a:endParaRPr lang="en-US" sz="950" dirty="0"/>
          </a:p>
        </p:txBody>
      </p:sp>
      <p:sp>
        <p:nvSpPr>
          <p:cNvPr id="16" name="Ring panel"/>
          <p:cNvSpPr/>
          <p:nvPr/>
        </p:nvSpPr>
        <p:spPr>
          <a:xfrm>
            <a:off x="548640" y="1417320"/>
            <a:ext cx="3566160" cy="3657600"/>
          </a:xfrm>
          <a:prstGeom prst="roundRect">
            <a:avLst>
              <a:gd name="adj" fmla="val 3077"/>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graphicFrame>
        <p:nvGraphicFramePr>
          <p:cNvPr id="17" name="Chart 0" descr=""/>
          <p:cNvGraphicFramePr/>
          <p:nvPr/>
        </p:nvGraphicFramePr>
        <p:xfrm>
          <a:off x="685800" y="1508760"/>
          <a:ext cx="3291840" cy="2423160"/>
        </p:xfrm>
        <a:graphic xmlns:a="http://schemas.openxmlformats.org/drawingml/2006/main">
          <a:graphicData uri="http://schemas.openxmlformats.org/drawingml/2006/chart">
            <c:chart xmlns:c="http://schemas.openxmlformats.org/drawingml/2006/chart" r:id="rId11"/>
          </a:graphicData>
        </a:graphic>
      </p:graphicFrame>
      <p:sp>
        <p:nvSpPr>
          <p:cNvPr id="18" name="Text 15"/>
          <p:cNvSpPr txBox="1"/>
          <p:nvPr/>
        </p:nvSpPr>
        <p:spPr>
          <a:xfrm>
            <a:off x="685800" y="2331720"/>
            <a:ext cx="3291840" cy="548640"/>
          </a:xfrm>
          <a:prstGeom prst="rect">
            <a:avLst/>
          </a:prstGeom>
          <a:noFill/>
          <a:ln/>
        </p:spPr>
        <p:txBody>
          <a:bodyPr wrap="square" lIns="0" tIns="0" rIns="0" bIns="0" rtlCol="0" anchor="ctr"/>
          <a:lstStyle/>
          <a:p>
            <a:pPr algn="ctr" indent="0" marL="0">
              <a:buNone/>
            </a:pPr>
            <a:r>
              <a:rPr lang="en-US" sz="3200" b="1" dirty="0">
                <a:solidFill>
                  <a:srgbClr val="1F2937"/>
                </a:solidFill>
              </a:rPr>
              <a:t>14</a:t>
            </a:r>
            <a:endParaRPr lang="en-US" sz="3200" dirty="0"/>
          </a:p>
        </p:txBody>
      </p:sp>
      <p:sp>
        <p:nvSpPr>
          <p:cNvPr id="19" name="Text 16"/>
          <p:cNvSpPr txBox="1"/>
          <p:nvPr/>
        </p:nvSpPr>
        <p:spPr>
          <a:xfrm>
            <a:off x="685800" y="2834640"/>
            <a:ext cx="3291840" cy="274320"/>
          </a:xfrm>
          <a:prstGeom prst="rect">
            <a:avLst/>
          </a:prstGeom>
          <a:noFill/>
          <a:ln/>
        </p:spPr>
        <p:txBody>
          <a:bodyPr wrap="square" lIns="0" tIns="0" rIns="0" bIns="0" rtlCol="0" anchor="t"/>
          <a:lstStyle/>
          <a:p>
            <a:pPr algn="ctr" indent="0" marL="0">
              <a:buNone/>
            </a:pPr>
            <a:r>
              <a:rPr lang="en-US" sz="1100" dirty="0">
                <a:solidFill>
                  <a:srgbClr val="5B6478"/>
                </a:solidFill>
              </a:rPr>
              <a:t>scenarios</a:t>
            </a:r>
            <a:endParaRPr lang="en-US" sz="1100" dirty="0"/>
          </a:p>
        </p:txBody>
      </p:sp>
      <p:sp>
        <p:nvSpPr>
          <p:cNvPr id="20" name="Shape 17"/>
          <p:cNvSpPr/>
          <p:nvPr/>
        </p:nvSpPr>
        <p:spPr>
          <a:xfrm>
            <a:off x="868680" y="4078224"/>
            <a:ext cx="128016" cy="128016"/>
          </a:xfrm>
          <a:prstGeom prst="ellipse">
            <a:avLst/>
          </a:prstGeom>
          <a:solidFill>
            <a:srgbClr val="1547C8"/>
          </a:solidFill>
          <a:ln w="12700">
            <a:solidFill>
              <a:srgbClr val="1547C8"/>
            </a:solidFill>
            <a:prstDash val="solid"/>
          </a:ln>
        </p:spPr>
      </p:sp>
      <p:sp>
        <p:nvSpPr>
          <p:cNvPr id="21" name="Text 18"/>
          <p:cNvSpPr txBox="1"/>
          <p:nvPr/>
        </p:nvSpPr>
        <p:spPr>
          <a:xfrm>
            <a:off x="1097280" y="4023360"/>
            <a:ext cx="2377440" cy="237744"/>
          </a:xfrm>
          <a:prstGeom prst="rect">
            <a:avLst/>
          </a:prstGeom>
          <a:noFill/>
          <a:ln/>
        </p:spPr>
        <p:txBody>
          <a:bodyPr wrap="square" lIns="0" tIns="0" rIns="0" bIns="0" rtlCol="0" anchor="ctr"/>
          <a:lstStyle/>
          <a:p>
            <a:pPr indent="0" marL="0">
              <a:buNone/>
            </a:pPr>
            <a:r>
              <a:rPr lang="en-US" sz="1150" dirty="0">
                <a:solidFill>
                  <a:srgbClr val="1F2937"/>
                </a:solidFill>
              </a:rPr>
              <a:t>Normal paths</a:t>
            </a:r>
            <a:endParaRPr lang="en-US" sz="1150" dirty="0"/>
          </a:p>
        </p:txBody>
      </p:sp>
      <p:sp>
        <p:nvSpPr>
          <p:cNvPr id="22" name="Text 19"/>
          <p:cNvSpPr txBox="1"/>
          <p:nvPr/>
        </p:nvSpPr>
        <p:spPr>
          <a:xfrm>
            <a:off x="3291840" y="4023360"/>
            <a:ext cx="640080" cy="237744"/>
          </a:xfrm>
          <a:prstGeom prst="rect">
            <a:avLst/>
          </a:prstGeom>
          <a:noFill/>
          <a:ln/>
        </p:spPr>
        <p:txBody>
          <a:bodyPr wrap="square" lIns="0" tIns="0" rIns="0" bIns="0" rtlCol="0" anchor="ctr"/>
          <a:lstStyle/>
          <a:p>
            <a:pPr algn="r" indent="0" marL="0">
              <a:buNone/>
            </a:pPr>
            <a:r>
              <a:rPr lang="en-US" sz="1150" b="1" dirty="0">
                <a:solidFill>
                  <a:srgbClr val="1F2937"/>
                </a:solidFill>
              </a:rPr>
              <a:t>4</a:t>
            </a:r>
            <a:endParaRPr lang="en-US" sz="1150" dirty="0"/>
          </a:p>
        </p:txBody>
      </p:sp>
      <p:sp>
        <p:nvSpPr>
          <p:cNvPr id="23" name="Shape 20"/>
          <p:cNvSpPr/>
          <p:nvPr/>
        </p:nvSpPr>
        <p:spPr>
          <a:xfrm>
            <a:off x="868680" y="4325112"/>
            <a:ext cx="128016" cy="128016"/>
          </a:xfrm>
          <a:prstGeom prst="ellipse">
            <a:avLst/>
          </a:prstGeom>
          <a:solidFill>
            <a:srgbClr val="E5484D"/>
          </a:solidFill>
          <a:ln w="12700">
            <a:solidFill>
              <a:srgbClr val="E5484D"/>
            </a:solidFill>
            <a:prstDash val="solid"/>
          </a:ln>
        </p:spPr>
      </p:sp>
      <p:sp>
        <p:nvSpPr>
          <p:cNvPr id="24" name="Text 21"/>
          <p:cNvSpPr txBox="1"/>
          <p:nvPr/>
        </p:nvSpPr>
        <p:spPr>
          <a:xfrm>
            <a:off x="1097280" y="4270248"/>
            <a:ext cx="2377440" cy="237744"/>
          </a:xfrm>
          <a:prstGeom prst="rect">
            <a:avLst/>
          </a:prstGeom>
          <a:noFill/>
          <a:ln/>
        </p:spPr>
        <p:txBody>
          <a:bodyPr wrap="square" lIns="0" tIns="0" rIns="0" bIns="0" rtlCol="0" anchor="ctr"/>
          <a:lstStyle/>
          <a:p>
            <a:pPr indent="0" marL="0">
              <a:buNone/>
            </a:pPr>
            <a:r>
              <a:rPr lang="en-US" sz="1150" dirty="0">
                <a:solidFill>
                  <a:srgbClr val="1F2937"/>
                </a:solidFill>
              </a:rPr>
              <a:t>Safety escalations</a:t>
            </a:r>
            <a:endParaRPr lang="en-US" sz="1150" dirty="0"/>
          </a:p>
        </p:txBody>
      </p:sp>
      <p:sp>
        <p:nvSpPr>
          <p:cNvPr id="25" name="Text 22"/>
          <p:cNvSpPr txBox="1"/>
          <p:nvPr/>
        </p:nvSpPr>
        <p:spPr>
          <a:xfrm>
            <a:off x="3291840" y="4270248"/>
            <a:ext cx="640080" cy="237744"/>
          </a:xfrm>
          <a:prstGeom prst="rect">
            <a:avLst/>
          </a:prstGeom>
          <a:noFill/>
          <a:ln/>
        </p:spPr>
        <p:txBody>
          <a:bodyPr wrap="square" lIns="0" tIns="0" rIns="0" bIns="0" rtlCol="0" anchor="ctr"/>
          <a:lstStyle/>
          <a:p>
            <a:pPr algn="r" indent="0" marL="0">
              <a:buNone/>
            </a:pPr>
            <a:r>
              <a:rPr lang="en-US" sz="1150" b="1" dirty="0">
                <a:solidFill>
                  <a:srgbClr val="1F2937"/>
                </a:solidFill>
              </a:rPr>
              <a:t>5</a:t>
            </a:r>
            <a:endParaRPr lang="en-US" sz="1150" dirty="0"/>
          </a:p>
        </p:txBody>
      </p:sp>
      <p:sp>
        <p:nvSpPr>
          <p:cNvPr id="26" name="Shape 23"/>
          <p:cNvSpPr/>
          <p:nvPr/>
        </p:nvSpPr>
        <p:spPr>
          <a:xfrm>
            <a:off x="868680" y="4572000"/>
            <a:ext cx="128016" cy="128016"/>
          </a:xfrm>
          <a:prstGeom prst="ellipse">
            <a:avLst/>
          </a:prstGeom>
          <a:solidFill>
            <a:srgbClr val="F5A524"/>
          </a:solidFill>
          <a:ln w="12700">
            <a:solidFill>
              <a:srgbClr val="F5A524"/>
            </a:solidFill>
            <a:prstDash val="solid"/>
          </a:ln>
        </p:spPr>
      </p:sp>
      <p:sp>
        <p:nvSpPr>
          <p:cNvPr id="27" name="Text 24"/>
          <p:cNvSpPr txBox="1"/>
          <p:nvPr/>
        </p:nvSpPr>
        <p:spPr>
          <a:xfrm>
            <a:off x="1097280" y="4517136"/>
            <a:ext cx="2377440" cy="237744"/>
          </a:xfrm>
          <a:prstGeom prst="rect">
            <a:avLst/>
          </a:prstGeom>
          <a:noFill/>
          <a:ln/>
        </p:spPr>
        <p:txBody>
          <a:bodyPr wrap="square" lIns="0" tIns="0" rIns="0" bIns="0" rtlCol="0" anchor="ctr"/>
          <a:lstStyle/>
          <a:p>
            <a:pPr indent="0" marL="0">
              <a:buNone/>
            </a:pPr>
            <a:r>
              <a:rPr lang="en-US" sz="1150" dirty="0">
                <a:solidFill>
                  <a:srgbClr val="1F2937"/>
                </a:solidFill>
              </a:rPr>
              <a:t>Edge and conflict</a:t>
            </a:r>
            <a:endParaRPr lang="en-US" sz="1150" dirty="0"/>
          </a:p>
        </p:txBody>
      </p:sp>
      <p:sp>
        <p:nvSpPr>
          <p:cNvPr id="28" name="Text 25"/>
          <p:cNvSpPr txBox="1"/>
          <p:nvPr/>
        </p:nvSpPr>
        <p:spPr>
          <a:xfrm>
            <a:off x="3291840" y="4517136"/>
            <a:ext cx="640080" cy="237744"/>
          </a:xfrm>
          <a:prstGeom prst="rect">
            <a:avLst/>
          </a:prstGeom>
          <a:noFill/>
          <a:ln/>
        </p:spPr>
        <p:txBody>
          <a:bodyPr wrap="square" lIns="0" tIns="0" rIns="0" bIns="0" rtlCol="0" anchor="ctr"/>
          <a:lstStyle/>
          <a:p>
            <a:pPr algn="r" indent="0" marL="0">
              <a:buNone/>
            </a:pPr>
            <a:r>
              <a:rPr lang="en-US" sz="1150" b="1" dirty="0">
                <a:solidFill>
                  <a:srgbClr val="1F2937"/>
                </a:solidFill>
              </a:rPr>
              <a:t>4</a:t>
            </a:r>
            <a:endParaRPr lang="en-US" sz="1150" dirty="0"/>
          </a:p>
        </p:txBody>
      </p:sp>
      <p:sp>
        <p:nvSpPr>
          <p:cNvPr id="29" name="Shape 26"/>
          <p:cNvSpPr/>
          <p:nvPr/>
        </p:nvSpPr>
        <p:spPr>
          <a:xfrm>
            <a:off x="868680" y="4818888"/>
            <a:ext cx="128016" cy="128016"/>
          </a:xfrm>
          <a:prstGeom prst="ellipse">
            <a:avLst/>
          </a:prstGeom>
          <a:solidFill>
            <a:srgbClr val="8338EC"/>
          </a:solidFill>
          <a:ln w="12700">
            <a:solidFill>
              <a:srgbClr val="8338EC"/>
            </a:solidFill>
            <a:prstDash val="solid"/>
          </a:ln>
        </p:spPr>
      </p:sp>
      <p:sp>
        <p:nvSpPr>
          <p:cNvPr id="30" name="Text 27"/>
          <p:cNvSpPr txBox="1"/>
          <p:nvPr/>
        </p:nvSpPr>
        <p:spPr>
          <a:xfrm>
            <a:off x="1097280" y="4764024"/>
            <a:ext cx="2377440" cy="237744"/>
          </a:xfrm>
          <a:prstGeom prst="rect">
            <a:avLst/>
          </a:prstGeom>
          <a:noFill/>
          <a:ln/>
        </p:spPr>
        <p:txBody>
          <a:bodyPr wrap="square" lIns="0" tIns="0" rIns="0" bIns="0" rtlCol="0" anchor="ctr"/>
          <a:lstStyle/>
          <a:p>
            <a:pPr indent="0" marL="0">
              <a:buNone/>
            </a:pPr>
            <a:r>
              <a:rPr lang="en-US" sz="1150" dirty="0">
                <a:solidFill>
                  <a:srgbClr val="1F2937"/>
                </a:solidFill>
              </a:rPr>
              <a:t>Failure handling</a:t>
            </a:r>
            <a:endParaRPr lang="en-US" sz="1150" dirty="0"/>
          </a:p>
        </p:txBody>
      </p:sp>
      <p:sp>
        <p:nvSpPr>
          <p:cNvPr id="31" name="Text 28"/>
          <p:cNvSpPr txBox="1"/>
          <p:nvPr/>
        </p:nvSpPr>
        <p:spPr>
          <a:xfrm>
            <a:off x="3291840" y="4764024"/>
            <a:ext cx="640080" cy="237744"/>
          </a:xfrm>
          <a:prstGeom prst="rect">
            <a:avLst/>
          </a:prstGeom>
          <a:noFill/>
          <a:ln/>
        </p:spPr>
        <p:txBody>
          <a:bodyPr wrap="square" lIns="0" tIns="0" rIns="0" bIns="0" rtlCol="0" anchor="ctr"/>
          <a:lstStyle/>
          <a:p>
            <a:pPr algn="r" indent="0" marL="0">
              <a:buNone/>
            </a:pPr>
            <a:r>
              <a:rPr lang="en-US" sz="1150" b="1" dirty="0">
                <a:solidFill>
                  <a:srgbClr val="1F2937"/>
                </a:solidFill>
              </a:rPr>
              <a:t>1</a:t>
            </a:r>
            <a:endParaRPr lang="en-US" sz="1150" dirty="0"/>
          </a:p>
        </p:txBody>
      </p:sp>
      <p:sp>
        <p:nvSpPr>
          <p:cNvPr id="32" name="Proves panel"/>
          <p:cNvSpPr/>
          <p:nvPr/>
        </p:nvSpPr>
        <p:spPr>
          <a:xfrm>
            <a:off x="4343400" y="1417320"/>
            <a:ext cx="4389120" cy="3657600"/>
          </a:xfrm>
          <a:prstGeom prst="roundRect">
            <a:avLst>
              <a:gd name="adj" fmla="val 3000"/>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33" name="Text 30"/>
          <p:cNvSpPr txBox="1"/>
          <p:nvPr/>
        </p:nvSpPr>
        <p:spPr>
          <a:xfrm>
            <a:off x="4617720" y="1600200"/>
            <a:ext cx="3931920" cy="228600"/>
          </a:xfrm>
          <a:prstGeom prst="rect">
            <a:avLst/>
          </a:prstGeom>
          <a:noFill/>
          <a:ln/>
        </p:spPr>
        <p:txBody>
          <a:bodyPr wrap="square" lIns="0" tIns="0" rIns="0" bIns="0" rtlCol="0" anchor="t"/>
          <a:lstStyle/>
          <a:p>
            <a:pPr indent="0" marL="0">
              <a:buNone/>
            </a:pPr>
            <a:r>
              <a:rPr lang="en-US" sz="1050" b="1" spc="300" kern="0" dirty="0">
                <a:solidFill>
                  <a:srgbClr val="1547C8"/>
                </a:solidFill>
              </a:rPr>
              <a:t>WHAT THE SCENARIOS PROVE</a:t>
            </a:r>
            <a:endParaRPr lang="en-US" sz="1050" dirty="0"/>
          </a:p>
        </p:txBody>
      </p:sp>
      <p:sp>
        <p:nvSpPr>
          <p:cNvPr id="34" name="Pill"/>
          <p:cNvSpPr/>
          <p:nvPr/>
        </p:nvSpPr>
        <p:spPr>
          <a:xfrm>
            <a:off x="4617720" y="2048256"/>
            <a:ext cx="457200" cy="237744"/>
          </a:xfrm>
          <a:prstGeom prst="roundRect">
            <a:avLst>
              <a:gd name="adj" fmla="val 50000"/>
            </a:avLst>
          </a:prstGeom>
          <a:solidFill>
            <a:srgbClr val="1547C8"/>
          </a:solidFill>
          <a:ln w="12700">
            <a:solidFill>
              <a:srgbClr val="1547C8"/>
            </a:solidFill>
            <a:prstDash val="solid"/>
          </a:ln>
        </p:spPr>
      </p:sp>
      <p:sp>
        <p:nvSpPr>
          <p:cNvPr id="35" name="Text 32"/>
          <p:cNvSpPr txBox="1"/>
          <p:nvPr/>
        </p:nvSpPr>
        <p:spPr>
          <a:xfrm>
            <a:off x="4617720" y="2048256"/>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T1</a:t>
            </a:r>
            <a:endParaRPr lang="en-US" sz="900" dirty="0"/>
          </a:p>
        </p:txBody>
      </p:sp>
      <p:sp>
        <p:nvSpPr>
          <p:cNvPr id="36" name="Text 33"/>
          <p:cNvSpPr txBox="1"/>
          <p:nvPr/>
        </p:nvSpPr>
        <p:spPr>
          <a:xfrm>
            <a:off x="5212080" y="2011680"/>
            <a:ext cx="3429000" cy="310896"/>
          </a:xfrm>
          <a:prstGeom prst="rect">
            <a:avLst/>
          </a:prstGeom>
          <a:noFill/>
          <a:ln/>
        </p:spPr>
        <p:txBody>
          <a:bodyPr wrap="square" lIns="0" tIns="0" rIns="0" bIns="0" rtlCol="0" anchor="ctr"/>
          <a:lstStyle/>
          <a:p>
            <a:pPr indent="0" marL="0">
              <a:buNone/>
            </a:pPr>
            <a:r>
              <a:rPr lang="en-US" sz="1200" dirty="0">
                <a:solidFill>
                  <a:srgbClr val="1F2937"/>
                </a:solidFill>
              </a:rPr>
              <a:t>Answers carry an approved citation</a:t>
            </a:r>
            <a:endParaRPr lang="en-US" sz="1200" dirty="0"/>
          </a:p>
        </p:txBody>
      </p:sp>
      <p:sp>
        <p:nvSpPr>
          <p:cNvPr id="37" name="Pill"/>
          <p:cNvSpPr/>
          <p:nvPr/>
        </p:nvSpPr>
        <p:spPr>
          <a:xfrm>
            <a:off x="4617720" y="2423160"/>
            <a:ext cx="457200" cy="237744"/>
          </a:xfrm>
          <a:prstGeom prst="roundRect">
            <a:avLst>
              <a:gd name="adj" fmla="val 50000"/>
            </a:avLst>
          </a:prstGeom>
          <a:solidFill>
            <a:srgbClr val="1547C8"/>
          </a:solidFill>
          <a:ln w="12700">
            <a:solidFill>
              <a:srgbClr val="1547C8"/>
            </a:solidFill>
            <a:prstDash val="solid"/>
          </a:ln>
        </p:spPr>
      </p:sp>
      <p:sp>
        <p:nvSpPr>
          <p:cNvPr id="38" name="Text 35"/>
          <p:cNvSpPr txBox="1"/>
          <p:nvPr/>
        </p:nvSpPr>
        <p:spPr>
          <a:xfrm>
            <a:off x="4617720" y="2423160"/>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T2</a:t>
            </a:r>
            <a:endParaRPr lang="en-US" sz="900" dirty="0"/>
          </a:p>
        </p:txBody>
      </p:sp>
      <p:sp>
        <p:nvSpPr>
          <p:cNvPr id="39" name="Text 36"/>
          <p:cNvSpPr txBox="1"/>
          <p:nvPr/>
        </p:nvSpPr>
        <p:spPr>
          <a:xfrm>
            <a:off x="5212080" y="2386584"/>
            <a:ext cx="3429000" cy="310896"/>
          </a:xfrm>
          <a:prstGeom prst="rect">
            <a:avLst/>
          </a:prstGeom>
          <a:noFill/>
          <a:ln/>
        </p:spPr>
        <p:txBody>
          <a:bodyPr wrap="square" lIns="0" tIns="0" rIns="0" bIns="0" rtlCol="0" anchor="ctr"/>
          <a:lstStyle/>
          <a:p>
            <a:pPr indent="0" marL="0">
              <a:buNone/>
            </a:pPr>
            <a:r>
              <a:rPr lang="en-US" sz="1200" dirty="0">
                <a:solidFill>
                  <a:srgbClr val="1F2937"/>
                </a:solidFill>
              </a:rPr>
              <a:t>Expired consent stops everything</a:t>
            </a:r>
            <a:endParaRPr lang="en-US" sz="1200" dirty="0"/>
          </a:p>
        </p:txBody>
      </p:sp>
      <p:sp>
        <p:nvSpPr>
          <p:cNvPr id="40" name="Pill"/>
          <p:cNvSpPr/>
          <p:nvPr/>
        </p:nvSpPr>
        <p:spPr>
          <a:xfrm>
            <a:off x="4617720" y="2798064"/>
            <a:ext cx="457200" cy="237744"/>
          </a:xfrm>
          <a:prstGeom prst="roundRect">
            <a:avLst>
              <a:gd name="adj" fmla="val 50000"/>
            </a:avLst>
          </a:prstGeom>
          <a:solidFill>
            <a:srgbClr val="1547C8"/>
          </a:solidFill>
          <a:ln w="12700">
            <a:solidFill>
              <a:srgbClr val="1547C8"/>
            </a:solidFill>
            <a:prstDash val="solid"/>
          </a:ln>
        </p:spPr>
      </p:sp>
      <p:sp>
        <p:nvSpPr>
          <p:cNvPr id="41" name="Text 38"/>
          <p:cNvSpPr txBox="1"/>
          <p:nvPr/>
        </p:nvSpPr>
        <p:spPr>
          <a:xfrm>
            <a:off x="4617720" y="2798064"/>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T3</a:t>
            </a:r>
            <a:endParaRPr lang="en-US" sz="900" dirty="0"/>
          </a:p>
        </p:txBody>
      </p:sp>
      <p:sp>
        <p:nvSpPr>
          <p:cNvPr id="42" name="Text 39"/>
          <p:cNvSpPr txBox="1"/>
          <p:nvPr/>
        </p:nvSpPr>
        <p:spPr>
          <a:xfrm>
            <a:off x="5212080" y="2761488"/>
            <a:ext cx="3429000" cy="310896"/>
          </a:xfrm>
          <a:prstGeom prst="rect">
            <a:avLst/>
          </a:prstGeom>
          <a:noFill/>
          <a:ln/>
        </p:spPr>
        <p:txBody>
          <a:bodyPr wrap="square" lIns="0" tIns="0" rIns="0" bIns="0" rtlCol="0" anchor="ctr"/>
          <a:lstStyle/>
          <a:p>
            <a:pPr indent="0" marL="0">
              <a:buNone/>
            </a:pPr>
            <a:r>
              <a:rPr lang="en-US" sz="1200" dirty="0">
                <a:solidFill>
                  <a:srgbClr val="1F2937"/>
                </a:solidFill>
              </a:rPr>
              <a:t>Medication changes are declined</a:t>
            </a:r>
            <a:endParaRPr lang="en-US" sz="1200" dirty="0"/>
          </a:p>
        </p:txBody>
      </p:sp>
      <p:sp>
        <p:nvSpPr>
          <p:cNvPr id="43" name="Pill"/>
          <p:cNvSpPr/>
          <p:nvPr/>
        </p:nvSpPr>
        <p:spPr>
          <a:xfrm>
            <a:off x="4617720" y="3172968"/>
            <a:ext cx="457200" cy="237744"/>
          </a:xfrm>
          <a:prstGeom prst="roundRect">
            <a:avLst>
              <a:gd name="adj" fmla="val 50000"/>
            </a:avLst>
          </a:prstGeom>
          <a:solidFill>
            <a:srgbClr val="1547C8"/>
          </a:solidFill>
          <a:ln w="12700">
            <a:solidFill>
              <a:srgbClr val="1547C8"/>
            </a:solidFill>
            <a:prstDash val="solid"/>
          </a:ln>
        </p:spPr>
      </p:sp>
      <p:sp>
        <p:nvSpPr>
          <p:cNvPr id="44" name="Text 41"/>
          <p:cNvSpPr txBox="1"/>
          <p:nvPr/>
        </p:nvSpPr>
        <p:spPr>
          <a:xfrm>
            <a:off x="4617720" y="3172968"/>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T4</a:t>
            </a:r>
            <a:endParaRPr lang="en-US" sz="900" dirty="0"/>
          </a:p>
        </p:txBody>
      </p:sp>
      <p:sp>
        <p:nvSpPr>
          <p:cNvPr id="45" name="Text 42"/>
          <p:cNvSpPr txBox="1"/>
          <p:nvPr/>
        </p:nvSpPr>
        <p:spPr>
          <a:xfrm>
            <a:off x="5212080" y="3136392"/>
            <a:ext cx="3429000" cy="310896"/>
          </a:xfrm>
          <a:prstGeom prst="rect">
            <a:avLst/>
          </a:prstGeom>
          <a:noFill/>
          <a:ln/>
        </p:spPr>
        <p:txBody>
          <a:bodyPr wrap="square" lIns="0" tIns="0" rIns="0" bIns="0" rtlCol="0" anchor="ctr"/>
          <a:lstStyle/>
          <a:p>
            <a:pPr indent="0" marL="0">
              <a:buNone/>
            </a:pPr>
            <a:r>
              <a:rPr lang="en-US" sz="1200" dirty="0">
                <a:solidFill>
                  <a:srgbClr val="1F2937"/>
                </a:solidFill>
              </a:rPr>
              <a:t>A matching reading creates a staff review</a:t>
            </a:r>
            <a:endParaRPr lang="en-US" sz="1200" dirty="0"/>
          </a:p>
        </p:txBody>
      </p:sp>
      <p:sp>
        <p:nvSpPr>
          <p:cNvPr id="46" name="Pill"/>
          <p:cNvSpPr/>
          <p:nvPr/>
        </p:nvSpPr>
        <p:spPr>
          <a:xfrm>
            <a:off x="4617720" y="3547872"/>
            <a:ext cx="457200" cy="237744"/>
          </a:xfrm>
          <a:prstGeom prst="roundRect">
            <a:avLst>
              <a:gd name="adj" fmla="val 50000"/>
            </a:avLst>
          </a:prstGeom>
          <a:solidFill>
            <a:srgbClr val="1547C8"/>
          </a:solidFill>
          <a:ln w="12700">
            <a:solidFill>
              <a:srgbClr val="1547C8"/>
            </a:solidFill>
            <a:prstDash val="solid"/>
          </a:ln>
        </p:spPr>
      </p:sp>
      <p:sp>
        <p:nvSpPr>
          <p:cNvPr id="47" name="Text 44"/>
          <p:cNvSpPr txBox="1"/>
          <p:nvPr/>
        </p:nvSpPr>
        <p:spPr>
          <a:xfrm>
            <a:off x="4617720" y="3547872"/>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T5</a:t>
            </a:r>
            <a:endParaRPr lang="en-US" sz="900" dirty="0"/>
          </a:p>
        </p:txBody>
      </p:sp>
      <p:sp>
        <p:nvSpPr>
          <p:cNvPr id="48" name="Text 45"/>
          <p:cNvSpPr txBox="1"/>
          <p:nvPr/>
        </p:nvSpPr>
        <p:spPr>
          <a:xfrm>
            <a:off x="5212080" y="3511296"/>
            <a:ext cx="3429000" cy="310896"/>
          </a:xfrm>
          <a:prstGeom prst="rect">
            <a:avLst/>
          </a:prstGeom>
          <a:noFill/>
          <a:ln/>
        </p:spPr>
        <p:txBody>
          <a:bodyPr wrap="square" lIns="0" tIns="0" rIns="0" bIns="0" rtlCol="0" anchor="ctr"/>
          <a:lstStyle/>
          <a:p>
            <a:pPr indent="0" marL="0">
              <a:buNone/>
            </a:pPr>
            <a:r>
              <a:rPr lang="en-US" sz="1200" dirty="0">
                <a:solidFill>
                  <a:srgbClr val="1F2937"/>
                </a:solidFill>
              </a:rPr>
              <a:t>Missing dates are never invented</a:t>
            </a:r>
            <a:endParaRPr lang="en-US" sz="1200" dirty="0"/>
          </a:p>
        </p:txBody>
      </p:sp>
      <p:sp>
        <p:nvSpPr>
          <p:cNvPr id="49" name="Pill"/>
          <p:cNvSpPr/>
          <p:nvPr/>
        </p:nvSpPr>
        <p:spPr>
          <a:xfrm>
            <a:off x="4617720" y="3922776"/>
            <a:ext cx="457200" cy="237744"/>
          </a:xfrm>
          <a:prstGeom prst="roundRect">
            <a:avLst>
              <a:gd name="adj" fmla="val 50000"/>
            </a:avLst>
          </a:prstGeom>
          <a:solidFill>
            <a:srgbClr val="1547C8"/>
          </a:solidFill>
          <a:ln w="12700">
            <a:solidFill>
              <a:srgbClr val="1547C8"/>
            </a:solidFill>
            <a:prstDash val="solid"/>
          </a:ln>
        </p:spPr>
      </p:sp>
      <p:sp>
        <p:nvSpPr>
          <p:cNvPr id="50" name="Text 47"/>
          <p:cNvSpPr txBox="1"/>
          <p:nvPr/>
        </p:nvSpPr>
        <p:spPr>
          <a:xfrm>
            <a:off x="4617720" y="3922776"/>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T6</a:t>
            </a:r>
            <a:endParaRPr lang="en-US" sz="900" dirty="0"/>
          </a:p>
        </p:txBody>
      </p:sp>
      <p:sp>
        <p:nvSpPr>
          <p:cNvPr id="51" name="Text 48"/>
          <p:cNvSpPr txBox="1"/>
          <p:nvPr/>
        </p:nvSpPr>
        <p:spPr>
          <a:xfrm>
            <a:off x="5212080" y="3886200"/>
            <a:ext cx="3429000" cy="310896"/>
          </a:xfrm>
          <a:prstGeom prst="rect">
            <a:avLst/>
          </a:prstGeom>
          <a:noFill/>
          <a:ln/>
        </p:spPr>
        <p:txBody>
          <a:bodyPr wrap="square" lIns="0" tIns="0" rIns="0" bIns="0" rtlCol="0" anchor="ctr"/>
          <a:lstStyle/>
          <a:p>
            <a:pPr indent="0" marL="0">
              <a:buNone/>
            </a:pPr>
            <a:r>
              <a:rPr lang="en-US" sz="1200" dirty="0">
                <a:solidFill>
                  <a:srgbClr val="1F2937"/>
                </a:solidFill>
              </a:rPr>
              <a:t>No matching article means an honest gap</a:t>
            </a:r>
            <a:endParaRPr lang="en-US" sz="1200" dirty="0"/>
          </a:p>
        </p:txBody>
      </p:sp>
      <p:sp>
        <p:nvSpPr>
          <p:cNvPr id="52" name="Pill"/>
          <p:cNvSpPr/>
          <p:nvPr/>
        </p:nvSpPr>
        <p:spPr>
          <a:xfrm>
            <a:off x="4617720" y="4297680"/>
            <a:ext cx="457200" cy="237744"/>
          </a:xfrm>
          <a:prstGeom prst="roundRect">
            <a:avLst>
              <a:gd name="adj" fmla="val 50000"/>
            </a:avLst>
          </a:prstGeom>
          <a:solidFill>
            <a:srgbClr val="1547C8"/>
          </a:solidFill>
          <a:ln w="12700">
            <a:solidFill>
              <a:srgbClr val="1547C8"/>
            </a:solidFill>
            <a:prstDash val="solid"/>
          </a:ln>
        </p:spPr>
      </p:sp>
      <p:sp>
        <p:nvSpPr>
          <p:cNvPr id="53" name="Text 50"/>
          <p:cNvSpPr txBox="1"/>
          <p:nvPr/>
        </p:nvSpPr>
        <p:spPr>
          <a:xfrm>
            <a:off x="4617720" y="4297680"/>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T7</a:t>
            </a:r>
            <a:endParaRPr lang="en-US" sz="900" dirty="0"/>
          </a:p>
        </p:txBody>
      </p:sp>
      <p:sp>
        <p:nvSpPr>
          <p:cNvPr id="54" name="Text 51"/>
          <p:cNvSpPr txBox="1"/>
          <p:nvPr/>
        </p:nvSpPr>
        <p:spPr>
          <a:xfrm>
            <a:off x="5212080" y="4261104"/>
            <a:ext cx="3429000" cy="310896"/>
          </a:xfrm>
          <a:prstGeom prst="rect">
            <a:avLst/>
          </a:prstGeom>
          <a:noFill/>
          <a:ln/>
        </p:spPr>
        <p:txBody>
          <a:bodyPr wrap="square" lIns="0" tIns="0" rIns="0" bIns="0" rtlCol="0" anchor="ctr"/>
          <a:lstStyle/>
          <a:p>
            <a:pPr indent="0" marL="0">
              <a:buNone/>
            </a:pPr>
            <a:r>
              <a:rPr lang="en-US" sz="1200" dirty="0">
                <a:solidFill>
                  <a:srgbClr val="1F2937"/>
                </a:solidFill>
              </a:rPr>
              <a:t>A corrected reading hides the old value</a:t>
            </a:r>
            <a:endParaRPr lang="en-US" sz="1200" dirty="0"/>
          </a:p>
        </p:txBody>
      </p:sp>
      <p:sp>
        <p:nvSpPr>
          <p:cNvPr id="55" name="Pill"/>
          <p:cNvSpPr/>
          <p:nvPr/>
        </p:nvSpPr>
        <p:spPr>
          <a:xfrm>
            <a:off x="4617720" y="4672584"/>
            <a:ext cx="457200" cy="237744"/>
          </a:xfrm>
          <a:prstGeom prst="roundRect">
            <a:avLst>
              <a:gd name="adj" fmla="val 50000"/>
            </a:avLst>
          </a:prstGeom>
          <a:solidFill>
            <a:srgbClr val="1547C8"/>
          </a:solidFill>
          <a:ln w="12700">
            <a:solidFill>
              <a:srgbClr val="1547C8"/>
            </a:solidFill>
            <a:prstDash val="solid"/>
          </a:ln>
        </p:spPr>
      </p:sp>
      <p:sp>
        <p:nvSpPr>
          <p:cNvPr id="56" name="Text 53"/>
          <p:cNvSpPr txBox="1"/>
          <p:nvPr/>
        </p:nvSpPr>
        <p:spPr>
          <a:xfrm>
            <a:off x="4617720" y="4672584"/>
            <a:ext cx="457200" cy="237744"/>
          </a:xfrm>
          <a:prstGeom prst="rect">
            <a:avLst/>
          </a:prstGeom>
          <a:noFill/>
          <a:ln/>
        </p:spPr>
        <p:txBody>
          <a:bodyPr wrap="square" lIns="0" tIns="0" rIns="0" bIns="0" rtlCol="0" anchor="ctr"/>
          <a:lstStyle/>
          <a:p>
            <a:pPr algn="ctr" indent="0" marL="0">
              <a:buNone/>
            </a:pPr>
            <a:r>
              <a:rPr lang="en-US" sz="900" b="1" dirty="0">
                <a:solidFill>
                  <a:srgbClr val="FFFFFF"/>
                </a:solidFill>
              </a:rPr>
              <a:t>T12</a:t>
            </a:r>
            <a:endParaRPr lang="en-US" sz="900" dirty="0"/>
          </a:p>
        </p:txBody>
      </p:sp>
      <p:sp>
        <p:nvSpPr>
          <p:cNvPr id="57" name="Text 54"/>
          <p:cNvSpPr txBox="1"/>
          <p:nvPr/>
        </p:nvSpPr>
        <p:spPr>
          <a:xfrm>
            <a:off x="5212080" y="4636008"/>
            <a:ext cx="3429000" cy="310896"/>
          </a:xfrm>
          <a:prstGeom prst="rect">
            <a:avLst/>
          </a:prstGeom>
          <a:noFill/>
          <a:ln/>
        </p:spPr>
        <p:txBody>
          <a:bodyPr wrap="square" lIns="0" tIns="0" rIns="0" bIns="0" rtlCol="0" anchor="ctr"/>
          <a:lstStyle/>
          <a:p>
            <a:pPr indent="0" marL="0">
              <a:buNone/>
            </a:pPr>
            <a:r>
              <a:rPr lang="en-US" sz="1200" dirty="0">
                <a:solidFill>
                  <a:srgbClr val="1F2937"/>
                </a:solidFill>
              </a:rPr>
              <a:t>Instruction overrides are blocked</a:t>
            </a:r>
            <a:endParaRPr lang="en-US" sz="1200" dirty="0"/>
          </a:p>
        </p:txBody>
      </p:sp>
      <p:sp>
        <p:nvSpPr>
          <p:cNvPr id="58" name="Stat tile"/>
          <p:cNvSpPr/>
          <p:nvPr/>
        </p:nvSpPr>
        <p:spPr>
          <a:xfrm>
            <a:off x="8961120" y="1417320"/>
            <a:ext cx="2679192" cy="1133856"/>
          </a:xfrm>
          <a:prstGeom prst="roundRect">
            <a:avLst>
              <a:gd name="adj" fmla="val 9677"/>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59" name="Text 56"/>
          <p:cNvSpPr txBox="1"/>
          <p:nvPr/>
        </p:nvSpPr>
        <p:spPr>
          <a:xfrm>
            <a:off x="9189720" y="1508760"/>
            <a:ext cx="2286000" cy="640080"/>
          </a:xfrm>
          <a:prstGeom prst="rect">
            <a:avLst/>
          </a:prstGeom>
          <a:noFill/>
          <a:ln/>
        </p:spPr>
        <p:txBody>
          <a:bodyPr wrap="square" lIns="0" tIns="0" rIns="0" bIns="0" rtlCol="0" anchor="ctr"/>
          <a:lstStyle/>
          <a:p>
            <a:pPr indent="0" marL="0">
              <a:buNone/>
            </a:pPr>
            <a:r>
              <a:rPr lang="en-US" sz="3400" b="1" dirty="0">
                <a:solidFill>
                  <a:srgbClr val="1547C8"/>
                </a:solidFill>
              </a:rPr>
              <a:t>105</a:t>
            </a:r>
            <a:endParaRPr lang="en-US" sz="3400" dirty="0"/>
          </a:p>
        </p:txBody>
      </p:sp>
      <p:sp>
        <p:nvSpPr>
          <p:cNvPr id="60" name="Text 57"/>
          <p:cNvSpPr txBox="1"/>
          <p:nvPr/>
        </p:nvSpPr>
        <p:spPr>
          <a:xfrm>
            <a:off x="9189720" y="2148840"/>
            <a:ext cx="2286000" cy="274320"/>
          </a:xfrm>
          <a:prstGeom prst="rect">
            <a:avLst/>
          </a:prstGeom>
          <a:noFill/>
          <a:ln/>
        </p:spPr>
        <p:txBody>
          <a:bodyPr wrap="square" lIns="0" tIns="0" rIns="0" bIns="0" rtlCol="0" anchor="t"/>
          <a:lstStyle/>
          <a:p>
            <a:pPr indent="0" marL="0">
              <a:buNone/>
            </a:pPr>
            <a:r>
              <a:rPr lang="en-US" sz="1200" dirty="0">
                <a:solidFill>
                  <a:srgbClr val="5B6478"/>
                </a:solidFill>
              </a:rPr>
              <a:t>synthetic members</a:t>
            </a:r>
            <a:endParaRPr lang="en-US" sz="1200" dirty="0"/>
          </a:p>
        </p:txBody>
      </p:sp>
      <p:sp>
        <p:nvSpPr>
          <p:cNvPr id="61" name="Stat tile"/>
          <p:cNvSpPr/>
          <p:nvPr/>
        </p:nvSpPr>
        <p:spPr>
          <a:xfrm>
            <a:off x="8961120" y="2679192"/>
            <a:ext cx="2679192" cy="1133856"/>
          </a:xfrm>
          <a:prstGeom prst="roundRect">
            <a:avLst>
              <a:gd name="adj" fmla="val 9677"/>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62" name="Text 59"/>
          <p:cNvSpPr txBox="1"/>
          <p:nvPr/>
        </p:nvSpPr>
        <p:spPr>
          <a:xfrm>
            <a:off x="9189720" y="2770632"/>
            <a:ext cx="2286000" cy="640080"/>
          </a:xfrm>
          <a:prstGeom prst="rect">
            <a:avLst/>
          </a:prstGeom>
          <a:noFill/>
          <a:ln/>
        </p:spPr>
        <p:txBody>
          <a:bodyPr wrap="square" lIns="0" tIns="0" rIns="0" bIns="0" rtlCol="0" anchor="ctr"/>
          <a:lstStyle/>
          <a:p>
            <a:pPr indent="0" marL="0">
              <a:buNone/>
            </a:pPr>
            <a:r>
              <a:rPr lang="en-US" sz="3400" b="1" dirty="0">
                <a:solidFill>
                  <a:srgbClr val="1547C8"/>
                </a:solidFill>
              </a:rPr>
              <a:t>2,254</a:t>
            </a:r>
            <a:endParaRPr lang="en-US" sz="3400" dirty="0"/>
          </a:p>
        </p:txBody>
      </p:sp>
      <p:sp>
        <p:nvSpPr>
          <p:cNvPr id="63" name="Text 60"/>
          <p:cNvSpPr txBox="1"/>
          <p:nvPr/>
        </p:nvSpPr>
        <p:spPr>
          <a:xfrm>
            <a:off x="9189720" y="3410712"/>
            <a:ext cx="2286000" cy="274320"/>
          </a:xfrm>
          <a:prstGeom prst="rect">
            <a:avLst/>
          </a:prstGeom>
          <a:noFill/>
          <a:ln/>
        </p:spPr>
        <p:txBody>
          <a:bodyPr wrap="square" lIns="0" tIns="0" rIns="0" bIns="0" rtlCol="0" anchor="t"/>
          <a:lstStyle/>
          <a:p>
            <a:pPr indent="0" marL="0">
              <a:buNone/>
            </a:pPr>
            <a:r>
              <a:rPr lang="en-US" sz="1200" dirty="0">
                <a:solidFill>
                  <a:srgbClr val="5B6478"/>
                </a:solidFill>
              </a:rPr>
              <a:t>active readings</a:t>
            </a:r>
            <a:endParaRPr lang="en-US" sz="1200" dirty="0"/>
          </a:p>
        </p:txBody>
      </p:sp>
      <p:sp>
        <p:nvSpPr>
          <p:cNvPr id="64" name="Stat tile"/>
          <p:cNvSpPr/>
          <p:nvPr/>
        </p:nvSpPr>
        <p:spPr>
          <a:xfrm>
            <a:off x="8961120" y="3941064"/>
            <a:ext cx="2679192" cy="1133856"/>
          </a:xfrm>
          <a:prstGeom prst="roundRect">
            <a:avLst>
              <a:gd name="adj" fmla="val 9677"/>
            </a:avLst>
          </a:prstGeom>
          <a:solidFill>
            <a:srgbClr val="FFFFFF"/>
          </a:solidFill>
          <a:ln w="12700">
            <a:solidFill>
              <a:srgbClr val="D8DEEC"/>
            </a:solidFill>
            <a:prstDash val="solid"/>
          </a:ln>
          <a:effectLst>
            <a:outerShdw sx="100000" sy="100000" kx="0" ky="0" algn="bl" rotWithShape="0" blurRad="127000" dist="25400" dir="5400000">
              <a:srgbClr val="1F2937">
                <a:alpha val="9000"/>
              </a:srgbClr>
            </a:outerShdw>
          </a:effectLst>
        </p:spPr>
      </p:sp>
      <p:sp>
        <p:nvSpPr>
          <p:cNvPr id="65" name="Text 62"/>
          <p:cNvSpPr txBox="1"/>
          <p:nvPr/>
        </p:nvSpPr>
        <p:spPr>
          <a:xfrm>
            <a:off x="9189720" y="4032504"/>
            <a:ext cx="2286000" cy="640080"/>
          </a:xfrm>
          <a:prstGeom prst="rect">
            <a:avLst/>
          </a:prstGeom>
          <a:noFill/>
          <a:ln/>
        </p:spPr>
        <p:txBody>
          <a:bodyPr wrap="square" lIns="0" tIns="0" rIns="0" bIns="0" rtlCol="0" anchor="ctr"/>
          <a:lstStyle/>
          <a:p>
            <a:pPr indent="0" marL="0">
              <a:buNone/>
            </a:pPr>
            <a:r>
              <a:rPr lang="en-US" sz="3400" b="1" dirty="0">
                <a:solidFill>
                  <a:srgbClr val="1547C8"/>
                </a:solidFill>
              </a:rPr>
              <a:t>24</a:t>
            </a:r>
            <a:endParaRPr lang="en-US" sz="3400" dirty="0"/>
          </a:p>
        </p:txBody>
      </p:sp>
      <p:sp>
        <p:nvSpPr>
          <p:cNvPr id="66" name="Text 63"/>
          <p:cNvSpPr txBox="1"/>
          <p:nvPr/>
        </p:nvSpPr>
        <p:spPr>
          <a:xfrm>
            <a:off x="9189720" y="4672584"/>
            <a:ext cx="2286000" cy="274320"/>
          </a:xfrm>
          <a:prstGeom prst="rect">
            <a:avLst/>
          </a:prstGeom>
          <a:noFill/>
          <a:ln/>
        </p:spPr>
        <p:txBody>
          <a:bodyPr wrap="square" lIns="0" tIns="0" rIns="0" bIns="0" rtlCol="0" anchor="t"/>
          <a:lstStyle/>
          <a:p>
            <a:pPr indent="0" marL="0">
              <a:buNone/>
            </a:pPr>
            <a:r>
              <a:rPr lang="en-US" sz="1200" dirty="0">
                <a:solidFill>
                  <a:srgbClr val="5B6478"/>
                </a:solidFill>
              </a:rPr>
              <a:t>approved articles</a:t>
            </a:r>
            <a:endParaRPr lang="en-US" sz="1200" dirty="0"/>
          </a:p>
        </p:txBody>
      </p:sp>
      <p:sp>
        <p:nvSpPr>
          <p:cNvPr id="67" name="Evidence note"/>
          <p:cNvSpPr/>
          <p:nvPr/>
        </p:nvSpPr>
        <p:spPr>
          <a:xfrm>
            <a:off x="548640" y="5303520"/>
            <a:ext cx="11091672" cy="777240"/>
          </a:xfrm>
          <a:prstGeom prst="roundRect">
            <a:avLst>
              <a:gd name="adj" fmla="val 23529"/>
            </a:avLst>
          </a:prstGeom>
          <a:solidFill>
            <a:srgbClr val="EAF0FC"/>
          </a:solidFill>
          <a:ln w="12700">
            <a:solidFill>
              <a:srgbClr val="BFD0F5"/>
            </a:solidFill>
            <a:prstDash val="solid"/>
          </a:ln>
        </p:spPr>
      </p:sp>
      <p:pic>
        <p:nvPicPr>
          <p:cNvPr id="68" name="Image 0" descr="Info">    </p:cNvPr>
          <p:cNvPicPr>
            <a:picLocks noChangeAspect="1"/>
          </p:cNvPicPr>
          <p:nvPr/>
        </p:nvPicPr>
        <p:blipFill>
          <a:blip r:embed="rId12"/>
          <a:stretch>
            <a:fillRect/>
          </a:stretch>
        </p:blipFill>
        <p:spPr>
          <a:xfrm>
            <a:off x="777240" y="5577840"/>
            <a:ext cx="237744" cy="237744"/>
          </a:xfrm>
          <a:prstGeom prst="rect">
            <a:avLst/>
          </a:prstGeom>
        </p:spPr>
      </p:pic>
      <p:sp>
        <p:nvSpPr>
          <p:cNvPr id="69" name="Text 65"/>
          <p:cNvSpPr txBox="1"/>
          <p:nvPr/>
        </p:nvSpPr>
        <p:spPr>
          <a:xfrm>
            <a:off x="1188720" y="5303520"/>
            <a:ext cx="10241280" cy="777240"/>
          </a:xfrm>
          <a:prstGeom prst="rect">
            <a:avLst/>
          </a:prstGeom>
          <a:noFill/>
          <a:ln/>
        </p:spPr>
        <p:txBody>
          <a:bodyPr wrap="square" lIns="0" tIns="0" rIns="0" bIns="0" rtlCol="0" anchor="ctr"/>
          <a:lstStyle/>
          <a:p>
            <a:pPr indent="0" marL="0">
              <a:buNone/>
            </a:pPr>
            <a:r>
              <a:rPr lang="en-US" sz="1250" dirty="0">
                <a:solidFill>
                  <a:srgbClr val="1F2937"/>
                </a:solidFill>
              </a:rPr>
              <a:t>Each scenario runs against the deployed Azure agents; prompts, outputs, citations and safety observations go into the test evidence document.</a:t>
            </a:r>
            <a:endParaRPr lang="en-US" sz="12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48640" y="347472"/>
            <a:ext cx="8229600" cy="256032"/>
          </a:xfrm>
          <a:prstGeom prst="rect">
            <a:avLst/>
          </a:prstGeom>
          <a:noFill/>
          <a:ln/>
        </p:spPr>
        <p:txBody>
          <a:bodyPr wrap="square" lIns="0" tIns="0" rIns="0" bIns="0" rtlCol="0" anchor="t"/>
          <a:lstStyle/>
          <a:p>
            <a:pPr algn="l" indent="0" marL="0">
              <a:buNone/>
            </a:pPr>
            <a:r>
              <a:rPr lang="en-US" sz="1100" b="1" spc="200" kern="0" dirty="0">
                <a:solidFill>
                  <a:srgbClr val="1547C8"/>
                </a:solidFill>
              </a:rPr>
              <a:t>06  ·  LIMITS AND NEXT STEPS</a:t>
            </a:r>
            <a:endParaRPr lang="en-US" sz="1100" dirty="0"/>
          </a:p>
        </p:txBody>
      </p:sp>
      <p:sp>
        <p:nvSpPr>
          <p:cNvPr id="3" name="Text 1"/>
          <p:cNvSpPr/>
          <p:nvPr>
            <p:ph idx="103" type="title" hasCustomPrompt="1"/>
          </p:nvPr>
        </p:nvSpPr>
        <p:spPr>
          <a:xfrm>
            <a:off x="548640" y="603504"/>
            <a:ext cx="11064240" cy="566928"/>
          </a:xfrm>
          <a:prstGeom prst="rect">
            <a:avLst/>
          </a:prstGeom>
          <a:noFill/>
          <a:ln/>
        </p:spPr>
        <p:txBody>
          <a:bodyPr wrap="square" lIns="0" tIns="0" rIns="0" bIns="0" rtlCol="0" anchor="t"/>
          <a:lstStyle/>
          <a:p>
            <a:pPr algn="l" indent="0" marL="0">
              <a:buNone/>
            </a:pPr>
            <a:r>
              <a:rPr lang="en-US" sz="3000" b="1" dirty="0">
                <a:solidFill>
                  <a:srgbClr val="1F2937"/>
                </a:solidFill>
              </a:rPr>
              <a:t>Every limit has a next step</a:t>
            </a:r>
            <a:endParaRPr lang="en-US" sz="3000" dirty="0"/>
          </a:p>
        </p:txBody>
      </p:sp>
      <p:sp>
        <p:nvSpPr>
          <p:cNvPr id="4" name="Text 2"/>
          <p:cNvSpPr txBox="1"/>
          <p:nvPr/>
        </p:nvSpPr>
        <p:spPr>
          <a:xfrm>
            <a:off x="1920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 action="ppaction://hlinksldjump" tooltip="Go to Agenda">
                  <a:extLst>
                    <a:ext uri="{A12FA001-AC4F-418D-AE19-62706E023703}">
                      <ahyp:hlinkClr xmlns:ahyp="http://schemas.microsoft.com/office/drawing/2018/hyperlinkcolor" val="tx"/>
                    </a:ext>
                  </a:extLst>
                </a:hlinkClick>
              </a:rPr>
              <a:t>Agenda</a:t>
            </a:r>
            <a:endParaRPr lang="en-US" sz="950" dirty="0"/>
          </a:p>
        </p:txBody>
      </p:sp>
      <p:sp>
        <p:nvSpPr>
          <p:cNvPr id="5" name="Text 3"/>
          <p:cNvSpPr txBox="1"/>
          <p:nvPr/>
        </p:nvSpPr>
        <p:spPr>
          <a:xfrm>
            <a:off x="2606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2" action="ppaction://hlinksldjump" tooltip="Go to Problem">
                  <a:extLst>
                    <a:ext uri="{A12FA001-AC4F-418D-AE19-62706E023703}">
                      <ahyp:hlinkClr xmlns:ahyp="http://schemas.microsoft.com/office/drawing/2018/hyperlinkcolor" val="tx"/>
                    </a:ext>
                  </a:extLst>
                </a:hlinkClick>
              </a:rPr>
              <a:t>Problem</a:t>
            </a:r>
            <a:endParaRPr lang="en-US" sz="950" dirty="0"/>
          </a:p>
        </p:txBody>
      </p:sp>
      <p:sp>
        <p:nvSpPr>
          <p:cNvPr id="6" name="Text 4"/>
          <p:cNvSpPr txBox="1"/>
          <p:nvPr/>
        </p:nvSpPr>
        <p:spPr>
          <a:xfrm>
            <a:off x="3291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3" action="ppaction://hlinksldjump" tooltip="Go to Solution">
                  <a:extLst>
                    <a:ext uri="{A12FA001-AC4F-418D-AE19-62706E023703}">
                      <ahyp:hlinkClr xmlns:ahyp="http://schemas.microsoft.com/office/drawing/2018/hyperlinkcolor" val="tx"/>
                    </a:ext>
                  </a:extLst>
                </a:hlinkClick>
              </a:rPr>
              <a:t>Solution</a:t>
            </a:r>
            <a:endParaRPr lang="en-US" sz="950" dirty="0"/>
          </a:p>
        </p:txBody>
      </p:sp>
      <p:sp>
        <p:nvSpPr>
          <p:cNvPr id="7" name="Text 5"/>
          <p:cNvSpPr txBox="1"/>
          <p:nvPr/>
        </p:nvSpPr>
        <p:spPr>
          <a:xfrm>
            <a:off x="3977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4" action="ppaction://hlinksldjump" tooltip="Go to Principle">
                  <a:extLst>
                    <a:ext uri="{A12FA001-AC4F-418D-AE19-62706E023703}">
                      <ahyp:hlinkClr xmlns:ahyp="http://schemas.microsoft.com/office/drawing/2018/hyperlinkcolor" val="tx"/>
                    </a:ext>
                  </a:extLst>
                </a:hlinkClick>
              </a:rPr>
              <a:t>Principle</a:t>
            </a:r>
            <a:endParaRPr lang="en-US" sz="950" dirty="0"/>
          </a:p>
        </p:txBody>
      </p:sp>
      <p:sp>
        <p:nvSpPr>
          <p:cNvPr id="8" name="Text 6"/>
          <p:cNvSpPr txBox="1"/>
          <p:nvPr/>
        </p:nvSpPr>
        <p:spPr>
          <a:xfrm>
            <a:off x="4663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5" action="ppaction://hlinksldjump" tooltip="Go to Flow">
                  <a:extLst>
                    <a:ext uri="{A12FA001-AC4F-418D-AE19-62706E023703}">
                      <ahyp:hlinkClr xmlns:ahyp="http://schemas.microsoft.com/office/drawing/2018/hyperlinkcolor" val="tx"/>
                    </a:ext>
                  </a:extLst>
                </a:hlinkClick>
              </a:rPr>
              <a:t>Flow</a:t>
            </a:r>
            <a:endParaRPr lang="en-US" sz="950" dirty="0"/>
          </a:p>
        </p:txBody>
      </p:sp>
      <p:sp>
        <p:nvSpPr>
          <p:cNvPr id="9" name="Text 7"/>
          <p:cNvSpPr txBox="1"/>
          <p:nvPr/>
        </p:nvSpPr>
        <p:spPr>
          <a:xfrm>
            <a:off x="53492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6" action="ppaction://hlinksldjump" tooltip="Go to RAG">
                  <a:extLst>
                    <a:ext uri="{A12FA001-AC4F-418D-AE19-62706E023703}">
                      <ahyp:hlinkClr xmlns:ahyp="http://schemas.microsoft.com/office/drawing/2018/hyperlinkcolor" val="tx"/>
                    </a:ext>
                  </a:extLst>
                </a:hlinkClick>
              </a:rPr>
              <a:t>RAG</a:t>
            </a:r>
            <a:endParaRPr lang="en-US" sz="950" dirty="0"/>
          </a:p>
        </p:txBody>
      </p:sp>
      <p:sp>
        <p:nvSpPr>
          <p:cNvPr id="10" name="Text 8"/>
          <p:cNvSpPr txBox="1"/>
          <p:nvPr/>
        </p:nvSpPr>
        <p:spPr>
          <a:xfrm>
            <a:off x="60350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7" action="ppaction://hlinksldjump" tooltip="Go to Demo">
                  <a:extLst>
                    <a:ext uri="{A12FA001-AC4F-418D-AE19-62706E023703}">
                      <ahyp:hlinkClr xmlns:ahyp="http://schemas.microsoft.com/office/drawing/2018/hyperlinkcolor" val="tx"/>
                    </a:ext>
                  </a:extLst>
                </a:hlinkClick>
              </a:rPr>
              <a:t>Demo</a:t>
            </a:r>
            <a:endParaRPr lang="en-US" sz="950" dirty="0"/>
          </a:p>
        </p:txBody>
      </p:sp>
      <p:sp>
        <p:nvSpPr>
          <p:cNvPr id="11" name="Text 9"/>
          <p:cNvSpPr txBox="1"/>
          <p:nvPr/>
        </p:nvSpPr>
        <p:spPr>
          <a:xfrm>
            <a:off x="67208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8" action="ppaction://hlinksldjump" tooltip="Go to Try it">
                  <a:extLst>
                    <a:ext uri="{A12FA001-AC4F-418D-AE19-62706E023703}">
                      <ahyp:hlinkClr xmlns:ahyp="http://schemas.microsoft.com/office/drawing/2018/hyperlinkcolor" val="tx"/>
                    </a:ext>
                  </a:extLst>
                </a:hlinkClick>
              </a:rPr>
              <a:t>Try it</a:t>
            </a:r>
            <a:endParaRPr lang="en-US" sz="950" dirty="0"/>
          </a:p>
        </p:txBody>
      </p:sp>
      <p:sp>
        <p:nvSpPr>
          <p:cNvPr id="12" name="Text 10"/>
          <p:cNvSpPr txBox="1"/>
          <p:nvPr/>
        </p:nvSpPr>
        <p:spPr>
          <a:xfrm>
            <a:off x="74066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9" action="ppaction://hlinksldjump" tooltip="Go to Rules">
                  <a:extLst>
                    <a:ext uri="{A12FA001-AC4F-418D-AE19-62706E023703}">
                      <ahyp:hlinkClr xmlns:ahyp="http://schemas.microsoft.com/office/drawing/2018/hyperlinkcolor" val="tx"/>
                    </a:ext>
                  </a:extLst>
                </a:hlinkClick>
              </a:rPr>
              <a:t>Rules</a:t>
            </a:r>
            <a:endParaRPr lang="en-US" sz="950" dirty="0"/>
          </a:p>
        </p:txBody>
      </p:sp>
      <p:sp>
        <p:nvSpPr>
          <p:cNvPr id="13" name="Text 11"/>
          <p:cNvSpPr txBox="1"/>
          <p:nvPr/>
        </p:nvSpPr>
        <p:spPr>
          <a:xfrm>
            <a:off x="8092440" y="6382512"/>
            <a:ext cx="685800" cy="219456"/>
          </a:xfrm>
          <a:prstGeom prst="rect">
            <a:avLst/>
          </a:prstGeom>
          <a:noFill/>
          <a:ln/>
        </p:spPr>
        <p:txBody>
          <a:bodyPr wrap="square" lIns="0" tIns="0" rIns="0" bIns="0" rtlCol="0" anchor="ctr"/>
          <a:lstStyle/>
          <a:p>
            <a:pPr algn="ctr" indent="0" marL="0">
              <a:buNone/>
            </a:pPr>
            <a:r>
              <a:rPr lang="en-US" sz="950" u="sng" dirty="0">
                <a:solidFill>
                  <a:srgbClr val="5B6478"/>
                </a:solidFill>
                <a:hlinkClick r:id="rId10" action="ppaction://hlinksldjump" tooltip="Go to Results">
                  <a:extLst>
                    <a:ext uri="{A12FA001-AC4F-418D-AE19-62706E023703}">
                      <ahyp:hlinkClr xmlns:ahyp="http://schemas.microsoft.com/office/drawing/2018/hyperlinkcolor" val="tx"/>
                    </a:ext>
                  </a:extLst>
                </a:hlinkClick>
              </a:rPr>
              <a:t>Results</a:t>
            </a:r>
            <a:endParaRPr lang="en-US" sz="950" dirty="0"/>
          </a:p>
        </p:txBody>
      </p:sp>
      <p:sp>
        <p:nvSpPr>
          <p:cNvPr id="14" name="Text 12"/>
          <p:cNvSpPr txBox="1"/>
          <p:nvPr/>
        </p:nvSpPr>
        <p:spPr>
          <a:xfrm>
            <a:off x="8778240" y="6382512"/>
            <a:ext cx="685800" cy="219456"/>
          </a:xfrm>
          <a:prstGeom prst="rect">
            <a:avLst/>
          </a:prstGeom>
          <a:noFill/>
          <a:ln/>
        </p:spPr>
        <p:txBody>
          <a:bodyPr wrap="square" lIns="0" tIns="0" rIns="0" bIns="0" rtlCol="0" anchor="ctr"/>
          <a:lstStyle/>
          <a:p>
            <a:pPr algn="ctr" indent="0" marL="0">
              <a:buNone/>
            </a:pPr>
            <a:r>
              <a:rPr lang="en-US" sz="950" b="1" dirty="0">
                <a:solidFill>
                  <a:srgbClr val="1F2937"/>
                </a:solidFill>
              </a:rPr>
              <a:t>Next</a:t>
            </a:r>
            <a:endParaRPr lang="en-US" sz="950" dirty="0"/>
          </a:p>
        </p:txBody>
      </p:sp>
      <p:sp>
        <p:nvSpPr>
          <p:cNvPr id="15" name="Shape 13"/>
          <p:cNvSpPr/>
          <p:nvPr/>
        </p:nvSpPr>
        <p:spPr>
          <a:xfrm>
            <a:off x="9084564" y="6309360"/>
            <a:ext cx="73152" cy="73152"/>
          </a:xfrm>
          <a:prstGeom prst="ellipse">
            <a:avLst/>
          </a:prstGeom>
          <a:solidFill>
            <a:srgbClr val="1547C8"/>
          </a:solidFill>
          <a:ln w="12700">
            <a:solidFill>
              <a:srgbClr val="1547C8"/>
            </a:solidFill>
            <a:prstDash val="solid"/>
          </a:ln>
        </p:spPr>
      </p:sp>
      <p:sp>
        <p:nvSpPr>
          <p:cNvPr id="16" name="Text 14"/>
          <p:cNvSpPr txBox="1"/>
          <p:nvPr/>
        </p:nvSpPr>
        <p:spPr>
          <a:xfrm>
            <a:off x="548640" y="1417320"/>
            <a:ext cx="4572000" cy="228600"/>
          </a:xfrm>
          <a:prstGeom prst="rect">
            <a:avLst/>
          </a:prstGeom>
          <a:noFill/>
          <a:ln/>
        </p:spPr>
        <p:txBody>
          <a:bodyPr wrap="square" lIns="0" tIns="0" rIns="0" bIns="0" rtlCol="0" anchor="t"/>
          <a:lstStyle/>
          <a:p>
            <a:pPr indent="0" marL="0">
              <a:buNone/>
            </a:pPr>
            <a:r>
              <a:rPr lang="en-US" sz="1100" b="1" spc="300" kern="0" dirty="0">
                <a:solidFill>
                  <a:srgbClr val="B97A0A"/>
                </a:solidFill>
              </a:rPr>
              <a:t>TODAY</a:t>
            </a:r>
            <a:endParaRPr lang="en-US" sz="1100" dirty="0"/>
          </a:p>
        </p:txBody>
      </p:sp>
      <p:sp>
        <p:nvSpPr>
          <p:cNvPr id="17" name="Text 15"/>
          <p:cNvSpPr txBox="1"/>
          <p:nvPr/>
        </p:nvSpPr>
        <p:spPr>
          <a:xfrm>
            <a:off x="6492240" y="1417320"/>
            <a:ext cx="4572000" cy="228600"/>
          </a:xfrm>
          <a:prstGeom prst="rect">
            <a:avLst/>
          </a:prstGeom>
          <a:noFill/>
          <a:ln/>
        </p:spPr>
        <p:txBody>
          <a:bodyPr wrap="square" lIns="0" tIns="0" rIns="0" bIns="0" rtlCol="0" anchor="t"/>
          <a:lstStyle/>
          <a:p>
            <a:pPr indent="0" marL="0">
              <a:buNone/>
            </a:pPr>
            <a:r>
              <a:rPr lang="en-US" sz="1100" b="1" spc="300" kern="0" dirty="0">
                <a:solidFill>
                  <a:srgbClr val="1547C8"/>
                </a:solidFill>
              </a:rPr>
              <a:t>NEXT</a:t>
            </a:r>
            <a:endParaRPr lang="en-US" sz="1100" dirty="0"/>
          </a:p>
        </p:txBody>
      </p:sp>
      <p:sp>
        <p:nvSpPr>
          <p:cNvPr id="18" name="Limit row"/>
          <p:cNvSpPr/>
          <p:nvPr/>
        </p:nvSpPr>
        <p:spPr>
          <a:xfrm>
            <a:off x="548640" y="1783080"/>
            <a:ext cx="5120640" cy="914400"/>
          </a:xfrm>
          <a:prstGeom prst="roundRect">
            <a:avLst>
              <a:gd name="adj" fmla="val 12000"/>
            </a:avLst>
          </a:prstGeom>
          <a:solidFill>
            <a:srgbClr val="FFF4DD"/>
          </a:solidFill>
          <a:ln w="12700">
            <a:solidFill>
              <a:srgbClr val="F3D9A4"/>
            </a:solidFill>
            <a:prstDash val="solid"/>
          </a:ln>
        </p:spPr>
      </p:sp>
      <p:sp>
        <p:nvSpPr>
          <p:cNvPr id="19" name="Icon dot"/>
          <p:cNvSpPr/>
          <p:nvPr/>
        </p:nvSpPr>
        <p:spPr>
          <a:xfrm>
            <a:off x="777240" y="1984248"/>
            <a:ext cx="512064" cy="512064"/>
          </a:xfrm>
          <a:prstGeom prst="ellipse">
            <a:avLst/>
          </a:prstGeom>
          <a:solidFill>
            <a:srgbClr val="F5A524"/>
          </a:solidFill>
          <a:ln w="12700">
            <a:solidFill>
              <a:srgbClr val="F5A524"/>
            </a:solidFill>
            <a:prstDash val="solid"/>
          </a:ln>
        </p:spPr>
      </p:sp>
      <p:pic>
        <p:nvPicPr>
          <p:cNvPr id="20" name="Image 0" descr="ExclamationTriangle icon">    </p:cNvPr>
          <p:cNvPicPr>
            <a:picLocks noChangeAspect="1"/>
          </p:cNvPicPr>
          <p:nvPr/>
        </p:nvPicPr>
        <p:blipFill>
          <a:blip r:embed="rId11"/>
          <a:stretch>
            <a:fillRect/>
          </a:stretch>
        </p:blipFill>
        <p:spPr>
          <a:xfrm>
            <a:off x="910377" y="2117385"/>
            <a:ext cx="245791" cy="245791"/>
          </a:xfrm>
          <a:prstGeom prst="rect">
            <a:avLst/>
          </a:prstGeom>
        </p:spPr>
      </p:pic>
      <p:sp>
        <p:nvSpPr>
          <p:cNvPr id="21" name="Text 18"/>
          <p:cNvSpPr txBox="1"/>
          <p:nvPr/>
        </p:nvSpPr>
        <p:spPr>
          <a:xfrm>
            <a:off x="1508760" y="1783080"/>
            <a:ext cx="4023360" cy="914400"/>
          </a:xfrm>
          <a:prstGeom prst="rect">
            <a:avLst/>
          </a:prstGeom>
          <a:noFill/>
          <a:ln/>
        </p:spPr>
        <p:txBody>
          <a:bodyPr wrap="square" lIns="0" tIns="0" rIns="0" bIns="0" rtlCol="0" anchor="ctr"/>
          <a:lstStyle/>
          <a:p>
            <a:pPr indent="0" marL="0">
              <a:buNone/>
            </a:pPr>
            <a:r>
              <a:rPr lang="en-US" sz="1450" b="1" dirty="0">
                <a:solidFill>
                  <a:srgbClr val="1F2937"/>
                </a:solidFill>
              </a:rPr>
              <a:t>ER-502 values are placeholders</a:t>
            </a:r>
            <a:endParaRPr lang="en-US" sz="1450" dirty="0"/>
          </a:p>
        </p:txBody>
      </p:sp>
      <p:sp>
        <p:nvSpPr>
          <p:cNvPr id="22" name="Icon dot"/>
          <p:cNvSpPr/>
          <p:nvPr/>
        </p:nvSpPr>
        <p:spPr>
          <a:xfrm>
            <a:off x="5852160" y="1984248"/>
            <a:ext cx="512064" cy="512064"/>
          </a:xfrm>
          <a:prstGeom prst="ellipse">
            <a:avLst/>
          </a:prstGeom>
          <a:solidFill>
            <a:srgbClr val="1547C8"/>
          </a:solidFill>
          <a:ln w="12700">
            <a:solidFill>
              <a:srgbClr val="1547C8"/>
            </a:solidFill>
            <a:prstDash val="solid"/>
          </a:ln>
        </p:spPr>
      </p:sp>
      <p:pic>
        <p:nvPicPr>
          <p:cNvPr id="23" name="Image 1" descr="ArrowRight icon">    </p:cNvPr>
          <p:cNvPicPr>
            <a:picLocks noChangeAspect="1"/>
          </p:cNvPicPr>
          <p:nvPr/>
        </p:nvPicPr>
        <p:blipFill>
          <a:blip r:embed="rId12"/>
          <a:stretch>
            <a:fillRect/>
          </a:stretch>
        </p:blipFill>
        <p:spPr>
          <a:xfrm>
            <a:off x="5985297" y="2117385"/>
            <a:ext cx="245791" cy="245791"/>
          </a:xfrm>
          <a:prstGeom prst="rect">
            <a:avLst/>
          </a:prstGeom>
        </p:spPr>
      </p:pic>
      <p:sp>
        <p:nvSpPr>
          <p:cNvPr id="24" name="Next row"/>
          <p:cNvSpPr/>
          <p:nvPr/>
        </p:nvSpPr>
        <p:spPr>
          <a:xfrm>
            <a:off x="6492240" y="1783080"/>
            <a:ext cx="5148072" cy="914400"/>
          </a:xfrm>
          <a:prstGeom prst="roundRect">
            <a:avLst>
              <a:gd name="adj" fmla="val 12000"/>
            </a:avLst>
          </a:prstGeom>
          <a:solidFill>
            <a:srgbClr val="EAF0FC"/>
          </a:solidFill>
          <a:ln w="12700">
            <a:solidFill>
              <a:srgbClr val="BFD0F5"/>
            </a:solidFill>
            <a:prstDash val="solid"/>
          </a:ln>
        </p:spPr>
      </p:sp>
      <p:sp>
        <p:nvSpPr>
          <p:cNvPr id="25" name="Text 21"/>
          <p:cNvSpPr txBox="1"/>
          <p:nvPr/>
        </p:nvSpPr>
        <p:spPr>
          <a:xfrm>
            <a:off x="6766560" y="1783080"/>
            <a:ext cx="4663440" cy="914400"/>
          </a:xfrm>
          <a:prstGeom prst="rect">
            <a:avLst/>
          </a:prstGeom>
          <a:noFill/>
          <a:ln/>
        </p:spPr>
        <p:txBody>
          <a:bodyPr wrap="square" lIns="0" tIns="0" rIns="0" bIns="0" rtlCol="0" anchor="ctr"/>
          <a:lstStyle/>
          <a:p>
            <a:pPr indent="0" marL="0">
              <a:buNone/>
            </a:pPr>
            <a:r>
              <a:rPr lang="en-US" sz="1450" b="1" dirty="0">
                <a:solidFill>
                  <a:srgbClr val="1F2937"/>
                </a:solidFill>
              </a:rPr>
              <a:t>Clinician-set thresholds and sign-off</a:t>
            </a:r>
            <a:endParaRPr lang="en-US" sz="1450" dirty="0"/>
          </a:p>
        </p:txBody>
      </p:sp>
      <p:sp>
        <p:nvSpPr>
          <p:cNvPr id="26" name="Limit row"/>
          <p:cNvSpPr/>
          <p:nvPr/>
        </p:nvSpPr>
        <p:spPr>
          <a:xfrm>
            <a:off x="548640" y="2862072"/>
            <a:ext cx="5120640" cy="914400"/>
          </a:xfrm>
          <a:prstGeom prst="roundRect">
            <a:avLst>
              <a:gd name="adj" fmla="val 12000"/>
            </a:avLst>
          </a:prstGeom>
          <a:solidFill>
            <a:srgbClr val="FFF4DD"/>
          </a:solidFill>
          <a:ln w="12700">
            <a:solidFill>
              <a:srgbClr val="F3D9A4"/>
            </a:solidFill>
            <a:prstDash val="solid"/>
          </a:ln>
        </p:spPr>
      </p:sp>
      <p:sp>
        <p:nvSpPr>
          <p:cNvPr id="27" name="Icon dot"/>
          <p:cNvSpPr/>
          <p:nvPr/>
        </p:nvSpPr>
        <p:spPr>
          <a:xfrm>
            <a:off x="777240" y="3063240"/>
            <a:ext cx="512064" cy="512064"/>
          </a:xfrm>
          <a:prstGeom prst="ellipse">
            <a:avLst/>
          </a:prstGeom>
          <a:solidFill>
            <a:srgbClr val="F5A524"/>
          </a:solidFill>
          <a:ln w="12700">
            <a:solidFill>
              <a:srgbClr val="F5A524"/>
            </a:solidFill>
            <a:prstDash val="solid"/>
          </a:ln>
        </p:spPr>
      </p:sp>
      <p:pic>
        <p:nvPicPr>
          <p:cNvPr id="28" name="Image 2" descr="ExclamationTriangle icon">    </p:cNvPr>
          <p:cNvPicPr>
            <a:picLocks noChangeAspect="1"/>
          </p:cNvPicPr>
          <p:nvPr/>
        </p:nvPicPr>
        <p:blipFill>
          <a:blip r:embed="rId13"/>
          <a:stretch>
            <a:fillRect/>
          </a:stretch>
        </p:blipFill>
        <p:spPr>
          <a:xfrm>
            <a:off x="910377" y="3196377"/>
            <a:ext cx="245791" cy="245791"/>
          </a:xfrm>
          <a:prstGeom prst="rect">
            <a:avLst/>
          </a:prstGeom>
        </p:spPr>
      </p:pic>
      <p:sp>
        <p:nvSpPr>
          <p:cNvPr id="29" name="Text 24"/>
          <p:cNvSpPr txBox="1"/>
          <p:nvPr/>
        </p:nvSpPr>
        <p:spPr>
          <a:xfrm>
            <a:off x="1508760" y="2862072"/>
            <a:ext cx="4023360" cy="914400"/>
          </a:xfrm>
          <a:prstGeom prst="rect">
            <a:avLst/>
          </a:prstGeom>
          <a:noFill/>
          <a:ln/>
        </p:spPr>
        <p:txBody>
          <a:bodyPr wrap="square" lIns="0" tIns="0" rIns="0" bIns="0" rtlCol="0" anchor="ctr"/>
          <a:lstStyle/>
          <a:p>
            <a:pPr indent="0" marL="0">
              <a:buNone/>
            </a:pPr>
            <a:r>
              <a:rPr lang="en-US" sz="1450" b="1" dirty="0">
                <a:solidFill>
                  <a:srgbClr val="1F2937"/>
                </a:solidFill>
              </a:rPr>
              <a:t>English keyword guards</a:t>
            </a:r>
            <a:endParaRPr lang="en-US" sz="1450" dirty="0"/>
          </a:p>
        </p:txBody>
      </p:sp>
      <p:sp>
        <p:nvSpPr>
          <p:cNvPr id="30" name="Icon dot"/>
          <p:cNvSpPr/>
          <p:nvPr/>
        </p:nvSpPr>
        <p:spPr>
          <a:xfrm>
            <a:off x="5852160" y="3063240"/>
            <a:ext cx="512064" cy="512064"/>
          </a:xfrm>
          <a:prstGeom prst="ellipse">
            <a:avLst/>
          </a:prstGeom>
          <a:solidFill>
            <a:srgbClr val="1547C8"/>
          </a:solidFill>
          <a:ln w="12700">
            <a:solidFill>
              <a:srgbClr val="1547C8"/>
            </a:solidFill>
            <a:prstDash val="solid"/>
          </a:ln>
        </p:spPr>
      </p:sp>
      <p:pic>
        <p:nvPicPr>
          <p:cNvPr id="31" name="Image 3" descr="ArrowRight icon">    </p:cNvPr>
          <p:cNvPicPr>
            <a:picLocks noChangeAspect="1"/>
          </p:cNvPicPr>
          <p:nvPr/>
        </p:nvPicPr>
        <p:blipFill>
          <a:blip r:embed="rId14"/>
          <a:stretch>
            <a:fillRect/>
          </a:stretch>
        </p:blipFill>
        <p:spPr>
          <a:xfrm>
            <a:off x="5985297" y="3196377"/>
            <a:ext cx="245791" cy="245791"/>
          </a:xfrm>
          <a:prstGeom prst="rect">
            <a:avLst/>
          </a:prstGeom>
        </p:spPr>
      </p:pic>
      <p:sp>
        <p:nvSpPr>
          <p:cNvPr id="32" name="Next row"/>
          <p:cNvSpPr/>
          <p:nvPr/>
        </p:nvSpPr>
        <p:spPr>
          <a:xfrm>
            <a:off x="6492240" y="2862072"/>
            <a:ext cx="5148072" cy="914400"/>
          </a:xfrm>
          <a:prstGeom prst="roundRect">
            <a:avLst>
              <a:gd name="adj" fmla="val 12000"/>
            </a:avLst>
          </a:prstGeom>
          <a:solidFill>
            <a:srgbClr val="EAF0FC"/>
          </a:solidFill>
          <a:ln w="12700">
            <a:solidFill>
              <a:srgbClr val="BFD0F5"/>
            </a:solidFill>
            <a:prstDash val="solid"/>
          </a:ln>
        </p:spPr>
      </p:sp>
      <p:sp>
        <p:nvSpPr>
          <p:cNvPr id="33" name="Text 27"/>
          <p:cNvSpPr txBox="1"/>
          <p:nvPr/>
        </p:nvSpPr>
        <p:spPr>
          <a:xfrm>
            <a:off x="6766560" y="2862072"/>
            <a:ext cx="4663440" cy="914400"/>
          </a:xfrm>
          <a:prstGeom prst="rect">
            <a:avLst/>
          </a:prstGeom>
          <a:noFill/>
          <a:ln/>
        </p:spPr>
        <p:txBody>
          <a:bodyPr wrap="square" lIns="0" tIns="0" rIns="0" bIns="0" rtlCol="0" anchor="ctr"/>
          <a:lstStyle/>
          <a:p>
            <a:pPr indent="0" marL="0">
              <a:buNone/>
            </a:pPr>
            <a:r>
              <a:rPr lang="en-US" sz="1450" b="1" dirty="0">
                <a:solidFill>
                  <a:srgbClr val="1F2937"/>
                </a:solidFill>
              </a:rPr>
              <a:t>Test other languages; add a distress route</a:t>
            </a:r>
            <a:endParaRPr lang="en-US" sz="1450" dirty="0"/>
          </a:p>
        </p:txBody>
      </p:sp>
      <p:sp>
        <p:nvSpPr>
          <p:cNvPr id="34" name="Limit row"/>
          <p:cNvSpPr/>
          <p:nvPr/>
        </p:nvSpPr>
        <p:spPr>
          <a:xfrm>
            <a:off x="548640" y="3941064"/>
            <a:ext cx="5120640" cy="914400"/>
          </a:xfrm>
          <a:prstGeom prst="roundRect">
            <a:avLst>
              <a:gd name="adj" fmla="val 12000"/>
            </a:avLst>
          </a:prstGeom>
          <a:solidFill>
            <a:srgbClr val="FFF4DD"/>
          </a:solidFill>
          <a:ln w="12700">
            <a:solidFill>
              <a:srgbClr val="F3D9A4"/>
            </a:solidFill>
            <a:prstDash val="solid"/>
          </a:ln>
        </p:spPr>
      </p:sp>
      <p:sp>
        <p:nvSpPr>
          <p:cNvPr id="35" name="Icon dot"/>
          <p:cNvSpPr/>
          <p:nvPr/>
        </p:nvSpPr>
        <p:spPr>
          <a:xfrm>
            <a:off x="777240" y="4142232"/>
            <a:ext cx="512064" cy="512064"/>
          </a:xfrm>
          <a:prstGeom prst="ellipse">
            <a:avLst/>
          </a:prstGeom>
          <a:solidFill>
            <a:srgbClr val="F5A524"/>
          </a:solidFill>
          <a:ln w="12700">
            <a:solidFill>
              <a:srgbClr val="F5A524"/>
            </a:solidFill>
            <a:prstDash val="solid"/>
          </a:ln>
        </p:spPr>
      </p:sp>
      <p:pic>
        <p:nvPicPr>
          <p:cNvPr id="36" name="Image 4" descr="ExclamationTriangle icon">    </p:cNvPr>
          <p:cNvPicPr>
            <a:picLocks noChangeAspect="1"/>
          </p:cNvPicPr>
          <p:nvPr/>
        </p:nvPicPr>
        <p:blipFill>
          <a:blip r:embed="rId15"/>
          <a:stretch>
            <a:fillRect/>
          </a:stretch>
        </p:blipFill>
        <p:spPr>
          <a:xfrm>
            <a:off x="910377" y="4275369"/>
            <a:ext cx="245791" cy="245791"/>
          </a:xfrm>
          <a:prstGeom prst="rect">
            <a:avLst/>
          </a:prstGeom>
        </p:spPr>
      </p:pic>
      <p:sp>
        <p:nvSpPr>
          <p:cNvPr id="37" name="Text 30"/>
          <p:cNvSpPr txBox="1"/>
          <p:nvPr/>
        </p:nvSpPr>
        <p:spPr>
          <a:xfrm>
            <a:off x="1508760" y="3941064"/>
            <a:ext cx="4023360" cy="914400"/>
          </a:xfrm>
          <a:prstGeom prst="rect">
            <a:avLst/>
          </a:prstGeom>
          <a:noFill/>
          <a:ln/>
        </p:spPr>
        <p:txBody>
          <a:bodyPr wrap="square" lIns="0" tIns="0" rIns="0" bIns="0" rtlCol="0" anchor="ctr"/>
          <a:lstStyle/>
          <a:p>
            <a:pPr indent="0" marL="0">
              <a:buNone/>
            </a:pPr>
            <a:r>
              <a:rPr lang="en-US" sz="1450" b="1" dirty="0">
                <a:solidFill>
                  <a:srgbClr val="1F2937"/>
                </a:solidFill>
              </a:rPr>
              <a:t>Synthetic, unreviewed content</a:t>
            </a:r>
            <a:endParaRPr lang="en-US" sz="1450" dirty="0"/>
          </a:p>
        </p:txBody>
      </p:sp>
      <p:sp>
        <p:nvSpPr>
          <p:cNvPr id="38" name="Icon dot"/>
          <p:cNvSpPr/>
          <p:nvPr/>
        </p:nvSpPr>
        <p:spPr>
          <a:xfrm>
            <a:off x="5852160" y="4142232"/>
            <a:ext cx="512064" cy="512064"/>
          </a:xfrm>
          <a:prstGeom prst="ellipse">
            <a:avLst/>
          </a:prstGeom>
          <a:solidFill>
            <a:srgbClr val="1547C8"/>
          </a:solidFill>
          <a:ln w="12700">
            <a:solidFill>
              <a:srgbClr val="1547C8"/>
            </a:solidFill>
            <a:prstDash val="solid"/>
          </a:ln>
        </p:spPr>
      </p:sp>
      <p:pic>
        <p:nvPicPr>
          <p:cNvPr id="39" name="Image 5" descr="ArrowRight icon">    </p:cNvPr>
          <p:cNvPicPr>
            <a:picLocks noChangeAspect="1"/>
          </p:cNvPicPr>
          <p:nvPr/>
        </p:nvPicPr>
        <p:blipFill>
          <a:blip r:embed="rId16"/>
          <a:stretch>
            <a:fillRect/>
          </a:stretch>
        </p:blipFill>
        <p:spPr>
          <a:xfrm>
            <a:off x="5985297" y="4275369"/>
            <a:ext cx="245791" cy="245791"/>
          </a:xfrm>
          <a:prstGeom prst="rect">
            <a:avLst/>
          </a:prstGeom>
        </p:spPr>
      </p:pic>
      <p:sp>
        <p:nvSpPr>
          <p:cNvPr id="40" name="Next row"/>
          <p:cNvSpPr/>
          <p:nvPr/>
        </p:nvSpPr>
        <p:spPr>
          <a:xfrm>
            <a:off x="6492240" y="3941064"/>
            <a:ext cx="5148072" cy="914400"/>
          </a:xfrm>
          <a:prstGeom prst="roundRect">
            <a:avLst>
              <a:gd name="adj" fmla="val 12000"/>
            </a:avLst>
          </a:prstGeom>
          <a:solidFill>
            <a:srgbClr val="EAF0FC"/>
          </a:solidFill>
          <a:ln w="12700">
            <a:solidFill>
              <a:srgbClr val="BFD0F5"/>
            </a:solidFill>
            <a:prstDash val="solid"/>
          </a:ln>
        </p:spPr>
      </p:sp>
      <p:sp>
        <p:nvSpPr>
          <p:cNvPr id="41" name="Text 33"/>
          <p:cNvSpPr txBox="1"/>
          <p:nvPr/>
        </p:nvSpPr>
        <p:spPr>
          <a:xfrm>
            <a:off x="6766560" y="3941064"/>
            <a:ext cx="4663440" cy="914400"/>
          </a:xfrm>
          <a:prstGeom prst="rect">
            <a:avLst/>
          </a:prstGeom>
          <a:noFill/>
          <a:ln/>
        </p:spPr>
        <p:txBody>
          <a:bodyPr wrap="square" lIns="0" tIns="0" rIns="0" bIns="0" rtlCol="0" anchor="ctr"/>
          <a:lstStyle/>
          <a:p>
            <a:pPr indent="0" marL="0">
              <a:buNone/>
            </a:pPr>
            <a:r>
              <a:rPr lang="en-US" sz="1450" b="1" dirty="0">
                <a:solidFill>
                  <a:srgbClr val="1F2937"/>
                </a:solidFill>
              </a:rPr>
              <a:t>Clinically reviewed articles and rules</a:t>
            </a:r>
            <a:endParaRPr lang="en-US" sz="1450" dirty="0"/>
          </a:p>
        </p:txBody>
      </p:sp>
      <p:sp>
        <p:nvSpPr>
          <p:cNvPr id="42" name="Limit row"/>
          <p:cNvSpPr/>
          <p:nvPr/>
        </p:nvSpPr>
        <p:spPr>
          <a:xfrm>
            <a:off x="548640" y="5020056"/>
            <a:ext cx="5120640" cy="914400"/>
          </a:xfrm>
          <a:prstGeom prst="roundRect">
            <a:avLst>
              <a:gd name="adj" fmla="val 12000"/>
            </a:avLst>
          </a:prstGeom>
          <a:solidFill>
            <a:srgbClr val="FFF4DD"/>
          </a:solidFill>
          <a:ln w="12700">
            <a:solidFill>
              <a:srgbClr val="F3D9A4"/>
            </a:solidFill>
            <a:prstDash val="solid"/>
          </a:ln>
        </p:spPr>
      </p:sp>
      <p:sp>
        <p:nvSpPr>
          <p:cNvPr id="43" name="Icon dot"/>
          <p:cNvSpPr/>
          <p:nvPr/>
        </p:nvSpPr>
        <p:spPr>
          <a:xfrm>
            <a:off x="777240" y="5221224"/>
            <a:ext cx="512064" cy="512064"/>
          </a:xfrm>
          <a:prstGeom prst="ellipse">
            <a:avLst/>
          </a:prstGeom>
          <a:solidFill>
            <a:srgbClr val="F5A524"/>
          </a:solidFill>
          <a:ln w="12700">
            <a:solidFill>
              <a:srgbClr val="F5A524"/>
            </a:solidFill>
            <a:prstDash val="solid"/>
          </a:ln>
        </p:spPr>
      </p:sp>
      <p:pic>
        <p:nvPicPr>
          <p:cNvPr id="44" name="Image 6" descr="ExclamationTriangle icon">    </p:cNvPr>
          <p:cNvPicPr>
            <a:picLocks noChangeAspect="1"/>
          </p:cNvPicPr>
          <p:nvPr/>
        </p:nvPicPr>
        <p:blipFill>
          <a:blip r:embed="rId17"/>
          <a:stretch>
            <a:fillRect/>
          </a:stretch>
        </p:blipFill>
        <p:spPr>
          <a:xfrm>
            <a:off x="910377" y="5354361"/>
            <a:ext cx="245791" cy="245791"/>
          </a:xfrm>
          <a:prstGeom prst="rect">
            <a:avLst/>
          </a:prstGeom>
        </p:spPr>
      </p:pic>
      <p:sp>
        <p:nvSpPr>
          <p:cNvPr id="45" name="Text 36"/>
          <p:cNvSpPr txBox="1"/>
          <p:nvPr/>
        </p:nvSpPr>
        <p:spPr>
          <a:xfrm>
            <a:off x="1508760" y="5020056"/>
            <a:ext cx="4023360" cy="914400"/>
          </a:xfrm>
          <a:prstGeom prst="rect">
            <a:avLst/>
          </a:prstGeom>
          <a:noFill/>
          <a:ln/>
        </p:spPr>
        <p:txBody>
          <a:bodyPr wrap="square" lIns="0" tIns="0" rIns="0" bIns="0" rtlCol="0" anchor="ctr"/>
          <a:lstStyle/>
          <a:p>
            <a:pPr indent="0" marL="0">
              <a:buNone/>
            </a:pPr>
            <a:r>
              <a:rPr lang="en-US" sz="1450" b="1" dirty="0">
                <a:solidFill>
                  <a:srgbClr val="1F2937"/>
                </a:solidFill>
              </a:rPr>
              <a:t>Keys and settings in a .env file</a:t>
            </a:r>
            <a:endParaRPr lang="en-US" sz="1450" dirty="0"/>
          </a:p>
        </p:txBody>
      </p:sp>
      <p:sp>
        <p:nvSpPr>
          <p:cNvPr id="46" name="Icon dot"/>
          <p:cNvSpPr/>
          <p:nvPr/>
        </p:nvSpPr>
        <p:spPr>
          <a:xfrm>
            <a:off x="5852160" y="5221224"/>
            <a:ext cx="512064" cy="512064"/>
          </a:xfrm>
          <a:prstGeom prst="ellipse">
            <a:avLst/>
          </a:prstGeom>
          <a:solidFill>
            <a:srgbClr val="1547C8"/>
          </a:solidFill>
          <a:ln w="12700">
            <a:solidFill>
              <a:srgbClr val="1547C8"/>
            </a:solidFill>
            <a:prstDash val="solid"/>
          </a:ln>
        </p:spPr>
      </p:sp>
      <p:pic>
        <p:nvPicPr>
          <p:cNvPr id="47" name="Image 7" descr="ArrowRight icon">    </p:cNvPr>
          <p:cNvPicPr>
            <a:picLocks noChangeAspect="1"/>
          </p:cNvPicPr>
          <p:nvPr/>
        </p:nvPicPr>
        <p:blipFill>
          <a:blip r:embed="rId18"/>
          <a:stretch>
            <a:fillRect/>
          </a:stretch>
        </p:blipFill>
        <p:spPr>
          <a:xfrm>
            <a:off x="5985297" y="5354361"/>
            <a:ext cx="245791" cy="245791"/>
          </a:xfrm>
          <a:prstGeom prst="rect">
            <a:avLst/>
          </a:prstGeom>
        </p:spPr>
      </p:pic>
      <p:sp>
        <p:nvSpPr>
          <p:cNvPr id="48" name="Next row"/>
          <p:cNvSpPr/>
          <p:nvPr/>
        </p:nvSpPr>
        <p:spPr>
          <a:xfrm>
            <a:off x="6492240" y="5020056"/>
            <a:ext cx="5148072" cy="914400"/>
          </a:xfrm>
          <a:prstGeom prst="roundRect">
            <a:avLst>
              <a:gd name="adj" fmla="val 12000"/>
            </a:avLst>
          </a:prstGeom>
          <a:solidFill>
            <a:srgbClr val="EAF0FC"/>
          </a:solidFill>
          <a:ln w="12700">
            <a:solidFill>
              <a:srgbClr val="BFD0F5"/>
            </a:solidFill>
            <a:prstDash val="solid"/>
          </a:ln>
        </p:spPr>
      </p:sp>
      <p:sp>
        <p:nvSpPr>
          <p:cNvPr id="49" name="Text 39"/>
          <p:cNvSpPr txBox="1"/>
          <p:nvPr/>
        </p:nvSpPr>
        <p:spPr>
          <a:xfrm>
            <a:off x="6766560" y="5020056"/>
            <a:ext cx="4663440" cy="914400"/>
          </a:xfrm>
          <a:prstGeom prst="rect">
            <a:avLst/>
          </a:prstGeom>
          <a:noFill/>
          <a:ln/>
        </p:spPr>
        <p:txBody>
          <a:bodyPr wrap="square" lIns="0" tIns="0" rIns="0" bIns="0" rtlCol="0" anchor="ctr"/>
          <a:lstStyle/>
          <a:p>
            <a:pPr indent="0" marL="0">
              <a:buNone/>
            </a:pPr>
            <a:r>
              <a:rPr lang="en-US" sz="1450" b="1" dirty="0">
                <a:solidFill>
                  <a:srgbClr val="1F2937"/>
                </a:solidFill>
              </a:rPr>
              <a:t>Managed identity and Key Vault</a:t>
            </a:r>
            <a:endParaRPr lang="en-US" sz="1450" dirty="0"/>
          </a:p>
        </p:txBody>
      </p:sp>
      <p:sp>
        <p:nvSpPr>
          <p:cNvPr id="25" name="Slide Number Placeholder 0"/>
          <p:cNvSpPr>
            <a:spLocks noGrp="1"/>
          </p:cNvSpPr>
          <p:nvPr>
            <p:ph type="sldNum" sz="quarter" idx="4294967295"/>
          </p:nvPr>
        </p:nvSpPr>
        <p:spPr>
          <a:xfrm>
            <a:off x="11091672" y="6382512"/>
            <a:ext cx="548640" cy="219456"/>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1737360"/>
            <a:ext cx="3657600" cy="274320"/>
          </a:xfrm>
          <a:prstGeom prst="rect">
            <a:avLst/>
          </a:prstGeom>
          <a:noFill/>
          <a:ln/>
        </p:spPr>
        <p:txBody>
          <a:bodyPr wrap="square" lIns="0" tIns="0" rIns="0" bIns="0" rtlCol="0" anchor="t"/>
          <a:lstStyle/>
          <a:p>
            <a:pPr indent="0" marL="0">
              <a:buNone/>
            </a:pPr>
            <a:r>
              <a:rPr lang="en-US" sz="1100" b="1" spc="300" kern="0" dirty="0">
                <a:solidFill>
                  <a:srgbClr val="3CC3F0"/>
                </a:solidFill>
              </a:rPr>
              <a:t>CONCLUSION</a:t>
            </a:r>
            <a:endParaRPr lang="en-US" sz="1100" dirty="0"/>
          </a:p>
        </p:txBody>
      </p:sp>
      <p:sp>
        <p:nvSpPr>
          <p:cNvPr id="3" name="Text 1"/>
          <p:cNvSpPr txBox="1"/>
          <p:nvPr/>
        </p:nvSpPr>
        <p:spPr>
          <a:xfrm>
            <a:off x="640080" y="2011680"/>
            <a:ext cx="10515600" cy="2194560"/>
          </a:xfrm>
          <a:prstGeom prst="rect">
            <a:avLst/>
          </a:prstGeom>
          <a:noFill/>
          <a:ln/>
        </p:spPr>
        <p:txBody>
          <a:bodyPr wrap="square" lIns="0" tIns="0" rIns="0" bIns="0" rtlCol="0" anchor="t"/>
          <a:lstStyle/>
          <a:p>
            <a:pPr indent="0" marL="0">
              <a:buNone/>
            </a:pPr>
            <a:r>
              <a:rPr lang="en-US" sz="5000" b="1" dirty="0">
                <a:solidFill>
                  <a:srgbClr val="FFFFFF"/>
                </a:solidFill>
              </a:rPr>
              <a:t>Facts in code.
</a:t>
            </a:r>
            <a:pPr indent="0" marL="0">
              <a:buNone/>
            </a:pPr>
            <a:r>
              <a:rPr lang="en-US" sz="5000" b="1" dirty="0">
                <a:solidFill>
                  <a:srgbClr val="3CC3F0"/>
                </a:solidFill>
              </a:rPr>
              <a:t>Words from AI.
</a:t>
            </a:r>
            <a:pPr indent="0" marL="0">
              <a:buNone/>
            </a:pPr>
            <a:r>
              <a:rPr lang="en-US" sz="5000" b="1" dirty="0">
                <a:solidFill>
                  <a:srgbClr val="FFFFFF"/>
                </a:solidFill>
              </a:rPr>
              <a:t>Decisions by people.</a:t>
            </a:r>
            <a:endParaRPr lang="en-US" sz="5000" dirty="0"/>
          </a:p>
        </p:txBody>
      </p:sp>
      <p:sp>
        <p:nvSpPr>
          <p:cNvPr id="4" name="Icon dot"/>
          <p:cNvSpPr/>
          <p:nvPr/>
        </p:nvSpPr>
        <p:spPr>
          <a:xfrm>
            <a:off x="640080" y="5029200"/>
            <a:ext cx="640080" cy="640080"/>
          </a:xfrm>
          <a:prstGeom prst="ellipse">
            <a:avLst/>
          </a:prstGeom>
          <a:solidFill>
            <a:srgbClr val="3CC3F0"/>
          </a:solidFill>
          <a:ln w="12700">
            <a:solidFill>
              <a:srgbClr val="3CC3F0"/>
            </a:solidFill>
            <a:prstDash val="solid"/>
          </a:ln>
        </p:spPr>
      </p:sp>
      <p:pic>
        <p:nvPicPr>
          <p:cNvPr id="5" name="Image 0" descr="ShieldAlt icon">    </p:cNvPr>
          <p:cNvPicPr>
            <a:picLocks noChangeAspect="1"/>
          </p:cNvPicPr>
          <p:nvPr/>
        </p:nvPicPr>
        <p:blipFill>
          <a:blip r:embed="rId1"/>
          <a:stretch>
            <a:fillRect/>
          </a:stretch>
        </p:blipFill>
        <p:spPr>
          <a:xfrm>
            <a:off x="806501" y="5195621"/>
            <a:ext cx="307238" cy="307238"/>
          </a:xfrm>
          <a:prstGeom prst="rect">
            <a:avLst/>
          </a:prstGeom>
        </p:spPr>
      </p:pic>
      <p:sp>
        <p:nvSpPr>
          <p:cNvPr id="6" name="Text 3"/>
          <p:cNvSpPr txBox="1"/>
          <p:nvPr/>
        </p:nvSpPr>
        <p:spPr>
          <a:xfrm>
            <a:off x="1463040" y="5029200"/>
            <a:ext cx="1783080" cy="640080"/>
          </a:xfrm>
          <a:prstGeom prst="rect">
            <a:avLst/>
          </a:prstGeom>
          <a:noFill/>
          <a:ln/>
        </p:spPr>
        <p:txBody>
          <a:bodyPr wrap="square" lIns="0" tIns="0" rIns="0" bIns="0" rtlCol="0" anchor="ctr"/>
          <a:lstStyle/>
          <a:p>
            <a:pPr indent="0" marL="0">
              <a:buNone/>
            </a:pPr>
            <a:r>
              <a:rPr lang="en-US" sz="1400" b="1" dirty="0">
                <a:solidFill>
                  <a:srgbClr val="FFFFFF"/>
                </a:solidFill>
              </a:rPr>
              <a:t>Safe by design</a:t>
            </a:r>
            <a:endParaRPr lang="en-US" sz="1400" dirty="0"/>
          </a:p>
        </p:txBody>
      </p:sp>
      <p:sp>
        <p:nvSpPr>
          <p:cNvPr id="7" name="Icon dot"/>
          <p:cNvSpPr/>
          <p:nvPr/>
        </p:nvSpPr>
        <p:spPr>
          <a:xfrm>
            <a:off x="3383280" y="5029200"/>
            <a:ext cx="640080" cy="640080"/>
          </a:xfrm>
          <a:prstGeom prst="ellipse">
            <a:avLst/>
          </a:prstGeom>
          <a:solidFill>
            <a:srgbClr val="3CC3F0"/>
          </a:solidFill>
          <a:ln w="12700">
            <a:solidFill>
              <a:srgbClr val="3CC3F0"/>
            </a:solidFill>
            <a:prstDash val="solid"/>
          </a:ln>
        </p:spPr>
      </p:sp>
      <p:pic>
        <p:nvPicPr>
          <p:cNvPr id="8" name="Image 1" descr="BookMedical icon">    </p:cNvPr>
          <p:cNvPicPr>
            <a:picLocks noChangeAspect="1"/>
          </p:cNvPicPr>
          <p:nvPr/>
        </p:nvPicPr>
        <p:blipFill>
          <a:blip r:embed="rId2"/>
          <a:stretch>
            <a:fillRect/>
          </a:stretch>
        </p:blipFill>
        <p:spPr>
          <a:xfrm>
            <a:off x="3549701" y="5195621"/>
            <a:ext cx="307238" cy="307238"/>
          </a:xfrm>
          <a:prstGeom prst="rect">
            <a:avLst/>
          </a:prstGeom>
        </p:spPr>
      </p:pic>
      <p:sp>
        <p:nvSpPr>
          <p:cNvPr id="9" name="Text 5"/>
          <p:cNvSpPr txBox="1"/>
          <p:nvPr/>
        </p:nvSpPr>
        <p:spPr>
          <a:xfrm>
            <a:off x="4206240" y="5029200"/>
            <a:ext cx="1783080" cy="640080"/>
          </a:xfrm>
          <a:prstGeom prst="rect">
            <a:avLst/>
          </a:prstGeom>
          <a:noFill/>
          <a:ln/>
        </p:spPr>
        <p:txBody>
          <a:bodyPr wrap="square" lIns="0" tIns="0" rIns="0" bIns="0" rtlCol="0" anchor="ctr"/>
          <a:lstStyle/>
          <a:p>
            <a:pPr indent="0" marL="0">
              <a:buNone/>
            </a:pPr>
            <a:r>
              <a:rPr lang="en-US" sz="1400" b="1" dirty="0">
                <a:solidFill>
                  <a:srgbClr val="FFFFFF"/>
                </a:solidFill>
              </a:rPr>
              <a:t>Grounded answers</a:t>
            </a:r>
            <a:endParaRPr lang="en-US" sz="1400" dirty="0"/>
          </a:p>
        </p:txBody>
      </p:sp>
      <p:sp>
        <p:nvSpPr>
          <p:cNvPr id="10" name="Icon dot"/>
          <p:cNvSpPr/>
          <p:nvPr/>
        </p:nvSpPr>
        <p:spPr>
          <a:xfrm>
            <a:off x="6126480" y="5029200"/>
            <a:ext cx="640080" cy="640080"/>
          </a:xfrm>
          <a:prstGeom prst="ellipse">
            <a:avLst/>
          </a:prstGeom>
          <a:solidFill>
            <a:srgbClr val="3CC3F0"/>
          </a:solidFill>
          <a:ln w="12700">
            <a:solidFill>
              <a:srgbClr val="3CC3F0"/>
            </a:solidFill>
            <a:prstDash val="solid"/>
          </a:ln>
        </p:spPr>
      </p:sp>
      <p:pic>
        <p:nvPicPr>
          <p:cNvPr id="11" name="Image 2" descr="UserMd icon">    </p:cNvPr>
          <p:cNvPicPr>
            <a:picLocks noChangeAspect="1"/>
          </p:cNvPicPr>
          <p:nvPr/>
        </p:nvPicPr>
        <p:blipFill>
          <a:blip r:embed="rId3"/>
          <a:stretch>
            <a:fillRect/>
          </a:stretch>
        </p:blipFill>
        <p:spPr>
          <a:xfrm>
            <a:off x="6292901" y="5195621"/>
            <a:ext cx="307238" cy="307238"/>
          </a:xfrm>
          <a:prstGeom prst="rect">
            <a:avLst/>
          </a:prstGeom>
        </p:spPr>
      </p:pic>
      <p:sp>
        <p:nvSpPr>
          <p:cNvPr id="12" name="Text 7"/>
          <p:cNvSpPr txBox="1"/>
          <p:nvPr/>
        </p:nvSpPr>
        <p:spPr>
          <a:xfrm>
            <a:off x="6949440" y="5029200"/>
            <a:ext cx="1783080" cy="640080"/>
          </a:xfrm>
          <a:prstGeom prst="rect">
            <a:avLst/>
          </a:prstGeom>
          <a:noFill/>
          <a:ln/>
        </p:spPr>
        <p:txBody>
          <a:bodyPr wrap="square" lIns="0" tIns="0" rIns="0" bIns="0" rtlCol="0" anchor="ctr"/>
          <a:lstStyle/>
          <a:p>
            <a:pPr indent="0" marL="0">
              <a:buNone/>
            </a:pPr>
            <a:r>
              <a:rPr lang="en-US" sz="1400" b="1" dirty="0">
                <a:solidFill>
                  <a:srgbClr val="FFFFFF"/>
                </a:solidFill>
              </a:rPr>
              <a:t>Human-led escalation</a:t>
            </a:r>
            <a:endParaRPr lang="en-US" sz="1400" dirty="0"/>
          </a:p>
        </p:txBody>
      </p:sp>
      <p:sp>
        <p:nvSpPr>
          <p:cNvPr id="13" name="Icon dot"/>
          <p:cNvSpPr/>
          <p:nvPr/>
        </p:nvSpPr>
        <p:spPr>
          <a:xfrm>
            <a:off x="8869680" y="5029200"/>
            <a:ext cx="640080" cy="640080"/>
          </a:xfrm>
          <a:prstGeom prst="ellipse">
            <a:avLst/>
          </a:prstGeom>
          <a:solidFill>
            <a:srgbClr val="3CC3F0"/>
          </a:solidFill>
          <a:ln w="12700">
            <a:solidFill>
              <a:srgbClr val="3CC3F0"/>
            </a:solidFill>
            <a:prstDash val="solid"/>
          </a:ln>
        </p:spPr>
      </p:sp>
      <p:pic>
        <p:nvPicPr>
          <p:cNvPr id="14" name="Image 3" descr="ClipboardList icon">    </p:cNvPr>
          <p:cNvPicPr>
            <a:picLocks noChangeAspect="1"/>
          </p:cNvPicPr>
          <p:nvPr/>
        </p:nvPicPr>
        <p:blipFill>
          <a:blip r:embed="rId4"/>
          <a:stretch>
            <a:fillRect/>
          </a:stretch>
        </p:blipFill>
        <p:spPr>
          <a:xfrm>
            <a:off x="9036101" y="5195621"/>
            <a:ext cx="307238" cy="307238"/>
          </a:xfrm>
          <a:prstGeom prst="rect">
            <a:avLst/>
          </a:prstGeom>
        </p:spPr>
      </p:pic>
      <p:sp>
        <p:nvSpPr>
          <p:cNvPr id="15" name="Text 9"/>
          <p:cNvSpPr txBox="1"/>
          <p:nvPr/>
        </p:nvSpPr>
        <p:spPr>
          <a:xfrm>
            <a:off x="9692640" y="5029200"/>
            <a:ext cx="1783080" cy="640080"/>
          </a:xfrm>
          <a:prstGeom prst="rect">
            <a:avLst/>
          </a:prstGeom>
          <a:noFill/>
          <a:ln/>
        </p:spPr>
        <p:txBody>
          <a:bodyPr wrap="square" lIns="0" tIns="0" rIns="0" bIns="0" rtlCol="0" anchor="ctr"/>
          <a:lstStyle/>
          <a:p>
            <a:pPr indent="0" marL="0">
              <a:buNone/>
            </a:pPr>
            <a:r>
              <a:rPr lang="en-US" sz="1400" b="1" dirty="0">
                <a:solidFill>
                  <a:srgbClr val="FFFFFF"/>
                </a:solidFill>
              </a:rPr>
              <a:t>Auditable</a:t>
            </a:r>
            <a:endParaRPr lang="en-US" sz="1400" dirty="0"/>
          </a:p>
        </p:txBody>
      </p:sp>
      <p:sp>
        <p:nvSpPr>
          <p:cNvPr id="16" name="Text 10"/>
          <p:cNvSpPr txBox="1"/>
          <p:nvPr/>
        </p:nvSpPr>
        <p:spPr>
          <a:xfrm>
            <a:off x="640080" y="6035040"/>
            <a:ext cx="7315200" cy="274320"/>
          </a:xfrm>
          <a:prstGeom prst="rect">
            <a:avLst/>
          </a:prstGeom>
          <a:noFill/>
          <a:ln/>
        </p:spPr>
        <p:txBody>
          <a:bodyPr wrap="square" lIns="0" tIns="0" rIns="0" bIns="0" rtlCol="0" anchor="t"/>
          <a:lstStyle/>
          <a:p>
            <a:pPr indent="0" marL="0">
              <a:buNone/>
            </a:pPr>
            <a:r>
              <a:rPr lang="en-US" sz="1100" dirty="0">
                <a:solidFill>
                  <a:srgbClr val="CFE0FF"/>
                </a:solidFill>
              </a:rPr>
              <a:t>A prototype on synthetic data, for learning only.</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2743200"/>
            <a:ext cx="7315200" cy="822960"/>
          </a:xfrm>
          <a:prstGeom prst="rect">
            <a:avLst/>
          </a:prstGeom>
          <a:noFill/>
          <a:ln/>
        </p:spPr>
        <p:txBody>
          <a:bodyPr wrap="square" lIns="0" tIns="0" rIns="0" bIns="0" rtlCol="0" anchor="t"/>
          <a:lstStyle/>
          <a:p>
            <a:pPr indent="0" marL="0">
              <a:buNone/>
            </a:pPr>
            <a:r>
              <a:rPr lang="en-US" sz="4400" b="1" dirty="0">
                <a:solidFill>
                  <a:srgbClr val="FFFFFF"/>
                </a:solidFill>
              </a:rPr>
              <a:t>Thank you</a:t>
            </a:r>
            <a:endParaRPr lang="en-US" sz="4400" dirty="0"/>
          </a:p>
        </p:txBody>
      </p:sp>
      <p:sp>
        <p:nvSpPr>
          <p:cNvPr id="3" name="Text 1"/>
          <p:cNvSpPr txBox="1"/>
          <p:nvPr/>
        </p:nvSpPr>
        <p:spPr>
          <a:xfrm>
            <a:off x="640080" y="3657600"/>
            <a:ext cx="7315200" cy="365760"/>
          </a:xfrm>
          <a:prstGeom prst="rect">
            <a:avLst/>
          </a:prstGeom>
          <a:noFill/>
          <a:ln/>
        </p:spPr>
        <p:txBody>
          <a:bodyPr wrap="square" lIns="0" tIns="0" rIns="0" bIns="0" rtlCol="0" anchor="t"/>
          <a:lstStyle/>
          <a:p>
            <a:pPr indent="0" marL="0">
              <a:buNone/>
            </a:pPr>
            <a:r>
              <a:rPr lang="en-US" sz="1600" dirty="0">
                <a:solidFill>
                  <a:srgbClr val="3CC3F0"/>
                </a:solidFill>
              </a:rPr>
              <a:t>Open for questions</a:t>
            </a:r>
            <a:endParaRPr lang="en-US" sz="1600" dirty="0"/>
          </a:p>
        </p:txBody>
      </p:sp>
      <p:sp>
        <p:nvSpPr>
          <p:cNvPr id="4" name="Text 2"/>
          <p:cNvSpPr txBox="1"/>
          <p:nvPr/>
        </p:nvSpPr>
        <p:spPr>
          <a:xfrm>
            <a:off x="640080" y="6217920"/>
            <a:ext cx="5486400" cy="274320"/>
          </a:xfrm>
          <a:prstGeom prst="rect">
            <a:avLst/>
          </a:prstGeom>
          <a:noFill/>
          <a:ln/>
        </p:spPr>
        <p:txBody>
          <a:bodyPr wrap="square" lIns="0" tIns="0" rIns="0" bIns="0" rtlCol="0" anchor="t"/>
          <a:lstStyle/>
          <a:p>
            <a:pPr indent="0" marL="0">
              <a:buNone/>
            </a:pPr>
            <a:r>
              <a:rPr lang="en-US" sz="1000" dirty="0">
                <a:solidFill>
                  <a:srgbClr val="CFE0FF"/>
                </a:solidFill>
              </a:rPr>
              <a:t>Sujit Gorakh Raut</a:t>
            </a:r>
            <a:endParaRPr lang="en-US" sz="1000" dirty="0"/>
          </a:p>
        </p:txBody>
      </p:sp>
    </p:spTree>
  </p:cSld>
  <p:clrMapOvr>
    <a:masterClrMapping/>
  </p:clrMapOvr>
</p:sld>
</file>

<file path=ppt/theme/theme1.xml><?xml version="1.0" encoding="utf-8"?>
<a:theme xmlns:a="http://schemas.openxmlformats.org/drawingml/2006/main" name="CitiusTech Light">
  <a:themeElements>
    <a:clrScheme name="CitiusTech Light">
      <a:dk1>
        <a:srgbClr val="1F2937"/>
      </a:dk1>
      <a:lt1>
        <a:srgbClr val="FFFFFF"/>
      </a:lt1>
      <a:dk2>
        <a:srgbClr val="0A1F5C"/>
      </a:dk2>
      <a:lt2>
        <a:srgbClr val="F4F6FB"/>
      </a:lt2>
      <a:accent1>
        <a:srgbClr val="1547C8"/>
      </a:accent1>
      <a:accent2>
        <a:srgbClr val="3CC3F0"/>
      </a:accent2>
      <a:accent3>
        <a:srgbClr val="12A36B"/>
      </a:accent3>
      <a:accent4>
        <a:srgbClr val="F5A524"/>
      </a:accent4>
      <a:accent5>
        <a:srgbClr val="E5484D"/>
      </a:accent5>
      <a:accent6>
        <a:srgbClr val="8338EC"/>
      </a:accent6>
      <a:hlink>
        <a:srgbClr val="1547C8"/>
      </a:hlink>
      <a:folHlink>
        <a:srgbClr val="5B6478"/>
      </a:folHlink>
    </a:clrScheme>
    <a:fontScheme name="CitiusTech L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CitiusTech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Care Engagement and Follow-up</dc:title>
  <dc:subject>PptxGenJS Presentation</dc:subject>
  <dc:creator>Sujit Gorakh Raut</dc:creator>
  <cp:lastModifiedBy>Sujit Gorakh Raut</cp:lastModifiedBy>
  <cp:revision>1</cp:revision>
  <dcterms:created xsi:type="dcterms:W3CDTF">2026-10-11T04:35:35Z</dcterms:created>
  <dcterms:modified xsi:type="dcterms:W3CDTF">2026-10-11T04:35:35Z</dcterms:modified>
</cp:coreProperties>
</file>