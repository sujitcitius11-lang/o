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581f761-2ce5-d782-041a-0bde088feb5e}">
          <p14:sldIdLst>
            <p14:sldId id="256"/>
          </p14:sldIdLst>
        </p14:section>
        <p14:section name="Why" id="{a2536858-c6cf-e7fd-d772-54ef3f4891aa}">
          <p14:sldIdLst>
            <p14:sldId id="257"/>
            <p14:sldId id="258"/>
          </p14:sldIdLst>
        </p14:section>
        <p14:section name="Solution" id="{3ec1ca36-707e-5929-26ae-dabc240c109a}">
          <p14:sldIdLst>
            <p14:sldId id="259"/>
            <p14:sldId id="260"/>
            <p14:sldId id="261"/>
            <p14:sldId id="262"/>
          </p14:sldIdLst>
        </p14:section>
        <p14:section name="Safety" id="{23ff1b00-c3ea-27a0-891c-26407d24eb42}">
          <p14:sldIdLst>
            <p14:sldId id="263"/>
            <p14:sldId id="264"/>
          </p14:sldIdLst>
        </p14:section>
        <p14:section name="Proof" id="{23bae8b1-47e3-7e08-4f51-87cd20d6290c}">
          <p14:sldIdLst>
            <p14:sldId id="265"/>
            <p14:sldId id="266"/>
            <p14:sldId id="267"/>
            <p14:sldId id="268"/>
          </p14:sldIdLst>
        </p14:section>
        <p14:section name="Close" id="{c044b769-917d-769c-5d90-9719aea510ac}">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Consent</c:v>
                </c:pt>
              </c:strCache>
            </c:strRef>
          </c:tx>
          <c:spPr>
            <a:solidFill>
              <a:schemeClr val="accent1"/>
            </a:solidFill>
            <a:ln w="9525" cap="flat">
              <a:solidFill>
                <a:srgbClr val="F9F9F9"/>
              </a:solidFill>
              <a:prstDash val="solid"/>
              <a:round/>
            </a:ln>
            <a:effectLst/>
          </c:spPr>
          <c:dPt>
            <c:idx val="0"/>
            <c:bubble3D val="0"/>
            <c:spPr>
              <a:solidFill>
                <a:srgbClr val="12A36B"/>
              </a:solidFill>
              <a:ln w="12700" cap="flat">
                <a:solidFill>
                  <a:srgbClr val="0B1B4D"/>
                </a:solidFill>
                <a:prstDash val="solid"/>
                <a:round/>
              </a:ln>
              <a:effectLst/>
            </c:spPr>
          </c:dPt>
          <c:dPt>
            <c:idx val="1"/>
            <c:bubble3D val="0"/>
            <c:spPr>
              <a:solidFill>
                <a:srgbClr val="F5A524"/>
              </a:solidFill>
              <a:ln w="12700" cap="flat">
                <a:solidFill>
                  <a:srgbClr val="0B1B4D"/>
                </a:solidFill>
                <a:prstDash val="solid"/>
                <a:round/>
              </a:ln>
              <a:effectLst/>
            </c:spPr>
          </c:dPt>
          <c:dPt>
            <c:idx val="2"/>
            <c:bubble3D val="0"/>
            <c:spPr>
              <a:solidFill>
                <a:srgbClr val="3CC3F0"/>
              </a:solidFill>
              <a:ln w="12700" cap="flat">
                <a:solidFill>
                  <a:srgbClr val="0B1B4D"/>
                </a:solidFill>
                <a:prstDash val="solid"/>
                <a:round/>
              </a:ln>
              <a:effectLst/>
            </c:spPr>
          </c:dPt>
          <c:dPt>
            <c:idx val="3"/>
            <c:bubble3D val="0"/>
            <c:spPr>
              <a:solidFill>
                <a:srgbClr val="E5484D"/>
              </a:solidFill>
              <a:ln w="12700" cap="flat">
                <a:solidFill>
                  <a:srgbClr val="0B1B4D"/>
                </a:solidFill>
                <a:prstDash val="solid"/>
                <a:round/>
              </a:ln>
              <a:effectLst/>
            </c:spPr>
          </c:dPt>
          <c:dLbls>
            <c:dLbl>
              <c:idx val="0"/>
              <c:numFmt formatCode="General" sourceLinked="0"/>
              <c:spPr/>
              <c:txPr>
                <a:bodyPr/>
                <a:lstStyle/>
                <a:p>
                  <a:pPr>
                    <a:defRPr sz="11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100" b="1"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100" b="1" i="0" u="none" strike="noStrike">
                      <a:solidFill>
                        <a:srgbClr val="FFFFFF"/>
                      </a:solidFill>
                      <a:latin typeface="Arial"/>
                    </a:defRPr>
                  </a:pPr>
                </a:p>
              </c:txPr>
              <c:showLegendKey val="0"/>
              <c:showVal val="1"/>
              <c:showCatName val="0"/>
              <c:showSerName val="0"/>
              <c:showPercent val="0"/>
              <c:showBubbleSize val="0"/>
            </c:dLbl>
            <c:dLbl>
              <c:idx val="3"/>
              <c:numFmt formatCode="General" sourceLinked="0"/>
              <c:spPr/>
              <c:txPr>
                <a:bodyPr/>
                <a:lstStyle/>
                <a:p>
                  <a:pPr>
                    <a:defRPr sz="11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Active</c:v>
                </c:pt>
                <c:pt idx="1">
                  <c:v>Expired</c:v>
                </c:pt>
                <c:pt idx="2">
                  <c:v>Pending</c:v>
                </c:pt>
                <c:pt idx="3">
                  <c:v>Revoked</c:v>
                </c:pt>
              </c:strCache>
            </c:strRef>
          </c:cat>
          <c:val>
            <c:numRef>
              <c:f>Sheet1!$B$2:$B$5</c:f>
              <c:numCache>
                <c:ptCount val="4"/>
                <c:pt idx="0">
                  <c:v>200</c:v>
                </c:pt>
                <c:pt idx="1">
                  <c:v>18</c:v>
                </c:pt>
                <c:pt idx="2">
                  <c:v>16</c:v>
                </c:pt>
                <c:pt idx="3">
                  <c:v>16</c:v>
                </c:pt>
              </c:numCache>
            </c:numRef>
          </c:val>
        </c:ser>
        <c:firstSliceAng val="0"/>
        <c:holeSize val="58"/>
      </c:doughnutChart>
      <c:spPr>
        <a:noFill/>
        <a:ln>
          <a:noFill/>
        </a:ln>
        <a:effectLst/>
      </c:spPr>
    </c:plotArea>
    <c:legend>
      <c:legendPos val="b"/>
      <c:overlay val="0"/>
      <c:txPr>
        <a:bodyPr/>
        <a:lstStyle/>
        <a:p>
          <a:pPr>
            <a:defRPr sz="1100">
              <a:solidFill>
                <a:srgbClr val="CFE0FF"/>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Checks</c:v>
                </c:pt>
              </c:strCache>
            </c:strRef>
          </c:tx>
          <c:spPr>
            <a:solidFill>
              <a:srgbClr val="3CC3F0"/>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Scenarios T1-T14</c:v>
                  </c:pt>
                  <c:pt idx="1">
                    <c:v>Azure mock</c:v>
                  </c:pt>
                  <c:pt idx="2">
                    <c:v>Ingest &amp; rules</c:v>
                  </c:pt>
                  <c:pt idx="3">
                    <c:v>Data scale</c:v>
                  </c:pt>
                </c:lvl>
              </c:multiLvlStrCache>
            </c:multiLvlStrRef>
          </c:cat>
          <c:val>
            <c:numRef>
              <c:f>Sheet1!$B$2:$B$5</c:f>
              <c:numCache>
                <c:formatCode>General</c:formatCode>
                <c:ptCount val="4"/>
                <c:pt idx="0">
                  <c:v>14</c:v>
                </c:pt>
                <c:pt idx="1">
                  <c:v>22</c:v>
                </c:pt>
                <c:pt idx="2">
                  <c:v>21</c:v>
                </c:pt>
                <c:pt idx="3">
                  <c:v>22</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CFE0FF"/>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a safe multi-agent assistant for chronic-care follow-up. Six specialist agents run in Microsoft Foundry, but a fixed Python workflow (the orchestrator) decides every fact and every rule. The agents only put the facts into plain words. The hard promise: it never diagnoses, gives medical advice or changes medicines. All data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follow-up does not scale: coordinators answer the same questions, members forget tasks, hand-offs are messy. A free-form chatbot scales but is unsafe: it can invent facts or give advice. Our third road keeps code in charge of facts and rules, uses agents only for language, and sends risky cases to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that the whole project is built around: the system never diagnoses, never gives medical advice and never changes medicines. Its job is to organise information and hand risky cases to people. We do not trust the model to behave on its own, so the rule is enforced in four layers: instructions, an output guard, number grounding and a template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The UI and client sit on top. Under them is the orchestrator, plain Python with a fixed order of steps, so the same input always follows the same path. The six agents live in Microsoft Foundry and only word the facts. Knowledge comes from Blob Storage through either an Azure AI Search index or a Foundry knowledge base. The trust layer is always on: output guard, citation check, masked audit log and a staff review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has one job and a narrow view of the data. The orchestrator agent only classifies. Reading Summary sees one member's active readings. Care Plan sees that member's tasks. Education RAG sees approved documents only. Engagement writes a neutral reminder. Escalation words the staff note for rules that code already matched. When the app starts, all six are created as agents in the Foundry project, so they can be shown in the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principle that makes this safe. Code computes the facts: counts, dates, which rule matched, which source IDs exist. The agent receives those facts inside the message and only words them. Before the member sees anything, four gates run: no diagnosis or advice, every number must exist in the facts, every citation must be a real approved article, and it must fit the member's program and version. If any gate fails, a fixed template is used instead of the AI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follows the same eight steps. Consent first: if consent is not active, processing stops and staff are told (ER-501). Then an input guard and a medicine check: injection attempts are blocked and any request to change a medicine is declined and sent to a clinician (ER-503). Then the orchestrator agent classifies the request, an advice check routes interpretation requests to staff, and code applies the reading rules ER-502 and ER-504. Specialist agents produce the wording, the system builds two separate outputs, and finally a masked audit record and the staff queue entry are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rules, applied exactly as supplied in the assignment. The logic of each rule is fixed in code, so the same input always gives the same result. What the data tables add is routing: 102 variants decide which staff queue a case goes to, by program, context and channel. The ER-502 values (blood pressure 160/100, glucose 300) and all other thresholds are training placeholders, not clinical thresholds; clinicians must set real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are Markdown files with a status. Approved documents are uploaded to the knowledge folder in Blob Storage, and Draft or Retired ones go to a separate folder that is never searched. One setting switches the Education agent between an Azure AI Search index and a Foundry knowledge base on the same Blob data. Before an answer is shown, a citation check confirms the article exists, is Approved, fits the member's program and uses the catalog version. If nothing valid matches, the system says so and asks staff to follow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set was expanded for realism: 250 members, over five thousand readings, 657 care plan tasks, 110 articles, 106 rule rows, 104 test values and 184 medicine-change words. It is all synthetic. Important honesty point: bigger data does not make the answers smarter; the rules and guards decide the answers. The extra data makes the demo realistic and gives the tests more situations, such as expired, pending and revoked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app, running in offline template mode. A member, M-101, asks to increase an insulin dose. Code matches rule ER-503, so the assistant declines, directs the member to a qualified clinician and tells program staff. Every reply carries the disclaimer. Demo flow: ask this question, then switch to the Staff view to show the coordinator packet.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sides of the same desk. On the left the ward overview shows live counts from the data tables and the status of the pipeline. On the right the staff review queue shows every case that needs a person, ordered by triage level, with the rule IDs and the suggested staff queue. The queue holds facts only; the system never interprets a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automated suites with 79 checks. The 14 assignment scenarios T1 to T14 all pass in the offline dry run, plus 22 checks with a mocked Azure and Foundry, 21 on data integrity, upload and rollback, and 22 on the larger data and rule logic. Be clear that this is the offline run. The online run against the deployed Foundry agents is the next step and is the real evidence for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limits. Everything about the rules, guards, UI and data handling is proven offline, with mocks for Azure. What still needs a live Azure subscription is agent registration in Foundry, Blob upload and AI Search indexing, and the knowledge base, which is a preview feature. Model wording quality also needs checking online. All thresholds are placeholders that clinicians must set. Next steps: create the Azure resources, sync data and register the six agents, run T1 to T14 online, and have clinicians review the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three-part pattern: agents for language, code for facts, people for decisions. The four pillars: safe by design, grounded in approved documents, led by humans and fully auditable. The prototype uses synthetic data and is for learning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Offer the live demo: ask as M-101, 'Can I increase my insulin dose this week?', then show the staff review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T_CONTENT_A-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T_CONTENT_B-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CT_TITLE-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CT_CONCLUSION-image-2.jpe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CT_THANKS-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T_CONTENT_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mark">    </p:cNvPr>
          <p:cNvPicPr>
            <a:picLocks noChangeAspect="1"/>
          </p:cNvPicPr>
          <p:nvPr/>
        </p:nvPicPr>
        <p:blipFill>
          <a:blip r:embed="rId1"/>
          <a:stretch>
            <a:fillRect/>
          </a:stretch>
        </p:blipFill>
        <p:spPr>
          <a:xfrm>
            <a:off x="640080" y="6400800"/>
            <a:ext cx="274320" cy="274320"/>
          </a:xfrm>
          <a:prstGeom prst="rect">
            <a:avLst/>
          </a:prstGeom>
        </p:spPr>
      </p:pic>
      <p:sp>
        <p:nvSpPr>
          <p:cNvPr id="3" name="Text 0"/>
          <p:cNvSpPr/>
          <p:nvPr/>
        </p:nvSpPr>
        <p:spPr>
          <a:xfrm>
            <a:off x="1005840" y="6382512"/>
            <a:ext cx="2377440" cy="310896"/>
          </a:xfrm>
          <a:prstGeom prst="rect">
            <a:avLst/>
          </a:prstGeom>
          <a:noFill/>
          <a:ln/>
        </p:spPr>
        <p:txBody>
          <a:bodyPr wrap="square" lIns="0" tIns="0" rIns="0" bIns="0" rtlCol="0" anchor="ctr"/>
          <a:lstStyle/>
          <a:p>
            <a:pPr indent="0" marL="0">
              <a:buNone/>
            </a:pPr>
            <a:r>
              <a:rPr lang="en-US" sz="1300" b="1" dirty="0">
                <a:solidFill>
                  <a:srgbClr val="FFFFFF"/>
                </a:solidFill>
              </a:rPr>
              <a:t>CitiusTech</a:t>
            </a:r>
            <a:endParaRPr lang="en-US" sz="1300" dirty="0"/>
          </a:p>
        </p:txBody>
      </p:sp>
      <p:sp>
        <p:nvSpPr>
          <p:cNvPr id="4" name="Text 1"/>
          <p:cNvSpPr/>
          <p:nvPr/>
        </p:nvSpPr>
        <p:spPr>
          <a:xfrm>
            <a:off x="3840480" y="6400800"/>
            <a:ext cx="4572000" cy="274320"/>
          </a:xfrm>
          <a:prstGeom prst="rect">
            <a:avLst/>
          </a:prstGeom>
          <a:noFill/>
          <a:ln/>
        </p:spPr>
        <p:txBody>
          <a:bodyPr wrap="square" lIns="0" tIns="0" rIns="0" bIns="0" rtlCol="0" anchor="ctr"/>
          <a:lstStyle/>
          <a:p>
            <a:pPr algn="ctr" indent="0" marL="0">
              <a:buNone/>
            </a:pPr>
            <a:r>
              <a:rPr lang="en-US" sz="1000" dirty="0">
                <a:solidFill>
                  <a:srgbClr val="A9BBEA"/>
                </a:solidFill>
              </a:rPr>
              <a:t>Chronic Care Engagement &amp; Follow-up</a:t>
            </a:r>
            <a:endParaRPr lang="en-US" sz="1000" dirty="0"/>
          </a:p>
        </p:txBody>
      </p:sp>
      <p:sp>
        <p:nvSpPr>
          <p:cNvPr id="5" name="Text 2"/>
          <p:cNvSpPr/>
          <p:nvPr>
            <p:ph idx="103" type="body" hasCustomPrompt="1"/>
          </p:nvPr>
        </p:nvSpPr>
        <p:spPr>
          <a:xfrm>
            <a:off x="640080" y="438912"/>
            <a:ext cx="8229600" cy="274320"/>
          </a:xfrm>
          <a:prstGeom prst="rect">
            <a:avLst/>
          </a:prstGeom>
          <a:noFill/>
          <a:ln/>
        </p:spPr>
        <p:txBody>
          <a:bodyPr wrap="square" rtlCol="0"/>
          <a:lstStyle>
            <a:lvl1pPr indent="0" marL="0">
              <a:buNone/>
              <a:defRPr lang="en-US" sz="1200" b="1" spc="400" kern="0" dirty="0">
                <a:solidFill>
                  <a:srgbClr val="3CC3F0"/>
                </a:solidFill>
              </a:defRPr>
            </a:lvl1pPr>
          </a:lstStyle>
          <a:p>
            <a:pPr indent="0" marL="0">
              <a:buNone/>
            </a:pPr>
            <a:endParaRPr lang="en-US" sz="1200" dirty="0"/>
          </a:p>
        </p:txBody>
      </p:sp>
      <p:sp>
        <p:nvSpPr>
          <p:cNvPr id="6" name="Text 2"/>
          <p:cNvSpPr/>
          <p:nvPr>
            <p:ph idx="104" type="title" hasCustomPrompt="1"/>
          </p:nvPr>
        </p:nvSpPr>
        <p:spPr>
          <a:xfrm>
            <a:off x="640080" y="749808"/>
            <a:ext cx="10908792" cy="77724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T_CONTENT_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mark">    </p:cNvPr>
          <p:cNvPicPr>
            <a:picLocks noChangeAspect="1"/>
          </p:cNvPicPr>
          <p:nvPr/>
        </p:nvPicPr>
        <p:blipFill>
          <a:blip r:embed="rId1"/>
          <a:stretch>
            <a:fillRect/>
          </a:stretch>
        </p:blipFill>
        <p:spPr>
          <a:xfrm>
            <a:off x="640080" y="6400800"/>
            <a:ext cx="274320" cy="274320"/>
          </a:xfrm>
          <a:prstGeom prst="rect">
            <a:avLst/>
          </a:prstGeom>
        </p:spPr>
      </p:pic>
      <p:sp>
        <p:nvSpPr>
          <p:cNvPr id="3" name="Text 0"/>
          <p:cNvSpPr/>
          <p:nvPr/>
        </p:nvSpPr>
        <p:spPr>
          <a:xfrm>
            <a:off x="1005840" y="6382512"/>
            <a:ext cx="2377440" cy="310896"/>
          </a:xfrm>
          <a:prstGeom prst="rect">
            <a:avLst/>
          </a:prstGeom>
          <a:noFill/>
          <a:ln/>
        </p:spPr>
        <p:txBody>
          <a:bodyPr wrap="square" lIns="0" tIns="0" rIns="0" bIns="0" rtlCol="0" anchor="ctr"/>
          <a:lstStyle/>
          <a:p>
            <a:pPr indent="0" marL="0">
              <a:buNone/>
            </a:pPr>
            <a:r>
              <a:rPr lang="en-US" sz="1300" b="1" dirty="0">
                <a:solidFill>
                  <a:srgbClr val="FFFFFF"/>
                </a:solidFill>
              </a:rPr>
              <a:t>CitiusTech</a:t>
            </a:r>
            <a:endParaRPr lang="en-US" sz="1300" dirty="0"/>
          </a:p>
        </p:txBody>
      </p:sp>
      <p:sp>
        <p:nvSpPr>
          <p:cNvPr id="4" name="Text 1"/>
          <p:cNvSpPr/>
          <p:nvPr/>
        </p:nvSpPr>
        <p:spPr>
          <a:xfrm>
            <a:off x="3840480" y="6400800"/>
            <a:ext cx="4572000" cy="274320"/>
          </a:xfrm>
          <a:prstGeom prst="rect">
            <a:avLst/>
          </a:prstGeom>
          <a:noFill/>
          <a:ln/>
        </p:spPr>
        <p:txBody>
          <a:bodyPr wrap="square" lIns="0" tIns="0" rIns="0" bIns="0" rtlCol="0" anchor="ctr"/>
          <a:lstStyle/>
          <a:p>
            <a:pPr algn="ctr" indent="0" marL="0">
              <a:buNone/>
            </a:pPr>
            <a:r>
              <a:rPr lang="en-US" sz="1000" dirty="0">
                <a:solidFill>
                  <a:srgbClr val="A9BBEA"/>
                </a:solidFill>
              </a:rPr>
              <a:t>Chronic Care Engagement &amp; Follow-up</a:t>
            </a:r>
            <a:endParaRPr lang="en-US" sz="1000" dirty="0"/>
          </a:p>
        </p:txBody>
      </p:sp>
      <p:sp>
        <p:nvSpPr>
          <p:cNvPr id="5" name="Text 2"/>
          <p:cNvSpPr/>
          <p:nvPr>
            <p:ph idx="103" type="body" hasCustomPrompt="1"/>
          </p:nvPr>
        </p:nvSpPr>
        <p:spPr>
          <a:xfrm>
            <a:off x="640080" y="438912"/>
            <a:ext cx="8229600" cy="274320"/>
          </a:xfrm>
          <a:prstGeom prst="rect">
            <a:avLst/>
          </a:prstGeom>
          <a:noFill/>
          <a:ln/>
        </p:spPr>
        <p:txBody>
          <a:bodyPr wrap="square" rtlCol="0"/>
          <a:lstStyle>
            <a:lvl1pPr indent="0" marL="0">
              <a:buNone/>
              <a:defRPr lang="en-US" sz="1200" b="1" spc="400" kern="0" dirty="0">
                <a:solidFill>
                  <a:srgbClr val="3CC3F0"/>
                </a:solidFill>
              </a:defRPr>
            </a:lvl1pPr>
          </a:lstStyle>
          <a:p>
            <a:pPr indent="0" marL="0">
              <a:buNone/>
            </a:pPr>
            <a:endParaRPr lang="en-US" sz="1200" dirty="0"/>
          </a:p>
        </p:txBody>
      </p:sp>
      <p:sp>
        <p:nvSpPr>
          <p:cNvPr id="6" name="Text 2"/>
          <p:cNvSpPr/>
          <p:nvPr>
            <p:ph idx="104" type="title" hasCustomPrompt="1"/>
          </p:nvPr>
        </p:nvSpPr>
        <p:spPr>
          <a:xfrm>
            <a:off x="640080" y="749808"/>
            <a:ext cx="10908792" cy="77724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T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mark">    </p:cNvPr>
          <p:cNvPicPr>
            <a:picLocks noChangeAspect="1"/>
          </p:cNvPicPr>
          <p:nvPr/>
        </p:nvPicPr>
        <p:blipFill>
          <a:blip r:embed="rId1"/>
          <a:stretch>
            <a:fillRect/>
          </a:stretch>
        </p:blipFill>
        <p:spPr>
          <a:xfrm>
            <a:off x="640080" y="502920"/>
            <a:ext cx="457200" cy="457200"/>
          </a:xfrm>
          <a:prstGeom prst="rect">
            <a:avLst/>
          </a:prstGeom>
        </p:spPr>
      </p:pic>
      <p:sp>
        <p:nvSpPr>
          <p:cNvPr id="3" name="Text 0"/>
          <p:cNvSpPr/>
          <p:nvPr/>
        </p:nvSpPr>
        <p:spPr>
          <a:xfrm>
            <a:off x="1188720" y="484632"/>
            <a:ext cx="2377440" cy="493776"/>
          </a:xfrm>
          <a:prstGeom prst="rect">
            <a:avLst/>
          </a:prstGeom>
          <a:noFill/>
          <a:ln/>
        </p:spPr>
        <p:txBody>
          <a:bodyPr wrap="square" lIns="0" tIns="0" rIns="0" bIns="0" rtlCol="0" anchor="ctr"/>
          <a:lstStyle/>
          <a:p>
            <a:pPr indent="0" marL="0">
              <a:buNone/>
            </a:pPr>
            <a:r>
              <a:rPr lang="en-US" sz="2200" b="1" dirty="0">
                <a:solidFill>
                  <a:srgbClr val="FFFFFF"/>
                </a:solidFill>
              </a:rPr>
              <a:t>CitiusTech</a:t>
            </a:r>
            <a:endParaRPr lang="en-US" sz="2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T_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mark">    </p:cNvPr>
          <p:cNvPicPr>
            <a:picLocks noChangeAspect="1"/>
          </p:cNvPicPr>
          <p:nvPr/>
        </p:nvPicPr>
        <p:blipFill>
          <a:blip r:embed="rId1"/>
          <a:stretch>
            <a:fillRect/>
          </a:stretch>
        </p:blipFill>
        <p:spPr>
          <a:xfrm>
            <a:off x="640080" y="502920"/>
            <a:ext cx="457200" cy="457200"/>
          </a:xfrm>
          <a:prstGeom prst="rect">
            <a:avLst/>
          </a:prstGeom>
        </p:spPr>
      </p:pic>
      <p:sp>
        <p:nvSpPr>
          <p:cNvPr id="3" name="Text 0"/>
          <p:cNvSpPr/>
          <p:nvPr/>
        </p:nvSpPr>
        <p:spPr>
          <a:xfrm>
            <a:off x="1188720" y="484632"/>
            <a:ext cx="2377440" cy="493776"/>
          </a:xfrm>
          <a:prstGeom prst="rect">
            <a:avLst/>
          </a:prstGeom>
          <a:noFill/>
          <a:ln/>
        </p:spPr>
        <p:txBody>
          <a:bodyPr wrap="square" lIns="0" tIns="0" rIns="0" bIns="0" rtlCol="0" anchor="ctr"/>
          <a:lstStyle/>
          <a:p>
            <a:pPr indent="0" marL="0">
              <a:buNone/>
            </a:pPr>
            <a:r>
              <a:rPr lang="en-US" sz="2200" b="1" dirty="0">
                <a:solidFill>
                  <a:srgbClr val="FFFFFF"/>
                </a:solidFill>
              </a:rPr>
              <a:t>CitiusTech</a:t>
            </a:r>
            <a:endParaRPr lang="en-US" sz="22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T_THANK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mark">    </p:cNvPr>
          <p:cNvPicPr>
            <a:picLocks noChangeAspect="1"/>
          </p:cNvPicPr>
          <p:nvPr/>
        </p:nvPicPr>
        <p:blipFill>
          <a:blip r:embed="rId1"/>
          <a:stretch>
            <a:fillRect/>
          </a:stretch>
        </p:blipFill>
        <p:spPr>
          <a:xfrm>
            <a:off x="640080" y="502920"/>
            <a:ext cx="457200" cy="457200"/>
          </a:xfrm>
          <a:prstGeom prst="rect">
            <a:avLst/>
          </a:prstGeom>
        </p:spPr>
      </p:pic>
      <p:sp>
        <p:nvSpPr>
          <p:cNvPr id="3" name="Text 0"/>
          <p:cNvSpPr/>
          <p:nvPr/>
        </p:nvSpPr>
        <p:spPr>
          <a:xfrm>
            <a:off x="1188720" y="484632"/>
            <a:ext cx="2377440" cy="493776"/>
          </a:xfrm>
          <a:prstGeom prst="rect">
            <a:avLst/>
          </a:prstGeom>
          <a:noFill/>
          <a:ln/>
        </p:spPr>
        <p:txBody>
          <a:bodyPr wrap="square" lIns="0" tIns="0" rIns="0" bIns="0" rtlCol="0" anchor="ctr"/>
          <a:lstStyle/>
          <a:p>
            <a:pPr indent="0" marL="0">
              <a:buNone/>
            </a:pPr>
            <a:r>
              <a:rPr lang="en-US" sz="2200" b="1" dirty="0">
                <a:solidFill>
                  <a:srgbClr val="FFFFFF"/>
                </a:solidFill>
              </a:rPr>
              <a:t>CitiusTech</a:t>
            </a: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4.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slideLayout" Target="../slideLayouts/slideLayout2.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3.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image" Target="../media/image-13-5.png"/><Relationship Id="rId7" Type="http://schemas.openxmlformats.org/officeDocument/2006/relationships/image" Target="../media/image-13-6.png"/><Relationship Id="rId8" Type="http://schemas.openxmlformats.org/officeDocument/2006/relationships/image" Target="../media/image-13-7.png"/><Relationship Id="rId9" Type="http://schemas.openxmlformats.org/officeDocument/2006/relationships/image" Target="../media/image-13-8.png"/><Relationship Id="rId10" Type="http://schemas.openxmlformats.org/officeDocument/2006/relationships/image" Target="../media/image-13-9.png"/><Relationship Id="rId11" Type="http://schemas.openxmlformats.org/officeDocument/2006/relationships/image" Target="../media/image-13-10.png"/><Relationship Id="rId12" Type="http://schemas.openxmlformats.org/officeDocument/2006/relationships/image" Target="../media/image-13-11.png"/><Relationship Id="rId13" Type="http://schemas.openxmlformats.org/officeDocument/2006/relationships/image" Target="../media/image-13-12.png"/><Relationship Id="rId14" Type="http://schemas.openxmlformats.org/officeDocument/2006/relationships/image" Target="../media/image-13-13.png"/><Relationship Id="rId15" Type="http://schemas.openxmlformats.org/officeDocument/2006/relationships/image" Target="../media/image-13-14.png"/><Relationship Id="rId16" Type="http://schemas.openxmlformats.org/officeDocument/2006/relationships/slideLayout" Target="../slideLayouts/slideLayout3.xml"/><Relationship Id="rId1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5.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600200"/>
            <a:ext cx="5943600" cy="274320"/>
          </a:xfrm>
          <a:prstGeom prst="rect">
            <a:avLst/>
          </a:prstGeom>
          <a:noFill/>
          <a:ln/>
        </p:spPr>
        <p:txBody>
          <a:bodyPr wrap="square" lIns="0" tIns="0" rIns="0" bIns="0" rtlCol="0" anchor="t"/>
          <a:lstStyle/>
          <a:p>
            <a:pPr indent="0" marL="0">
              <a:buNone/>
            </a:pPr>
            <a:r>
              <a:rPr lang="en-US" sz="1200" b="1" spc="300" kern="0" dirty="0">
                <a:solidFill>
                  <a:srgbClr val="3CC3F0"/>
                </a:solidFill>
              </a:rPr>
              <a:t>HEALTHCARE  ·  AI ENGINEERING  ·  OCTOBER 2026</a:t>
            </a:r>
            <a:endParaRPr lang="en-US" sz="1200" dirty="0"/>
          </a:p>
        </p:txBody>
      </p:sp>
      <p:sp>
        <p:nvSpPr>
          <p:cNvPr id="3" name="Text 1"/>
          <p:cNvSpPr txBox="1"/>
          <p:nvPr/>
        </p:nvSpPr>
        <p:spPr>
          <a:xfrm>
            <a:off x="640080" y="1965960"/>
            <a:ext cx="6035040" cy="2194560"/>
          </a:xfrm>
          <a:prstGeom prst="rect">
            <a:avLst/>
          </a:prstGeom>
          <a:noFill/>
          <a:ln/>
        </p:spPr>
        <p:txBody>
          <a:bodyPr wrap="square" lIns="0" tIns="0" rIns="0" bIns="0" rtlCol="0" anchor="t"/>
          <a:lstStyle/>
          <a:p>
            <a:pPr indent="0" marL="0">
              <a:lnSpc>
                <a:spcPct val="95000"/>
              </a:lnSpc>
              <a:buNone/>
            </a:pPr>
            <a:r>
              <a:rPr lang="en-US" sz="5000" b="1" dirty="0">
                <a:solidFill>
                  <a:srgbClr val="FFFFFF"/>
                </a:solidFill>
                <a:latin typeface="Arial" pitchFamily="34" charset="0"/>
                <a:ea typeface="Arial" pitchFamily="34" charset="-122"/>
                <a:cs typeface="Arial" pitchFamily="34" charset="-120"/>
              </a:rPr>
              <a:t>Chronic Care</a:t>
            </a:r>
            <a:endParaRPr lang="en-US" sz="5000" dirty="0"/>
          </a:p>
          <a:p>
            <a:pPr indent="0" marL="0">
              <a:lnSpc>
                <a:spcPct val="95000"/>
              </a:lnSpc>
              <a:buNone/>
            </a:pPr>
            <a:r>
              <a:rPr lang="en-US" sz="5000" b="1" dirty="0">
                <a:solidFill>
                  <a:srgbClr val="FFFFFF"/>
                </a:solidFill>
                <a:latin typeface="Arial" pitchFamily="34" charset="0"/>
                <a:ea typeface="Arial" pitchFamily="34" charset="-122"/>
                <a:cs typeface="Arial" pitchFamily="34" charset="-120"/>
              </a:rPr>
              <a:t>Engagement &amp;</a:t>
            </a:r>
            <a:endParaRPr lang="en-US" sz="5000" dirty="0"/>
          </a:p>
          <a:p>
            <a:pPr indent="0" marL="0">
              <a:lnSpc>
                <a:spcPct val="95000"/>
              </a:lnSpc>
              <a:buNone/>
            </a:pPr>
            <a:r>
              <a:rPr lang="en-US" sz="5000" b="1" dirty="0">
                <a:solidFill>
                  <a:srgbClr val="FFFFFF"/>
                </a:solidFill>
                <a:latin typeface="Arial" pitchFamily="34" charset="0"/>
                <a:ea typeface="Arial" pitchFamily="34" charset="-122"/>
                <a:cs typeface="Arial" pitchFamily="34" charset="-120"/>
              </a:rPr>
              <a:t>Follow-up</a:t>
            </a:r>
            <a:endParaRPr lang="en-US" sz="5000" dirty="0"/>
          </a:p>
        </p:txBody>
      </p:sp>
      <p:sp>
        <p:nvSpPr>
          <p:cNvPr id="4" name="Text 2"/>
          <p:cNvSpPr txBox="1"/>
          <p:nvPr/>
        </p:nvSpPr>
        <p:spPr>
          <a:xfrm>
            <a:off x="640080" y="4343400"/>
            <a:ext cx="5669280" cy="822960"/>
          </a:xfrm>
          <a:prstGeom prst="rect">
            <a:avLst/>
          </a:prstGeom>
          <a:noFill/>
          <a:ln/>
        </p:spPr>
        <p:txBody>
          <a:bodyPr wrap="square" lIns="0" tIns="0" rIns="0" bIns="0" rtlCol="0" anchor="t"/>
          <a:lstStyle/>
          <a:p>
            <a:pPr indent="0" marL="0">
              <a:buNone/>
            </a:pPr>
            <a:r>
              <a:rPr lang="en-US" sz="1800" dirty="0">
                <a:solidFill>
                  <a:srgbClr val="CFE0FF"/>
                </a:solidFill>
              </a:rPr>
              <a:t>AI that organises the information.</a:t>
            </a:r>
            <a:endParaRPr lang="en-US" sz="1800" dirty="0"/>
          </a:p>
          <a:p>
            <a:pPr indent="0" marL="0">
              <a:buNone/>
            </a:pPr>
            <a:r>
              <a:rPr lang="en-US" sz="1800" dirty="0">
                <a:solidFill>
                  <a:srgbClr val="CFE0FF"/>
                </a:solidFill>
              </a:rPr>
              <a:t>People who make every clinical decision.</a:t>
            </a:r>
            <a:endParaRPr lang="en-US" sz="1800" dirty="0"/>
          </a:p>
        </p:txBody>
      </p:sp>
      <p:sp>
        <p:nvSpPr>
          <p:cNvPr id="5" name="Text 3"/>
          <p:cNvSpPr txBox="1"/>
          <p:nvPr/>
        </p:nvSpPr>
        <p:spPr>
          <a:xfrm>
            <a:off x="640080" y="5623560"/>
            <a:ext cx="2743200" cy="228600"/>
          </a:xfrm>
          <a:prstGeom prst="rect">
            <a:avLst/>
          </a:prstGeom>
          <a:noFill/>
          <a:ln/>
        </p:spPr>
        <p:txBody>
          <a:bodyPr wrap="square" lIns="0" tIns="0" rIns="0" bIns="0" rtlCol="0" anchor="t"/>
          <a:lstStyle/>
          <a:p>
            <a:pPr indent="0" marL="0">
              <a:buNone/>
            </a:pPr>
            <a:r>
              <a:rPr lang="en-US" sz="1000" b="1" spc="300" kern="0" dirty="0">
                <a:solidFill>
                  <a:srgbClr val="3CC3F0"/>
                </a:solidFill>
              </a:rPr>
              <a:t>PRESENTED BY</a:t>
            </a:r>
            <a:endParaRPr lang="en-US" sz="1000" dirty="0"/>
          </a:p>
        </p:txBody>
      </p:sp>
      <p:sp>
        <p:nvSpPr>
          <p:cNvPr id="6" name="Text 4"/>
          <p:cNvSpPr txBox="1"/>
          <p:nvPr/>
        </p:nvSpPr>
        <p:spPr>
          <a:xfrm>
            <a:off x="640080" y="5870448"/>
            <a:ext cx="3657600" cy="320040"/>
          </a:xfrm>
          <a:prstGeom prst="rect">
            <a:avLst/>
          </a:prstGeom>
          <a:noFill/>
          <a:ln/>
        </p:spPr>
        <p:txBody>
          <a:bodyPr wrap="square" lIns="0" tIns="0" rIns="0" bIns="0" rtlCol="0" anchor="t"/>
          <a:lstStyle/>
          <a:p>
            <a:pPr indent="0" marL="0">
              <a:buNone/>
            </a:pPr>
            <a:r>
              <a:rPr lang="en-US" sz="1600" b="1" dirty="0">
                <a:solidFill>
                  <a:srgbClr val="FFFFFF"/>
                </a:solidFill>
              </a:rPr>
              <a:t>Sujit Gorakh Raut</a:t>
            </a:r>
            <a:endParaRPr lang="en-US" sz="1600" dirty="0"/>
          </a:p>
        </p:txBody>
      </p:sp>
      <p:sp>
        <p:nvSpPr>
          <p:cNvPr id="7" name="Shape 5"/>
          <p:cNvSpPr/>
          <p:nvPr/>
        </p:nvSpPr>
        <p:spPr>
          <a:xfrm>
            <a:off x="7178040" y="1737360"/>
            <a:ext cx="3931920" cy="3931920"/>
          </a:xfrm>
          <a:prstGeom prst="ellipse">
            <a:avLst/>
          </a:prstGeom>
          <a:ln w="12700">
            <a:solidFill>
              <a:srgbClr val="3CC3F0">
                <a:alpha val="55000"/>
              </a:srgbClr>
            </a:solidFill>
            <a:prstDash val="dash"/>
          </a:ln>
        </p:spPr>
      </p:sp>
      <p:sp>
        <p:nvSpPr>
          <p:cNvPr id="8" name="Shape 6"/>
          <p:cNvSpPr/>
          <p:nvPr/>
        </p:nvSpPr>
        <p:spPr>
          <a:xfrm>
            <a:off x="6766560" y="1325880"/>
            <a:ext cx="4754880" cy="4754880"/>
          </a:xfrm>
          <a:prstGeom prst="ellipse">
            <a:avLst/>
          </a:prstGeom>
          <a:ln w="9525">
            <a:solidFill>
              <a:srgbClr val="FFFFFF">
                <a:alpha val="18000"/>
              </a:srgbClr>
            </a:solidFill>
            <a:prstDash val="solid"/>
          </a:ln>
        </p:spPr>
      </p:sp>
      <p:sp>
        <p:nvSpPr>
          <p:cNvPr id="9" name="Shape 7"/>
          <p:cNvSpPr/>
          <p:nvPr/>
        </p:nvSpPr>
        <p:spPr>
          <a:xfrm flipV="1">
            <a:off x="9144000" y="1737360"/>
            <a:ext cx="0" cy="1965960"/>
          </a:xfrm>
          <a:prstGeom prst="line">
            <a:avLst/>
          </a:prstGeom>
          <a:noFill/>
          <a:ln w="15875">
            <a:solidFill>
              <a:srgbClr val="3CC3F0">
                <a:alpha val="60000"/>
              </a:srgbClr>
            </a:solidFill>
            <a:prstDash val="solid"/>
          </a:ln>
        </p:spPr>
      </p:sp>
      <p:sp>
        <p:nvSpPr>
          <p:cNvPr id="10" name="Shape 8"/>
          <p:cNvSpPr/>
          <p:nvPr/>
        </p:nvSpPr>
        <p:spPr>
          <a:xfrm flipV="1">
            <a:off x="9144000" y="2720340"/>
            <a:ext cx="1702571" cy="982980"/>
          </a:xfrm>
          <a:prstGeom prst="line">
            <a:avLst/>
          </a:prstGeom>
          <a:noFill/>
          <a:ln w="15875">
            <a:solidFill>
              <a:srgbClr val="3CC3F0">
                <a:alpha val="60000"/>
              </a:srgbClr>
            </a:solidFill>
            <a:prstDash val="solid"/>
          </a:ln>
        </p:spPr>
      </p:sp>
      <p:sp>
        <p:nvSpPr>
          <p:cNvPr id="11" name="Shape 9"/>
          <p:cNvSpPr/>
          <p:nvPr/>
        </p:nvSpPr>
        <p:spPr>
          <a:xfrm>
            <a:off x="9144000" y="3703320"/>
            <a:ext cx="1702571" cy="982980"/>
          </a:xfrm>
          <a:prstGeom prst="line">
            <a:avLst/>
          </a:prstGeom>
          <a:noFill/>
          <a:ln w="15875">
            <a:solidFill>
              <a:srgbClr val="3CC3F0">
                <a:alpha val="60000"/>
              </a:srgbClr>
            </a:solidFill>
            <a:prstDash val="solid"/>
          </a:ln>
        </p:spPr>
      </p:sp>
      <p:sp>
        <p:nvSpPr>
          <p:cNvPr id="12" name="Shape 10"/>
          <p:cNvSpPr/>
          <p:nvPr/>
        </p:nvSpPr>
        <p:spPr>
          <a:xfrm>
            <a:off x="9144000" y="3703320"/>
            <a:ext cx="0" cy="1965960"/>
          </a:xfrm>
          <a:prstGeom prst="line">
            <a:avLst/>
          </a:prstGeom>
          <a:noFill/>
          <a:ln w="15875">
            <a:solidFill>
              <a:srgbClr val="3CC3F0">
                <a:alpha val="60000"/>
              </a:srgbClr>
            </a:solidFill>
            <a:prstDash val="solid"/>
          </a:ln>
        </p:spPr>
      </p:sp>
      <p:sp>
        <p:nvSpPr>
          <p:cNvPr id="13" name="Shape 11"/>
          <p:cNvSpPr/>
          <p:nvPr/>
        </p:nvSpPr>
        <p:spPr>
          <a:xfrm flipV="1">
            <a:off x="7441429" y="3703320"/>
            <a:ext cx="1702571" cy="982980"/>
          </a:xfrm>
          <a:prstGeom prst="line">
            <a:avLst/>
          </a:prstGeom>
          <a:noFill/>
          <a:ln w="15875">
            <a:solidFill>
              <a:srgbClr val="3CC3F0">
                <a:alpha val="60000"/>
              </a:srgbClr>
            </a:solidFill>
            <a:prstDash val="solid"/>
          </a:ln>
        </p:spPr>
      </p:sp>
      <p:sp>
        <p:nvSpPr>
          <p:cNvPr id="14" name="Shape 12"/>
          <p:cNvSpPr/>
          <p:nvPr/>
        </p:nvSpPr>
        <p:spPr>
          <a:xfrm>
            <a:off x="7441429" y="2720340"/>
            <a:ext cx="1702571" cy="982980"/>
          </a:xfrm>
          <a:prstGeom prst="line">
            <a:avLst/>
          </a:prstGeom>
          <a:noFill/>
          <a:ln w="15875">
            <a:solidFill>
              <a:srgbClr val="3CC3F0">
                <a:alpha val="60000"/>
              </a:srgbClr>
            </a:solidFill>
            <a:prstDash val="solid"/>
          </a:ln>
        </p:spPr>
      </p:sp>
      <p:sp>
        <p:nvSpPr>
          <p:cNvPr id="15" name="Shape 13"/>
          <p:cNvSpPr/>
          <p:nvPr/>
        </p:nvSpPr>
        <p:spPr>
          <a:xfrm>
            <a:off x="8412480" y="2971800"/>
            <a:ext cx="1463040" cy="1463040"/>
          </a:xfrm>
          <a:prstGeom prst="ellipse">
            <a:avLst/>
          </a:prstGeom>
          <a:solidFill>
            <a:srgbClr val="1547C8"/>
          </a:solidFill>
          <a:ln w="25400">
            <a:solidFill>
              <a:srgbClr val="3CC3F0"/>
            </a:solidFill>
            <a:prstDash val="solid"/>
          </a:ln>
        </p:spPr>
      </p:sp>
      <p:sp>
        <p:nvSpPr>
          <p:cNvPr id="16" name="Text 14"/>
          <p:cNvSpPr txBox="1"/>
          <p:nvPr/>
        </p:nvSpPr>
        <p:spPr>
          <a:xfrm>
            <a:off x="8412480" y="2971800"/>
            <a:ext cx="1463040" cy="1463040"/>
          </a:xfrm>
          <a:prstGeom prst="rect">
            <a:avLst/>
          </a:prstGeom>
          <a:noFill/>
          <a:ln/>
        </p:spPr>
        <p:txBody>
          <a:bodyPr wrap="square" lIns="0" tIns="0" rIns="0" bIns="0" rtlCol="0" anchor="ctr"/>
          <a:lstStyle/>
          <a:p>
            <a:pPr algn="ctr" indent="0" marL="0">
              <a:buNone/>
            </a:pPr>
            <a:r>
              <a:rPr lang="en-US" sz="1300" b="1" dirty="0">
                <a:solidFill>
                  <a:srgbClr val="FFFFFF"/>
                </a:solidFill>
              </a:rPr>
              <a:t>CODE</a:t>
            </a:r>
            <a:endParaRPr lang="en-US" sz="1300" dirty="0"/>
          </a:p>
          <a:p>
            <a:pPr algn="ctr" indent="0" marL="0">
              <a:buNone/>
            </a:pPr>
            <a:r>
              <a:rPr lang="en-US" sz="1300" b="1" dirty="0">
                <a:solidFill>
                  <a:srgbClr val="FFFFFF"/>
                </a:solidFill>
              </a:rPr>
              <a:t>decides facts</a:t>
            </a:r>
            <a:endParaRPr lang="en-US" sz="1300" dirty="0"/>
          </a:p>
        </p:txBody>
      </p:sp>
      <p:sp>
        <p:nvSpPr>
          <p:cNvPr id="17" name="Shape 15"/>
          <p:cNvSpPr/>
          <p:nvPr/>
        </p:nvSpPr>
        <p:spPr>
          <a:xfrm>
            <a:off x="8759952" y="1353312"/>
            <a:ext cx="768096" cy="768096"/>
          </a:xfrm>
          <a:prstGeom prst="ellipse">
            <a:avLst/>
          </a:prstGeom>
          <a:solidFill>
            <a:srgbClr val="12A36B"/>
          </a:solidFill>
          <a:ln w="6350">
            <a:solidFill>
              <a:srgbClr val="12A36B"/>
            </a:solidFill>
            <a:prstDash val="solid"/>
          </a:ln>
        </p:spPr>
      </p:sp>
      <p:pic>
        <p:nvPicPr>
          <p:cNvPr id="18" name="Image 0" descr="FaProjectDiagram">    </p:cNvPr>
          <p:cNvPicPr>
            <a:picLocks noChangeAspect="1"/>
          </p:cNvPicPr>
          <p:nvPr/>
        </p:nvPicPr>
        <p:blipFill>
          <a:blip r:embed="rId1"/>
          <a:stretch>
            <a:fillRect/>
          </a:stretch>
        </p:blipFill>
        <p:spPr>
          <a:xfrm>
            <a:off x="8967338" y="1560698"/>
            <a:ext cx="353324" cy="353324"/>
          </a:xfrm>
          <a:prstGeom prst="rect">
            <a:avLst/>
          </a:prstGeom>
        </p:spPr>
      </p:pic>
      <p:sp>
        <p:nvSpPr>
          <p:cNvPr id="19" name="Shape 16"/>
          <p:cNvSpPr/>
          <p:nvPr/>
        </p:nvSpPr>
        <p:spPr>
          <a:xfrm>
            <a:off x="8759952" y="1353312"/>
            <a:ext cx="768096" cy="768096"/>
          </a:xfrm>
          <a:prstGeom prst="ellipse">
            <a:avLst/>
          </a:prstGeom>
          <a:ln w="19050">
            <a:solidFill>
              <a:srgbClr val="12A36B"/>
            </a:solidFill>
            <a:prstDash val="solid"/>
          </a:ln>
        </p:spPr>
      </p:sp>
      <p:sp>
        <p:nvSpPr>
          <p:cNvPr id="20" name="Text 17"/>
          <p:cNvSpPr txBox="1"/>
          <p:nvPr/>
        </p:nvSpPr>
        <p:spPr>
          <a:xfrm>
            <a:off x="8321040" y="868680"/>
            <a:ext cx="1645920" cy="457200"/>
          </a:xfrm>
          <a:prstGeom prst="rect">
            <a:avLst/>
          </a:prstGeom>
          <a:noFill/>
          <a:ln/>
        </p:spPr>
        <p:txBody>
          <a:bodyPr wrap="square" lIns="0" tIns="0" rIns="0" bIns="0" rtlCol="0" anchor="b"/>
          <a:lstStyle/>
          <a:p>
            <a:pPr algn="ctr" indent="0" marL="0">
              <a:buNone/>
            </a:pPr>
            <a:r>
              <a:rPr lang="en-US" sz="1100" b="1" dirty="0">
                <a:solidFill>
                  <a:srgbClr val="CFE0FF"/>
                </a:solidFill>
              </a:rPr>
              <a:t>Orchestrator</a:t>
            </a:r>
            <a:endParaRPr lang="en-US" sz="1100" dirty="0"/>
          </a:p>
        </p:txBody>
      </p:sp>
      <p:sp>
        <p:nvSpPr>
          <p:cNvPr id="21" name="Shape 18"/>
          <p:cNvSpPr/>
          <p:nvPr/>
        </p:nvSpPr>
        <p:spPr>
          <a:xfrm>
            <a:off x="10462523" y="2336292"/>
            <a:ext cx="768096" cy="768096"/>
          </a:xfrm>
          <a:prstGeom prst="ellipse">
            <a:avLst/>
          </a:prstGeom>
          <a:solidFill>
            <a:srgbClr val="0A1F5C"/>
          </a:solidFill>
          <a:ln w="6350">
            <a:solidFill>
              <a:srgbClr val="0A1F5C"/>
            </a:solidFill>
            <a:prstDash val="solid"/>
          </a:ln>
        </p:spPr>
      </p:sp>
      <p:pic>
        <p:nvPicPr>
          <p:cNvPr id="22" name="Image 1" descr="FaChartLine">    </p:cNvPr>
          <p:cNvPicPr>
            <a:picLocks noChangeAspect="1"/>
          </p:cNvPicPr>
          <p:nvPr/>
        </p:nvPicPr>
        <p:blipFill>
          <a:blip r:embed="rId2"/>
          <a:stretch>
            <a:fillRect/>
          </a:stretch>
        </p:blipFill>
        <p:spPr>
          <a:xfrm>
            <a:off x="10669909" y="2543678"/>
            <a:ext cx="353324" cy="353324"/>
          </a:xfrm>
          <a:prstGeom prst="rect">
            <a:avLst/>
          </a:prstGeom>
        </p:spPr>
      </p:pic>
      <p:sp>
        <p:nvSpPr>
          <p:cNvPr id="23" name="Shape 19"/>
          <p:cNvSpPr/>
          <p:nvPr/>
        </p:nvSpPr>
        <p:spPr>
          <a:xfrm>
            <a:off x="10462523" y="2336292"/>
            <a:ext cx="768096" cy="768096"/>
          </a:xfrm>
          <a:prstGeom prst="ellipse">
            <a:avLst/>
          </a:prstGeom>
          <a:ln w="19050">
            <a:solidFill>
              <a:srgbClr val="3CC3F0"/>
            </a:solidFill>
            <a:prstDash val="solid"/>
          </a:ln>
        </p:spPr>
      </p:sp>
      <p:sp>
        <p:nvSpPr>
          <p:cNvPr id="24" name="Text 20"/>
          <p:cNvSpPr txBox="1"/>
          <p:nvPr/>
        </p:nvSpPr>
        <p:spPr>
          <a:xfrm>
            <a:off x="10023611" y="3177540"/>
            <a:ext cx="1645920" cy="457200"/>
          </a:xfrm>
          <a:prstGeom prst="rect">
            <a:avLst/>
          </a:prstGeom>
          <a:noFill/>
          <a:ln/>
        </p:spPr>
        <p:txBody>
          <a:bodyPr wrap="square" lIns="0" tIns="0" rIns="0" bIns="0" rtlCol="0" anchor="t"/>
          <a:lstStyle/>
          <a:p>
            <a:pPr algn="ctr" indent="0" marL="0">
              <a:buNone/>
            </a:pPr>
            <a:r>
              <a:rPr lang="en-US" sz="1100" b="1" dirty="0">
                <a:solidFill>
                  <a:srgbClr val="CFE0FF"/>
                </a:solidFill>
              </a:rPr>
              <a:t>Reading</a:t>
            </a:r>
            <a:endParaRPr lang="en-US" sz="1100" dirty="0"/>
          </a:p>
          <a:p>
            <a:pPr algn="ctr" indent="0" marL="0">
              <a:buNone/>
            </a:pPr>
            <a:r>
              <a:rPr lang="en-US" sz="1100" b="1" dirty="0">
                <a:solidFill>
                  <a:srgbClr val="CFE0FF"/>
                </a:solidFill>
              </a:rPr>
              <a:t>Summary</a:t>
            </a:r>
            <a:endParaRPr lang="en-US" sz="1100" dirty="0"/>
          </a:p>
        </p:txBody>
      </p:sp>
      <p:sp>
        <p:nvSpPr>
          <p:cNvPr id="25" name="Shape 21"/>
          <p:cNvSpPr/>
          <p:nvPr/>
        </p:nvSpPr>
        <p:spPr>
          <a:xfrm>
            <a:off x="10462523" y="4302252"/>
            <a:ext cx="768096" cy="768096"/>
          </a:xfrm>
          <a:prstGeom prst="ellipse">
            <a:avLst/>
          </a:prstGeom>
          <a:solidFill>
            <a:srgbClr val="0A1F5C"/>
          </a:solidFill>
          <a:ln w="6350">
            <a:solidFill>
              <a:srgbClr val="0A1F5C"/>
            </a:solidFill>
            <a:prstDash val="solid"/>
          </a:ln>
        </p:spPr>
      </p:sp>
      <p:pic>
        <p:nvPicPr>
          <p:cNvPr id="26" name="Image 2" descr="FaClipboardList">    </p:cNvPr>
          <p:cNvPicPr>
            <a:picLocks noChangeAspect="1"/>
          </p:cNvPicPr>
          <p:nvPr/>
        </p:nvPicPr>
        <p:blipFill>
          <a:blip r:embed="rId3"/>
          <a:stretch>
            <a:fillRect/>
          </a:stretch>
        </p:blipFill>
        <p:spPr>
          <a:xfrm>
            <a:off x="10669909" y="4509638"/>
            <a:ext cx="353324" cy="353324"/>
          </a:xfrm>
          <a:prstGeom prst="rect">
            <a:avLst/>
          </a:prstGeom>
        </p:spPr>
      </p:pic>
      <p:sp>
        <p:nvSpPr>
          <p:cNvPr id="27" name="Shape 22"/>
          <p:cNvSpPr/>
          <p:nvPr/>
        </p:nvSpPr>
        <p:spPr>
          <a:xfrm>
            <a:off x="10462523" y="4302252"/>
            <a:ext cx="768096" cy="768096"/>
          </a:xfrm>
          <a:prstGeom prst="ellipse">
            <a:avLst/>
          </a:prstGeom>
          <a:ln w="19050">
            <a:solidFill>
              <a:srgbClr val="3CC3F0"/>
            </a:solidFill>
            <a:prstDash val="solid"/>
          </a:ln>
        </p:spPr>
      </p:sp>
      <p:sp>
        <p:nvSpPr>
          <p:cNvPr id="28" name="Text 23"/>
          <p:cNvSpPr txBox="1"/>
          <p:nvPr/>
        </p:nvSpPr>
        <p:spPr>
          <a:xfrm>
            <a:off x="10023611" y="5143500"/>
            <a:ext cx="1645920" cy="457200"/>
          </a:xfrm>
          <a:prstGeom prst="rect">
            <a:avLst/>
          </a:prstGeom>
          <a:noFill/>
          <a:ln/>
        </p:spPr>
        <p:txBody>
          <a:bodyPr wrap="square" lIns="0" tIns="0" rIns="0" bIns="0" rtlCol="0" anchor="t"/>
          <a:lstStyle/>
          <a:p>
            <a:pPr algn="ctr" indent="0" marL="0">
              <a:buNone/>
            </a:pPr>
            <a:r>
              <a:rPr lang="en-US" sz="1100" b="1" dirty="0">
                <a:solidFill>
                  <a:srgbClr val="CFE0FF"/>
                </a:solidFill>
              </a:rPr>
              <a:t>Care Plan</a:t>
            </a:r>
            <a:endParaRPr lang="en-US" sz="1100" dirty="0"/>
          </a:p>
        </p:txBody>
      </p:sp>
      <p:sp>
        <p:nvSpPr>
          <p:cNvPr id="29" name="Shape 24"/>
          <p:cNvSpPr/>
          <p:nvPr/>
        </p:nvSpPr>
        <p:spPr>
          <a:xfrm>
            <a:off x="8759952" y="5285232"/>
            <a:ext cx="768096" cy="768096"/>
          </a:xfrm>
          <a:prstGeom prst="ellipse">
            <a:avLst/>
          </a:prstGeom>
          <a:solidFill>
            <a:srgbClr val="0A1F5C"/>
          </a:solidFill>
          <a:ln w="6350">
            <a:solidFill>
              <a:srgbClr val="0A1F5C"/>
            </a:solidFill>
            <a:prstDash val="solid"/>
          </a:ln>
        </p:spPr>
      </p:sp>
      <p:pic>
        <p:nvPicPr>
          <p:cNvPr id="30" name="Image 3" descr="FaBookMedical">    </p:cNvPr>
          <p:cNvPicPr>
            <a:picLocks noChangeAspect="1"/>
          </p:cNvPicPr>
          <p:nvPr/>
        </p:nvPicPr>
        <p:blipFill>
          <a:blip r:embed="rId4"/>
          <a:stretch>
            <a:fillRect/>
          </a:stretch>
        </p:blipFill>
        <p:spPr>
          <a:xfrm>
            <a:off x="8967338" y="5492618"/>
            <a:ext cx="353324" cy="353324"/>
          </a:xfrm>
          <a:prstGeom prst="rect">
            <a:avLst/>
          </a:prstGeom>
        </p:spPr>
      </p:pic>
      <p:sp>
        <p:nvSpPr>
          <p:cNvPr id="31" name="Shape 25"/>
          <p:cNvSpPr/>
          <p:nvPr/>
        </p:nvSpPr>
        <p:spPr>
          <a:xfrm>
            <a:off x="8759952" y="5285232"/>
            <a:ext cx="768096" cy="768096"/>
          </a:xfrm>
          <a:prstGeom prst="ellipse">
            <a:avLst/>
          </a:prstGeom>
          <a:ln w="19050">
            <a:solidFill>
              <a:srgbClr val="3CC3F0"/>
            </a:solidFill>
            <a:prstDash val="solid"/>
          </a:ln>
        </p:spPr>
      </p:sp>
      <p:sp>
        <p:nvSpPr>
          <p:cNvPr id="32" name="Text 26"/>
          <p:cNvSpPr txBox="1"/>
          <p:nvPr/>
        </p:nvSpPr>
        <p:spPr>
          <a:xfrm>
            <a:off x="8321040" y="6126480"/>
            <a:ext cx="1645920" cy="457200"/>
          </a:xfrm>
          <a:prstGeom prst="rect">
            <a:avLst/>
          </a:prstGeom>
          <a:noFill/>
          <a:ln/>
        </p:spPr>
        <p:txBody>
          <a:bodyPr wrap="square" lIns="0" tIns="0" rIns="0" bIns="0" rtlCol="0" anchor="t"/>
          <a:lstStyle/>
          <a:p>
            <a:pPr algn="ctr" indent="0" marL="0">
              <a:buNone/>
            </a:pPr>
            <a:r>
              <a:rPr lang="en-US" sz="1100" b="1" dirty="0">
                <a:solidFill>
                  <a:srgbClr val="CFE0FF"/>
                </a:solidFill>
              </a:rPr>
              <a:t>Education</a:t>
            </a:r>
            <a:endParaRPr lang="en-US" sz="1100" dirty="0"/>
          </a:p>
          <a:p>
            <a:pPr algn="ctr" indent="0" marL="0">
              <a:buNone/>
            </a:pPr>
            <a:r>
              <a:rPr lang="en-US" sz="1100" b="1" dirty="0">
                <a:solidFill>
                  <a:srgbClr val="CFE0FF"/>
                </a:solidFill>
              </a:rPr>
              <a:t>RAG</a:t>
            </a:r>
            <a:endParaRPr lang="en-US" sz="1100" dirty="0"/>
          </a:p>
        </p:txBody>
      </p:sp>
      <p:sp>
        <p:nvSpPr>
          <p:cNvPr id="33" name="Shape 27"/>
          <p:cNvSpPr/>
          <p:nvPr/>
        </p:nvSpPr>
        <p:spPr>
          <a:xfrm>
            <a:off x="7057381" y="4302252"/>
            <a:ext cx="768096" cy="768096"/>
          </a:xfrm>
          <a:prstGeom prst="ellipse">
            <a:avLst/>
          </a:prstGeom>
          <a:solidFill>
            <a:srgbClr val="0A1F5C"/>
          </a:solidFill>
          <a:ln w="6350">
            <a:solidFill>
              <a:srgbClr val="0A1F5C"/>
            </a:solidFill>
            <a:prstDash val="solid"/>
          </a:ln>
        </p:spPr>
      </p:sp>
      <p:pic>
        <p:nvPicPr>
          <p:cNvPr id="34" name="Image 4" descr="FaBell">    </p:cNvPr>
          <p:cNvPicPr>
            <a:picLocks noChangeAspect="1"/>
          </p:cNvPicPr>
          <p:nvPr/>
        </p:nvPicPr>
        <p:blipFill>
          <a:blip r:embed="rId5"/>
          <a:stretch>
            <a:fillRect/>
          </a:stretch>
        </p:blipFill>
        <p:spPr>
          <a:xfrm>
            <a:off x="7264767" y="4509638"/>
            <a:ext cx="353324" cy="353324"/>
          </a:xfrm>
          <a:prstGeom prst="rect">
            <a:avLst/>
          </a:prstGeom>
        </p:spPr>
      </p:pic>
      <p:sp>
        <p:nvSpPr>
          <p:cNvPr id="35" name="Shape 28"/>
          <p:cNvSpPr/>
          <p:nvPr/>
        </p:nvSpPr>
        <p:spPr>
          <a:xfrm>
            <a:off x="7057381" y="4302252"/>
            <a:ext cx="768096" cy="768096"/>
          </a:xfrm>
          <a:prstGeom prst="ellipse">
            <a:avLst/>
          </a:prstGeom>
          <a:ln w="19050">
            <a:solidFill>
              <a:srgbClr val="3CC3F0"/>
            </a:solidFill>
            <a:prstDash val="solid"/>
          </a:ln>
        </p:spPr>
      </p:sp>
      <p:sp>
        <p:nvSpPr>
          <p:cNvPr id="36" name="Text 29"/>
          <p:cNvSpPr txBox="1"/>
          <p:nvPr/>
        </p:nvSpPr>
        <p:spPr>
          <a:xfrm>
            <a:off x="6618469" y="5143500"/>
            <a:ext cx="1645920" cy="457200"/>
          </a:xfrm>
          <a:prstGeom prst="rect">
            <a:avLst/>
          </a:prstGeom>
          <a:noFill/>
          <a:ln/>
        </p:spPr>
        <p:txBody>
          <a:bodyPr wrap="square" lIns="0" tIns="0" rIns="0" bIns="0" rtlCol="0" anchor="t"/>
          <a:lstStyle/>
          <a:p>
            <a:pPr algn="ctr" indent="0" marL="0">
              <a:buNone/>
            </a:pPr>
            <a:r>
              <a:rPr lang="en-US" sz="1100" b="1" dirty="0">
                <a:solidFill>
                  <a:srgbClr val="CFE0FF"/>
                </a:solidFill>
              </a:rPr>
              <a:t>Engagement</a:t>
            </a:r>
            <a:endParaRPr lang="en-US" sz="1100" dirty="0"/>
          </a:p>
        </p:txBody>
      </p:sp>
      <p:sp>
        <p:nvSpPr>
          <p:cNvPr id="37" name="Shape 30"/>
          <p:cNvSpPr/>
          <p:nvPr/>
        </p:nvSpPr>
        <p:spPr>
          <a:xfrm>
            <a:off x="7057381" y="2336292"/>
            <a:ext cx="768096" cy="768096"/>
          </a:xfrm>
          <a:prstGeom prst="ellipse">
            <a:avLst/>
          </a:prstGeom>
          <a:solidFill>
            <a:srgbClr val="0A1F5C"/>
          </a:solidFill>
          <a:ln w="6350">
            <a:solidFill>
              <a:srgbClr val="0A1F5C"/>
            </a:solidFill>
            <a:prstDash val="solid"/>
          </a:ln>
        </p:spPr>
      </p:sp>
      <p:pic>
        <p:nvPicPr>
          <p:cNvPr id="38" name="Image 5" descr="FaExclamationTriangle">    </p:cNvPr>
          <p:cNvPicPr>
            <a:picLocks noChangeAspect="1"/>
          </p:cNvPicPr>
          <p:nvPr/>
        </p:nvPicPr>
        <p:blipFill>
          <a:blip r:embed="rId6"/>
          <a:stretch>
            <a:fillRect/>
          </a:stretch>
        </p:blipFill>
        <p:spPr>
          <a:xfrm>
            <a:off x="7264767" y="2543678"/>
            <a:ext cx="353324" cy="353324"/>
          </a:xfrm>
          <a:prstGeom prst="rect">
            <a:avLst/>
          </a:prstGeom>
        </p:spPr>
      </p:pic>
      <p:sp>
        <p:nvSpPr>
          <p:cNvPr id="39" name="Shape 31"/>
          <p:cNvSpPr/>
          <p:nvPr/>
        </p:nvSpPr>
        <p:spPr>
          <a:xfrm>
            <a:off x="7057381" y="2336292"/>
            <a:ext cx="768096" cy="768096"/>
          </a:xfrm>
          <a:prstGeom prst="ellipse">
            <a:avLst/>
          </a:prstGeom>
          <a:ln w="19050">
            <a:solidFill>
              <a:srgbClr val="3CC3F0"/>
            </a:solidFill>
            <a:prstDash val="solid"/>
          </a:ln>
        </p:spPr>
      </p:sp>
      <p:sp>
        <p:nvSpPr>
          <p:cNvPr id="40" name="Text 32"/>
          <p:cNvSpPr txBox="1"/>
          <p:nvPr/>
        </p:nvSpPr>
        <p:spPr>
          <a:xfrm>
            <a:off x="6618469" y="3177540"/>
            <a:ext cx="1645920" cy="457200"/>
          </a:xfrm>
          <a:prstGeom prst="rect">
            <a:avLst/>
          </a:prstGeom>
          <a:noFill/>
          <a:ln/>
        </p:spPr>
        <p:txBody>
          <a:bodyPr wrap="square" lIns="0" tIns="0" rIns="0" bIns="0" rtlCol="0" anchor="t"/>
          <a:lstStyle/>
          <a:p>
            <a:pPr algn="ctr" indent="0" marL="0">
              <a:buNone/>
            </a:pPr>
            <a:r>
              <a:rPr lang="en-US" sz="1100" b="1" dirty="0">
                <a:solidFill>
                  <a:srgbClr val="CFE0FF"/>
                </a:solidFill>
              </a:rPr>
              <a:t>Escalation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640080" y="438912"/>
            <a:ext cx="8229600" cy="274320"/>
          </a:xfrm>
          <a:prstGeom prst="rect">
            <a:avLst/>
          </a:prstGeom>
          <a:noFill/>
          <a:ln/>
        </p:spPr>
        <p:txBody>
          <a:bodyPr wrap="square" lIns="0" tIns="0" rIns="0" bIns="0" rtlCol="0" anchor="t"/>
          <a:lstStyle/>
          <a:p>
            <a:pPr indent="0" marL="0">
              <a:buNone/>
            </a:pPr>
            <a:r>
              <a:rPr lang="en-US" sz="1200" b="1" spc="400" kern="0" dirty="0">
                <a:solidFill>
                  <a:srgbClr val="3CC3F0"/>
                </a:solidFill>
              </a:rPr>
              <a:t>01  ·  THE PROBLEM</a:t>
            </a:r>
            <a:endParaRPr lang="en-US" sz="1200" dirty="0"/>
          </a:p>
        </p:txBody>
      </p:sp>
      <p:sp>
        <p:nvSpPr>
          <p:cNvPr id="3" name="Text 2"/>
          <p:cNvSpPr/>
          <p:nvPr>
            <p:ph idx="104" type="title" hasCustomPrompt="1"/>
          </p:nvPr>
        </p:nvSpPr>
        <p:spPr>
          <a:xfrm>
            <a:off x="640080" y="749808"/>
            <a:ext cx="10908792" cy="777240"/>
          </a:xfrm>
          <a:prstGeom prst="rect">
            <a:avLst/>
          </a:prstGeom>
          <a:noFill/>
          <a:ln/>
        </p:spPr>
        <p:txBody>
          <a:bodyPr wrap="square" lIns="0" tIns="0" rIns="0" bIns="0" rtlCol="0" anchor="t"/>
          <a:lstStyle/>
          <a:p>
            <a:pPr algn="l" indent="0" marL="0">
              <a:buNone/>
            </a:pPr>
            <a:r>
              <a:rPr lang="en-US" sz="3200" b="1" dirty="0">
                <a:solidFill>
                  <a:srgbClr val="FFFFFF"/>
                </a:solidFill>
              </a:rPr>
              <a:t>Two roads fail. We built a third</a:t>
            </a:r>
            <a:endParaRPr lang="en-US" sz="3200" dirty="0"/>
          </a:p>
        </p:txBody>
      </p:sp>
      <p:sp>
        <p:nvSpPr>
          <p:cNvPr id="4" name="Shape 2"/>
          <p:cNvSpPr/>
          <p:nvPr/>
        </p:nvSpPr>
        <p:spPr>
          <a:xfrm>
            <a:off x="640080" y="1783080"/>
            <a:ext cx="3474720" cy="3977640"/>
          </a:xfrm>
          <a:prstGeom prst="roundRect">
            <a:avLst>
              <a:gd name="adj" fmla="val 3158"/>
            </a:avLst>
          </a:prstGeom>
          <a:solidFill>
            <a:srgbClr val="FFFFFF">
              <a:alpha val="10000"/>
            </a:srgbClr>
          </a:solidFill>
          <a:ln w="9525">
            <a:solidFill>
              <a:srgbClr val="FFFFFF">
                <a:alpha val="25000"/>
              </a:srgbClr>
            </a:solidFill>
            <a:prstDash val="solid"/>
          </a:ln>
        </p:spPr>
      </p:sp>
      <p:sp>
        <p:nvSpPr>
          <p:cNvPr id="5" name="Shape 3"/>
          <p:cNvSpPr/>
          <p:nvPr/>
        </p:nvSpPr>
        <p:spPr>
          <a:xfrm>
            <a:off x="914400" y="2057400"/>
            <a:ext cx="914400" cy="274320"/>
          </a:xfrm>
          <a:prstGeom prst="roundRect">
            <a:avLst>
              <a:gd name="adj" fmla="val 50000"/>
            </a:avLst>
          </a:prstGeom>
          <a:solidFill>
            <a:srgbClr val="5B6FA8"/>
          </a:solidFill>
          <a:ln w="6350">
            <a:solidFill>
              <a:srgbClr val="5B6FA8"/>
            </a:solidFill>
            <a:prstDash val="solid"/>
          </a:ln>
        </p:spPr>
      </p:sp>
      <p:sp>
        <p:nvSpPr>
          <p:cNvPr id="6" name="Text 4"/>
          <p:cNvSpPr txBox="1"/>
          <p:nvPr/>
        </p:nvSpPr>
        <p:spPr>
          <a:xfrm>
            <a:off x="914400" y="2057400"/>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rPr>
              <a:t>TODAY</a:t>
            </a:r>
            <a:endParaRPr lang="en-US" sz="1000" dirty="0"/>
          </a:p>
        </p:txBody>
      </p:sp>
      <p:sp>
        <p:nvSpPr>
          <p:cNvPr id="7" name="Shape 5"/>
          <p:cNvSpPr/>
          <p:nvPr/>
        </p:nvSpPr>
        <p:spPr>
          <a:xfrm>
            <a:off x="914400" y="2514600"/>
            <a:ext cx="640080" cy="640080"/>
          </a:xfrm>
          <a:prstGeom prst="ellipse">
            <a:avLst/>
          </a:prstGeom>
          <a:solidFill>
            <a:srgbClr val="0A1F5C"/>
          </a:solidFill>
          <a:ln w="6350">
            <a:solidFill>
              <a:srgbClr val="0A1F5C"/>
            </a:solidFill>
            <a:prstDash val="solid"/>
          </a:ln>
        </p:spPr>
      </p:sp>
      <p:pic>
        <p:nvPicPr>
          <p:cNvPr id="8" name="Image 0" descr="FaUsers">    </p:cNvPr>
          <p:cNvPicPr>
            <a:picLocks noChangeAspect="1"/>
          </p:cNvPicPr>
          <p:nvPr/>
        </p:nvPicPr>
        <p:blipFill>
          <a:blip r:embed="rId1"/>
          <a:stretch>
            <a:fillRect/>
          </a:stretch>
        </p:blipFill>
        <p:spPr>
          <a:xfrm>
            <a:off x="1087222" y="2687422"/>
            <a:ext cx="294437" cy="294437"/>
          </a:xfrm>
          <a:prstGeom prst="rect">
            <a:avLst/>
          </a:prstGeom>
        </p:spPr>
      </p:pic>
      <p:sp>
        <p:nvSpPr>
          <p:cNvPr id="9" name="Text 6"/>
          <p:cNvSpPr txBox="1"/>
          <p:nvPr/>
        </p:nvSpPr>
        <p:spPr>
          <a:xfrm>
            <a:off x="1691640" y="2514600"/>
            <a:ext cx="2194560" cy="640080"/>
          </a:xfrm>
          <a:prstGeom prst="rect">
            <a:avLst/>
          </a:prstGeom>
          <a:noFill/>
          <a:ln/>
        </p:spPr>
        <p:txBody>
          <a:bodyPr wrap="square" lIns="0" tIns="0" rIns="0" bIns="0" rtlCol="0" anchor="ctr"/>
          <a:lstStyle/>
          <a:p>
            <a:pPr indent="0" marL="0">
              <a:buNone/>
            </a:pPr>
            <a:r>
              <a:rPr lang="en-US" sz="1800" b="1" dirty="0">
                <a:solidFill>
                  <a:srgbClr val="FFFFFF"/>
                </a:solidFill>
              </a:rPr>
              <a:t>Manual follow-up</a:t>
            </a:r>
            <a:endParaRPr lang="en-US" sz="1800" dirty="0"/>
          </a:p>
        </p:txBody>
      </p:sp>
      <p:pic>
        <p:nvPicPr>
          <p:cNvPr id="10" name="Image 1" descr="marker">    </p:cNvPr>
          <p:cNvPicPr>
            <a:picLocks noChangeAspect="1"/>
          </p:cNvPicPr>
          <p:nvPr/>
        </p:nvPicPr>
        <p:blipFill>
          <a:blip r:embed="rId2"/>
          <a:stretch>
            <a:fillRect/>
          </a:stretch>
        </p:blipFill>
        <p:spPr>
          <a:xfrm>
            <a:off x="914400" y="3511296"/>
            <a:ext cx="256032" cy="256032"/>
          </a:xfrm>
          <a:prstGeom prst="rect">
            <a:avLst/>
          </a:prstGeom>
        </p:spPr>
      </p:pic>
      <p:sp>
        <p:nvSpPr>
          <p:cNvPr id="11" name="Text 7"/>
          <p:cNvSpPr txBox="1"/>
          <p:nvPr/>
        </p:nvSpPr>
        <p:spPr>
          <a:xfrm>
            <a:off x="1325880" y="3474720"/>
            <a:ext cx="2514600" cy="640080"/>
          </a:xfrm>
          <a:prstGeom prst="rect">
            <a:avLst/>
          </a:prstGeom>
          <a:noFill/>
          <a:ln/>
        </p:spPr>
        <p:txBody>
          <a:bodyPr wrap="square" lIns="0" tIns="0" rIns="0" bIns="0" rtlCol="0" anchor="t"/>
          <a:lstStyle/>
          <a:p>
            <a:pPr indent="0" marL="0">
              <a:buNone/>
            </a:pPr>
            <a:r>
              <a:rPr lang="en-US" sz="1400" dirty="0">
                <a:solidFill>
                  <a:srgbClr val="CFE0FF"/>
                </a:solidFill>
              </a:rPr>
              <a:t>The same questions answered all day</a:t>
            </a:r>
            <a:endParaRPr lang="en-US" sz="1400" dirty="0"/>
          </a:p>
        </p:txBody>
      </p:sp>
      <p:pic>
        <p:nvPicPr>
          <p:cNvPr id="12" name="Image 2" descr="marker">    </p:cNvPr>
          <p:cNvPicPr>
            <a:picLocks noChangeAspect="1"/>
          </p:cNvPicPr>
          <p:nvPr/>
        </p:nvPicPr>
        <p:blipFill>
          <a:blip r:embed="rId3"/>
          <a:stretch>
            <a:fillRect/>
          </a:stretch>
        </p:blipFill>
        <p:spPr>
          <a:xfrm>
            <a:off x="914400" y="4261104"/>
            <a:ext cx="256032" cy="256032"/>
          </a:xfrm>
          <a:prstGeom prst="rect">
            <a:avLst/>
          </a:prstGeom>
        </p:spPr>
      </p:pic>
      <p:sp>
        <p:nvSpPr>
          <p:cNvPr id="13" name="Text 8"/>
          <p:cNvSpPr txBox="1"/>
          <p:nvPr/>
        </p:nvSpPr>
        <p:spPr>
          <a:xfrm>
            <a:off x="1325880" y="4224528"/>
            <a:ext cx="2514600" cy="640080"/>
          </a:xfrm>
          <a:prstGeom prst="rect">
            <a:avLst/>
          </a:prstGeom>
          <a:noFill/>
          <a:ln/>
        </p:spPr>
        <p:txBody>
          <a:bodyPr wrap="square" lIns="0" tIns="0" rIns="0" bIns="0" rtlCol="0" anchor="t"/>
          <a:lstStyle/>
          <a:p>
            <a:pPr indent="0" marL="0">
              <a:buNone/>
            </a:pPr>
            <a:r>
              <a:rPr lang="en-US" sz="1400" dirty="0">
                <a:solidFill>
                  <a:srgbClr val="CFE0FF"/>
                </a:solidFill>
              </a:rPr>
              <a:t>Missed readings and forgotten tasks</a:t>
            </a:r>
            <a:endParaRPr lang="en-US" sz="1400" dirty="0"/>
          </a:p>
        </p:txBody>
      </p:sp>
      <p:pic>
        <p:nvPicPr>
          <p:cNvPr id="14" name="Image 3" descr="marker">    </p:cNvPr>
          <p:cNvPicPr>
            <a:picLocks noChangeAspect="1"/>
          </p:cNvPicPr>
          <p:nvPr/>
        </p:nvPicPr>
        <p:blipFill>
          <a:blip r:embed="rId4"/>
          <a:stretch>
            <a:fillRect/>
          </a:stretch>
        </p:blipFill>
        <p:spPr>
          <a:xfrm>
            <a:off x="914400" y="5010912"/>
            <a:ext cx="256032" cy="256032"/>
          </a:xfrm>
          <a:prstGeom prst="rect">
            <a:avLst/>
          </a:prstGeom>
        </p:spPr>
      </p:pic>
      <p:sp>
        <p:nvSpPr>
          <p:cNvPr id="15" name="Text 9"/>
          <p:cNvSpPr txBox="1"/>
          <p:nvPr/>
        </p:nvSpPr>
        <p:spPr>
          <a:xfrm>
            <a:off x="1325880" y="4974336"/>
            <a:ext cx="2514600" cy="640080"/>
          </a:xfrm>
          <a:prstGeom prst="rect">
            <a:avLst/>
          </a:prstGeom>
          <a:noFill/>
          <a:ln/>
        </p:spPr>
        <p:txBody>
          <a:bodyPr wrap="square" lIns="0" tIns="0" rIns="0" bIns="0" rtlCol="0" anchor="t"/>
          <a:lstStyle/>
          <a:p>
            <a:pPr indent="0" marL="0">
              <a:buNone/>
            </a:pPr>
            <a:r>
              <a:rPr lang="en-US" sz="1400" dirty="0">
                <a:solidFill>
                  <a:srgbClr val="CFE0FF"/>
                </a:solidFill>
              </a:rPr>
              <a:t>Messy hand-offs between teams</a:t>
            </a:r>
            <a:endParaRPr lang="en-US" sz="1400" dirty="0"/>
          </a:p>
        </p:txBody>
      </p:sp>
      <p:sp>
        <p:nvSpPr>
          <p:cNvPr id="16" name="Shape 10"/>
          <p:cNvSpPr/>
          <p:nvPr/>
        </p:nvSpPr>
        <p:spPr>
          <a:xfrm>
            <a:off x="4357116" y="1783080"/>
            <a:ext cx="3474720" cy="3977640"/>
          </a:xfrm>
          <a:prstGeom prst="roundRect">
            <a:avLst>
              <a:gd name="adj" fmla="val 3158"/>
            </a:avLst>
          </a:prstGeom>
          <a:solidFill>
            <a:srgbClr val="FFFFFF">
              <a:alpha val="10000"/>
            </a:srgbClr>
          </a:solidFill>
          <a:ln w="9525">
            <a:solidFill>
              <a:srgbClr val="FFFFFF">
                <a:alpha val="25000"/>
              </a:srgbClr>
            </a:solidFill>
            <a:prstDash val="solid"/>
          </a:ln>
        </p:spPr>
      </p:sp>
      <p:sp>
        <p:nvSpPr>
          <p:cNvPr id="17" name="Shape 11"/>
          <p:cNvSpPr/>
          <p:nvPr/>
        </p:nvSpPr>
        <p:spPr>
          <a:xfrm>
            <a:off x="4631436" y="2057400"/>
            <a:ext cx="914400" cy="274320"/>
          </a:xfrm>
          <a:prstGeom prst="roundRect">
            <a:avLst>
              <a:gd name="adj" fmla="val 50000"/>
            </a:avLst>
          </a:prstGeom>
          <a:solidFill>
            <a:srgbClr val="E5484D"/>
          </a:solidFill>
          <a:ln w="6350">
            <a:solidFill>
              <a:srgbClr val="E5484D"/>
            </a:solidFill>
            <a:prstDash val="solid"/>
          </a:ln>
        </p:spPr>
      </p:sp>
      <p:sp>
        <p:nvSpPr>
          <p:cNvPr id="18" name="Text 12"/>
          <p:cNvSpPr txBox="1"/>
          <p:nvPr/>
        </p:nvSpPr>
        <p:spPr>
          <a:xfrm>
            <a:off x="4631436" y="2057400"/>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rPr>
              <a:t>RISKY</a:t>
            </a:r>
            <a:endParaRPr lang="en-US" sz="1000" dirty="0"/>
          </a:p>
        </p:txBody>
      </p:sp>
      <p:sp>
        <p:nvSpPr>
          <p:cNvPr id="19" name="Shape 13"/>
          <p:cNvSpPr/>
          <p:nvPr/>
        </p:nvSpPr>
        <p:spPr>
          <a:xfrm>
            <a:off x="4631436" y="2514600"/>
            <a:ext cx="640080" cy="640080"/>
          </a:xfrm>
          <a:prstGeom prst="ellipse">
            <a:avLst/>
          </a:prstGeom>
          <a:solidFill>
            <a:srgbClr val="0A1F5C"/>
          </a:solidFill>
          <a:ln w="6350">
            <a:solidFill>
              <a:srgbClr val="0A1F5C"/>
            </a:solidFill>
            <a:prstDash val="solid"/>
          </a:ln>
        </p:spPr>
      </p:sp>
      <p:pic>
        <p:nvPicPr>
          <p:cNvPr id="20" name="Image 4" descr="FaCommentDots">    </p:cNvPr>
          <p:cNvPicPr>
            <a:picLocks noChangeAspect="1"/>
          </p:cNvPicPr>
          <p:nvPr/>
        </p:nvPicPr>
        <p:blipFill>
          <a:blip r:embed="rId5"/>
          <a:stretch>
            <a:fillRect/>
          </a:stretch>
        </p:blipFill>
        <p:spPr>
          <a:xfrm>
            <a:off x="4804258" y="2687422"/>
            <a:ext cx="294437" cy="294437"/>
          </a:xfrm>
          <a:prstGeom prst="rect">
            <a:avLst/>
          </a:prstGeom>
        </p:spPr>
      </p:pic>
      <p:sp>
        <p:nvSpPr>
          <p:cNvPr id="21" name="Text 14"/>
          <p:cNvSpPr txBox="1"/>
          <p:nvPr/>
        </p:nvSpPr>
        <p:spPr>
          <a:xfrm>
            <a:off x="5408676" y="2514600"/>
            <a:ext cx="2194560" cy="640080"/>
          </a:xfrm>
          <a:prstGeom prst="rect">
            <a:avLst/>
          </a:prstGeom>
          <a:noFill/>
          <a:ln/>
        </p:spPr>
        <p:txBody>
          <a:bodyPr wrap="square" lIns="0" tIns="0" rIns="0" bIns="0" rtlCol="0" anchor="ctr"/>
          <a:lstStyle/>
          <a:p>
            <a:pPr indent="0" marL="0">
              <a:buNone/>
            </a:pPr>
            <a:r>
              <a:rPr lang="en-US" sz="1800" b="1" dirty="0">
                <a:solidFill>
                  <a:srgbClr val="FFFFFF"/>
                </a:solidFill>
              </a:rPr>
              <a:t>Free-form chatbot</a:t>
            </a:r>
            <a:endParaRPr lang="en-US" sz="1800" dirty="0"/>
          </a:p>
        </p:txBody>
      </p:sp>
      <p:pic>
        <p:nvPicPr>
          <p:cNvPr id="22" name="Image 5" descr="marker">    </p:cNvPr>
          <p:cNvPicPr>
            <a:picLocks noChangeAspect="1"/>
          </p:cNvPicPr>
          <p:nvPr/>
        </p:nvPicPr>
        <p:blipFill>
          <a:blip r:embed="rId6"/>
          <a:stretch>
            <a:fillRect/>
          </a:stretch>
        </p:blipFill>
        <p:spPr>
          <a:xfrm>
            <a:off x="4631436" y="3511296"/>
            <a:ext cx="256032" cy="256032"/>
          </a:xfrm>
          <a:prstGeom prst="rect">
            <a:avLst/>
          </a:prstGeom>
        </p:spPr>
      </p:pic>
      <p:sp>
        <p:nvSpPr>
          <p:cNvPr id="23" name="Text 15"/>
          <p:cNvSpPr txBox="1"/>
          <p:nvPr/>
        </p:nvSpPr>
        <p:spPr>
          <a:xfrm>
            <a:off x="5042916" y="3474720"/>
            <a:ext cx="2514600" cy="640080"/>
          </a:xfrm>
          <a:prstGeom prst="rect">
            <a:avLst/>
          </a:prstGeom>
          <a:noFill/>
          <a:ln/>
        </p:spPr>
        <p:txBody>
          <a:bodyPr wrap="square" lIns="0" tIns="0" rIns="0" bIns="0" rtlCol="0" anchor="t"/>
          <a:lstStyle/>
          <a:p>
            <a:pPr indent="0" marL="0">
              <a:buNone/>
            </a:pPr>
            <a:r>
              <a:rPr lang="en-US" sz="1400" dirty="0">
                <a:solidFill>
                  <a:srgbClr val="CFE0FF"/>
                </a:solidFill>
              </a:rPr>
              <a:t>Can invent facts and numbers</a:t>
            </a:r>
            <a:endParaRPr lang="en-US" sz="1400" dirty="0"/>
          </a:p>
        </p:txBody>
      </p:sp>
      <p:pic>
        <p:nvPicPr>
          <p:cNvPr id="24" name="Image 6" descr="marker">    </p:cNvPr>
          <p:cNvPicPr>
            <a:picLocks noChangeAspect="1"/>
          </p:cNvPicPr>
          <p:nvPr/>
        </p:nvPicPr>
        <p:blipFill>
          <a:blip r:embed="rId7"/>
          <a:stretch>
            <a:fillRect/>
          </a:stretch>
        </p:blipFill>
        <p:spPr>
          <a:xfrm>
            <a:off x="4631436" y="4261104"/>
            <a:ext cx="256032" cy="256032"/>
          </a:xfrm>
          <a:prstGeom prst="rect">
            <a:avLst/>
          </a:prstGeom>
        </p:spPr>
      </p:pic>
      <p:sp>
        <p:nvSpPr>
          <p:cNvPr id="25" name="Text 16"/>
          <p:cNvSpPr txBox="1"/>
          <p:nvPr/>
        </p:nvSpPr>
        <p:spPr>
          <a:xfrm>
            <a:off x="5042916" y="4224528"/>
            <a:ext cx="2514600" cy="640080"/>
          </a:xfrm>
          <a:prstGeom prst="rect">
            <a:avLst/>
          </a:prstGeom>
          <a:noFill/>
          <a:ln/>
        </p:spPr>
        <p:txBody>
          <a:bodyPr wrap="square" lIns="0" tIns="0" rIns="0" bIns="0" rtlCol="0" anchor="t"/>
          <a:lstStyle/>
          <a:p>
            <a:pPr indent="0" marL="0">
              <a:buNone/>
            </a:pPr>
            <a:r>
              <a:rPr lang="en-US" sz="1400" dirty="0">
                <a:solidFill>
                  <a:srgbClr val="CFE0FF"/>
                </a:solidFill>
              </a:rPr>
              <a:t>Can drift into medical advice</a:t>
            </a:r>
            <a:endParaRPr lang="en-US" sz="1400" dirty="0"/>
          </a:p>
        </p:txBody>
      </p:sp>
      <p:pic>
        <p:nvPicPr>
          <p:cNvPr id="26" name="Image 7" descr="marker">    </p:cNvPr>
          <p:cNvPicPr>
            <a:picLocks noChangeAspect="1"/>
          </p:cNvPicPr>
          <p:nvPr/>
        </p:nvPicPr>
        <p:blipFill>
          <a:blip r:embed="rId8"/>
          <a:stretch>
            <a:fillRect/>
          </a:stretch>
        </p:blipFill>
        <p:spPr>
          <a:xfrm>
            <a:off x="4631436" y="5010912"/>
            <a:ext cx="256032" cy="256032"/>
          </a:xfrm>
          <a:prstGeom prst="rect">
            <a:avLst/>
          </a:prstGeom>
        </p:spPr>
      </p:pic>
      <p:sp>
        <p:nvSpPr>
          <p:cNvPr id="27" name="Text 17"/>
          <p:cNvSpPr txBox="1"/>
          <p:nvPr/>
        </p:nvSpPr>
        <p:spPr>
          <a:xfrm>
            <a:off x="5042916" y="4974336"/>
            <a:ext cx="2514600" cy="640080"/>
          </a:xfrm>
          <a:prstGeom prst="rect">
            <a:avLst/>
          </a:prstGeom>
          <a:noFill/>
          <a:ln/>
        </p:spPr>
        <p:txBody>
          <a:bodyPr wrap="square" lIns="0" tIns="0" rIns="0" bIns="0" rtlCol="0" anchor="t"/>
          <a:lstStyle/>
          <a:p>
            <a:pPr indent="0" marL="0">
              <a:buNone/>
            </a:pPr>
            <a:r>
              <a:rPr lang="en-US" sz="1400" dirty="0">
                <a:solidFill>
                  <a:srgbClr val="CFE0FF"/>
                </a:solidFill>
              </a:rPr>
              <a:t>No audit trail, no human hand-off</a:t>
            </a:r>
            <a:endParaRPr lang="en-US" sz="1400" dirty="0"/>
          </a:p>
        </p:txBody>
      </p:sp>
      <p:sp>
        <p:nvSpPr>
          <p:cNvPr id="28" name="Shape 18"/>
          <p:cNvSpPr/>
          <p:nvPr/>
        </p:nvSpPr>
        <p:spPr>
          <a:xfrm>
            <a:off x="8074152" y="1783080"/>
            <a:ext cx="3474720" cy="3977640"/>
          </a:xfrm>
          <a:prstGeom prst="roundRect">
            <a:avLst>
              <a:gd name="adj" fmla="val 3158"/>
            </a:avLst>
          </a:prstGeom>
          <a:solidFill>
            <a:srgbClr val="3CC3F0">
              <a:alpha val="16000"/>
            </a:srgbClr>
          </a:solidFill>
          <a:ln w="25400">
            <a:solidFill>
              <a:srgbClr val="3CC3F0"/>
            </a:solidFill>
            <a:prstDash val="solid"/>
          </a:ln>
        </p:spPr>
      </p:sp>
      <p:sp>
        <p:nvSpPr>
          <p:cNvPr id="29" name="Shape 19"/>
          <p:cNvSpPr/>
          <p:nvPr/>
        </p:nvSpPr>
        <p:spPr>
          <a:xfrm>
            <a:off x="8348472" y="2057400"/>
            <a:ext cx="1463040" cy="274320"/>
          </a:xfrm>
          <a:prstGeom prst="roundRect">
            <a:avLst>
              <a:gd name="adj" fmla="val 50000"/>
            </a:avLst>
          </a:prstGeom>
          <a:solidFill>
            <a:srgbClr val="3CC3F0"/>
          </a:solidFill>
          <a:ln w="6350">
            <a:solidFill>
              <a:srgbClr val="3CC3F0"/>
            </a:solidFill>
            <a:prstDash val="solid"/>
          </a:ln>
        </p:spPr>
      </p:sp>
      <p:sp>
        <p:nvSpPr>
          <p:cNvPr id="30" name="Text 20"/>
          <p:cNvSpPr txBox="1"/>
          <p:nvPr/>
        </p:nvSpPr>
        <p:spPr>
          <a:xfrm>
            <a:off x="8348472" y="2057400"/>
            <a:ext cx="1463040" cy="274320"/>
          </a:xfrm>
          <a:prstGeom prst="rect">
            <a:avLst/>
          </a:prstGeom>
          <a:noFill/>
          <a:ln/>
        </p:spPr>
        <p:txBody>
          <a:bodyPr wrap="square" lIns="0" tIns="0" rIns="0" bIns="0" rtlCol="0" anchor="ctr"/>
          <a:lstStyle/>
          <a:p>
            <a:pPr algn="ctr" indent="0" marL="0">
              <a:buNone/>
            </a:pPr>
            <a:r>
              <a:rPr lang="en-US" sz="1000" b="1" dirty="0">
                <a:solidFill>
                  <a:srgbClr val="0A1F5C"/>
                </a:solidFill>
              </a:rPr>
              <a:t>THIS SYSTEM</a:t>
            </a:r>
            <a:endParaRPr lang="en-US" sz="1000" dirty="0"/>
          </a:p>
        </p:txBody>
      </p:sp>
      <p:sp>
        <p:nvSpPr>
          <p:cNvPr id="31" name="Shape 21"/>
          <p:cNvSpPr/>
          <p:nvPr/>
        </p:nvSpPr>
        <p:spPr>
          <a:xfrm>
            <a:off x="8348472" y="2514600"/>
            <a:ext cx="640080" cy="640080"/>
          </a:xfrm>
          <a:prstGeom prst="ellipse">
            <a:avLst/>
          </a:prstGeom>
          <a:solidFill>
            <a:srgbClr val="1547C8"/>
          </a:solidFill>
          <a:ln w="6350">
            <a:solidFill>
              <a:srgbClr val="1547C8"/>
            </a:solidFill>
            <a:prstDash val="solid"/>
          </a:ln>
        </p:spPr>
      </p:sp>
      <p:pic>
        <p:nvPicPr>
          <p:cNvPr id="32" name="Image 8" descr="FaShieldAlt">    </p:cNvPr>
          <p:cNvPicPr>
            <a:picLocks noChangeAspect="1"/>
          </p:cNvPicPr>
          <p:nvPr/>
        </p:nvPicPr>
        <p:blipFill>
          <a:blip r:embed="rId9"/>
          <a:stretch>
            <a:fillRect/>
          </a:stretch>
        </p:blipFill>
        <p:spPr>
          <a:xfrm>
            <a:off x="8521294" y="2687422"/>
            <a:ext cx="294437" cy="294437"/>
          </a:xfrm>
          <a:prstGeom prst="rect">
            <a:avLst/>
          </a:prstGeom>
        </p:spPr>
      </p:pic>
      <p:sp>
        <p:nvSpPr>
          <p:cNvPr id="33" name="Text 22"/>
          <p:cNvSpPr txBox="1"/>
          <p:nvPr/>
        </p:nvSpPr>
        <p:spPr>
          <a:xfrm>
            <a:off x="9125712" y="2514600"/>
            <a:ext cx="2194560" cy="640080"/>
          </a:xfrm>
          <a:prstGeom prst="rect">
            <a:avLst/>
          </a:prstGeom>
          <a:noFill/>
          <a:ln/>
        </p:spPr>
        <p:txBody>
          <a:bodyPr wrap="square" lIns="0" tIns="0" rIns="0" bIns="0" rtlCol="0" anchor="ctr"/>
          <a:lstStyle/>
          <a:p>
            <a:pPr indent="0" marL="0">
              <a:buNone/>
            </a:pPr>
            <a:r>
              <a:rPr lang="en-US" sz="1800" b="1" dirty="0">
                <a:solidFill>
                  <a:srgbClr val="FFFFFF"/>
                </a:solidFill>
              </a:rPr>
              <a:t>Code decides, people decide</a:t>
            </a:r>
            <a:endParaRPr lang="en-US" sz="1800" dirty="0"/>
          </a:p>
        </p:txBody>
      </p:sp>
      <p:pic>
        <p:nvPicPr>
          <p:cNvPr id="34" name="Image 9" descr="marker">    </p:cNvPr>
          <p:cNvPicPr>
            <a:picLocks noChangeAspect="1"/>
          </p:cNvPicPr>
          <p:nvPr/>
        </p:nvPicPr>
        <p:blipFill>
          <a:blip r:embed="rId10"/>
          <a:stretch>
            <a:fillRect/>
          </a:stretch>
        </p:blipFill>
        <p:spPr>
          <a:xfrm>
            <a:off x="8348472" y="3511296"/>
            <a:ext cx="256032" cy="256032"/>
          </a:xfrm>
          <a:prstGeom prst="rect">
            <a:avLst/>
          </a:prstGeom>
        </p:spPr>
      </p:pic>
      <p:sp>
        <p:nvSpPr>
          <p:cNvPr id="35" name="Text 23"/>
          <p:cNvSpPr txBox="1"/>
          <p:nvPr/>
        </p:nvSpPr>
        <p:spPr>
          <a:xfrm>
            <a:off x="8759952" y="3474720"/>
            <a:ext cx="2514600" cy="640080"/>
          </a:xfrm>
          <a:prstGeom prst="rect">
            <a:avLst/>
          </a:prstGeom>
          <a:noFill/>
          <a:ln/>
        </p:spPr>
        <p:txBody>
          <a:bodyPr wrap="square" lIns="0" tIns="0" rIns="0" bIns="0" rtlCol="0" anchor="t"/>
          <a:lstStyle/>
          <a:p>
            <a:pPr indent="0" marL="0">
              <a:buNone/>
            </a:pPr>
            <a:r>
              <a:rPr lang="en-US" sz="1400" dirty="0">
                <a:solidFill>
                  <a:srgbClr val="FFFFFF"/>
                </a:solidFill>
              </a:rPr>
              <a:t>Code computes the facts and applies the rules</a:t>
            </a:r>
            <a:endParaRPr lang="en-US" sz="1400" dirty="0"/>
          </a:p>
        </p:txBody>
      </p:sp>
      <p:pic>
        <p:nvPicPr>
          <p:cNvPr id="36" name="Image 10" descr="marker">    </p:cNvPr>
          <p:cNvPicPr>
            <a:picLocks noChangeAspect="1"/>
          </p:cNvPicPr>
          <p:nvPr/>
        </p:nvPicPr>
        <p:blipFill>
          <a:blip r:embed="rId11"/>
          <a:stretch>
            <a:fillRect/>
          </a:stretch>
        </p:blipFill>
        <p:spPr>
          <a:xfrm>
            <a:off x="8348472" y="4261104"/>
            <a:ext cx="256032" cy="256032"/>
          </a:xfrm>
          <a:prstGeom prst="rect">
            <a:avLst/>
          </a:prstGeom>
        </p:spPr>
      </p:pic>
      <p:sp>
        <p:nvSpPr>
          <p:cNvPr id="37" name="Text 24"/>
          <p:cNvSpPr txBox="1"/>
          <p:nvPr/>
        </p:nvSpPr>
        <p:spPr>
          <a:xfrm>
            <a:off x="8759952" y="4224528"/>
            <a:ext cx="2514600" cy="640080"/>
          </a:xfrm>
          <a:prstGeom prst="rect">
            <a:avLst/>
          </a:prstGeom>
          <a:noFill/>
          <a:ln/>
        </p:spPr>
        <p:txBody>
          <a:bodyPr wrap="square" lIns="0" tIns="0" rIns="0" bIns="0" rtlCol="0" anchor="t"/>
          <a:lstStyle/>
          <a:p>
            <a:pPr indent="0" marL="0">
              <a:buNone/>
            </a:pPr>
            <a:r>
              <a:rPr lang="en-US" sz="1400" dirty="0">
                <a:solidFill>
                  <a:srgbClr val="FFFFFF"/>
                </a:solidFill>
              </a:rPr>
              <a:t>Agents only word them, and every word is checked</a:t>
            </a:r>
            <a:endParaRPr lang="en-US" sz="1400" dirty="0"/>
          </a:p>
        </p:txBody>
      </p:sp>
      <p:pic>
        <p:nvPicPr>
          <p:cNvPr id="38" name="Image 11" descr="marker">    </p:cNvPr>
          <p:cNvPicPr>
            <a:picLocks noChangeAspect="1"/>
          </p:cNvPicPr>
          <p:nvPr/>
        </p:nvPicPr>
        <p:blipFill>
          <a:blip r:embed="rId12"/>
          <a:stretch>
            <a:fillRect/>
          </a:stretch>
        </p:blipFill>
        <p:spPr>
          <a:xfrm>
            <a:off x="8348472" y="5010912"/>
            <a:ext cx="256032" cy="256032"/>
          </a:xfrm>
          <a:prstGeom prst="rect">
            <a:avLst/>
          </a:prstGeom>
        </p:spPr>
      </p:pic>
      <p:sp>
        <p:nvSpPr>
          <p:cNvPr id="39" name="Text 25"/>
          <p:cNvSpPr txBox="1"/>
          <p:nvPr/>
        </p:nvSpPr>
        <p:spPr>
          <a:xfrm>
            <a:off x="8759952" y="4974336"/>
            <a:ext cx="2514600" cy="640080"/>
          </a:xfrm>
          <a:prstGeom prst="rect">
            <a:avLst/>
          </a:prstGeom>
          <a:noFill/>
          <a:ln/>
        </p:spPr>
        <p:txBody>
          <a:bodyPr wrap="square" lIns="0" tIns="0" rIns="0" bIns="0" rtlCol="0" anchor="t"/>
          <a:lstStyle/>
          <a:p>
            <a:pPr indent="0" marL="0">
              <a:buNone/>
            </a:pPr>
            <a:r>
              <a:rPr lang="en-US" sz="1400" dirty="0">
                <a:solidFill>
                  <a:srgbClr val="FFFFFF"/>
                </a:solidFill>
              </a:rPr>
              <a:t>Anything risky goes to a person with a clean packet</a:t>
            </a:r>
            <a:endParaRPr lang="en-US" sz="1400" dirty="0"/>
          </a:p>
        </p:txBody>
      </p:sp>
      <p:sp>
        <p:nvSpPr>
          <p:cNvPr id="40" name="Text 26"/>
          <p:cNvSpPr txBox="1"/>
          <p:nvPr/>
        </p:nvSpPr>
        <p:spPr>
          <a:xfrm>
            <a:off x="640080" y="5943600"/>
            <a:ext cx="10908792" cy="320040"/>
          </a:xfrm>
          <a:prstGeom prst="rect">
            <a:avLst/>
          </a:prstGeom>
          <a:noFill/>
          <a:ln/>
        </p:spPr>
        <p:txBody>
          <a:bodyPr wrap="square" lIns="0" tIns="0" rIns="0" bIns="0" rtlCol="0" anchor="t"/>
          <a:lstStyle/>
          <a:p>
            <a:pPr indent="0" marL="0">
              <a:buNone/>
            </a:pPr>
            <a:r>
              <a:rPr lang="en-US" sz="1500" b="1" dirty="0">
                <a:solidFill>
                  <a:srgbClr val="3CC3F0"/>
                </a:solidFill>
              </a:rPr>
              <a:t>Objective  </a:t>
            </a:r>
            <a:pPr indent="0" marL="0">
              <a:buNone/>
            </a:pPr>
            <a:r>
              <a:rPr lang="en-US" sz="1500" dirty="0">
                <a:solidFill>
                  <a:srgbClr val="CFE0FF"/>
                </a:solidFill>
              </a:rPr>
              <a:t>scale education and follow-up while every clinical decision stays with people.</a:t>
            </a:r>
            <a:endParaRPr lang="en-US" sz="15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640080" y="438912"/>
            <a:ext cx="8229600" cy="274320"/>
          </a:xfrm>
          <a:prstGeom prst="rect">
            <a:avLst/>
          </a:prstGeom>
          <a:noFill/>
          <a:ln/>
        </p:spPr>
        <p:txBody>
          <a:bodyPr wrap="square" lIns="0" tIns="0" rIns="0" bIns="0" rtlCol="0" anchor="t"/>
          <a:lstStyle/>
          <a:p>
            <a:pPr indent="0" marL="0">
              <a:buNone/>
            </a:pPr>
            <a:r>
              <a:rPr lang="en-US" sz="1200" b="1" spc="400" kern="0" dirty="0">
                <a:solidFill>
                  <a:srgbClr val="3CC3F0"/>
                </a:solidFill>
              </a:rPr>
              <a:t>02  ·  THE RULE ABOVE ALL</a:t>
            </a:r>
            <a:endParaRPr lang="en-US" sz="1200" dirty="0"/>
          </a:p>
        </p:txBody>
      </p:sp>
      <p:sp>
        <p:nvSpPr>
          <p:cNvPr id="3" name="Text 2"/>
          <p:cNvSpPr/>
          <p:nvPr>
            <p:ph idx="104" type="title" hasCustomPrompt="1"/>
          </p:nvPr>
        </p:nvSpPr>
        <p:spPr>
          <a:xfrm>
            <a:off x="640080" y="749808"/>
            <a:ext cx="10908792" cy="777240"/>
          </a:xfrm>
          <a:prstGeom prst="rect">
            <a:avLst/>
          </a:prstGeom>
          <a:noFill/>
          <a:ln/>
        </p:spPr>
        <p:txBody>
          <a:bodyPr wrap="square" lIns="0" tIns="0" rIns="0" bIns="0" rtlCol="0" anchor="t"/>
          <a:lstStyle/>
          <a:p>
            <a:pPr algn="l" indent="0" marL="0">
              <a:buNone/>
            </a:pPr>
            <a:r>
              <a:rPr lang="en-US" sz="3200" b="1" dirty="0">
                <a:solidFill>
                  <a:srgbClr val="FFFFFF"/>
                </a:solidFill>
              </a:rPr>
              <a:t>What the system must never do</a:t>
            </a:r>
            <a:endParaRPr lang="en-US" sz="3200" dirty="0"/>
          </a:p>
        </p:txBody>
      </p:sp>
      <p:sp>
        <p:nvSpPr>
          <p:cNvPr id="4" name="Shape 2"/>
          <p:cNvSpPr/>
          <p:nvPr/>
        </p:nvSpPr>
        <p:spPr>
          <a:xfrm>
            <a:off x="640080" y="1801368"/>
            <a:ext cx="658368" cy="658368"/>
          </a:xfrm>
          <a:prstGeom prst="ellipse">
            <a:avLst/>
          </a:prstGeom>
          <a:solidFill>
            <a:srgbClr val="E5484D"/>
          </a:solidFill>
          <a:ln w="6350">
            <a:solidFill>
              <a:srgbClr val="E5484D"/>
            </a:solidFill>
            <a:prstDash val="solid"/>
          </a:ln>
        </p:spPr>
      </p:sp>
      <p:pic>
        <p:nvPicPr>
          <p:cNvPr id="5" name="Image 0" descr="FaTimes">    </p:cNvPr>
          <p:cNvPicPr>
            <a:picLocks noChangeAspect="1"/>
          </p:cNvPicPr>
          <p:nvPr/>
        </p:nvPicPr>
        <p:blipFill>
          <a:blip r:embed="rId1"/>
          <a:stretch>
            <a:fillRect/>
          </a:stretch>
        </p:blipFill>
        <p:spPr>
          <a:xfrm>
            <a:off x="817839" y="1979127"/>
            <a:ext cx="302849" cy="302849"/>
          </a:xfrm>
          <a:prstGeom prst="rect">
            <a:avLst/>
          </a:prstGeom>
        </p:spPr>
      </p:pic>
      <p:sp>
        <p:nvSpPr>
          <p:cNvPr id="6" name="Text 3"/>
          <p:cNvSpPr txBox="1"/>
          <p:nvPr/>
        </p:nvSpPr>
        <p:spPr>
          <a:xfrm>
            <a:off x="1508760" y="1783080"/>
            <a:ext cx="5669280" cy="731520"/>
          </a:xfrm>
          <a:prstGeom prst="rect">
            <a:avLst/>
          </a:prstGeom>
          <a:noFill/>
          <a:ln/>
        </p:spPr>
        <p:txBody>
          <a:bodyPr wrap="square" lIns="0" tIns="0" rIns="0" bIns="0" rtlCol="0" anchor="ctr"/>
          <a:lstStyle/>
          <a:p>
            <a:pPr indent="0" marL="0">
              <a:buNone/>
            </a:pPr>
            <a:r>
              <a:rPr lang="en-US" sz="3300" b="1" dirty="0">
                <a:solidFill>
                  <a:srgbClr val="FFFFFF"/>
                </a:solidFill>
              </a:rPr>
              <a:t>Never diagnose</a:t>
            </a:r>
            <a:endParaRPr lang="en-US" sz="3300" dirty="0"/>
          </a:p>
        </p:txBody>
      </p:sp>
      <p:sp>
        <p:nvSpPr>
          <p:cNvPr id="7" name="Shape 4"/>
          <p:cNvSpPr/>
          <p:nvPr/>
        </p:nvSpPr>
        <p:spPr>
          <a:xfrm>
            <a:off x="640080" y="2761488"/>
            <a:ext cx="658368" cy="658368"/>
          </a:xfrm>
          <a:prstGeom prst="ellipse">
            <a:avLst/>
          </a:prstGeom>
          <a:solidFill>
            <a:srgbClr val="E5484D"/>
          </a:solidFill>
          <a:ln w="6350">
            <a:solidFill>
              <a:srgbClr val="E5484D"/>
            </a:solidFill>
            <a:prstDash val="solid"/>
          </a:ln>
        </p:spPr>
      </p:sp>
      <p:pic>
        <p:nvPicPr>
          <p:cNvPr id="8" name="Image 1" descr="FaTimes">    </p:cNvPr>
          <p:cNvPicPr>
            <a:picLocks noChangeAspect="1"/>
          </p:cNvPicPr>
          <p:nvPr/>
        </p:nvPicPr>
        <p:blipFill>
          <a:blip r:embed="rId2"/>
          <a:stretch>
            <a:fillRect/>
          </a:stretch>
        </p:blipFill>
        <p:spPr>
          <a:xfrm>
            <a:off x="817839" y="2939247"/>
            <a:ext cx="302849" cy="302849"/>
          </a:xfrm>
          <a:prstGeom prst="rect">
            <a:avLst/>
          </a:prstGeom>
        </p:spPr>
      </p:pic>
      <p:sp>
        <p:nvSpPr>
          <p:cNvPr id="9" name="Text 5"/>
          <p:cNvSpPr txBox="1"/>
          <p:nvPr/>
        </p:nvSpPr>
        <p:spPr>
          <a:xfrm>
            <a:off x="1508760" y="2743200"/>
            <a:ext cx="5669280" cy="731520"/>
          </a:xfrm>
          <a:prstGeom prst="rect">
            <a:avLst/>
          </a:prstGeom>
          <a:noFill/>
          <a:ln/>
        </p:spPr>
        <p:txBody>
          <a:bodyPr wrap="square" lIns="0" tIns="0" rIns="0" bIns="0" rtlCol="0" anchor="ctr"/>
          <a:lstStyle/>
          <a:p>
            <a:pPr indent="0" marL="0">
              <a:buNone/>
            </a:pPr>
            <a:r>
              <a:rPr lang="en-US" sz="3300" b="1" dirty="0">
                <a:solidFill>
                  <a:srgbClr val="FFFFFF"/>
                </a:solidFill>
              </a:rPr>
              <a:t>Never advise</a:t>
            </a:r>
            <a:endParaRPr lang="en-US" sz="3300" dirty="0"/>
          </a:p>
        </p:txBody>
      </p:sp>
      <p:sp>
        <p:nvSpPr>
          <p:cNvPr id="10" name="Shape 6"/>
          <p:cNvSpPr/>
          <p:nvPr/>
        </p:nvSpPr>
        <p:spPr>
          <a:xfrm>
            <a:off x="640080" y="3721608"/>
            <a:ext cx="658368" cy="658368"/>
          </a:xfrm>
          <a:prstGeom prst="ellipse">
            <a:avLst/>
          </a:prstGeom>
          <a:solidFill>
            <a:srgbClr val="E5484D"/>
          </a:solidFill>
          <a:ln w="6350">
            <a:solidFill>
              <a:srgbClr val="E5484D"/>
            </a:solidFill>
            <a:prstDash val="solid"/>
          </a:ln>
        </p:spPr>
      </p:sp>
      <p:pic>
        <p:nvPicPr>
          <p:cNvPr id="11" name="Image 2" descr="FaTimes">    </p:cNvPr>
          <p:cNvPicPr>
            <a:picLocks noChangeAspect="1"/>
          </p:cNvPicPr>
          <p:nvPr/>
        </p:nvPicPr>
        <p:blipFill>
          <a:blip r:embed="rId3"/>
          <a:stretch>
            <a:fillRect/>
          </a:stretch>
        </p:blipFill>
        <p:spPr>
          <a:xfrm>
            <a:off x="817839" y="3899367"/>
            <a:ext cx="302849" cy="302849"/>
          </a:xfrm>
          <a:prstGeom prst="rect">
            <a:avLst/>
          </a:prstGeom>
        </p:spPr>
      </p:pic>
      <p:sp>
        <p:nvSpPr>
          <p:cNvPr id="12" name="Text 7"/>
          <p:cNvSpPr txBox="1"/>
          <p:nvPr/>
        </p:nvSpPr>
        <p:spPr>
          <a:xfrm>
            <a:off x="1508760" y="3703320"/>
            <a:ext cx="5669280" cy="731520"/>
          </a:xfrm>
          <a:prstGeom prst="rect">
            <a:avLst/>
          </a:prstGeom>
          <a:noFill/>
          <a:ln/>
        </p:spPr>
        <p:txBody>
          <a:bodyPr wrap="square" lIns="0" tIns="0" rIns="0" bIns="0" rtlCol="0" anchor="ctr"/>
          <a:lstStyle/>
          <a:p>
            <a:pPr indent="0" marL="0">
              <a:buNone/>
            </a:pPr>
            <a:r>
              <a:rPr lang="en-US" sz="3300" b="1" dirty="0">
                <a:solidFill>
                  <a:srgbClr val="FFFFFF"/>
                </a:solidFill>
              </a:rPr>
              <a:t>Never change medicines</a:t>
            </a:r>
            <a:endParaRPr lang="en-US" sz="3300" dirty="0"/>
          </a:p>
        </p:txBody>
      </p:sp>
      <p:sp>
        <p:nvSpPr>
          <p:cNvPr id="13" name="Shape 8"/>
          <p:cNvSpPr/>
          <p:nvPr/>
        </p:nvSpPr>
        <p:spPr>
          <a:xfrm>
            <a:off x="7315200" y="1783080"/>
            <a:ext cx="4233672" cy="2788920"/>
          </a:xfrm>
          <a:prstGeom prst="roundRect">
            <a:avLst>
              <a:gd name="adj" fmla="val 3934"/>
            </a:avLst>
          </a:prstGeom>
          <a:solidFill>
            <a:srgbClr val="FFFFFF">
              <a:alpha val="10000"/>
            </a:srgbClr>
          </a:solidFill>
          <a:ln w="9525">
            <a:solidFill>
              <a:srgbClr val="FFFFFF">
                <a:alpha val="25000"/>
              </a:srgbClr>
            </a:solidFill>
            <a:prstDash val="solid"/>
          </a:ln>
        </p:spPr>
      </p:sp>
      <p:sp>
        <p:nvSpPr>
          <p:cNvPr id="14" name="Text 9"/>
          <p:cNvSpPr txBox="1"/>
          <p:nvPr/>
        </p:nvSpPr>
        <p:spPr>
          <a:xfrm>
            <a:off x="7635240" y="2011680"/>
            <a:ext cx="2743200" cy="228600"/>
          </a:xfrm>
          <a:prstGeom prst="rect">
            <a:avLst/>
          </a:prstGeom>
          <a:noFill/>
          <a:ln/>
        </p:spPr>
        <p:txBody>
          <a:bodyPr wrap="square" lIns="0" tIns="0" rIns="0" bIns="0" rtlCol="0" anchor="t"/>
          <a:lstStyle/>
          <a:p>
            <a:pPr indent="0" marL="0">
              <a:buNone/>
            </a:pPr>
            <a:r>
              <a:rPr lang="en-US" sz="1100" b="1" spc="300" kern="0" dirty="0">
                <a:solidFill>
                  <a:srgbClr val="3CC3F0"/>
                </a:solidFill>
              </a:rPr>
              <a:t>ITS JOB</a:t>
            </a:r>
            <a:endParaRPr lang="en-US" sz="1100" dirty="0"/>
          </a:p>
        </p:txBody>
      </p:sp>
      <p:sp>
        <p:nvSpPr>
          <p:cNvPr id="15" name="Shape 10"/>
          <p:cNvSpPr/>
          <p:nvPr/>
        </p:nvSpPr>
        <p:spPr>
          <a:xfrm>
            <a:off x="7635240" y="2423160"/>
            <a:ext cx="548640" cy="548640"/>
          </a:xfrm>
          <a:prstGeom prst="ellipse">
            <a:avLst/>
          </a:prstGeom>
          <a:solidFill>
            <a:srgbClr val="1547C8"/>
          </a:solidFill>
          <a:ln w="6350">
            <a:solidFill>
              <a:srgbClr val="1547C8"/>
            </a:solidFill>
            <a:prstDash val="solid"/>
          </a:ln>
        </p:spPr>
      </p:sp>
      <p:pic>
        <p:nvPicPr>
          <p:cNvPr id="16" name="Image 3" descr="FaFileMedical">    </p:cNvPr>
          <p:cNvPicPr>
            <a:picLocks noChangeAspect="1"/>
          </p:cNvPicPr>
          <p:nvPr/>
        </p:nvPicPr>
        <p:blipFill>
          <a:blip r:embed="rId4"/>
          <a:stretch>
            <a:fillRect/>
          </a:stretch>
        </p:blipFill>
        <p:spPr>
          <a:xfrm>
            <a:off x="7783373" y="2571293"/>
            <a:ext cx="252374" cy="252374"/>
          </a:xfrm>
          <a:prstGeom prst="rect">
            <a:avLst/>
          </a:prstGeom>
        </p:spPr>
      </p:pic>
      <p:sp>
        <p:nvSpPr>
          <p:cNvPr id="17" name="Text 11"/>
          <p:cNvSpPr txBox="1"/>
          <p:nvPr/>
        </p:nvSpPr>
        <p:spPr>
          <a:xfrm>
            <a:off x="8366760" y="2423160"/>
            <a:ext cx="3017520" cy="548640"/>
          </a:xfrm>
          <a:prstGeom prst="rect">
            <a:avLst/>
          </a:prstGeom>
          <a:noFill/>
          <a:ln/>
        </p:spPr>
        <p:txBody>
          <a:bodyPr wrap="square" lIns="0" tIns="0" rIns="0" bIns="0" rtlCol="0" anchor="ctr"/>
          <a:lstStyle/>
          <a:p>
            <a:pPr indent="0" marL="0">
              <a:buNone/>
            </a:pPr>
            <a:r>
              <a:rPr lang="en-US" sz="1700" b="1" dirty="0">
                <a:solidFill>
                  <a:srgbClr val="FFFFFF"/>
                </a:solidFill>
              </a:rPr>
              <a:t>Organise the information</a:t>
            </a:r>
            <a:endParaRPr lang="en-US" sz="1700" dirty="0"/>
          </a:p>
        </p:txBody>
      </p:sp>
      <p:pic>
        <p:nvPicPr>
          <p:cNvPr id="18" name="Image 4" descr="arrow down">    </p:cNvPr>
          <p:cNvPicPr>
            <a:picLocks noChangeAspect="1"/>
          </p:cNvPicPr>
          <p:nvPr/>
        </p:nvPicPr>
        <p:blipFill>
          <a:blip r:embed="rId5"/>
          <a:stretch>
            <a:fillRect/>
          </a:stretch>
        </p:blipFill>
        <p:spPr>
          <a:xfrm>
            <a:off x="7772400" y="3108960"/>
            <a:ext cx="274320" cy="274320"/>
          </a:xfrm>
          <a:prstGeom prst="rect">
            <a:avLst/>
          </a:prstGeom>
        </p:spPr>
      </p:pic>
      <p:sp>
        <p:nvSpPr>
          <p:cNvPr id="19" name="Shape 12"/>
          <p:cNvSpPr/>
          <p:nvPr/>
        </p:nvSpPr>
        <p:spPr>
          <a:xfrm>
            <a:off x="7635240" y="3611880"/>
            <a:ext cx="548640" cy="548640"/>
          </a:xfrm>
          <a:prstGeom prst="ellipse">
            <a:avLst/>
          </a:prstGeom>
          <a:solidFill>
            <a:srgbClr val="12A36B"/>
          </a:solidFill>
          <a:ln w="6350">
            <a:solidFill>
              <a:srgbClr val="12A36B"/>
            </a:solidFill>
            <a:prstDash val="solid"/>
          </a:ln>
        </p:spPr>
      </p:sp>
      <p:pic>
        <p:nvPicPr>
          <p:cNvPr id="20" name="Image 5" descr="FaUserMd">    </p:cNvPr>
          <p:cNvPicPr>
            <a:picLocks noChangeAspect="1"/>
          </p:cNvPicPr>
          <p:nvPr/>
        </p:nvPicPr>
        <p:blipFill>
          <a:blip r:embed="rId6"/>
          <a:stretch>
            <a:fillRect/>
          </a:stretch>
        </p:blipFill>
        <p:spPr>
          <a:xfrm>
            <a:off x="7783373" y="3760013"/>
            <a:ext cx="252374" cy="252374"/>
          </a:xfrm>
          <a:prstGeom prst="rect">
            <a:avLst/>
          </a:prstGeom>
        </p:spPr>
      </p:pic>
      <p:sp>
        <p:nvSpPr>
          <p:cNvPr id="21" name="Text 13"/>
          <p:cNvSpPr txBox="1"/>
          <p:nvPr/>
        </p:nvSpPr>
        <p:spPr>
          <a:xfrm>
            <a:off x="8366760" y="3611880"/>
            <a:ext cx="3017520" cy="548640"/>
          </a:xfrm>
          <a:prstGeom prst="rect">
            <a:avLst/>
          </a:prstGeom>
          <a:noFill/>
          <a:ln/>
        </p:spPr>
        <p:txBody>
          <a:bodyPr wrap="square" lIns="0" tIns="0" rIns="0" bIns="0" rtlCol="0" anchor="ctr"/>
          <a:lstStyle/>
          <a:p>
            <a:pPr indent="0" marL="0">
              <a:buNone/>
            </a:pPr>
            <a:r>
              <a:rPr lang="en-US" sz="1700" b="1" dirty="0">
                <a:solidFill>
                  <a:srgbClr val="FFFFFF"/>
                </a:solidFill>
              </a:rPr>
              <a:t>Hand risky cases to humans</a:t>
            </a:r>
            <a:endParaRPr lang="en-US" sz="1700" dirty="0"/>
          </a:p>
        </p:txBody>
      </p:sp>
      <p:sp>
        <p:nvSpPr>
          <p:cNvPr id="22" name="Shape 14"/>
          <p:cNvSpPr/>
          <p:nvPr/>
        </p:nvSpPr>
        <p:spPr>
          <a:xfrm>
            <a:off x="640080" y="4846320"/>
            <a:ext cx="10908792" cy="1188720"/>
          </a:xfrm>
          <a:prstGeom prst="roundRect">
            <a:avLst>
              <a:gd name="adj" fmla="val 9231"/>
            </a:avLst>
          </a:prstGeom>
          <a:solidFill>
            <a:srgbClr val="FFFFFF">
              <a:alpha val="10000"/>
            </a:srgbClr>
          </a:solidFill>
          <a:ln w="9525">
            <a:solidFill>
              <a:srgbClr val="FFFFFF">
                <a:alpha val="25000"/>
              </a:srgbClr>
            </a:solidFill>
            <a:prstDash val="solid"/>
          </a:ln>
        </p:spPr>
      </p:sp>
      <p:sp>
        <p:nvSpPr>
          <p:cNvPr id="23" name="Text 15"/>
          <p:cNvSpPr txBox="1"/>
          <p:nvPr/>
        </p:nvSpPr>
        <p:spPr>
          <a:xfrm>
            <a:off x="914400" y="4983480"/>
            <a:ext cx="7315200" cy="228600"/>
          </a:xfrm>
          <a:prstGeom prst="rect">
            <a:avLst/>
          </a:prstGeom>
          <a:noFill/>
          <a:ln/>
        </p:spPr>
        <p:txBody>
          <a:bodyPr wrap="square" lIns="0" tIns="0" rIns="0" bIns="0" rtlCol="0" anchor="t"/>
          <a:lstStyle/>
          <a:p>
            <a:pPr indent="0" marL="0">
              <a:buNone/>
            </a:pPr>
            <a:r>
              <a:rPr lang="en-US" sz="1000" b="1" spc="200" kern="0" dirty="0">
                <a:solidFill>
                  <a:srgbClr val="3CC3F0"/>
                </a:solidFill>
              </a:rPr>
              <a:t>ENFORCED IN FOUR LAYERS, NOT BY HOPING THE MODEL BEHAVES</a:t>
            </a:r>
            <a:endParaRPr lang="en-US" sz="1000" dirty="0"/>
          </a:p>
        </p:txBody>
      </p:sp>
      <p:pic>
        <p:nvPicPr>
          <p:cNvPr id="24" name="Image 6" descr="Instructions">    </p:cNvPr>
          <p:cNvPicPr>
            <a:picLocks noChangeAspect="1"/>
          </p:cNvPicPr>
          <p:nvPr/>
        </p:nvPicPr>
        <p:blipFill>
          <a:blip r:embed="rId7"/>
          <a:stretch>
            <a:fillRect/>
          </a:stretch>
        </p:blipFill>
        <p:spPr>
          <a:xfrm>
            <a:off x="914400" y="5349240"/>
            <a:ext cx="274320" cy="274320"/>
          </a:xfrm>
          <a:prstGeom prst="rect">
            <a:avLst/>
          </a:prstGeom>
        </p:spPr>
      </p:pic>
      <p:sp>
        <p:nvSpPr>
          <p:cNvPr id="25" name="Text 16"/>
          <p:cNvSpPr txBox="1"/>
          <p:nvPr/>
        </p:nvSpPr>
        <p:spPr>
          <a:xfrm>
            <a:off x="1325880" y="5285232"/>
            <a:ext cx="2103120" cy="274320"/>
          </a:xfrm>
          <a:prstGeom prst="rect">
            <a:avLst/>
          </a:prstGeom>
          <a:noFill/>
          <a:ln/>
        </p:spPr>
        <p:txBody>
          <a:bodyPr wrap="square" lIns="0" tIns="0" rIns="0" bIns="0" rtlCol="0" anchor="t"/>
          <a:lstStyle/>
          <a:p>
            <a:pPr indent="0" marL="0">
              <a:buNone/>
            </a:pPr>
            <a:r>
              <a:rPr lang="en-US" sz="1300" b="1" dirty="0">
                <a:solidFill>
                  <a:srgbClr val="FFFFFF"/>
                </a:solidFill>
              </a:rPr>
              <a:t>Instructions</a:t>
            </a:r>
            <a:endParaRPr lang="en-US" sz="1300" dirty="0"/>
          </a:p>
        </p:txBody>
      </p:sp>
      <p:sp>
        <p:nvSpPr>
          <p:cNvPr id="26" name="Text 17"/>
          <p:cNvSpPr txBox="1"/>
          <p:nvPr/>
        </p:nvSpPr>
        <p:spPr>
          <a:xfrm>
            <a:off x="1325880" y="5577840"/>
            <a:ext cx="2103120" cy="365760"/>
          </a:xfrm>
          <a:prstGeom prst="rect">
            <a:avLst/>
          </a:prstGeom>
          <a:noFill/>
          <a:ln/>
        </p:spPr>
        <p:txBody>
          <a:bodyPr wrap="square" lIns="0" tIns="0" rIns="0" bIns="0" rtlCol="0" anchor="t"/>
          <a:lstStyle/>
          <a:p>
            <a:pPr indent="0" marL="0">
              <a:buNone/>
            </a:pPr>
            <a:r>
              <a:rPr lang="en-US" sz="1050" dirty="0">
                <a:solidFill>
                  <a:srgbClr val="CFE0FF"/>
                </a:solidFill>
              </a:rPr>
              <a:t>Strict rules in every agent prompt</a:t>
            </a:r>
            <a:endParaRPr lang="en-US" sz="1050" dirty="0"/>
          </a:p>
        </p:txBody>
      </p:sp>
      <p:pic>
        <p:nvPicPr>
          <p:cNvPr id="27" name="Image 7" descr="Output guard">    </p:cNvPr>
          <p:cNvPicPr>
            <a:picLocks noChangeAspect="1"/>
          </p:cNvPicPr>
          <p:nvPr/>
        </p:nvPicPr>
        <p:blipFill>
          <a:blip r:embed="rId8"/>
          <a:stretch>
            <a:fillRect/>
          </a:stretch>
        </p:blipFill>
        <p:spPr>
          <a:xfrm>
            <a:off x="3566160" y="5349240"/>
            <a:ext cx="274320" cy="274320"/>
          </a:xfrm>
          <a:prstGeom prst="rect">
            <a:avLst/>
          </a:prstGeom>
        </p:spPr>
      </p:pic>
      <p:sp>
        <p:nvSpPr>
          <p:cNvPr id="28" name="Text 18"/>
          <p:cNvSpPr txBox="1"/>
          <p:nvPr/>
        </p:nvSpPr>
        <p:spPr>
          <a:xfrm>
            <a:off x="3977640" y="5285232"/>
            <a:ext cx="2103120" cy="274320"/>
          </a:xfrm>
          <a:prstGeom prst="rect">
            <a:avLst/>
          </a:prstGeom>
          <a:noFill/>
          <a:ln/>
        </p:spPr>
        <p:txBody>
          <a:bodyPr wrap="square" lIns="0" tIns="0" rIns="0" bIns="0" rtlCol="0" anchor="t"/>
          <a:lstStyle/>
          <a:p>
            <a:pPr indent="0" marL="0">
              <a:buNone/>
            </a:pPr>
            <a:r>
              <a:rPr lang="en-US" sz="1300" b="1" dirty="0">
                <a:solidFill>
                  <a:srgbClr val="FFFFFF"/>
                </a:solidFill>
              </a:rPr>
              <a:t>Output guard</a:t>
            </a:r>
            <a:endParaRPr lang="en-US" sz="1300" dirty="0"/>
          </a:p>
        </p:txBody>
      </p:sp>
      <p:sp>
        <p:nvSpPr>
          <p:cNvPr id="29" name="Text 19"/>
          <p:cNvSpPr txBox="1"/>
          <p:nvPr/>
        </p:nvSpPr>
        <p:spPr>
          <a:xfrm>
            <a:off x="3977640" y="5577840"/>
            <a:ext cx="2103120" cy="365760"/>
          </a:xfrm>
          <a:prstGeom prst="rect">
            <a:avLst/>
          </a:prstGeom>
          <a:noFill/>
          <a:ln/>
        </p:spPr>
        <p:txBody>
          <a:bodyPr wrap="square" lIns="0" tIns="0" rIns="0" bIns="0" rtlCol="0" anchor="t"/>
          <a:lstStyle/>
          <a:p>
            <a:pPr indent="0" marL="0">
              <a:buNone/>
            </a:pPr>
            <a:r>
              <a:rPr lang="en-US" sz="1050" dirty="0">
                <a:solidFill>
                  <a:srgbClr val="CFE0FF"/>
                </a:solidFill>
              </a:rPr>
              <a:t>Blocks advice, diagnosis, dosing</a:t>
            </a:r>
            <a:endParaRPr lang="en-US" sz="1050" dirty="0"/>
          </a:p>
        </p:txBody>
      </p:sp>
      <p:pic>
        <p:nvPicPr>
          <p:cNvPr id="30" name="Image 8" descr="Number grounding">    </p:cNvPr>
          <p:cNvPicPr>
            <a:picLocks noChangeAspect="1"/>
          </p:cNvPicPr>
          <p:nvPr/>
        </p:nvPicPr>
        <p:blipFill>
          <a:blip r:embed="rId9"/>
          <a:stretch>
            <a:fillRect/>
          </a:stretch>
        </p:blipFill>
        <p:spPr>
          <a:xfrm>
            <a:off x="6217920" y="5349240"/>
            <a:ext cx="274320" cy="274320"/>
          </a:xfrm>
          <a:prstGeom prst="rect">
            <a:avLst/>
          </a:prstGeom>
        </p:spPr>
      </p:pic>
      <p:sp>
        <p:nvSpPr>
          <p:cNvPr id="31" name="Text 20"/>
          <p:cNvSpPr txBox="1"/>
          <p:nvPr/>
        </p:nvSpPr>
        <p:spPr>
          <a:xfrm>
            <a:off x="6629400" y="5285232"/>
            <a:ext cx="2103120" cy="274320"/>
          </a:xfrm>
          <a:prstGeom prst="rect">
            <a:avLst/>
          </a:prstGeom>
          <a:noFill/>
          <a:ln/>
        </p:spPr>
        <p:txBody>
          <a:bodyPr wrap="square" lIns="0" tIns="0" rIns="0" bIns="0" rtlCol="0" anchor="t"/>
          <a:lstStyle/>
          <a:p>
            <a:pPr indent="0" marL="0">
              <a:buNone/>
            </a:pPr>
            <a:r>
              <a:rPr lang="en-US" sz="1300" b="1" dirty="0">
                <a:solidFill>
                  <a:srgbClr val="FFFFFF"/>
                </a:solidFill>
              </a:rPr>
              <a:t>Number grounding</a:t>
            </a:r>
            <a:endParaRPr lang="en-US" sz="1300" dirty="0"/>
          </a:p>
        </p:txBody>
      </p:sp>
      <p:sp>
        <p:nvSpPr>
          <p:cNvPr id="32" name="Text 21"/>
          <p:cNvSpPr txBox="1"/>
          <p:nvPr/>
        </p:nvSpPr>
        <p:spPr>
          <a:xfrm>
            <a:off x="6629400" y="5577840"/>
            <a:ext cx="2103120" cy="365760"/>
          </a:xfrm>
          <a:prstGeom prst="rect">
            <a:avLst/>
          </a:prstGeom>
          <a:noFill/>
          <a:ln/>
        </p:spPr>
        <p:txBody>
          <a:bodyPr wrap="square" lIns="0" tIns="0" rIns="0" bIns="0" rtlCol="0" anchor="t"/>
          <a:lstStyle/>
          <a:p>
            <a:pPr indent="0" marL="0">
              <a:buNone/>
            </a:pPr>
            <a:r>
              <a:rPr lang="en-US" sz="1050" dirty="0">
                <a:solidFill>
                  <a:srgbClr val="CFE0FF"/>
                </a:solidFill>
              </a:rPr>
              <a:t>Every number must be in the facts</a:t>
            </a:r>
            <a:endParaRPr lang="en-US" sz="1050" dirty="0"/>
          </a:p>
        </p:txBody>
      </p:sp>
      <p:pic>
        <p:nvPicPr>
          <p:cNvPr id="33" name="Image 9" descr="Template fallback">    </p:cNvPr>
          <p:cNvPicPr>
            <a:picLocks noChangeAspect="1"/>
          </p:cNvPicPr>
          <p:nvPr/>
        </p:nvPicPr>
        <p:blipFill>
          <a:blip r:embed="rId10"/>
          <a:stretch>
            <a:fillRect/>
          </a:stretch>
        </p:blipFill>
        <p:spPr>
          <a:xfrm>
            <a:off x="8869680" y="5349240"/>
            <a:ext cx="274320" cy="274320"/>
          </a:xfrm>
          <a:prstGeom prst="rect">
            <a:avLst/>
          </a:prstGeom>
        </p:spPr>
      </p:pic>
      <p:sp>
        <p:nvSpPr>
          <p:cNvPr id="34" name="Text 22"/>
          <p:cNvSpPr txBox="1"/>
          <p:nvPr/>
        </p:nvSpPr>
        <p:spPr>
          <a:xfrm>
            <a:off x="9281160" y="5285232"/>
            <a:ext cx="2103120" cy="274320"/>
          </a:xfrm>
          <a:prstGeom prst="rect">
            <a:avLst/>
          </a:prstGeom>
          <a:noFill/>
          <a:ln/>
        </p:spPr>
        <p:txBody>
          <a:bodyPr wrap="square" lIns="0" tIns="0" rIns="0" bIns="0" rtlCol="0" anchor="t"/>
          <a:lstStyle/>
          <a:p>
            <a:pPr indent="0" marL="0">
              <a:buNone/>
            </a:pPr>
            <a:r>
              <a:rPr lang="en-US" sz="1300" b="1" dirty="0">
                <a:solidFill>
                  <a:srgbClr val="FFFFFF"/>
                </a:solidFill>
              </a:rPr>
              <a:t>Template fallback</a:t>
            </a:r>
            <a:endParaRPr lang="en-US" sz="1300" dirty="0"/>
          </a:p>
        </p:txBody>
      </p:sp>
      <p:sp>
        <p:nvSpPr>
          <p:cNvPr id="35" name="Text 23"/>
          <p:cNvSpPr txBox="1"/>
          <p:nvPr/>
        </p:nvSpPr>
        <p:spPr>
          <a:xfrm>
            <a:off x="9281160" y="5577840"/>
            <a:ext cx="2103120" cy="365760"/>
          </a:xfrm>
          <a:prstGeom prst="rect">
            <a:avLst/>
          </a:prstGeom>
          <a:noFill/>
          <a:ln/>
        </p:spPr>
        <p:txBody>
          <a:bodyPr wrap="square" lIns="0" tIns="0" rIns="0" bIns="0" rtlCol="0" anchor="t"/>
          <a:lstStyle/>
          <a:p>
            <a:pPr indent="0" marL="0">
              <a:buNone/>
            </a:pPr>
            <a:r>
              <a:rPr lang="en-US" sz="1050" dirty="0">
                <a:solidFill>
                  <a:srgbClr val="CFE0FF"/>
                </a:solidFill>
              </a:rPr>
              <a:t>A fixed safe answer if any check fails</a:t>
            </a:r>
            <a:endParaRPr lang="en-US" sz="105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640080" y="438912"/>
            <a:ext cx="8229600" cy="274320"/>
          </a:xfrm>
          <a:prstGeom prst="rect">
            <a:avLst/>
          </a:prstGeom>
          <a:noFill/>
          <a:ln/>
        </p:spPr>
        <p:txBody>
          <a:bodyPr wrap="square" lIns="0" tIns="0" rIns="0" bIns="0" rtlCol="0" anchor="t"/>
          <a:lstStyle/>
          <a:p>
            <a:pPr indent="0" marL="0">
              <a:buNone/>
            </a:pPr>
            <a:r>
              <a:rPr lang="en-US" sz="1200" b="1" spc="400" kern="0" dirty="0">
                <a:solidFill>
                  <a:srgbClr val="3CC3F0"/>
                </a:solidFill>
              </a:rPr>
              <a:t>03  ·  ARCHITECTURE</a:t>
            </a:r>
            <a:endParaRPr lang="en-US" sz="1200" dirty="0"/>
          </a:p>
        </p:txBody>
      </p:sp>
      <p:sp>
        <p:nvSpPr>
          <p:cNvPr id="3" name="Text 2"/>
          <p:cNvSpPr/>
          <p:nvPr>
            <p:ph idx="104" type="title" hasCustomPrompt="1"/>
          </p:nvPr>
        </p:nvSpPr>
        <p:spPr>
          <a:xfrm>
            <a:off x="640080" y="749808"/>
            <a:ext cx="10908792" cy="777240"/>
          </a:xfrm>
          <a:prstGeom prst="rect">
            <a:avLst/>
          </a:prstGeom>
          <a:noFill/>
          <a:ln/>
        </p:spPr>
        <p:txBody>
          <a:bodyPr wrap="square" lIns="0" tIns="0" rIns="0" bIns="0" rtlCol="0" anchor="t"/>
          <a:lstStyle/>
          <a:p>
            <a:pPr algn="l" indent="0" marL="0">
              <a:buNone/>
            </a:pPr>
            <a:r>
              <a:rPr lang="en-US" sz="3200" b="1" dirty="0">
                <a:solidFill>
                  <a:srgbClr val="FFFFFF"/>
                </a:solidFill>
              </a:rPr>
              <a:t>Five layers, one fixed workflow</a:t>
            </a:r>
            <a:endParaRPr lang="en-US" sz="3200" dirty="0"/>
          </a:p>
        </p:txBody>
      </p:sp>
      <p:sp>
        <p:nvSpPr>
          <p:cNvPr id="4" name="Shape 2"/>
          <p:cNvSpPr/>
          <p:nvPr/>
        </p:nvSpPr>
        <p:spPr>
          <a:xfrm>
            <a:off x="640080" y="1737360"/>
            <a:ext cx="10908792" cy="804672"/>
          </a:xfrm>
          <a:prstGeom prst="roundRect">
            <a:avLst>
              <a:gd name="adj" fmla="val 13636"/>
            </a:avLst>
          </a:prstGeom>
          <a:solidFill>
            <a:srgbClr val="FFFFFF">
              <a:alpha val="10000"/>
            </a:srgbClr>
          </a:solidFill>
          <a:ln w="9525">
            <a:solidFill>
              <a:srgbClr val="FFFFFF">
                <a:alpha val="25000"/>
              </a:srgbClr>
            </a:solidFill>
            <a:prstDash val="solid"/>
          </a:ln>
        </p:spPr>
      </p:sp>
      <p:sp>
        <p:nvSpPr>
          <p:cNvPr id="5" name="Shape 3"/>
          <p:cNvSpPr/>
          <p:nvPr/>
        </p:nvSpPr>
        <p:spPr>
          <a:xfrm>
            <a:off x="841248" y="2020824"/>
            <a:ext cx="237744" cy="237744"/>
          </a:xfrm>
          <a:prstGeom prst="ellipse">
            <a:avLst/>
          </a:prstGeom>
          <a:solidFill>
            <a:srgbClr val="3CC3F0"/>
          </a:solidFill>
          <a:ln w="6350">
            <a:solidFill>
              <a:srgbClr val="3CC3F0"/>
            </a:solidFill>
            <a:prstDash val="solid"/>
          </a:ln>
        </p:spPr>
      </p:sp>
      <p:sp>
        <p:nvSpPr>
          <p:cNvPr id="6" name="Text 4"/>
          <p:cNvSpPr txBox="1"/>
          <p:nvPr/>
        </p:nvSpPr>
        <p:spPr>
          <a:xfrm>
            <a:off x="1234440" y="1865376"/>
            <a:ext cx="1920240" cy="274320"/>
          </a:xfrm>
          <a:prstGeom prst="rect">
            <a:avLst/>
          </a:prstGeom>
          <a:noFill/>
          <a:ln/>
        </p:spPr>
        <p:txBody>
          <a:bodyPr wrap="square" lIns="0" tIns="0" rIns="0" bIns="0" rtlCol="0" anchor="t"/>
          <a:lstStyle/>
          <a:p>
            <a:pPr indent="0" marL="0">
              <a:buNone/>
            </a:pPr>
            <a:r>
              <a:rPr lang="en-US" sz="1100" b="1" spc="100" kern="0" dirty="0">
                <a:solidFill>
                  <a:srgbClr val="3CC3F0"/>
                </a:solidFill>
              </a:rPr>
              <a:t>EXPERIENCE</a:t>
            </a:r>
            <a:endParaRPr lang="en-US" sz="1100" dirty="0"/>
          </a:p>
        </p:txBody>
      </p:sp>
      <p:sp>
        <p:nvSpPr>
          <p:cNvPr id="7" name="Text 5"/>
          <p:cNvSpPr txBox="1"/>
          <p:nvPr/>
        </p:nvSpPr>
        <p:spPr>
          <a:xfrm>
            <a:off x="1234440" y="2157984"/>
            <a:ext cx="1828800" cy="274320"/>
          </a:xfrm>
          <a:prstGeom prst="rect">
            <a:avLst/>
          </a:prstGeom>
          <a:noFill/>
          <a:ln/>
        </p:spPr>
        <p:txBody>
          <a:bodyPr wrap="square" lIns="0" tIns="0" rIns="0" bIns="0" rtlCol="0" anchor="t"/>
          <a:lstStyle/>
          <a:p>
            <a:pPr indent="0" marL="0">
              <a:buNone/>
            </a:pPr>
            <a:r>
              <a:rPr lang="en-US" sz="1050" dirty="0">
                <a:solidFill>
                  <a:srgbClr val="CFE0FF"/>
                </a:solidFill>
              </a:rPr>
              <a:t>Hospital-style UI and client</a:t>
            </a:r>
            <a:endParaRPr lang="en-US" sz="1050" dirty="0"/>
          </a:p>
        </p:txBody>
      </p:sp>
      <p:sp>
        <p:nvSpPr>
          <p:cNvPr id="8" name="Shape 6"/>
          <p:cNvSpPr/>
          <p:nvPr/>
        </p:nvSpPr>
        <p:spPr>
          <a:xfrm>
            <a:off x="3246120" y="1883664"/>
            <a:ext cx="2645664" cy="512064"/>
          </a:xfrm>
          <a:prstGeom prst="roundRect">
            <a:avLst>
              <a:gd name="adj" fmla="val 17857"/>
            </a:avLst>
          </a:prstGeom>
          <a:solidFill>
            <a:srgbClr val="3CC3F0">
              <a:alpha val="18000"/>
            </a:srgbClr>
          </a:solidFill>
          <a:ln w="12700">
            <a:solidFill>
              <a:srgbClr val="3CC3F0"/>
            </a:solidFill>
            <a:prstDash val="solid"/>
          </a:ln>
        </p:spPr>
      </p:sp>
      <p:sp>
        <p:nvSpPr>
          <p:cNvPr id="9" name="Text 7"/>
          <p:cNvSpPr txBox="1"/>
          <p:nvPr/>
        </p:nvSpPr>
        <p:spPr>
          <a:xfrm>
            <a:off x="3246120" y="1883664"/>
            <a:ext cx="2645664" cy="512064"/>
          </a:xfrm>
          <a:prstGeom prst="rect">
            <a:avLst/>
          </a:prstGeom>
          <a:noFill/>
          <a:ln/>
        </p:spPr>
        <p:txBody>
          <a:bodyPr wrap="square" lIns="0" tIns="0" rIns="0" bIns="0" rtlCol="0" anchor="ctr"/>
          <a:lstStyle/>
          <a:p>
            <a:pPr algn="ctr" indent="0" marL="0">
              <a:buNone/>
            </a:pPr>
            <a:r>
              <a:rPr lang="en-US" sz="1100" b="1" dirty="0">
                <a:solidFill>
                  <a:srgbClr val="FFFFFF"/>
                </a:solidFill>
              </a:rPr>
              <a:t>Streamlit care desk</a:t>
            </a:r>
            <a:endParaRPr lang="en-US" sz="1100" dirty="0"/>
          </a:p>
        </p:txBody>
      </p:sp>
      <p:sp>
        <p:nvSpPr>
          <p:cNvPr id="10" name="Shape 8"/>
          <p:cNvSpPr/>
          <p:nvPr/>
        </p:nvSpPr>
        <p:spPr>
          <a:xfrm>
            <a:off x="5983224" y="1883664"/>
            <a:ext cx="2645664" cy="512064"/>
          </a:xfrm>
          <a:prstGeom prst="roundRect">
            <a:avLst>
              <a:gd name="adj" fmla="val 17857"/>
            </a:avLst>
          </a:prstGeom>
          <a:solidFill>
            <a:srgbClr val="3CC3F0">
              <a:alpha val="18000"/>
            </a:srgbClr>
          </a:solidFill>
          <a:ln w="12700">
            <a:solidFill>
              <a:srgbClr val="3CC3F0"/>
            </a:solidFill>
            <a:prstDash val="solid"/>
          </a:ln>
        </p:spPr>
      </p:sp>
      <p:sp>
        <p:nvSpPr>
          <p:cNvPr id="11" name="Text 9"/>
          <p:cNvSpPr txBox="1"/>
          <p:nvPr/>
        </p:nvSpPr>
        <p:spPr>
          <a:xfrm>
            <a:off x="5983224" y="1883664"/>
            <a:ext cx="2645664" cy="512064"/>
          </a:xfrm>
          <a:prstGeom prst="rect">
            <a:avLst/>
          </a:prstGeom>
          <a:noFill/>
          <a:ln/>
        </p:spPr>
        <p:txBody>
          <a:bodyPr wrap="square" lIns="0" tIns="0" rIns="0" bIns="0" rtlCol="0" anchor="ctr"/>
          <a:lstStyle/>
          <a:p>
            <a:pPr algn="ctr" indent="0" marL="0">
              <a:buNone/>
            </a:pPr>
            <a:r>
              <a:rPr lang="en-US" sz="1100" b="1" dirty="0">
                <a:solidFill>
                  <a:srgbClr val="FFFFFF"/>
                </a:solidFill>
              </a:rPr>
              <a:t>Python client</a:t>
            </a:r>
            <a:endParaRPr lang="en-US" sz="1100" dirty="0"/>
          </a:p>
        </p:txBody>
      </p:sp>
      <p:sp>
        <p:nvSpPr>
          <p:cNvPr id="12" name="Shape 10"/>
          <p:cNvSpPr/>
          <p:nvPr/>
        </p:nvSpPr>
        <p:spPr>
          <a:xfrm>
            <a:off x="8720328" y="1883664"/>
            <a:ext cx="2645664" cy="512064"/>
          </a:xfrm>
          <a:prstGeom prst="roundRect">
            <a:avLst>
              <a:gd name="adj" fmla="val 17857"/>
            </a:avLst>
          </a:prstGeom>
          <a:solidFill>
            <a:srgbClr val="3CC3F0">
              <a:alpha val="18000"/>
            </a:srgbClr>
          </a:solidFill>
          <a:ln w="12700">
            <a:solidFill>
              <a:srgbClr val="3CC3F0"/>
            </a:solidFill>
            <a:prstDash val="solid"/>
          </a:ln>
        </p:spPr>
      </p:sp>
      <p:sp>
        <p:nvSpPr>
          <p:cNvPr id="13" name="Text 11"/>
          <p:cNvSpPr txBox="1"/>
          <p:nvPr/>
        </p:nvSpPr>
        <p:spPr>
          <a:xfrm>
            <a:off x="8720328" y="1883664"/>
            <a:ext cx="2645664" cy="512064"/>
          </a:xfrm>
          <a:prstGeom prst="rect">
            <a:avLst/>
          </a:prstGeom>
          <a:noFill/>
          <a:ln/>
        </p:spPr>
        <p:txBody>
          <a:bodyPr wrap="square" lIns="0" tIns="0" rIns="0" bIns="0" rtlCol="0" anchor="ctr"/>
          <a:lstStyle/>
          <a:p>
            <a:pPr algn="ctr" indent="0" marL="0">
              <a:buNone/>
            </a:pPr>
            <a:r>
              <a:rPr lang="en-US" sz="1100" b="1" dirty="0">
                <a:solidFill>
                  <a:srgbClr val="FFFFFF"/>
                </a:solidFill>
              </a:rPr>
              <a:t>Staff view</a:t>
            </a:r>
            <a:endParaRPr lang="en-US" sz="1100" dirty="0"/>
          </a:p>
        </p:txBody>
      </p:sp>
      <p:sp>
        <p:nvSpPr>
          <p:cNvPr id="14" name="Shape 12"/>
          <p:cNvSpPr/>
          <p:nvPr/>
        </p:nvSpPr>
        <p:spPr>
          <a:xfrm>
            <a:off x="640080" y="2633472"/>
            <a:ext cx="10908792" cy="804672"/>
          </a:xfrm>
          <a:prstGeom prst="roundRect">
            <a:avLst>
              <a:gd name="adj" fmla="val 13636"/>
            </a:avLst>
          </a:prstGeom>
          <a:solidFill>
            <a:srgbClr val="FFFFFF">
              <a:alpha val="10000"/>
            </a:srgbClr>
          </a:solidFill>
          <a:ln w="9525">
            <a:solidFill>
              <a:srgbClr val="FFFFFF">
                <a:alpha val="25000"/>
              </a:srgbClr>
            </a:solidFill>
            <a:prstDash val="solid"/>
          </a:ln>
        </p:spPr>
      </p:sp>
      <p:sp>
        <p:nvSpPr>
          <p:cNvPr id="15" name="Shape 13"/>
          <p:cNvSpPr/>
          <p:nvPr/>
        </p:nvSpPr>
        <p:spPr>
          <a:xfrm>
            <a:off x="841248" y="2916936"/>
            <a:ext cx="237744" cy="237744"/>
          </a:xfrm>
          <a:prstGeom prst="ellipse">
            <a:avLst/>
          </a:prstGeom>
          <a:solidFill>
            <a:srgbClr val="6F9BFF"/>
          </a:solidFill>
          <a:ln w="6350">
            <a:solidFill>
              <a:srgbClr val="6F9BFF"/>
            </a:solidFill>
            <a:prstDash val="solid"/>
          </a:ln>
        </p:spPr>
      </p:sp>
      <p:sp>
        <p:nvSpPr>
          <p:cNvPr id="16" name="Text 14"/>
          <p:cNvSpPr txBox="1"/>
          <p:nvPr/>
        </p:nvSpPr>
        <p:spPr>
          <a:xfrm>
            <a:off x="1234440" y="2761488"/>
            <a:ext cx="1920240" cy="274320"/>
          </a:xfrm>
          <a:prstGeom prst="rect">
            <a:avLst/>
          </a:prstGeom>
          <a:noFill/>
          <a:ln/>
        </p:spPr>
        <p:txBody>
          <a:bodyPr wrap="square" lIns="0" tIns="0" rIns="0" bIns="0" rtlCol="0" anchor="t"/>
          <a:lstStyle/>
          <a:p>
            <a:pPr indent="0" marL="0">
              <a:buNone/>
            </a:pPr>
            <a:r>
              <a:rPr lang="en-US" sz="1100" b="1" spc="100" kern="0" dirty="0">
                <a:solidFill>
                  <a:srgbClr val="6F9BFF"/>
                </a:solidFill>
              </a:rPr>
              <a:t>ORCHESTRATION</a:t>
            </a:r>
            <a:endParaRPr lang="en-US" sz="1100" dirty="0"/>
          </a:p>
        </p:txBody>
      </p:sp>
      <p:sp>
        <p:nvSpPr>
          <p:cNvPr id="17" name="Text 15"/>
          <p:cNvSpPr txBox="1"/>
          <p:nvPr/>
        </p:nvSpPr>
        <p:spPr>
          <a:xfrm>
            <a:off x="1234440" y="3054096"/>
            <a:ext cx="1828800" cy="274320"/>
          </a:xfrm>
          <a:prstGeom prst="rect">
            <a:avLst/>
          </a:prstGeom>
          <a:noFill/>
          <a:ln/>
        </p:spPr>
        <p:txBody>
          <a:bodyPr wrap="square" lIns="0" tIns="0" rIns="0" bIns="0" rtlCol="0" anchor="t"/>
          <a:lstStyle/>
          <a:p>
            <a:pPr indent="0" marL="0">
              <a:buNone/>
            </a:pPr>
            <a:r>
              <a:rPr lang="en-US" sz="1050" dirty="0">
                <a:solidFill>
                  <a:srgbClr val="CFE0FF"/>
                </a:solidFill>
              </a:rPr>
              <a:t>Plain Python, fixed order</a:t>
            </a:r>
            <a:endParaRPr lang="en-US" sz="1050" dirty="0"/>
          </a:p>
        </p:txBody>
      </p:sp>
      <p:sp>
        <p:nvSpPr>
          <p:cNvPr id="18" name="Shape 16"/>
          <p:cNvSpPr/>
          <p:nvPr/>
        </p:nvSpPr>
        <p:spPr>
          <a:xfrm>
            <a:off x="3246120" y="2779776"/>
            <a:ext cx="1550822" cy="512064"/>
          </a:xfrm>
          <a:prstGeom prst="roundRect">
            <a:avLst>
              <a:gd name="adj" fmla="val 17857"/>
            </a:avLst>
          </a:prstGeom>
          <a:solidFill>
            <a:srgbClr val="6F9BFF">
              <a:alpha val="18000"/>
            </a:srgbClr>
          </a:solidFill>
          <a:ln w="12700">
            <a:solidFill>
              <a:srgbClr val="6F9BFF"/>
            </a:solidFill>
            <a:prstDash val="solid"/>
          </a:ln>
        </p:spPr>
      </p:sp>
      <p:sp>
        <p:nvSpPr>
          <p:cNvPr id="19" name="Text 17"/>
          <p:cNvSpPr txBox="1"/>
          <p:nvPr/>
        </p:nvSpPr>
        <p:spPr>
          <a:xfrm>
            <a:off x="3246120" y="2779776"/>
            <a:ext cx="1550822" cy="512064"/>
          </a:xfrm>
          <a:prstGeom prst="rect">
            <a:avLst/>
          </a:prstGeom>
          <a:noFill/>
          <a:ln/>
        </p:spPr>
        <p:txBody>
          <a:bodyPr wrap="square" lIns="0" tIns="0" rIns="0" bIns="0" rtlCol="0" anchor="ctr"/>
          <a:lstStyle/>
          <a:p>
            <a:pPr algn="ctr" indent="0" marL="0">
              <a:buNone/>
            </a:pPr>
            <a:r>
              <a:rPr lang="en-US" sz="1100" b="1" dirty="0">
                <a:solidFill>
                  <a:srgbClr val="FFFFFF"/>
                </a:solidFill>
              </a:rPr>
              <a:t>Consent ER-501</a:t>
            </a:r>
            <a:endParaRPr lang="en-US" sz="1100" dirty="0"/>
          </a:p>
        </p:txBody>
      </p:sp>
      <p:sp>
        <p:nvSpPr>
          <p:cNvPr id="20" name="Shape 18"/>
          <p:cNvSpPr/>
          <p:nvPr/>
        </p:nvSpPr>
        <p:spPr>
          <a:xfrm>
            <a:off x="4888382" y="2779776"/>
            <a:ext cx="1550822" cy="512064"/>
          </a:xfrm>
          <a:prstGeom prst="roundRect">
            <a:avLst>
              <a:gd name="adj" fmla="val 17857"/>
            </a:avLst>
          </a:prstGeom>
          <a:solidFill>
            <a:srgbClr val="6F9BFF">
              <a:alpha val="18000"/>
            </a:srgbClr>
          </a:solidFill>
          <a:ln w="12700">
            <a:solidFill>
              <a:srgbClr val="6F9BFF"/>
            </a:solidFill>
            <a:prstDash val="solid"/>
          </a:ln>
        </p:spPr>
      </p:sp>
      <p:sp>
        <p:nvSpPr>
          <p:cNvPr id="21" name="Text 19"/>
          <p:cNvSpPr txBox="1"/>
          <p:nvPr/>
        </p:nvSpPr>
        <p:spPr>
          <a:xfrm>
            <a:off x="4888382" y="2779776"/>
            <a:ext cx="1550822" cy="512064"/>
          </a:xfrm>
          <a:prstGeom prst="rect">
            <a:avLst/>
          </a:prstGeom>
          <a:noFill/>
          <a:ln/>
        </p:spPr>
        <p:txBody>
          <a:bodyPr wrap="square" lIns="0" tIns="0" rIns="0" bIns="0" rtlCol="0" anchor="ctr"/>
          <a:lstStyle/>
          <a:p>
            <a:pPr algn="ctr" indent="0" marL="0">
              <a:buNone/>
            </a:pPr>
            <a:r>
              <a:rPr lang="en-US" sz="1100" b="1" dirty="0">
                <a:solidFill>
                  <a:srgbClr val="FFFFFF"/>
                </a:solidFill>
              </a:rPr>
              <a:t>Input &amp; medicine check</a:t>
            </a:r>
            <a:endParaRPr lang="en-US" sz="1100" dirty="0"/>
          </a:p>
        </p:txBody>
      </p:sp>
      <p:sp>
        <p:nvSpPr>
          <p:cNvPr id="22" name="Shape 20"/>
          <p:cNvSpPr/>
          <p:nvPr/>
        </p:nvSpPr>
        <p:spPr>
          <a:xfrm>
            <a:off x="6530645" y="2779776"/>
            <a:ext cx="1550822" cy="512064"/>
          </a:xfrm>
          <a:prstGeom prst="roundRect">
            <a:avLst>
              <a:gd name="adj" fmla="val 17857"/>
            </a:avLst>
          </a:prstGeom>
          <a:solidFill>
            <a:srgbClr val="6F9BFF">
              <a:alpha val="18000"/>
            </a:srgbClr>
          </a:solidFill>
          <a:ln w="12700">
            <a:solidFill>
              <a:srgbClr val="6F9BFF"/>
            </a:solidFill>
            <a:prstDash val="solid"/>
          </a:ln>
        </p:spPr>
      </p:sp>
      <p:sp>
        <p:nvSpPr>
          <p:cNvPr id="23" name="Text 21"/>
          <p:cNvSpPr txBox="1"/>
          <p:nvPr/>
        </p:nvSpPr>
        <p:spPr>
          <a:xfrm>
            <a:off x="6530645" y="2779776"/>
            <a:ext cx="1550822" cy="512064"/>
          </a:xfrm>
          <a:prstGeom prst="rect">
            <a:avLst/>
          </a:prstGeom>
          <a:noFill/>
          <a:ln/>
        </p:spPr>
        <p:txBody>
          <a:bodyPr wrap="square" lIns="0" tIns="0" rIns="0" bIns="0" rtlCol="0" anchor="ctr"/>
          <a:lstStyle/>
          <a:p>
            <a:pPr algn="ctr" indent="0" marL="0">
              <a:buNone/>
            </a:pPr>
            <a:r>
              <a:rPr lang="en-US" sz="1100" b="1" dirty="0">
                <a:solidFill>
                  <a:srgbClr val="FFFFFF"/>
                </a:solidFill>
              </a:rPr>
              <a:t>Router</a:t>
            </a:r>
            <a:endParaRPr lang="en-US" sz="1100" dirty="0"/>
          </a:p>
        </p:txBody>
      </p:sp>
      <p:sp>
        <p:nvSpPr>
          <p:cNvPr id="24" name="Shape 22"/>
          <p:cNvSpPr/>
          <p:nvPr/>
        </p:nvSpPr>
        <p:spPr>
          <a:xfrm>
            <a:off x="8172907" y="2779776"/>
            <a:ext cx="1550822" cy="512064"/>
          </a:xfrm>
          <a:prstGeom prst="roundRect">
            <a:avLst>
              <a:gd name="adj" fmla="val 17857"/>
            </a:avLst>
          </a:prstGeom>
          <a:solidFill>
            <a:srgbClr val="6F9BFF">
              <a:alpha val="18000"/>
            </a:srgbClr>
          </a:solidFill>
          <a:ln w="12700">
            <a:solidFill>
              <a:srgbClr val="6F9BFF"/>
            </a:solidFill>
            <a:prstDash val="solid"/>
          </a:ln>
        </p:spPr>
      </p:sp>
      <p:sp>
        <p:nvSpPr>
          <p:cNvPr id="25" name="Text 23"/>
          <p:cNvSpPr txBox="1"/>
          <p:nvPr/>
        </p:nvSpPr>
        <p:spPr>
          <a:xfrm>
            <a:off x="8172907" y="2779776"/>
            <a:ext cx="1550822" cy="512064"/>
          </a:xfrm>
          <a:prstGeom prst="rect">
            <a:avLst/>
          </a:prstGeom>
          <a:noFill/>
          <a:ln/>
        </p:spPr>
        <p:txBody>
          <a:bodyPr wrap="square" lIns="0" tIns="0" rIns="0" bIns="0" rtlCol="0" anchor="ctr"/>
          <a:lstStyle/>
          <a:p>
            <a:pPr algn="ctr" indent="0" marL="0">
              <a:buNone/>
            </a:pPr>
            <a:r>
              <a:rPr lang="en-US" sz="1100" b="1" dirty="0">
                <a:solidFill>
                  <a:srgbClr val="FFFFFF"/>
                </a:solidFill>
              </a:rPr>
              <a:t>Rules ER-502 / 504</a:t>
            </a:r>
            <a:endParaRPr lang="en-US" sz="1100" dirty="0"/>
          </a:p>
        </p:txBody>
      </p:sp>
      <p:sp>
        <p:nvSpPr>
          <p:cNvPr id="26" name="Shape 24"/>
          <p:cNvSpPr/>
          <p:nvPr/>
        </p:nvSpPr>
        <p:spPr>
          <a:xfrm>
            <a:off x="9815170" y="2779776"/>
            <a:ext cx="1550822" cy="512064"/>
          </a:xfrm>
          <a:prstGeom prst="roundRect">
            <a:avLst>
              <a:gd name="adj" fmla="val 17857"/>
            </a:avLst>
          </a:prstGeom>
          <a:solidFill>
            <a:srgbClr val="6F9BFF">
              <a:alpha val="18000"/>
            </a:srgbClr>
          </a:solidFill>
          <a:ln w="12700">
            <a:solidFill>
              <a:srgbClr val="6F9BFF"/>
            </a:solidFill>
            <a:prstDash val="solid"/>
          </a:ln>
        </p:spPr>
      </p:sp>
      <p:sp>
        <p:nvSpPr>
          <p:cNvPr id="27" name="Text 25"/>
          <p:cNvSpPr txBox="1"/>
          <p:nvPr/>
        </p:nvSpPr>
        <p:spPr>
          <a:xfrm>
            <a:off x="9815170" y="2779776"/>
            <a:ext cx="1550822" cy="512064"/>
          </a:xfrm>
          <a:prstGeom prst="rect">
            <a:avLst/>
          </a:prstGeom>
          <a:noFill/>
          <a:ln/>
        </p:spPr>
        <p:txBody>
          <a:bodyPr wrap="square" lIns="0" tIns="0" rIns="0" bIns="0" rtlCol="0" anchor="ctr"/>
          <a:lstStyle/>
          <a:p>
            <a:pPr algn="ctr" indent="0" marL="0">
              <a:buNone/>
            </a:pPr>
            <a:r>
              <a:rPr lang="en-US" sz="1100" b="1" dirty="0">
                <a:solidFill>
                  <a:srgbClr val="FFFFFF"/>
                </a:solidFill>
              </a:rPr>
              <a:t>Two outputs</a:t>
            </a:r>
            <a:endParaRPr lang="en-US" sz="1100" dirty="0"/>
          </a:p>
        </p:txBody>
      </p:sp>
      <p:sp>
        <p:nvSpPr>
          <p:cNvPr id="28" name="Shape 26"/>
          <p:cNvSpPr/>
          <p:nvPr/>
        </p:nvSpPr>
        <p:spPr>
          <a:xfrm>
            <a:off x="640080" y="3529584"/>
            <a:ext cx="10908792" cy="804672"/>
          </a:xfrm>
          <a:prstGeom prst="roundRect">
            <a:avLst>
              <a:gd name="adj" fmla="val 13636"/>
            </a:avLst>
          </a:prstGeom>
          <a:solidFill>
            <a:srgbClr val="FFFFFF">
              <a:alpha val="10000"/>
            </a:srgbClr>
          </a:solidFill>
          <a:ln w="9525">
            <a:solidFill>
              <a:srgbClr val="FFFFFF">
                <a:alpha val="25000"/>
              </a:srgbClr>
            </a:solidFill>
            <a:prstDash val="solid"/>
          </a:ln>
        </p:spPr>
      </p:sp>
      <p:sp>
        <p:nvSpPr>
          <p:cNvPr id="29" name="Shape 27"/>
          <p:cNvSpPr/>
          <p:nvPr/>
        </p:nvSpPr>
        <p:spPr>
          <a:xfrm>
            <a:off x="841248" y="3813048"/>
            <a:ext cx="237744" cy="237744"/>
          </a:xfrm>
          <a:prstGeom prst="ellipse">
            <a:avLst/>
          </a:prstGeom>
          <a:solidFill>
            <a:srgbClr val="12A36B"/>
          </a:solidFill>
          <a:ln w="6350">
            <a:solidFill>
              <a:srgbClr val="12A36B"/>
            </a:solidFill>
            <a:prstDash val="solid"/>
          </a:ln>
        </p:spPr>
      </p:sp>
      <p:sp>
        <p:nvSpPr>
          <p:cNvPr id="30" name="Text 28"/>
          <p:cNvSpPr txBox="1"/>
          <p:nvPr/>
        </p:nvSpPr>
        <p:spPr>
          <a:xfrm>
            <a:off x="1234440" y="3657600"/>
            <a:ext cx="1920240" cy="274320"/>
          </a:xfrm>
          <a:prstGeom prst="rect">
            <a:avLst/>
          </a:prstGeom>
          <a:noFill/>
          <a:ln/>
        </p:spPr>
        <p:txBody>
          <a:bodyPr wrap="square" lIns="0" tIns="0" rIns="0" bIns="0" rtlCol="0" anchor="t"/>
          <a:lstStyle/>
          <a:p>
            <a:pPr indent="0" marL="0">
              <a:buNone/>
            </a:pPr>
            <a:r>
              <a:rPr lang="en-US" sz="1100" b="1" spc="100" kern="0" dirty="0">
                <a:solidFill>
                  <a:srgbClr val="12A36B"/>
                </a:solidFill>
              </a:rPr>
              <a:t>SIX FOUNDRY AGENTS</a:t>
            </a:r>
            <a:endParaRPr lang="en-US" sz="1100" dirty="0"/>
          </a:p>
        </p:txBody>
      </p:sp>
      <p:sp>
        <p:nvSpPr>
          <p:cNvPr id="31" name="Text 29"/>
          <p:cNvSpPr txBox="1"/>
          <p:nvPr/>
        </p:nvSpPr>
        <p:spPr>
          <a:xfrm>
            <a:off x="1234440" y="3950208"/>
            <a:ext cx="1828800" cy="274320"/>
          </a:xfrm>
          <a:prstGeom prst="rect">
            <a:avLst/>
          </a:prstGeom>
          <a:noFill/>
          <a:ln/>
        </p:spPr>
        <p:txBody>
          <a:bodyPr wrap="square" lIns="0" tIns="0" rIns="0" bIns="0" rtlCol="0" anchor="t"/>
          <a:lstStyle/>
          <a:p>
            <a:pPr indent="0" marL="0">
              <a:buNone/>
            </a:pPr>
            <a:r>
              <a:rPr lang="en-US" sz="1050" dirty="0">
                <a:solidFill>
                  <a:srgbClr val="CFE0FF"/>
                </a:solidFill>
              </a:rPr>
              <a:t>Language only, no decisions</a:t>
            </a:r>
            <a:endParaRPr lang="en-US" sz="1050" dirty="0"/>
          </a:p>
        </p:txBody>
      </p:sp>
      <p:sp>
        <p:nvSpPr>
          <p:cNvPr id="32" name="Shape 30"/>
          <p:cNvSpPr/>
          <p:nvPr/>
        </p:nvSpPr>
        <p:spPr>
          <a:xfrm>
            <a:off x="3246120" y="3675888"/>
            <a:ext cx="1277112" cy="512064"/>
          </a:xfrm>
          <a:prstGeom prst="roundRect">
            <a:avLst>
              <a:gd name="adj" fmla="val 17857"/>
            </a:avLst>
          </a:prstGeom>
          <a:solidFill>
            <a:srgbClr val="12A36B">
              <a:alpha val="18000"/>
            </a:srgbClr>
          </a:solidFill>
          <a:ln w="12700">
            <a:solidFill>
              <a:srgbClr val="12A36B"/>
            </a:solidFill>
            <a:prstDash val="solid"/>
          </a:ln>
        </p:spPr>
      </p:sp>
      <p:sp>
        <p:nvSpPr>
          <p:cNvPr id="33" name="Text 31"/>
          <p:cNvSpPr txBox="1"/>
          <p:nvPr/>
        </p:nvSpPr>
        <p:spPr>
          <a:xfrm>
            <a:off x="3246120" y="3675888"/>
            <a:ext cx="1277112" cy="512064"/>
          </a:xfrm>
          <a:prstGeom prst="rect">
            <a:avLst/>
          </a:prstGeom>
          <a:noFill/>
          <a:ln/>
        </p:spPr>
        <p:txBody>
          <a:bodyPr wrap="square" lIns="0" tIns="0" rIns="0" bIns="0" rtlCol="0" anchor="ctr"/>
          <a:lstStyle/>
          <a:p>
            <a:pPr algn="ctr" indent="0" marL="0">
              <a:buNone/>
            </a:pPr>
            <a:r>
              <a:rPr lang="en-US" sz="1100" b="1" dirty="0">
                <a:solidFill>
                  <a:srgbClr val="FFFFFF"/>
                </a:solidFill>
              </a:rPr>
              <a:t>Orchestrator</a:t>
            </a:r>
            <a:endParaRPr lang="en-US" sz="1100" dirty="0"/>
          </a:p>
        </p:txBody>
      </p:sp>
      <p:sp>
        <p:nvSpPr>
          <p:cNvPr id="34" name="Shape 32"/>
          <p:cNvSpPr/>
          <p:nvPr/>
        </p:nvSpPr>
        <p:spPr>
          <a:xfrm>
            <a:off x="4614672" y="3675888"/>
            <a:ext cx="1277112" cy="512064"/>
          </a:xfrm>
          <a:prstGeom prst="roundRect">
            <a:avLst>
              <a:gd name="adj" fmla="val 17857"/>
            </a:avLst>
          </a:prstGeom>
          <a:solidFill>
            <a:srgbClr val="12A36B">
              <a:alpha val="18000"/>
            </a:srgbClr>
          </a:solidFill>
          <a:ln w="12700">
            <a:solidFill>
              <a:srgbClr val="12A36B"/>
            </a:solidFill>
            <a:prstDash val="solid"/>
          </a:ln>
        </p:spPr>
      </p:sp>
      <p:sp>
        <p:nvSpPr>
          <p:cNvPr id="35" name="Text 33"/>
          <p:cNvSpPr txBox="1"/>
          <p:nvPr/>
        </p:nvSpPr>
        <p:spPr>
          <a:xfrm>
            <a:off x="4614672" y="3675888"/>
            <a:ext cx="1277112" cy="512064"/>
          </a:xfrm>
          <a:prstGeom prst="rect">
            <a:avLst/>
          </a:prstGeom>
          <a:noFill/>
          <a:ln/>
        </p:spPr>
        <p:txBody>
          <a:bodyPr wrap="square" lIns="0" tIns="0" rIns="0" bIns="0" rtlCol="0" anchor="ctr"/>
          <a:lstStyle/>
          <a:p>
            <a:pPr algn="ctr" indent="0" marL="0">
              <a:buNone/>
            </a:pPr>
            <a:r>
              <a:rPr lang="en-US" sz="1100" b="1" dirty="0">
                <a:solidFill>
                  <a:srgbClr val="FFFFFF"/>
                </a:solidFill>
              </a:rPr>
              <a:t>Reading</a:t>
            </a:r>
            <a:endParaRPr lang="en-US" sz="1100" dirty="0"/>
          </a:p>
        </p:txBody>
      </p:sp>
      <p:sp>
        <p:nvSpPr>
          <p:cNvPr id="36" name="Shape 34"/>
          <p:cNvSpPr/>
          <p:nvPr/>
        </p:nvSpPr>
        <p:spPr>
          <a:xfrm>
            <a:off x="5983224" y="3675888"/>
            <a:ext cx="1277112" cy="512064"/>
          </a:xfrm>
          <a:prstGeom prst="roundRect">
            <a:avLst>
              <a:gd name="adj" fmla="val 17857"/>
            </a:avLst>
          </a:prstGeom>
          <a:solidFill>
            <a:srgbClr val="12A36B">
              <a:alpha val="18000"/>
            </a:srgbClr>
          </a:solidFill>
          <a:ln w="12700">
            <a:solidFill>
              <a:srgbClr val="12A36B"/>
            </a:solidFill>
            <a:prstDash val="solid"/>
          </a:ln>
        </p:spPr>
      </p:sp>
      <p:sp>
        <p:nvSpPr>
          <p:cNvPr id="37" name="Text 35"/>
          <p:cNvSpPr txBox="1"/>
          <p:nvPr/>
        </p:nvSpPr>
        <p:spPr>
          <a:xfrm>
            <a:off x="5983224" y="3675888"/>
            <a:ext cx="1277112" cy="512064"/>
          </a:xfrm>
          <a:prstGeom prst="rect">
            <a:avLst/>
          </a:prstGeom>
          <a:noFill/>
          <a:ln/>
        </p:spPr>
        <p:txBody>
          <a:bodyPr wrap="square" lIns="0" tIns="0" rIns="0" bIns="0" rtlCol="0" anchor="ctr"/>
          <a:lstStyle/>
          <a:p>
            <a:pPr algn="ctr" indent="0" marL="0">
              <a:buNone/>
            </a:pPr>
            <a:r>
              <a:rPr lang="en-US" sz="1100" b="1" dirty="0">
                <a:solidFill>
                  <a:srgbClr val="FFFFFF"/>
                </a:solidFill>
              </a:rPr>
              <a:t>Care Plan</a:t>
            </a:r>
            <a:endParaRPr lang="en-US" sz="1100" dirty="0"/>
          </a:p>
        </p:txBody>
      </p:sp>
      <p:sp>
        <p:nvSpPr>
          <p:cNvPr id="38" name="Shape 36"/>
          <p:cNvSpPr/>
          <p:nvPr/>
        </p:nvSpPr>
        <p:spPr>
          <a:xfrm>
            <a:off x="7351776" y="3675888"/>
            <a:ext cx="1277112" cy="512064"/>
          </a:xfrm>
          <a:prstGeom prst="roundRect">
            <a:avLst>
              <a:gd name="adj" fmla="val 17857"/>
            </a:avLst>
          </a:prstGeom>
          <a:solidFill>
            <a:srgbClr val="12A36B">
              <a:alpha val="18000"/>
            </a:srgbClr>
          </a:solidFill>
          <a:ln w="12700">
            <a:solidFill>
              <a:srgbClr val="12A36B"/>
            </a:solidFill>
            <a:prstDash val="solid"/>
          </a:ln>
        </p:spPr>
      </p:sp>
      <p:sp>
        <p:nvSpPr>
          <p:cNvPr id="39" name="Text 37"/>
          <p:cNvSpPr txBox="1"/>
          <p:nvPr/>
        </p:nvSpPr>
        <p:spPr>
          <a:xfrm>
            <a:off x="7351776" y="3675888"/>
            <a:ext cx="1277112" cy="512064"/>
          </a:xfrm>
          <a:prstGeom prst="rect">
            <a:avLst/>
          </a:prstGeom>
          <a:noFill/>
          <a:ln/>
        </p:spPr>
        <p:txBody>
          <a:bodyPr wrap="square" lIns="0" tIns="0" rIns="0" bIns="0" rtlCol="0" anchor="ctr"/>
          <a:lstStyle/>
          <a:p>
            <a:pPr algn="ctr" indent="0" marL="0">
              <a:buNone/>
            </a:pPr>
            <a:r>
              <a:rPr lang="en-US" sz="1100" b="1" dirty="0">
                <a:solidFill>
                  <a:srgbClr val="FFFFFF"/>
                </a:solidFill>
              </a:rPr>
              <a:t>Education RAG</a:t>
            </a:r>
            <a:endParaRPr lang="en-US" sz="1100" dirty="0"/>
          </a:p>
        </p:txBody>
      </p:sp>
      <p:sp>
        <p:nvSpPr>
          <p:cNvPr id="40" name="Shape 38"/>
          <p:cNvSpPr/>
          <p:nvPr/>
        </p:nvSpPr>
        <p:spPr>
          <a:xfrm>
            <a:off x="8720328" y="3675888"/>
            <a:ext cx="1277112" cy="512064"/>
          </a:xfrm>
          <a:prstGeom prst="roundRect">
            <a:avLst>
              <a:gd name="adj" fmla="val 17857"/>
            </a:avLst>
          </a:prstGeom>
          <a:solidFill>
            <a:srgbClr val="12A36B">
              <a:alpha val="18000"/>
            </a:srgbClr>
          </a:solidFill>
          <a:ln w="12700">
            <a:solidFill>
              <a:srgbClr val="12A36B"/>
            </a:solidFill>
            <a:prstDash val="solid"/>
          </a:ln>
        </p:spPr>
      </p:sp>
      <p:sp>
        <p:nvSpPr>
          <p:cNvPr id="41" name="Text 39"/>
          <p:cNvSpPr txBox="1"/>
          <p:nvPr/>
        </p:nvSpPr>
        <p:spPr>
          <a:xfrm>
            <a:off x="8720328" y="3675888"/>
            <a:ext cx="1277112" cy="512064"/>
          </a:xfrm>
          <a:prstGeom prst="rect">
            <a:avLst/>
          </a:prstGeom>
          <a:noFill/>
          <a:ln/>
        </p:spPr>
        <p:txBody>
          <a:bodyPr wrap="square" lIns="0" tIns="0" rIns="0" bIns="0" rtlCol="0" anchor="ctr"/>
          <a:lstStyle/>
          <a:p>
            <a:pPr algn="ctr" indent="0" marL="0">
              <a:buNone/>
            </a:pPr>
            <a:r>
              <a:rPr lang="en-US" sz="1100" b="1" dirty="0">
                <a:solidFill>
                  <a:srgbClr val="FFFFFF"/>
                </a:solidFill>
              </a:rPr>
              <a:t>Engagement</a:t>
            </a:r>
            <a:endParaRPr lang="en-US" sz="1100" dirty="0"/>
          </a:p>
        </p:txBody>
      </p:sp>
      <p:sp>
        <p:nvSpPr>
          <p:cNvPr id="42" name="Shape 40"/>
          <p:cNvSpPr/>
          <p:nvPr/>
        </p:nvSpPr>
        <p:spPr>
          <a:xfrm>
            <a:off x="10088880" y="3675888"/>
            <a:ext cx="1277112" cy="512064"/>
          </a:xfrm>
          <a:prstGeom prst="roundRect">
            <a:avLst>
              <a:gd name="adj" fmla="val 17857"/>
            </a:avLst>
          </a:prstGeom>
          <a:solidFill>
            <a:srgbClr val="12A36B">
              <a:alpha val="18000"/>
            </a:srgbClr>
          </a:solidFill>
          <a:ln w="12700">
            <a:solidFill>
              <a:srgbClr val="12A36B"/>
            </a:solidFill>
            <a:prstDash val="solid"/>
          </a:ln>
        </p:spPr>
      </p:sp>
      <p:sp>
        <p:nvSpPr>
          <p:cNvPr id="43" name="Text 41"/>
          <p:cNvSpPr txBox="1"/>
          <p:nvPr/>
        </p:nvSpPr>
        <p:spPr>
          <a:xfrm>
            <a:off x="10088880" y="3675888"/>
            <a:ext cx="1277112" cy="512064"/>
          </a:xfrm>
          <a:prstGeom prst="rect">
            <a:avLst/>
          </a:prstGeom>
          <a:noFill/>
          <a:ln/>
        </p:spPr>
        <p:txBody>
          <a:bodyPr wrap="square" lIns="0" tIns="0" rIns="0" bIns="0" rtlCol="0" anchor="ctr"/>
          <a:lstStyle/>
          <a:p>
            <a:pPr algn="ctr" indent="0" marL="0">
              <a:buNone/>
            </a:pPr>
            <a:r>
              <a:rPr lang="en-US" sz="1100" b="1" dirty="0">
                <a:solidFill>
                  <a:srgbClr val="FFFFFF"/>
                </a:solidFill>
              </a:rPr>
              <a:t>Escalation</a:t>
            </a:r>
            <a:endParaRPr lang="en-US" sz="1100" dirty="0"/>
          </a:p>
        </p:txBody>
      </p:sp>
      <p:sp>
        <p:nvSpPr>
          <p:cNvPr id="44" name="Shape 42"/>
          <p:cNvSpPr/>
          <p:nvPr/>
        </p:nvSpPr>
        <p:spPr>
          <a:xfrm>
            <a:off x="640080" y="4425696"/>
            <a:ext cx="10908792" cy="804672"/>
          </a:xfrm>
          <a:prstGeom prst="roundRect">
            <a:avLst>
              <a:gd name="adj" fmla="val 13636"/>
            </a:avLst>
          </a:prstGeom>
          <a:solidFill>
            <a:srgbClr val="FFFFFF">
              <a:alpha val="10000"/>
            </a:srgbClr>
          </a:solidFill>
          <a:ln w="9525">
            <a:solidFill>
              <a:srgbClr val="FFFFFF">
                <a:alpha val="25000"/>
              </a:srgbClr>
            </a:solidFill>
            <a:prstDash val="solid"/>
          </a:ln>
        </p:spPr>
      </p:sp>
      <p:sp>
        <p:nvSpPr>
          <p:cNvPr id="45" name="Shape 43"/>
          <p:cNvSpPr/>
          <p:nvPr/>
        </p:nvSpPr>
        <p:spPr>
          <a:xfrm>
            <a:off x="841248" y="4709160"/>
            <a:ext cx="237744" cy="237744"/>
          </a:xfrm>
          <a:prstGeom prst="ellipse">
            <a:avLst/>
          </a:prstGeom>
          <a:solidFill>
            <a:srgbClr val="F5A524"/>
          </a:solidFill>
          <a:ln w="6350">
            <a:solidFill>
              <a:srgbClr val="F5A524"/>
            </a:solidFill>
            <a:prstDash val="solid"/>
          </a:ln>
        </p:spPr>
      </p:sp>
      <p:sp>
        <p:nvSpPr>
          <p:cNvPr id="46" name="Text 44"/>
          <p:cNvSpPr txBox="1"/>
          <p:nvPr/>
        </p:nvSpPr>
        <p:spPr>
          <a:xfrm>
            <a:off x="1234440" y="4553712"/>
            <a:ext cx="1920240" cy="274320"/>
          </a:xfrm>
          <a:prstGeom prst="rect">
            <a:avLst/>
          </a:prstGeom>
          <a:noFill/>
          <a:ln/>
        </p:spPr>
        <p:txBody>
          <a:bodyPr wrap="square" lIns="0" tIns="0" rIns="0" bIns="0" rtlCol="0" anchor="t"/>
          <a:lstStyle/>
          <a:p>
            <a:pPr indent="0" marL="0">
              <a:buNone/>
            </a:pPr>
            <a:r>
              <a:rPr lang="en-US" sz="1100" b="1" spc="100" kern="0" dirty="0">
                <a:solidFill>
                  <a:srgbClr val="F5A524"/>
                </a:solidFill>
              </a:rPr>
              <a:t>KNOWLEDGE &amp; DATA</a:t>
            </a:r>
            <a:endParaRPr lang="en-US" sz="1100" dirty="0"/>
          </a:p>
        </p:txBody>
      </p:sp>
      <p:sp>
        <p:nvSpPr>
          <p:cNvPr id="47" name="Text 45"/>
          <p:cNvSpPr txBox="1"/>
          <p:nvPr/>
        </p:nvSpPr>
        <p:spPr>
          <a:xfrm>
            <a:off x="1234440" y="4846320"/>
            <a:ext cx="1828800" cy="274320"/>
          </a:xfrm>
          <a:prstGeom prst="rect">
            <a:avLst/>
          </a:prstGeom>
          <a:noFill/>
          <a:ln/>
        </p:spPr>
        <p:txBody>
          <a:bodyPr wrap="square" lIns="0" tIns="0" rIns="0" bIns="0" rtlCol="0" anchor="t"/>
          <a:lstStyle/>
          <a:p>
            <a:pPr indent="0" marL="0">
              <a:buNone/>
            </a:pPr>
            <a:r>
              <a:rPr lang="en-US" sz="1050" dirty="0">
                <a:solidFill>
                  <a:srgbClr val="CFE0FF"/>
                </a:solidFill>
              </a:rPr>
              <a:t>Approved content only</a:t>
            </a:r>
            <a:endParaRPr lang="en-US" sz="1050" dirty="0"/>
          </a:p>
        </p:txBody>
      </p:sp>
      <p:sp>
        <p:nvSpPr>
          <p:cNvPr id="48" name="Shape 46"/>
          <p:cNvSpPr/>
          <p:nvPr/>
        </p:nvSpPr>
        <p:spPr>
          <a:xfrm>
            <a:off x="3246120" y="4572000"/>
            <a:ext cx="1961388" cy="512064"/>
          </a:xfrm>
          <a:prstGeom prst="roundRect">
            <a:avLst>
              <a:gd name="adj" fmla="val 17857"/>
            </a:avLst>
          </a:prstGeom>
          <a:solidFill>
            <a:srgbClr val="F5A524">
              <a:alpha val="18000"/>
            </a:srgbClr>
          </a:solidFill>
          <a:ln w="12700">
            <a:solidFill>
              <a:srgbClr val="F5A524"/>
            </a:solidFill>
            <a:prstDash val="solid"/>
          </a:ln>
        </p:spPr>
      </p:sp>
      <p:sp>
        <p:nvSpPr>
          <p:cNvPr id="49" name="Text 47"/>
          <p:cNvSpPr txBox="1"/>
          <p:nvPr/>
        </p:nvSpPr>
        <p:spPr>
          <a:xfrm>
            <a:off x="3246120" y="4572000"/>
            <a:ext cx="1961388" cy="512064"/>
          </a:xfrm>
          <a:prstGeom prst="rect">
            <a:avLst/>
          </a:prstGeom>
          <a:noFill/>
          <a:ln/>
        </p:spPr>
        <p:txBody>
          <a:bodyPr wrap="square" lIns="0" tIns="0" rIns="0" bIns="0" rtlCol="0" anchor="ctr"/>
          <a:lstStyle/>
          <a:p>
            <a:pPr algn="ctr" indent="0" marL="0">
              <a:buNone/>
            </a:pPr>
            <a:r>
              <a:rPr lang="en-US" sz="1100" b="1" dirty="0">
                <a:solidFill>
                  <a:srgbClr val="FFFFFF"/>
                </a:solidFill>
              </a:rPr>
              <a:t>Blob Storage</a:t>
            </a:r>
            <a:endParaRPr lang="en-US" sz="1100" dirty="0"/>
          </a:p>
        </p:txBody>
      </p:sp>
      <p:sp>
        <p:nvSpPr>
          <p:cNvPr id="50" name="Shape 48"/>
          <p:cNvSpPr/>
          <p:nvPr/>
        </p:nvSpPr>
        <p:spPr>
          <a:xfrm>
            <a:off x="5298948" y="4572000"/>
            <a:ext cx="1961388" cy="512064"/>
          </a:xfrm>
          <a:prstGeom prst="roundRect">
            <a:avLst>
              <a:gd name="adj" fmla="val 17857"/>
            </a:avLst>
          </a:prstGeom>
          <a:solidFill>
            <a:srgbClr val="F5A524">
              <a:alpha val="18000"/>
            </a:srgbClr>
          </a:solidFill>
          <a:ln w="12700">
            <a:solidFill>
              <a:srgbClr val="F5A524"/>
            </a:solidFill>
            <a:prstDash val="solid"/>
          </a:ln>
        </p:spPr>
      </p:sp>
      <p:sp>
        <p:nvSpPr>
          <p:cNvPr id="51" name="Text 49"/>
          <p:cNvSpPr txBox="1"/>
          <p:nvPr/>
        </p:nvSpPr>
        <p:spPr>
          <a:xfrm>
            <a:off x="5298948" y="4572000"/>
            <a:ext cx="1961388" cy="512064"/>
          </a:xfrm>
          <a:prstGeom prst="rect">
            <a:avLst/>
          </a:prstGeom>
          <a:noFill/>
          <a:ln/>
        </p:spPr>
        <p:txBody>
          <a:bodyPr wrap="square" lIns="0" tIns="0" rIns="0" bIns="0" rtlCol="0" anchor="ctr"/>
          <a:lstStyle/>
          <a:p>
            <a:pPr algn="ctr" indent="0" marL="0">
              <a:buNone/>
            </a:pPr>
            <a:r>
              <a:rPr lang="en-US" sz="1100" b="1" dirty="0">
                <a:solidFill>
                  <a:srgbClr val="FFFFFF"/>
                </a:solidFill>
              </a:rPr>
              <a:t>AI Search index</a:t>
            </a:r>
            <a:endParaRPr lang="en-US" sz="1100" dirty="0"/>
          </a:p>
        </p:txBody>
      </p:sp>
      <p:sp>
        <p:nvSpPr>
          <p:cNvPr id="52" name="Shape 50"/>
          <p:cNvSpPr/>
          <p:nvPr/>
        </p:nvSpPr>
        <p:spPr>
          <a:xfrm>
            <a:off x="7351776" y="4572000"/>
            <a:ext cx="1961388" cy="512064"/>
          </a:xfrm>
          <a:prstGeom prst="roundRect">
            <a:avLst>
              <a:gd name="adj" fmla="val 17857"/>
            </a:avLst>
          </a:prstGeom>
          <a:solidFill>
            <a:srgbClr val="F5A524">
              <a:alpha val="18000"/>
            </a:srgbClr>
          </a:solidFill>
          <a:ln w="12700">
            <a:solidFill>
              <a:srgbClr val="F5A524"/>
            </a:solidFill>
            <a:prstDash val="solid"/>
          </a:ln>
        </p:spPr>
      </p:sp>
      <p:sp>
        <p:nvSpPr>
          <p:cNvPr id="53" name="Text 51"/>
          <p:cNvSpPr txBox="1"/>
          <p:nvPr/>
        </p:nvSpPr>
        <p:spPr>
          <a:xfrm>
            <a:off x="7351776" y="4572000"/>
            <a:ext cx="1961388" cy="512064"/>
          </a:xfrm>
          <a:prstGeom prst="rect">
            <a:avLst/>
          </a:prstGeom>
          <a:noFill/>
          <a:ln/>
        </p:spPr>
        <p:txBody>
          <a:bodyPr wrap="square" lIns="0" tIns="0" rIns="0" bIns="0" rtlCol="0" anchor="ctr"/>
          <a:lstStyle/>
          <a:p>
            <a:pPr algn="ctr" indent="0" marL="0">
              <a:buNone/>
            </a:pPr>
            <a:r>
              <a:rPr lang="en-US" sz="1100" b="1" dirty="0">
                <a:solidFill>
                  <a:srgbClr val="FFFFFF"/>
                </a:solidFill>
              </a:rPr>
              <a:t>Foundry knowledge base</a:t>
            </a:r>
            <a:endParaRPr lang="en-US" sz="1100" dirty="0"/>
          </a:p>
        </p:txBody>
      </p:sp>
      <p:sp>
        <p:nvSpPr>
          <p:cNvPr id="54" name="Shape 52"/>
          <p:cNvSpPr/>
          <p:nvPr/>
        </p:nvSpPr>
        <p:spPr>
          <a:xfrm>
            <a:off x="9404604" y="4572000"/>
            <a:ext cx="1961388" cy="512064"/>
          </a:xfrm>
          <a:prstGeom prst="roundRect">
            <a:avLst>
              <a:gd name="adj" fmla="val 17857"/>
            </a:avLst>
          </a:prstGeom>
          <a:solidFill>
            <a:srgbClr val="F5A524">
              <a:alpha val="18000"/>
            </a:srgbClr>
          </a:solidFill>
          <a:ln w="12700">
            <a:solidFill>
              <a:srgbClr val="F5A524"/>
            </a:solidFill>
            <a:prstDash val="solid"/>
          </a:ln>
        </p:spPr>
      </p:sp>
      <p:sp>
        <p:nvSpPr>
          <p:cNvPr id="55" name="Text 53"/>
          <p:cNvSpPr txBox="1"/>
          <p:nvPr/>
        </p:nvSpPr>
        <p:spPr>
          <a:xfrm>
            <a:off x="9404604" y="4572000"/>
            <a:ext cx="1961388" cy="512064"/>
          </a:xfrm>
          <a:prstGeom prst="rect">
            <a:avLst/>
          </a:prstGeom>
          <a:noFill/>
          <a:ln/>
        </p:spPr>
        <p:txBody>
          <a:bodyPr wrap="square" lIns="0" tIns="0" rIns="0" bIns="0" rtlCol="0" anchor="ctr"/>
          <a:lstStyle/>
          <a:p>
            <a:pPr algn="ctr" indent="0" marL="0">
              <a:buNone/>
            </a:pPr>
            <a:r>
              <a:rPr lang="en-US" sz="1100" b="1" dirty="0">
                <a:solidFill>
                  <a:srgbClr val="FFFFFF"/>
                </a:solidFill>
              </a:rPr>
              <a:t>7 CSV tables</a:t>
            </a:r>
            <a:endParaRPr lang="en-US" sz="1100" dirty="0"/>
          </a:p>
        </p:txBody>
      </p:sp>
      <p:sp>
        <p:nvSpPr>
          <p:cNvPr id="56" name="Shape 54"/>
          <p:cNvSpPr/>
          <p:nvPr/>
        </p:nvSpPr>
        <p:spPr>
          <a:xfrm>
            <a:off x="640080" y="5321808"/>
            <a:ext cx="10908792" cy="804672"/>
          </a:xfrm>
          <a:prstGeom prst="roundRect">
            <a:avLst>
              <a:gd name="adj" fmla="val 13636"/>
            </a:avLst>
          </a:prstGeom>
          <a:solidFill>
            <a:srgbClr val="FFFFFF">
              <a:alpha val="10000"/>
            </a:srgbClr>
          </a:solidFill>
          <a:ln w="9525">
            <a:solidFill>
              <a:srgbClr val="FFFFFF">
                <a:alpha val="25000"/>
              </a:srgbClr>
            </a:solidFill>
            <a:prstDash val="solid"/>
          </a:ln>
        </p:spPr>
      </p:sp>
      <p:sp>
        <p:nvSpPr>
          <p:cNvPr id="57" name="Shape 55"/>
          <p:cNvSpPr/>
          <p:nvPr/>
        </p:nvSpPr>
        <p:spPr>
          <a:xfrm>
            <a:off x="841248" y="5605272"/>
            <a:ext cx="237744" cy="237744"/>
          </a:xfrm>
          <a:prstGeom prst="ellipse">
            <a:avLst/>
          </a:prstGeom>
          <a:solidFill>
            <a:srgbClr val="8E7CFF"/>
          </a:solidFill>
          <a:ln w="6350">
            <a:solidFill>
              <a:srgbClr val="8E7CFF"/>
            </a:solidFill>
            <a:prstDash val="solid"/>
          </a:ln>
        </p:spPr>
      </p:sp>
      <p:sp>
        <p:nvSpPr>
          <p:cNvPr id="58" name="Text 56"/>
          <p:cNvSpPr txBox="1"/>
          <p:nvPr/>
        </p:nvSpPr>
        <p:spPr>
          <a:xfrm>
            <a:off x="1234440" y="5449824"/>
            <a:ext cx="1920240" cy="274320"/>
          </a:xfrm>
          <a:prstGeom prst="rect">
            <a:avLst/>
          </a:prstGeom>
          <a:noFill/>
          <a:ln/>
        </p:spPr>
        <p:txBody>
          <a:bodyPr wrap="square" lIns="0" tIns="0" rIns="0" bIns="0" rtlCol="0" anchor="t"/>
          <a:lstStyle/>
          <a:p>
            <a:pPr indent="0" marL="0">
              <a:buNone/>
            </a:pPr>
            <a:r>
              <a:rPr lang="en-US" sz="1100" b="1" spc="100" kern="0" dirty="0">
                <a:solidFill>
                  <a:srgbClr val="8E7CFF"/>
                </a:solidFill>
              </a:rPr>
              <a:t>TRUST</a:t>
            </a:r>
            <a:endParaRPr lang="en-US" sz="1100" dirty="0"/>
          </a:p>
        </p:txBody>
      </p:sp>
      <p:sp>
        <p:nvSpPr>
          <p:cNvPr id="59" name="Text 57"/>
          <p:cNvSpPr txBox="1"/>
          <p:nvPr/>
        </p:nvSpPr>
        <p:spPr>
          <a:xfrm>
            <a:off x="1234440" y="5742432"/>
            <a:ext cx="1828800" cy="274320"/>
          </a:xfrm>
          <a:prstGeom prst="rect">
            <a:avLst/>
          </a:prstGeom>
          <a:noFill/>
          <a:ln/>
        </p:spPr>
        <p:txBody>
          <a:bodyPr wrap="square" lIns="0" tIns="0" rIns="0" bIns="0" rtlCol="0" anchor="t"/>
          <a:lstStyle/>
          <a:p>
            <a:pPr indent="0" marL="0">
              <a:buNone/>
            </a:pPr>
            <a:r>
              <a:rPr lang="en-US" sz="1050" dirty="0">
                <a:solidFill>
                  <a:srgbClr val="CFE0FF"/>
                </a:solidFill>
              </a:rPr>
              <a:t>Always on</a:t>
            </a:r>
            <a:endParaRPr lang="en-US" sz="1050" dirty="0"/>
          </a:p>
        </p:txBody>
      </p:sp>
      <p:sp>
        <p:nvSpPr>
          <p:cNvPr id="60" name="Shape 58"/>
          <p:cNvSpPr/>
          <p:nvPr/>
        </p:nvSpPr>
        <p:spPr>
          <a:xfrm>
            <a:off x="3246120" y="5468112"/>
            <a:ext cx="1961388" cy="512064"/>
          </a:xfrm>
          <a:prstGeom prst="roundRect">
            <a:avLst>
              <a:gd name="adj" fmla="val 17857"/>
            </a:avLst>
          </a:prstGeom>
          <a:solidFill>
            <a:srgbClr val="8E7CFF">
              <a:alpha val="18000"/>
            </a:srgbClr>
          </a:solidFill>
          <a:ln w="12700">
            <a:solidFill>
              <a:srgbClr val="8E7CFF"/>
            </a:solidFill>
            <a:prstDash val="solid"/>
          </a:ln>
        </p:spPr>
      </p:sp>
      <p:sp>
        <p:nvSpPr>
          <p:cNvPr id="61" name="Text 59"/>
          <p:cNvSpPr txBox="1"/>
          <p:nvPr/>
        </p:nvSpPr>
        <p:spPr>
          <a:xfrm>
            <a:off x="3246120" y="5468112"/>
            <a:ext cx="1961388" cy="512064"/>
          </a:xfrm>
          <a:prstGeom prst="rect">
            <a:avLst/>
          </a:prstGeom>
          <a:noFill/>
          <a:ln/>
        </p:spPr>
        <p:txBody>
          <a:bodyPr wrap="square" lIns="0" tIns="0" rIns="0" bIns="0" rtlCol="0" anchor="ctr"/>
          <a:lstStyle/>
          <a:p>
            <a:pPr algn="ctr" indent="0" marL="0">
              <a:buNone/>
            </a:pPr>
            <a:r>
              <a:rPr lang="en-US" sz="1100" b="1" dirty="0">
                <a:solidFill>
                  <a:srgbClr val="FFFFFF"/>
                </a:solidFill>
              </a:rPr>
              <a:t>Output guard</a:t>
            </a:r>
            <a:endParaRPr lang="en-US" sz="1100" dirty="0"/>
          </a:p>
        </p:txBody>
      </p:sp>
      <p:sp>
        <p:nvSpPr>
          <p:cNvPr id="62" name="Shape 60"/>
          <p:cNvSpPr/>
          <p:nvPr/>
        </p:nvSpPr>
        <p:spPr>
          <a:xfrm>
            <a:off x="5298948" y="5468112"/>
            <a:ext cx="1961388" cy="512064"/>
          </a:xfrm>
          <a:prstGeom prst="roundRect">
            <a:avLst>
              <a:gd name="adj" fmla="val 17857"/>
            </a:avLst>
          </a:prstGeom>
          <a:solidFill>
            <a:srgbClr val="8E7CFF">
              <a:alpha val="18000"/>
            </a:srgbClr>
          </a:solidFill>
          <a:ln w="12700">
            <a:solidFill>
              <a:srgbClr val="8E7CFF"/>
            </a:solidFill>
            <a:prstDash val="solid"/>
          </a:ln>
        </p:spPr>
      </p:sp>
      <p:sp>
        <p:nvSpPr>
          <p:cNvPr id="63" name="Text 61"/>
          <p:cNvSpPr txBox="1"/>
          <p:nvPr/>
        </p:nvSpPr>
        <p:spPr>
          <a:xfrm>
            <a:off x="5298948" y="5468112"/>
            <a:ext cx="1961388" cy="512064"/>
          </a:xfrm>
          <a:prstGeom prst="rect">
            <a:avLst/>
          </a:prstGeom>
          <a:noFill/>
          <a:ln/>
        </p:spPr>
        <p:txBody>
          <a:bodyPr wrap="square" lIns="0" tIns="0" rIns="0" bIns="0" rtlCol="0" anchor="ctr"/>
          <a:lstStyle/>
          <a:p>
            <a:pPr algn="ctr" indent="0" marL="0">
              <a:buNone/>
            </a:pPr>
            <a:r>
              <a:rPr lang="en-US" sz="1100" b="1" dirty="0">
                <a:solidFill>
                  <a:srgbClr val="FFFFFF"/>
                </a:solidFill>
              </a:rPr>
              <a:t>Citation check</a:t>
            </a:r>
            <a:endParaRPr lang="en-US" sz="1100" dirty="0"/>
          </a:p>
        </p:txBody>
      </p:sp>
      <p:sp>
        <p:nvSpPr>
          <p:cNvPr id="64" name="Shape 62"/>
          <p:cNvSpPr/>
          <p:nvPr/>
        </p:nvSpPr>
        <p:spPr>
          <a:xfrm>
            <a:off x="7351776" y="5468112"/>
            <a:ext cx="1961388" cy="512064"/>
          </a:xfrm>
          <a:prstGeom prst="roundRect">
            <a:avLst>
              <a:gd name="adj" fmla="val 17857"/>
            </a:avLst>
          </a:prstGeom>
          <a:solidFill>
            <a:srgbClr val="8E7CFF">
              <a:alpha val="18000"/>
            </a:srgbClr>
          </a:solidFill>
          <a:ln w="12700">
            <a:solidFill>
              <a:srgbClr val="8E7CFF"/>
            </a:solidFill>
            <a:prstDash val="solid"/>
          </a:ln>
        </p:spPr>
      </p:sp>
      <p:sp>
        <p:nvSpPr>
          <p:cNvPr id="65" name="Text 63"/>
          <p:cNvSpPr txBox="1"/>
          <p:nvPr/>
        </p:nvSpPr>
        <p:spPr>
          <a:xfrm>
            <a:off x="7351776" y="5468112"/>
            <a:ext cx="1961388" cy="512064"/>
          </a:xfrm>
          <a:prstGeom prst="rect">
            <a:avLst/>
          </a:prstGeom>
          <a:noFill/>
          <a:ln/>
        </p:spPr>
        <p:txBody>
          <a:bodyPr wrap="square" lIns="0" tIns="0" rIns="0" bIns="0" rtlCol="0" anchor="ctr"/>
          <a:lstStyle/>
          <a:p>
            <a:pPr algn="ctr" indent="0" marL="0">
              <a:buNone/>
            </a:pPr>
            <a:r>
              <a:rPr lang="en-US" sz="1100" b="1" dirty="0">
                <a:solidFill>
                  <a:srgbClr val="FFFFFF"/>
                </a:solidFill>
              </a:rPr>
              <a:t>Masked audit log</a:t>
            </a:r>
            <a:endParaRPr lang="en-US" sz="1100" dirty="0"/>
          </a:p>
        </p:txBody>
      </p:sp>
      <p:sp>
        <p:nvSpPr>
          <p:cNvPr id="66" name="Shape 64"/>
          <p:cNvSpPr/>
          <p:nvPr/>
        </p:nvSpPr>
        <p:spPr>
          <a:xfrm>
            <a:off x="9404604" y="5468112"/>
            <a:ext cx="1961388" cy="512064"/>
          </a:xfrm>
          <a:prstGeom prst="roundRect">
            <a:avLst>
              <a:gd name="adj" fmla="val 17857"/>
            </a:avLst>
          </a:prstGeom>
          <a:solidFill>
            <a:srgbClr val="8E7CFF">
              <a:alpha val="18000"/>
            </a:srgbClr>
          </a:solidFill>
          <a:ln w="12700">
            <a:solidFill>
              <a:srgbClr val="8E7CFF"/>
            </a:solidFill>
            <a:prstDash val="solid"/>
          </a:ln>
        </p:spPr>
      </p:sp>
      <p:sp>
        <p:nvSpPr>
          <p:cNvPr id="67" name="Text 65"/>
          <p:cNvSpPr txBox="1"/>
          <p:nvPr/>
        </p:nvSpPr>
        <p:spPr>
          <a:xfrm>
            <a:off x="9404604" y="5468112"/>
            <a:ext cx="1961388" cy="512064"/>
          </a:xfrm>
          <a:prstGeom prst="rect">
            <a:avLst/>
          </a:prstGeom>
          <a:noFill/>
          <a:ln/>
        </p:spPr>
        <p:txBody>
          <a:bodyPr wrap="square" lIns="0" tIns="0" rIns="0" bIns="0" rtlCol="0" anchor="ctr"/>
          <a:lstStyle/>
          <a:p>
            <a:pPr algn="ctr" indent="0" marL="0">
              <a:buNone/>
            </a:pPr>
            <a:r>
              <a:rPr lang="en-US" sz="1100" b="1" dirty="0">
                <a:solidFill>
                  <a:srgbClr val="FFFFFF"/>
                </a:solidFill>
              </a:rPr>
              <a:t>Staff review queue</a:t>
            </a:r>
            <a:endParaRPr lang="en-US" sz="11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640080" y="438912"/>
            <a:ext cx="8229600" cy="274320"/>
          </a:xfrm>
          <a:prstGeom prst="rect">
            <a:avLst/>
          </a:prstGeom>
          <a:noFill/>
          <a:ln/>
        </p:spPr>
        <p:txBody>
          <a:bodyPr wrap="square" lIns="0" tIns="0" rIns="0" bIns="0" rtlCol="0" anchor="t"/>
          <a:lstStyle/>
          <a:p>
            <a:pPr indent="0" marL="0">
              <a:buNone/>
            </a:pPr>
            <a:r>
              <a:rPr lang="en-US" sz="1200" b="1" spc="400" kern="0" dirty="0">
                <a:solidFill>
                  <a:srgbClr val="3CC3F0"/>
                </a:solidFill>
              </a:rPr>
              <a:t>04  ·  THE SIX AGENTS</a:t>
            </a:r>
            <a:endParaRPr lang="en-US" sz="1200" dirty="0"/>
          </a:p>
        </p:txBody>
      </p:sp>
      <p:sp>
        <p:nvSpPr>
          <p:cNvPr id="3" name="Text 2"/>
          <p:cNvSpPr/>
          <p:nvPr>
            <p:ph idx="104" type="title" hasCustomPrompt="1"/>
          </p:nvPr>
        </p:nvSpPr>
        <p:spPr>
          <a:xfrm>
            <a:off x="640080" y="749808"/>
            <a:ext cx="10908792" cy="777240"/>
          </a:xfrm>
          <a:prstGeom prst="rect">
            <a:avLst/>
          </a:prstGeom>
          <a:noFill/>
          <a:ln/>
        </p:spPr>
        <p:txBody>
          <a:bodyPr wrap="square" lIns="0" tIns="0" rIns="0" bIns="0" rtlCol="0" anchor="t"/>
          <a:lstStyle/>
          <a:p>
            <a:pPr algn="l" indent="0" marL="0">
              <a:buNone/>
            </a:pPr>
            <a:r>
              <a:rPr lang="en-US" sz="3200" b="1" dirty="0">
                <a:solidFill>
                  <a:srgbClr val="FFFFFF"/>
                </a:solidFill>
              </a:rPr>
              <a:t>Six agents. One job each</a:t>
            </a:r>
            <a:endParaRPr lang="en-US" sz="3200" dirty="0"/>
          </a:p>
        </p:txBody>
      </p:sp>
      <p:sp>
        <p:nvSpPr>
          <p:cNvPr id="4" name="Shape 2"/>
          <p:cNvSpPr/>
          <p:nvPr/>
        </p:nvSpPr>
        <p:spPr>
          <a:xfrm>
            <a:off x="640080" y="1783080"/>
            <a:ext cx="1691640" cy="3840480"/>
          </a:xfrm>
          <a:prstGeom prst="roundRect">
            <a:avLst>
              <a:gd name="adj" fmla="val 6486"/>
            </a:avLst>
          </a:prstGeom>
          <a:solidFill>
            <a:srgbClr val="FFFFFF">
              <a:alpha val="10000"/>
            </a:srgbClr>
          </a:solidFill>
          <a:ln w="9525">
            <a:solidFill>
              <a:srgbClr val="FFFFFF">
                <a:alpha val="25000"/>
              </a:srgbClr>
            </a:solidFill>
            <a:prstDash val="solid"/>
          </a:ln>
        </p:spPr>
      </p:sp>
      <p:sp>
        <p:nvSpPr>
          <p:cNvPr id="5" name="Shape 3"/>
          <p:cNvSpPr/>
          <p:nvPr/>
        </p:nvSpPr>
        <p:spPr>
          <a:xfrm>
            <a:off x="868680" y="2011680"/>
            <a:ext cx="640080" cy="640080"/>
          </a:xfrm>
          <a:prstGeom prst="ellipse">
            <a:avLst/>
          </a:prstGeom>
          <a:solidFill>
            <a:srgbClr val="12A36B"/>
          </a:solidFill>
          <a:ln w="6350">
            <a:solidFill>
              <a:srgbClr val="12A36B"/>
            </a:solidFill>
            <a:prstDash val="solid"/>
          </a:ln>
        </p:spPr>
      </p:sp>
      <p:pic>
        <p:nvPicPr>
          <p:cNvPr id="6" name="Image 0" descr="FaProjectDiagram">    </p:cNvPr>
          <p:cNvPicPr>
            <a:picLocks noChangeAspect="1"/>
          </p:cNvPicPr>
          <p:nvPr/>
        </p:nvPicPr>
        <p:blipFill>
          <a:blip r:embed="rId1"/>
          <a:stretch>
            <a:fillRect/>
          </a:stretch>
        </p:blipFill>
        <p:spPr>
          <a:xfrm>
            <a:off x="1041502" y="2184502"/>
            <a:ext cx="294437" cy="294437"/>
          </a:xfrm>
          <a:prstGeom prst="rect">
            <a:avLst/>
          </a:prstGeom>
        </p:spPr>
      </p:pic>
      <p:sp>
        <p:nvSpPr>
          <p:cNvPr id="7" name="Text 4"/>
          <p:cNvSpPr txBox="1"/>
          <p:nvPr/>
        </p:nvSpPr>
        <p:spPr>
          <a:xfrm>
            <a:off x="1645920" y="2057400"/>
            <a:ext cx="502920" cy="365760"/>
          </a:xfrm>
          <a:prstGeom prst="rect">
            <a:avLst/>
          </a:prstGeom>
          <a:noFill/>
          <a:ln/>
        </p:spPr>
        <p:txBody>
          <a:bodyPr wrap="square" lIns="0" tIns="0" rIns="0" bIns="0" rtlCol="0" anchor="t"/>
          <a:lstStyle/>
          <a:p>
            <a:pPr algn="r" indent="0" marL="0">
              <a:buNone/>
            </a:pPr>
            <a:r>
              <a:rPr lang="en-US" sz="2000" b="1" dirty="0">
                <a:solidFill>
                  <a:srgbClr val="3CC3F0">
                    <a:alpha val="70000"/>
                  </a:srgbClr>
                </a:solidFill>
              </a:rPr>
              <a:t>01</a:t>
            </a:r>
            <a:endParaRPr lang="en-US" sz="2000" dirty="0"/>
          </a:p>
        </p:txBody>
      </p:sp>
      <p:sp>
        <p:nvSpPr>
          <p:cNvPr id="8" name="Text 5"/>
          <p:cNvSpPr txBox="1"/>
          <p:nvPr/>
        </p:nvSpPr>
        <p:spPr>
          <a:xfrm>
            <a:off x="868680" y="2834640"/>
            <a:ext cx="1325880" cy="594360"/>
          </a:xfrm>
          <a:prstGeom prst="rect">
            <a:avLst/>
          </a:prstGeom>
          <a:noFill/>
          <a:ln/>
        </p:spPr>
        <p:txBody>
          <a:bodyPr wrap="square" lIns="0" tIns="0" rIns="0" bIns="0" rtlCol="0" anchor="t"/>
          <a:lstStyle/>
          <a:p>
            <a:pPr indent="0" marL="0">
              <a:buNone/>
            </a:pPr>
            <a:r>
              <a:rPr lang="en-US" sz="1500" b="1" dirty="0">
                <a:solidFill>
                  <a:srgbClr val="FFFFFF"/>
                </a:solidFill>
              </a:rPr>
              <a:t>Care Orchestrator</a:t>
            </a:r>
            <a:endParaRPr lang="en-US" sz="1500" dirty="0"/>
          </a:p>
        </p:txBody>
      </p:sp>
      <p:sp>
        <p:nvSpPr>
          <p:cNvPr id="9" name="Text 6"/>
          <p:cNvSpPr txBox="1"/>
          <p:nvPr/>
        </p:nvSpPr>
        <p:spPr>
          <a:xfrm>
            <a:off x="868680" y="3520440"/>
            <a:ext cx="914400" cy="201168"/>
          </a:xfrm>
          <a:prstGeom prst="rect">
            <a:avLst/>
          </a:prstGeom>
          <a:noFill/>
          <a:ln/>
        </p:spPr>
        <p:txBody>
          <a:bodyPr wrap="square" lIns="0" tIns="0" rIns="0" bIns="0" rtlCol="0" anchor="t"/>
          <a:lstStyle/>
          <a:p>
            <a:pPr indent="0" marL="0">
              <a:buNone/>
            </a:pPr>
            <a:r>
              <a:rPr lang="en-US" sz="1000" b="1" spc="200" kern="0" dirty="0">
                <a:solidFill>
                  <a:srgbClr val="3CC3F0"/>
                </a:solidFill>
              </a:rPr>
              <a:t>DOES</a:t>
            </a:r>
            <a:endParaRPr lang="en-US" sz="1000" dirty="0"/>
          </a:p>
        </p:txBody>
      </p:sp>
      <p:sp>
        <p:nvSpPr>
          <p:cNvPr id="10" name="Text 7"/>
          <p:cNvSpPr txBox="1"/>
          <p:nvPr/>
        </p:nvSpPr>
        <p:spPr>
          <a:xfrm>
            <a:off x="868680" y="3749040"/>
            <a:ext cx="1325880" cy="868680"/>
          </a:xfrm>
          <a:prstGeom prst="rect">
            <a:avLst/>
          </a:prstGeom>
          <a:noFill/>
          <a:ln/>
        </p:spPr>
        <p:txBody>
          <a:bodyPr wrap="square" lIns="0" tIns="0" rIns="0" bIns="0" rtlCol="0" anchor="t"/>
          <a:lstStyle/>
          <a:p>
            <a:pPr indent="0" marL="0">
              <a:buNone/>
            </a:pPr>
            <a:r>
              <a:rPr lang="en-US" sz="1150" dirty="0">
                <a:solidFill>
                  <a:srgbClr val="CFE0FF"/>
                </a:solidFill>
              </a:rPr>
              <a:t>Picks the request category</a:t>
            </a:r>
            <a:endParaRPr lang="en-US" sz="1150" dirty="0"/>
          </a:p>
        </p:txBody>
      </p:sp>
      <p:sp>
        <p:nvSpPr>
          <p:cNvPr id="11" name="Shape 8"/>
          <p:cNvSpPr/>
          <p:nvPr/>
        </p:nvSpPr>
        <p:spPr>
          <a:xfrm>
            <a:off x="777240" y="4709160"/>
            <a:ext cx="1417320" cy="777240"/>
          </a:xfrm>
          <a:prstGeom prst="roundRect">
            <a:avLst>
              <a:gd name="adj" fmla="val 9412"/>
            </a:avLst>
          </a:prstGeom>
          <a:solidFill>
            <a:srgbClr val="0A1F5C">
              <a:alpha val="70000"/>
            </a:srgbClr>
          </a:solidFill>
          <a:ln w="9525">
            <a:solidFill>
              <a:srgbClr val="3CC3F0">
                <a:alpha val="60000"/>
              </a:srgbClr>
            </a:solidFill>
            <a:prstDash val="solid"/>
          </a:ln>
        </p:spPr>
      </p:sp>
      <p:sp>
        <p:nvSpPr>
          <p:cNvPr id="12" name="Text 9"/>
          <p:cNvSpPr txBox="1"/>
          <p:nvPr/>
        </p:nvSpPr>
        <p:spPr>
          <a:xfrm>
            <a:off x="886968" y="4773168"/>
            <a:ext cx="914400" cy="182880"/>
          </a:xfrm>
          <a:prstGeom prst="rect">
            <a:avLst/>
          </a:prstGeom>
          <a:noFill/>
          <a:ln/>
        </p:spPr>
        <p:txBody>
          <a:bodyPr wrap="square" lIns="0" tIns="0" rIns="0" bIns="0" rtlCol="0" anchor="t"/>
          <a:lstStyle/>
          <a:p>
            <a:pPr indent="0" marL="0">
              <a:buNone/>
            </a:pPr>
            <a:r>
              <a:rPr lang="en-US" sz="1000" b="1" spc="200" kern="0" dirty="0">
                <a:solidFill>
                  <a:srgbClr val="3CC3F0"/>
                </a:solidFill>
              </a:rPr>
              <a:t>SEES</a:t>
            </a:r>
            <a:endParaRPr lang="en-US" sz="1000" dirty="0"/>
          </a:p>
        </p:txBody>
      </p:sp>
      <p:sp>
        <p:nvSpPr>
          <p:cNvPr id="13" name="Text 10"/>
          <p:cNvSpPr txBox="1"/>
          <p:nvPr/>
        </p:nvSpPr>
        <p:spPr>
          <a:xfrm>
            <a:off x="886968" y="4983480"/>
            <a:ext cx="1234440" cy="457200"/>
          </a:xfrm>
          <a:prstGeom prst="rect">
            <a:avLst/>
          </a:prstGeom>
          <a:noFill/>
          <a:ln/>
        </p:spPr>
        <p:txBody>
          <a:bodyPr wrap="square" lIns="0" tIns="0" rIns="0" bIns="0" rtlCol="0" anchor="t"/>
          <a:lstStyle/>
          <a:p>
            <a:pPr indent="0" marL="0">
              <a:buNone/>
            </a:pPr>
            <a:r>
              <a:rPr lang="en-US" sz="1050" b="1" dirty="0">
                <a:solidFill>
                  <a:srgbClr val="FFFFFF"/>
                </a:solidFill>
              </a:rPr>
              <a:t>Message text only</a:t>
            </a:r>
            <a:endParaRPr lang="en-US" sz="1050" dirty="0"/>
          </a:p>
        </p:txBody>
      </p:sp>
      <p:sp>
        <p:nvSpPr>
          <p:cNvPr id="14" name="Shape 11"/>
          <p:cNvSpPr/>
          <p:nvPr/>
        </p:nvSpPr>
        <p:spPr>
          <a:xfrm>
            <a:off x="2483510" y="1783080"/>
            <a:ext cx="1691640" cy="3840480"/>
          </a:xfrm>
          <a:prstGeom prst="roundRect">
            <a:avLst>
              <a:gd name="adj" fmla="val 6486"/>
            </a:avLst>
          </a:prstGeom>
          <a:solidFill>
            <a:srgbClr val="FFFFFF">
              <a:alpha val="10000"/>
            </a:srgbClr>
          </a:solidFill>
          <a:ln w="9525">
            <a:solidFill>
              <a:srgbClr val="FFFFFF">
                <a:alpha val="25000"/>
              </a:srgbClr>
            </a:solidFill>
            <a:prstDash val="solid"/>
          </a:ln>
        </p:spPr>
      </p:sp>
      <p:sp>
        <p:nvSpPr>
          <p:cNvPr id="15" name="Shape 12"/>
          <p:cNvSpPr/>
          <p:nvPr/>
        </p:nvSpPr>
        <p:spPr>
          <a:xfrm>
            <a:off x="2712110" y="2011680"/>
            <a:ext cx="640080" cy="640080"/>
          </a:xfrm>
          <a:prstGeom prst="ellipse">
            <a:avLst/>
          </a:prstGeom>
          <a:solidFill>
            <a:srgbClr val="1547C8"/>
          </a:solidFill>
          <a:ln w="6350">
            <a:solidFill>
              <a:srgbClr val="1547C8"/>
            </a:solidFill>
            <a:prstDash val="solid"/>
          </a:ln>
        </p:spPr>
      </p:sp>
      <p:pic>
        <p:nvPicPr>
          <p:cNvPr id="16" name="Image 1" descr="FaChartLine">    </p:cNvPr>
          <p:cNvPicPr>
            <a:picLocks noChangeAspect="1"/>
          </p:cNvPicPr>
          <p:nvPr/>
        </p:nvPicPr>
        <p:blipFill>
          <a:blip r:embed="rId2"/>
          <a:stretch>
            <a:fillRect/>
          </a:stretch>
        </p:blipFill>
        <p:spPr>
          <a:xfrm>
            <a:off x="2884932" y="2184502"/>
            <a:ext cx="294437" cy="294437"/>
          </a:xfrm>
          <a:prstGeom prst="rect">
            <a:avLst/>
          </a:prstGeom>
        </p:spPr>
      </p:pic>
      <p:sp>
        <p:nvSpPr>
          <p:cNvPr id="17" name="Text 13"/>
          <p:cNvSpPr txBox="1"/>
          <p:nvPr/>
        </p:nvSpPr>
        <p:spPr>
          <a:xfrm>
            <a:off x="3489350" y="2057400"/>
            <a:ext cx="502920" cy="365760"/>
          </a:xfrm>
          <a:prstGeom prst="rect">
            <a:avLst/>
          </a:prstGeom>
          <a:noFill/>
          <a:ln/>
        </p:spPr>
        <p:txBody>
          <a:bodyPr wrap="square" lIns="0" tIns="0" rIns="0" bIns="0" rtlCol="0" anchor="t"/>
          <a:lstStyle/>
          <a:p>
            <a:pPr algn="r" indent="0" marL="0">
              <a:buNone/>
            </a:pPr>
            <a:r>
              <a:rPr lang="en-US" sz="2000" b="1" dirty="0">
                <a:solidFill>
                  <a:srgbClr val="3CC3F0">
                    <a:alpha val="70000"/>
                  </a:srgbClr>
                </a:solidFill>
              </a:rPr>
              <a:t>02</a:t>
            </a:r>
            <a:endParaRPr lang="en-US" sz="2000" dirty="0"/>
          </a:p>
        </p:txBody>
      </p:sp>
      <p:sp>
        <p:nvSpPr>
          <p:cNvPr id="18" name="Text 14"/>
          <p:cNvSpPr txBox="1"/>
          <p:nvPr/>
        </p:nvSpPr>
        <p:spPr>
          <a:xfrm>
            <a:off x="2712110" y="2834640"/>
            <a:ext cx="1325880" cy="594360"/>
          </a:xfrm>
          <a:prstGeom prst="rect">
            <a:avLst/>
          </a:prstGeom>
          <a:noFill/>
          <a:ln/>
        </p:spPr>
        <p:txBody>
          <a:bodyPr wrap="square" lIns="0" tIns="0" rIns="0" bIns="0" rtlCol="0" anchor="t"/>
          <a:lstStyle/>
          <a:p>
            <a:pPr indent="0" marL="0">
              <a:buNone/>
            </a:pPr>
            <a:r>
              <a:rPr lang="en-US" sz="1500" b="1" dirty="0">
                <a:solidFill>
                  <a:srgbClr val="FFFFFF"/>
                </a:solidFill>
              </a:rPr>
              <a:t>Reading Summary</a:t>
            </a:r>
            <a:endParaRPr lang="en-US" sz="1500" dirty="0"/>
          </a:p>
        </p:txBody>
      </p:sp>
      <p:sp>
        <p:nvSpPr>
          <p:cNvPr id="19" name="Text 15"/>
          <p:cNvSpPr txBox="1"/>
          <p:nvPr/>
        </p:nvSpPr>
        <p:spPr>
          <a:xfrm>
            <a:off x="2712110" y="3520440"/>
            <a:ext cx="914400" cy="201168"/>
          </a:xfrm>
          <a:prstGeom prst="rect">
            <a:avLst/>
          </a:prstGeom>
          <a:noFill/>
          <a:ln/>
        </p:spPr>
        <p:txBody>
          <a:bodyPr wrap="square" lIns="0" tIns="0" rIns="0" bIns="0" rtlCol="0" anchor="t"/>
          <a:lstStyle/>
          <a:p>
            <a:pPr indent="0" marL="0">
              <a:buNone/>
            </a:pPr>
            <a:r>
              <a:rPr lang="en-US" sz="1000" b="1" spc="200" kern="0" dirty="0">
                <a:solidFill>
                  <a:srgbClr val="3CC3F0"/>
                </a:solidFill>
              </a:rPr>
              <a:t>DOES</a:t>
            </a:r>
            <a:endParaRPr lang="en-US" sz="1000" dirty="0"/>
          </a:p>
        </p:txBody>
      </p:sp>
      <p:sp>
        <p:nvSpPr>
          <p:cNvPr id="20" name="Text 16"/>
          <p:cNvSpPr txBox="1"/>
          <p:nvPr/>
        </p:nvSpPr>
        <p:spPr>
          <a:xfrm>
            <a:off x="2712110" y="3749040"/>
            <a:ext cx="1325880" cy="868680"/>
          </a:xfrm>
          <a:prstGeom prst="rect">
            <a:avLst/>
          </a:prstGeom>
          <a:noFill/>
          <a:ln/>
        </p:spPr>
        <p:txBody>
          <a:bodyPr wrap="square" lIns="0" tIns="0" rIns="0" bIns="0" rtlCol="0" anchor="t"/>
          <a:lstStyle/>
          <a:p>
            <a:pPr indent="0" marL="0">
              <a:buNone/>
            </a:pPr>
            <a:r>
              <a:rPr lang="en-US" sz="1150" dirty="0">
                <a:solidFill>
                  <a:srgbClr val="CFE0FF"/>
                </a:solidFill>
              </a:rPr>
              <a:t>Counts, min, max and missing dates, in plain words</a:t>
            </a:r>
            <a:endParaRPr lang="en-US" sz="1150" dirty="0"/>
          </a:p>
        </p:txBody>
      </p:sp>
      <p:sp>
        <p:nvSpPr>
          <p:cNvPr id="21" name="Shape 17"/>
          <p:cNvSpPr/>
          <p:nvPr/>
        </p:nvSpPr>
        <p:spPr>
          <a:xfrm>
            <a:off x="2620670" y="4709160"/>
            <a:ext cx="1417320" cy="777240"/>
          </a:xfrm>
          <a:prstGeom prst="roundRect">
            <a:avLst>
              <a:gd name="adj" fmla="val 9412"/>
            </a:avLst>
          </a:prstGeom>
          <a:solidFill>
            <a:srgbClr val="0A1F5C">
              <a:alpha val="70000"/>
            </a:srgbClr>
          </a:solidFill>
          <a:ln w="9525">
            <a:solidFill>
              <a:srgbClr val="3CC3F0">
                <a:alpha val="60000"/>
              </a:srgbClr>
            </a:solidFill>
            <a:prstDash val="solid"/>
          </a:ln>
        </p:spPr>
      </p:sp>
      <p:sp>
        <p:nvSpPr>
          <p:cNvPr id="22" name="Text 18"/>
          <p:cNvSpPr txBox="1"/>
          <p:nvPr/>
        </p:nvSpPr>
        <p:spPr>
          <a:xfrm>
            <a:off x="2730398" y="4773168"/>
            <a:ext cx="914400" cy="182880"/>
          </a:xfrm>
          <a:prstGeom prst="rect">
            <a:avLst/>
          </a:prstGeom>
          <a:noFill/>
          <a:ln/>
        </p:spPr>
        <p:txBody>
          <a:bodyPr wrap="square" lIns="0" tIns="0" rIns="0" bIns="0" rtlCol="0" anchor="t"/>
          <a:lstStyle/>
          <a:p>
            <a:pPr indent="0" marL="0">
              <a:buNone/>
            </a:pPr>
            <a:r>
              <a:rPr lang="en-US" sz="1000" b="1" spc="200" kern="0" dirty="0">
                <a:solidFill>
                  <a:srgbClr val="3CC3F0"/>
                </a:solidFill>
              </a:rPr>
              <a:t>SEES</a:t>
            </a:r>
            <a:endParaRPr lang="en-US" sz="1000" dirty="0"/>
          </a:p>
        </p:txBody>
      </p:sp>
      <p:sp>
        <p:nvSpPr>
          <p:cNvPr id="23" name="Text 19"/>
          <p:cNvSpPr txBox="1"/>
          <p:nvPr/>
        </p:nvSpPr>
        <p:spPr>
          <a:xfrm>
            <a:off x="2730398" y="4983480"/>
            <a:ext cx="1234440" cy="457200"/>
          </a:xfrm>
          <a:prstGeom prst="rect">
            <a:avLst/>
          </a:prstGeom>
          <a:noFill/>
          <a:ln/>
        </p:spPr>
        <p:txBody>
          <a:bodyPr wrap="square" lIns="0" tIns="0" rIns="0" bIns="0" rtlCol="0" anchor="t"/>
          <a:lstStyle/>
          <a:p>
            <a:pPr indent="0" marL="0">
              <a:buNone/>
            </a:pPr>
            <a:r>
              <a:rPr lang="en-US" sz="1050" b="1" dirty="0">
                <a:solidFill>
                  <a:srgbClr val="FFFFFF"/>
                </a:solidFill>
              </a:rPr>
              <a:t>One member's active readings</a:t>
            </a:r>
            <a:endParaRPr lang="en-US" sz="1050" dirty="0"/>
          </a:p>
        </p:txBody>
      </p:sp>
      <p:sp>
        <p:nvSpPr>
          <p:cNvPr id="24" name="Shape 20"/>
          <p:cNvSpPr/>
          <p:nvPr/>
        </p:nvSpPr>
        <p:spPr>
          <a:xfrm>
            <a:off x="4326941" y="1783080"/>
            <a:ext cx="1691640" cy="3840480"/>
          </a:xfrm>
          <a:prstGeom prst="roundRect">
            <a:avLst>
              <a:gd name="adj" fmla="val 6486"/>
            </a:avLst>
          </a:prstGeom>
          <a:solidFill>
            <a:srgbClr val="FFFFFF">
              <a:alpha val="10000"/>
            </a:srgbClr>
          </a:solidFill>
          <a:ln w="9525">
            <a:solidFill>
              <a:srgbClr val="FFFFFF">
                <a:alpha val="25000"/>
              </a:srgbClr>
            </a:solidFill>
            <a:prstDash val="solid"/>
          </a:ln>
        </p:spPr>
      </p:sp>
      <p:sp>
        <p:nvSpPr>
          <p:cNvPr id="25" name="Shape 21"/>
          <p:cNvSpPr/>
          <p:nvPr/>
        </p:nvSpPr>
        <p:spPr>
          <a:xfrm>
            <a:off x="4555541" y="2011680"/>
            <a:ext cx="640080" cy="640080"/>
          </a:xfrm>
          <a:prstGeom prst="ellipse">
            <a:avLst/>
          </a:prstGeom>
          <a:solidFill>
            <a:srgbClr val="1547C8"/>
          </a:solidFill>
          <a:ln w="6350">
            <a:solidFill>
              <a:srgbClr val="1547C8"/>
            </a:solidFill>
            <a:prstDash val="solid"/>
          </a:ln>
        </p:spPr>
      </p:sp>
      <p:pic>
        <p:nvPicPr>
          <p:cNvPr id="26" name="Image 2" descr="FaClipboardList">    </p:cNvPr>
          <p:cNvPicPr>
            <a:picLocks noChangeAspect="1"/>
          </p:cNvPicPr>
          <p:nvPr/>
        </p:nvPicPr>
        <p:blipFill>
          <a:blip r:embed="rId3"/>
          <a:stretch>
            <a:fillRect/>
          </a:stretch>
        </p:blipFill>
        <p:spPr>
          <a:xfrm>
            <a:off x="4728362" y="2184502"/>
            <a:ext cx="294437" cy="294437"/>
          </a:xfrm>
          <a:prstGeom prst="rect">
            <a:avLst/>
          </a:prstGeom>
        </p:spPr>
      </p:pic>
      <p:sp>
        <p:nvSpPr>
          <p:cNvPr id="27" name="Text 22"/>
          <p:cNvSpPr txBox="1"/>
          <p:nvPr/>
        </p:nvSpPr>
        <p:spPr>
          <a:xfrm>
            <a:off x="5332781" y="2057400"/>
            <a:ext cx="502920" cy="365760"/>
          </a:xfrm>
          <a:prstGeom prst="rect">
            <a:avLst/>
          </a:prstGeom>
          <a:noFill/>
          <a:ln/>
        </p:spPr>
        <p:txBody>
          <a:bodyPr wrap="square" lIns="0" tIns="0" rIns="0" bIns="0" rtlCol="0" anchor="t"/>
          <a:lstStyle/>
          <a:p>
            <a:pPr algn="r" indent="0" marL="0">
              <a:buNone/>
            </a:pPr>
            <a:r>
              <a:rPr lang="en-US" sz="2000" b="1" dirty="0">
                <a:solidFill>
                  <a:srgbClr val="3CC3F0">
                    <a:alpha val="70000"/>
                  </a:srgbClr>
                </a:solidFill>
              </a:rPr>
              <a:t>03</a:t>
            </a:r>
            <a:endParaRPr lang="en-US" sz="2000" dirty="0"/>
          </a:p>
        </p:txBody>
      </p:sp>
      <p:sp>
        <p:nvSpPr>
          <p:cNvPr id="28" name="Text 23"/>
          <p:cNvSpPr txBox="1"/>
          <p:nvPr/>
        </p:nvSpPr>
        <p:spPr>
          <a:xfrm>
            <a:off x="4555541" y="2834640"/>
            <a:ext cx="1325880" cy="594360"/>
          </a:xfrm>
          <a:prstGeom prst="rect">
            <a:avLst/>
          </a:prstGeom>
          <a:noFill/>
          <a:ln/>
        </p:spPr>
        <p:txBody>
          <a:bodyPr wrap="square" lIns="0" tIns="0" rIns="0" bIns="0" rtlCol="0" anchor="t"/>
          <a:lstStyle/>
          <a:p>
            <a:pPr indent="0" marL="0">
              <a:buNone/>
            </a:pPr>
            <a:r>
              <a:rPr lang="en-US" sz="1500" b="1" dirty="0">
                <a:solidFill>
                  <a:srgbClr val="FFFFFF"/>
                </a:solidFill>
              </a:rPr>
              <a:t>Care Plan</a:t>
            </a:r>
            <a:endParaRPr lang="en-US" sz="1500" dirty="0"/>
          </a:p>
        </p:txBody>
      </p:sp>
      <p:sp>
        <p:nvSpPr>
          <p:cNvPr id="29" name="Text 24"/>
          <p:cNvSpPr txBox="1"/>
          <p:nvPr/>
        </p:nvSpPr>
        <p:spPr>
          <a:xfrm>
            <a:off x="4555541" y="3520440"/>
            <a:ext cx="914400" cy="201168"/>
          </a:xfrm>
          <a:prstGeom prst="rect">
            <a:avLst/>
          </a:prstGeom>
          <a:noFill/>
          <a:ln/>
        </p:spPr>
        <p:txBody>
          <a:bodyPr wrap="square" lIns="0" tIns="0" rIns="0" bIns="0" rtlCol="0" anchor="t"/>
          <a:lstStyle/>
          <a:p>
            <a:pPr indent="0" marL="0">
              <a:buNone/>
            </a:pPr>
            <a:r>
              <a:rPr lang="en-US" sz="1000" b="1" spc="200" kern="0" dirty="0">
                <a:solidFill>
                  <a:srgbClr val="3CC3F0"/>
                </a:solidFill>
              </a:rPr>
              <a:t>DOES</a:t>
            </a:r>
            <a:endParaRPr lang="en-US" sz="1000" dirty="0"/>
          </a:p>
        </p:txBody>
      </p:sp>
      <p:sp>
        <p:nvSpPr>
          <p:cNvPr id="30" name="Text 25"/>
          <p:cNvSpPr txBox="1"/>
          <p:nvPr/>
        </p:nvSpPr>
        <p:spPr>
          <a:xfrm>
            <a:off x="4555541" y="3749040"/>
            <a:ext cx="1325880" cy="868680"/>
          </a:xfrm>
          <a:prstGeom prst="rect">
            <a:avLst/>
          </a:prstGeom>
          <a:noFill/>
          <a:ln/>
        </p:spPr>
        <p:txBody>
          <a:bodyPr wrap="square" lIns="0" tIns="0" rIns="0" bIns="0" rtlCol="0" anchor="t"/>
          <a:lstStyle/>
          <a:p>
            <a:pPr indent="0" marL="0">
              <a:buNone/>
            </a:pPr>
            <a:r>
              <a:rPr lang="en-US" sz="1150" dirty="0">
                <a:solidFill>
                  <a:srgbClr val="CFE0FF"/>
                </a:solidFill>
              </a:rPr>
              <a:t>Due and overdue tasks exactly as recorded</a:t>
            </a:r>
            <a:endParaRPr lang="en-US" sz="1150" dirty="0"/>
          </a:p>
        </p:txBody>
      </p:sp>
      <p:sp>
        <p:nvSpPr>
          <p:cNvPr id="31" name="Shape 26"/>
          <p:cNvSpPr/>
          <p:nvPr/>
        </p:nvSpPr>
        <p:spPr>
          <a:xfrm>
            <a:off x="4464101" y="4709160"/>
            <a:ext cx="1417320" cy="777240"/>
          </a:xfrm>
          <a:prstGeom prst="roundRect">
            <a:avLst>
              <a:gd name="adj" fmla="val 9412"/>
            </a:avLst>
          </a:prstGeom>
          <a:solidFill>
            <a:srgbClr val="0A1F5C">
              <a:alpha val="70000"/>
            </a:srgbClr>
          </a:solidFill>
          <a:ln w="9525">
            <a:solidFill>
              <a:srgbClr val="3CC3F0">
                <a:alpha val="60000"/>
              </a:srgbClr>
            </a:solidFill>
            <a:prstDash val="solid"/>
          </a:ln>
        </p:spPr>
      </p:sp>
      <p:sp>
        <p:nvSpPr>
          <p:cNvPr id="32" name="Text 27"/>
          <p:cNvSpPr txBox="1"/>
          <p:nvPr/>
        </p:nvSpPr>
        <p:spPr>
          <a:xfrm>
            <a:off x="4573829" y="4773168"/>
            <a:ext cx="914400" cy="182880"/>
          </a:xfrm>
          <a:prstGeom prst="rect">
            <a:avLst/>
          </a:prstGeom>
          <a:noFill/>
          <a:ln/>
        </p:spPr>
        <p:txBody>
          <a:bodyPr wrap="square" lIns="0" tIns="0" rIns="0" bIns="0" rtlCol="0" anchor="t"/>
          <a:lstStyle/>
          <a:p>
            <a:pPr indent="0" marL="0">
              <a:buNone/>
            </a:pPr>
            <a:r>
              <a:rPr lang="en-US" sz="1000" b="1" spc="200" kern="0" dirty="0">
                <a:solidFill>
                  <a:srgbClr val="3CC3F0"/>
                </a:solidFill>
              </a:rPr>
              <a:t>SEES</a:t>
            </a:r>
            <a:endParaRPr lang="en-US" sz="1000" dirty="0"/>
          </a:p>
        </p:txBody>
      </p:sp>
      <p:sp>
        <p:nvSpPr>
          <p:cNvPr id="33" name="Text 28"/>
          <p:cNvSpPr txBox="1"/>
          <p:nvPr/>
        </p:nvSpPr>
        <p:spPr>
          <a:xfrm>
            <a:off x="4573829" y="4983480"/>
            <a:ext cx="1234440" cy="457200"/>
          </a:xfrm>
          <a:prstGeom prst="rect">
            <a:avLst/>
          </a:prstGeom>
          <a:noFill/>
          <a:ln/>
        </p:spPr>
        <p:txBody>
          <a:bodyPr wrap="square" lIns="0" tIns="0" rIns="0" bIns="0" rtlCol="0" anchor="t"/>
          <a:lstStyle/>
          <a:p>
            <a:pPr indent="0" marL="0">
              <a:buNone/>
            </a:pPr>
            <a:r>
              <a:rPr lang="en-US" sz="1050" b="1" dirty="0">
                <a:solidFill>
                  <a:srgbClr val="FFFFFF"/>
                </a:solidFill>
              </a:rPr>
              <a:t>That member's tasks</a:t>
            </a:r>
            <a:endParaRPr lang="en-US" sz="1050" dirty="0"/>
          </a:p>
        </p:txBody>
      </p:sp>
      <p:sp>
        <p:nvSpPr>
          <p:cNvPr id="34" name="Shape 29"/>
          <p:cNvSpPr/>
          <p:nvPr/>
        </p:nvSpPr>
        <p:spPr>
          <a:xfrm>
            <a:off x="6170371" y="1783080"/>
            <a:ext cx="1691640" cy="3840480"/>
          </a:xfrm>
          <a:prstGeom prst="roundRect">
            <a:avLst>
              <a:gd name="adj" fmla="val 6486"/>
            </a:avLst>
          </a:prstGeom>
          <a:solidFill>
            <a:srgbClr val="FFFFFF">
              <a:alpha val="10000"/>
            </a:srgbClr>
          </a:solidFill>
          <a:ln w="9525">
            <a:solidFill>
              <a:srgbClr val="FFFFFF">
                <a:alpha val="25000"/>
              </a:srgbClr>
            </a:solidFill>
            <a:prstDash val="solid"/>
          </a:ln>
        </p:spPr>
      </p:sp>
      <p:sp>
        <p:nvSpPr>
          <p:cNvPr id="35" name="Shape 30"/>
          <p:cNvSpPr/>
          <p:nvPr/>
        </p:nvSpPr>
        <p:spPr>
          <a:xfrm>
            <a:off x="6398971" y="2011680"/>
            <a:ext cx="640080" cy="640080"/>
          </a:xfrm>
          <a:prstGeom prst="ellipse">
            <a:avLst/>
          </a:prstGeom>
          <a:solidFill>
            <a:srgbClr val="1547C8"/>
          </a:solidFill>
          <a:ln w="6350">
            <a:solidFill>
              <a:srgbClr val="1547C8"/>
            </a:solidFill>
            <a:prstDash val="solid"/>
          </a:ln>
        </p:spPr>
      </p:sp>
      <p:pic>
        <p:nvPicPr>
          <p:cNvPr id="36" name="Image 3" descr="FaBookMedical">    </p:cNvPr>
          <p:cNvPicPr>
            <a:picLocks noChangeAspect="1"/>
          </p:cNvPicPr>
          <p:nvPr/>
        </p:nvPicPr>
        <p:blipFill>
          <a:blip r:embed="rId4"/>
          <a:stretch>
            <a:fillRect/>
          </a:stretch>
        </p:blipFill>
        <p:spPr>
          <a:xfrm>
            <a:off x="6571793" y="2184502"/>
            <a:ext cx="294437" cy="294437"/>
          </a:xfrm>
          <a:prstGeom prst="rect">
            <a:avLst/>
          </a:prstGeom>
        </p:spPr>
      </p:pic>
      <p:sp>
        <p:nvSpPr>
          <p:cNvPr id="37" name="Text 31"/>
          <p:cNvSpPr txBox="1"/>
          <p:nvPr/>
        </p:nvSpPr>
        <p:spPr>
          <a:xfrm>
            <a:off x="7176211" y="2057400"/>
            <a:ext cx="502920" cy="365760"/>
          </a:xfrm>
          <a:prstGeom prst="rect">
            <a:avLst/>
          </a:prstGeom>
          <a:noFill/>
          <a:ln/>
        </p:spPr>
        <p:txBody>
          <a:bodyPr wrap="square" lIns="0" tIns="0" rIns="0" bIns="0" rtlCol="0" anchor="t"/>
          <a:lstStyle/>
          <a:p>
            <a:pPr algn="r" indent="0" marL="0">
              <a:buNone/>
            </a:pPr>
            <a:r>
              <a:rPr lang="en-US" sz="2000" b="1" dirty="0">
                <a:solidFill>
                  <a:srgbClr val="3CC3F0">
                    <a:alpha val="70000"/>
                  </a:srgbClr>
                </a:solidFill>
              </a:rPr>
              <a:t>04</a:t>
            </a:r>
            <a:endParaRPr lang="en-US" sz="2000" dirty="0"/>
          </a:p>
        </p:txBody>
      </p:sp>
      <p:sp>
        <p:nvSpPr>
          <p:cNvPr id="38" name="Text 32"/>
          <p:cNvSpPr txBox="1"/>
          <p:nvPr/>
        </p:nvSpPr>
        <p:spPr>
          <a:xfrm>
            <a:off x="6398971" y="2834640"/>
            <a:ext cx="1325880" cy="594360"/>
          </a:xfrm>
          <a:prstGeom prst="rect">
            <a:avLst/>
          </a:prstGeom>
          <a:noFill/>
          <a:ln/>
        </p:spPr>
        <p:txBody>
          <a:bodyPr wrap="square" lIns="0" tIns="0" rIns="0" bIns="0" rtlCol="0" anchor="t"/>
          <a:lstStyle/>
          <a:p>
            <a:pPr indent="0" marL="0">
              <a:buNone/>
            </a:pPr>
            <a:r>
              <a:rPr lang="en-US" sz="1500" b="1" dirty="0">
                <a:solidFill>
                  <a:srgbClr val="FFFFFF"/>
                </a:solidFill>
              </a:rPr>
              <a:t>Education RAG</a:t>
            </a:r>
            <a:endParaRPr lang="en-US" sz="1500" dirty="0"/>
          </a:p>
        </p:txBody>
      </p:sp>
      <p:sp>
        <p:nvSpPr>
          <p:cNvPr id="39" name="Text 33"/>
          <p:cNvSpPr txBox="1"/>
          <p:nvPr/>
        </p:nvSpPr>
        <p:spPr>
          <a:xfrm>
            <a:off x="6398971" y="3520440"/>
            <a:ext cx="914400" cy="201168"/>
          </a:xfrm>
          <a:prstGeom prst="rect">
            <a:avLst/>
          </a:prstGeom>
          <a:noFill/>
          <a:ln/>
        </p:spPr>
        <p:txBody>
          <a:bodyPr wrap="square" lIns="0" tIns="0" rIns="0" bIns="0" rtlCol="0" anchor="t"/>
          <a:lstStyle/>
          <a:p>
            <a:pPr indent="0" marL="0">
              <a:buNone/>
            </a:pPr>
            <a:r>
              <a:rPr lang="en-US" sz="1000" b="1" spc="200" kern="0" dirty="0">
                <a:solidFill>
                  <a:srgbClr val="3CC3F0"/>
                </a:solidFill>
              </a:rPr>
              <a:t>DOES</a:t>
            </a:r>
            <a:endParaRPr lang="en-US" sz="1000" dirty="0"/>
          </a:p>
        </p:txBody>
      </p:sp>
      <p:sp>
        <p:nvSpPr>
          <p:cNvPr id="40" name="Text 34"/>
          <p:cNvSpPr txBox="1"/>
          <p:nvPr/>
        </p:nvSpPr>
        <p:spPr>
          <a:xfrm>
            <a:off x="6398971" y="3749040"/>
            <a:ext cx="1325880" cy="868680"/>
          </a:xfrm>
          <a:prstGeom prst="rect">
            <a:avLst/>
          </a:prstGeom>
          <a:noFill/>
          <a:ln/>
        </p:spPr>
        <p:txBody>
          <a:bodyPr wrap="square" lIns="0" tIns="0" rIns="0" bIns="0" rtlCol="0" anchor="t"/>
          <a:lstStyle/>
          <a:p>
            <a:pPr indent="0" marL="0">
              <a:buNone/>
            </a:pPr>
            <a:r>
              <a:rPr lang="en-US" sz="1150" dirty="0">
                <a:solidFill>
                  <a:srgbClr val="CFE0FF"/>
                </a:solidFill>
              </a:rPr>
              <a:t>Answers only from approved articles, with IDs</a:t>
            </a:r>
            <a:endParaRPr lang="en-US" sz="1150" dirty="0"/>
          </a:p>
        </p:txBody>
      </p:sp>
      <p:sp>
        <p:nvSpPr>
          <p:cNvPr id="41" name="Shape 35"/>
          <p:cNvSpPr/>
          <p:nvPr/>
        </p:nvSpPr>
        <p:spPr>
          <a:xfrm>
            <a:off x="6307531" y="4709160"/>
            <a:ext cx="1417320" cy="777240"/>
          </a:xfrm>
          <a:prstGeom prst="roundRect">
            <a:avLst>
              <a:gd name="adj" fmla="val 9412"/>
            </a:avLst>
          </a:prstGeom>
          <a:solidFill>
            <a:srgbClr val="0A1F5C">
              <a:alpha val="70000"/>
            </a:srgbClr>
          </a:solidFill>
          <a:ln w="9525">
            <a:solidFill>
              <a:srgbClr val="3CC3F0">
                <a:alpha val="60000"/>
              </a:srgbClr>
            </a:solidFill>
            <a:prstDash val="solid"/>
          </a:ln>
        </p:spPr>
      </p:sp>
      <p:sp>
        <p:nvSpPr>
          <p:cNvPr id="42" name="Text 36"/>
          <p:cNvSpPr txBox="1"/>
          <p:nvPr/>
        </p:nvSpPr>
        <p:spPr>
          <a:xfrm>
            <a:off x="6417259" y="4773168"/>
            <a:ext cx="914400" cy="182880"/>
          </a:xfrm>
          <a:prstGeom prst="rect">
            <a:avLst/>
          </a:prstGeom>
          <a:noFill/>
          <a:ln/>
        </p:spPr>
        <p:txBody>
          <a:bodyPr wrap="square" lIns="0" tIns="0" rIns="0" bIns="0" rtlCol="0" anchor="t"/>
          <a:lstStyle/>
          <a:p>
            <a:pPr indent="0" marL="0">
              <a:buNone/>
            </a:pPr>
            <a:r>
              <a:rPr lang="en-US" sz="1000" b="1" spc="200" kern="0" dirty="0">
                <a:solidFill>
                  <a:srgbClr val="3CC3F0"/>
                </a:solidFill>
              </a:rPr>
              <a:t>SEES</a:t>
            </a:r>
            <a:endParaRPr lang="en-US" sz="1000" dirty="0"/>
          </a:p>
        </p:txBody>
      </p:sp>
      <p:sp>
        <p:nvSpPr>
          <p:cNvPr id="43" name="Text 37"/>
          <p:cNvSpPr txBox="1"/>
          <p:nvPr/>
        </p:nvSpPr>
        <p:spPr>
          <a:xfrm>
            <a:off x="6417259" y="4983480"/>
            <a:ext cx="1234440" cy="457200"/>
          </a:xfrm>
          <a:prstGeom prst="rect">
            <a:avLst/>
          </a:prstGeom>
          <a:noFill/>
          <a:ln/>
        </p:spPr>
        <p:txBody>
          <a:bodyPr wrap="square" lIns="0" tIns="0" rIns="0" bIns="0" rtlCol="0" anchor="t"/>
          <a:lstStyle/>
          <a:p>
            <a:pPr indent="0" marL="0">
              <a:buNone/>
            </a:pPr>
            <a:r>
              <a:rPr lang="en-US" sz="1050" b="1" dirty="0">
                <a:solidFill>
                  <a:srgbClr val="FFFFFF"/>
                </a:solidFill>
              </a:rPr>
              <a:t>Approved documents only</a:t>
            </a:r>
            <a:endParaRPr lang="en-US" sz="1050" dirty="0"/>
          </a:p>
        </p:txBody>
      </p:sp>
      <p:sp>
        <p:nvSpPr>
          <p:cNvPr id="44" name="Shape 38"/>
          <p:cNvSpPr/>
          <p:nvPr/>
        </p:nvSpPr>
        <p:spPr>
          <a:xfrm>
            <a:off x="8013802" y="1783080"/>
            <a:ext cx="1691640" cy="3840480"/>
          </a:xfrm>
          <a:prstGeom prst="roundRect">
            <a:avLst>
              <a:gd name="adj" fmla="val 6486"/>
            </a:avLst>
          </a:prstGeom>
          <a:solidFill>
            <a:srgbClr val="FFFFFF">
              <a:alpha val="10000"/>
            </a:srgbClr>
          </a:solidFill>
          <a:ln w="9525">
            <a:solidFill>
              <a:srgbClr val="FFFFFF">
                <a:alpha val="25000"/>
              </a:srgbClr>
            </a:solidFill>
            <a:prstDash val="solid"/>
          </a:ln>
        </p:spPr>
      </p:sp>
      <p:sp>
        <p:nvSpPr>
          <p:cNvPr id="45" name="Shape 39"/>
          <p:cNvSpPr/>
          <p:nvPr/>
        </p:nvSpPr>
        <p:spPr>
          <a:xfrm>
            <a:off x="8242402" y="2011680"/>
            <a:ext cx="640080" cy="640080"/>
          </a:xfrm>
          <a:prstGeom prst="ellipse">
            <a:avLst/>
          </a:prstGeom>
          <a:solidFill>
            <a:srgbClr val="1547C8"/>
          </a:solidFill>
          <a:ln w="6350">
            <a:solidFill>
              <a:srgbClr val="1547C8"/>
            </a:solidFill>
            <a:prstDash val="solid"/>
          </a:ln>
        </p:spPr>
      </p:sp>
      <p:pic>
        <p:nvPicPr>
          <p:cNvPr id="46" name="Image 4" descr="FaBell">    </p:cNvPr>
          <p:cNvPicPr>
            <a:picLocks noChangeAspect="1"/>
          </p:cNvPicPr>
          <p:nvPr/>
        </p:nvPicPr>
        <p:blipFill>
          <a:blip r:embed="rId5"/>
          <a:stretch>
            <a:fillRect/>
          </a:stretch>
        </p:blipFill>
        <p:spPr>
          <a:xfrm>
            <a:off x="8415223" y="2184502"/>
            <a:ext cx="294437" cy="294437"/>
          </a:xfrm>
          <a:prstGeom prst="rect">
            <a:avLst/>
          </a:prstGeom>
        </p:spPr>
      </p:pic>
      <p:sp>
        <p:nvSpPr>
          <p:cNvPr id="47" name="Text 40"/>
          <p:cNvSpPr txBox="1"/>
          <p:nvPr/>
        </p:nvSpPr>
        <p:spPr>
          <a:xfrm>
            <a:off x="9019642" y="2057400"/>
            <a:ext cx="502920" cy="365760"/>
          </a:xfrm>
          <a:prstGeom prst="rect">
            <a:avLst/>
          </a:prstGeom>
          <a:noFill/>
          <a:ln/>
        </p:spPr>
        <p:txBody>
          <a:bodyPr wrap="square" lIns="0" tIns="0" rIns="0" bIns="0" rtlCol="0" anchor="t"/>
          <a:lstStyle/>
          <a:p>
            <a:pPr algn="r" indent="0" marL="0">
              <a:buNone/>
            </a:pPr>
            <a:r>
              <a:rPr lang="en-US" sz="2000" b="1" dirty="0">
                <a:solidFill>
                  <a:srgbClr val="3CC3F0">
                    <a:alpha val="70000"/>
                  </a:srgbClr>
                </a:solidFill>
              </a:rPr>
              <a:t>05</a:t>
            </a:r>
            <a:endParaRPr lang="en-US" sz="2000" dirty="0"/>
          </a:p>
        </p:txBody>
      </p:sp>
      <p:sp>
        <p:nvSpPr>
          <p:cNvPr id="48" name="Text 41"/>
          <p:cNvSpPr txBox="1"/>
          <p:nvPr/>
        </p:nvSpPr>
        <p:spPr>
          <a:xfrm>
            <a:off x="8242402" y="2834640"/>
            <a:ext cx="1325880" cy="594360"/>
          </a:xfrm>
          <a:prstGeom prst="rect">
            <a:avLst/>
          </a:prstGeom>
          <a:noFill/>
          <a:ln/>
        </p:spPr>
        <p:txBody>
          <a:bodyPr wrap="square" lIns="0" tIns="0" rIns="0" bIns="0" rtlCol="0" anchor="t"/>
          <a:lstStyle/>
          <a:p>
            <a:pPr indent="0" marL="0">
              <a:buNone/>
            </a:pPr>
            <a:r>
              <a:rPr lang="en-US" sz="1500" b="1" dirty="0">
                <a:solidFill>
                  <a:srgbClr val="FFFFFF"/>
                </a:solidFill>
              </a:rPr>
              <a:t>Engagement</a:t>
            </a:r>
            <a:endParaRPr lang="en-US" sz="1500" dirty="0"/>
          </a:p>
        </p:txBody>
      </p:sp>
      <p:sp>
        <p:nvSpPr>
          <p:cNvPr id="49" name="Text 42"/>
          <p:cNvSpPr txBox="1"/>
          <p:nvPr/>
        </p:nvSpPr>
        <p:spPr>
          <a:xfrm>
            <a:off x="8242402" y="3520440"/>
            <a:ext cx="914400" cy="201168"/>
          </a:xfrm>
          <a:prstGeom prst="rect">
            <a:avLst/>
          </a:prstGeom>
          <a:noFill/>
          <a:ln/>
        </p:spPr>
        <p:txBody>
          <a:bodyPr wrap="square" lIns="0" tIns="0" rIns="0" bIns="0" rtlCol="0" anchor="t"/>
          <a:lstStyle/>
          <a:p>
            <a:pPr indent="0" marL="0">
              <a:buNone/>
            </a:pPr>
            <a:r>
              <a:rPr lang="en-US" sz="1000" b="1" spc="200" kern="0" dirty="0">
                <a:solidFill>
                  <a:srgbClr val="3CC3F0"/>
                </a:solidFill>
              </a:rPr>
              <a:t>DOES</a:t>
            </a:r>
            <a:endParaRPr lang="en-US" sz="1000" dirty="0"/>
          </a:p>
        </p:txBody>
      </p:sp>
      <p:sp>
        <p:nvSpPr>
          <p:cNvPr id="50" name="Text 43"/>
          <p:cNvSpPr txBox="1"/>
          <p:nvPr/>
        </p:nvSpPr>
        <p:spPr>
          <a:xfrm>
            <a:off x="8242402" y="3749040"/>
            <a:ext cx="1325880" cy="868680"/>
          </a:xfrm>
          <a:prstGeom prst="rect">
            <a:avLst/>
          </a:prstGeom>
          <a:noFill/>
          <a:ln/>
        </p:spPr>
        <p:txBody>
          <a:bodyPr wrap="square" lIns="0" tIns="0" rIns="0" bIns="0" rtlCol="0" anchor="t"/>
          <a:lstStyle/>
          <a:p>
            <a:pPr indent="0" marL="0">
              <a:buNone/>
            </a:pPr>
            <a:r>
              <a:rPr lang="en-US" sz="1150" dirty="0">
                <a:solidFill>
                  <a:srgbClr val="CFE0FF"/>
                </a:solidFill>
              </a:rPr>
              <a:t>A neutral reminder and a check-in question</a:t>
            </a:r>
            <a:endParaRPr lang="en-US" sz="1150" dirty="0"/>
          </a:p>
        </p:txBody>
      </p:sp>
      <p:sp>
        <p:nvSpPr>
          <p:cNvPr id="51" name="Shape 44"/>
          <p:cNvSpPr/>
          <p:nvPr/>
        </p:nvSpPr>
        <p:spPr>
          <a:xfrm>
            <a:off x="8150962" y="4709160"/>
            <a:ext cx="1417320" cy="777240"/>
          </a:xfrm>
          <a:prstGeom prst="roundRect">
            <a:avLst>
              <a:gd name="adj" fmla="val 9412"/>
            </a:avLst>
          </a:prstGeom>
          <a:solidFill>
            <a:srgbClr val="0A1F5C">
              <a:alpha val="70000"/>
            </a:srgbClr>
          </a:solidFill>
          <a:ln w="9525">
            <a:solidFill>
              <a:srgbClr val="3CC3F0">
                <a:alpha val="60000"/>
              </a:srgbClr>
            </a:solidFill>
            <a:prstDash val="solid"/>
          </a:ln>
        </p:spPr>
      </p:sp>
      <p:sp>
        <p:nvSpPr>
          <p:cNvPr id="52" name="Text 45"/>
          <p:cNvSpPr txBox="1"/>
          <p:nvPr/>
        </p:nvSpPr>
        <p:spPr>
          <a:xfrm>
            <a:off x="8260690" y="4773168"/>
            <a:ext cx="914400" cy="182880"/>
          </a:xfrm>
          <a:prstGeom prst="rect">
            <a:avLst/>
          </a:prstGeom>
          <a:noFill/>
          <a:ln/>
        </p:spPr>
        <p:txBody>
          <a:bodyPr wrap="square" lIns="0" tIns="0" rIns="0" bIns="0" rtlCol="0" anchor="t"/>
          <a:lstStyle/>
          <a:p>
            <a:pPr indent="0" marL="0">
              <a:buNone/>
            </a:pPr>
            <a:r>
              <a:rPr lang="en-US" sz="1000" b="1" spc="200" kern="0" dirty="0">
                <a:solidFill>
                  <a:srgbClr val="3CC3F0"/>
                </a:solidFill>
              </a:rPr>
              <a:t>SEES</a:t>
            </a:r>
            <a:endParaRPr lang="en-US" sz="1000" dirty="0"/>
          </a:p>
        </p:txBody>
      </p:sp>
      <p:sp>
        <p:nvSpPr>
          <p:cNvPr id="53" name="Text 46"/>
          <p:cNvSpPr txBox="1"/>
          <p:nvPr/>
        </p:nvSpPr>
        <p:spPr>
          <a:xfrm>
            <a:off x="8260690" y="4983480"/>
            <a:ext cx="1234440" cy="457200"/>
          </a:xfrm>
          <a:prstGeom prst="rect">
            <a:avLst/>
          </a:prstGeom>
          <a:noFill/>
          <a:ln/>
        </p:spPr>
        <p:txBody>
          <a:bodyPr wrap="square" lIns="0" tIns="0" rIns="0" bIns="0" rtlCol="0" anchor="t"/>
          <a:lstStyle/>
          <a:p>
            <a:pPr indent="0" marL="0">
              <a:buNone/>
            </a:pPr>
            <a:r>
              <a:rPr lang="en-US" sz="1050" b="1" dirty="0">
                <a:solidFill>
                  <a:srgbClr val="FFFFFF"/>
                </a:solidFill>
              </a:rPr>
              <a:t>Due tasks, channel, language</a:t>
            </a:r>
            <a:endParaRPr lang="en-US" sz="1050" dirty="0"/>
          </a:p>
        </p:txBody>
      </p:sp>
      <p:sp>
        <p:nvSpPr>
          <p:cNvPr id="54" name="Shape 47"/>
          <p:cNvSpPr/>
          <p:nvPr/>
        </p:nvSpPr>
        <p:spPr>
          <a:xfrm>
            <a:off x="9857232" y="1783080"/>
            <a:ext cx="1691640" cy="3840480"/>
          </a:xfrm>
          <a:prstGeom prst="roundRect">
            <a:avLst>
              <a:gd name="adj" fmla="val 6486"/>
            </a:avLst>
          </a:prstGeom>
          <a:solidFill>
            <a:srgbClr val="FFFFFF">
              <a:alpha val="10000"/>
            </a:srgbClr>
          </a:solidFill>
          <a:ln w="9525">
            <a:solidFill>
              <a:srgbClr val="FFFFFF">
                <a:alpha val="25000"/>
              </a:srgbClr>
            </a:solidFill>
            <a:prstDash val="solid"/>
          </a:ln>
        </p:spPr>
      </p:sp>
      <p:sp>
        <p:nvSpPr>
          <p:cNvPr id="55" name="Shape 48"/>
          <p:cNvSpPr/>
          <p:nvPr/>
        </p:nvSpPr>
        <p:spPr>
          <a:xfrm>
            <a:off x="10085832" y="2011680"/>
            <a:ext cx="640080" cy="640080"/>
          </a:xfrm>
          <a:prstGeom prst="ellipse">
            <a:avLst/>
          </a:prstGeom>
          <a:solidFill>
            <a:srgbClr val="1547C8"/>
          </a:solidFill>
          <a:ln w="6350">
            <a:solidFill>
              <a:srgbClr val="1547C8"/>
            </a:solidFill>
            <a:prstDash val="solid"/>
          </a:ln>
        </p:spPr>
      </p:sp>
      <p:pic>
        <p:nvPicPr>
          <p:cNvPr id="56" name="Image 5" descr="FaExclamationTriangle">    </p:cNvPr>
          <p:cNvPicPr>
            <a:picLocks noChangeAspect="1"/>
          </p:cNvPicPr>
          <p:nvPr/>
        </p:nvPicPr>
        <p:blipFill>
          <a:blip r:embed="rId6"/>
          <a:stretch>
            <a:fillRect/>
          </a:stretch>
        </p:blipFill>
        <p:spPr>
          <a:xfrm>
            <a:off x="10258654" y="2184502"/>
            <a:ext cx="294437" cy="294437"/>
          </a:xfrm>
          <a:prstGeom prst="rect">
            <a:avLst/>
          </a:prstGeom>
        </p:spPr>
      </p:pic>
      <p:sp>
        <p:nvSpPr>
          <p:cNvPr id="57" name="Text 49"/>
          <p:cNvSpPr txBox="1"/>
          <p:nvPr/>
        </p:nvSpPr>
        <p:spPr>
          <a:xfrm>
            <a:off x="10863072" y="2057400"/>
            <a:ext cx="502920" cy="365760"/>
          </a:xfrm>
          <a:prstGeom prst="rect">
            <a:avLst/>
          </a:prstGeom>
          <a:noFill/>
          <a:ln/>
        </p:spPr>
        <p:txBody>
          <a:bodyPr wrap="square" lIns="0" tIns="0" rIns="0" bIns="0" rtlCol="0" anchor="t"/>
          <a:lstStyle/>
          <a:p>
            <a:pPr algn="r" indent="0" marL="0">
              <a:buNone/>
            </a:pPr>
            <a:r>
              <a:rPr lang="en-US" sz="2000" b="1" dirty="0">
                <a:solidFill>
                  <a:srgbClr val="3CC3F0">
                    <a:alpha val="70000"/>
                  </a:srgbClr>
                </a:solidFill>
              </a:rPr>
              <a:t>06</a:t>
            </a:r>
            <a:endParaRPr lang="en-US" sz="2000" dirty="0"/>
          </a:p>
        </p:txBody>
      </p:sp>
      <p:sp>
        <p:nvSpPr>
          <p:cNvPr id="58" name="Text 50"/>
          <p:cNvSpPr txBox="1"/>
          <p:nvPr/>
        </p:nvSpPr>
        <p:spPr>
          <a:xfrm>
            <a:off x="10085832" y="2834640"/>
            <a:ext cx="1325880" cy="594360"/>
          </a:xfrm>
          <a:prstGeom prst="rect">
            <a:avLst/>
          </a:prstGeom>
          <a:noFill/>
          <a:ln/>
        </p:spPr>
        <p:txBody>
          <a:bodyPr wrap="square" lIns="0" tIns="0" rIns="0" bIns="0" rtlCol="0" anchor="t"/>
          <a:lstStyle/>
          <a:p>
            <a:pPr indent="0" marL="0">
              <a:buNone/>
            </a:pPr>
            <a:r>
              <a:rPr lang="en-US" sz="1500" b="1" dirty="0">
                <a:solidFill>
                  <a:srgbClr val="FFFFFF"/>
                </a:solidFill>
              </a:rPr>
              <a:t>Escalation</a:t>
            </a:r>
            <a:endParaRPr lang="en-US" sz="1500" dirty="0"/>
          </a:p>
        </p:txBody>
      </p:sp>
      <p:sp>
        <p:nvSpPr>
          <p:cNvPr id="59" name="Text 51"/>
          <p:cNvSpPr txBox="1"/>
          <p:nvPr/>
        </p:nvSpPr>
        <p:spPr>
          <a:xfrm>
            <a:off x="10085832" y="3520440"/>
            <a:ext cx="914400" cy="201168"/>
          </a:xfrm>
          <a:prstGeom prst="rect">
            <a:avLst/>
          </a:prstGeom>
          <a:noFill/>
          <a:ln/>
        </p:spPr>
        <p:txBody>
          <a:bodyPr wrap="square" lIns="0" tIns="0" rIns="0" bIns="0" rtlCol="0" anchor="t"/>
          <a:lstStyle/>
          <a:p>
            <a:pPr indent="0" marL="0">
              <a:buNone/>
            </a:pPr>
            <a:r>
              <a:rPr lang="en-US" sz="1000" b="1" spc="200" kern="0" dirty="0">
                <a:solidFill>
                  <a:srgbClr val="3CC3F0"/>
                </a:solidFill>
              </a:rPr>
              <a:t>DOES</a:t>
            </a:r>
            <a:endParaRPr lang="en-US" sz="1000" dirty="0"/>
          </a:p>
        </p:txBody>
      </p:sp>
      <p:sp>
        <p:nvSpPr>
          <p:cNvPr id="60" name="Text 52"/>
          <p:cNvSpPr txBox="1"/>
          <p:nvPr/>
        </p:nvSpPr>
        <p:spPr>
          <a:xfrm>
            <a:off x="10085832" y="3749040"/>
            <a:ext cx="1325880" cy="868680"/>
          </a:xfrm>
          <a:prstGeom prst="rect">
            <a:avLst/>
          </a:prstGeom>
          <a:noFill/>
          <a:ln/>
        </p:spPr>
        <p:txBody>
          <a:bodyPr wrap="square" lIns="0" tIns="0" rIns="0" bIns="0" rtlCol="0" anchor="t"/>
          <a:lstStyle/>
          <a:p>
            <a:pPr indent="0" marL="0">
              <a:buNone/>
            </a:pPr>
            <a:r>
              <a:rPr lang="en-US" sz="1150" dirty="0">
                <a:solidFill>
                  <a:srgbClr val="CFE0FF"/>
                </a:solidFill>
              </a:rPr>
              <a:t>Words the staff note for rules that code matched</a:t>
            </a:r>
            <a:endParaRPr lang="en-US" sz="1150" dirty="0"/>
          </a:p>
        </p:txBody>
      </p:sp>
      <p:sp>
        <p:nvSpPr>
          <p:cNvPr id="61" name="Shape 53"/>
          <p:cNvSpPr/>
          <p:nvPr/>
        </p:nvSpPr>
        <p:spPr>
          <a:xfrm>
            <a:off x="9994392" y="4709160"/>
            <a:ext cx="1417320" cy="777240"/>
          </a:xfrm>
          <a:prstGeom prst="roundRect">
            <a:avLst>
              <a:gd name="adj" fmla="val 9412"/>
            </a:avLst>
          </a:prstGeom>
          <a:solidFill>
            <a:srgbClr val="0A1F5C">
              <a:alpha val="70000"/>
            </a:srgbClr>
          </a:solidFill>
          <a:ln w="9525">
            <a:solidFill>
              <a:srgbClr val="3CC3F0">
                <a:alpha val="60000"/>
              </a:srgbClr>
            </a:solidFill>
            <a:prstDash val="solid"/>
          </a:ln>
        </p:spPr>
      </p:sp>
      <p:sp>
        <p:nvSpPr>
          <p:cNvPr id="62" name="Text 54"/>
          <p:cNvSpPr txBox="1"/>
          <p:nvPr/>
        </p:nvSpPr>
        <p:spPr>
          <a:xfrm>
            <a:off x="10104120" y="4773168"/>
            <a:ext cx="914400" cy="182880"/>
          </a:xfrm>
          <a:prstGeom prst="rect">
            <a:avLst/>
          </a:prstGeom>
          <a:noFill/>
          <a:ln/>
        </p:spPr>
        <p:txBody>
          <a:bodyPr wrap="square" lIns="0" tIns="0" rIns="0" bIns="0" rtlCol="0" anchor="t"/>
          <a:lstStyle/>
          <a:p>
            <a:pPr indent="0" marL="0">
              <a:buNone/>
            </a:pPr>
            <a:r>
              <a:rPr lang="en-US" sz="1000" b="1" spc="200" kern="0" dirty="0">
                <a:solidFill>
                  <a:srgbClr val="3CC3F0"/>
                </a:solidFill>
              </a:rPr>
              <a:t>SEES</a:t>
            </a:r>
            <a:endParaRPr lang="en-US" sz="1000" dirty="0"/>
          </a:p>
        </p:txBody>
      </p:sp>
      <p:sp>
        <p:nvSpPr>
          <p:cNvPr id="63" name="Text 55"/>
          <p:cNvSpPr txBox="1"/>
          <p:nvPr/>
        </p:nvSpPr>
        <p:spPr>
          <a:xfrm>
            <a:off x="10104120" y="4983480"/>
            <a:ext cx="1234440" cy="457200"/>
          </a:xfrm>
          <a:prstGeom prst="rect">
            <a:avLst/>
          </a:prstGeom>
          <a:noFill/>
          <a:ln/>
        </p:spPr>
        <p:txBody>
          <a:bodyPr wrap="square" lIns="0" tIns="0" rIns="0" bIns="0" rtlCol="0" anchor="t"/>
          <a:lstStyle/>
          <a:p>
            <a:pPr indent="0" marL="0">
              <a:buNone/>
            </a:pPr>
            <a:r>
              <a:rPr lang="en-US" sz="1050" b="1" dirty="0">
                <a:solidFill>
                  <a:srgbClr val="FFFFFF"/>
                </a:solidFill>
              </a:rPr>
              <a:t>Matched rules only</a:t>
            </a:r>
            <a:endParaRPr lang="en-US" sz="1050" dirty="0"/>
          </a:p>
        </p:txBody>
      </p:sp>
      <p:sp>
        <p:nvSpPr>
          <p:cNvPr id="64" name="Shape 56"/>
          <p:cNvSpPr/>
          <p:nvPr/>
        </p:nvSpPr>
        <p:spPr>
          <a:xfrm>
            <a:off x="640080" y="5852160"/>
            <a:ext cx="10908792" cy="411480"/>
          </a:xfrm>
          <a:prstGeom prst="roundRect">
            <a:avLst>
              <a:gd name="adj" fmla="val 44444"/>
            </a:avLst>
          </a:prstGeom>
          <a:solidFill>
            <a:srgbClr val="12A36B">
              <a:alpha val="16000"/>
            </a:srgbClr>
          </a:solidFill>
          <a:ln w="15875">
            <a:solidFill>
              <a:srgbClr val="12A36B"/>
            </a:solidFill>
            <a:prstDash val="solid"/>
          </a:ln>
        </p:spPr>
      </p:sp>
      <p:sp>
        <p:nvSpPr>
          <p:cNvPr id="65" name="Text 57"/>
          <p:cNvSpPr txBox="1"/>
          <p:nvPr/>
        </p:nvSpPr>
        <p:spPr>
          <a:xfrm>
            <a:off x="640080" y="5852160"/>
            <a:ext cx="10908792" cy="411480"/>
          </a:xfrm>
          <a:prstGeom prst="rect">
            <a:avLst/>
          </a:prstGeom>
          <a:noFill/>
          <a:ln/>
        </p:spPr>
        <p:txBody>
          <a:bodyPr wrap="square" lIns="0" tIns="0" rIns="0" bIns="0" rtlCol="0" anchor="ctr"/>
          <a:lstStyle/>
          <a:p>
            <a:pPr algn="ctr" indent="0" marL="0">
              <a:buNone/>
            </a:pPr>
            <a:r>
              <a:rPr lang="en-US" sz="1300" b="1" dirty="0">
                <a:solidFill>
                  <a:srgbClr val="FFFFFF"/>
                </a:solidFill>
              </a:rPr>
              <a:t>All six are created in the Foundry project when the app starts, and appear by name in the portal.</a:t>
            </a:r>
            <a:endParaRPr lang="en-US" sz="13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body" hasCustomPrompt="1"/>
          </p:nvPr>
        </p:nvSpPr>
        <p:spPr>
          <a:xfrm>
            <a:off x="640080" y="438912"/>
            <a:ext cx="8229600" cy="274320"/>
          </a:xfrm>
          <a:prstGeom prst="rect">
            <a:avLst/>
          </a:prstGeom>
          <a:noFill/>
          <a:ln/>
        </p:spPr>
        <p:txBody>
          <a:bodyPr wrap="square" lIns="0" tIns="0" rIns="0" bIns="0" rtlCol="0" anchor="t"/>
          <a:lstStyle/>
          <a:p>
            <a:pPr indent="0" marL="0">
              <a:buNone/>
            </a:pPr>
            <a:r>
              <a:rPr lang="en-US" sz="1200" b="1" spc="400" kern="0" dirty="0">
                <a:solidFill>
                  <a:srgbClr val="3CC3F0"/>
                </a:solidFill>
              </a:rPr>
              <a:t>05  ·  DESIGN PRINCIPLE</a:t>
            </a:r>
            <a:endParaRPr lang="en-US" sz="1200" dirty="0"/>
          </a:p>
        </p:txBody>
      </p:sp>
      <p:sp>
        <p:nvSpPr>
          <p:cNvPr id="3" name="Text 2"/>
          <p:cNvSpPr/>
          <p:nvPr>
            <p:ph idx="104" type="title" hasCustomPrompt="1"/>
          </p:nvPr>
        </p:nvSpPr>
        <p:spPr>
          <a:xfrm>
            <a:off x="640080" y="749808"/>
            <a:ext cx="10908792" cy="777240"/>
          </a:xfrm>
          <a:prstGeom prst="rect">
            <a:avLst/>
          </a:prstGeom>
          <a:noFill/>
          <a:ln/>
        </p:spPr>
        <p:txBody>
          <a:bodyPr wrap="square" lIns="0" tIns="0" rIns="0" bIns="0" rtlCol="0" anchor="t"/>
          <a:lstStyle/>
          <a:p>
            <a:pPr algn="l" indent="0" marL="0">
              <a:buNone/>
            </a:pPr>
            <a:r>
              <a:rPr lang="en-US" sz="3200" b="1" dirty="0">
                <a:solidFill>
                  <a:srgbClr val="FFFFFF"/>
                </a:solidFill>
              </a:rPr>
              <a:t>Code decides the facts. Agents only word them</a:t>
            </a:r>
            <a:endParaRPr lang="en-US" sz="3200" dirty="0"/>
          </a:p>
        </p:txBody>
      </p:sp>
      <p:sp>
        <p:nvSpPr>
          <p:cNvPr id="4" name="Shape 2"/>
          <p:cNvSpPr/>
          <p:nvPr/>
        </p:nvSpPr>
        <p:spPr>
          <a:xfrm>
            <a:off x="640080" y="2423160"/>
            <a:ext cx="2377440" cy="1463040"/>
          </a:xfrm>
          <a:prstGeom prst="roundRect">
            <a:avLst>
              <a:gd name="adj" fmla="val 7500"/>
            </a:avLst>
          </a:prstGeom>
          <a:solidFill>
            <a:srgbClr val="1547C8"/>
          </a:solidFill>
          <a:ln w="19050">
            <a:solidFill>
              <a:srgbClr val="3CC3F0"/>
            </a:solidFill>
            <a:prstDash val="solid"/>
          </a:ln>
        </p:spPr>
      </p:sp>
      <p:sp>
        <p:nvSpPr>
          <p:cNvPr id="5" name="Text 3"/>
          <p:cNvSpPr txBox="1"/>
          <p:nvPr/>
        </p:nvSpPr>
        <p:spPr>
          <a:xfrm>
            <a:off x="640080" y="2514600"/>
            <a:ext cx="2377440" cy="274320"/>
          </a:xfrm>
          <a:prstGeom prst="rect">
            <a:avLst/>
          </a:prstGeom>
          <a:noFill/>
          <a:ln/>
        </p:spPr>
        <p:txBody>
          <a:bodyPr wrap="square" lIns="0" tIns="0" rIns="0" bIns="0" rtlCol="0" anchor="t"/>
          <a:lstStyle/>
          <a:p>
            <a:pPr algn="ctr" indent="0" marL="0">
              <a:buNone/>
            </a:pPr>
            <a:r>
              <a:rPr lang="en-US" sz="1100" b="1" spc="300" kern="0" dirty="0">
                <a:solidFill>
                  <a:srgbClr val="3CC3F0"/>
                </a:solidFill>
              </a:rPr>
              <a:t>CODE</a:t>
            </a:r>
            <a:endParaRPr lang="en-US" sz="1100" dirty="0"/>
          </a:p>
        </p:txBody>
      </p:sp>
      <p:sp>
        <p:nvSpPr>
          <p:cNvPr id="6" name="Text 4"/>
          <p:cNvSpPr txBox="1"/>
          <p:nvPr/>
        </p:nvSpPr>
        <p:spPr>
          <a:xfrm>
            <a:off x="822960" y="2834640"/>
            <a:ext cx="2011680" cy="914400"/>
          </a:xfrm>
          <a:prstGeom prst="rect">
            <a:avLst/>
          </a:prstGeom>
          <a:noFill/>
          <a:ln/>
        </p:spPr>
        <p:txBody>
          <a:bodyPr wrap="square" lIns="0" tIns="0" rIns="0" bIns="0" rtlCol="0" anchor="ctr"/>
          <a:lstStyle/>
          <a:p>
            <a:pPr algn="ctr" indent="0" marL="0">
              <a:buNone/>
            </a:pPr>
            <a:r>
              <a:rPr lang="en-US" sz="1400" b="1" dirty="0">
                <a:solidFill>
                  <a:srgbClr val="FFFFFF"/>
                </a:solidFill>
              </a:rPr>
              <a:t>Computes the facts: counts, dates, rules, source IDs</a:t>
            </a:r>
            <a:endParaRPr lang="en-US" sz="1400" dirty="0"/>
          </a:p>
        </p:txBody>
      </p:sp>
      <p:sp>
        <p:nvSpPr>
          <p:cNvPr id="7" name="Shape 5"/>
          <p:cNvSpPr/>
          <p:nvPr/>
        </p:nvSpPr>
        <p:spPr>
          <a:xfrm>
            <a:off x="3017520" y="3154680"/>
            <a:ext cx="457200" cy="0"/>
          </a:xfrm>
          <a:prstGeom prst="line">
            <a:avLst/>
          </a:prstGeom>
          <a:noFill/>
          <a:ln w="25400">
            <a:solidFill>
              <a:srgbClr val="3CC3F0"/>
            </a:solidFill>
            <a:prstDash val="solid"/>
            <a:tailEnd type="triangle"/>
          </a:ln>
        </p:spPr>
      </p:sp>
      <p:sp>
        <p:nvSpPr>
          <p:cNvPr id="8" name="Shape 6"/>
          <p:cNvSpPr/>
          <p:nvPr/>
        </p:nvSpPr>
        <p:spPr>
          <a:xfrm>
            <a:off x="3474720" y="2423160"/>
            <a:ext cx="2377440" cy="1463040"/>
          </a:xfrm>
          <a:prstGeom prst="roundRect">
            <a:avLst>
              <a:gd name="adj" fmla="val 7500"/>
            </a:avLst>
          </a:prstGeom>
          <a:solidFill>
            <a:srgbClr val="3CC3F0">
              <a:alpha val="16000"/>
            </a:srgbClr>
          </a:solidFill>
          <a:ln w="15875">
            <a:solidFill>
              <a:srgbClr val="3CC3F0"/>
            </a:solidFill>
            <a:prstDash val="solid"/>
          </a:ln>
        </p:spPr>
      </p:sp>
      <p:sp>
        <p:nvSpPr>
          <p:cNvPr id="9" name="Text 7"/>
          <p:cNvSpPr txBox="1"/>
          <p:nvPr/>
        </p:nvSpPr>
        <p:spPr>
          <a:xfrm>
            <a:off x="3474720" y="2514600"/>
            <a:ext cx="2377440" cy="274320"/>
          </a:xfrm>
          <a:prstGeom prst="rect">
            <a:avLst/>
          </a:prstGeom>
          <a:noFill/>
          <a:ln/>
        </p:spPr>
        <p:txBody>
          <a:bodyPr wrap="square" lIns="0" tIns="0" rIns="0" bIns="0" rtlCol="0" anchor="t"/>
          <a:lstStyle/>
          <a:p>
            <a:pPr algn="ctr" indent="0" marL="0">
              <a:buNone/>
            </a:pPr>
            <a:r>
              <a:rPr lang="en-US" sz="1100" b="1" spc="300" kern="0" dirty="0">
                <a:solidFill>
                  <a:srgbClr val="3CC3F0"/>
                </a:solidFill>
              </a:rPr>
              <a:t>AGENT</a:t>
            </a:r>
            <a:endParaRPr lang="en-US" sz="1100" dirty="0"/>
          </a:p>
        </p:txBody>
      </p:sp>
      <p:sp>
        <p:nvSpPr>
          <p:cNvPr id="10" name="Text 8"/>
          <p:cNvSpPr txBox="1"/>
          <p:nvPr/>
        </p:nvSpPr>
        <p:spPr>
          <a:xfrm>
            <a:off x="3657600" y="2834640"/>
            <a:ext cx="2011680" cy="914400"/>
          </a:xfrm>
          <a:prstGeom prst="rect">
            <a:avLst/>
          </a:prstGeom>
          <a:noFill/>
          <a:ln/>
        </p:spPr>
        <p:txBody>
          <a:bodyPr wrap="square" lIns="0" tIns="0" rIns="0" bIns="0" rtlCol="0" anchor="ctr"/>
          <a:lstStyle/>
          <a:p>
            <a:pPr algn="ctr" indent="0" marL="0">
              <a:buNone/>
            </a:pPr>
            <a:r>
              <a:rPr lang="en-US" sz="1400" b="1" dirty="0">
                <a:solidFill>
                  <a:srgbClr val="FFFFFF"/>
                </a:solidFill>
              </a:rPr>
              <a:t>Words the facts in plain language (JSON reply)</a:t>
            </a:r>
            <a:endParaRPr lang="en-US" sz="1400" dirty="0"/>
          </a:p>
        </p:txBody>
      </p:sp>
      <p:sp>
        <p:nvSpPr>
          <p:cNvPr id="11" name="Shape 9"/>
          <p:cNvSpPr/>
          <p:nvPr/>
        </p:nvSpPr>
        <p:spPr>
          <a:xfrm>
            <a:off x="5852160" y="3154680"/>
            <a:ext cx="457200" cy="0"/>
          </a:xfrm>
          <a:prstGeom prst="line">
            <a:avLst/>
          </a:prstGeom>
          <a:noFill/>
          <a:ln w="25400">
            <a:solidFill>
              <a:srgbClr val="3CC3F0"/>
            </a:solidFill>
            <a:prstDash val="solid"/>
            <a:tailEnd type="triangle"/>
          </a:ln>
        </p:spPr>
      </p:sp>
      <p:sp>
        <p:nvSpPr>
          <p:cNvPr id="12" name="Shape 10"/>
          <p:cNvSpPr/>
          <p:nvPr/>
        </p:nvSpPr>
        <p:spPr>
          <a:xfrm>
            <a:off x="6309360" y="1783080"/>
            <a:ext cx="3063240" cy="2743200"/>
          </a:xfrm>
          <a:prstGeom prst="roundRect">
            <a:avLst>
              <a:gd name="adj" fmla="val 4000"/>
            </a:avLst>
          </a:prstGeom>
          <a:solidFill>
            <a:srgbClr val="FFFFFF">
              <a:alpha val="10000"/>
            </a:srgbClr>
          </a:solidFill>
          <a:ln w="9525">
            <a:solidFill>
              <a:srgbClr val="FFFFFF">
                <a:alpha val="25000"/>
              </a:srgbClr>
            </a:solidFill>
            <a:prstDash val="solid"/>
          </a:ln>
        </p:spPr>
      </p:sp>
      <p:sp>
        <p:nvSpPr>
          <p:cNvPr id="13" name="Text 11"/>
          <p:cNvSpPr txBox="1"/>
          <p:nvPr/>
        </p:nvSpPr>
        <p:spPr>
          <a:xfrm>
            <a:off x="6537960" y="1920240"/>
            <a:ext cx="2286000" cy="228600"/>
          </a:xfrm>
          <a:prstGeom prst="rect">
            <a:avLst/>
          </a:prstGeom>
          <a:noFill/>
          <a:ln/>
        </p:spPr>
        <p:txBody>
          <a:bodyPr wrap="square" lIns="0" tIns="0" rIns="0" bIns="0" rtlCol="0" anchor="t"/>
          <a:lstStyle/>
          <a:p>
            <a:pPr indent="0" marL="0">
              <a:buNone/>
            </a:pPr>
            <a:r>
              <a:rPr lang="en-US" sz="1100" b="1" spc="300" kern="0" dirty="0">
                <a:solidFill>
                  <a:srgbClr val="F5A524"/>
                </a:solidFill>
              </a:rPr>
              <a:t>FOUR GATES</a:t>
            </a:r>
            <a:endParaRPr lang="en-US" sz="1100" dirty="0"/>
          </a:p>
        </p:txBody>
      </p:sp>
      <p:pic>
        <p:nvPicPr>
          <p:cNvPr id="14" name="Image 0" descr="check">    </p:cNvPr>
          <p:cNvPicPr>
            <a:picLocks noChangeAspect="1"/>
          </p:cNvPicPr>
          <p:nvPr/>
        </p:nvPicPr>
        <p:blipFill>
          <a:blip r:embed="rId1"/>
          <a:stretch>
            <a:fillRect/>
          </a:stretch>
        </p:blipFill>
        <p:spPr>
          <a:xfrm>
            <a:off x="6537960" y="2395728"/>
            <a:ext cx="274320" cy="274320"/>
          </a:xfrm>
          <a:prstGeom prst="rect">
            <a:avLst/>
          </a:prstGeom>
        </p:spPr>
      </p:pic>
      <p:sp>
        <p:nvSpPr>
          <p:cNvPr id="15" name="Text 12"/>
          <p:cNvSpPr txBox="1"/>
          <p:nvPr/>
        </p:nvSpPr>
        <p:spPr>
          <a:xfrm>
            <a:off x="6949440" y="2359152"/>
            <a:ext cx="2331720" cy="365760"/>
          </a:xfrm>
          <a:prstGeom prst="rect">
            <a:avLst/>
          </a:prstGeom>
          <a:noFill/>
          <a:ln/>
        </p:spPr>
        <p:txBody>
          <a:bodyPr wrap="square" lIns="0" tIns="0" rIns="0" bIns="0" rtlCol="0" anchor="ctr"/>
          <a:lstStyle/>
          <a:p>
            <a:pPr indent="0" marL="0">
              <a:buNone/>
            </a:pPr>
            <a:r>
              <a:rPr lang="en-US" sz="1250" b="1" dirty="0">
                <a:solidFill>
                  <a:srgbClr val="FFFFFF"/>
                </a:solidFill>
              </a:rPr>
              <a:t>No diagnosis or advice</a:t>
            </a:r>
            <a:endParaRPr lang="en-US" sz="1250" dirty="0"/>
          </a:p>
        </p:txBody>
      </p:sp>
      <p:pic>
        <p:nvPicPr>
          <p:cNvPr id="16" name="Image 1" descr="check">    </p:cNvPr>
          <p:cNvPicPr>
            <a:picLocks noChangeAspect="1"/>
          </p:cNvPicPr>
          <p:nvPr/>
        </p:nvPicPr>
        <p:blipFill>
          <a:blip r:embed="rId2"/>
          <a:stretch>
            <a:fillRect/>
          </a:stretch>
        </p:blipFill>
        <p:spPr>
          <a:xfrm>
            <a:off x="6537960" y="2916936"/>
            <a:ext cx="274320" cy="274320"/>
          </a:xfrm>
          <a:prstGeom prst="rect">
            <a:avLst/>
          </a:prstGeom>
        </p:spPr>
      </p:pic>
      <p:sp>
        <p:nvSpPr>
          <p:cNvPr id="17" name="Text 13"/>
          <p:cNvSpPr txBox="1"/>
          <p:nvPr/>
        </p:nvSpPr>
        <p:spPr>
          <a:xfrm>
            <a:off x="6949440" y="2880360"/>
            <a:ext cx="2331720" cy="365760"/>
          </a:xfrm>
          <a:prstGeom prst="rect">
            <a:avLst/>
          </a:prstGeom>
          <a:noFill/>
          <a:ln/>
        </p:spPr>
        <p:txBody>
          <a:bodyPr wrap="square" lIns="0" tIns="0" rIns="0" bIns="0" rtlCol="0" anchor="ctr"/>
          <a:lstStyle/>
          <a:p>
            <a:pPr indent="0" marL="0">
              <a:buNone/>
            </a:pPr>
            <a:r>
              <a:rPr lang="en-US" sz="1250" b="1" dirty="0">
                <a:solidFill>
                  <a:srgbClr val="FFFFFF"/>
                </a:solidFill>
              </a:rPr>
              <a:t>Numbers exist in the facts</a:t>
            </a:r>
            <a:endParaRPr lang="en-US" sz="1250" dirty="0"/>
          </a:p>
        </p:txBody>
      </p:sp>
      <p:pic>
        <p:nvPicPr>
          <p:cNvPr id="18" name="Image 2" descr="check">    </p:cNvPr>
          <p:cNvPicPr>
            <a:picLocks noChangeAspect="1"/>
          </p:cNvPicPr>
          <p:nvPr/>
        </p:nvPicPr>
        <p:blipFill>
          <a:blip r:embed="rId3"/>
          <a:stretch>
            <a:fillRect/>
          </a:stretch>
        </p:blipFill>
        <p:spPr>
          <a:xfrm>
            <a:off x="6537960" y="3438144"/>
            <a:ext cx="274320" cy="274320"/>
          </a:xfrm>
          <a:prstGeom prst="rect">
            <a:avLst/>
          </a:prstGeom>
        </p:spPr>
      </p:pic>
      <p:sp>
        <p:nvSpPr>
          <p:cNvPr id="19" name="Text 14"/>
          <p:cNvSpPr txBox="1"/>
          <p:nvPr/>
        </p:nvSpPr>
        <p:spPr>
          <a:xfrm>
            <a:off x="6949440" y="3401568"/>
            <a:ext cx="2331720" cy="365760"/>
          </a:xfrm>
          <a:prstGeom prst="rect">
            <a:avLst/>
          </a:prstGeom>
          <a:noFill/>
          <a:ln/>
        </p:spPr>
        <p:txBody>
          <a:bodyPr wrap="square" lIns="0" tIns="0" rIns="0" bIns="0" rtlCol="0" anchor="ctr"/>
          <a:lstStyle/>
          <a:p>
            <a:pPr indent="0" marL="0">
              <a:buNone/>
            </a:pPr>
            <a:r>
              <a:rPr lang="en-US" sz="1250" b="1" dirty="0">
                <a:solidFill>
                  <a:srgbClr val="FFFFFF"/>
                </a:solidFill>
              </a:rPr>
              <a:t>Citations are real &amp; approved</a:t>
            </a:r>
            <a:endParaRPr lang="en-US" sz="1250" dirty="0"/>
          </a:p>
        </p:txBody>
      </p:sp>
      <p:pic>
        <p:nvPicPr>
          <p:cNvPr id="20" name="Image 3" descr="check">    </p:cNvPr>
          <p:cNvPicPr>
            <a:picLocks noChangeAspect="1"/>
          </p:cNvPicPr>
          <p:nvPr/>
        </p:nvPicPr>
        <p:blipFill>
          <a:blip r:embed="rId4"/>
          <a:stretch>
            <a:fillRect/>
          </a:stretch>
        </p:blipFill>
        <p:spPr>
          <a:xfrm>
            <a:off x="6537960" y="3959352"/>
            <a:ext cx="274320" cy="274320"/>
          </a:xfrm>
          <a:prstGeom prst="rect">
            <a:avLst/>
          </a:prstGeom>
        </p:spPr>
      </p:pic>
      <p:sp>
        <p:nvSpPr>
          <p:cNvPr id="21" name="Text 15"/>
          <p:cNvSpPr txBox="1"/>
          <p:nvPr/>
        </p:nvSpPr>
        <p:spPr>
          <a:xfrm>
            <a:off x="6949440" y="3922776"/>
            <a:ext cx="2331720" cy="365760"/>
          </a:xfrm>
          <a:prstGeom prst="rect">
            <a:avLst/>
          </a:prstGeom>
          <a:noFill/>
          <a:ln/>
        </p:spPr>
        <p:txBody>
          <a:bodyPr wrap="square" lIns="0" tIns="0" rIns="0" bIns="0" rtlCol="0" anchor="ctr"/>
          <a:lstStyle/>
          <a:p>
            <a:pPr indent="0" marL="0">
              <a:buNone/>
            </a:pPr>
            <a:r>
              <a:rPr lang="en-US" sz="1250" b="1" dirty="0">
                <a:solidFill>
                  <a:srgbClr val="FFFFFF"/>
                </a:solidFill>
              </a:rPr>
              <a:t>Right program, right version</a:t>
            </a:r>
            <a:endParaRPr lang="en-US" sz="1250" dirty="0"/>
          </a:p>
        </p:txBody>
      </p:sp>
      <p:sp>
        <p:nvSpPr>
          <p:cNvPr id="22" name="Shape 16"/>
          <p:cNvSpPr/>
          <p:nvPr/>
        </p:nvSpPr>
        <p:spPr>
          <a:xfrm>
            <a:off x="9372600" y="3154680"/>
            <a:ext cx="457200" cy="0"/>
          </a:xfrm>
          <a:prstGeom prst="line">
            <a:avLst/>
          </a:prstGeom>
          <a:noFill/>
          <a:ln w="25400">
            <a:solidFill>
              <a:srgbClr val="12A36B"/>
            </a:solidFill>
            <a:prstDash val="solid"/>
            <a:tailEnd type="triangle"/>
          </a:ln>
        </p:spPr>
      </p:sp>
      <p:sp>
        <p:nvSpPr>
          <p:cNvPr id="23" name="Shape 17"/>
          <p:cNvSpPr/>
          <p:nvPr/>
        </p:nvSpPr>
        <p:spPr>
          <a:xfrm>
            <a:off x="9829800" y="2423160"/>
            <a:ext cx="1719072" cy="1463040"/>
          </a:xfrm>
          <a:prstGeom prst="roundRect">
            <a:avLst>
              <a:gd name="adj" fmla="val 7500"/>
            </a:avLst>
          </a:prstGeom>
          <a:solidFill>
            <a:srgbClr val="12A36B"/>
          </a:solidFill>
          <a:ln w="12700">
            <a:solidFill>
              <a:srgbClr val="12A36B"/>
            </a:solidFill>
            <a:prstDash val="solid"/>
          </a:ln>
        </p:spPr>
      </p:sp>
      <p:sp>
        <p:nvSpPr>
          <p:cNvPr id="24" name="Text 18"/>
          <p:cNvSpPr txBox="1"/>
          <p:nvPr/>
        </p:nvSpPr>
        <p:spPr>
          <a:xfrm>
            <a:off x="9829800" y="2514600"/>
            <a:ext cx="1719072" cy="274320"/>
          </a:xfrm>
          <a:prstGeom prst="rect">
            <a:avLst/>
          </a:prstGeom>
          <a:noFill/>
          <a:ln/>
        </p:spPr>
        <p:txBody>
          <a:bodyPr wrap="square" lIns="0" tIns="0" rIns="0" bIns="0" rtlCol="0" anchor="t"/>
          <a:lstStyle/>
          <a:p>
            <a:pPr algn="ctr" indent="0" marL="0">
              <a:buNone/>
            </a:pPr>
            <a:r>
              <a:rPr lang="en-US" sz="1100" b="1" spc="300" kern="0" dirty="0">
                <a:solidFill>
                  <a:srgbClr val="FFFFFF"/>
                </a:solidFill>
              </a:rPr>
              <a:t>MEMBER</a:t>
            </a:r>
            <a:endParaRPr lang="en-US" sz="1100" dirty="0"/>
          </a:p>
        </p:txBody>
      </p:sp>
      <p:sp>
        <p:nvSpPr>
          <p:cNvPr id="25" name="Text 19"/>
          <p:cNvSpPr txBox="1"/>
          <p:nvPr/>
        </p:nvSpPr>
        <p:spPr>
          <a:xfrm>
            <a:off x="9966960" y="2834640"/>
            <a:ext cx="1463040" cy="914400"/>
          </a:xfrm>
          <a:prstGeom prst="rect">
            <a:avLst/>
          </a:prstGeom>
          <a:noFill/>
          <a:ln/>
        </p:spPr>
        <p:txBody>
          <a:bodyPr wrap="square" lIns="0" tIns="0" rIns="0" bIns="0" rtlCol="0" anchor="ctr"/>
          <a:lstStyle/>
          <a:p>
            <a:pPr algn="ctr" indent="0" marL="0">
              <a:buNone/>
            </a:pPr>
            <a:r>
              <a:rPr lang="en-US" sz="1300" b="1" dirty="0">
                <a:solidFill>
                  <a:srgbClr val="FFFFFF"/>
                </a:solidFill>
              </a:rPr>
              <a:t>sees the checked answer</a:t>
            </a:r>
            <a:endParaRPr lang="en-US" sz="1300" dirty="0"/>
          </a:p>
        </p:txBody>
      </p:sp>
      <p:sp>
        <p:nvSpPr>
          <p:cNvPr id="26" name="Shape 20"/>
          <p:cNvSpPr/>
          <p:nvPr/>
        </p:nvSpPr>
        <p:spPr>
          <a:xfrm>
            <a:off x="7840980" y="4526280"/>
            <a:ext cx="0" cy="411480"/>
          </a:xfrm>
          <a:prstGeom prst="line">
            <a:avLst/>
          </a:prstGeom>
          <a:noFill/>
          <a:ln w="25400">
            <a:solidFill>
              <a:srgbClr val="E5484D"/>
            </a:solidFill>
            <a:prstDash val="solid"/>
            <a:tailEnd type="triangle"/>
          </a:ln>
        </p:spPr>
      </p:sp>
      <p:sp>
        <p:nvSpPr>
          <p:cNvPr id="27" name="Shape 21"/>
          <p:cNvSpPr/>
          <p:nvPr/>
        </p:nvSpPr>
        <p:spPr>
          <a:xfrm>
            <a:off x="6309360" y="4937760"/>
            <a:ext cx="3063240" cy="640080"/>
          </a:xfrm>
          <a:prstGeom prst="roundRect">
            <a:avLst>
              <a:gd name="adj" fmla="val 17143"/>
            </a:avLst>
          </a:prstGeom>
          <a:solidFill>
            <a:srgbClr val="E5484D">
              <a:alpha val="16000"/>
            </a:srgbClr>
          </a:solidFill>
          <a:ln w="15875">
            <a:solidFill>
              <a:srgbClr val="E5484D"/>
            </a:solidFill>
            <a:prstDash val="solid"/>
          </a:ln>
        </p:spPr>
      </p:sp>
      <p:sp>
        <p:nvSpPr>
          <p:cNvPr id="28" name="Text 22"/>
          <p:cNvSpPr txBox="1"/>
          <p:nvPr/>
        </p:nvSpPr>
        <p:spPr>
          <a:xfrm>
            <a:off x="6400800" y="4937760"/>
            <a:ext cx="2880360" cy="640080"/>
          </a:xfrm>
          <a:prstGeom prst="rect">
            <a:avLst/>
          </a:prstGeom>
          <a:noFill/>
          <a:ln/>
        </p:spPr>
        <p:txBody>
          <a:bodyPr wrap="square" lIns="0" tIns="0" rIns="0" bIns="0" rtlCol="0" anchor="ctr"/>
          <a:lstStyle/>
          <a:p>
            <a:pPr algn="ctr" indent="0" marL="0">
              <a:buNone/>
            </a:pPr>
            <a:r>
              <a:rPr lang="en-US" sz="1150" b="1" dirty="0">
                <a:solidFill>
                  <a:srgbClr val="FFFFFF"/>
                </a:solidFill>
              </a:rPr>
              <a:t>Any gate fails: a fixed template is used, never the AI text</a:t>
            </a:r>
            <a:endParaRPr lang="en-US" sz="1150" dirty="0"/>
          </a:p>
        </p:txBody>
      </p:sp>
      <p:sp>
        <p:nvSpPr>
          <p:cNvPr id="29" name="Shape 23"/>
          <p:cNvSpPr/>
          <p:nvPr/>
        </p:nvSpPr>
        <p:spPr>
          <a:xfrm>
            <a:off x="640080" y="5715000"/>
            <a:ext cx="2926080" cy="548640"/>
          </a:xfrm>
          <a:prstGeom prst="roundRect">
            <a:avLst>
              <a:gd name="adj" fmla="val 20000"/>
            </a:avLst>
          </a:prstGeom>
          <a:solidFill>
            <a:srgbClr val="FFFFFF">
              <a:alpha val="10000"/>
            </a:srgbClr>
          </a:solidFill>
          <a:ln w="9525">
            <a:solidFill>
              <a:srgbClr val="FFFFFF">
                <a:alpha val="25000"/>
              </a:srgbClr>
            </a:solidFill>
            <a:prstDash val="solid"/>
          </a:ln>
        </p:spPr>
      </p:sp>
      <p:pic>
        <p:nvPicPr>
          <p:cNvPr id="30" name="Image 4" descr="Retry, then a safe fallback">    </p:cNvPr>
          <p:cNvPicPr>
            <a:picLocks noChangeAspect="1"/>
          </p:cNvPicPr>
          <p:nvPr/>
        </p:nvPicPr>
        <p:blipFill>
          <a:blip r:embed="rId5"/>
          <a:stretch>
            <a:fillRect/>
          </a:stretch>
        </p:blipFill>
        <p:spPr>
          <a:xfrm>
            <a:off x="822960" y="5852160"/>
            <a:ext cx="274320" cy="274320"/>
          </a:xfrm>
          <a:prstGeom prst="rect">
            <a:avLst/>
          </a:prstGeom>
        </p:spPr>
      </p:pic>
      <p:sp>
        <p:nvSpPr>
          <p:cNvPr id="31" name="Text 24"/>
          <p:cNvSpPr txBox="1"/>
          <p:nvPr/>
        </p:nvSpPr>
        <p:spPr>
          <a:xfrm>
            <a:off x="1234440" y="5715000"/>
            <a:ext cx="2240280" cy="548640"/>
          </a:xfrm>
          <a:prstGeom prst="rect">
            <a:avLst/>
          </a:prstGeom>
          <a:noFill/>
          <a:ln/>
        </p:spPr>
        <p:txBody>
          <a:bodyPr wrap="square" lIns="0" tIns="0" rIns="0" bIns="0" rtlCol="0" anchor="ctr"/>
          <a:lstStyle/>
          <a:p>
            <a:pPr indent="0" marL="0">
              <a:buNone/>
            </a:pPr>
            <a:r>
              <a:rPr lang="en-US" sz="1100" dirty="0">
                <a:solidFill>
                  <a:srgbClr val="FFFFFF"/>
                </a:solidFill>
              </a:rPr>
              <a:t>Retry, then a safe fallback</a:t>
            </a:r>
            <a:endParaRPr lang="en-US" sz="1100" dirty="0"/>
          </a:p>
        </p:txBody>
      </p:sp>
      <p:sp>
        <p:nvSpPr>
          <p:cNvPr id="32" name="Shape 25"/>
          <p:cNvSpPr/>
          <p:nvPr/>
        </p:nvSpPr>
        <p:spPr>
          <a:xfrm>
            <a:off x="3703320" y="5715000"/>
            <a:ext cx="2926080" cy="548640"/>
          </a:xfrm>
          <a:prstGeom prst="roundRect">
            <a:avLst>
              <a:gd name="adj" fmla="val 20000"/>
            </a:avLst>
          </a:prstGeom>
          <a:solidFill>
            <a:srgbClr val="FFFFFF">
              <a:alpha val="10000"/>
            </a:srgbClr>
          </a:solidFill>
          <a:ln w="9525">
            <a:solidFill>
              <a:srgbClr val="FFFFFF">
                <a:alpha val="25000"/>
              </a:srgbClr>
            </a:solidFill>
            <a:prstDash val="solid"/>
          </a:ln>
        </p:spPr>
      </p:sp>
      <p:pic>
        <p:nvPicPr>
          <p:cNvPr id="33" name="Image 5" descr="Foundry outage still gives a safe answer">    </p:cNvPr>
          <p:cNvPicPr>
            <a:picLocks noChangeAspect="1"/>
          </p:cNvPicPr>
          <p:nvPr/>
        </p:nvPicPr>
        <p:blipFill>
          <a:blip r:embed="rId6"/>
          <a:stretch>
            <a:fillRect/>
          </a:stretch>
        </p:blipFill>
        <p:spPr>
          <a:xfrm>
            <a:off x="3886200" y="5852160"/>
            <a:ext cx="274320" cy="274320"/>
          </a:xfrm>
          <a:prstGeom prst="rect">
            <a:avLst/>
          </a:prstGeom>
        </p:spPr>
      </p:pic>
      <p:sp>
        <p:nvSpPr>
          <p:cNvPr id="34" name="Text 26"/>
          <p:cNvSpPr txBox="1"/>
          <p:nvPr/>
        </p:nvSpPr>
        <p:spPr>
          <a:xfrm>
            <a:off x="4297680" y="5715000"/>
            <a:ext cx="2240280" cy="548640"/>
          </a:xfrm>
          <a:prstGeom prst="rect">
            <a:avLst/>
          </a:prstGeom>
          <a:noFill/>
          <a:ln/>
        </p:spPr>
        <p:txBody>
          <a:bodyPr wrap="square" lIns="0" tIns="0" rIns="0" bIns="0" rtlCol="0" anchor="ctr"/>
          <a:lstStyle/>
          <a:p>
            <a:pPr indent="0" marL="0">
              <a:buNone/>
            </a:pPr>
            <a:r>
              <a:rPr lang="en-US" sz="1100" dirty="0">
                <a:solidFill>
                  <a:srgbClr val="FFFFFF"/>
                </a:solidFill>
              </a:rPr>
              <a:t>Foundry outage still gives a safe answer</a:t>
            </a:r>
            <a:endParaRPr lang="en-US" sz="1100" dirty="0"/>
          </a:p>
        </p:txBody>
      </p:sp>
      <p:sp>
        <p:nvSpPr>
          <p:cNvPr id="35" name="Shape 27"/>
          <p:cNvSpPr/>
          <p:nvPr/>
        </p:nvSpPr>
        <p:spPr>
          <a:xfrm>
            <a:off x="6766560" y="5715000"/>
            <a:ext cx="2926080" cy="548640"/>
          </a:xfrm>
          <a:prstGeom prst="roundRect">
            <a:avLst>
              <a:gd name="adj" fmla="val 20000"/>
            </a:avLst>
          </a:prstGeom>
          <a:solidFill>
            <a:srgbClr val="FFFFFF">
              <a:alpha val="10000"/>
            </a:srgbClr>
          </a:solidFill>
          <a:ln w="9525">
            <a:solidFill>
              <a:srgbClr val="FFFFFF">
                <a:alpha val="25000"/>
              </a:srgbClr>
            </a:solidFill>
            <a:prstDash val="solid"/>
          </a:ln>
        </p:spPr>
      </p:sp>
      <p:pic>
        <p:nvPicPr>
          <p:cNvPr id="36" name="Image 6" descr="Prompt injection blocked before any agent">    </p:cNvPr>
          <p:cNvPicPr>
            <a:picLocks noChangeAspect="1"/>
          </p:cNvPicPr>
          <p:nvPr/>
        </p:nvPicPr>
        <p:blipFill>
          <a:blip r:embed="rId7"/>
          <a:stretch>
            <a:fillRect/>
          </a:stretch>
        </p:blipFill>
        <p:spPr>
          <a:xfrm>
            <a:off x="6949440" y="5852160"/>
            <a:ext cx="274320" cy="274320"/>
          </a:xfrm>
          <a:prstGeom prst="rect">
            <a:avLst/>
          </a:prstGeom>
        </p:spPr>
      </p:pic>
      <p:sp>
        <p:nvSpPr>
          <p:cNvPr id="37" name="Text 28"/>
          <p:cNvSpPr txBox="1"/>
          <p:nvPr/>
        </p:nvSpPr>
        <p:spPr>
          <a:xfrm>
            <a:off x="7360920" y="5715000"/>
            <a:ext cx="2240280" cy="548640"/>
          </a:xfrm>
          <a:prstGeom prst="rect">
            <a:avLst/>
          </a:prstGeom>
          <a:noFill/>
          <a:ln/>
        </p:spPr>
        <p:txBody>
          <a:bodyPr wrap="square" lIns="0" tIns="0" rIns="0" bIns="0" rtlCol="0" anchor="ctr"/>
          <a:lstStyle/>
          <a:p>
            <a:pPr indent="0" marL="0">
              <a:buNone/>
            </a:pPr>
            <a:r>
              <a:rPr lang="en-US" sz="1100" dirty="0">
                <a:solidFill>
                  <a:srgbClr val="FFFFFF"/>
                </a:solidFill>
              </a:rPr>
              <a:t>Prompt injection blocked before any agent</a:t>
            </a:r>
            <a:endParaRPr lang="en-US" sz="11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640080" y="438912"/>
            <a:ext cx="8229600" cy="274320"/>
          </a:xfrm>
          <a:prstGeom prst="rect">
            <a:avLst/>
          </a:prstGeom>
          <a:noFill/>
          <a:ln/>
        </p:spPr>
        <p:txBody>
          <a:bodyPr wrap="square" lIns="0" tIns="0" rIns="0" bIns="0" rtlCol="0" anchor="t"/>
          <a:lstStyle/>
          <a:p>
            <a:pPr indent="0" marL="0">
              <a:buNone/>
            </a:pPr>
            <a:r>
              <a:rPr lang="en-US" sz="1200" b="1" spc="400" kern="0" dirty="0">
                <a:solidFill>
                  <a:srgbClr val="3CC3F0"/>
                </a:solidFill>
              </a:rPr>
              <a:t>06  ·  ONE MESSAGE, END TO END</a:t>
            </a:r>
            <a:endParaRPr lang="en-US" sz="1200" dirty="0"/>
          </a:p>
        </p:txBody>
      </p:sp>
      <p:sp>
        <p:nvSpPr>
          <p:cNvPr id="3" name="Text 2"/>
          <p:cNvSpPr/>
          <p:nvPr>
            <p:ph idx="104" type="title" hasCustomPrompt="1"/>
          </p:nvPr>
        </p:nvSpPr>
        <p:spPr>
          <a:xfrm>
            <a:off x="640080" y="749808"/>
            <a:ext cx="10908792" cy="777240"/>
          </a:xfrm>
          <a:prstGeom prst="rect">
            <a:avLst/>
          </a:prstGeom>
          <a:noFill/>
          <a:ln/>
        </p:spPr>
        <p:txBody>
          <a:bodyPr wrap="square" lIns="0" tIns="0" rIns="0" bIns="0" rtlCol="0" anchor="t"/>
          <a:lstStyle/>
          <a:p>
            <a:pPr algn="l" indent="0" marL="0">
              <a:buNone/>
            </a:pPr>
            <a:r>
              <a:rPr lang="en-US" sz="3200" b="1" dirty="0">
                <a:solidFill>
                  <a:srgbClr val="FFFFFF"/>
                </a:solidFill>
              </a:rPr>
              <a:t>Eight steps from message to audit</a:t>
            </a:r>
            <a:endParaRPr lang="en-US" sz="3200" dirty="0"/>
          </a:p>
        </p:txBody>
      </p:sp>
      <p:sp>
        <p:nvSpPr>
          <p:cNvPr id="4" name="Shape 2"/>
          <p:cNvSpPr/>
          <p:nvPr/>
        </p:nvSpPr>
        <p:spPr>
          <a:xfrm>
            <a:off x="640080" y="3931920"/>
            <a:ext cx="10908792" cy="0"/>
          </a:xfrm>
          <a:prstGeom prst="line">
            <a:avLst/>
          </a:prstGeom>
          <a:noFill/>
          <a:ln w="25400">
            <a:solidFill>
              <a:srgbClr val="3CC3F0">
                <a:alpha val="70000"/>
              </a:srgbClr>
            </a:solidFill>
            <a:prstDash val="solid"/>
          </a:ln>
        </p:spPr>
      </p:sp>
      <p:sp>
        <p:nvSpPr>
          <p:cNvPr id="5" name="Shape 3"/>
          <p:cNvSpPr/>
          <p:nvPr/>
        </p:nvSpPr>
        <p:spPr>
          <a:xfrm>
            <a:off x="1691640" y="3383280"/>
            <a:ext cx="0" cy="548640"/>
          </a:xfrm>
          <a:prstGeom prst="line">
            <a:avLst/>
          </a:prstGeom>
          <a:noFill/>
          <a:ln w="12700">
            <a:solidFill>
              <a:srgbClr val="3CC3F0">
                <a:alpha val="60000"/>
              </a:srgbClr>
            </a:solidFill>
            <a:prstDash val="solid"/>
          </a:ln>
        </p:spPr>
      </p:sp>
      <p:sp>
        <p:nvSpPr>
          <p:cNvPr id="6" name="Shape 4"/>
          <p:cNvSpPr/>
          <p:nvPr/>
        </p:nvSpPr>
        <p:spPr>
          <a:xfrm>
            <a:off x="640080" y="1783080"/>
            <a:ext cx="2103120" cy="1600200"/>
          </a:xfrm>
          <a:prstGeom prst="roundRect">
            <a:avLst>
              <a:gd name="adj" fmla="val 6857"/>
            </a:avLst>
          </a:prstGeom>
          <a:solidFill>
            <a:srgbClr val="FFFFFF">
              <a:alpha val="10000"/>
            </a:srgbClr>
          </a:solidFill>
          <a:ln w="9525">
            <a:solidFill>
              <a:srgbClr val="FFFFFF">
                <a:alpha val="25000"/>
              </a:srgbClr>
            </a:solidFill>
            <a:prstDash val="solid"/>
          </a:ln>
        </p:spPr>
      </p:sp>
      <p:sp>
        <p:nvSpPr>
          <p:cNvPr id="7" name="Text 5"/>
          <p:cNvSpPr txBox="1"/>
          <p:nvPr/>
        </p:nvSpPr>
        <p:spPr>
          <a:xfrm>
            <a:off x="804672" y="1920240"/>
            <a:ext cx="1773936" cy="320040"/>
          </a:xfrm>
          <a:prstGeom prst="rect">
            <a:avLst/>
          </a:prstGeom>
          <a:noFill/>
          <a:ln/>
        </p:spPr>
        <p:txBody>
          <a:bodyPr wrap="square" lIns="0" tIns="0" rIns="0" bIns="0" rtlCol="0" anchor="t"/>
          <a:lstStyle/>
          <a:p>
            <a:pPr indent="0" marL="0">
              <a:buNone/>
            </a:pPr>
            <a:r>
              <a:rPr lang="en-US" sz="1350" b="1" dirty="0">
                <a:solidFill>
                  <a:srgbClr val="FFFFFF"/>
                </a:solidFill>
              </a:rPr>
              <a:t>Consent check</a:t>
            </a:r>
            <a:endParaRPr lang="en-US" sz="1350" dirty="0"/>
          </a:p>
        </p:txBody>
      </p:sp>
      <p:sp>
        <p:nvSpPr>
          <p:cNvPr id="8" name="Text 6"/>
          <p:cNvSpPr txBox="1"/>
          <p:nvPr/>
        </p:nvSpPr>
        <p:spPr>
          <a:xfrm>
            <a:off x="804672" y="2313432"/>
            <a:ext cx="1773936" cy="548640"/>
          </a:xfrm>
          <a:prstGeom prst="rect">
            <a:avLst/>
          </a:prstGeom>
          <a:noFill/>
          <a:ln/>
        </p:spPr>
        <p:txBody>
          <a:bodyPr wrap="square" lIns="0" tIns="0" rIns="0" bIns="0" rtlCol="0" anchor="t"/>
          <a:lstStyle/>
          <a:p>
            <a:pPr indent="0" marL="0">
              <a:buNone/>
            </a:pPr>
            <a:r>
              <a:rPr lang="en-US" sz="1100" dirty="0">
                <a:solidFill>
                  <a:srgbClr val="CFE0FF"/>
                </a:solidFill>
              </a:rPr>
              <a:t>Only Active members continue</a:t>
            </a:r>
            <a:endParaRPr lang="en-US" sz="1100" dirty="0"/>
          </a:p>
        </p:txBody>
      </p:sp>
      <p:sp>
        <p:nvSpPr>
          <p:cNvPr id="9" name="Shape 7"/>
          <p:cNvSpPr/>
          <p:nvPr/>
        </p:nvSpPr>
        <p:spPr>
          <a:xfrm>
            <a:off x="804672" y="2971800"/>
            <a:ext cx="777240" cy="256032"/>
          </a:xfrm>
          <a:prstGeom prst="roundRect">
            <a:avLst>
              <a:gd name="adj" fmla="val 50000"/>
            </a:avLst>
          </a:prstGeom>
          <a:solidFill>
            <a:srgbClr val="E5484D"/>
          </a:solidFill>
          <a:ln w="6350">
            <a:solidFill>
              <a:srgbClr val="E5484D"/>
            </a:solidFill>
            <a:prstDash val="solid"/>
          </a:ln>
        </p:spPr>
      </p:sp>
      <p:sp>
        <p:nvSpPr>
          <p:cNvPr id="10" name="Text 8"/>
          <p:cNvSpPr txBox="1"/>
          <p:nvPr/>
        </p:nvSpPr>
        <p:spPr>
          <a:xfrm>
            <a:off x="804672" y="2971800"/>
            <a:ext cx="777240" cy="256032"/>
          </a:xfrm>
          <a:prstGeom prst="rect">
            <a:avLst/>
          </a:prstGeom>
          <a:noFill/>
          <a:ln/>
        </p:spPr>
        <p:txBody>
          <a:bodyPr wrap="square" lIns="0" tIns="0" rIns="0" bIns="0" rtlCol="0" anchor="ctr"/>
          <a:lstStyle/>
          <a:p>
            <a:pPr algn="ctr" indent="0" marL="0">
              <a:buNone/>
            </a:pPr>
            <a:r>
              <a:rPr lang="en-US" sz="1000" b="1" dirty="0">
                <a:solidFill>
                  <a:srgbClr val="FFFFFF"/>
                </a:solidFill>
              </a:rPr>
              <a:t>ER-501</a:t>
            </a:r>
            <a:endParaRPr lang="en-US" sz="1000" dirty="0"/>
          </a:p>
        </p:txBody>
      </p:sp>
      <p:sp>
        <p:nvSpPr>
          <p:cNvPr id="11" name="Shape 9"/>
          <p:cNvSpPr/>
          <p:nvPr/>
        </p:nvSpPr>
        <p:spPr>
          <a:xfrm>
            <a:off x="1490472" y="3730752"/>
            <a:ext cx="402336" cy="402336"/>
          </a:xfrm>
          <a:prstGeom prst="ellipse">
            <a:avLst/>
          </a:prstGeom>
          <a:solidFill>
            <a:srgbClr val="E5484D"/>
          </a:solidFill>
          <a:ln w="19050">
            <a:solidFill>
              <a:srgbClr val="FFFFFF"/>
            </a:solidFill>
            <a:prstDash val="solid"/>
          </a:ln>
        </p:spPr>
      </p:sp>
      <p:sp>
        <p:nvSpPr>
          <p:cNvPr id="12" name="Text 10"/>
          <p:cNvSpPr txBox="1"/>
          <p:nvPr/>
        </p:nvSpPr>
        <p:spPr>
          <a:xfrm>
            <a:off x="1490472" y="37307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Shape 11"/>
          <p:cNvSpPr/>
          <p:nvPr/>
        </p:nvSpPr>
        <p:spPr>
          <a:xfrm>
            <a:off x="2949593" y="3931920"/>
            <a:ext cx="0" cy="502920"/>
          </a:xfrm>
          <a:prstGeom prst="line">
            <a:avLst/>
          </a:prstGeom>
          <a:noFill/>
          <a:ln w="12700">
            <a:solidFill>
              <a:srgbClr val="3CC3F0">
                <a:alpha val="60000"/>
              </a:srgbClr>
            </a:solidFill>
            <a:prstDash val="solid"/>
          </a:ln>
        </p:spPr>
      </p:sp>
      <p:sp>
        <p:nvSpPr>
          <p:cNvPr id="14" name="Shape 12"/>
          <p:cNvSpPr/>
          <p:nvPr/>
        </p:nvSpPr>
        <p:spPr>
          <a:xfrm>
            <a:off x="1898033" y="4434840"/>
            <a:ext cx="2103120" cy="1600200"/>
          </a:xfrm>
          <a:prstGeom prst="roundRect">
            <a:avLst>
              <a:gd name="adj" fmla="val 6857"/>
            </a:avLst>
          </a:prstGeom>
          <a:solidFill>
            <a:srgbClr val="FFFFFF">
              <a:alpha val="10000"/>
            </a:srgbClr>
          </a:solidFill>
          <a:ln w="9525">
            <a:solidFill>
              <a:srgbClr val="FFFFFF">
                <a:alpha val="25000"/>
              </a:srgbClr>
            </a:solidFill>
            <a:prstDash val="solid"/>
          </a:ln>
        </p:spPr>
      </p:sp>
      <p:sp>
        <p:nvSpPr>
          <p:cNvPr id="15" name="Text 13"/>
          <p:cNvSpPr txBox="1"/>
          <p:nvPr/>
        </p:nvSpPr>
        <p:spPr>
          <a:xfrm>
            <a:off x="2062625" y="4572000"/>
            <a:ext cx="1773936" cy="320040"/>
          </a:xfrm>
          <a:prstGeom prst="rect">
            <a:avLst/>
          </a:prstGeom>
          <a:noFill/>
          <a:ln/>
        </p:spPr>
        <p:txBody>
          <a:bodyPr wrap="square" lIns="0" tIns="0" rIns="0" bIns="0" rtlCol="0" anchor="t"/>
          <a:lstStyle/>
          <a:p>
            <a:pPr indent="0" marL="0">
              <a:buNone/>
            </a:pPr>
            <a:r>
              <a:rPr lang="en-US" sz="1350" b="1" dirty="0">
                <a:solidFill>
                  <a:srgbClr val="FFFFFF"/>
                </a:solidFill>
              </a:rPr>
              <a:t>Input checks</a:t>
            </a:r>
            <a:endParaRPr lang="en-US" sz="1350" dirty="0"/>
          </a:p>
        </p:txBody>
      </p:sp>
      <p:sp>
        <p:nvSpPr>
          <p:cNvPr id="16" name="Text 14"/>
          <p:cNvSpPr txBox="1"/>
          <p:nvPr/>
        </p:nvSpPr>
        <p:spPr>
          <a:xfrm>
            <a:off x="2062625" y="4965192"/>
            <a:ext cx="1773936" cy="548640"/>
          </a:xfrm>
          <a:prstGeom prst="rect">
            <a:avLst/>
          </a:prstGeom>
          <a:noFill/>
          <a:ln/>
        </p:spPr>
        <p:txBody>
          <a:bodyPr wrap="square" lIns="0" tIns="0" rIns="0" bIns="0" rtlCol="0" anchor="t"/>
          <a:lstStyle/>
          <a:p>
            <a:pPr indent="0" marL="0">
              <a:buNone/>
            </a:pPr>
            <a:r>
              <a:rPr lang="en-US" sz="1100" dirty="0">
                <a:solidFill>
                  <a:srgbClr val="CFE0FF"/>
                </a:solidFill>
              </a:rPr>
              <a:t>Injection blocked; medicine changes declined</a:t>
            </a:r>
            <a:endParaRPr lang="en-US" sz="1100" dirty="0"/>
          </a:p>
        </p:txBody>
      </p:sp>
      <p:sp>
        <p:nvSpPr>
          <p:cNvPr id="17" name="Shape 15"/>
          <p:cNvSpPr/>
          <p:nvPr/>
        </p:nvSpPr>
        <p:spPr>
          <a:xfrm>
            <a:off x="2062625" y="5623560"/>
            <a:ext cx="777240" cy="256032"/>
          </a:xfrm>
          <a:prstGeom prst="roundRect">
            <a:avLst>
              <a:gd name="adj" fmla="val 50000"/>
            </a:avLst>
          </a:prstGeom>
          <a:solidFill>
            <a:srgbClr val="F5A524"/>
          </a:solidFill>
          <a:ln w="6350">
            <a:solidFill>
              <a:srgbClr val="F5A524"/>
            </a:solidFill>
            <a:prstDash val="solid"/>
          </a:ln>
        </p:spPr>
      </p:sp>
      <p:sp>
        <p:nvSpPr>
          <p:cNvPr id="18" name="Text 16"/>
          <p:cNvSpPr txBox="1"/>
          <p:nvPr/>
        </p:nvSpPr>
        <p:spPr>
          <a:xfrm>
            <a:off x="2062625" y="5623560"/>
            <a:ext cx="777240" cy="256032"/>
          </a:xfrm>
          <a:prstGeom prst="rect">
            <a:avLst/>
          </a:prstGeom>
          <a:noFill/>
          <a:ln/>
        </p:spPr>
        <p:txBody>
          <a:bodyPr wrap="square" lIns="0" tIns="0" rIns="0" bIns="0" rtlCol="0" anchor="ctr"/>
          <a:lstStyle/>
          <a:p>
            <a:pPr algn="ctr" indent="0" marL="0">
              <a:buNone/>
            </a:pPr>
            <a:r>
              <a:rPr lang="en-US" sz="1000" b="1" dirty="0">
                <a:solidFill>
                  <a:srgbClr val="FFFFFF"/>
                </a:solidFill>
              </a:rPr>
              <a:t>ER-503</a:t>
            </a:r>
            <a:endParaRPr lang="en-US" sz="1000" dirty="0"/>
          </a:p>
        </p:txBody>
      </p:sp>
      <p:sp>
        <p:nvSpPr>
          <p:cNvPr id="19" name="Shape 17"/>
          <p:cNvSpPr/>
          <p:nvPr/>
        </p:nvSpPr>
        <p:spPr>
          <a:xfrm>
            <a:off x="2748425" y="3730752"/>
            <a:ext cx="402336" cy="402336"/>
          </a:xfrm>
          <a:prstGeom prst="ellipse">
            <a:avLst/>
          </a:prstGeom>
          <a:solidFill>
            <a:srgbClr val="1547C8"/>
          </a:solidFill>
          <a:ln w="19050">
            <a:solidFill>
              <a:srgbClr val="FFFFFF"/>
            </a:solidFill>
            <a:prstDash val="solid"/>
          </a:ln>
        </p:spPr>
      </p:sp>
      <p:sp>
        <p:nvSpPr>
          <p:cNvPr id="20" name="Text 18"/>
          <p:cNvSpPr txBox="1"/>
          <p:nvPr/>
        </p:nvSpPr>
        <p:spPr>
          <a:xfrm>
            <a:off x="2748425" y="37307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1" name="Shape 19"/>
          <p:cNvSpPr/>
          <p:nvPr/>
        </p:nvSpPr>
        <p:spPr>
          <a:xfrm>
            <a:off x="4207546" y="3383280"/>
            <a:ext cx="0" cy="548640"/>
          </a:xfrm>
          <a:prstGeom prst="line">
            <a:avLst/>
          </a:prstGeom>
          <a:noFill/>
          <a:ln w="12700">
            <a:solidFill>
              <a:srgbClr val="3CC3F0">
                <a:alpha val="60000"/>
              </a:srgbClr>
            </a:solidFill>
            <a:prstDash val="solid"/>
          </a:ln>
        </p:spPr>
      </p:sp>
      <p:sp>
        <p:nvSpPr>
          <p:cNvPr id="22" name="Shape 20"/>
          <p:cNvSpPr/>
          <p:nvPr/>
        </p:nvSpPr>
        <p:spPr>
          <a:xfrm>
            <a:off x="3155986" y="1783080"/>
            <a:ext cx="2103120" cy="1600200"/>
          </a:xfrm>
          <a:prstGeom prst="roundRect">
            <a:avLst>
              <a:gd name="adj" fmla="val 6857"/>
            </a:avLst>
          </a:prstGeom>
          <a:solidFill>
            <a:srgbClr val="FFFFFF">
              <a:alpha val="10000"/>
            </a:srgbClr>
          </a:solidFill>
          <a:ln w="9525">
            <a:solidFill>
              <a:srgbClr val="FFFFFF">
                <a:alpha val="25000"/>
              </a:srgbClr>
            </a:solidFill>
            <a:prstDash val="solid"/>
          </a:ln>
        </p:spPr>
      </p:sp>
      <p:sp>
        <p:nvSpPr>
          <p:cNvPr id="23" name="Text 21"/>
          <p:cNvSpPr txBox="1"/>
          <p:nvPr/>
        </p:nvSpPr>
        <p:spPr>
          <a:xfrm>
            <a:off x="3320578" y="1920240"/>
            <a:ext cx="1773936" cy="320040"/>
          </a:xfrm>
          <a:prstGeom prst="rect">
            <a:avLst/>
          </a:prstGeom>
          <a:noFill/>
          <a:ln/>
        </p:spPr>
        <p:txBody>
          <a:bodyPr wrap="square" lIns="0" tIns="0" rIns="0" bIns="0" rtlCol="0" anchor="t"/>
          <a:lstStyle/>
          <a:p>
            <a:pPr indent="0" marL="0">
              <a:buNone/>
            </a:pPr>
            <a:r>
              <a:rPr lang="en-US" sz="1350" b="1" dirty="0">
                <a:solidFill>
                  <a:srgbClr val="FFFFFF"/>
                </a:solidFill>
              </a:rPr>
              <a:t>Classify</a:t>
            </a:r>
            <a:endParaRPr lang="en-US" sz="1350" dirty="0"/>
          </a:p>
        </p:txBody>
      </p:sp>
      <p:sp>
        <p:nvSpPr>
          <p:cNvPr id="24" name="Text 22"/>
          <p:cNvSpPr txBox="1"/>
          <p:nvPr/>
        </p:nvSpPr>
        <p:spPr>
          <a:xfrm>
            <a:off x="3320578" y="2313432"/>
            <a:ext cx="1773936" cy="548640"/>
          </a:xfrm>
          <a:prstGeom prst="rect">
            <a:avLst/>
          </a:prstGeom>
          <a:noFill/>
          <a:ln/>
        </p:spPr>
        <p:txBody>
          <a:bodyPr wrap="square" lIns="0" tIns="0" rIns="0" bIns="0" rtlCol="0" anchor="t"/>
          <a:lstStyle/>
          <a:p>
            <a:pPr indent="0" marL="0">
              <a:buNone/>
            </a:pPr>
            <a:r>
              <a:rPr lang="en-US" sz="1100" dirty="0">
                <a:solidFill>
                  <a:srgbClr val="CFE0FF"/>
                </a:solidFill>
              </a:rPr>
              <a:t>Orchestrator agent picks one category</a:t>
            </a:r>
            <a:endParaRPr lang="en-US" sz="1100" dirty="0"/>
          </a:p>
        </p:txBody>
      </p:sp>
      <p:sp>
        <p:nvSpPr>
          <p:cNvPr id="25" name="Shape 23"/>
          <p:cNvSpPr/>
          <p:nvPr/>
        </p:nvSpPr>
        <p:spPr>
          <a:xfrm>
            <a:off x="4006378" y="3730752"/>
            <a:ext cx="402336" cy="402336"/>
          </a:xfrm>
          <a:prstGeom prst="ellipse">
            <a:avLst/>
          </a:prstGeom>
          <a:solidFill>
            <a:srgbClr val="1547C8"/>
          </a:solidFill>
          <a:ln w="19050">
            <a:solidFill>
              <a:srgbClr val="FFFFFF"/>
            </a:solidFill>
            <a:prstDash val="solid"/>
          </a:ln>
        </p:spPr>
      </p:sp>
      <p:sp>
        <p:nvSpPr>
          <p:cNvPr id="26" name="Text 24"/>
          <p:cNvSpPr txBox="1"/>
          <p:nvPr/>
        </p:nvSpPr>
        <p:spPr>
          <a:xfrm>
            <a:off x="4006378" y="37307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7" name="Shape 25"/>
          <p:cNvSpPr/>
          <p:nvPr/>
        </p:nvSpPr>
        <p:spPr>
          <a:xfrm>
            <a:off x="5465499" y="3931920"/>
            <a:ext cx="0" cy="502920"/>
          </a:xfrm>
          <a:prstGeom prst="line">
            <a:avLst/>
          </a:prstGeom>
          <a:noFill/>
          <a:ln w="12700">
            <a:solidFill>
              <a:srgbClr val="3CC3F0">
                <a:alpha val="60000"/>
              </a:srgbClr>
            </a:solidFill>
            <a:prstDash val="solid"/>
          </a:ln>
        </p:spPr>
      </p:sp>
      <p:sp>
        <p:nvSpPr>
          <p:cNvPr id="28" name="Shape 26"/>
          <p:cNvSpPr/>
          <p:nvPr/>
        </p:nvSpPr>
        <p:spPr>
          <a:xfrm>
            <a:off x="4413939" y="4434840"/>
            <a:ext cx="2103120" cy="1600200"/>
          </a:xfrm>
          <a:prstGeom prst="roundRect">
            <a:avLst>
              <a:gd name="adj" fmla="val 6857"/>
            </a:avLst>
          </a:prstGeom>
          <a:solidFill>
            <a:srgbClr val="FFFFFF">
              <a:alpha val="10000"/>
            </a:srgbClr>
          </a:solidFill>
          <a:ln w="9525">
            <a:solidFill>
              <a:srgbClr val="FFFFFF">
                <a:alpha val="25000"/>
              </a:srgbClr>
            </a:solidFill>
            <a:prstDash val="solid"/>
          </a:ln>
        </p:spPr>
      </p:sp>
      <p:sp>
        <p:nvSpPr>
          <p:cNvPr id="29" name="Text 27"/>
          <p:cNvSpPr txBox="1"/>
          <p:nvPr/>
        </p:nvSpPr>
        <p:spPr>
          <a:xfrm>
            <a:off x="4578531" y="4572000"/>
            <a:ext cx="1773936" cy="320040"/>
          </a:xfrm>
          <a:prstGeom prst="rect">
            <a:avLst/>
          </a:prstGeom>
          <a:noFill/>
          <a:ln/>
        </p:spPr>
        <p:txBody>
          <a:bodyPr wrap="square" lIns="0" tIns="0" rIns="0" bIns="0" rtlCol="0" anchor="t"/>
          <a:lstStyle/>
          <a:p>
            <a:pPr indent="0" marL="0">
              <a:buNone/>
            </a:pPr>
            <a:r>
              <a:rPr lang="en-US" sz="1350" b="1" dirty="0">
                <a:solidFill>
                  <a:srgbClr val="FFFFFF"/>
                </a:solidFill>
              </a:rPr>
              <a:t>Advice check</a:t>
            </a:r>
            <a:endParaRPr lang="en-US" sz="1350" dirty="0"/>
          </a:p>
        </p:txBody>
      </p:sp>
      <p:sp>
        <p:nvSpPr>
          <p:cNvPr id="30" name="Text 28"/>
          <p:cNvSpPr txBox="1"/>
          <p:nvPr/>
        </p:nvSpPr>
        <p:spPr>
          <a:xfrm>
            <a:off x="4578531" y="4965192"/>
            <a:ext cx="1773936" cy="548640"/>
          </a:xfrm>
          <a:prstGeom prst="rect">
            <a:avLst/>
          </a:prstGeom>
          <a:noFill/>
          <a:ln/>
        </p:spPr>
        <p:txBody>
          <a:bodyPr wrap="square" lIns="0" tIns="0" rIns="0" bIns="0" rtlCol="0" anchor="t"/>
          <a:lstStyle/>
          <a:p>
            <a:pPr indent="0" marL="0">
              <a:buNone/>
            </a:pPr>
            <a:r>
              <a:rPr lang="en-US" sz="1100" dirty="0">
                <a:solidFill>
                  <a:srgbClr val="CFE0FF"/>
                </a:solidFill>
              </a:rPr>
              <a:t>Asked to interpret? Route to staff</a:t>
            </a:r>
            <a:endParaRPr lang="en-US" sz="1100" dirty="0"/>
          </a:p>
        </p:txBody>
      </p:sp>
      <p:sp>
        <p:nvSpPr>
          <p:cNvPr id="31" name="Shape 29"/>
          <p:cNvSpPr/>
          <p:nvPr/>
        </p:nvSpPr>
        <p:spPr>
          <a:xfrm>
            <a:off x="4578531" y="5623560"/>
            <a:ext cx="777240" cy="256032"/>
          </a:xfrm>
          <a:prstGeom prst="roundRect">
            <a:avLst>
              <a:gd name="adj" fmla="val 50000"/>
            </a:avLst>
          </a:prstGeom>
          <a:solidFill>
            <a:srgbClr val="F5A524"/>
          </a:solidFill>
          <a:ln w="6350">
            <a:solidFill>
              <a:srgbClr val="F5A524"/>
            </a:solidFill>
            <a:prstDash val="solid"/>
          </a:ln>
        </p:spPr>
      </p:sp>
      <p:sp>
        <p:nvSpPr>
          <p:cNvPr id="32" name="Text 30"/>
          <p:cNvSpPr txBox="1"/>
          <p:nvPr/>
        </p:nvSpPr>
        <p:spPr>
          <a:xfrm>
            <a:off x="4578531" y="5623560"/>
            <a:ext cx="777240" cy="256032"/>
          </a:xfrm>
          <a:prstGeom prst="rect">
            <a:avLst/>
          </a:prstGeom>
          <a:noFill/>
          <a:ln/>
        </p:spPr>
        <p:txBody>
          <a:bodyPr wrap="square" lIns="0" tIns="0" rIns="0" bIns="0" rtlCol="0" anchor="ctr"/>
          <a:lstStyle/>
          <a:p>
            <a:pPr algn="ctr" indent="0" marL="0">
              <a:buNone/>
            </a:pPr>
            <a:r>
              <a:rPr lang="en-US" sz="1000" b="1" dirty="0">
                <a:solidFill>
                  <a:srgbClr val="FFFFFF"/>
                </a:solidFill>
              </a:rPr>
              <a:t>STAFF</a:t>
            </a:r>
            <a:endParaRPr lang="en-US" sz="1000" dirty="0"/>
          </a:p>
        </p:txBody>
      </p:sp>
      <p:sp>
        <p:nvSpPr>
          <p:cNvPr id="33" name="Shape 31"/>
          <p:cNvSpPr/>
          <p:nvPr/>
        </p:nvSpPr>
        <p:spPr>
          <a:xfrm>
            <a:off x="5264331" y="3730752"/>
            <a:ext cx="402336" cy="402336"/>
          </a:xfrm>
          <a:prstGeom prst="ellipse">
            <a:avLst/>
          </a:prstGeom>
          <a:solidFill>
            <a:srgbClr val="1547C8"/>
          </a:solidFill>
          <a:ln w="19050">
            <a:solidFill>
              <a:srgbClr val="FFFFFF"/>
            </a:solidFill>
            <a:prstDash val="solid"/>
          </a:ln>
        </p:spPr>
      </p:sp>
      <p:sp>
        <p:nvSpPr>
          <p:cNvPr id="34" name="Text 32"/>
          <p:cNvSpPr txBox="1"/>
          <p:nvPr/>
        </p:nvSpPr>
        <p:spPr>
          <a:xfrm>
            <a:off x="5264331" y="37307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5" name="Shape 33"/>
          <p:cNvSpPr/>
          <p:nvPr/>
        </p:nvSpPr>
        <p:spPr>
          <a:xfrm>
            <a:off x="6723453" y="3383280"/>
            <a:ext cx="0" cy="548640"/>
          </a:xfrm>
          <a:prstGeom prst="line">
            <a:avLst/>
          </a:prstGeom>
          <a:noFill/>
          <a:ln w="12700">
            <a:solidFill>
              <a:srgbClr val="3CC3F0">
                <a:alpha val="60000"/>
              </a:srgbClr>
            </a:solidFill>
            <a:prstDash val="solid"/>
          </a:ln>
        </p:spPr>
      </p:sp>
      <p:sp>
        <p:nvSpPr>
          <p:cNvPr id="36" name="Shape 34"/>
          <p:cNvSpPr/>
          <p:nvPr/>
        </p:nvSpPr>
        <p:spPr>
          <a:xfrm>
            <a:off x="5671893" y="1783080"/>
            <a:ext cx="2103120" cy="1600200"/>
          </a:xfrm>
          <a:prstGeom prst="roundRect">
            <a:avLst>
              <a:gd name="adj" fmla="val 6857"/>
            </a:avLst>
          </a:prstGeom>
          <a:solidFill>
            <a:srgbClr val="FFFFFF">
              <a:alpha val="10000"/>
            </a:srgbClr>
          </a:solidFill>
          <a:ln w="9525">
            <a:solidFill>
              <a:srgbClr val="FFFFFF">
                <a:alpha val="25000"/>
              </a:srgbClr>
            </a:solidFill>
            <a:prstDash val="solid"/>
          </a:ln>
        </p:spPr>
      </p:sp>
      <p:sp>
        <p:nvSpPr>
          <p:cNvPr id="37" name="Text 35"/>
          <p:cNvSpPr txBox="1"/>
          <p:nvPr/>
        </p:nvSpPr>
        <p:spPr>
          <a:xfrm>
            <a:off x="5836485" y="1920240"/>
            <a:ext cx="1773936" cy="320040"/>
          </a:xfrm>
          <a:prstGeom prst="rect">
            <a:avLst/>
          </a:prstGeom>
          <a:noFill/>
          <a:ln/>
        </p:spPr>
        <p:txBody>
          <a:bodyPr wrap="square" lIns="0" tIns="0" rIns="0" bIns="0" rtlCol="0" anchor="t"/>
          <a:lstStyle/>
          <a:p>
            <a:pPr indent="0" marL="0">
              <a:buNone/>
            </a:pPr>
            <a:r>
              <a:rPr lang="en-US" sz="1350" b="1" dirty="0">
                <a:solidFill>
                  <a:srgbClr val="FFFFFF"/>
                </a:solidFill>
              </a:rPr>
              <a:t>Read &amp; apply rules</a:t>
            </a:r>
            <a:endParaRPr lang="en-US" sz="1350" dirty="0"/>
          </a:p>
        </p:txBody>
      </p:sp>
      <p:sp>
        <p:nvSpPr>
          <p:cNvPr id="38" name="Text 36"/>
          <p:cNvSpPr txBox="1"/>
          <p:nvPr/>
        </p:nvSpPr>
        <p:spPr>
          <a:xfrm>
            <a:off x="5836485" y="2313432"/>
            <a:ext cx="1773936" cy="548640"/>
          </a:xfrm>
          <a:prstGeom prst="rect">
            <a:avLst/>
          </a:prstGeom>
          <a:noFill/>
          <a:ln/>
        </p:spPr>
        <p:txBody>
          <a:bodyPr wrap="square" lIns="0" tIns="0" rIns="0" bIns="0" rtlCol="0" anchor="t"/>
          <a:lstStyle/>
          <a:p>
            <a:pPr indent="0" marL="0">
              <a:buNone/>
            </a:pPr>
            <a:r>
              <a:rPr lang="en-US" sz="1100" dirty="0">
                <a:solidFill>
                  <a:srgbClr val="CFE0FF"/>
                </a:solidFill>
              </a:rPr>
              <a:t>Active readings; test values; contradictions</a:t>
            </a:r>
            <a:endParaRPr lang="en-US" sz="1100" dirty="0"/>
          </a:p>
        </p:txBody>
      </p:sp>
      <p:sp>
        <p:nvSpPr>
          <p:cNvPr id="39" name="Shape 37"/>
          <p:cNvSpPr/>
          <p:nvPr/>
        </p:nvSpPr>
        <p:spPr>
          <a:xfrm>
            <a:off x="5836485" y="2971800"/>
            <a:ext cx="1188720" cy="256032"/>
          </a:xfrm>
          <a:prstGeom prst="roundRect">
            <a:avLst>
              <a:gd name="adj" fmla="val 50000"/>
            </a:avLst>
          </a:prstGeom>
          <a:solidFill>
            <a:srgbClr val="8E7CFF"/>
          </a:solidFill>
          <a:ln w="6350">
            <a:solidFill>
              <a:srgbClr val="8E7CFF"/>
            </a:solidFill>
            <a:prstDash val="solid"/>
          </a:ln>
        </p:spPr>
      </p:sp>
      <p:sp>
        <p:nvSpPr>
          <p:cNvPr id="40" name="Text 38"/>
          <p:cNvSpPr txBox="1"/>
          <p:nvPr/>
        </p:nvSpPr>
        <p:spPr>
          <a:xfrm>
            <a:off x="5836485" y="2971800"/>
            <a:ext cx="1188720" cy="256032"/>
          </a:xfrm>
          <a:prstGeom prst="rect">
            <a:avLst/>
          </a:prstGeom>
          <a:noFill/>
          <a:ln/>
        </p:spPr>
        <p:txBody>
          <a:bodyPr wrap="square" lIns="0" tIns="0" rIns="0" bIns="0" rtlCol="0" anchor="ctr"/>
          <a:lstStyle/>
          <a:p>
            <a:pPr algn="ctr" indent="0" marL="0">
              <a:buNone/>
            </a:pPr>
            <a:r>
              <a:rPr lang="en-US" sz="1000" b="1" dirty="0">
                <a:solidFill>
                  <a:srgbClr val="FFFFFF"/>
                </a:solidFill>
              </a:rPr>
              <a:t>ER-502 · 504</a:t>
            </a:r>
            <a:endParaRPr lang="en-US" sz="1000" dirty="0"/>
          </a:p>
        </p:txBody>
      </p:sp>
      <p:sp>
        <p:nvSpPr>
          <p:cNvPr id="41" name="Shape 39"/>
          <p:cNvSpPr/>
          <p:nvPr/>
        </p:nvSpPr>
        <p:spPr>
          <a:xfrm>
            <a:off x="6522285" y="3730752"/>
            <a:ext cx="402336" cy="402336"/>
          </a:xfrm>
          <a:prstGeom prst="ellipse">
            <a:avLst/>
          </a:prstGeom>
          <a:solidFill>
            <a:srgbClr val="1547C8"/>
          </a:solidFill>
          <a:ln w="19050">
            <a:solidFill>
              <a:srgbClr val="FFFFFF"/>
            </a:solidFill>
            <a:prstDash val="solid"/>
          </a:ln>
        </p:spPr>
      </p:sp>
      <p:sp>
        <p:nvSpPr>
          <p:cNvPr id="42" name="Text 40"/>
          <p:cNvSpPr txBox="1"/>
          <p:nvPr/>
        </p:nvSpPr>
        <p:spPr>
          <a:xfrm>
            <a:off x="6522285" y="37307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43" name="Shape 41"/>
          <p:cNvSpPr/>
          <p:nvPr/>
        </p:nvSpPr>
        <p:spPr>
          <a:xfrm>
            <a:off x="7981406" y="3931920"/>
            <a:ext cx="0" cy="502920"/>
          </a:xfrm>
          <a:prstGeom prst="line">
            <a:avLst/>
          </a:prstGeom>
          <a:noFill/>
          <a:ln w="12700">
            <a:solidFill>
              <a:srgbClr val="3CC3F0">
                <a:alpha val="60000"/>
              </a:srgbClr>
            </a:solidFill>
            <a:prstDash val="solid"/>
          </a:ln>
        </p:spPr>
      </p:sp>
      <p:sp>
        <p:nvSpPr>
          <p:cNvPr id="44" name="Shape 42"/>
          <p:cNvSpPr/>
          <p:nvPr/>
        </p:nvSpPr>
        <p:spPr>
          <a:xfrm>
            <a:off x="6929846" y="4434840"/>
            <a:ext cx="2103120" cy="1600200"/>
          </a:xfrm>
          <a:prstGeom prst="roundRect">
            <a:avLst>
              <a:gd name="adj" fmla="val 6857"/>
            </a:avLst>
          </a:prstGeom>
          <a:solidFill>
            <a:srgbClr val="FFFFFF">
              <a:alpha val="10000"/>
            </a:srgbClr>
          </a:solidFill>
          <a:ln w="9525">
            <a:solidFill>
              <a:srgbClr val="FFFFFF">
                <a:alpha val="25000"/>
              </a:srgbClr>
            </a:solidFill>
            <a:prstDash val="solid"/>
          </a:ln>
        </p:spPr>
      </p:sp>
      <p:sp>
        <p:nvSpPr>
          <p:cNvPr id="45" name="Text 43"/>
          <p:cNvSpPr txBox="1"/>
          <p:nvPr/>
        </p:nvSpPr>
        <p:spPr>
          <a:xfrm>
            <a:off x="7094438" y="4572000"/>
            <a:ext cx="1773936" cy="320040"/>
          </a:xfrm>
          <a:prstGeom prst="rect">
            <a:avLst/>
          </a:prstGeom>
          <a:noFill/>
          <a:ln/>
        </p:spPr>
        <p:txBody>
          <a:bodyPr wrap="square" lIns="0" tIns="0" rIns="0" bIns="0" rtlCol="0" anchor="t"/>
          <a:lstStyle/>
          <a:p>
            <a:pPr indent="0" marL="0">
              <a:buNone/>
            </a:pPr>
            <a:r>
              <a:rPr lang="en-US" sz="1350" b="1" dirty="0">
                <a:solidFill>
                  <a:srgbClr val="FFFFFF"/>
                </a:solidFill>
              </a:rPr>
              <a:t>Specialist agents</a:t>
            </a:r>
            <a:endParaRPr lang="en-US" sz="1350" dirty="0"/>
          </a:p>
        </p:txBody>
      </p:sp>
      <p:sp>
        <p:nvSpPr>
          <p:cNvPr id="46" name="Text 44"/>
          <p:cNvSpPr txBox="1"/>
          <p:nvPr/>
        </p:nvSpPr>
        <p:spPr>
          <a:xfrm>
            <a:off x="7094438" y="4965192"/>
            <a:ext cx="1773936" cy="548640"/>
          </a:xfrm>
          <a:prstGeom prst="rect">
            <a:avLst/>
          </a:prstGeom>
          <a:noFill/>
          <a:ln/>
        </p:spPr>
        <p:txBody>
          <a:bodyPr wrap="square" lIns="0" tIns="0" rIns="0" bIns="0" rtlCol="0" anchor="t"/>
          <a:lstStyle/>
          <a:p>
            <a:pPr indent="0" marL="0">
              <a:buNone/>
            </a:pPr>
            <a:r>
              <a:rPr lang="en-US" sz="1100" dirty="0">
                <a:solidFill>
                  <a:srgbClr val="CFE0FF"/>
                </a:solidFill>
              </a:rPr>
              <a:t>Reading, plan, education, reminder</a:t>
            </a:r>
            <a:endParaRPr lang="en-US" sz="1100" dirty="0"/>
          </a:p>
        </p:txBody>
      </p:sp>
      <p:sp>
        <p:nvSpPr>
          <p:cNvPr id="47" name="Shape 45"/>
          <p:cNvSpPr/>
          <p:nvPr/>
        </p:nvSpPr>
        <p:spPr>
          <a:xfrm>
            <a:off x="7780238" y="3730752"/>
            <a:ext cx="402336" cy="402336"/>
          </a:xfrm>
          <a:prstGeom prst="ellipse">
            <a:avLst/>
          </a:prstGeom>
          <a:solidFill>
            <a:srgbClr val="1547C8"/>
          </a:solidFill>
          <a:ln w="19050">
            <a:solidFill>
              <a:srgbClr val="FFFFFF"/>
            </a:solidFill>
            <a:prstDash val="solid"/>
          </a:ln>
        </p:spPr>
      </p:sp>
      <p:sp>
        <p:nvSpPr>
          <p:cNvPr id="48" name="Text 46"/>
          <p:cNvSpPr txBox="1"/>
          <p:nvPr/>
        </p:nvSpPr>
        <p:spPr>
          <a:xfrm>
            <a:off x="7780238" y="37307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49" name="Shape 47"/>
          <p:cNvSpPr/>
          <p:nvPr/>
        </p:nvSpPr>
        <p:spPr>
          <a:xfrm>
            <a:off x="9239359" y="3383280"/>
            <a:ext cx="0" cy="548640"/>
          </a:xfrm>
          <a:prstGeom prst="line">
            <a:avLst/>
          </a:prstGeom>
          <a:noFill/>
          <a:ln w="12700">
            <a:solidFill>
              <a:srgbClr val="3CC3F0">
                <a:alpha val="60000"/>
              </a:srgbClr>
            </a:solidFill>
            <a:prstDash val="solid"/>
          </a:ln>
        </p:spPr>
      </p:sp>
      <p:sp>
        <p:nvSpPr>
          <p:cNvPr id="50" name="Shape 48"/>
          <p:cNvSpPr/>
          <p:nvPr/>
        </p:nvSpPr>
        <p:spPr>
          <a:xfrm>
            <a:off x="8187799" y="1783080"/>
            <a:ext cx="2103120" cy="1600200"/>
          </a:xfrm>
          <a:prstGeom prst="roundRect">
            <a:avLst>
              <a:gd name="adj" fmla="val 6857"/>
            </a:avLst>
          </a:prstGeom>
          <a:solidFill>
            <a:srgbClr val="FFFFFF">
              <a:alpha val="10000"/>
            </a:srgbClr>
          </a:solidFill>
          <a:ln w="9525">
            <a:solidFill>
              <a:srgbClr val="FFFFFF">
                <a:alpha val="25000"/>
              </a:srgbClr>
            </a:solidFill>
            <a:prstDash val="solid"/>
          </a:ln>
        </p:spPr>
      </p:sp>
      <p:sp>
        <p:nvSpPr>
          <p:cNvPr id="51" name="Text 49"/>
          <p:cNvSpPr txBox="1"/>
          <p:nvPr/>
        </p:nvSpPr>
        <p:spPr>
          <a:xfrm>
            <a:off x="8352391" y="1920240"/>
            <a:ext cx="1773936" cy="320040"/>
          </a:xfrm>
          <a:prstGeom prst="rect">
            <a:avLst/>
          </a:prstGeom>
          <a:noFill/>
          <a:ln/>
        </p:spPr>
        <p:txBody>
          <a:bodyPr wrap="square" lIns="0" tIns="0" rIns="0" bIns="0" rtlCol="0" anchor="t"/>
          <a:lstStyle/>
          <a:p>
            <a:pPr indent="0" marL="0">
              <a:buNone/>
            </a:pPr>
            <a:r>
              <a:rPr lang="en-US" sz="1350" b="1" dirty="0">
                <a:solidFill>
                  <a:srgbClr val="FFFFFF"/>
                </a:solidFill>
              </a:rPr>
              <a:t>Two outputs</a:t>
            </a:r>
            <a:endParaRPr lang="en-US" sz="1350" dirty="0"/>
          </a:p>
        </p:txBody>
      </p:sp>
      <p:sp>
        <p:nvSpPr>
          <p:cNvPr id="52" name="Text 50"/>
          <p:cNvSpPr txBox="1"/>
          <p:nvPr/>
        </p:nvSpPr>
        <p:spPr>
          <a:xfrm>
            <a:off x="8352391" y="2313432"/>
            <a:ext cx="1773936" cy="548640"/>
          </a:xfrm>
          <a:prstGeom prst="rect">
            <a:avLst/>
          </a:prstGeom>
          <a:noFill/>
          <a:ln/>
        </p:spPr>
        <p:txBody>
          <a:bodyPr wrap="square" lIns="0" tIns="0" rIns="0" bIns="0" rtlCol="0" anchor="t"/>
          <a:lstStyle/>
          <a:p>
            <a:pPr indent="0" marL="0">
              <a:buNone/>
            </a:pPr>
            <a:r>
              <a:rPr lang="en-US" sz="1100" dirty="0">
                <a:solidFill>
                  <a:srgbClr val="CFE0FF"/>
                </a:solidFill>
              </a:rPr>
              <a:t>Member answer and staff packet</a:t>
            </a:r>
            <a:endParaRPr lang="en-US" sz="1100" dirty="0"/>
          </a:p>
        </p:txBody>
      </p:sp>
      <p:sp>
        <p:nvSpPr>
          <p:cNvPr id="53" name="Shape 51"/>
          <p:cNvSpPr/>
          <p:nvPr/>
        </p:nvSpPr>
        <p:spPr>
          <a:xfrm>
            <a:off x="9038191" y="3730752"/>
            <a:ext cx="402336" cy="402336"/>
          </a:xfrm>
          <a:prstGeom prst="ellipse">
            <a:avLst/>
          </a:prstGeom>
          <a:solidFill>
            <a:srgbClr val="1547C8"/>
          </a:solidFill>
          <a:ln w="19050">
            <a:solidFill>
              <a:srgbClr val="FFFFFF"/>
            </a:solidFill>
            <a:prstDash val="solid"/>
          </a:ln>
        </p:spPr>
      </p:sp>
      <p:sp>
        <p:nvSpPr>
          <p:cNvPr id="54" name="Text 52"/>
          <p:cNvSpPr txBox="1"/>
          <p:nvPr/>
        </p:nvSpPr>
        <p:spPr>
          <a:xfrm>
            <a:off x="9038191" y="37307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55" name="Shape 53"/>
          <p:cNvSpPr/>
          <p:nvPr/>
        </p:nvSpPr>
        <p:spPr>
          <a:xfrm>
            <a:off x="10497312" y="3931920"/>
            <a:ext cx="0" cy="502920"/>
          </a:xfrm>
          <a:prstGeom prst="line">
            <a:avLst/>
          </a:prstGeom>
          <a:noFill/>
          <a:ln w="12700">
            <a:solidFill>
              <a:srgbClr val="3CC3F0">
                <a:alpha val="60000"/>
              </a:srgbClr>
            </a:solidFill>
            <a:prstDash val="solid"/>
          </a:ln>
        </p:spPr>
      </p:sp>
      <p:sp>
        <p:nvSpPr>
          <p:cNvPr id="56" name="Shape 54"/>
          <p:cNvSpPr/>
          <p:nvPr/>
        </p:nvSpPr>
        <p:spPr>
          <a:xfrm>
            <a:off x="9445752" y="4434840"/>
            <a:ext cx="2103120" cy="1600200"/>
          </a:xfrm>
          <a:prstGeom prst="roundRect">
            <a:avLst>
              <a:gd name="adj" fmla="val 6857"/>
            </a:avLst>
          </a:prstGeom>
          <a:solidFill>
            <a:srgbClr val="FFFFFF">
              <a:alpha val="10000"/>
            </a:srgbClr>
          </a:solidFill>
          <a:ln w="9525">
            <a:solidFill>
              <a:srgbClr val="FFFFFF">
                <a:alpha val="25000"/>
              </a:srgbClr>
            </a:solidFill>
            <a:prstDash val="solid"/>
          </a:ln>
        </p:spPr>
      </p:sp>
      <p:sp>
        <p:nvSpPr>
          <p:cNvPr id="57" name="Text 55"/>
          <p:cNvSpPr txBox="1"/>
          <p:nvPr/>
        </p:nvSpPr>
        <p:spPr>
          <a:xfrm>
            <a:off x="9610344" y="4572000"/>
            <a:ext cx="1773936" cy="320040"/>
          </a:xfrm>
          <a:prstGeom prst="rect">
            <a:avLst/>
          </a:prstGeom>
          <a:noFill/>
          <a:ln/>
        </p:spPr>
        <p:txBody>
          <a:bodyPr wrap="square" lIns="0" tIns="0" rIns="0" bIns="0" rtlCol="0" anchor="t"/>
          <a:lstStyle/>
          <a:p>
            <a:pPr indent="0" marL="0">
              <a:buNone/>
            </a:pPr>
            <a:r>
              <a:rPr lang="en-US" sz="1350" b="1" dirty="0">
                <a:solidFill>
                  <a:srgbClr val="FFFFFF"/>
                </a:solidFill>
              </a:rPr>
              <a:t>Audit &amp; queue</a:t>
            </a:r>
            <a:endParaRPr lang="en-US" sz="1350" dirty="0"/>
          </a:p>
        </p:txBody>
      </p:sp>
      <p:sp>
        <p:nvSpPr>
          <p:cNvPr id="58" name="Text 56"/>
          <p:cNvSpPr txBox="1"/>
          <p:nvPr/>
        </p:nvSpPr>
        <p:spPr>
          <a:xfrm>
            <a:off x="9610344" y="4965192"/>
            <a:ext cx="1773936" cy="548640"/>
          </a:xfrm>
          <a:prstGeom prst="rect">
            <a:avLst/>
          </a:prstGeom>
          <a:noFill/>
          <a:ln/>
        </p:spPr>
        <p:txBody>
          <a:bodyPr wrap="square" lIns="0" tIns="0" rIns="0" bIns="0" rtlCol="0" anchor="t"/>
          <a:lstStyle/>
          <a:p>
            <a:pPr indent="0" marL="0">
              <a:buNone/>
            </a:pPr>
            <a:r>
              <a:rPr lang="en-US" sz="1100" dirty="0">
                <a:solidFill>
                  <a:srgbClr val="CFE0FF"/>
                </a:solidFill>
              </a:rPr>
              <a:t>Masked ID, rule IDs, staff review list</a:t>
            </a:r>
            <a:endParaRPr lang="en-US" sz="1100" dirty="0"/>
          </a:p>
        </p:txBody>
      </p:sp>
      <p:sp>
        <p:nvSpPr>
          <p:cNvPr id="59" name="Shape 57"/>
          <p:cNvSpPr/>
          <p:nvPr/>
        </p:nvSpPr>
        <p:spPr>
          <a:xfrm>
            <a:off x="10296144" y="3730752"/>
            <a:ext cx="402336" cy="402336"/>
          </a:xfrm>
          <a:prstGeom prst="ellipse">
            <a:avLst/>
          </a:prstGeom>
          <a:solidFill>
            <a:srgbClr val="1547C8"/>
          </a:solidFill>
          <a:ln w="19050">
            <a:solidFill>
              <a:srgbClr val="FFFFFF"/>
            </a:solidFill>
            <a:prstDash val="solid"/>
          </a:ln>
        </p:spPr>
      </p:sp>
      <p:sp>
        <p:nvSpPr>
          <p:cNvPr id="60" name="Text 58"/>
          <p:cNvSpPr txBox="1"/>
          <p:nvPr/>
        </p:nvSpPr>
        <p:spPr>
          <a:xfrm>
            <a:off x="10296144" y="37307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61" name="Text 59"/>
          <p:cNvSpPr txBox="1"/>
          <p:nvPr/>
        </p:nvSpPr>
        <p:spPr>
          <a:xfrm>
            <a:off x="640080" y="6144768"/>
            <a:ext cx="10908792" cy="228600"/>
          </a:xfrm>
          <a:prstGeom prst="rect">
            <a:avLst/>
          </a:prstGeom>
          <a:noFill/>
          <a:ln/>
        </p:spPr>
        <p:txBody>
          <a:bodyPr wrap="square" lIns="0" tIns="0" rIns="0" bIns="0" rtlCol="0" anchor="t"/>
          <a:lstStyle/>
          <a:p>
            <a:pPr algn="l" indent="0" marL="0">
              <a:buNone/>
            </a:pPr>
            <a:r>
              <a:rPr lang="en-US" sz="1100" dirty="0">
                <a:solidFill>
                  <a:srgbClr val="A9BBEA"/>
                </a:solidFill>
              </a:rPr>
              <a:t>Consent, medicine and advice checks can stop the flow early; every path still ends in an audit record.</a:t>
            </a:r>
            <a:endParaRPr lang="en-US" sz="11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body" hasCustomPrompt="1"/>
          </p:nvPr>
        </p:nvSpPr>
        <p:spPr>
          <a:xfrm>
            <a:off x="640080" y="438912"/>
            <a:ext cx="8229600" cy="274320"/>
          </a:xfrm>
          <a:prstGeom prst="rect">
            <a:avLst/>
          </a:prstGeom>
          <a:noFill/>
          <a:ln/>
        </p:spPr>
        <p:txBody>
          <a:bodyPr wrap="square" lIns="0" tIns="0" rIns="0" bIns="0" rtlCol="0" anchor="t"/>
          <a:lstStyle/>
          <a:p>
            <a:pPr indent="0" marL="0">
              <a:buNone/>
            </a:pPr>
            <a:r>
              <a:rPr lang="en-US" sz="1200" b="1" spc="400" kern="0" dirty="0">
                <a:solidFill>
                  <a:srgbClr val="3CC3F0"/>
                </a:solidFill>
              </a:rPr>
              <a:t>07  ·  ESCALATION RULES</a:t>
            </a:r>
            <a:endParaRPr lang="en-US" sz="1200" dirty="0"/>
          </a:p>
        </p:txBody>
      </p:sp>
      <p:sp>
        <p:nvSpPr>
          <p:cNvPr id="3" name="Text 2"/>
          <p:cNvSpPr/>
          <p:nvPr>
            <p:ph idx="104" type="title" hasCustomPrompt="1"/>
          </p:nvPr>
        </p:nvSpPr>
        <p:spPr>
          <a:xfrm>
            <a:off x="640080" y="749808"/>
            <a:ext cx="10908792" cy="777240"/>
          </a:xfrm>
          <a:prstGeom prst="rect">
            <a:avLst/>
          </a:prstGeom>
          <a:noFill/>
          <a:ln/>
        </p:spPr>
        <p:txBody>
          <a:bodyPr wrap="square" lIns="0" tIns="0" rIns="0" bIns="0" rtlCol="0" anchor="t"/>
          <a:lstStyle/>
          <a:p>
            <a:pPr algn="l" indent="0" marL="0">
              <a:buNone/>
            </a:pPr>
            <a:r>
              <a:rPr lang="en-US" sz="3200" b="1" dirty="0">
                <a:solidFill>
                  <a:srgbClr val="FFFFFF"/>
                </a:solidFill>
              </a:rPr>
              <a:t>Four rules, applied exactly as configured</a:t>
            </a:r>
            <a:endParaRPr lang="en-US" sz="3200" dirty="0"/>
          </a:p>
        </p:txBody>
      </p:sp>
      <p:sp>
        <p:nvSpPr>
          <p:cNvPr id="4" name="Shape 2"/>
          <p:cNvSpPr/>
          <p:nvPr/>
        </p:nvSpPr>
        <p:spPr>
          <a:xfrm>
            <a:off x="640080" y="1783080"/>
            <a:ext cx="2560320" cy="3154680"/>
          </a:xfrm>
          <a:prstGeom prst="roundRect">
            <a:avLst>
              <a:gd name="adj" fmla="val 4286"/>
            </a:avLst>
          </a:prstGeom>
          <a:solidFill>
            <a:srgbClr val="FFFFFF">
              <a:alpha val="10000"/>
            </a:srgbClr>
          </a:solidFill>
          <a:ln w="9525">
            <a:solidFill>
              <a:srgbClr val="FFFFFF">
                <a:alpha val="25000"/>
              </a:srgbClr>
            </a:solidFill>
            <a:prstDash val="solid"/>
          </a:ln>
        </p:spPr>
      </p:sp>
      <p:sp>
        <p:nvSpPr>
          <p:cNvPr id="5" name="Text 3"/>
          <p:cNvSpPr txBox="1"/>
          <p:nvPr/>
        </p:nvSpPr>
        <p:spPr>
          <a:xfrm>
            <a:off x="868680" y="1965960"/>
            <a:ext cx="2103120" cy="548640"/>
          </a:xfrm>
          <a:prstGeom prst="rect">
            <a:avLst/>
          </a:prstGeom>
          <a:noFill/>
          <a:ln/>
        </p:spPr>
        <p:txBody>
          <a:bodyPr wrap="square" lIns="0" tIns="0" rIns="0" bIns="0" rtlCol="0" anchor="t"/>
          <a:lstStyle/>
          <a:p>
            <a:pPr indent="0" marL="0">
              <a:buNone/>
            </a:pPr>
            <a:r>
              <a:rPr lang="en-US" sz="3000" b="1" dirty="0">
                <a:solidFill>
                  <a:srgbClr val="E5484D"/>
                </a:solidFill>
              </a:rPr>
              <a:t>ER-501</a:t>
            </a:r>
            <a:endParaRPr lang="en-US" sz="3000" dirty="0"/>
          </a:p>
        </p:txBody>
      </p:sp>
      <p:sp>
        <p:nvSpPr>
          <p:cNvPr id="6" name="Text 4"/>
          <p:cNvSpPr txBox="1"/>
          <p:nvPr/>
        </p:nvSpPr>
        <p:spPr>
          <a:xfrm>
            <a:off x="868680" y="2606040"/>
            <a:ext cx="2103120" cy="640080"/>
          </a:xfrm>
          <a:prstGeom prst="rect">
            <a:avLst/>
          </a:prstGeom>
          <a:noFill/>
          <a:ln/>
        </p:spPr>
        <p:txBody>
          <a:bodyPr wrap="square" lIns="0" tIns="0" rIns="0" bIns="0" rtlCol="0" anchor="t"/>
          <a:lstStyle/>
          <a:p>
            <a:pPr indent="0" marL="0">
              <a:buNone/>
            </a:pPr>
            <a:r>
              <a:rPr lang="en-US" sz="1450" b="1" dirty="0">
                <a:solidFill>
                  <a:srgbClr val="FFFFFF"/>
                </a:solidFill>
              </a:rPr>
              <a:t>Consent is not active</a:t>
            </a:r>
            <a:endParaRPr lang="en-US" sz="1450" dirty="0"/>
          </a:p>
        </p:txBody>
      </p:sp>
      <p:sp>
        <p:nvSpPr>
          <p:cNvPr id="7" name="Text 5"/>
          <p:cNvSpPr txBox="1"/>
          <p:nvPr/>
        </p:nvSpPr>
        <p:spPr>
          <a:xfrm>
            <a:off x="868680" y="3264408"/>
            <a:ext cx="2103120" cy="731520"/>
          </a:xfrm>
          <a:prstGeom prst="rect">
            <a:avLst/>
          </a:prstGeom>
          <a:noFill/>
          <a:ln/>
        </p:spPr>
        <p:txBody>
          <a:bodyPr wrap="square" lIns="0" tIns="0" rIns="0" bIns="0" rtlCol="0" anchor="t"/>
          <a:lstStyle/>
          <a:p>
            <a:pPr indent="0" marL="0">
              <a:buNone/>
            </a:pPr>
            <a:r>
              <a:rPr lang="en-US" sz="1150" dirty="0">
                <a:solidFill>
                  <a:srgbClr val="CFE0FF"/>
                </a:solidFill>
              </a:rPr>
              <a:t>Stop processing and send the member to program staff</a:t>
            </a:r>
            <a:endParaRPr lang="en-US" sz="1150" dirty="0"/>
          </a:p>
        </p:txBody>
      </p:sp>
      <p:sp>
        <p:nvSpPr>
          <p:cNvPr id="8" name="Shape 6"/>
          <p:cNvSpPr/>
          <p:nvPr/>
        </p:nvSpPr>
        <p:spPr>
          <a:xfrm>
            <a:off x="777240" y="4114800"/>
            <a:ext cx="2286000" cy="685800"/>
          </a:xfrm>
          <a:prstGeom prst="roundRect">
            <a:avLst>
              <a:gd name="adj" fmla="val 10667"/>
            </a:avLst>
          </a:prstGeom>
          <a:solidFill>
            <a:srgbClr val="E5484D">
              <a:alpha val="18000"/>
            </a:srgbClr>
          </a:solidFill>
          <a:ln w="9525">
            <a:solidFill>
              <a:srgbClr val="E5484D"/>
            </a:solidFill>
            <a:prstDash val="solid"/>
          </a:ln>
        </p:spPr>
      </p:sp>
      <p:sp>
        <p:nvSpPr>
          <p:cNvPr id="9" name="Text 7"/>
          <p:cNvSpPr txBox="1"/>
          <p:nvPr/>
        </p:nvSpPr>
        <p:spPr>
          <a:xfrm>
            <a:off x="886968" y="4160520"/>
            <a:ext cx="1828800" cy="182880"/>
          </a:xfrm>
          <a:prstGeom prst="rect">
            <a:avLst/>
          </a:prstGeom>
          <a:noFill/>
          <a:ln/>
        </p:spPr>
        <p:txBody>
          <a:bodyPr wrap="square" lIns="0" tIns="0" rIns="0" bIns="0" rtlCol="0" anchor="t"/>
          <a:lstStyle/>
          <a:p>
            <a:pPr indent="0" marL="0">
              <a:buNone/>
            </a:pPr>
            <a:r>
              <a:rPr lang="en-US" sz="1000" b="1" spc="200" kern="0" dirty="0">
                <a:solidFill>
                  <a:srgbClr val="E5484D"/>
                </a:solidFill>
              </a:rPr>
              <a:t>ROUTES TO</a:t>
            </a:r>
            <a:endParaRPr lang="en-US" sz="1000" dirty="0"/>
          </a:p>
        </p:txBody>
      </p:sp>
      <p:sp>
        <p:nvSpPr>
          <p:cNvPr id="10" name="Text 8"/>
          <p:cNvSpPr txBox="1"/>
          <p:nvPr/>
        </p:nvSpPr>
        <p:spPr>
          <a:xfrm>
            <a:off x="886968" y="4379976"/>
            <a:ext cx="2103120" cy="384048"/>
          </a:xfrm>
          <a:prstGeom prst="rect">
            <a:avLst/>
          </a:prstGeom>
          <a:noFill/>
          <a:ln/>
        </p:spPr>
        <p:txBody>
          <a:bodyPr wrap="square" lIns="0" tIns="0" rIns="0" bIns="0" rtlCol="0" anchor="t"/>
          <a:lstStyle/>
          <a:p>
            <a:pPr indent="0" marL="0">
              <a:buNone/>
            </a:pPr>
            <a:r>
              <a:rPr lang="en-US" sz="1100" b="1" dirty="0">
                <a:solidFill>
                  <a:srgbClr val="FFFFFF"/>
                </a:solidFill>
              </a:rPr>
              <a:t>Enrolment and consent desk</a:t>
            </a:r>
            <a:endParaRPr lang="en-US" sz="1100" dirty="0"/>
          </a:p>
        </p:txBody>
      </p:sp>
      <p:sp>
        <p:nvSpPr>
          <p:cNvPr id="11" name="Shape 9"/>
          <p:cNvSpPr/>
          <p:nvPr/>
        </p:nvSpPr>
        <p:spPr>
          <a:xfrm>
            <a:off x="3422904" y="1783080"/>
            <a:ext cx="2560320" cy="3154680"/>
          </a:xfrm>
          <a:prstGeom prst="roundRect">
            <a:avLst>
              <a:gd name="adj" fmla="val 4286"/>
            </a:avLst>
          </a:prstGeom>
          <a:solidFill>
            <a:srgbClr val="FFFFFF">
              <a:alpha val="10000"/>
            </a:srgbClr>
          </a:solidFill>
          <a:ln w="9525">
            <a:solidFill>
              <a:srgbClr val="FFFFFF">
                <a:alpha val="25000"/>
              </a:srgbClr>
            </a:solidFill>
            <a:prstDash val="solid"/>
          </a:ln>
        </p:spPr>
      </p:sp>
      <p:sp>
        <p:nvSpPr>
          <p:cNvPr id="12" name="Text 10"/>
          <p:cNvSpPr txBox="1"/>
          <p:nvPr/>
        </p:nvSpPr>
        <p:spPr>
          <a:xfrm>
            <a:off x="3651504" y="1965960"/>
            <a:ext cx="2103120" cy="548640"/>
          </a:xfrm>
          <a:prstGeom prst="rect">
            <a:avLst/>
          </a:prstGeom>
          <a:noFill/>
          <a:ln/>
        </p:spPr>
        <p:txBody>
          <a:bodyPr wrap="square" lIns="0" tIns="0" rIns="0" bIns="0" rtlCol="0" anchor="t"/>
          <a:lstStyle/>
          <a:p>
            <a:pPr indent="0" marL="0">
              <a:buNone/>
            </a:pPr>
            <a:r>
              <a:rPr lang="en-US" sz="3000" b="1" dirty="0">
                <a:solidFill>
                  <a:srgbClr val="F5A524"/>
                </a:solidFill>
              </a:rPr>
              <a:t>ER-502</a:t>
            </a:r>
            <a:endParaRPr lang="en-US" sz="3000" dirty="0"/>
          </a:p>
        </p:txBody>
      </p:sp>
      <p:sp>
        <p:nvSpPr>
          <p:cNvPr id="13" name="Text 11"/>
          <p:cNvSpPr txBox="1"/>
          <p:nvPr/>
        </p:nvSpPr>
        <p:spPr>
          <a:xfrm>
            <a:off x="3651504" y="2606040"/>
            <a:ext cx="2103120" cy="640080"/>
          </a:xfrm>
          <a:prstGeom prst="rect">
            <a:avLst/>
          </a:prstGeom>
          <a:noFill/>
          <a:ln/>
        </p:spPr>
        <p:txBody>
          <a:bodyPr wrap="square" lIns="0" tIns="0" rIns="0" bIns="0" rtlCol="0" anchor="t"/>
          <a:lstStyle/>
          <a:p>
            <a:pPr indent="0" marL="0">
              <a:buNone/>
            </a:pPr>
            <a:r>
              <a:rPr lang="en-US" sz="1450" b="1" dirty="0">
                <a:solidFill>
                  <a:srgbClr val="FFFFFF"/>
                </a:solidFill>
              </a:rPr>
              <a:t>Reading matches a configured test value</a:t>
            </a:r>
            <a:endParaRPr lang="en-US" sz="1450" dirty="0"/>
          </a:p>
        </p:txBody>
      </p:sp>
      <p:sp>
        <p:nvSpPr>
          <p:cNvPr id="14" name="Text 12"/>
          <p:cNvSpPr txBox="1"/>
          <p:nvPr/>
        </p:nvSpPr>
        <p:spPr>
          <a:xfrm>
            <a:off x="3651504" y="3264408"/>
            <a:ext cx="2103120" cy="731520"/>
          </a:xfrm>
          <a:prstGeom prst="rect">
            <a:avLst/>
          </a:prstGeom>
          <a:noFill/>
          <a:ln/>
        </p:spPr>
        <p:txBody>
          <a:bodyPr wrap="square" lIns="0" tIns="0" rIns="0" bIns="0" rtlCol="0" anchor="t"/>
          <a:lstStyle/>
          <a:p>
            <a:pPr indent="0" marL="0">
              <a:buNone/>
            </a:pPr>
            <a:r>
              <a:rPr lang="en-US" sz="1150" dirty="0">
                <a:solidFill>
                  <a:srgbClr val="CFE0FF"/>
                </a:solidFill>
              </a:rPr>
              <a:t>Create an urgent staff-review record. No interpretation</a:t>
            </a:r>
            <a:endParaRPr lang="en-US" sz="1150" dirty="0"/>
          </a:p>
        </p:txBody>
      </p:sp>
      <p:sp>
        <p:nvSpPr>
          <p:cNvPr id="15" name="Shape 13"/>
          <p:cNvSpPr/>
          <p:nvPr/>
        </p:nvSpPr>
        <p:spPr>
          <a:xfrm>
            <a:off x="3560064" y="4114800"/>
            <a:ext cx="2286000" cy="685800"/>
          </a:xfrm>
          <a:prstGeom prst="roundRect">
            <a:avLst>
              <a:gd name="adj" fmla="val 10667"/>
            </a:avLst>
          </a:prstGeom>
          <a:solidFill>
            <a:srgbClr val="F5A524">
              <a:alpha val="18000"/>
            </a:srgbClr>
          </a:solidFill>
          <a:ln w="9525">
            <a:solidFill>
              <a:srgbClr val="F5A524"/>
            </a:solidFill>
            <a:prstDash val="solid"/>
          </a:ln>
        </p:spPr>
      </p:sp>
      <p:sp>
        <p:nvSpPr>
          <p:cNvPr id="16" name="Text 14"/>
          <p:cNvSpPr txBox="1"/>
          <p:nvPr/>
        </p:nvSpPr>
        <p:spPr>
          <a:xfrm>
            <a:off x="3669792" y="4160520"/>
            <a:ext cx="1828800" cy="182880"/>
          </a:xfrm>
          <a:prstGeom prst="rect">
            <a:avLst/>
          </a:prstGeom>
          <a:noFill/>
          <a:ln/>
        </p:spPr>
        <p:txBody>
          <a:bodyPr wrap="square" lIns="0" tIns="0" rIns="0" bIns="0" rtlCol="0" anchor="t"/>
          <a:lstStyle/>
          <a:p>
            <a:pPr indent="0" marL="0">
              <a:buNone/>
            </a:pPr>
            <a:r>
              <a:rPr lang="en-US" sz="1000" b="1" spc="200" kern="0" dirty="0">
                <a:solidFill>
                  <a:srgbClr val="F5A524"/>
                </a:solidFill>
              </a:rPr>
              <a:t>ROUTES TO</a:t>
            </a:r>
            <a:endParaRPr lang="en-US" sz="1000" dirty="0"/>
          </a:p>
        </p:txBody>
      </p:sp>
      <p:sp>
        <p:nvSpPr>
          <p:cNvPr id="17" name="Text 15"/>
          <p:cNvSpPr txBox="1"/>
          <p:nvPr/>
        </p:nvSpPr>
        <p:spPr>
          <a:xfrm>
            <a:off x="3669792" y="4379976"/>
            <a:ext cx="2103120" cy="384048"/>
          </a:xfrm>
          <a:prstGeom prst="rect">
            <a:avLst/>
          </a:prstGeom>
          <a:noFill/>
          <a:ln/>
        </p:spPr>
        <p:txBody>
          <a:bodyPr wrap="square" lIns="0" tIns="0" rIns="0" bIns="0" rtlCol="0" anchor="t"/>
          <a:lstStyle/>
          <a:p>
            <a:pPr indent="0" marL="0">
              <a:buNone/>
            </a:pPr>
            <a:r>
              <a:rPr lang="en-US" sz="1100" b="1" dirty="0">
                <a:solidFill>
                  <a:srgbClr val="FFFFFF"/>
                </a:solidFill>
              </a:rPr>
              <a:t>Program care team: urgent review</a:t>
            </a:r>
            <a:endParaRPr lang="en-US" sz="1100" dirty="0"/>
          </a:p>
        </p:txBody>
      </p:sp>
      <p:sp>
        <p:nvSpPr>
          <p:cNvPr id="18" name="Shape 16"/>
          <p:cNvSpPr/>
          <p:nvPr/>
        </p:nvSpPr>
        <p:spPr>
          <a:xfrm>
            <a:off x="6205728" y="1783080"/>
            <a:ext cx="2560320" cy="3154680"/>
          </a:xfrm>
          <a:prstGeom prst="roundRect">
            <a:avLst>
              <a:gd name="adj" fmla="val 4286"/>
            </a:avLst>
          </a:prstGeom>
          <a:solidFill>
            <a:srgbClr val="FFFFFF">
              <a:alpha val="10000"/>
            </a:srgbClr>
          </a:solidFill>
          <a:ln w="9525">
            <a:solidFill>
              <a:srgbClr val="FFFFFF">
                <a:alpha val="25000"/>
              </a:srgbClr>
            </a:solidFill>
            <a:prstDash val="solid"/>
          </a:ln>
        </p:spPr>
      </p:sp>
      <p:sp>
        <p:nvSpPr>
          <p:cNvPr id="19" name="Text 17"/>
          <p:cNvSpPr txBox="1"/>
          <p:nvPr/>
        </p:nvSpPr>
        <p:spPr>
          <a:xfrm>
            <a:off x="6434328" y="1965960"/>
            <a:ext cx="2103120" cy="548640"/>
          </a:xfrm>
          <a:prstGeom prst="rect">
            <a:avLst/>
          </a:prstGeom>
          <a:noFill/>
          <a:ln/>
        </p:spPr>
        <p:txBody>
          <a:bodyPr wrap="square" lIns="0" tIns="0" rIns="0" bIns="0" rtlCol="0" anchor="t"/>
          <a:lstStyle/>
          <a:p>
            <a:pPr indent="0" marL="0">
              <a:buNone/>
            </a:pPr>
            <a:r>
              <a:rPr lang="en-US" sz="3000" b="1" dirty="0">
                <a:solidFill>
                  <a:srgbClr val="3CC3F0"/>
                </a:solidFill>
              </a:rPr>
              <a:t>ER-503</a:t>
            </a:r>
            <a:endParaRPr lang="en-US" sz="3000" dirty="0"/>
          </a:p>
        </p:txBody>
      </p:sp>
      <p:sp>
        <p:nvSpPr>
          <p:cNvPr id="20" name="Text 18"/>
          <p:cNvSpPr txBox="1"/>
          <p:nvPr/>
        </p:nvSpPr>
        <p:spPr>
          <a:xfrm>
            <a:off x="6434328" y="2606040"/>
            <a:ext cx="2103120" cy="640080"/>
          </a:xfrm>
          <a:prstGeom prst="rect">
            <a:avLst/>
          </a:prstGeom>
          <a:noFill/>
          <a:ln/>
        </p:spPr>
        <p:txBody>
          <a:bodyPr wrap="square" lIns="0" tIns="0" rIns="0" bIns="0" rtlCol="0" anchor="t"/>
          <a:lstStyle/>
          <a:p>
            <a:pPr indent="0" marL="0">
              <a:buNone/>
            </a:pPr>
            <a:r>
              <a:rPr lang="en-US" sz="1450" b="1" dirty="0">
                <a:solidFill>
                  <a:srgbClr val="FFFFFF"/>
                </a:solidFill>
              </a:rPr>
              <a:t>Member asks to change a medicine</a:t>
            </a:r>
            <a:endParaRPr lang="en-US" sz="1450" dirty="0"/>
          </a:p>
        </p:txBody>
      </p:sp>
      <p:sp>
        <p:nvSpPr>
          <p:cNvPr id="21" name="Text 19"/>
          <p:cNvSpPr txBox="1"/>
          <p:nvPr/>
        </p:nvSpPr>
        <p:spPr>
          <a:xfrm>
            <a:off x="6434328" y="3264408"/>
            <a:ext cx="2103120" cy="731520"/>
          </a:xfrm>
          <a:prstGeom prst="rect">
            <a:avLst/>
          </a:prstGeom>
          <a:noFill/>
          <a:ln/>
        </p:spPr>
        <p:txBody>
          <a:bodyPr wrap="square" lIns="0" tIns="0" rIns="0" bIns="0" rtlCol="0" anchor="t"/>
          <a:lstStyle/>
          <a:p>
            <a:pPr indent="0" marL="0">
              <a:buNone/>
            </a:pPr>
            <a:r>
              <a:rPr lang="en-US" sz="1150" dirty="0">
                <a:solidFill>
                  <a:srgbClr val="CFE0FF"/>
                </a:solidFill>
              </a:rPr>
              <a:t>Decline and direct to a qualified clinician</a:t>
            </a:r>
            <a:endParaRPr lang="en-US" sz="1150" dirty="0"/>
          </a:p>
        </p:txBody>
      </p:sp>
      <p:sp>
        <p:nvSpPr>
          <p:cNvPr id="22" name="Shape 20"/>
          <p:cNvSpPr/>
          <p:nvPr/>
        </p:nvSpPr>
        <p:spPr>
          <a:xfrm>
            <a:off x="6342888" y="4114800"/>
            <a:ext cx="2286000" cy="685800"/>
          </a:xfrm>
          <a:prstGeom prst="roundRect">
            <a:avLst>
              <a:gd name="adj" fmla="val 10667"/>
            </a:avLst>
          </a:prstGeom>
          <a:solidFill>
            <a:srgbClr val="3CC3F0">
              <a:alpha val="18000"/>
            </a:srgbClr>
          </a:solidFill>
          <a:ln w="9525">
            <a:solidFill>
              <a:srgbClr val="3CC3F0"/>
            </a:solidFill>
            <a:prstDash val="solid"/>
          </a:ln>
        </p:spPr>
      </p:sp>
      <p:sp>
        <p:nvSpPr>
          <p:cNvPr id="23" name="Text 21"/>
          <p:cNvSpPr txBox="1"/>
          <p:nvPr/>
        </p:nvSpPr>
        <p:spPr>
          <a:xfrm>
            <a:off x="6452616" y="4160520"/>
            <a:ext cx="1828800" cy="182880"/>
          </a:xfrm>
          <a:prstGeom prst="rect">
            <a:avLst/>
          </a:prstGeom>
          <a:noFill/>
          <a:ln/>
        </p:spPr>
        <p:txBody>
          <a:bodyPr wrap="square" lIns="0" tIns="0" rIns="0" bIns="0" rtlCol="0" anchor="t"/>
          <a:lstStyle/>
          <a:p>
            <a:pPr indent="0" marL="0">
              <a:buNone/>
            </a:pPr>
            <a:r>
              <a:rPr lang="en-US" sz="1000" b="1" spc="200" kern="0" dirty="0">
                <a:solidFill>
                  <a:srgbClr val="3CC3F0"/>
                </a:solidFill>
              </a:rPr>
              <a:t>ROUTES TO</a:t>
            </a:r>
            <a:endParaRPr lang="en-US" sz="1000" dirty="0"/>
          </a:p>
        </p:txBody>
      </p:sp>
      <p:sp>
        <p:nvSpPr>
          <p:cNvPr id="24" name="Text 22"/>
          <p:cNvSpPr txBox="1"/>
          <p:nvPr/>
        </p:nvSpPr>
        <p:spPr>
          <a:xfrm>
            <a:off x="6452616" y="4379976"/>
            <a:ext cx="2103120" cy="384048"/>
          </a:xfrm>
          <a:prstGeom prst="rect">
            <a:avLst/>
          </a:prstGeom>
          <a:noFill/>
          <a:ln/>
        </p:spPr>
        <p:txBody>
          <a:bodyPr wrap="square" lIns="0" tIns="0" rIns="0" bIns="0" rtlCol="0" anchor="t"/>
          <a:lstStyle/>
          <a:p>
            <a:pPr indent="0" marL="0">
              <a:buNone/>
            </a:pPr>
            <a:r>
              <a:rPr lang="en-US" sz="1100" b="1" dirty="0">
                <a:solidFill>
                  <a:srgbClr val="FFFFFF"/>
                </a:solidFill>
              </a:rPr>
              <a:t>Clinician referral desk, by program</a:t>
            </a:r>
            <a:endParaRPr lang="en-US" sz="1100" dirty="0"/>
          </a:p>
        </p:txBody>
      </p:sp>
      <p:sp>
        <p:nvSpPr>
          <p:cNvPr id="25" name="Shape 23"/>
          <p:cNvSpPr/>
          <p:nvPr/>
        </p:nvSpPr>
        <p:spPr>
          <a:xfrm>
            <a:off x="8988552" y="1783080"/>
            <a:ext cx="2560320" cy="3154680"/>
          </a:xfrm>
          <a:prstGeom prst="roundRect">
            <a:avLst>
              <a:gd name="adj" fmla="val 4286"/>
            </a:avLst>
          </a:prstGeom>
          <a:solidFill>
            <a:srgbClr val="FFFFFF">
              <a:alpha val="10000"/>
            </a:srgbClr>
          </a:solidFill>
          <a:ln w="9525">
            <a:solidFill>
              <a:srgbClr val="FFFFFF">
                <a:alpha val="25000"/>
              </a:srgbClr>
            </a:solidFill>
            <a:prstDash val="solid"/>
          </a:ln>
        </p:spPr>
      </p:sp>
      <p:sp>
        <p:nvSpPr>
          <p:cNvPr id="26" name="Text 24"/>
          <p:cNvSpPr txBox="1"/>
          <p:nvPr/>
        </p:nvSpPr>
        <p:spPr>
          <a:xfrm>
            <a:off x="9217152" y="1965960"/>
            <a:ext cx="2103120" cy="548640"/>
          </a:xfrm>
          <a:prstGeom prst="rect">
            <a:avLst/>
          </a:prstGeom>
          <a:noFill/>
          <a:ln/>
        </p:spPr>
        <p:txBody>
          <a:bodyPr wrap="square" lIns="0" tIns="0" rIns="0" bIns="0" rtlCol="0" anchor="t"/>
          <a:lstStyle/>
          <a:p>
            <a:pPr indent="0" marL="0">
              <a:buNone/>
            </a:pPr>
            <a:r>
              <a:rPr lang="en-US" sz="3000" b="1" dirty="0">
                <a:solidFill>
                  <a:srgbClr val="8E7CFF"/>
                </a:solidFill>
              </a:rPr>
              <a:t>ER-504</a:t>
            </a:r>
            <a:endParaRPr lang="en-US" sz="3000" dirty="0"/>
          </a:p>
        </p:txBody>
      </p:sp>
      <p:sp>
        <p:nvSpPr>
          <p:cNvPr id="27" name="Text 25"/>
          <p:cNvSpPr txBox="1"/>
          <p:nvPr/>
        </p:nvSpPr>
        <p:spPr>
          <a:xfrm>
            <a:off x="9217152" y="2606040"/>
            <a:ext cx="2103120" cy="640080"/>
          </a:xfrm>
          <a:prstGeom prst="rect">
            <a:avLst/>
          </a:prstGeom>
          <a:noFill/>
          <a:ln/>
        </p:spPr>
        <p:txBody>
          <a:bodyPr wrap="square" lIns="0" tIns="0" rIns="0" bIns="0" rtlCol="0" anchor="t"/>
          <a:lstStyle/>
          <a:p>
            <a:pPr indent="0" marL="0">
              <a:buNone/>
            </a:pPr>
            <a:r>
              <a:rPr lang="en-US" sz="1450" b="1" dirty="0">
                <a:solidFill>
                  <a:srgbClr val="FFFFFF"/>
                </a:solidFill>
              </a:rPr>
              <a:t>Reading or source is contradictory</a:t>
            </a:r>
            <a:endParaRPr lang="en-US" sz="1450" dirty="0"/>
          </a:p>
        </p:txBody>
      </p:sp>
      <p:sp>
        <p:nvSpPr>
          <p:cNvPr id="28" name="Text 26"/>
          <p:cNvSpPr txBox="1"/>
          <p:nvPr/>
        </p:nvSpPr>
        <p:spPr>
          <a:xfrm>
            <a:off x="9217152" y="3264408"/>
            <a:ext cx="2103120" cy="731520"/>
          </a:xfrm>
          <a:prstGeom prst="rect">
            <a:avLst/>
          </a:prstGeom>
          <a:noFill/>
          <a:ln/>
        </p:spPr>
        <p:txBody>
          <a:bodyPr wrap="square" lIns="0" tIns="0" rIns="0" bIns="0" rtlCol="0" anchor="t"/>
          <a:lstStyle/>
          <a:p>
            <a:pPr indent="0" marL="0">
              <a:buNone/>
            </a:pPr>
            <a:r>
              <a:rPr lang="en-US" sz="1150" dirty="0">
                <a:solidFill>
                  <a:srgbClr val="CFE0FF"/>
                </a:solidFill>
              </a:rPr>
              <a:t>Mark the uncertainty and request human review</a:t>
            </a:r>
            <a:endParaRPr lang="en-US" sz="1150" dirty="0"/>
          </a:p>
        </p:txBody>
      </p:sp>
      <p:sp>
        <p:nvSpPr>
          <p:cNvPr id="29" name="Shape 27"/>
          <p:cNvSpPr/>
          <p:nvPr/>
        </p:nvSpPr>
        <p:spPr>
          <a:xfrm>
            <a:off x="9125712" y="4114800"/>
            <a:ext cx="2286000" cy="685800"/>
          </a:xfrm>
          <a:prstGeom prst="roundRect">
            <a:avLst>
              <a:gd name="adj" fmla="val 10667"/>
            </a:avLst>
          </a:prstGeom>
          <a:solidFill>
            <a:srgbClr val="8E7CFF">
              <a:alpha val="18000"/>
            </a:srgbClr>
          </a:solidFill>
          <a:ln w="9525">
            <a:solidFill>
              <a:srgbClr val="8E7CFF"/>
            </a:solidFill>
            <a:prstDash val="solid"/>
          </a:ln>
        </p:spPr>
      </p:sp>
      <p:sp>
        <p:nvSpPr>
          <p:cNvPr id="30" name="Text 28"/>
          <p:cNvSpPr txBox="1"/>
          <p:nvPr/>
        </p:nvSpPr>
        <p:spPr>
          <a:xfrm>
            <a:off x="9235440" y="4160520"/>
            <a:ext cx="1828800" cy="182880"/>
          </a:xfrm>
          <a:prstGeom prst="rect">
            <a:avLst/>
          </a:prstGeom>
          <a:noFill/>
          <a:ln/>
        </p:spPr>
        <p:txBody>
          <a:bodyPr wrap="square" lIns="0" tIns="0" rIns="0" bIns="0" rtlCol="0" anchor="t"/>
          <a:lstStyle/>
          <a:p>
            <a:pPr indent="0" marL="0">
              <a:buNone/>
            </a:pPr>
            <a:r>
              <a:rPr lang="en-US" sz="1000" b="1" spc="200" kern="0" dirty="0">
                <a:solidFill>
                  <a:srgbClr val="8E7CFF"/>
                </a:solidFill>
              </a:rPr>
              <a:t>ROUTES TO</a:t>
            </a:r>
            <a:endParaRPr lang="en-US" sz="1000" dirty="0"/>
          </a:p>
        </p:txBody>
      </p:sp>
      <p:sp>
        <p:nvSpPr>
          <p:cNvPr id="31" name="Text 29"/>
          <p:cNvSpPr txBox="1"/>
          <p:nvPr/>
        </p:nvSpPr>
        <p:spPr>
          <a:xfrm>
            <a:off x="9235440" y="4379976"/>
            <a:ext cx="2103120" cy="384048"/>
          </a:xfrm>
          <a:prstGeom prst="rect">
            <a:avLst/>
          </a:prstGeom>
          <a:noFill/>
          <a:ln/>
        </p:spPr>
        <p:txBody>
          <a:bodyPr wrap="square" lIns="0" tIns="0" rIns="0" bIns="0" rtlCol="0" anchor="t"/>
          <a:lstStyle/>
          <a:p>
            <a:pPr indent="0" marL="0">
              <a:buNone/>
            </a:pPr>
            <a:r>
              <a:rPr lang="en-US" sz="1100" b="1" dirty="0">
                <a:solidFill>
                  <a:srgbClr val="FFFFFF"/>
                </a:solidFill>
              </a:rPr>
              <a:t>Data quality / content review</a:t>
            </a:r>
            <a:endParaRPr lang="en-US" sz="1100" dirty="0"/>
          </a:p>
        </p:txBody>
      </p:sp>
      <p:sp>
        <p:nvSpPr>
          <p:cNvPr id="32" name="Shape 30"/>
          <p:cNvSpPr/>
          <p:nvPr/>
        </p:nvSpPr>
        <p:spPr>
          <a:xfrm>
            <a:off x="640080" y="5166360"/>
            <a:ext cx="3593592" cy="1005840"/>
          </a:xfrm>
          <a:prstGeom prst="roundRect">
            <a:avLst>
              <a:gd name="adj" fmla="val 10909"/>
            </a:avLst>
          </a:prstGeom>
          <a:solidFill>
            <a:srgbClr val="FFFFFF">
              <a:alpha val="10000"/>
            </a:srgbClr>
          </a:solidFill>
          <a:ln w="9525">
            <a:solidFill>
              <a:srgbClr val="FFFFFF">
                <a:alpha val="25000"/>
              </a:srgbClr>
            </a:solidFill>
            <a:prstDash val="solid"/>
          </a:ln>
        </p:spPr>
      </p:sp>
      <p:sp>
        <p:nvSpPr>
          <p:cNvPr id="33" name="Text 31"/>
          <p:cNvSpPr txBox="1"/>
          <p:nvPr/>
        </p:nvSpPr>
        <p:spPr>
          <a:xfrm>
            <a:off x="868680" y="5257800"/>
            <a:ext cx="1280160" cy="822960"/>
          </a:xfrm>
          <a:prstGeom prst="rect">
            <a:avLst/>
          </a:prstGeom>
          <a:noFill/>
          <a:ln/>
        </p:spPr>
        <p:txBody>
          <a:bodyPr wrap="square" lIns="0" tIns="0" rIns="0" bIns="0" rtlCol="0" anchor="ctr"/>
          <a:lstStyle/>
          <a:p>
            <a:pPr indent="0" marL="0">
              <a:buNone/>
            </a:pPr>
            <a:r>
              <a:rPr lang="en-US" sz="3800" b="1" dirty="0">
                <a:solidFill>
                  <a:srgbClr val="3CC3F0"/>
                </a:solidFill>
              </a:rPr>
              <a:t>106</a:t>
            </a:r>
            <a:endParaRPr lang="en-US" sz="3800" dirty="0"/>
          </a:p>
        </p:txBody>
      </p:sp>
      <p:sp>
        <p:nvSpPr>
          <p:cNvPr id="34" name="Text 32"/>
          <p:cNvSpPr txBox="1"/>
          <p:nvPr/>
        </p:nvSpPr>
        <p:spPr>
          <a:xfrm>
            <a:off x="2240280" y="5349240"/>
            <a:ext cx="1920240" cy="274320"/>
          </a:xfrm>
          <a:prstGeom prst="rect">
            <a:avLst/>
          </a:prstGeom>
          <a:noFill/>
          <a:ln/>
        </p:spPr>
        <p:txBody>
          <a:bodyPr wrap="square" lIns="0" tIns="0" rIns="0" bIns="0" rtlCol="0" anchor="t"/>
          <a:lstStyle/>
          <a:p>
            <a:pPr indent="0" marL="0">
              <a:buNone/>
            </a:pPr>
            <a:r>
              <a:rPr lang="en-US" sz="1300" b="1" dirty="0">
                <a:solidFill>
                  <a:srgbClr val="FFFFFF"/>
                </a:solidFill>
              </a:rPr>
              <a:t>rule rows</a:t>
            </a:r>
            <a:endParaRPr lang="en-US" sz="1300" dirty="0"/>
          </a:p>
        </p:txBody>
      </p:sp>
      <p:sp>
        <p:nvSpPr>
          <p:cNvPr id="35" name="Text 33"/>
          <p:cNvSpPr txBox="1"/>
          <p:nvPr/>
        </p:nvSpPr>
        <p:spPr>
          <a:xfrm>
            <a:off x="2240280" y="5641848"/>
            <a:ext cx="1920240" cy="457200"/>
          </a:xfrm>
          <a:prstGeom prst="rect">
            <a:avLst/>
          </a:prstGeom>
          <a:noFill/>
          <a:ln/>
        </p:spPr>
        <p:txBody>
          <a:bodyPr wrap="square" lIns="0" tIns="0" rIns="0" bIns="0" rtlCol="0" anchor="t"/>
          <a:lstStyle/>
          <a:p>
            <a:pPr indent="0" marL="0">
              <a:buNone/>
            </a:pPr>
            <a:r>
              <a:rPr lang="en-US" sz="1050" dirty="0">
                <a:solidFill>
                  <a:srgbClr val="CFE0FF"/>
                </a:solidFill>
              </a:rPr>
              <a:t>4 rules + 102 routing variants</a:t>
            </a:r>
            <a:endParaRPr lang="en-US" sz="1050" dirty="0"/>
          </a:p>
        </p:txBody>
      </p:sp>
      <p:sp>
        <p:nvSpPr>
          <p:cNvPr id="36" name="Shape 34"/>
          <p:cNvSpPr/>
          <p:nvPr/>
        </p:nvSpPr>
        <p:spPr>
          <a:xfrm>
            <a:off x="4297680" y="5166360"/>
            <a:ext cx="3593592" cy="1005840"/>
          </a:xfrm>
          <a:prstGeom prst="roundRect">
            <a:avLst>
              <a:gd name="adj" fmla="val 10909"/>
            </a:avLst>
          </a:prstGeom>
          <a:solidFill>
            <a:srgbClr val="FFFFFF">
              <a:alpha val="10000"/>
            </a:srgbClr>
          </a:solidFill>
          <a:ln w="9525">
            <a:solidFill>
              <a:srgbClr val="FFFFFF">
                <a:alpha val="25000"/>
              </a:srgbClr>
            </a:solidFill>
            <a:prstDash val="solid"/>
          </a:ln>
        </p:spPr>
      </p:sp>
      <p:sp>
        <p:nvSpPr>
          <p:cNvPr id="37" name="Text 35"/>
          <p:cNvSpPr txBox="1"/>
          <p:nvPr/>
        </p:nvSpPr>
        <p:spPr>
          <a:xfrm>
            <a:off x="4526280" y="5257800"/>
            <a:ext cx="1280160" cy="822960"/>
          </a:xfrm>
          <a:prstGeom prst="rect">
            <a:avLst/>
          </a:prstGeom>
          <a:noFill/>
          <a:ln/>
        </p:spPr>
        <p:txBody>
          <a:bodyPr wrap="square" lIns="0" tIns="0" rIns="0" bIns="0" rtlCol="0" anchor="ctr"/>
          <a:lstStyle/>
          <a:p>
            <a:pPr indent="0" marL="0">
              <a:buNone/>
            </a:pPr>
            <a:r>
              <a:rPr lang="en-US" sz="3800" b="1" dirty="0">
                <a:solidFill>
                  <a:srgbClr val="3CC3F0"/>
                </a:solidFill>
              </a:rPr>
              <a:t>104</a:t>
            </a:r>
            <a:endParaRPr lang="en-US" sz="3800" dirty="0"/>
          </a:p>
        </p:txBody>
      </p:sp>
      <p:sp>
        <p:nvSpPr>
          <p:cNvPr id="38" name="Text 36"/>
          <p:cNvSpPr txBox="1"/>
          <p:nvPr/>
        </p:nvSpPr>
        <p:spPr>
          <a:xfrm>
            <a:off x="5897880" y="5349240"/>
            <a:ext cx="1920240" cy="274320"/>
          </a:xfrm>
          <a:prstGeom prst="rect">
            <a:avLst/>
          </a:prstGeom>
          <a:noFill/>
          <a:ln/>
        </p:spPr>
        <p:txBody>
          <a:bodyPr wrap="square" lIns="0" tIns="0" rIns="0" bIns="0" rtlCol="0" anchor="t"/>
          <a:lstStyle/>
          <a:p>
            <a:pPr indent="0" marL="0">
              <a:buNone/>
            </a:pPr>
            <a:r>
              <a:rPr lang="en-US" sz="1300" b="1" dirty="0">
                <a:solidFill>
                  <a:srgbClr val="FFFFFF"/>
                </a:solidFill>
              </a:rPr>
              <a:t>test values</a:t>
            </a:r>
            <a:endParaRPr lang="en-US" sz="1300" dirty="0"/>
          </a:p>
        </p:txBody>
      </p:sp>
      <p:sp>
        <p:nvSpPr>
          <p:cNvPr id="39" name="Text 37"/>
          <p:cNvSpPr txBox="1"/>
          <p:nvPr/>
        </p:nvSpPr>
        <p:spPr>
          <a:xfrm>
            <a:off x="5897880" y="5641848"/>
            <a:ext cx="1920240" cy="457200"/>
          </a:xfrm>
          <a:prstGeom prst="rect">
            <a:avLst/>
          </a:prstGeom>
          <a:noFill/>
          <a:ln/>
        </p:spPr>
        <p:txBody>
          <a:bodyPr wrap="square" lIns="0" tIns="0" rIns="0" bIns="0" rtlCol="0" anchor="t"/>
          <a:lstStyle/>
          <a:p>
            <a:pPr indent="0" marL="0">
              <a:buNone/>
            </a:pPr>
            <a:r>
              <a:rPr lang="en-US" sz="1050" dirty="0">
                <a:solidFill>
                  <a:srgbClr val="CFE0FF"/>
                </a:solidFill>
              </a:rPr>
              <a:t>26 checks, 16 reading types, by program</a:t>
            </a:r>
            <a:endParaRPr lang="en-US" sz="1050" dirty="0"/>
          </a:p>
        </p:txBody>
      </p:sp>
      <p:sp>
        <p:nvSpPr>
          <p:cNvPr id="40" name="Shape 38"/>
          <p:cNvSpPr/>
          <p:nvPr/>
        </p:nvSpPr>
        <p:spPr>
          <a:xfrm>
            <a:off x="7955280" y="5166360"/>
            <a:ext cx="3593592" cy="1005840"/>
          </a:xfrm>
          <a:prstGeom prst="roundRect">
            <a:avLst>
              <a:gd name="adj" fmla="val 10909"/>
            </a:avLst>
          </a:prstGeom>
          <a:solidFill>
            <a:srgbClr val="FFFFFF">
              <a:alpha val="10000"/>
            </a:srgbClr>
          </a:solidFill>
          <a:ln w="9525">
            <a:solidFill>
              <a:srgbClr val="FFFFFF">
                <a:alpha val="25000"/>
              </a:srgbClr>
            </a:solidFill>
            <a:prstDash val="solid"/>
          </a:ln>
        </p:spPr>
      </p:sp>
      <p:sp>
        <p:nvSpPr>
          <p:cNvPr id="41" name="Text 39"/>
          <p:cNvSpPr txBox="1"/>
          <p:nvPr/>
        </p:nvSpPr>
        <p:spPr>
          <a:xfrm>
            <a:off x="8183880" y="5257800"/>
            <a:ext cx="1280160" cy="822960"/>
          </a:xfrm>
          <a:prstGeom prst="rect">
            <a:avLst/>
          </a:prstGeom>
          <a:noFill/>
          <a:ln/>
        </p:spPr>
        <p:txBody>
          <a:bodyPr wrap="square" lIns="0" tIns="0" rIns="0" bIns="0" rtlCol="0" anchor="ctr"/>
          <a:lstStyle/>
          <a:p>
            <a:pPr indent="0" marL="0">
              <a:buNone/>
            </a:pPr>
            <a:r>
              <a:rPr lang="en-US" sz="3800" b="1" dirty="0">
                <a:solidFill>
                  <a:srgbClr val="3CC3F0"/>
                </a:solidFill>
              </a:rPr>
              <a:t>184</a:t>
            </a:r>
            <a:endParaRPr lang="en-US" sz="3800" dirty="0"/>
          </a:p>
        </p:txBody>
      </p:sp>
      <p:sp>
        <p:nvSpPr>
          <p:cNvPr id="42" name="Text 40"/>
          <p:cNvSpPr txBox="1"/>
          <p:nvPr/>
        </p:nvSpPr>
        <p:spPr>
          <a:xfrm>
            <a:off x="9555480" y="5349240"/>
            <a:ext cx="1920240" cy="274320"/>
          </a:xfrm>
          <a:prstGeom prst="rect">
            <a:avLst/>
          </a:prstGeom>
          <a:noFill/>
          <a:ln/>
        </p:spPr>
        <p:txBody>
          <a:bodyPr wrap="square" lIns="0" tIns="0" rIns="0" bIns="0" rtlCol="0" anchor="t"/>
          <a:lstStyle/>
          <a:p>
            <a:pPr indent="0" marL="0">
              <a:buNone/>
            </a:pPr>
            <a:r>
              <a:rPr lang="en-US" sz="1300" b="1" dirty="0">
                <a:solidFill>
                  <a:srgbClr val="FFFFFF"/>
                </a:solidFill>
              </a:rPr>
              <a:t>words for ER-503</a:t>
            </a:r>
            <a:endParaRPr lang="en-US" sz="1300" dirty="0"/>
          </a:p>
        </p:txBody>
      </p:sp>
      <p:sp>
        <p:nvSpPr>
          <p:cNvPr id="43" name="Text 41"/>
          <p:cNvSpPr txBox="1"/>
          <p:nvPr/>
        </p:nvSpPr>
        <p:spPr>
          <a:xfrm>
            <a:off x="9555480" y="5641848"/>
            <a:ext cx="1920240" cy="457200"/>
          </a:xfrm>
          <a:prstGeom prst="rect">
            <a:avLst/>
          </a:prstGeom>
          <a:noFill/>
          <a:ln/>
        </p:spPr>
        <p:txBody>
          <a:bodyPr wrap="square" lIns="0" tIns="0" rIns="0" bIns="0" rtlCol="0" anchor="t"/>
          <a:lstStyle/>
          <a:p>
            <a:pPr indent="0" marL="0">
              <a:buNone/>
            </a:pPr>
            <a:r>
              <a:rPr lang="en-US" sz="1050" dirty="0">
                <a:solidFill>
                  <a:srgbClr val="CFE0FF"/>
                </a:solidFill>
              </a:rPr>
              <a:t>action and medicine words</a:t>
            </a:r>
            <a:endParaRPr lang="en-US" sz="105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body" hasCustomPrompt="1"/>
          </p:nvPr>
        </p:nvSpPr>
        <p:spPr>
          <a:xfrm>
            <a:off x="640080" y="438912"/>
            <a:ext cx="8229600" cy="274320"/>
          </a:xfrm>
          <a:prstGeom prst="rect">
            <a:avLst/>
          </a:prstGeom>
          <a:noFill/>
          <a:ln/>
        </p:spPr>
        <p:txBody>
          <a:bodyPr wrap="square" lIns="0" tIns="0" rIns="0" bIns="0" rtlCol="0" anchor="t"/>
          <a:lstStyle/>
          <a:p>
            <a:pPr indent="0" marL="0">
              <a:buNone/>
            </a:pPr>
            <a:r>
              <a:rPr lang="en-US" sz="1200" b="1" spc="400" kern="0" dirty="0">
                <a:solidFill>
                  <a:srgbClr val="3CC3F0"/>
                </a:solidFill>
              </a:rPr>
              <a:t>08  ·  KNOWLEDGE &amp; RAG</a:t>
            </a:r>
            <a:endParaRPr lang="en-US" sz="1200" dirty="0"/>
          </a:p>
        </p:txBody>
      </p:sp>
      <p:sp>
        <p:nvSpPr>
          <p:cNvPr id="3" name="Text 2"/>
          <p:cNvSpPr/>
          <p:nvPr>
            <p:ph idx="104" type="title" hasCustomPrompt="1"/>
          </p:nvPr>
        </p:nvSpPr>
        <p:spPr>
          <a:xfrm>
            <a:off x="640080" y="749808"/>
            <a:ext cx="10908792" cy="777240"/>
          </a:xfrm>
          <a:prstGeom prst="rect">
            <a:avLst/>
          </a:prstGeom>
          <a:noFill/>
          <a:ln/>
        </p:spPr>
        <p:txBody>
          <a:bodyPr wrap="square" lIns="0" tIns="0" rIns="0" bIns="0" rtlCol="0" anchor="t"/>
          <a:lstStyle/>
          <a:p>
            <a:pPr algn="l" indent="0" marL="0">
              <a:buNone/>
            </a:pPr>
            <a:r>
              <a:rPr lang="en-US" sz="3200" b="1" dirty="0">
                <a:solidFill>
                  <a:srgbClr val="FFFFFF"/>
                </a:solidFill>
              </a:rPr>
              <a:t>Answers come from approved documents only</a:t>
            </a:r>
            <a:endParaRPr lang="en-US" sz="3200" dirty="0"/>
          </a:p>
        </p:txBody>
      </p:sp>
      <p:sp>
        <p:nvSpPr>
          <p:cNvPr id="4" name="Shape 2"/>
          <p:cNvSpPr/>
          <p:nvPr/>
        </p:nvSpPr>
        <p:spPr>
          <a:xfrm>
            <a:off x="640080" y="1783080"/>
            <a:ext cx="2286000" cy="1828800"/>
          </a:xfrm>
          <a:prstGeom prst="roundRect">
            <a:avLst>
              <a:gd name="adj" fmla="val 6000"/>
            </a:avLst>
          </a:prstGeom>
          <a:solidFill>
            <a:srgbClr val="FFFFFF">
              <a:alpha val="10000"/>
            </a:srgbClr>
          </a:solidFill>
          <a:ln w="9525">
            <a:solidFill>
              <a:srgbClr val="FFFFFF">
                <a:alpha val="25000"/>
              </a:srgbClr>
            </a:solidFill>
            <a:prstDash val="solid"/>
          </a:ln>
        </p:spPr>
      </p:sp>
      <p:sp>
        <p:nvSpPr>
          <p:cNvPr id="5" name="Shape 3"/>
          <p:cNvSpPr/>
          <p:nvPr/>
        </p:nvSpPr>
        <p:spPr>
          <a:xfrm>
            <a:off x="868680" y="2011680"/>
            <a:ext cx="594360" cy="594360"/>
          </a:xfrm>
          <a:prstGeom prst="ellipse">
            <a:avLst/>
          </a:prstGeom>
          <a:solidFill>
            <a:srgbClr val="1547C8"/>
          </a:solidFill>
          <a:ln w="6350">
            <a:solidFill>
              <a:srgbClr val="1547C8"/>
            </a:solidFill>
            <a:prstDash val="solid"/>
          </a:ln>
        </p:spPr>
      </p:sp>
      <p:pic>
        <p:nvPicPr>
          <p:cNvPr id="6" name="Image 0" descr="FaFileAlt">    </p:cNvPr>
          <p:cNvPicPr>
            <a:picLocks noChangeAspect="1"/>
          </p:cNvPicPr>
          <p:nvPr/>
        </p:nvPicPr>
        <p:blipFill>
          <a:blip r:embed="rId1"/>
          <a:stretch>
            <a:fillRect/>
          </a:stretch>
        </p:blipFill>
        <p:spPr>
          <a:xfrm>
            <a:off x="1029157" y="2172157"/>
            <a:ext cx="273406" cy="273406"/>
          </a:xfrm>
          <a:prstGeom prst="rect">
            <a:avLst/>
          </a:prstGeom>
        </p:spPr>
      </p:pic>
      <p:sp>
        <p:nvSpPr>
          <p:cNvPr id="7" name="Text 4"/>
          <p:cNvSpPr txBox="1"/>
          <p:nvPr/>
        </p:nvSpPr>
        <p:spPr>
          <a:xfrm>
            <a:off x="868680" y="2697480"/>
            <a:ext cx="1828800" cy="365760"/>
          </a:xfrm>
          <a:prstGeom prst="rect">
            <a:avLst/>
          </a:prstGeom>
          <a:noFill/>
          <a:ln/>
        </p:spPr>
        <p:txBody>
          <a:bodyPr wrap="square" lIns="0" tIns="0" rIns="0" bIns="0" rtlCol="0" anchor="t"/>
          <a:lstStyle/>
          <a:p>
            <a:pPr indent="0" marL="0">
              <a:buNone/>
            </a:pPr>
            <a:r>
              <a:rPr lang="en-US" sz="1500" b="1" dirty="0">
                <a:solidFill>
                  <a:srgbClr val="FFFFFF"/>
                </a:solidFill>
              </a:rPr>
              <a:t>Documents</a:t>
            </a:r>
            <a:endParaRPr lang="en-US" sz="1500" dirty="0"/>
          </a:p>
        </p:txBody>
      </p:sp>
      <p:sp>
        <p:nvSpPr>
          <p:cNvPr id="8" name="Text 5"/>
          <p:cNvSpPr txBox="1"/>
          <p:nvPr/>
        </p:nvSpPr>
        <p:spPr>
          <a:xfrm>
            <a:off x="868680" y="3063240"/>
            <a:ext cx="1828800" cy="457200"/>
          </a:xfrm>
          <a:prstGeom prst="rect">
            <a:avLst/>
          </a:prstGeom>
          <a:noFill/>
          <a:ln/>
        </p:spPr>
        <p:txBody>
          <a:bodyPr wrap="square" lIns="0" tIns="0" rIns="0" bIns="0" rtlCol="0" anchor="t"/>
          <a:lstStyle/>
          <a:p>
            <a:pPr indent="0" marL="0">
              <a:buNone/>
            </a:pPr>
            <a:r>
              <a:rPr lang="en-US" sz="1100" dirty="0">
                <a:solidFill>
                  <a:srgbClr val="CFE0FF"/>
                </a:solidFill>
              </a:rPr>
              <a:t>Markdown: Approved, Draft or Retired</a:t>
            </a:r>
            <a:endParaRPr lang="en-US" sz="1100" dirty="0"/>
          </a:p>
        </p:txBody>
      </p:sp>
      <p:sp>
        <p:nvSpPr>
          <p:cNvPr id="9" name="Shape 6"/>
          <p:cNvSpPr/>
          <p:nvPr/>
        </p:nvSpPr>
        <p:spPr>
          <a:xfrm>
            <a:off x="2926080" y="2697480"/>
            <a:ext cx="274320" cy="0"/>
          </a:xfrm>
          <a:prstGeom prst="line">
            <a:avLst/>
          </a:prstGeom>
          <a:noFill/>
          <a:ln w="25400">
            <a:solidFill>
              <a:srgbClr val="3CC3F0"/>
            </a:solidFill>
            <a:prstDash val="solid"/>
            <a:tailEnd type="triangle"/>
          </a:ln>
        </p:spPr>
      </p:sp>
      <p:sp>
        <p:nvSpPr>
          <p:cNvPr id="10" name="Shape 7"/>
          <p:cNvSpPr/>
          <p:nvPr/>
        </p:nvSpPr>
        <p:spPr>
          <a:xfrm>
            <a:off x="3200400" y="1783080"/>
            <a:ext cx="2286000" cy="1828800"/>
          </a:xfrm>
          <a:prstGeom prst="roundRect">
            <a:avLst>
              <a:gd name="adj" fmla="val 6000"/>
            </a:avLst>
          </a:prstGeom>
          <a:solidFill>
            <a:srgbClr val="FFFFFF">
              <a:alpha val="10000"/>
            </a:srgbClr>
          </a:solidFill>
          <a:ln w="9525">
            <a:solidFill>
              <a:srgbClr val="FFFFFF">
                <a:alpha val="25000"/>
              </a:srgbClr>
            </a:solidFill>
            <a:prstDash val="solid"/>
          </a:ln>
        </p:spPr>
      </p:sp>
      <p:sp>
        <p:nvSpPr>
          <p:cNvPr id="11" name="Shape 8"/>
          <p:cNvSpPr/>
          <p:nvPr/>
        </p:nvSpPr>
        <p:spPr>
          <a:xfrm>
            <a:off x="3429000" y="2011680"/>
            <a:ext cx="594360" cy="594360"/>
          </a:xfrm>
          <a:prstGeom prst="ellipse">
            <a:avLst/>
          </a:prstGeom>
          <a:solidFill>
            <a:srgbClr val="1547C8"/>
          </a:solidFill>
          <a:ln w="6350">
            <a:solidFill>
              <a:srgbClr val="1547C8"/>
            </a:solidFill>
            <a:prstDash val="solid"/>
          </a:ln>
        </p:spPr>
      </p:sp>
      <p:pic>
        <p:nvPicPr>
          <p:cNvPr id="12" name="Image 1" descr="FaCloud">    </p:cNvPr>
          <p:cNvPicPr>
            <a:picLocks noChangeAspect="1"/>
          </p:cNvPicPr>
          <p:nvPr/>
        </p:nvPicPr>
        <p:blipFill>
          <a:blip r:embed="rId2"/>
          <a:stretch>
            <a:fillRect/>
          </a:stretch>
        </p:blipFill>
        <p:spPr>
          <a:xfrm>
            <a:off x="3589477" y="2172157"/>
            <a:ext cx="273406" cy="273406"/>
          </a:xfrm>
          <a:prstGeom prst="rect">
            <a:avLst/>
          </a:prstGeom>
        </p:spPr>
      </p:pic>
      <p:sp>
        <p:nvSpPr>
          <p:cNvPr id="13" name="Text 9"/>
          <p:cNvSpPr txBox="1"/>
          <p:nvPr/>
        </p:nvSpPr>
        <p:spPr>
          <a:xfrm>
            <a:off x="3429000" y="2697480"/>
            <a:ext cx="1828800" cy="365760"/>
          </a:xfrm>
          <a:prstGeom prst="rect">
            <a:avLst/>
          </a:prstGeom>
          <a:noFill/>
          <a:ln/>
        </p:spPr>
        <p:txBody>
          <a:bodyPr wrap="square" lIns="0" tIns="0" rIns="0" bIns="0" rtlCol="0" anchor="t"/>
          <a:lstStyle/>
          <a:p>
            <a:pPr indent="0" marL="0">
              <a:buNone/>
            </a:pPr>
            <a:r>
              <a:rPr lang="en-US" sz="1500" b="1" dirty="0">
                <a:solidFill>
                  <a:srgbClr val="FFFFFF"/>
                </a:solidFill>
              </a:rPr>
              <a:t>Blob Storage</a:t>
            </a:r>
            <a:endParaRPr lang="en-US" sz="1500" dirty="0"/>
          </a:p>
        </p:txBody>
      </p:sp>
      <p:sp>
        <p:nvSpPr>
          <p:cNvPr id="14" name="Text 10"/>
          <p:cNvSpPr txBox="1"/>
          <p:nvPr/>
        </p:nvSpPr>
        <p:spPr>
          <a:xfrm>
            <a:off x="3429000" y="3063240"/>
            <a:ext cx="1828800" cy="457200"/>
          </a:xfrm>
          <a:prstGeom prst="rect">
            <a:avLst/>
          </a:prstGeom>
          <a:noFill/>
          <a:ln/>
        </p:spPr>
        <p:txBody>
          <a:bodyPr wrap="square" lIns="0" tIns="0" rIns="0" bIns="0" rtlCol="0" anchor="t"/>
          <a:lstStyle/>
          <a:p>
            <a:pPr indent="0" marL="0">
              <a:buNone/>
            </a:pPr>
            <a:r>
              <a:rPr lang="en-US" sz="1100" dirty="0">
                <a:solidFill>
                  <a:srgbClr val="CFE0FF"/>
                </a:solidFill>
              </a:rPr>
              <a:t>Uploaded automatically on save</a:t>
            </a:r>
            <a:endParaRPr lang="en-US" sz="1100" dirty="0"/>
          </a:p>
        </p:txBody>
      </p:sp>
      <p:sp>
        <p:nvSpPr>
          <p:cNvPr id="15" name="Shape 11"/>
          <p:cNvSpPr/>
          <p:nvPr/>
        </p:nvSpPr>
        <p:spPr>
          <a:xfrm>
            <a:off x="5486400" y="2697480"/>
            <a:ext cx="274320" cy="0"/>
          </a:xfrm>
          <a:prstGeom prst="line">
            <a:avLst/>
          </a:prstGeom>
          <a:noFill/>
          <a:ln w="25400">
            <a:solidFill>
              <a:srgbClr val="3CC3F0"/>
            </a:solidFill>
            <a:prstDash val="solid"/>
            <a:tailEnd type="triangle"/>
          </a:ln>
        </p:spPr>
      </p:sp>
      <p:sp>
        <p:nvSpPr>
          <p:cNvPr id="16" name="Shape 12"/>
          <p:cNvSpPr/>
          <p:nvPr/>
        </p:nvSpPr>
        <p:spPr>
          <a:xfrm>
            <a:off x="5760720" y="1783080"/>
            <a:ext cx="3108960" cy="1828800"/>
          </a:xfrm>
          <a:prstGeom prst="roundRect">
            <a:avLst>
              <a:gd name="adj" fmla="val 6000"/>
            </a:avLst>
          </a:prstGeom>
          <a:solidFill>
            <a:srgbClr val="3CC3F0">
              <a:alpha val="16000"/>
            </a:srgbClr>
          </a:solidFill>
          <a:ln w="25400">
            <a:solidFill>
              <a:srgbClr val="3CC3F0"/>
            </a:solidFill>
            <a:prstDash val="solid"/>
          </a:ln>
        </p:spPr>
      </p:sp>
      <p:sp>
        <p:nvSpPr>
          <p:cNvPr id="17" name="Text 13"/>
          <p:cNvSpPr txBox="1"/>
          <p:nvPr/>
        </p:nvSpPr>
        <p:spPr>
          <a:xfrm>
            <a:off x="5943600" y="1920240"/>
            <a:ext cx="2743200" cy="228600"/>
          </a:xfrm>
          <a:prstGeom prst="rect">
            <a:avLst/>
          </a:prstGeom>
          <a:noFill/>
          <a:ln/>
        </p:spPr>
        <p:txBody>
          <a:bodyPr wrap="square" lIns="0" tIns="0" rIns="0" bIns="0" rtlCol="0" anchor="t"/>
          <a:lstStyle/>
          <a:p>
            <a:pPr indent="0" marL="0">
              <a:buNone/>
            </a:pPr>
            <a:r>
              <a:rPr lang="en-US" sz="1000" b="1" spc="100" kern="0" dirty="0">
                <a:solidFill>
                  <a:srgbClr val="3CC3F0"/>
                </a:solidFill>
              </a:rPr>
              <a:t>SWITCH:  EDUCATION_RETRIEVAL</a:t>
            </a:r>
            <a:endParaRPr lang="en-US" sz="1000" dirty="0"/>
          </a:p>
        </p:txBody>
      </p:sp>
      <p:sp>
        <p:nvSpPr>
          <p:cNvPr id="18" name="Shape 14"/>
          <p:cNvSpPr/>
          <p:nvPr/>
        </p:nvSpPr>
        <p:spPr>
          <a:xfrm>
            <a:off x="5943600" y="2286000"/>
            <a:ext cx="2743200" cy="548640"/>
          </a:xfrm>
          <a:prstGeom prst="roundRect">
            <a:avLst>
              <a:gd name="adj" fmla="val 50000"/>
            </a:avLst>
          </a:prstGeom>
          <a:solidFill>
            <a:srgbClr val="1547C8"/>
          </a:solidFill>
          <a:ln w="19050">
            <a:solidFill>
              <a:srgbClr val="3CC3F0"/>
            </a:solidFill>
            <a:prstDash val="solid"/>
          </a:ln>
        </p:spPr>
      </p:sp>
      <p:sp>
        <p:nvSpPr>
          <p:cNvPr id="19" name="Text 15"/>
          <p:cNvSpPr txBox="1"/>
          <p:nvPr/>
        </p:nvSpPr>
        <p:spPr>
          <a:xfrm>
            <a:off x="5943600" y="2286000"/>
            <a:ext cx="2743200" cy="548640"/>
          </a:xfrm>
          <a:prstGeom prst="rect">
            <a:avLst/>
          </a:prstGeom>
          <a:noFill/>
          <a:ln/>
        </p:spPr>
        <p:txBody>
          <a:bodyPr wrap="square" lIns="0" tIns="0" rIns="0" bIns="0" rtlCol="0" anchor="ctr"/>
          <a:lstStyle/>
          <a:p>
            <a:pPr algn="ctr" indent="0" marL="0">
              <a:buNone/>
            </a:pPr>
            <a:r>
              <a:rPr lang="en-US" sz="1300" b="1" dirty="0">
                <a:solidFill>
                  <a:srgbClr val="FFFFFF"/>
                </a:solidFill>
              </a:rPr>
              <a:t>index  ·  Azure AI Search</a:t>
            </a:r>
            <a:endParaRPr lang="en-US" sz="1300" dirty="0"/>
          </a:p>
        </p:txBody>
      </p:sp>
      <p:sp>
        <p:nvSpPr>
          <p:cNvPr id="20" name="Shape 16"/>
          <p:cNvSpPr/>
          <p:nvPr/>
        </p:nvSpPr>
        <p:spPr>
          <a:xfrm>
            <a:off x="5943600" y="2926080"/>
            <a:ext cx="2743200" cy="548640"/>
          </a:xfrm>
          <a:prstGeom prst="roundRect">
            <a:avLst>
              <a:gd name="adj" fmla="val 50000"/>
            </a:avLst>
          </a:prstGeom>
          <a:ln w="15875">
            <a:solidFill>
              <a:srgbClr val="3CC3F0"/>
            </a:solidFill>
            <a:prstDash val="dash"/>
          </a:ln>
        </p:spPr>
      </p:sp>
      <p:sp>
        <p:nvSpPr>
          <p:cNvPr id="21" name="Text 17"/>
          <p:cNvSpPr txBox="1"/>
          <p:nvPr/>
        </p:nvSpPr>
        <p:spPr>
          <a:xfrm>
            <a:off x="5943600" y="2926080"/>
            <a:ext cx="2743200" cy="548640"/>
          </a:xfrm>
          <a:prstGeom prst="rect">
            <a:avLst/>
          </a:prstGeom>
          <a:noFill/>
          <a:ln/>
        </p:spPr>
        <p:txBody>
          <a:bodyPr wrap="square" lIns="0" tIns="0" rIns="0" bIns="0" rtlCol="0" anchor="ctr"/>
          <a:lstStyle/>
          <a:p>
            <a:pPr algn="ctr" indent="0" marL="0">
              <a:buNone/>
            </a:pPr>
            <a:r>
              <a:rPr lang="en-US" sz="1300" b="1" dirty="0">
                <a:solidFill>
                  <a:srgbClr val="CFE0FF"/>
                </a:solidFill>
              </a:rPr>
              <a:t>knowledge_base  ·  Foundry</a:t>
            </a:r>
            <a:endParaRPr lang="en-US" sz="1300" dirty="0"/>
          </a:p>
        </p:txBody>
      </p:sp>
      <p:sp>
        <p:nvSpPr>
          <p:cNvPr id="22" name="Shape 18"/>
          <p:cNvSpPr/>
          <p:nvPr/>
        </p:nvSpPr>
        <p:spPr>
          <a:xfrm>
            <a:off x="8869680" y="2697480"/>
            <a:ext cx="274320" cy="0"/>
          </a:xfrm>
          <a:prstGeom prst="line">
            <a:avLst/>
          </a:prstGeom>
          <a:noFill/>
          <a:ln w="25400">
            <a:solidFill>
              <a:srgbClr val="3CC3F0"/>
            </a:solidFill>
            <a:prstDash val="solid"/>
            <a:tailEnd type="triangle"/>
          </a:ln>
        </p:spPr>
      </p:sp>
      <p:sp>
        <p:nvSpPr>
          <p:cNvPr id="23" name="Shape 19"/>
          <p:cNvSpPr/>
          <p:nvPr/>
        </p:nvSpPr>
        <p:spPr>
          <a:xfrm>
            <a:off x="9144000" y="1783080"/>
            <a:ext cx="2404872" cy="1828800"/>
          </a:xfrm>
          <a:prstGeom prst="roundRect">
            <a:avLst>
              <a:gd name="adj" fmla="val 6000"/>
            </a:avLst>
          </a:prstGeom>
          <a:solidFill>
            <a:srgbClr val="FFFFFF">
              <a:alpha val="10000"/>
            </a:srgbClr>
          </a:solidFill>
          <a:ln w="9525">
            <a:solidFill>
              <a:srgbClr val="FFFFFF">
                <a:alpha val="25000"/>
              </a:srgbClr>
            </a:solidFill>
            <a:prstDash val="solid"/>
          </a:ln>
        </p:spPr>
      </p:sp>
      <p:sp>
        <p:nvSpPr>
          <p:cNvPr id="24" name="Shape 20"/>
          <p:cNvSpPr/>
          <p:nvPr/>
        </p:nvSpPr>
        <p:spPr>
          <a:xfrm>
            <a:off x="9372600" y="2011680"/>
            <a:ext cx="594360" cy="594360"/>
          </a:xfrm>
          <a:prstGeom prst="ellipse">
            <a:avLst/>
          </a:prstGeom>
          <a:solidFill>
            <a:srgbClr val="12A36B"/>
          </a:solidFill>
          <a:ln w="6350">
            <a:solidFill>
              <a:srgbClr val="12A36B"/>
            </a:solidFill>
            <a:prstDash val="solid"/>
          </a:ln>
        </p:spPr>
      </p:sp>
      <p:pic>
        <p:nvPicPr>
          <p:cNvPr id="25" name="Image 2" descr="FaBookMedical">    </p:cNvPr>
          <p:cNvPicPr>
            <a:picLocks noChangeAspect="1"/>
          </p:cNvPicPr>
          <p:nvPr/>
        </p:nvPicPr>
        <p:blipFill>
          <a:blip r:embed="rId3"/>
          <a:stretch>
            <a:fillRect/>
          </a:stretch>
        </p:blipFill>
        <p:spPr>
          <a:xfrm>
            <a:off x="9533077" y="2172157"/>
            <a:ext cx="273406" cy="273406"/>
          </a:xfrm>
          <a:prstGeom prst="rect">
            <a:avLst/>
          </a:prstGeom>
        </p:spPr>
      </p:pic>
      <p:sp>
        <p:nvSpPr>
          <p:cNvPr id="26" name="Text 21"/>
          <p:cNvSpPr txBox="1"/>
          <p:nvPr/>
        </p:nvSpPr>
        <p:spPr>
          <a:xfrm>
            <a:off x="9372600" y="2697480"/>
            <a:ext cx="1947672" cy="365760"/>
          </a:xfrm>
          <a:prstGeom prst="rect">
            <a:avLst/>
          </a:prstGeom>
          <a:noFill/>
          <a:ln/>
        </p:spPr>
        <p:txBody>
          <a:bodyPr wrap="square" lIns="0" tIns="0" rIns="0" bIns="0" rtlCol="0" anchor="t"/>
          <a:lstStyle/>
          <a:p>
            <a:pPr indent="0" marL="0">
              <a:buNone/>
            </a:pPr>
            <a:r>
              <a:rPr lang="en-US" sz="1500" b="1" dirty="0">
                <a:solidFill>
                  <a:srgbClr val="FFFFFF"/>
                </a:solidFill>
              </a:rPr>
              <a:t>Education agent</a:t>
            </a:r>
            <a:endParaRPr lang="en-US" sz="1500" dirty="0"/>
          </a:p>
        </p:txBody>
      </p:sp>
      <p:sp>
        <p:nvSpPr>
          <p:cNvPr id="27" name="Text 22"/>
          <p:cNvSpPr txBox="1"/>
          <p:nvPr/>
        </p:nvSpPr>
        <p:spPr>
          <a:xfrm>
            <a:off x="9372600" y="3063240"/>
            <a:ext cx="1947672" cy="457200"/>
          </a:xfrm>
          <a:prstGeom prst="rect">
            <a:avLst/>
          </a:prstGeom>
          <a:noFill/>
          <a:ln/>
        </p:spPr>
        <p:txBody>
          <a:bodyPr wrap="square" lIns="0" tIns="0" rIns="0" bIns="0" rtlCol="0" anchor="t"/>
          <a:lstStyle/>
          <a:p>
            <a:pPr indent="0" marL="0">
              <a:buNone/>
            </a:pPr>
            <a:r>
              <a:rPr lang="en-US" sz="1100" dirty="0">
                <a:solidFill>
                  <a:srgbClr val="CFE0FF"/>
                </a:solidFill>
              </a:rPr>
              <a:t>Cites article ID and version</a:t>
            </a:r>
            <a:endParaRPr lang="en-US" sz="1100" dirty="0"/>
          </a:p>
        </p:txBody>
      </p:sp>
      <p:sp>
        <p:nvSpPr>
          <p:cNvPr id="28" name="Shape 23"/>
          <p:cNvSpPr/>
          <p:nvPr/>
        </p:nvSpPr>
        <p:spPr>
          <a:xfrm>
            <a:off x="640080" y="3886200"/>
            <a:ext cx="5303520" cy="2194560"/>
          </a:xfrm>
          <a:prstGeom prst="roundRect">
            <a:avLst>
              <a:gd name="adj" fmla="val 5000"/>
            </a:avLst>
          </a:prstGeom>
          <a:solidFill>
            <a:srgbClr val="FFFFFF">
              <a:alpha val="10000"/>
            </a:srgbClr>
          </a:solidFill>
          <a:ln w="9525">
            <a:solidFill>
              <a:srgbClr val="FFFFFF">
                <a:alpha val="25000"/>
              </a:srgbClr>
            </a:solidFill>
            <a:prstDash val="solid"/>
          </a:ln>
        </p:spPr>
      </p:sp>
      <p:sp>
        <p:nvSpPr>
          <p:cNvPr id="29" name="Text 24"/>
          <p:cNvSpPr txBox="1"/>
          <p:nvPr/>
        </p:nvSpPr>
        <p:spPr>
          <a:xfrm>
            <a:off x="868680" y="4050792"/>
            <a:ext cx="3657600" cy="228600"/>
          </a:xfrm>
          <a:prstGeom prst="rect">
            <a:avLst/>
          </a:prstGeom>
          <a:noFill/>
          <a:ln/>
        </p:spPr>
        <p:txBody>
          <a:bodyPr wrap="square" lIns="0" tIns="0" rIns="0" bIns="0" rtlCol="0" anchor="t"/>
          <a:lstStyle/>
          <a:p>
            <a:pPr indent="0" marL="0">
              <a:buNone/>
            </a:pPr>
            <a:r>
              <a:rPr lang="en-US" sz="1000" b="1" spc="200" kern="0" dirty="0">
                <a:solidFill>
                  <a:srgbClr val="3CC3F0"/>
                </a:solidFill>
              </a:rPr>
              <a:t>WHAT LIVES IN BLOB</a:t>
            </a:r>
            <a:endParaRPr lang="en-US" sz="1000" dirty="0"/>
          </a:p>
        </p:txBody>
      </p:sp>
      <p:pic>
        <p:nvPicPr>
          <p:cNvPr id="30" name="Image 3" descr="folder">    </p:cNvPr>
          <p:cNvPicPr>
            <a:picLocks noChangeAspect="1"/>
          </p:cNvPicPr>
          <p:nvPr/>
        </p:nvPicPr>
        <p:blipFill>
          <a:blip r:embed="rId4"/>
          <a:stretch>
            <a:fillRect/>
          </a:stretch>
        </p:blipFill>
        <p:spPr>
          <a:xfrm>
            <a:off x="868680" y="4471416"/>
            <a:ext cx="292608" cy="256032"/>
          </a:xfrm>
          <a:prstGeom prst="rect">
            <a:avLst/>
          </a:prstGeom>
        </p:spPr>
      </p:pic>
      <p:sp>
        <p:nvSpPr>
          <p:cNvPr id="31" name="Text 25"/>
          <p:cNvSpPr txBox="1"/>
          <p:nvPr/>
        </p:nvSpPr>
        <p:spPr>
          <a:xfrm>
            <a:off x="1325880" y="4434840"/>
            <a:ext cx="2103120" cy="365760"/>
          </a:xfrm>
          <a:prstGeom prst="rect">
            <a:avLst/>
          </a:prstGeom>
          <a:noFill/>
          <a:ln/>
        </p:spPr>
        <p:txBody>
          <a:bodyPr wrap="square" lIns="0" tIns="0" rIns="0" bIns="0"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knowledge/</a:t>
            </a:r>
            <a:endParaRPr lang="en-US" sz="1250" dirty="0"/>
          </a:p>
        </p:txBody>
      </p:sp>
      <p:sp>
        <p:nvSpPr>
          <p:cNvPr id="32" name="Text 26"/>
          <p:cNvSpPr txBox="1"/>
          <p:nvPr/>
        </p:nvSpPr>
        <p:spPr>
          <a:xfrm>
            <a:off x="3429000" y="4434840"/>
            <a:ext cx="1737360" cy="365760"/>
          </a:xfrm>
          <a:prstGeom prst="rect">
            <a:avLst/>
          </a:prstGeom>
          <a:noFill/>
          <a:ln/>
        </p:spPr>
        <p:txBody>
          <a:bodyPr wrap="square" lIns="0" tIns="0" rIns="0" bIns="0" rtlCol="0" anchor="ctr"/>
          <a:lstStyle/>
          <a:p>
            <a:pPr indent="0" marL="0">
              <a:buNone/>
            </a:pPr>
            <a:r>
              <a:rPr lang="en-US" sz="1050" dirty="0">
                <a:solidFill>
                  <a:srgbClr val="CFE0FF"/>
                </a:solidFill>
              </a:rPr>
              <a:t>Approved only. Searched</a:t>
            </a:r>
            <a:endParaRPr lang="en-US" sz="1050" dirty="0"/>
          </a:p>
        </p:txBody>
      </p:sp>
      <p:sp>
        <p:nvSpPr>
          <p:cNvPr id="33" name="Text 27"/>
          <p:cNvSpPr txBox="1"/>
          <p:nvPr/>
        </p:nvSpPr>
        <p:spPr>
          <a:xfrm>
            <a:off x="5074920" y="4434840"/>
            <a:ext cx="777240" cy="365760"/>
          </a:xfrm>
          <a:prstGeom prst="rect">
            <a:avLst/>
          </a:prstGeom>
          <a:noFill/>
          <a:ln/>
        </p:spPr>
        <p:txBody>
          <a:bodyPr wrap="square" lIns="0" tIns="0" rIns="0" bIns="0" rtlCol="0" anchor="ctr"/>
          <a:lstStyle/>
          <a:p>
            <a:pPr algn="r" indent="0" marL="0">
              <a:buNone/>
            </a:pPr>
            <a:r>
              <a:rPr lang="en-US" sz="1100" b="1" dirty="0">
                <a:solidFill>
                  <a:srgbClr val="12A36B"/>
                </a:solidFill>
              </a:rPr>
              <a:t>103 docs</a:t>
            </a:r>
            <a:endParaRPr lang="en-US" sz="1100" dirty="0"/>
          </a:p>
        </p:txBody>
      </p:sp>
      <p:pic>
        <p:nvPicPr>
          <p:cNvPr id="34" name="Image 4" descr="folder">    </p:cNvPr>
          <p:cNvPicPr>
            <a:picLocks noChangeAspect="1"/>
          </p:cNvPicPr>
          <p:nvPr/>
        </p:nvPicPr>
        <p:blipFill>
          <a:blip r:embed="rId5"/>
          <a:stretch>
            <a:fillRect/>
          </a:stretch>
        </p:blipFill>
        <p:spPr>
          <a:xfrm>
            <a:off x="868680" y="4992624"/>
            <a:ext cx="292608" cy="256032"/>
          </a:xfrm>
          <a:prstGeom prst="rect">
            <a:avLst/>
          </a:prstGeom>
        </p:spPr>
      </p:pic>
      <p:sp>
        <p:nvSpPr>
          <p:cNvPr id="35" name="Text 28"/>
          <p:cNvSpPr txBox="1"/>
          <p:nvPr/>
        </p:nvSpPr>
        <p:spPr>
          <a:xfrm>
            <a:off x="1325880" y="4956048"/>
            <a:ext cx="2103120" cy="365760"/>
          </a:xfrm>
          <a:prstGeom prst="rect">
            <a:avLst/>
          </a:prstGeom>
          <a:noFill/>
          <a:ln/>
        </p:spPr>
        <p:txBody>
          <a:bodyPr wrap="square" lIns="0" tIns="0" rIns="0" bIns="0"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knowledge-unapproved/</a:t>
            </a:r>
            <a:endParaRPr lang="en-US" sz="1250" dirty="0"/>
          </a:p>
        </p:txBody>
      </p:sp>
      <p:sp>
        <p:nvSpPr>
          <p:cNvPr id="36" name="Text 29"/>
          <p:cNvSpPr txBox="1"/>
          <p:nvPr/>
        </p:nvSpPr>
        <p:spPr>
          <a:xfrm>
            <a:off x="3429000" y="4956048"/>
            <a:ext cx="1737360" cy="365760"/>
          </a:xfrm>
          <a:prstGeom prst="rect">
            <a:avLst/>
          </a:prstGeom>
          <a:noFill/>
          <a:ln/>
        </p:spPr>
        <p:txBody>
          <a:bodyPr wrap="square" lIns="0" tIns="0" rIns="0" bIns="0" rtlCol="0" anchor="ctr"/>
          <a:lstStyle/>
          <a:p>
            <a:pPr indent="0" marL="0">
              <a:buNone/>
            </a:pPr>
            <a:r>
              <a:rPr lang="en-US" sz="1050" dirty="0">
                <a:solidFill>
                  <a:srgbClr val="CFE0FF"/>
                </a:solidFill>
              </a:rPr>
              <a:t>Draft and Retired. Never searched</a:t>
            </a:r>
            <a:endParaRPr lang="en-US" sz="1050" dirty="0"/>
          </a:p>
        </p:txBody>
      </p:sp>
      <p:sp>
        <p:nvSpPr>
          <p:cNvPr id="37" name="Text 30"/>
          <p:cNvSpPr txBox="1"/>
          <p:nvPr/>
        </p:nvSpPr>
        <p:spPr>
          <a:xfrm>
            <a:off x="5074920" y="4956048"/>
            <a:ext cx="777240" cy="365760"/>
          </a:xfrm>
          <a:prstGeom prst="rect">
            <a:avLst/>
          </a:prstGeom>
          <a:noFill/>
          <a:ln/>
        </p:spPr>
        <p:txBody>
          <a:bodyPr wrap="square" lIns="0" tIns="0" rIns="0" bIns="0" rtlCol="0" anchor="ctr"/>
          <a:lstStyle/>
          <a:p>
            <a:pPr algn="r" indent="0" marL="0">
              <a:buNone/>
            </a:pPr>
            <a:r>
              <a:rPr lang="en-US" sz="1100" b="1" dirty="0">
                <a:solidFill>
                  <a:srgbClr val="F5A524"/>
                </a:solidFill>
              </a:rPr>
              <a:t>7 docs</a:t>
            </a:r>
            <a:endParaRPr lang="en-US" sz="1100" dirty="0"/>
          </a:p>
        </p:txBody>
      </p:sp>
      <p:pic>
        <p:nvPicPr>
          <p:cNvPr id="38" name="Image 5" descr="folder">    </p:cNvPr>
          <p:cNvPicPr>
            <a:picLocks noChangeAspect="1"/>
          </p:cNvPicPr>
          <p:nvPr/>
        </p:nvPicPr>
        <p:blipFill>
          <a:blip r:embed="rId6"/>
          <a:stretch>
            <a:fillRect/>
          </a:stretch>
        </p:blipFill>
        <p:spPr>
          <a:xfrm>
            <a:off x="868680" y="5513832"/>
            <a:ext cx="292608" cy="256032"/>
          </a:xfrm>
          <a:prstGeom prst="rect">
            <a:avLst/>
          </a:prstGeom>
        </p:spPr>
      </p:pic>
      <p:sp>
        <p:nvSpPr>
          <p:cNvPr id="39" name="Text 31"/>
          <p:cNvSpPr txBox="1"/>
          <p:nvPr/>
        </p:nvSpPr>
        <p:spPr>
          <a:xfrm>
            <a:off x="1325880" y="5477256"/>
            <a:ext cx="2103120" cy="365760"/>
          </a:xfrm>
          <a:prstGeom prst="rect">
            <a:avLst/>
          </a:prstGeom>
          <a:noFill/>
          <a:ln/>
        </p:spPr>
        <p:txBody>
          <a:bodyPr wrap="square" lIns="0" tIns="0" rIns="0" bIns="0"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data/</a:t>
            </a:r>
            <a:endParaRPr lang="en-US" sz="1250" dirty="0"/>
          </a:p>
        </p:txBody>
      </p:sp>
      <p:sp>
        <p:nvSpPr>
          <p:cNvPr id="40" name="Text 32"/>
          <p:cNvSpPr txBox="1"/>
          <p:nvPr/>
        </p:nvSpPr>
        <p:spPr>
          <a:xfrm>
            <a:off x="3429000" y="5477256"/>
            <a:ext cx="1737360" cy="365760"/>
          </a:xfrm>
          <a:prstGeom prst="rect">
            <a:avLst/>
          </a:prstGeom>
          <a:noFill/>
          <a:ln/>
        </p:spPr>
        <p:txBody>
          <a:bodyPr wrap="square" lIns="0" tIns="0" rIns="0" bIns="0" rtlCol="0" anchor="ctr"/>
          <a:lstStyle/>
          <a:p>
            <a:pPr indent="0" marL="0">
              <a:buNone/>
            </a:pPr>
            <a:r>
              <a:rPr lang="en-US" sz="1050" dirty="0">
                <a:solidFill>
                  <a:srgbClr val="CFE0FF"/>
                </a:solidFill>
              </a:rPr>
              <a:t>The seven CSV tables</a:t>
            </a:r>
            <a:endParaRPr lang="en-US" sz="1050" dirty="0"/>
          </a:p>
        </p:txBody>
      </p:sp>
      <p:sp>
        <p:nvSpPr>
          <p:cNvPr id="41" name="Text 33"/>
          <p:cNvSpPr txBox="1"/>
          <p:nvPr/>
        </p:nvSpPr>
        <p:spPr>
          <a:xfrm>
            <a:off x="5074920" y="5477256"/>
            <a:ext cx="777240" cy="365760"/>
          </a:xfrm>
          <a:prstGeom prst="rect">
            <a:avLst/>
          </a:prstGeom>
          <a:noFill/>
          <a:ln/>
        </p:spPr>
        <p:txBody>
          <a:bodyPr wrap="square" lIns="0" tIns="0" rIns="0" bIns="0" rtlCol="0" anchor="ctr"/>
          <a:lstStyle/>
          <a:p>
            <a:pPr algn="r" indent="0" marL="0">
              <a:buNone/>
            </a:pPr>
            <a:r>
              <a:rPr lang="en-US" sz="1100" b="1" dirty="0">
                <a:solidFill>
                  <a:srgbClr val="3CC3F0"/>
                </a:solidFill>
              </a:rPr>
              <a:t>7 files</a:t>
            </a:r>
            <a:endParaRPr lang="en-US" sz="1100" dirty="0"/>
          </a:p>
        </p:txBody>
      </p:sp>
      <p:sp>
        <p:nvSpPr>
          <p:cNvPr id="42" name="Shape 34"/>
          <p:cNvSpPr/>
          <p:nvPr/>
        </p:nvSpPr>
        <p:spPr>
          <a:xfrm>
            <a:off x="6217920" y="3886200"/>
            <a:ext cx="5330952" cy="2194560"/>
          </a:xfrm>
          <a:prstGeom prst="roundRect">
            <a:avLst>
              <a:gd name="adj" fmla="val 5000"/>
            </a:avLst>
          </a:prstGeom>
          <a:solidFill>
            <a:srgbClr val="FFFFFF">
              <a:alpha val="10000"/>
            </a:srgbClr>
          </a:solidFill>
          <a:ln w="9525">
            <a:solidFill>
              <a:srgbClr val="FFFFFF">
                <a:alpha val="25000"/>
              </a:srgbClr>
            </a:solidFill>
            <a:prstDash val="solid"/>
          </a:ln>
        </p:spPr>
      </p:sp>
      <p:sp>
        <p:nvSpPr>
          <p:cNvPr id="43" name="Text 35"/>
          <p:cNvSpPr txBox="1"/>
          <p:nvPr/>
        </p:nvSpPr>
        <p:spPr>
          <a:xfrm>
            <a:off x="6446520" y="4050792"/>
            <a:ext cx="4572000" cy="228600"/>
          </a:xfrm>
          <a:prstGeom prst="rect">
            <a:avLst/>
          </a:prstGeom>
          <a:noFill/>
          <a:ln/>
        </p:spPr>
        <p:txBody>
          <a:bodyPr wrap="square" lIns="0" tIns="0" rIns="0" bIns="0" rtlCol="0" anchor="t"/>
          <a:lstStyle/>
          <a:p>
            <a:pPr indent="0" marL="0">
              <a:buNone/>
            </a:pPr>
            <a:r>
              <a:rPr lang="en-US" sz="1000" b="1" spc="200" kern="0" dirty="0">
                <a:solidFill>
                  <a:srgbClr val="3CC3F0"/>
                </a:solidFill>
              </a:rPr>
              <a:t>CITATION CHECK BEFORE ANYTHING IS SHOWN</a:t>
            </a:r>
            <a:endParaRPr lang="en-US" sz="1000" dirty="0"/>
          </a:p>
        </p:txBody>
      </p:sp>
      <p:pic>
        <p:nvPicPr>
          <p:cNvPr id="44" name="Image 6" descr="check">    </p:cNvPr>
          <p:cNvPicPr>
            <a:picLocks noChangeAspect="1"/>
          </p:cNvPicPr>
          <p:nvPr/>
        </p:nvPicPr>
        <p:blipFill>
          <a:blip r:embed="rId7"/>
          <a:stretch>
            <a:fillRect/>
          </a:stretch>
        </p:blipFill>
        <p:spPr>
          <a:xfrm>
            <a:off x="6446520" y="4434840"/>
            <a:ext cx="237744" cy="237744"/>
          </a:xfrm>
          <a:prstGeom prst="rect">
            <a:avLst/>
          </a:prstGeom>
        </p:spPr>
      </p:pic>
      <p:sp>
        <p:nvSpPr>
          <p:cNvPr id="45" name="Text 36"/>
          <p:cNvSpPr txBox="1"/>
          <p:nvPr/>
        </p:nvSpPr>
        <p:spPr>
          <a:xfrm>
            <a:off x="6858000" y="4398264"/>
            <a:ext cx="4572000" cy="310896"/>
          </a:xfrm>
          <a:prstGeom prst="rect">
            <a:avLst/>
          </a:prstGeom>
          <a:noFill/>
          <a:ln/>
        </p:spPr>
        <p:txBody>
          <a:bodyPr wrap="square" lIns="0" tIns="0" rIns="0" bIns="0" rtlCol="0" anchor="ctr"/>
          <a:lstStyle/>
          <a:p>
            <a:pPr indent="0" marL="0">
              <a:buNone/>
            </a:pPr>
            <a:r>
              <a:rPr lang="en-US" sz="1250" dirty="0">
                <a:solidFill>
                  <a:srgbClr val="FFFFFF"/>
                </a:solidFill>
              </a:rPr>
              <a:t>The article ID exists in the catalog</a:t>
            </a:r>
            <a:endParaRPr lang="en-US" sz="1250" dirty="0"/>
          </a:p>
        </p:txBody>
      </p:sp>
      <p:pic>
        <p:nvPicPr>
          <p:cNvPr id="46" name="Image 7" descr="check">    </p:cNvPr>
          <p:cNvPicPr>
            <a:picLocks noChangeAspect="1"/>
          </p:cNvPicPr>
          <p:nvPr/>
        </p:nvPicPr>
        <p:blipFill>
          <a:blip r:embed="rId8"/>
          <a:stretch>
            <a:fillRect/>
          </a:stretch>
        </p:blipFill>
        <p:spPr>
          <a:xfrm>
            <a:off x="6446520" y="4764024"/>
            <a:ext cx="237744" cy="237744"/>
          </a:xfrm>
          <a:prstGeom prst="rect">
            <a:avLst/>
          </a:prstGeom>
        </p:spPr>
      </p:pic>
      <p:sp>
        <p:nvSpPr>
          <p:cNvPr id="47" name="Text 37"/>
          <p:cNvSpPr txBox="1"/>
          <p:nvPr/>
        </p:nvSpPr>
        <p:spPr>
          <a:xfrm>
            <a:off x="6858000" y="4727448"/>
            <a:ext cx="4572000" cy="310896"/>
          </a:xfrm>
          <a:prstGeom prst="rect">
            <a:avLst/>
          </a:prstGeom>
          <a:noFill/>
          <a:ln/>
        </p:spPr>
        <p:txBody>
          <a:bodyPr wrap="square" lIns="0" tIns="0" rIns="0" bIns="0" rtlCol="0" anchor="ctr"/>
          <a:lstStyle/>
          <a:p>
            <a:pPr indent="0" marL="0">
              <a:buNone/>
            </a:pPr>
            <a:r>
              <a:rPr lang="en-US" sz="1250" dirty="0">
                <a:solidFill>
                  <a:srgbClr val="FFFFFF"/>
                </a:solidFill>
              </a:rPr>
              <a:t>Its status is Approved</a:t>
            </a:r>
            <a:endParaRPr lang="en-US" sz="1250" dirty="0"/>
          </a:p>
        </p:txBody>
      </p:sp>
      <p:pic>
        <p:nvPicPr>
          <p:cNvPr id="48" name="Image 8" descr="check">    </p:cNvPr>
          <p:cNvPicPr>
            <a:picLocks noChangeAspect="1"/>
          </p:cNvPicPr>
          <p:nvPr/>
        </p:nvPicPr>
        <p:blipFill>
          <a:blip r:embed="rId9"/>
          <a:stretch>
            <a:fillRect/>
          </a:stretch>
        </p:blipFill>
        <p:spPr>
          <a:xfrm>
            <a:off x="6446520" y="5093208"/>
            <a:ext cx="237744" cy="237744"/>
          </a:xfrm>
          <a:prstGeom prst="rect">
            <a:avLst/>
          </a:prstGeom>
        </p:spPr>
      </p:pic>
      <p:sp>
        <p:nvSpPr>
          <p:cNvPr id="49" name="Text 38"/>
          <p:cNvSpPr txBox="1"/>
          <p:nvPr/>
        </p:nvSpPr>
        <p:spPr>
          <a:xfrm>
            <a:off x="6858000" y="5056632"/>
            <a:ext cx="4572000" cy="310896"/>
          </a:xfrm>
          <a:prstGeom prst="rect">
            <a:avLst/>
          </a:prstGeom>
          <a:noFill/>
          <a:ln/>
        </p:spPr>
        <p:txBody>
          <a:bodyPr wrap="square" lIns="0" tIns="0" rIns="0" bIns="0" rtlCol="0" anchor="ctr"/>
          <a:lstStyle/>
          <a:p>
            <a:pPr indent="0" marL="0">
              <a:buNone/>
            </a:pPr>
            <a:r>
              <a:rPr lang="en-US" sz="1250" dirty="0">
                <a:solidFill>
                  <a:srgbClr val="FFFFFF"/>
                </a:solidFill>
              </a:rPr>
              <a:t>It fits the member's program</a:t>
            </a:r>
            <a:endParaRPr lang="en-US" sz="1250" dirty="0"/>
          </a:p>
        </p:txBody>
      </p:sp>
      <p:pic>
        <p:nvPicPr>
          <p:cNvPr id="50" name="Image 9" descr="check">    </p:cNvPr>
          <p:cNvPicPr>
            <a:picLocks noChangeAspect="1"/>
          </p:cNvPicPr>
          <p:nvPr/>
        </p:nvPicPr>
        <p:blipFill>
          <a:blip r:embed="rId10"/>
          <a:stretch>
            <a:fillRect/>
          </a:stretch>
        </p:blipFill>
        <p:spPr>
          <a:xfrm>
            <a:off x="6446520" y="5422392"/>
            <a:ext cx="237744" cy="237744"/>
          </a:xfrm>
          <a:prstGeom prst="rect">
            <a:avLst/>
          </a:prstGeom>
        </p:spPr>
      </p:pic>
      <p:sp>
        <p:nvSpPr>
          <p:cNvPr id="51" name="Text 39"/>
          <p:cNvSpPr txBox="1"/>
          <p:nvPr/>
        </p:nvSpPr>
        <p:spPr>
          <a:xfrm>
            <a:off x="6858000" y="5385816"/>
            <a:ext cx="4572000" cy="310896"/>
          </a:xfrm>
          <a:prstGeom prst="rect">
            <a:avLst/>
          </a:prstGeom>
          <a:noFill/>
          <a:ln/>
        </p:spPr>
        <p:txBody>
          <a:bodyPr wrap="square" lIns="0" tIns="0" rIns="0" bIns="0" rtlCol="0" anchor="ctr"/>
          <a:lstStyle/>
          <a:p>
            <a:pPr indent="0" marL="0">
              <a:buNone/>
            </a:pPr>
            <a:r>
              <a:rPr lang="en-US" sz="1250" dirty="0">
                <a:solidFill>
                  <a:srgbClr val="FFFFFF"/>
                </a:solidFill>
              </a:rPr>
              <a:t>The version comes from the catalog</a:t>
            </a:r>
            <a:endParaRPr lang="en-US" sz="1250" dirty="0"/>
          </a:p>
        </p:txBody>
      </p:sp>
      <p:sp>
        <p:nvSpPr>
          <p:cNvPr id="52" name="Text 40"/>
          <p:cNvSpPr txBox="1"/>
          <p:nvPr/>
        </p:nvSpPr>
        <p:spPr>
          <a:xfrm>
            <a:off x="6446520" y="5733288"/>
            <a:ext cx="4937760" cy="274320"/>
          </a:xfrm>
          <a:prstGeom prst="rect">
            <a:avLst/>
          </a:prstGeom>
          <a:noFill/>
          <a:ln/>
        </p:spPr>
        <p:txBody>
          <a:bodyPr wrap="square" lIns="0" tIns="0" rIns="0" bIns="0" rtlCol="0" anchor="t"/>
          <a:lstStyle/>
          <a:p>
            <a:pPr indent="0" marL="0">
              <a:buNone/>
            </a:pPr>
            <a:r>
              <a:rPr lang="en-US" sz="1100" b="1" dirty="0">
                <a:solidFill>
                  <a:srgbClr val="F5A524"/>
                </a:solidFill>
              </a:rPr>
              <a:t>No valid match: an honest gap, and a staff follow-up. No guessing.</a:t>
            </a:r>
            <a:endParaRPr lang="en-US" sz="11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body" hasCustomPrompt="1"/>
          </p:nvPr>
        </p:nvSpPr>
        <p:spPr>
          <a:xfrm>
            <a:off x="640080" y="438912"/>
            <a:ext cx="8229600" cy="274320"/>
          </a:xfrm>
          <a:prstGeom prst="rect">
            <a:avLst/>
          </a:prstGeom>
          <a:noFill/>
          <a:ln/>
        </p:spPr>
        <p:txBody>
          <a:bodyPr wrap="square" lIns="0" tIns="0" rIns="0" bIns="0" rtlCol="0" anchor="t"/>
          <a:lstStyle/>
          <a:p>
            <a:pPr indent="0" marL="0">
              <a:buNone/>
            </a:pPr>
            <a:r>
              <a:rPr lang="en-US" sz="1200" b="1" spc="400" kern="0" dirty="0">
                <a:solidFill>
                  <a:srgbClr val="3CC3F0"/>
                </a:solidFill>
              </a:rPr>
              <a:t>09  ·  SYNTHETIC DATA AT SCALE</a:t>
            </a:r>
            <a:endParaRPr lang="en-US" sz="1200" dirty="0"/>
          </a:p>
        </p:txBody>
      </p:sp>
      <p:sp>
        <p:nvSpPr>
          <p:cNvPr id="3" name="Text 2"/>
          <p:cNvSpPr/>
          <p:nvPr>
            <p:ph idx="104" type="title" hasCustomPrompt="1"/>
          </p:nvPr>
        </p:nvSpPr>
        <p:spPr>
          <a:xfrm>
            <a:off x="640080" y="749808"/>
            <a:ext cx="10908792" cy="777240"/>
          </a:xfrm>
          <a:prstGeom prst="rect">
            <a:avLst/>
          </a:prstGeom>
          <a:noFill/>
          <a:ln/>
        </p:spPr>
        <p:txBody>
          <a:bodyPr wrap="square" lIns="0" tIns="0" rIns="0" bIns="0" rtlCol="0" anchor="t"/>
          <a:lstStyle/>
          <a:p>
            <a:pPr algn="l" indent="0" marL="0">
              <a:buNone/>
            </a:pPr>
            <a:r>
              <a:rPr lang="en-US" sz="3200" b="1" dirty="0">
                <a:solidFill>
                  <a:srgbClr val="FFFFFF"/>
                </a:solidFill>
              </a:rPr>
              <a:t>A realistic data set, all of it synthetic</a:t>
            </a:r>
            <a:endParaRPr lang="en-US" sz="3200" dirty="0"/>
          </a:p>
        </p:txBody>
      </p:sp>
      <p:sp>
        <p:nvSpPr>
          <p:cNvPr id="4" name="Shape 2"/>
          <p:cNvSpPr/>
          <p:nvPr/>
        </p:nvSpPr>
        <p:spPr>
          <a:xfrm>
            <a:off x="640080" y="1783080"/>
            <a:ext cx="1554480" cy="1280160"/>
          </a:xfrm>
          <a:prstGeom prst="roundRect">
            <a:avLst>
              <a:gd name="adj" fmla="val 8571"/>
            </a:avLst>
          </a:prstGeom>
          <a:solidFill>
            <a:srgbClr val="FFFFFF">
              <a:alpha val="10000"/>
            </a:srgbClr>
          </a:solidFill>
          <a:ln w="9525">
            <a:solidFill>
              <a:srgbClr val="FFFFFF">
                <a:alpha val="25000"/>
              </a:srgbClr>
            </a:solidFill>
            <a:prstDash val="solid"/>
          </a:ln>
        </p:spPr>
      </p:sp>
      <p:sp>
        <p:nvSpPr>
          <p:cNvPr id="5" name="Text 3"/>
          <p:cNvSpPr txBox="1"/>
          <p:nvPr/>
        </p:nvSpPr>
        <p:spPr>
          <a:xfrm>
            <a:off x="640080" y="1965960"/>
            <a:ext cx="1554480" cy="594360"/>
          </a:xfrm>
          <a:prstGeom prst="rect">
            <a:avLst/>
          </a:prstGeom>
          <a:noFill/>
          <a:ln/>
        </p:spPr>
        <p:txBody>
          <a:bodyPr wrap="square" lIns="0" tIns="0" rIns="0" bIns="0" rtlCol="0" anchor="ctr"/>
          <a:lstStyle/>
          <a:p>
            <a:pPr algn="ctr" indent="0" marL="0">
              <a:buNone/>
            </a:pPr>
            <a:r>
              <a:rPr lang="en-US" sz="3000" b="1" dirty="0">
                <a:solidFill>
                  <a:srgbClr val="3CC3F0"/>
                </a:solidFill>
              </a:rPr>
              <a:t>250</a:t>
            </a:r>
            <a:endParaRPr lang="en-US" sz="3000" dirty="0"/>
          </a:p>
        </p:txBody>
      </p:sp>
      <p:sp>
        <p:nvSpPr>
          <p:cNvPr id="6" name="Text 4"/>
          <p:cNvSpPr txBox="1"/>
          <p:nvPr/>
        </p:nvSpPr>
        <p:spPr>
          <a:xfrm>
            <a:off x="640080" y="2606040"/>
            <a:ext cx="1554480" cy="320040"/>
          </a:xfrm>
          <a:prstGeom prst="rect">
            <a:avLst/>
          </a:prstGeom>
          <a:noFill/>
          <a:ln/>
        </p:spPr>
        <p:txBody>
          <a:bodyPr wrap="square" lIns="0" tIns="0" rIns="0" bIns="0" rtlCol="0" anchor="t"/>
          <a:lstStyle/>
          <a:p>
            <a:pPr algn="ctr" indent="0" marL="0">
              <a:buNone/>
            </a:pPr>
            <a:r>
              <a:rPr lang="en-US" sz="1200" dirty="0">
                <a:solidFill>
                  <a:srgbClr val="CFE0FF"/>
                </a:solidFill>
              </a:rPr>
              <a:t>members</a:t>
            </a:r>
            <a:endParaRPr lang="en-US" sz="1200" dirty="0"/>
          </a:p>
        </p:txBody>
      </p:sp>
      <p:sp>
        <p:nvSpPr>
          <p:cNvPr id="7" name="Shape 5"/>
          <p:cNvSpPr/>
          <p:nvPr/>
        </p:nvSpPr>
        <p:spPr>
          <a:xfrm>
            <a:off x="2286000" y="1783080"/>
            <a:ext cx="1554480" cy="1280160"/>
          </a:xfrm>
          <a:prstGeom prst="roundRect">
            <a:avLst>
              <a:gd name="adj" fmla="val 8571"/>
            </a:avLst>
          </a:prstGeom>
          <a:solidFill>
            <a:srgbClr val="FFFFFF">
              <a:alpha val="10000"/>
            </a:srgbClr>
          </a:solidFill>
          <a:ln w="9525">
            <a:solidFill>
              <a:srgbClr val="FFFFFF">
                <a:alpha val="25000"/>
              </a:srgbClr>
            </a:solidFill>
            <a:prstDash val="solid"/>
          </a:ln>
        </p:spPr>
      </p:sp>
      <p:sp>
        <p:nvSpPr>
          <p:cNvPr id="8" name="Text 6"/>
          <p:cNvSpPr txBox="1"/>
          <p:nvPr/>
        </p:nvSpPr>
        <p:spPr>
          <a:xfrm>
            <a:off x="2286000" y="1965960"/>
            <a:ext cx="1554480" cy="594360"/>
          </a:xfrm>
          <a:prstGeom prst="rect">
            <a:avLst/>
          </a:prstGeom>
          <a:noFill/>
          <a:ln/>
        </p:spPr>
        <p:txBody>
          <a:bodyPr wrap="square" lIns="0" tIns="0" rIns="0" bIns="0" rtlCol="0" anchor="ctr"/>
          <a:lstStyle/>
          <a:p>
            <a:pPr algn="ctr" indent="0" marL="0">
              <a:buNone/>
            </a:pPr>
            <a:r>
              <a:rPr lang="en-US" sz="3000" b="1" dirty="0">
                <a:solidFill>
                  <a:srgbClr val="3CC3F0"/>
                </a:solidFill>
              </a:rPr>
              <a:t>5,573</a:t>
            </a:r>
            <a:endParaRPr lang="en-US" sz="3000" dirty="0"/>
          </a:p>
        </p:txBody>
      </p:sp>
      <p:sp>
        <p:nvSpPr>
          <p:cNvPr id="9" name="Text 7"/>
          <p:cNvSpPr txBox="1"/>
          <p:nvPr/>
        </p:nvSpPr>
        <p:spPr>
          <a:xfrm>
            <a:off x="2286000" y="2606040"/>
            <a:ext cx="1554480" cy="320040"/>
          </a:xfrm>
          <a:prstGeom prst="rect">
            <a:avLst/>
          </a:prstGeom>
          <a:noFill/>
          <a:ln/>
        </p:spPr>
        <p:txBody>
          <a:bodyPr wrap="square" lIns="0" tIns="0" rIns="0" bIns="0" rtlCol="0" anchor="t"/>
          <a:lstStyle/>
          <a:p>
            <a:pPr algn="ctr" indent="0" marL="0">
              <a:buNone/>
            </a:pPr>
            <a:r>
              <a:rPr lang="en-US" sz="1200" dirty="0">
                <a:solidFill>
                  <a:srgbClr val="CFE0FF"/>
                </a:solidFill>
              </a:rPr>
              <a:t>readings</a:t>
            </a:r>
            <a:endParaRPr lang="en-US" sz="1200" dirty="0"/>
          </a:p>
        </p:txBody>
      </p:sp>
      <p:sp>
        <p:nvSpPr>
          <p:cNvPr id="10" name="Shape 8"/>
          <p:cNvSpPr/>
          <p:nvPr/>
        </p:nvSpPr>
        <p:spPr>
          <a:xfrm>
            <a:off x="3931920" y="1783080"/>
            <a:ext cx="1554480" cy="1280160"/>
          </a:xfrm>
          <a:prstGeom prst="roundRect">
            <a:avLst>
              <a:gd name="adj" fmla="val 8571"/>
            </a:avLst>
          </a:prstGeom>
          <a:solidFill>
            <a:srgbClr val="FFFFFF">
              <a:alpha val="10000"/>
            </a:srgbClr>
          </a:solidFill>
          <a:ln w="9525">
            <a:solidFill>
              <a:srgbClr val="FFFFFF">
                <a:alpha val="25000"/>
              </a:srgbClr>
            </a:solidFill>
            <a:prstDash val="solid"/>
          </a:ln>
        </p:spPr>
      </p:sp>
      <p:sp>
        <p:nvSpPr>
          <p:cNvPr id="11" name="Text 9"/>
          <p:cNvSpPr txBox="1"/>
          <p:nvPr/>
        </p:nvSpPr>
        <p:spPr>
          <a:xfrm>
            <a:off x="3931920" y="1965960"/>
            <a:ext cx="1554480" cy="594360"/>
          </a:xfrm>
          <a:prstGeom prst="rect">
            <a:avLst/>
          </a:prstGeom>
          <a:noFill/>
          <a:ln/>
        </p:spPr>
        <p:txBody>
          <a:bodyPr wrap="square" lIns="0" tIns="0" rIns="0" bIns="0" rtlCol="0" anchor="ctr"/>
          <a:lstStyle/>
          <a:p>
            <a:pPr algn="ctr" indent="0" marL="0">
              <a:buNone/>
            </a:pPr>
            <a:r>
              <a:rPr lang="en-US" sz="3000" b="1" dirty="0">
                <a:solidFill>
                  <a:srgbClr val="3CC3F0"/>
                </a:solidFill>
              </a:rPr>
              <a:t>657</a:t>
            </a:r>
            <a:endParaRPr lang="en-US" sz="3000" dirty="0"/>
          </a:p>
        </p:txBody>
      </p:sp>
      <p:sp>
        <p:nvSpPr>
          <p:cNvPr id="12" name="Text 10"/>
          <p:cNvSpPr txBox="1"/>
          <p:nvPr/>
        </p:nvSpPr>
        <p:spPr>
          <a:xfrm>
            <a:off x="3931920" y="2606040"/>
            <a:ext cx="1554480" cy="320040"/>
          </a:xfrm>
          <a:prstGeom prst="rect">
            <a:avLst/>
          </a:prstGeom>
          <a:noFill/>
          <a:ln/>
        </p:spPr>
        <p:txBody>
          <a:bodyPr wrap="square" lIns="0" tIns="0" rIns="0" bIns="0" rtlCol="0" anchor="t"/>
          <a:lstStyle/>
          <a:p>
            <a:pPr algn="ctr" indent="0" marL="0">
              <a:buNone/>
            </a:pPr>
            <a:r>
              <a:rPr lang="en-US" sz="1200" dirty="0">
                <a:solidFill>
                  <a:srgbClr val="CFE0FF"/>
                </a:solidFill>
              </a:rPr>
              <a:t>care plan tasks</a:t>
            </a:r>
            <a:endParaRPr lang="en-US" sz="1200" dirty="0"/>
          </a:p>
        </p:txBody>
      </p:sp>
      <p:sp>
        <p:nvSpPr>
          <p:cNvPr id="13" name="Shape 11"/>
          <p:cNvSpPr/>
          <p:nvPr/>
        </p:nvSpPr>
        <p:spPr>
          <a:xfrm>
            <a:off x="5577840" y="1783080"/>
            <a:ext cx="1554480" cy="1280160"/>
          </a:xfrm>
          <a:prstGeom prst="roundRect">
            <a:avLst>
              <a:gd name="adj" fmla="val 8571"/>
            </a:avLst>
          </a:prstGeom>
          <a:solidFill>
            <a:srgbClr val="FFFFFF">
              <a:alpha val="10000"/>
            </a:srgbClr>
          </a:solidFill>
          <a:ln w="9525">
            <a:solidFill>
              <a:srgbClr val="FFFFFF">
                <a:alpha val="25000"/>
              </a:srgbClr>
            </a:solidFill>
            <a:prstDash val="solid"/>
          </a:ln>
        </p:spPr>
      </p:sp>
      <p:sp>
        <p:nvSpPr>
          <p:cNvPr id="14" name="Text 12"/>
          <p:cNvSpPr txBox="1"/>
          <p:nvPr/>
        </p:nvSpPr>
        <p:spPr>
          <a:xfrm>
            <a:off x="5577840" y="1965960"/>
            <a:ext cx="1554480" cy="594360"/>
          </a:xfrm>
          <a:prstGeom prst="rect">
            <a:avLst/>
          </a:prstGeom>
          <a:noFill/>
          <a:ln/>
        </p:spPr>
        <p:txBody>
          <a:bodyPr wrap="square" lIns="0" tIns="0" rIns="0" bIns="0" rtlCol="0" anchor="ctr"/>
          <a:lstStyle/>
          <a:p>
            <a:pPr algn="ctr" indent="0" marL="0">
              <a:buNone/>
            </a:pPr>
            <a:r>
              <a:rPr lang="en-US" sz="3000" b="1" dirty="0">
                <a:solidFill>
                  <a:srgbClr val="3CC3F0"/>
                </a:solidFill>
              </a:rPr>
              <a:t>110</a:t>
            </a:r>
            <a:endParaRPr lang="en-US" sz="3000" dirty="0"/>
          </a:p>
        </p:txBody>
      </p:sp>
      <p:sp>
        <p:nvSpPr>
          <p:cNvPr id="15" name="Text 13"/>
          <p:cNvSpPr txBox="1"/>
          <p:nvPr/>
        </p:nvSpPr>
        <p:spPr>
          <a:xfrm>
            <a:off x="5577840" y="2606040"/>
            <a:ext cx="1554480" cy="320040"/>
          </a:xfrm>
          <a:prstGeom prst="rect">
            <a:avLst/>
          </a:prstGeom>
          <a:noFill/>
          <a:ln/>
        </p:spPr>
        <p:txBody>
          <a:bodyPr wrap="square" lIns="0" tIns="0" rIns="0" bIns="0" rtlCol="0" anchor="t"/>
          <a:lstStyle/>
          <a:p>
            <a:pPr algn="ctr" indent="0" marL="0">
              <a:buNone/>
            </a:pPr>
            <a:r>
              <a:rPr lang="en-US" sz="1200" dirty="0">
                <a:solidFill>
                  <a:srgbClr val="CFE0FF"/>
                </a:solidFill>
              </a:rPr>
              <a:t>articles</a:t>
            </a:r>
            <a:endParaRPr lang="en-US" sz="1200" dirty="0"/>
          </a:p>
        </p:txBody>
      </p:sp>
      <p:sp>
        <p:nvSpPr>
          <p:cNvPr id="16" name="Shape 14"/>
          <p:cNvSpPr/>
          <p:nvPr/>
        </p:nvSpPr>
        <p:spPr>
          <a:xfrm>
            <a:off x="640080" y="3200400"/>
            <a:ext cx="1554480" cy="1280160"/>
          </a:xfrm>
          <a:prstGeom prst="roundRect">
            <a:avLst>
              <a:gd name="adj" fmla="val 8571"/>
            </a:avLst>
          </a:prstGeom>
          <a:solidFill>
            <a:srgbClr val="FFFFFF">
              <a:alpha val="10000"/>
            </a:srgbClr>
          </a:solidFill>
          <a:ln w="9525">
            <a:solidFill>
              <a:srgbClr val="FFFFFF">
                <a:alpha val="25000"/>
              </a:srgbClr>
            </a:solidFill>
            <a:prstDash val="solid"/>
          </a:ln>
        </p:spPr>
      </p:sp>
      <p:sp>
        <p:nvSpPr>
          <p:cNvPr id="17" name="Text 15"/>
          <p:cNvSpPr txBox="1"/>
          <p:nvPr/>
        </p:nvSpPr>
        <p:spPr>
          <a:xfrm>
            <a:off x="640080" y="3383280"/>
            <a:ext cx="1554480" cy="594360"/>
          </a:xfrm>
          <a:prstGeom prst="rect">
            <a:avLst/>
          </a:prstGeom>
          <a:noFill/>
          <a:ln/>
        </p:spPr>
        <p:txBody>
          <a:bodyPr wrap="square" lIns="0" tIns="0" rIns="0" bIns="0" rtlCol="0" anchor="ctr"/>
          <a:lstStyle/>
          <a:p>
            <a:pPr algn="ctr" indent="0" marL="0">
              <a:buNone/>
            </a:pPr>
            <a:r>
              <a:rPr lang="en-US" sz="3000" b="1" dirty="0">
                <a:solidFill>
                  <a:srgbClr val="3CC3F0"/>
                </a:solidFill>
              </a:rPr>
              <a:t>106</a:t>
            </a:r>
            <a:endParaRPr lang="en-US" sz="3000" dirty="0"/>
          </a:p>
        </p:txBody>
      </p:sp>
      <p:sp>
        <p:nvSpPr>
          <p:cNvPr id="18" name="Text 16"/>
          <p:cNvSpPr txBox="1"/>
          <p:nvPr/>
        </p:nvSpPr>
        <p:spPr>
          <a:xfrm>
            <a:off x="640080" y="4023360"/>
            <a:ext cx="1554480" cy="320040"/>
          </a:xfrm>
          <a:prstGeom prst="rect">
            <a:avLst/>
          </a:prstGeom>
          <a:noFill/>
          <a:ln/>
        </p:spPr>
        <p:txBody>
          <a:bodyPr wrap="square" lIns="0" tIns="0" rIns="0" bIns="0" rtlCol="0" anchor="t"/>
          <a:lstStyle/>
          <a:p>
            <a:pPr algn="ctr" indent="0" marL="0">
              <a:buNone/>
            </a:pPr>
            <a:r>
              <a:rPr lang="en-US" sz="1200" dirty="0">
                <a:solidFill>
                  <a:srgbClr val="CFE0FF"/>
                </a:solidFill>
              </a:rPr>
              <a:t>rule rows</a:t>
            </a:r>
            <a:endParaRPr lang="en-US" sz="1200" dirty="0"/>
          </a:p>
        </p:txBody>
      </p:sp>
      <p:sp>
        <p:nvSpPr>
          <p:cNvPr id="19" name="Shape 17"/>
          <p:cNvSpPr/>
          <p:nvPr/>
        </p:nvSpPr>
        <p:spPr>
          <a:xfrm>
            <a:off x="2286000" y="3200400"/>
            <a:ext cx="1554480" cy="1280160"/>
          </a:xfrm>
          <a:prstGeom prst="roundRect">
            <a:avLst>
              <a:gd name="adj" fmla="val 8571"/>
            </a:avLst>
          </a:prstGeom>
          <a:solidFill>
            <a:srgbClr val="FFFFFF">
              <a:alpha val="10000"/>
            </a:srgbClr>
          </a:solidFill>
          <a:ln w="9525">
            <a:solidFill>
              <a:srgbClr val="FFFFFF">
                <a:alpha val="25000"/>
              </a:srgbClr>
            </a:solidFill>
            <a:prstDash val="solid"/>
          </a:ln>
        </p:spPr>
      </p:sp>
      <p:sp>
        <p:nvSpPr>
          <p:cNvPr id="20" name="Text 18"/>
          <p:cNvSpPr txBox="1"/>
          <p:nvPr/>
        </p:nvSpPr>
        <p:spPr>
          <a:xfrm>
            <a:off x="2286000" y="3383280"/>
            <a:ext cx="1554480" cy="594360"/>
          </a:xfrm>
          <a:prstGeom prst="rect">
            <a:avLst/>
          </a:prstGeom>
          <a:noFill/>
          <a:ln/>
        </p:spPr>
        <p:txBody>
          <a:bodyPr wrap="square" lIns="0" tIns="0" rIns="0" bIns="0" rtlCol="0" anchor="ctr"/>
          <a:lstStyle/>
          <a:p>
            <a:pPr algn="ctr" indent="0" marL="0">
              <a:buNone/>
            </a:pPr>
            <a:r>
              <a:rPr lang="en-US" sz="3000" b="1" dirty="0">
                <a:solidFill>
                  <a:srgbClr val="3CC3F0"/>
                </a:solidFill>
              </a:rPr>
              <a:t>104</a:t>
            </a:r>
            <a:endParaRPr lang="en-US" sz="3000" dirty="0"/>
          </a:p>
        </p:txBody>
      </p:sp>
      <p:sp>
        <p:nvSpPr>
          <p:cNvPr id="21" name="Text 19"/>
          <p:cNvSpPr txBox="1"/>
          <p:nvPr/>
        </p:nvSpPr>
        <p:spPr>
          <a:xfrm>
            <a:off x="2286000" y="4023360"/>
            <a:ext cx="1554480" cy="320040"/>
          </a:xfrm>
          <a:prstGeom prst="rect">
            <a:avLst/>
          </a:prstGeom>
          <a:noFill/>
          <a:ln/>
        </p:spPr>
        <p:txBody>
          <a:bodyPr wrap="square" lIns="0" tIns="0" rIns="0" bIns="0" rtlCol="0" anchor="t"/>
          <a:lstStyle/>
          <a:p>
            <a:pPr algn="ctr" indent="0" marL="0">
              <a:buNone/>
            </a:pPr>
            <a:r>
              <a:rPr lang="en-US" sz="1200" dirty="0">
                <a:solidFill>
                  <a:srgbClr val="CFE0FF"/>
                </a:solidFill>
              </a:rPr>
              <a:t>test values</a:t>
            </a:r>
            <a:endParaRPr lang="en-US" sz="1200" dirty="0"/>
          </a:p>
        </p:txBody>
      </p:sp>
      <p:sp>
        <p:nvSpPr>
          <p:cNvPr id="22" name="Shape 20"/>
          <p:cNvSpPr/>
          <p:nvPr/>
        </p:nvSpPr>
        <p:spPr>
          <a:xfrm>
            <a:off x="3931920" y="3200400"/>
            <a:ext cx="1554480" cy="1280160"/>
          </a:xfrm>
          <a:prstGeom prst="roundRect">
            <a:avLst>
              <a:gd name="adj" fmla="val 8571"/>
            </a:avLst>
          </a:prstGeom>
          <a:solidFill>
            <a:srgbClr val="FFFFFF">
              <a:alpha val="10000"/>
            </a:srgbClr>
          </a:solidFill>
          <a:ln w="9525">
            <a:solidFill>
              <a:srgbClr val="FFFFFF">
                <a:alpha val="25000"/>
              </a:srgbClr>
            </a:solidFill>
            <a:prstDash val="solid"/>
          </a:ln>
        </p:spPr>
      </p:sp>
      <p:sp>
        <p:nvSpPr>
          <p:cNvPr id="23" name="Text 21"/>
          <p:cNvSpPr txBox="1"/>
          <p:nvPr/>
        </p:nvSpPr>
        <p:spPr>
          <a:xfrm>
            <a:off x="3931920" y="3383280"/>
            <a:ext cx="1554480" cy="594360"/>
          </a:xfrm>
          <a:prstGeom prst="rect">
            <a:avLst/>
          </a:prstGeom>
          <a:noFill/>
          <a:ln/>
        </p:spPr>
        <p:txBody>
          <a:bodyPr wrap="square" lIns="0" tIns="0" rIns="0" bIns="0" rtlCol="0" anchor="ctr"/>
          <a:lstStyle/>
          <a:p>
            <a:pPr algn="ctr" indent="0" marL="0">
              <a:buNone/>
            </a:pPr>
            <a:r>
              <a:rPr lang="en-US" sz="3000" b="1" dirty="0">
                <a:solidFill>
                  <a:srgbClr val="3CC3F0"/>
                </a:solidFill>
              </a:rPr>
              <a:t>184</a:t>
            </a:r>
            <a:endParaRPr lang="en-US" sz="3000" dirty="0"/>
          </a:p>
        </p:txBody>
      </p:sp>
      <p:sp>
        <p:nvSpPr>
          <p:cNvPr id="24" name="Text 22"/>
          <p:cNvSpPr txBox="1"/>
          <p:nvPr/>
        </p:nvSpPr>
        <p:spPr>
          <a:xfrm>
            <a:off x="3931920" y="4023360"/>
            <a:ext cx="1554480" cy="320040"/>
          </a:xfrm>
          <a:prstGeom prst="rect">
            <a:avLst/>
          </a:prstGeom>
          <a:noFill/>
          <a:ln/>
        </p:spPr>
        <p:txBody>
          <a:bodyPr wrap="square" lIns="0" tIns="0" rIns="0" bIns="0" rtlCol="0" anchor="t"/>
          <a:lstStyle/>
          <a:p>
            <a:pPr algn="ctr" indent="0" marL="0">
              <a:buNone/>
            </a:pPr>
            <a:r>
              <a:rPr lang="en-US" sz="1200" dirty="0">
                <a:solidFill>
                  <a:srgbClr val="CFE0FF"/>
                </a:solidFill>
              </a:rPr>
              <a:t>ER-503 words</a:t>
            </a:r>
            <a:endParaRPr lang="en-US" sz="1200" dirty="0"/>
          </a:p>
        </p:txBody>
      </p:sp>
      <p:sp>
        <p:nvSpPr>
          <p:cNvPr id="25" name="Shape 23"/>
          <p:cNvSpPr/>
          <p:nvPr/>
        </p:nvSpPr>
        <p:spPr>
          <a:xfrm>
            <a:off x="5577840" y="3200400"/>
            <a:ext cx="1554480" cy="1280160"/>
          </a:xfrm>
          <a:prstGeom prst="roundRect">
            <a:avLst>
              <a:gd name="adj" fmla="val 8571"/>
            </a:avLst>
          </a:prstGeom>
          <a:solidFill>
            <a:srgbClr val="FFFFFF">
              <a:alpha val="10000"/>
            </a:srgbClr>
          </a:solidFill>
          <a:ln w="9525">
            <a:solidFill>
              <a:srgbClr val="FFFFFF">
                <a:alpha val="25000"/>
              </a:srgbClr>
            </a:solidFill>
            <a:prstDash val="solid"/>
          </a:ln>
        </p:spPr>
      </p:sp>
      <p:sp>
        <p:nvSpPr>
          <p:cNvPr id="26" name="Text 24"/>
          <p:cNvSpPr txBox="1"/>
          <p:nvPr/>
        </p:nvSpPr>
        <p:spPr>
          <a:xfrm>
            <a:off x="5577840" y="3383280"/>
            <a:ext cx="1554480" cy="594360"/>
          </a:xfrm>
          <a:prstGeom prst="rect">
            <a:avLst/>
          </a:prstGeom>
          <a:noFill/>
          <a:ln/>
        </p:spPr>
        <p:txBody>
          <a:bodyPr wrap="square" lIns="0" tIns="0" rIns="0" bIns="0" rtlCol="0" anchor="ctr"/>
          <a:lstStyle/>
          <a:p>
            <a:pPr algn="ctr" indent="0" marL="0">
              <a:buNone/>
            </a:pPr>
            <a:r>
              <a:rPr lang="en-US" sz="3000" b="1" dirty="0">
                <a:solidFill>
                  <a:srgbClr val="3CC3F0"/>
                </a:solidFill>
              </a:rPr>
              <a:t>16</a:t>
            </a:r>
            <a:endParaRPr lang="en-US" sz="3000" dirty="0"/>
          </a:p>
        </p:txBody>
      </p:sp>
      <p:sp>
        <p:nvSpPr>
          <p:cNvPr id="27" name="Text 25"/>
          <p:cNvSpPr txBox="1"/>
          <p:nvPr/>
        </p:nvSpPr>
        <p:spPr>
          <a:xfrm>
            <a:off x="5577840" y="4023360"/>
            <a:ext cx="1554480" cy="320040"/>
          </a:xfrm>
          <a:prstGeom prst="rect">
            <a:avLst/>
          </a:prstGeom>
          <a:noFill/>
          <a:ln/>
        </p:spPr>
        <p:txBody>
          <a:bodyPr wrap="square" lIns="0" tIns="0" rIns="0" bIns="0" rtlCol="0" anchor="t"/>
          <a:lstStyle/>
          <a:p>
            <a:pPr algn="ctr" indent="0" marL="0">
              <a:buNone/>
            </a:pPr>
            <a:r>
              <a:rPr lang="en-US" sz="1200" dirty="0">
                <a:solidFill>
                  <a:srgbClr val="CFE0FF"/>
                </a:solidFill>
              </a:rPr>
              <a:t>reading types</a:t>
            </a:r>
            <a:endParaRPr lang="en-US" sz="1200" dirty="0"/>
          </a:p>
        </p:txBody>
      </p:sp>
      <p:sp>
        <p:nvSpPr>
          <p:cNvPr id="28" name="Shape 26"/>
          <p:cNvSpPr/>
          <p:nvPr/>
        </p:nvSpPr>
        <p:spPr>
          <a:xfrm>
            <a:off x="640080" y="4754880"/>
            <a:ext cx="6492240" cy="1325880"/>
          </a:xfrm>
          <a:prstGeom prst="roundRect">
            <a:avLst>
              <a:gd name="adj" fmla="val 8276"/>
            </a:avLst>
          </a:prstGeom>
          <a:solidFill>
            <a:srgbClr val="F5A524">
              <a:alpha val="16000"/>
            </a:srgbClr>
          </a:solidFill>
          <a:ln w="15875">
            <a:solidFill>
              <a:srgbClr val="F5A524"/>
            </a:solidFill>
            <a:prstDash val="solid"/>
          </a:ln>
        </p:spPr>
      </p:sp>
      <p:sp>
        <p:nvSpPr>
          <p:cNvPr id="29" name="Text 27"/>
          <p:cNvSpPr txBox="1"/>
          <p:nvPr/>
        </p:nvSpPr>
        <p:spPr>
          <a:xfrm>
            <a:off x="914400" y="4892040"/>
            <a:ext cx="6035040" cy="320040"/>
          </a:xfrm>
          <a:prstGeom prst="rect">
            <a:avLst/>
          </a:prstGeom>
          <a:noFill/>
          <a:ln/>
        </p:spPr>
        <p:txBody>
          <a:bodyPr wrap="square" lIns="0" tIns="0" rIns="0" bIns="0" rtlCol="0" anchor="t"/>
          <a:lstStyle/>
          <a:p>
            <a:pPr indent="0" marL="0">
              <a:buNone/>
            </a:pPr>
            <a:r>
              <a:rPr lang="en-US" sz="1500" b="1" dirty="0">
                <a:solidFill>
                  <a:srgbClr val="F5A524"/>
                </a:solidFill>
              </a:rPr>
              <a:t>Bigger data is not smarter data</a:t>
            </a:r>
            <a:endParaRPr lang="en-US" sz="1500" dirty="0"/>
          </a:p>
        </p:txBody>
      </p:sp>
      <p:sp>
        <p:nvSpPr>
          <p:cNvPr id="30" name="Text 28"/>
          <p:cNvSpPr txBox="1"/>
          <p:nvPr/>
        </p:nvSpPr>
        <p:spPr>
          <a:xfrm>
            <a:off x="914400" y="5257800"/>
            <a:ext cx="5989320" cy="777240"/>
          </a:xfrm>
          <a:prstGeom prst="rect">
            <a:avLst/>
          </a:prstGeom>
          <a:noFill/>
          <a:ln/>
        </p:spPr>
        <p:txBody>
          <a:bodyPr wrap="square" lIns="0" tIns="0" rIns="0" bIns="0" rtlCol="0" anchor="t"/>
          <a:lstStyle/>
          <a:p>
            <a:pPr indent="0" marL="0">
              <a:buNone/>
            </a:pPr>
            <a:r>
              <a:rPr lang="en-US" sz="1150" dirty="0">
                <a:solidFill>
                  <a:srgbClr val="FFFFFF"/>
                </a:solidFill>
              </a:rPr>
              <a:t>The rules and guards decide every answer. More rows make the demo realistic and the tests broader: expired consent, contradictory readings, corrections and overdue tasks are all present.</a:t>
            </a:r>
            <a:endParaRPr lang="en-US" sz="1150" dirty="0"/>
          </a:p>
        </p:txBody>
      </p:sp>
      <p:sp>
        <p:nvSpPr>
          <p:cNvPr id="31" name="Shape 29"/>
          <p:cNvSpPr/>
          <p:nvPr/>
        </p:nvSpPr>
        <p:spPr>
          <a:xfrm>
            <a:off x="7452360" y="1783080"/>
            <a:ext cx="4096512" cy="4297680"/>
          </a:xfrm>
          <a:prstGeom prst="roundRect">
            <a:avLst>
              <a:gd name="adj" fmla="val 2679"/>
            </a:avLst>
          </a:prstGeom>
          <a:solidFill>
            <a:srgbClr val="FFFFFF">
              <a:alpha val="10000"/>
            </a:srgbClr>
          </a:solidFill>
          <a:ln w="9525">
            <a:solidFill>
              <a:srgbClr val="FFFFFF">
                <a:alpha val="25000"/>
              </a:srgbClr>
            </a:solidFill>
            <a:prstDash val="solid"/>
          </a:ln>
        </p:spPr>
      </p:sp>
      <p:sp>
        <p:nvSpPr>
          <p:cNvPr id="32" name="Text 30"/>
          <p:cNvSpPr txBox="1"/>
          <p:nvPr/>
        </p:nvSpPr>
        <p:spPr>
          <a:xfrm>
            <a:off x="7680960" y="1920240"/>
            <a:ext cx="3657600" cy="274320"/>
          </a:xfrm>
          <a:prstGeom prst="rect">
            <a:avLst/>
          </a:prstGeom>
          <a:noFill/>
          <a:ln/>
        </p:spPr>
        <p:txBody>
          <a:bodyPr wrap="square" lIns="0" tIns="0" rIns="0" bIns="0" rtlCol="0" anchor="t"/>
          <a:lstStyle/>
          <a:p>
            <a:pPr indent="0" marL="0">
              <a:buNone/>
            </a:pPr>
            <a:r>
              <a:rPr lang="en-US" sz="1300" b="1" dirty="0">
                <a:solidFill>
                  <a:srgbClr val="FFFFFF"/>
                </a:solidFill>
              </a:rPr>
              <a:t>Consent status of 250 members</a:t>
            </a:r>
            <a:endParaRPr lang="en-US" sz="1300" dirty="0"/>
          </a:p>
        </p:txBody>
      </p:sp>
      <p:graphicFrame>
        <p:nvGraphicFramePr>
          <p:cNvPr id="33" name="Chart 0" descr=""/>
          <p:cNvGraphicFramePr/>
          <p:nvPr/>
        </p:nvGraphicFramePr>
        <p:xfrm>
          <a:off x="7589520" y="2286000"/>
          <a:ext cx="3840480" cy="3611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body" hasCustomPrompt="1"/>
          </p:nvPr>
        </p:nvSpPr>
        <p:spPr>
          <a:xfrm>
            <a:off x="640080" y="438912"/>
            <a:ext cx="8229600" cy="274320"/>
          </a:xfrm>
          <a:prstGeom prst="rect">
            <a:avLst/>
          </a:prstGeom>
          <a:noFill/>
          <a:ln/>
        </p:spPr>
        <p:txBody>
          <a:bodyPr wrap="square" lIns="0" tIns="0" rIns="0" bIns="0" rtlCol="0" anchor="t"/>
          <a:lstStyle/>
          <a:p>
            <a:pPr indent="0" marL="0">
              <a:buNone/>
            </a:pPr>
            <a:r>
              <a:rPr lang="en-US" sz="1200" b="1" spc="400" kern="0" dirty="0">
                <a:solidFill>
                  <a:srgbClr val="3CC3F0"/>
                </a:solidFill>
              </a:rPr>
              <a:t>10  ·  LIVE DEMO</a:t>
            </a:r>
            <a:endParaRPr lang="en-US" sz="1200" dirty="0"/>
          </a:p>
        </p:txBody>
      </p:sp>
      <p:sp>
        <p:nvSpPr>
          <p:cNvPr id="3" name="Text 2"/>
          <p:cNvSpPr/>
          <p:nvPr>
            <p:ph idx="104" type="title" hasCustomPrompt="1"/>
          </p:nvPr>
        </p:nvSpPr>
        <p:spPr>
          <a:xfrm>
            <a:off x="640080" y="749808"/>
            <a:ext cx="10908792" cy="777240"/>
          </a:xfrm>
          <a:prstGeom prst="rect">
            <a:avLst/>
          </a:prstGeom>
          <a:noFill/>
          <a:ln/>
        </p:spPr>
        <p:txBody>
          <a:bodyPr wrap="square" lIns="0" tIns="0" rIns="0" bIns="0" rtlCol="0" anchor="t"/>
          <a:lstStyle/>
          <a:p>
            <a:pPr algn="l" indent="0" marL="0">
              <a:buNone/>
            </a:pPr>
            <a:r>
              <a:rPr lang="en-US" sz="3200" b="1" dirty="0">
                <a:solidFill>
                  <a:srgbClr val="FFFFFF"/>
                </a:solidFill>
              </a:rPr>
              <a:t>A risky request, handled safely</a:t>
            </a:r>
            <a:endParaRPr lang="en-US" sz="3200" dirty="0"/>
          </a:p>
        </p:txBody>
      </p:sp>
      <p:sp>
        <p:nvSpPr>
          <p:cNvPr id="4" name="Shape 2"/>
          <p:cNvSpPr/>
          <p:nvPr/>
        </p:nvSpPr>
        <p:spPr>
          <a:xfrm>
            <a:off x="640080" y="1691640"/>
            <a:ext cx="6766560" cy="4485132"/>
          </a:xfrm>
          <a:prstGeom prst="roundRect">
            <a:avLst>
              <a:gd name="adj" fmla="val 2446"/>
            </a:avLst>
          </a:prstGeom>
          <a:solidFill>
            <a:srgbClr val="0B1B4D"/>
          </a:solidFill>
          <a:ln w="12700">
            <a:solidFill>
              <a:srgbClr val="CFE0FF">
                <a:alpha val="40000"/>
              </a:srgbClr>
            </a:solidFill>
            <a:prstDash val="solid"/>
          </a:ln>
        </p:spPr>
      </p:sp>
      <p:sp>
        <p:nvSpPr>
          <p:cNvPr id="5" name="Shape 3"/>
          <p:cNvSpPr/>
          <p:nvPr/>
        </p:nvSpPr>
        <p:spPr>
          <a:xfrm>
            <a:off x="768096" y="1773936"/>
            <a:ext cx="100584" cy="100584"/>
          </a:xfrm>
          <a:prstGeom prst="ellipse">
            <a:avLst/>
          </a:prstGeom>
          <a:solidFill>
            <a:srgbClr val="E5484D"/>
          </a:solidFill>
          <a:ln w="6350">
            <a:solidFill>
              <a:srgbClr val="E5484D"/>
            </a:solidFill>
            <a:prstDash val="solid"/>
          </a:ln>
        </p:spPr>
      </p:sp>
      <p:sp>
        <p:nvSpPr>
          <p:cNvPr id="6" name="Shape 4"/>
          <p:cNvSpPr/>
          <p:nvPr/>
        </p:nvSpPr>
        <p:spPr>
          <a:xfrm>
            <a:off x="923544" y="1773936"/>
            <a:ext cx="100584" cy="100584"/>
          </a:xfrm>
          <a:prstGeom prst="ellipse">
            <a:avLst/>
          </a:prstGeom>
          <a:solidFill>
            <a:srgbClr val="F5A524"/>
          </a:solidFill>
          <a:ln w="6350">
            <a:solidFill>
              <a:srgbClr val="F5A524"/>
            </a:solidFill>
            <a:prstDash val="solid"/>
          </a:ln>
        </p:spPr>
      </p:sp>
      <p:sp>
        <p:nvSpPr>
          <p:cNvPr id="7" name="Shape 5"/>
          <p:cNvSpPr/>
          <p:nvPr/>
        </p:nvSpPr>
        <p:spPr>
          <a:xfrm>
            <a:off x="1078992" y="1773936"/>
            <a:ext cx="100584" cy="100584"/>
          </a:xfrm>
          <a:prstGeom prst="ellipse">
            <a:avLst/>
          </a:prstGeom>
          <a:solidFill>
            <a:srgbClr val="12A36B"/>
          </a:solidFill>
          <a:ln w="6350">
            <a:solidFill>
              <a:srgbClr val="12A36B"/>
            </a:solidFill>
            <a:prstDash val="solid"/>
          </a:ln>
        </p:spPr>
      </p:sp>
      <p:pic>
        <p:nvPicPr>
          <p:cNvPr id="8" name="Image 0" descr="Screenshot of the Chronic Care Desk app">    </p:cNvPr>
          <p:cNvPicPr>
            <a:picLocks noChangeAspect="1"/>
          </p:cNvPicPr>
          <p:nvPr/>
        </p:nvPicPr>
        <p:blipFill>
          <a:blip r:embed="rId1"/>
          <a:stretch>
            <a:fillRect/>
          </a:stretch>
        </p:blipFill>
        <p:spPr>
          <a:xfrm>
            <a:off x="676656" y="1947672"/>
            <a:ext cx="6693408" cy="4192524"/>
          </a:xfrm>
          <a:prstGeom prst="rect">
            <a:avLst/>
          </a:prstGeom>
        </p:spPr>
      </p:pic>
      <p:sp>
        <p:nvSpPr>
          <p:cNvPr id="9" name="Shape 6"/>
          <p:cNvSpPr/>
          <p:nvPr/>
        </p:nvSpPr>
        <p:spPr>
          <a:xfrm>
            <a:off x="5588118" y="3762710"/>
            <a:ext cx="310896" cy="310896"/>
          </a:xfrm>
          <a:prstGeom prst="ellipse">
            <a:avLst/>
          </a:prstGeom>
          <a:solidFill>
            <a:srgbClr val="F5A524"/>
          </a:solidFill>
          <a:ln w="19050">
            <a:solidFill>
              <a:srgbClr val="FFFFFF"/>
            </a:solidFill>
            <a:prstDash val="solid"/>
          </a:ln>
        </p:spPr>
      </p:sp>
      <p:sp>
        <p:nvSpPr>
          <p:cNvPr id="10" name="Text 7"/>
          <p:cNvSpPr txBox="1"/>
          <p:nvPr/>
        </p:nvSpPr>
        <p:spPr>
          <a:xfrm>
            <a:off x="5588118" y="3762710"/>
            <a:ext cx="310896" cy="310896"/>
          </a:xfrm>
          <a:prstGeom prst="rect">
            <a:avLst/>
          </a:prstGeom>
          <a:noFill/>
          <a:ln/>
        </p:spPr>
        <p:txBody>
          <a:bodyPr wrap="square" lIns="0" tIns="0" rIns="0" bIns="0" rtlCol="0" anchor="ctr"/>
          <a:lstStyle/>
          <a:p>
            <a:pPr algn="ctr" indent="0" marL="0">
              <a:buNone/>
            </a:pPr>
            <a:r>
              <a:rPr lang="en-US" sz="1200" b="1" dirty="0">
                <a:solidFill>
                  <a:srgbClr val="0A1F5C"/>
                </a:solidFill>
              </a:rPr>
              <a:t>1</a:t>
            </a:r>
            <a:endParaRPr lang="en-US" sz="1200" dirty="0"/>
          </a:p>
        </p:txBody>
      </p:sp>
      <p:sp>
        <p:nvSpPr>
          <p:cNvPr id="11" name="Shape 8"/>
          <p:cNvSpPr/>
          <p:nvPr/>
        </p:nvSpPr>
        <p:spPr>
          <a:xfrm>
            <a:off x="6244072" y="4223888"/>
            <a:ext cx="310896" cy="310896"/>
          </a:xfrm>
          <a:prstGeom prst="ellipse">
            <a:avLst/>
          </a:prstGeom>
          <a:solidFill>
            <a:srgbClr val="F5A524"/>
          </a:solidFill>
          <a:ln w="19050">
            <a:solidFill>
              <a:srgbClr val="FFFFFF"/>
            </a:solidFill>
            <a:prstDash val="solid"/>
          </a:ln>
        </p:spPr>
      </p:sp>
      <p:sp>
        <p:nvSpPr>
          <p:cNvPr id="12" name="Text 9"/>
          <p:cNvSpPr txBox="1"/>
          <p:nvPr/>
        </p:nvSpPr>
        <p:spPr>
          <a:xfrm>
            <a:off x="6244072" y="4223888"/>
            <a:ext cx="310896" cy="310896"/>
          </a:xfrm>
          <a:prstGeom prst="rect">
            <a:avLst/>
          </a:prstGeom>
          <a:noFill/>
          <a:ln/>
        </p:spPr>
        <p:txBody>
          <a:bodyPr wrap="square" lIns="0" tIns="0" rIns="0" bIns="0" rtlCol="0" anchor="ctr"/>
          <a:lstStyle/>
          <a:p>
            <a:pPr algn="ctr" indent="0" marL="0">
              <a:buNone/>
            </a:pPr>
            <a:r>
              <a:rPr lang="en-US" sz="1200" b="1" dirty="0">
                <a:solidFill>
                  <a:srgbClr val="0A1F5C"/>
                </a:solidFill>
              </a:rPr>
              <a:t>2</a:t>
            </a:r>
            <a:endParaRPr lang="en-US" sz="1200" dirty="0"/>
          </a:p>
        </p:txBody>
      </p:sp>
      <p:sp>
        <p:nvSpPr>
          <p:cNvPr id="13" name="Shape 10"/>
          <p:cNvSpPr/>
          <p:nvPr/>
        </p:nvSpPr>
        <p:spPr>
          <a:xfrm>
            <a:off x="6277539" y="4957580"/>
            <a:ext cx="310896" cy="310896"/>
          </a:xfrm>
          <a:prstGeom prst="ellipse">
            <a:avLst/>
          </a:prstGeom>
          <a:solidFill>
            <a:srgbClr val="F5A524"/>
          </a:solidFill>
          <a:ln w="19050">
            <a:solidFill>
              <a:srgbClr val="FFFFFF"/>
            </a:solidFill>
            <a:prstDash val="solid"/>
          </a:ln>
        </p:spPr>
      </p:sp>
      <p:sp>
        <p:nvSpPr>
          <p:cNvPr id="14" name="Text 11"/>
          <p:cNvSpPr txBox="1"/>
          <p:nvPr/>
        </p:nvSpPr>
        <p:spPr>
          <a:xfrm>
            <a:off x="6277539" y="4957580"/>
            <a:ext cx="310896" cy="310896"/>
          </a:xfrm>
          <a:prstGeom prst="rect">
            <a:avLst/>
          </a:prstGeom>
          <a:noFill/>
          <a:ln/>
        </p:spPr>
        <p:txBody>
          <a:bodyPr wrap="square" lIns="0" tIns="0" rIns="0" bIns="0" rtlCol="0" anchor="ctr"/>
          <a:lstStyle/>
          <a:p>
            <a:pPr algn="ctr" indent="0" marL="0">
              <a:buNone/>
            </a:pPr>
            <a:r>
              <a:rPr lang="en-US" sz="1200" b="1" dirty="0">
                <a:solidFill>
                  <a:srgbClr val="0A1F5C"/>
                </a:solidFill>
              </a:rPr>
              <a:t>3</a:t>
            </a:r>
            <a:endParaRPr lang="en-US" sz="1200" dirty="0"/>
          </a:p>
        </p:txBody>
      </p:sp>
      <p:sp>
        <p:nvSpPr>
          <p:cNvPr id="15" name="Shape 12"/>
          <p:cNvSpPr/>
          <p:nvPr/>
        </p:nvSpPr>
        <p:spPr>
          <a:xfrm>
            <a:off x="7726680" y="1691640"/>
            <a:ext cx="3822192" cy="1371600"/>
          </a:xfrm>
          <a:prstGeom prst="roundRect">
            <a:avLst>
              <a:gd name="adj" fmla="val 8000"/>
            </a:avLst>
          </a:prstGeom>
          <a:solidFill>
            <a:srgbClr val="FFFFFF">
              <a:alpha val="10000"/>
            </a:srgbClr>
          </a:solidFill>
          <a:ln w="9525">
            <a:solidFill>
              <a:srgbClr val="FFFFFF">
                <a:alpha val="25000"/>
              </a:srgbClr>
            </a:solidFill>
            <a:prstDash val="solid"/>
          </a:ln>
        </p:spPr>
      </p:sp>
      <p:sp>
        <p:nvSpPr>
          <p:cNvPr id="16" name="Shape 13"/>
          <p:cNvSpPr/>
          <p:nvPr/>
        </p:nvSpPr>
        <p:spPr>
          <a:xfrm>
            <a:off x="7955280" y="1920240"/>
            <a:ext cx="365760" cy="365760"/>
          </a:xfrm>
          <a:prstGeom prst="ellipse">
            <a:avLst/>
          </a:prstGeom>
          <a:solidFill>
            <a:srgbClr val="F5A524"/>
          </a:solidFill>
          <a:ln w="6350">
            <a:solidFill>
              <a:srgbClr val="F5A524"/>
            </a:solidFill>
            <a:prstDash val="solid"/>
          </a:ln>
        </p:spPr>
      </p:sp>
      <p:sp>
        <p:nvSpPr>
          <p:cNvPr id="17" name="Text 14"/>
          <p:cNvSpPr txBox="1"/>
          <p:nvPr/>
        </p:nvSpPr>
        <p:spPr>
          <a:xfrm>
            <a:off x="7955280" y="1920240"/>
            <a:ext cx="365760" cy="365760"/>
          </a:xfrm>
          <a:prstGeom prst="rect">
            <a:avLst/>
          </a:prstGeom>
          <a:noFill/>
          <a:ln/>
        </p:spPr>
        <p:txBody>
          <a:bodyPr wrap="square" lIns="0" tIns="0" rIns="0" bIns="0" rtlCol="0" anchor="ctr"/>
          <a:lstStyle/>
          <a:p>
            <a:pPr algn="ctr" indent="0" marL="0">
              <a:buNone/>
            </a:pPr>
            <a:r>
              <a:rPr lang="en-US" sz="1400" b="1" dirty="0">
                <a:solidFill>
                  <a:srgbClr val="0A1F5C"/>
                </a:solidFill>
              </a:rPr>
              <a:t>1</a:t>
            </a:r>
            <a:endParaRPr lang="en-US" sz="1400" dirty="0"/>
          </a:p>
        </p:txBody>
      </p:sp>
      <p:sp>
        <p:nvSpPr>
          <p:cNvPr id="18" name="Text 15"/>
          <p:cNvSpPr txBox="1"/>
          <p:nvPr/>
        </p:nvSpPr>
        <p:spPr>
          <a:xfrm>
            <a:off x="8503920" y="1892808"/>
            <a:ext cx="2926080" cy="411480"/>
          </a:xfrm>
          <a:prstGeom prst="rect">
            <a:avLst/>
          </a:prstGeom>
          <a:noFill/>
          <a:ln/>
        </p:spPr>
        <p:txBody>
          <a:bodyPr wrap="square" lIns="0" tIns="0" rIns="0" bIns="0" rtlCol="0" anchor="ctr"/>
          <a:lstStyle/>
          <a:p>
            <a:pPr indent="0" marL="0">
              <a:buNone/>
            </a:pPr>
            <a:r>
              <a:rPr lang="en-US" sz="1400" b="1" dirty="0">
                <a:solidFill>
                  <a:srgbClr val="FFFFFF"/>
                </a:solidFill>
              </a:rPr>
              <a:t>The ask</a:t>
            </a:r>
            <a:endParaRPr lang="en-US" sz="1400" dirty="0"/>
          </a:p>
        </p:txBody>
      </p:sp>
      <p:sp>
        <p:nvSpPr>
          <p:cNvPr id="19" name="Text 16"/>
          <p:cNvSpPr txBox="1"/>
          <p:nvPr/>
        </p:nvSpPr>
        <p:spPr>
          <a:xfrm>
            <a:off x="7955280" y="2404872"/>
            <a:ext cx="3383280" cy="594360"/>
          </a:xfrm>
          <a:prstGeom prst="rect">
            <a:avLst/>
          </a:prstGeom>
          <a:noFill/>
          <a:ln/>
        </p:spPr>
        <p:txBody>
          <a:bodyPr wrap="square" lIns="0" tIns="0" rIns="0" bIns="0" rtlCol="0" anchor="t"/>
          <a:lstStyle/>
          <a:p>
            <a:pPr indent="0" marL="0">
              <a:buNone/>
            </a:pPr>
            <a:r>
              <a:rPr lang="en-US" sz="1100" dirty="0">
                <a:solidFill>
                  <a:srgbClr val="CFE0FF"/>
                </a:solidFill>
              </a:rPr>
              <a:t>A member asks to increase an insulin dose. Typed as M-101.</a:t>
            </a:r>
            <a:endParaRPr lang="en-US" sz="1100" dirty="0"/>
          </a:p>
        </p:txBody>
      </p:sp>
      <p:sp>
        <p:nvSpPr>
          <p:cNvPr id="20" name="Shape 17"/>
          <p:cNvSpPr/>
          <p:nvPr/>
        </p:nvSpPr>
        <p:spPr>
          <a:xfrm>
            <a:off x="7726680" y="3200400"/>
            <a:ext cx="3822192" cy="1371600"/>
          </a:xfrm>
          <a:prstGeom prst="roundRect">
            <a:avLst>
              <a:gd name="adj" fmla="val 8000"/>
            </a:avLst>
          </a:prstGeom>
          <a:solidFill>
            <a:srgbClr val="FFFFFF">
              <a:alpha val="10000"/>
            </a:srgbClr>
          </a:solidFill>
          <a:ln w="9525">
            <a:solidFill>
              <a:srgbClr val="FFFFFF">
                <a:alpha val="25000"/>
              </a:srgbClr>
            </a:solidFill>
            <a:prstDash val="solid"/>
          </a:ln>
        </p:spPr>
      </p:sp>
      <p:sp>
        <p:nvSpPr>
          <p:cNvPr id="21" name="Shape 18"/>
          <p:cNvSpPr/>
          <p:nvPr/>
        </p:nvSpPr>
        <p:spPr>
          <a:xfrm>
            <a:off x="7955280" y="3429000"/>
            <a:ext cx="365760" cy="365760"/>
          </a:xfrm>
          <a:prstGeom prst="ellipse">
            <a:avLst/>
          </a:prstGeom>
          <a:solidFill>
            <a:srgbClr val="F5A524"/>
          </a:solidFill>
          <a:ln w="6350">
            <a:solidFill>
              <a:srgbClr val="F5A524"/>
            </a:solidFill>
            <a:prstDash val="solid"/>
          </a:ln>
        </p:spPr>
      </p:sp>
      <p:sp>
        <p:nvSpPr>
          <p:cNvPr id="22" name="Text 19"/>
          <p:cNvSpPr txBox="1"/>
          <p:nvPr/>
        </p:nvSpPr>
        <p:spPr>
          <a:xfrm>
            <a:off x="7955280" y="3429000"/>
            <a:ext cx="365760" cy="365760"/>
          </a:xfrm>
          <a:prstGeom prst="rect">
            <a:avLst/>
          </a:prstGeom>
          <a:noFill/>
          <a:ln/>
        </p:spPr>
        <p:txBody>
          <a:bodyPr wrap="square" lIns="0" tIns="0" rIns="0" bIns="0" rtlCol="0" anchor="ctr"/>
          <a:lstStyle/>
          <a:p>
            <a:pPr algn="ctr" indent="0" marL="0">
              <a:buNone/>
            </a:pPr>
            <a:r>
              <a:rPr lang="en-US" sz="1400" b="1" dirty="0">
                <a:solidFill>
                  <a:srgbClr val="0A1F5C"/>
                </a:solidFill>
              </a:rPr>
              <a:t>2</a:t>
            </a:r>
            <a:endParaRPr lang="en-US" sz="1400" dirty="0"/>
          </a:p>
        </p:txBody>
      </p:sp>
      <p:sp>
        <p:nvSpPr>
          <p:cNvPr id="23" name="Text 20"/>
          <p:cNvSpPr txBox="1"/>
          <p:nvPr/>
        </p:nvSpPr>
        <p:spPr>
          <a:xfrm>
            <a:off x="8503920" y="3401568"/>
            <a:ext cx="2926080" cy="411480"/>
          </a:xfrm>
          <a:prstGeom prst="rect">
            <a:avLst/>
          </a:prstGeom>
          <a:noFill/>
          <a:ln/>
        </p:spPr>
        <p:txBody>
          <a:bodyPr wrap="square" lIns="0" tIns="0" rIns="0" bIns="0" rtlCol="0" anchor="ctr"/>
          <a:lstStyle/>
          <a:p>
            <a:pPr indent="0" marL="0">
              <a:buNone/>
            </a:pPr>
            <a:r>
              <a:rPr lang="en-US" sz="1400" b="1" dirty="0">
                <a:solidFill>
                  <a:srgbClr val="FFFFFF"/>
                </a:solidFill>
              </a:rPr>
              <a:t>Declined, with a hand-off</a:t>
            </a:r>
            <a:endParaRPr lang="en-US" sz="1400" dirty="0"/>
          </a:p>
        </p:txBody>
      </p:sp>
      <p:sp>
        <p:nvSpPr>
          <p:cNvPr id="24" name="Text 21"/>
          <p:cNvSpPr txBox="1"/>
          <p:nvPr/>
        </p:nvSpPr>
        <p:spPr>
          <a:xfrm>
            <a:off x="7955280" y="3913632"/>
            <a:ext cx="3383280" cy="594360"/>
          </a:xfrm>
          <a:prstGeom prst="rect">
            <a:avLst/>
          </a:prstGeom>
          <a:noFill/>
          <a:ln/>
        </p:spPr>
        <p:txBody>
          <a:bodyPr wrap="square" lIns="0" tIns="0" rIns="0" bIns="0" rtlCol="0" anchor="t"/>
          <a:lstStyle/>
          <a:p>
            <a:pPr indent="0" marL="0">
              <a:buNone/>
            </a:pPr>
            <a:r>
              <a:rPr lang="en-US" sz="1100" dirty="0">
                <a:solidFill>
                  <a:srgbClr val="CFE0FF"/>
                </a:solidFill>
              </a:rPr>
              <a:t>ER-503 matched in code: no dosing talk, directed to a clinician, staff told.</a:t>
            </a:r>
            <a:endParaRPr lang="en-US" sz="1100" dirty="0"/>
          </a:p>
        </p:txBody>
      </p:sp>
      <p:sp>
        <p:nvSpPr>
          <p:cNvPr id="25" name="Shape 22"/>
          <p:cNvSpPr/>
          <p:nvPr/>
        </p:nvSpPr>
        <p:spPr>
          <a:xfrm>
            <a:off x="7726680" y="4709160"/>
            <a:ext cx="3822192" cy="1371600"/>
          </a:xfrm>
          <a:prstGeom prst="roundRect">
            <a:avLst>
              <a:gd name="adj" fmla="val 8000"/>
            </a:avLst>
          </a:prstGeom>
          <a:solidFill>
            <a:srgbClr val="FFFFFF">
              <a:alpha val="10000"/>
            </a:srgbClr>
          </a:solidFill>
          <a:ln w="9525">
            <a:solidFill>
              <a:srgbClr val="FFFFFF">
                <a:alpha val="25000"/>
              </a:srgbClr>
            </a:solidFill>
            <a:prstDash val="solid"/>
          </a:ln>
        </p:spPr>
      </p:sp>
      <p:sp>
        <p:nvSpPr>
          <p:cNvPr id="26" name="Shape 23"/>
          <p:cNvSpPr/>
          <p:nvPr/>
        </p:nvSpPr>
        <p:spPr>
          <a:xfrm>
            <a:off x="7955280" y="4937760"/>
            <a:ext cx="365760" cy="365760"/>
          </a:xfrm>
          <a:prstGeom prst="ellipse">
            <a:avLst/>
          </a:prstGeom>
          <a:solidFill>
            <a:srgbClr val="F5A524"/>
          </a:solidFill>
          <a:ln w="6350">
            <a:solidFill>
              <a:srgbClr val="F5A524"/>
            </a:solidFill>
            <a:prstDash val="solid"/>
          </a:ln>
        </p:spPr>
      </p:sp>
      <p:sp>
        <p:nvSpPr>
          <p:cNvPr id="27" name="Text 24"/>
          <p:cNvSpPr txBox="1"/>
          <p:nvPr/>
        </p:nvSpPr>
        <p:spPr>
          <a:xfrm>
            <a:off x="7955280" y="4937760"/>
            <a:ext cx="365760" cy="365760"/>
          </a:xfrm>
          <a:prstGeom prst="rect">
            <a:avLst/>
          </a:prstGeom>
          <a:noFill/>
          <a:ln/>
        </p:spPr>
        <p:txBody>
          <a:bodyPr wrap="square" lIns="0" tIns="0" rIns="0" bIns="0" rtlCol="0" anchor="ctr"/>
          <a:lstStyle/>
          <a:p>
            <a:pPr algn="ctr" indent="0" marL="0">
              <a:buNone/>
            </a:pPr>
            <a:r>
              <a:rPr lang="en-US" sz="1400" b="1" dirty="0">
                <a:solidFill>
                  <a:srgbClr val="0A1F5C"/>
                </a:solidFill>
              </a:rPr>
              <a:t>3</a:t>
            </a:r>
            <a:endParaRPr lang="en-US" sz="1400" dirty="0"/>
          </a:p>
        </p:txBody>
      </p:sp>
      <p:sp>
        <p:nvSpPr>
          <p:cNvPr id="28" name="Text 25"/>
          <p:cNvSpPr txBox="1"/>
          <p:nvPr/>
        </p:nvSpPr>
        <p:spPr>
          <a:xfrm>
            <a:off x="8503920" y="4910328"/>
            <a:ext cx="2926080" cy="411480"/>
          </a:xfrm>
          <a:prstGeom prst="rect">
            <a:avLst/>
          </a:prstGeom>
          <a:noFill/>
          <a:ln/>
        </p:spPr>
        <p:txBody>
          <a:bodyPr wrap="square" lIns="0" tIns="0" rIns="0" bIns="0" rtlCol="0" anchor="ctr"/>
          <a:lstStyle/>
          <a:p>
            <a:pPr indent="0" marL="0">
              <a:buNone/>
            </a:pPr>
            <a:r>
              <a:rPr lang="en-US" sz="1400" b="1" dirty="0">
                <a:solidFill>
                  <a:srgbClr val="FFFFFF"/>
                </a:solidFill>
              </a:rPr>
              <a:t>Disclaimer on every reply</a:t>
            </a:r>
            <a:endParaRPr lang="en-US" sz="1400" dirty="0"/>
          </a:p>
        </p:txBody>
      </p:sp>
      <p:sp>
        <p:nvSpPr>
          <p:cNvPr id="29" name="Text 26"/>
          <p:cNvSpPr txBox="1"/>
          <p:nvPr/>
        </p:nvSpPr>
        <p:spPr>
          <a:xfrm>
            <a:off x="7955280" y="5422392"/>
            <a:ext cx="3383280" cy="594360"/>
          </a:xfrm>
          <a:prstGeom prst="rect">
            <a:avLst/>
          </a:prstGeom>
          <a:noFill/>
          <a:ln/>
        </p:spPr>
        <p:txBody>
          <a:bodyPr wrap="square" lIns="0" tIns="0" rIns="0" bIns="0" rtlCol="0" anchor="t"/>
          <a:lstStyle/>
          <a:p>
            <a:pPr indent="0" marL="0">
              <a:buNone/>
            </a:pPr>
            <a:r>
              <a:rPr lang="en-US" sz="1100" dirty="0">
                <a:solidFill>
                  <a:srgbClr val="CFE0FF"/>
                </a:solidFill>
              </a:rPr>
              <a:t>Educational use only. Not a clinician. Care team decides.</a:t>
            </a:r>
            <a:endParaRPr lang="en-US" sz="1100" dirty="0"/>
          </a:p>
        </p:txBody>
      </p:sp>
      <p:sp>
        <p:nvSpPr>
          <p:cNvPr id="30" name="Text 27"/>
          <p:cNvSpPr txBox="1"/>
          <p:nvPr/>
        </p:nvSpPr>
        <p:spPr>
          <a:xfrm>
            <a:off x="7726680" y="6217920"/>
            <a:ext cx="3840480" cy="182880"/>
          </a:xfrm>
          <a:prstGeom prst="rect">
            <a:avLst/>
          </a:prstGeom>
          <a:noFill/>
          <a:ln/>
        </p:spPr>
        <p:txBody>
          <a:bodyPr wrap="square" lIns="0" tIns="0" rIns="0" bIns="0" rtlCol="0" anchor="t"/>
          <a:lstStyle/>
          <a:p>
            <a:pPr indent="0" marL="0">
              <a:buNone/>
            </a:pPr>
            <a:r>
              <a:rPr lang="en-US" sz="1000" dirty="0">
                <a:solidFill>
                  <a:srgbClr val="A9BBEA"/>
                </a:solidFill>
              </a:rPr>
              <a:t>Real screenshot of the running app (offline templates mode).</a:t>
            </a:r>
            <a:endParaRPr lang="en-US" sz="10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body" hasCustomPrompt="1"/>
          </p:nvPr>
        </p:nvSpPr>
        <p:spPr>
          <a:xfrm>
            <a:off x="640080" y="438912"/>
            <a:ext cx="8229600" cy="274320"/>
          </a:xfrm>
          <a:prstGeom prst="rect">
            <a:avLst/>
          </a:prstGeom>
          <a:noFill/>
          <a:ln/>
        </p:spPr>
        <p:txBody>
          <a:bodyPr wrap="square" lIns="0" tIns="0" rIns="0" bIns="0" rtlCol="0" anchor="t"/>
          <a:lstStyle/>
          <a:p>
            <a:pPr indent="0" marL="0">
              <a:buNone/>
            </a:pPr>
            <a:r>
              <a:rPr lang="en-US" sz="1200" b="1" spc="400" kern="0" dirty="0">
                <a:solidFill>
                  <a:srgbClr val="3CC3F0"/>
                </a:solidFill>
              </a:rPr>
              <a:t>11  ·  THE HOSPITAL DESK</a:t>
            </a:r>
            <a:endParaRPr lang="en-US" sz="1200" dirty="0"/>
          </a:p>
        </p:txBody>
      </p:sp>
      <p:sp>
        <p:nvSpPr>
          <p:cNvPr id="3" name="Text 2"/>
          <p:cNvSpPr/>
          <p:nvPr>
            <p:ph idx="104" type="title" hasCustomPrompt="1"/>
          </p:nvPr>
        </p:nvSpPr>
        <p:spPr>
          <a:xfrm>
            <a:off x="640080" y="749808"/>
            <a:ext cx="10908792" cy="777240"/>
          </a:xfrm>
          <a:prstGeom prst="rect">
            <a:avLst/>
          </a:prstGeom>
          <a:noFill/>
          <a:ln/>
        </p:spPr>
        <p:txBody>
          <a:bodyPr wrap="square" lIns="0" tIns="0" rIns="0" bIns="0" rtlCol="0" anchor="t"/>
          <a:lstStyle/>
          <a:p>
            <a:pPr algn="l" indent="0" marL="0">
              <a:buNone/>
            </a:pPr>
            <a:r>
              <a:rPr lang="en-US" sz="3200" b="1" dirty="0">
                <a:solidFill>
                  <a:srgbClr val="FFFFFF"/>
                </a:solidFill>
              </a:rPr>
              <a:t>One system, two sides of the desk</a:t>
            </a:r>
            <a:endParaRPr lang="en-US" sz="3200" dirty="0"/>
          </a:p>
        </p:txBody>
      </p:sp>
      <p:sp>
        <p:nvSpPr>
          <p:cNvPr id="4" name="Shape 2"/>
          <p:cNvSpPr/>
          <p:nvPr/>
        </p:nvSpPr>
        <p:spPr>
          <a:xfrm>
            <a:off x="640080" y="2103120"/>
            <a:ext cx="5349240" cy="3450717"/>
          </a:xfrm>
          <a:prstGeom prst="roundRect">
            <a:avLst>
              <a:gd name="adj" fmla="val 3180"/>
            </a:avLst>
          </a:prstGeom>
          <a:solidFill>
            <a:srgbClr val="0B1B4D"/>
          </a:solidFill>
          <a:ln w="12700">
            <a:solidFill>
              <a:srgbClr val="CFE0FF">
                <a:alpha val="40000"/>
              </a:srgbClr>
            </a:solidFill>
            <a:prstDash val="solid"/>
          </a:ln>
        </p:spPr>
      </p:sp>
      <p:sp>
        <p:nvSpPr>
          <p:cNvPr id="5" name="Shape 3"/>
          <p:cNvSpPr/>
          <p:nvPr/>
        </p:nvSpPr>
        <p:spPr>
          <a:xfrm>
            <a:off x="768096" y="2185416"/>
            <a:ext cx="100584" cy="100584"/>
          </a:xfrm>
          <a:prstGeom prst="ellipse">
            <a:avLst/>
          </a:prstGeom>
          <a:solidFill>
            <a:srgbClr val="E5484D"/>
          </a:solidFill>
          <a:ln w="6350">
            <a:solidFill>
              <a:srgbClr val="E5484D"/>
            </a:solidFill>
            <a:prstDash val="solid"/>
          </a:ln>
        </p:spPr>
      </p:sp>
      <p:sp>
        <p:nvSpPr>
          <p:cNvPr id="6" name="Shape 4"/>
          <p:cNvSpPr/>
          <p:nvPr/>
        </p:nvSpPr>
        <p:spPr>
          <a:xfrm>
            <a:off x="923544" y="2185416"/>
            <a:ext cx="100584" cy="100584"/>
          </a:xfrm>
          <a:prstGeom prst="ellipse">
            <a:avLst/>
          </a:prstGeom>
          <a:solidFill>
            <a:srgbClr val="F5A524"/>
          </a:solidFill>
          <a:ln w="6350">
            <a:solidFill>
              <a:srgbClr val="F5A524"/>
            </a:solidFill>
            <a:prstDash val="solid"/>
          </a:ln>
        </p:spPr>
      </p:sp>
      <p:sp>
        <p:nvSpPr>
          <p:cNvPr id="7" name="Shape 5"/>
          <p:cNvSpPr/>
          <p:nvPr/>
        </p:nvSpPr>
        <p:spPr>
          <a:xfrm>
            <a:off x="1078992" y="2185416"/>
            <a:ext cx="100584" cy="100584"/>
          </a:xfrm>
          <a:prstGeom prst="ellipse">
            <a:avLst/>
          </a:prstGeom>
          <a:solidFill>
            <a:srgbClr val="12A36B"/>
          </a:solidFill>
          <a:ln w="6350">
            <a:solidFill>
              <a:srgbClr val="12A36B"/>
            </a:solidFill>
            <a:prstDash val="solid"/>
          </a:ln>
        </p:spPr>
      </p:sp>
      <p:pic>
        <p:nvPicPr>
          <p:cNvPr id="8" name="Image 0" descr="Screenshot of the Chronic Care Desk app">    </p:cNvPr>
          <p:cNvPicPr>
            <a:picLocks noChangeAspect="1"/>
          </p:cNvPicPr>
          <p:nvPr/>
        </p:nvPicPr>
        <p:blipFill>
          <a:blip r:embed="rId1"/>
          <a:stretch>
            <a:fillRect/>
          </a:stretch>
        </p:blipFill>
        <p:spPr>
          <a:xfrm>
            <a:off x="676656" y="2359152"/>
            <a:ext cx="5276088" cy="3158109"/>
          </a:xfrm>
          <a:prstGeom prst="rect">
            <a:avLst/>
          </a:prstGeom>
        </p:spPr>
      </p:pic>
      <p:sp>
        <p:nvSpPr>
          <p:cNvPr id="9" name="Shape 6"/>
          <p:cNvSpPr/>
          <p:nvPr/>
        </p:nvSpPr>
        <p:spPr>
          <a:xfrm>
            <a:off x="6199632" y="2103120"/>
            <a:ext cx="5349240" cy="3450717"/>
          </a:xfrm>
          <a:prstGeom prst="roundRect">
            <a:avLst>
              <a:gd name="adj" fmla="val 3180"/>
            </a:avLst>
          </a:prstGeom>
          <a:solidFill>
            <a:srgbClr val="0B1B4D"/>
          </a:solidFill>
          <a:ln w="12700">
            <a:solidFill>
              <a:srgbClr val="CFE0FF">
                <a:alpha val="40000"/>
              </a:srgbClr>
            </a:solidFill>
            <a:prstDash val="solid"/>
          </a:ln>
        </p:spPr>
      </p:sp>
      <p:sp>
        <p:nvSpPr>
          <p:cNvPr id="10" name="Shape 7"/>
          <p:cNvSpPr/>
          <p:nvPr/>
        </p:nvSpPr>
        <p:spPr>
          <a:xfrm>
            <a:off x="6327648" y="2185416"/>
            <a:ext cx="100584" cy="100584"/>
          </a:xfrm>
          <a:prstGeom prst="ellipse">
            <a:avLst/>
          </a:prstGeom>
          <a:solidFill>
            <a:srgbClr val="E5484D"/>
          </a:solidFill>
          <a:ln w="6350">
            <a:solidFill>
              <a:srgbClr val="E5484D"/>
            </a:solidFill>
            <a:prstDash val="solid"/>
          </a:ln>
        </p:spPr>
      </p:sp>
      <p:sp>
        <p:nvSpPr>
          <p:cNvPr id="11" name="Shape 8"/>
          <p:cNvSpPr/>
          <p:nvPr/>
        </p:nvSpPr>
        <p:spPr>
          <a:xfrm>
            <a:off x="6483096" y="2185416"/>
            <a:ext cx="100584" cy="100584"/>
          </a:xfrm>
          <a:prstGeom prst="ellipse">
            <a:avLst/>
          </a:prstGeom>
          <a:solidFill>
            <a:srgbClr val="F5A524"/>
          </a:solidFill>
          <a:ln w="6350">
            <a:solidFill>
              <a:srgbClr val="F5A524"/>
            </a:solidFill>
            <a:prstDash val="solid"/>
          </a:ln>
        </p:spPr>
      </p:sp>
      <p:sp>
        <p:nvSpPr>
          <p:cNvPr id="12" name="Shape 9"/>
          <p:cNvSpPr/>
          <p:nvPr/>
        </p:nvSpPr>
        <p:spPr>
          <a:xfrm>
            <a:off x="6638544" y="2185416"/>
            <a:ext cx="100584" cy="100584"/>
          </a:xfrm>
          <a:prstGeom prst="ellipse">
            <a:avLst/>
          </a:prstGeom>
          <a:solidFill>
            <a:srgbClr val="12A36B"/>
          </a:solidFill>
          <a:ln w="6350">
            <a:solidFill>
              <a:srgbClr val="12A36B"/>
            </a:solidFill>
            <a:prstDash val="solid"/>
          </a:ln>
        </p:spPr>
      </p:sp>
      <p:pic>
        <p:nvPicPr>
          <p:cNvPr id="13" name="Image 1" descr="Screenshot of the Chronic Care Desk app">    </p:cNvPr>
          <p:cNvPicPr>
            <a:picLocks noChangeAspect="1"/>
          </p:cNvPicPr>
          <p:nvPr/>
        </p:nvPicPr>
        <p:blipFill>
          <a:blip r:embed="rId2"/>
          <a:stretch>
            <a:fillRect/>
          </a:stretch>
        </p:blipFill>
        <p:spPr>
          <a:xfrm>
            <a:off x="6236208" y="2359152"/>
            <a:ext cx="5276088" cy="3158109"/>
          </a:xfrm>
          <a:prstGeom prst="rect">
            <a:avLst/>
          </a:prstGeom>
        </p:spPr>
      </p:pic>
      <p:sp>
        <p:nvSpPr>
          <p:cNvPr id="14" name="Text 10"/>
          <p:cNvSpPr txBox="1"/>
          <p:nvPr/>
        </p:nvSpPr>
        <p:spPr>
          <a:xfrm>
            <a:off x="640080" y="1737360"/>
            <a:ext cx="3657600" cy="228600"/>
          </a:xfrm>
          <a:prstGeom prst="rect">
            <a:avLst/>
          </a:prstGeom>
          <a:noFill/>
          <a:ln/>
        </p:spPr>
        <p:txBody>
          <a:bodyPr wrap="square" lIns="0" tIns="0" rIns="0" bIns="0" rtlCol="0" anchor="t"/>
          <a:lstStyle/>
          <a:p>
            <a:pPr indent="0" marL="0">
              <a:buNone/>
            </a:pPr>
            <a:r>
              <a:rPr lang="en-US" sz="1100" b="1" spc="200" kern="0" dirty="0">
                <a:solidFill>
                  <a:srgbClr val="3CC3F0"/>
                </a:solidFill>
              </a:rPr>
              <a:t>WARD OVERVIEW</a:t>
            </a:r>
            <a:endParaRPr lang="en-US" sz="1100" dirty="0"/>
          </a:p>
        </p:txBody>
      </p:sp>
      <p:sp>
        <p:nvSpPr>
          <p:cNvPr id="15" name="Text 11"/>
          <p:cNvSpPr txBox="1"/>
          <p:nvPr/>
        </p:nvSpPr>
        <p:spPr>
          <a:xfrm>
            <a:off x="6199632" y="1737360"/>
            <a:ext cx="3657600" cy="228600"/>
          </a:xfrm>
          <a:prstGeom prst="rect">
            <a:avLst/>
          </a:prstGeom>
          <a:noFill/>
          <a:ln/>
        </p:spPr>
        <p:txBody>
          <a:bodyPr wrap="square" lIns="0" tIns="0" rIns="0" bIns="0" rtlCol="0" anchor="t"/>
          <a:lstStyle/>
          <a:p>
            <a:pPr indent="0" marL="0">
              <a:buNone/>
            </a:pPr>
            <a:r>
              <a:rPr lang="en-US" sz="1100" b="1" spc="200" kern="0" dirty="0">
                <a:solidFill>
                  <a:srgbClr val="3CC3F0"/>
                </a:solidFill>
              </a:rPr>
              <a:t>STAFF REVIEW QUEUE</a:t>
            </a:r>
            <a:endParaRPr lang="en-US" sz="1100" dirty="0"/>
          </a:p>
        </p:txBody>
      </p:sp>
      <p:sp>
        <p:nvSpPr>
          <p:cNvPr id="16" name="Text 12"/>
          <p:cNvSpPr txBox="1"/>
          <p:nvPr/>
        </p:nvSpPr>
        <p:spPr>
          <a:xfrm>
            <a:off x="640080" y="5669280"/>
            <a:ext cx="5349240" cy="457200"/>
          </a:xfrm>
          <a:prstGeom prst="rect">
            <a:avLst/>
          </a:prstGeom>
          <a:noFill/>
          <a:ln/>
        </p:spPr>
        <p:txBody>
          <a:bodyPr wrap="square" lIns="0" tIns="0" rIns="0" bIns="0" rtlCol="0" anchor="t"/>
          <a:lstStyle/>
          <a:p>
            <a:pPr indent="0" marL="0">
              <a:buNone/>
            </a:pPr>
            <a:r>
              <a:rPr lang="en-US" sz="1200" dirty="0">
                <a:solidFill>
                  <a:srgbClr val="CFE0FF"/>
                </a:solidFill>
              </a:rPr>
              <a:t>Live counts, pipeline status and how a request moves through the desk.</a:t>
            </a:r>
            <a:endParaRPr lang="en-US" sz="1200" dirty="0"/>
          </a:p>
        </p:txBody>
      </p:sp>
      <p:sp>
        <p:nvSpPr>
          <p:cNvPr id="17" name="Text 13"/>
          <p:cNvSpPr txBox="1"/>
          <p:nvPr/>
        </p:nvSpPr>
        <p:spPr>
          <a:xfrm>
            <a:off x="6199632" y="5669280"/>
            <a:ext cx="5349240" cy="457200"/>
          </a:xfrm>
          <a:prstGeom prst="rect">
            <a:avLst/>
          </a:prstGeom>
          <a:noFill/>
          <a:ln/>
        </p:spPr>
        <p:txBody>
          <a:bodyPr wrap="square" lIns="0" tIns="0" rIns="0" bIns="0" rtlCol="0" anchor="t"/>
          <a:lstStyle/>
          <a:p>
            <a:pPr indent="0" marL="0">
              <a:buNone/>
            </a:pPr>
            <a:r>
              <a:rPr lang="en-US" sz="1200" dirty="0">
                <a:solidFill>
                  <a:srgbClr val="CFE0FF"/>
                </a:solidFill>
              </a:rPr>
              <a:t>Triage level, rule IDs and the suggested staff queue. No interpretation.</a:t>
            </a:r>
            <a:endParaRPr lang="en-US" sz="12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body" hasCustomPrompt="1"/>
          </p:nvPr>
        </p:nvSpPr>
        <p:spPr>
          <a:xfrm>
            <a:off x="640080" y="438912"/>
            <a:ext cx="8229600" cy="274320"/>
          </a:xfrm>
          <a:prstGeom prst="rect">
            <a:avLst/>
          </a:prstGeom>
          <a:noFill/>
          <a:ln/>
        </p:spPr>
        <p:txBody>
          <a:bodyPr wrap="square" lIns="0" tIns="0" rIns="0" bIns="0" rtlCol="0" anchor="t"/>
          <a:lstStyle/>
          <a:p>
            <a:pPr indent="0" marL="0">
              <a:buNone/>
            </a:pPr>
            <a:r>
              <a:rPr lang="en-US" sz="1200" b="1" spc="400" kern="0" dirty="0">
                <a:solidFill>
                  <a:srgbClr val="3CC3F0"/>
                </a:solidFill>
              </a:rPr>
              <a:t>12  ·  TEST EVIDENCE</a:t>
            </a:r>
            <a:endParaRPr lang="en-US" sz="1200" dirty="0"/>
          </a:p>
        </p:txBody>
      </p:sp>
      <p:sp>
        <p:nvSpPr>
          <p:cNvPr id="3" name="Text 2"/>
          <p:cNvSpPr/>
          <p:nvPr>
            <p:ph idx="104" type="title" hasCustomPrompt="1"/>
          </p:nvPr>
        </p:nvSpPr>
        <p:spPr>
          <a:xfrm>
            <a:off x="640080" y="749808"/>
            <a:ext cx="10908792" cy="777240"/>
          </a:xfrm>
          <a:prstGeom prst="rect">
            <a:avLst/>
          </a:prstGeom>
          <a:noFill/>
          <a:ln/>
        </p:spPr>
        <p:txBody>
          <a:bodyPr wrap="square" lIns="0" tIns="0" rIns="0" bIns="0" rtlCol="0" anchor="t"/>
          <a:lstStyle/>
          <a:p>
            <a:pPr algn="l" indent="0" marL="0">
              <a:buNone/>
            </a:pPr>
            <a:r>
              <a:rPr lang="en-US" sz="3200" b="1" dirty="0">
                <a:solidFill>
                  <a:srgbClr val="FFFFFF"/>
                </a:solidFill>
              </a:rPr>
              <a:t>79 automated checks pass offline</a:t>
            </a:r>
            <a:endParaRPr lang="en-US" sz="3200" dirty="0"/>
          </a:p>
        </p:txBody>
      </p:sp>
      <p:sp>
        <p:nvSpPr>
          <p:cNvPr id="4" name="Shape 2"/>
          <p:cNvSpPr/>
          <p:nvPr/>
        </p:nvSpPr>
        <p:spPr>
          <a:xfrm>
            <a:off x="640080" y="1783080"/>
            <a:ext cx="5120640" cy="4114800"/>
          </a:xfrm>
          <a:prstGeom prst="roundRect">
            <a:avLst>
              <a:gd name="adj" fmla="val 2667"/>
            </a:avLst>
          </a:prstGeom>
          <a:solidFill>
            <a:srgbClr val="FFFFFF">
              <a:alpha val="10000"/>
            </a:srgbClr>
          </a:solidFill>
          <a:ln w="9525">
            <a:solidFill>
              <a:srgbClr val="FFFFFF">
                <a:alpha val="25000"/>
              </a:srgbClr>
            </a:solidFill>
            <a:prstDash val="solid"/>
          </a:ln>
        </p:spPr>
      </p:sp>
      <p:sp>
        <p:nvSpPr>
          <p:cNvPr id="5" name="Text 3"/>
          <p:cNvSpPr txBox="1"/>
          <p:nvPr/>
        </p:nvSpPr>
        <p:spPr>
          <a:xfrm>
            <a:off x="868680" y="1874520"/>
            <a:ext cx="2011680" cy="914400"/>
          </a:xfrm>
          <a:prstGeom prst="rect">
            <a:avLst/>
          </a:prstGeom>
          <a:noFill/>
          <a:ln/>
        </p:spPr>
        <p:txBody>
          <a:bodyPr wrap="square" lIns="0" tIns="0" rIns="0" bIns="0" rtlCol="0" anchor="ctr"/>
          <a:lstStyle/>
          <a:p>
            <a:pPr indent="0" marL="0">
              <a:buNone/>
            </a:pPr>
            <a:r>
              <a:rPr lang="en-US" sz="6600" b="1" dirty="0">
                <a:solidFill>
                  <a:srgbClr val="3CC3F0"/>
                </a:solidFill>
              </a:rPr>
              <a:t>79</a:t>
            </a:r>
            <a:endParaRPr lang="en-US" sz="6600" dirty="0"/>
          </a:p>
        </p:txBody>
      </p:sp>
      <p:sp>
        <p:nvSpPr>
          <p:cNvPr id="6" name="Text 4"/>
          <p:cNvSpPr txBox="1"/>
          <p:nvPr/>
        </p:nvSpPr>
        <p:spPr>
          <a:xfrm>
            <a:off x="2788920" y="2011680"/>
            <a:ext cx="2743200" cy="731520"/>
          </a:xfrm>
          <a:prstGeom prst="rect">
            <a:avLst/>
          </a:prstGeom>
          <a:noFill/>
          <a:ln/>
        </p:spPr>
        <p:txBody>
          <a:bodyPr wrap="square" lIns="0" tIns="0" rIns="0" bIns="0" rtlCol="0" anchor="ctr"/>
          <a:lstStyle/>
          <a:p>
            <a:pPr indent="0" marL="0">
              <a:buNone/>
            </a:pPr>
            <a:r>
              <a:rPr lang="en-US" sz="1500" b="1" dirty="0">
                <a:solidFill>
                  <a:srgbClr val="FFFFFF"/>
                </a:solidFill>
              </a:rPr>
              <a:t>checks passing</a:t>
            </a:r>
            <a:endParaRPr lang="en-US" sz="1500" dirty="0"/>
          </a:p>
          <a:p>
            <a:pPr indent="0" marL="0">
              <a:buNone/>
            </a:pPr>
            <a:r>
              <a:rPr lang="en-US" sz="1500" b="1" dirty="0">
                <a:solidFill>
                  <a:srgbClr val="FFFFFF"/>
                </a:solidFill>
              </a:rPr>
              <a:t>in four suites</a:t>
            </a:r>
            <a:endParaRPr lang="en-US" sz="1500" dirty="0"/>
          </a:p>
        </p:txBody>
      </p:sp>
      <p:graphicFrame>
        <p:nvGraphicFramePr>
          <p:cNvPr id="7" name="Chart 0" descr=""/>
          <p:cNvGraphicFramePr/>
          <p:nvPr/>
        </p:nvGraphicFramePr>
        <p:xfrm>
          <a:off x="822960" y="2880360"/>
          <a:ext cx="4754880" cy="288036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035040" y="1783080"/>
            <a:ext cx="2715768" cy="512064"/>
          </a:xfrm>
          <a:prstGeom prst="roundRect">
            <a:avLst>
              <a:gd name="adj" fmla="val 17857"/>
            </a:avLst>
          </a:prstGeom>
          <a:solidFill>
            <a:srgbClr val="FFFFFF">
              <a:alpha val="10000"/>
            </a:srgbClr>
          </a:solidFill>
          <a:ln w="9525">
            <a:solidFill>
              <a:srgbClr val="FFFFFF">
                <a:alpha val="25000"/>
              </a:srgbClr>
            </a:solidFill>
            <a:prstDash val="solid"/>
          </a:ln>
        </p:spPr>
      </p:sp>
      <p:sp>
        <p:nvSpPr>
          <p:cNvPr id="9" name="Text 6"/>
          <p:cNvSpPr txBox="1"/>
          <p:nvPr/>
        </p:nvSpPr>
        <p:spPr>
          <a:xfrm>
            <a:off x="6144768" y="1783080"/>
            <a:ext cx="411480" cy="512064"/>
          </a:xfrm>
          <a:prstGeom prst="rect">
            <a:avLst/>
          </a:prstGeom>
          <a:noFill/>
          <a:ln/>
        </p:spPr>
        <p:txBody>
          <a:bodyPr wrap="square" lIns="0" tIns="0" rIns="0" bIns="0" rtlCol="0" anchor="ctr"/>
          <a:lstStyle/>
          <a:p>
            <a:pPr indent="0" marL="0">
              <a:buNone/>
            </a:pPr>
            <a:r>
              <a:rPr lang="en-US" sz="1100" b="1" dirty="0">
                <a:solidFill>
                  <a:srgbClr val="3CC3F0"/>
                </a:solidFill>
              </a:rPr>
              <a:t>T1</a:t>
            </a:r>
            <a:endParaRPr lang="en-US" sz="1100" dirty="0"/>
          </a:p>
        </p:txBody>
      </p:sp>
      <p:sp>
        <p:nvSpPr>
          <p:cNvPr id="10" name="Text 7"/>
          <p:cNvSpPr txBox="1"/>
          <p:nvPr/>
        </p:nvSpPr>
        <p:spPr>
          <a:xfrm>
            <a:off x="6537960" y="1783080"/>
            <a:ext cx="1828800" cy="512064"/>
          </a:xfrm>
          <a:prstGeom prst="rect">
            <a:avLst/>
          </a:prstGeom>
          <a:noFill/>
          <a:ln/>
        </p:spPr>
        <p:txBody>
          <a:bodyPr wrap="square" lIns="0" tIns="0" rIns="0" bIns="0" rtlCol="0" anchor="ctr"/>
          <a:lstStyle/>
          <a:p>
            <a:pPr indent="0" marL="0">
              <a:buNone/>
            </a:pPr>
            <a:r>
              <a:rPr lang="en-US" sz="1000" dirty="0">
                <a:solidFill>
                  <a:srgbClr val="FFFFFF"/>
                </a:solidFill>
              </a:rPr>
              <a:t>Approved education answered</a:t>
            </a:r>
            <a:endParaRPr lang="en-US" sz="1000" dirty="0"/>
          </a:p>
        </p:txBody>
      </p:sp>
      <p:pic>
        <p:nvPicPr>
          <p:cNvPr id="11" name="Image 0" descr="pass">    </p:cNvPr>
          <p:cNvPicPr>
            <a:picLocks noChangeAspect="1"/>
          </p:cNvPicPr>
          <p:nvPr/>
        </p:nvPicPr>
        <p:blipFill>
          <a:blip r:embed="rId2"/>
          <a:stretch>
            <a:fillRect/>
          </a:stretch>
        </p:blipFill>
        <p:spPr>
          <a:xfrm>
            <a:off x="8412480" y="1938528"/>
            <a:ext cx="201168" cy="201168"/>
          </a:xfrm>
          <a:prstGeom prst="rect">
            <a:avLst/>
          </a:prstGeom>
        </p:spPr>
      </p:pic>
      <p:sp>
        <p:nvSpPr>
          <p:cNvPr id="12" name="Shape 8"/>
          <p:cNvSpPr/>
          <p:nvPr/>
        </p:nvSpPr>
        <p:spPr>
          <a:xfrm>
            <a:off x="8842248" y="1783080"/>
            <a:ext cx="2715768" cy="512064"/>
          </a:xfrm>
          <a:prstGeom prst="roundRect">
            <a:avLst>
              <a:gd name="adj" fmla="val 17857"/>
            </a:avLst>
          </a:prstGeom>
          <a:solidFill>
            <a:srgbClr val="FFFFFF">
              <a:alpha val="10000"/>
            </a:srgbClr>
          </a:solidFill>
          <a:ln w="9525">
            <a:solidFill>
              <a:srgbClr val="FFFFFF">
                <a:alpha val="25000"/>
              </a:srgbClr>
            </a:solidFill>
            <a:prstDash val="solid"/>
          </a:ln>
        </p:spPr>
      </p:sp>
      <p:sp>
        <p:nvSpPr>
          <p:cNvPr id="13" name="Text 9"/>
          <p:cNvSpPr txBox="1"/>
          <p:nvPr/>
        </p:nvSpPr>
        <p:spPr>
          <a:xfrm>
            <a:off x="8951976" y="1783080"/>
            <a:ext cx="411480" cy="512064"/>
          </a:xfrm>
          <a:prstGeom prst="rect">
            <a:avLst/>
          </a:prstGeom>
          <a:noFill/>
          <a:ln/>
        </p:spPr>
        <p:txBody>
          <a:bodyPr wrap="square" lIns="0" tIns="0" rIns="0" bIns="0" rtlCol="0" anchor="ctr"/>
          <a:lstStyle/>
          <a:p>
            <a:pPr indent="0" marL="0">
              <a:buNone/>
            </a:pPr>
            <a:r>
              <a:rPr lang="en-US" sz="1100" b="1" dirty="0">
                <a:solidFill>
                  <a:srgbClr val="3CC3F0"/>
                </a:solidFill>
              </a:rPr>
              <a:t>T2</a:t>
            </a:r>
            <a:endParaRPr lang="en-US" sz="1100" dirty="0"/>
          </a:p>
        </p:txBody>
      </p:sp>
      <p:sp>
        <p:nvSpPr>
          <p:cNvPr id="14" name="Text 10"/>
          <p:cNvSpPr txBox="1"/>
          <p:nvPr/>
        </p:nvSpPr>
        <p:spPr>
          <a:xfrm>
            <a:off x="9345168" y="1783080"/>
            <a:ext cx="1828800" cy="512064"/>
          </a:xfrm>
          <a:prstGeom prst="rect">
            <a:avLst/>
          </a:prstGeom>
          <a:noFill/>
          <a:ln/>
        </p:spPr>
        <p:txBody>
          <a:bodyPr wrap="square" lIns="0" tIns="0" rIns="0" bIns="0" rtlCol="0" anchor="ctr"/>
          <a:lstStyle/>
          <a:p>
            <a:pPr indent="0" marL="0">
              <a:buNone/>
            </a:pPr>
            <a:r>
              <a:rPr lang="en-US" sz="1000" dirty="0">
                <a:solidFill>
                  <a:srgbClr val="FFFFFF"/>
                </a:solidFill>
              </a:rPr>
              <a:t>Consent expired: stop</a:t>
            </a:r>
            <a:endParaRPr lang="en-US" sz="1000" dirty="0"/>
          </a:p>
        </p:txBody>
      </p:sp>
      <p:pic>
        <p:nvPicPr>
          <p:cNvPr id="15" name="Image 1" descr="pass">    </p:cNvPr>
          <p:cNvPicPr>
            <a:picLocks noChangeAspect="1"/>
          </p:cNvPicPr>
          <p:nvPr/>
        </p:nvPicPr>
        <p:blipFill>
          <a:blip r:embed="rId3"/>
          <a:stretch>
            <a:fillRect/>
          </a:stretch>
        </p:blipFill>
        <p:spPr>
          <a:xfrm>
            <a:off x="11219688" y="1938528"/>
            <a:ext cx="201168" cy="201168"/>
          </a:xfrm>
          <a:prstGeom prst="rect">
            <a:avLst/>
          </a:prstGeom>
        </p:spPr>
      </p:pic>
      <p:sp>
        <p:nvSpPr>
          <p:cNvPr id="16" name="Shape 11"/>
          <p:cNvSpPr/>
          <p:nvPr/>
        </p:nvSpPr>
        <p:spPr>
          <a:xfrm>
            <a:off x="6035040" y="2368296"/>
            <a:ext cx="2715768" cy="512064"/>
          </a:xfrm>
          <a:prstGeom prst="roundRect">
            <a:avLst>
              <a:gd name="adj" fmla="val 17857"/>
            </a:avLst>
          </a:prstGeom>
          <a:solidFill>
            <a:srgbClr val="FFFFFF">
              <a:alpha val="10000"/>
            </a:srgbClr>
          </a:solidFill>
          <a:ln w="9525">
            <a:solidFill>
              <a:srgbClr val="FFFFFF">
                <a:alpha val="25000"/>
              </a:srgbClr>
            </a:solidFill>
            <a:prstDash val="solid"/>
          </a:ln>
        </p:spPr>
      </p:sp>
      <p:sp>
        <p:nvSpPr>
          <p:cNvPr id="17" name="Text 12"/>
          <p:cNvSpPr txBox="1"/>
          <p:nvPr/>
        </p:nvSpPr>
        <p:spPr>
          <a:xfrm>
            <a:off x="6144768" y="2368296"/>
            <a:ext cx="411480" cy="512064"/>
          </a:xfrm>
          <a:prstGeom prst="rect">
            <a:avLst/>
          </a:prstGeom>
          <a:noFill/>
          <a:ln/>
        </p:spPr>
        <p:txBody>
          <a:bodyPr wrap="square" lIns="0" tIns="0" rIns="0" bIns="0" rtlCol="0" anchor="ctr"/>
          <a:lstStyle/>
          <a:p>
            <a:pPr indent="0" marL="0">
              <a:buNone/>
            </a:pPr>
            <a:r>
              <a:rPr lang="en-US" sz="1100" b="1" dirty="0">
                <a:solidFill>
                  <a:srgbClr val="3CC3F0"/>
                </a:solidFill>
              </a:rPr>
              <a:t>T3</a:t>
            </a:r>
            <a:endParaRPr lang="en-US" sz="1100" dirty="0"/>
          </a:p>
        </p:txBody>
      </p:sp>
      <p:sp>
        <p:nvSpPr>
          <p:cNvPr id="18" name="Text 13"/>
          <p:cNvSpPr txBox="1"/>
          <p:nvPr/>
        </p:nvSpPr>
        <p:spPr>
          <a:xfrm>
            <a:off x="6537960" y="2368296"/>
            <a:ext cx="1828800" cy="512064"/>
          </a:xfrm>
          <a:prstGeom prst="rect">
            <a:avLst/>
          </a:prstGeom>
          <a:noFill/>
          <a:ln/>
        </p:spPr>
        <p:txBody>
          <a:bodyPr wrap="square" lIns="0" tIns="0" rIns="0" bIns="0" rtlCol="0" anchor="ctr"/>
          <a:lstStyle/>
          <a:p>
            <a:pPr indent="0" marL="0">
              <a:buNone/>
            </a:pPr>
            <a:r>
              <a:rPr lang="en-US" sz="1000" dirty="0">
                <a:solidFill>
                  <a:srgbClr val="FFFFFF"/>
                </a:solidFill>
              </a:rPr>
              <a:t>Medicine change: decline</a:t>
            </a:r>
            <a:endParaRPr lang="en-US" sz="1000" dirty="0"/>
          </a:p>
        </p:txBody>
      </p:sp>
      <p:pic>
        <p:nvPicPr>
          <p:cNvPr id="19" name="Image 2" descr="pass">    </p:cNvPr>
          <p:cNvPicPr>
            <a:picLocks noChangeAspect="1"/>
          </p:cNvPicPr>
          <p:nvPr/>
        </p:nvPicPr>
        <p:blipFill>
          <a:blip r:embed="rId4"/>
          <a:stretch>
            <a:fillRect/>
          </a:stretch>
        </p:blipFill>
        <p:spPr>
          <a:xfrm>
            <a:off x="8412480" y="2523744"/>
            <a:ext cx="201168" cy="201168"/>
          </a:xfrm>
          <a:prstGeom prst="rect">
            <a:avLst/>
          </a:prstGeom>
        </p:spPr>
      </p:pic>
      <p:sp>
        <p:nvSpPr>
          <p:cNvPr id="20" name="Shape 14"/>
          <p:cNvSpPr/>
          <p:nvPr/>
        </p:nvSpPr>
        <p:spPr>
          <a:xfrm>
            <a:off x="8842248" y="2368296"/>
            <a:ext cx="2715768" cy="512064"/>
          </a:xfrm>
          <a:prstGeom prst="roundRect">
            <a:avLst>
              <a:gd name="adj" fmla="val 17857"/>
            </a:avLst>
          </a:prstGeom>
          <a:solidFill>
            <a:srgbClr val="FFFFFF">
              <a:alpha val="10000"/>
            </a:srgbClr>
          </a:solidFill>
          <a:ln w="9525">
            <a:solidFill>
              <a:srgbClr val="FFFFFF">
                <a:alpha val="25000"/>
              </a:srgbClr>
            </a:solidFill>
            <a:prstDash val="solid"/>
          </a:ln>
        </p:spPr>
      </p:sp>
      <p:sp>
        <p:nvSpPr>
          <p:cNvPr id="21" name="Text 15"/>
          <p:cNvSpPr txBox="1"/>
          <p:nvPr/>
        </p:nvSpPr>
        <p:spPr>
          <a:xfrm>
            <a:off x="8951976" y="2368296"/>
            <a:ext cx="411480" cy="512064"/>
          </a:xfrm>
          <a:prstGeom prst="rect">
            <a:avLst/>
          </a:prstGeom>
          <a:noFill/>
          <a:ln/>
        </p:spPr>
        <p:txBody>
          <a:bodyPr wrap="square" lIns="0" tIns="0" rIns="0" bIns="0" rtlCol="0" anchor="ctr"/>
          <a:lstStyle/>
          <a:p>
            <a:pPr indent="0" marL="0">
              <a:buNone/>
            </a:pPr>
            <a:r>
              <a:rPr lang="en-US" sz="1100" b="1" dirty="0">
                <a:solidFill>
                  <a:srgbClr val="3CC3F0"/>
                </a:solidFill>
              </a:rPr>
              <a:t>T4</a:t>
            </a:r>
            <a:endParaRPr lang="en-US" sz="1100" dirty="0"/>
          </a:p>
        </p:txBody>
      </p:sp>
      <p:sp>
        <p:nvSpPr>
          <p:cNvPr id="22" name="Text 16"/>
          <p:cNvSpPr txBox="1"/>
          <p:nvPr/>
        </p:nvSpPr>
        <p:spPr>
          <a:xfrm>
            <a:off x="9345168" y="2368296"/>
            <a:ext cx="1828800" cy="512064"/>
          </a:xfrm>
          <a:prstGeom prst="rect">
            <a:avLst/>
          </a:prstGeom>
          <a:noFill/>
          <a:ln/>
        </p:spPr>
        <p:txBody>
          <a:bodyPr wrap="square" lIns="0" tIns="0" rIns="0" bIns="0" rtlCol="0" anchor="ctr"/>
          <a:lstStyle/>
          <a:p>
            <a:pPr indent="0" marL="0">
              <a:buNone/>
            </a:pPr>
            <a:r>
              <a:rPr lang="en-US" sz="1000" dirty="0">
                <a:solidFill>
                  <a:srgbClr val="FFFFFF"/>
                </a:solidFill>
              </a:rPr>
              <a:t>Test value: urgent review</a:t>
            </a:r>
            <a:endParaRPr lang="en-US" sz="1000" dirty="0"/>
          </a:p>
        </p:txBody>
      </p:sp>
      <p:pic>
        <p:nvPicPr>
          <p:cNvPr id="23" name="Image 3" descr="pass">    </p:cNvPr>
          <p:cNvPicPr>
            <a:picLocks noChangeAspect="1"/>
          </p:cNvPicPr>
          <p:nvPr/>
        </p:nvPicPr>
        <p:blipFill>
          <a:blip r:embed="rId5"/>
          <a:stretch>
            <a:fillRect/>
          </a:stretch>
        </p:blipFill>
        <p:spPr>
          <a:xfrm>
            <a:off x="11219688" y="2523744"/>
            <a:ext cx="201168" cy="201168"/>
          </a:xfrm>
          <a:prstGeom prst="rect">
            <a:avLst/>
          </a:prstGeom>
        </p:spPr>
      </p:pic>
      <p:sp>
        <p:nvSpPr>
          <p:cNvPr id="24" name="Shape 17"/>
          <p:cNvSpPr/>
          <p:nvPr/>
        </p:nvSpPr>
        <p:spPr>
          <a:xfrm>
            <a:off x="6035040" y="2953512"/>
            <a:ext cx="2715768" cy="512064"/>
          </a:xfrm>
          <a:prstGeom prst="roundRect">
            <a:avLst>
              <a:gd name="adj" fmla="val 17857"/>
            </a:avLst>
          </a:prstGeom>
          <a:solidFill>
            <a:srgbClr val="FFFFFF">
              <a:alpha val="10000"/>
            </a:srgbClr>
          </a:solidFill>
          <a:ln w="9525">
            <a:solidFill>
              <a:srgbClr val="FFFFFF">
                <a:alpha val="25000"/>
              </a:srgbClr>
            </a:solidFill>
            <a:prstDash val="solid"/>
          </a:ln>
        </p:spPr>
      </p:sp>
      <p:sp>
        <p:nvSpPr>
          <p:cNvPr id="25" name="Text 18"/>
          <p:cNvSpPr txBox="1"/>
          <p:nvPr/>
        </p:nvSpPr>
        <p:spPr>
          <a:xfrm>
            <a:off x="6144768" y="2953512"/>
            <a:ext cx="411480" cy="512064"/>
          </a:xfrm>
          <a:prstGeom prst="rect">
            <a:avLst/>
          </a:prstGeom>
          <a:noFill/>
          <a:ln/>
        </p:spPr>
        <p:txBody>
          <a:bodyPr wrap="square" lIns="0" tIns="0" rIns="0" bIns="0" rtlCol="0" anchor="ctr"/>
          <a:lstStyle/>
          <a:p>
            <a:pPr indent="0" marL="0">
              <a:buNone/>
            </a:pPr>
            <a:r>
              <a:rPr lang="en-US" sz="1100" b="1" dirty="0">
                <a:solidFill>
                  <a:srgbClr val="3CC3F0"/>
                </a:solidFill>
              </a:rPr>
              <a:t>T5</a:t>
            </a:r>
            <a:endParaRPr lang="en-US" sz="1100" dirty="0"/>
          </a:p>
        </p:txBody>
      </p:sp>
      <p:sp>
        <p:nvSpPr>
          <p:cNvPr id="26" name="Text 19"/>
          <p:cNvSpPr txBox="1"/>
          <p:nvPr/>
        </p:nvSpPr>
        <p:spPr>
          <a:xfrm>
            <a:off x="6537960" y="2953512"/>
            <a:ext cx="1828800" cy="512064"/>
          </a:xfrm>
          <a:prstGeom prst="rect">
            <a:avLst/>
          </a:prstGeom>
          <a:noFill/>
          <a:ln/>
        </p:spPr>
        <p:txBody>
          <a:bodyPr wrap="square" lIns="0" tIns="0" rIns="0" bIns="0" rtlCol="0" anchor="ctr"/>
          <a:lstStyle/>
          <a:p>
            <a:pPr indent="0" marL="0">
              <a:buNone/>
            </a:pPr>
            <a:r>
              <a:rPr lang="en-US" sz="1000" dirty="0">
                <a:solidFill>
                  <a:srgbClr val="FFFFFF"/>
                </a:solidFill>
              </a:rPr>
              <a:t>Missing days listed</a:t>
            </a:r>
            <a:endParaRPr lang="en-US" sz="1000" dirty="0"/>
          </a:p>
        </p:txBody>
      </p:sp>
      <p:pic>
        <p:nvPicPr>
          <p:cNvPr id="27" name="Image 4" descr="pass">    </p:cNvPr>
          <p:cNvPicPr>
            <a:picLocks noChangeAspect="1"/>
          </p:cNvPicPr>
          <p:nvPr/>
        </p:nvPicPr>
        <p:blipFill>
          <a:blip r:embed="rId6"/>
          <a:stretch>
            <a:fillRect/>
          </a:stretch>
        </p:blipFill>
        <p:spPr>
          <a:xfrm>
            <a:off x="8412480" y="3108960"/>
            <a:ext cx="201168" cy="201168"/>
          </a:xfrm>
          <a:prstGeom prst="rect">
            <a:avLst/>
          </a:prstGeom>
        </p:spPr>
      </p:pic>
      <p:sp>
        <p:nvSpPr>
          <p:cNvPr id="28" name="Shape 20"/>
          <p:cNvSpPr/>
          <p:nvPr/>
        </p:nvSpPr>
        <p:spPr>
          <a:xfrm>
            <a:off x="8842248" y="2953512"/>
            <a:ext cx="2715768" cy="512064"/>
          </a:xfrm>
          <a:prstGeom prst="roundRect">
            <a:avLst>
              <a:gd name="adj" fmla="val 17857"/>
            </a:avLst>
          </a:prstGeom>
          <a:solidFill>
            <a:srgbClr val="FFFFFF">
              <a:alpha val="10000"/>
            </a:srgbClr>
          </a:solidFill>
          <a:ln w="9525">
            <a:solidFill>
              <a:srgbClr val="FFFFFF">
                <a:alpha val="25000"/>
              </a:srgbClr>
            </a:solidFill>
            <a:prstDash val="solid"/>
          </a:ln>
        </p:spPr>
      </p:sp>
      <p:sp>
        <p:nvSpPr>
          <p:cNvPr id="29" name="Text 21"/>
          <p:cNvSpPr txBox="1"/>
          <p:nvPr/>
        </p:nvSpPr>
        <p:spPr>
          <a:xfrm>
            <a:off x="8951976" y="2953512"/>
            <a:ext cx="411480" cy="512064"/>
          </a:xfrm>
          <a:prstGeom prst="rect">
            <a:avLst/>
          </a:prstGeom>
          <a:noFill/>
          <a:ln/>
        </p:spPr>
        <p:txBody>
          <a:bodyPr wrap="square" lIns="0" tIns="0" rIns="0" bIns="0" rtlCol="0" anchor="ctr"/>
          <a:lstStyle/>
          <a:p>
            <a:pPr indent="0" marL="0">
              <a:buNone/>
            </a:pPr>
            <a:r>
              <a:rPr lang="en-US" sz="1100" b="1" dirty="0">
                <a:solidFill>
                  <a:srgbClr val="3CC3F0"/>
                </a:solidFill>
              </a:rPr>
              <a:t>T6</a:t>
            </a:r>
            <a:endParaRPr lang="en-US" sz="1100" dirty="0"/>
          </a:p>
        </p:txBody>
      </p:sp>
      <p:sp>
        <p:nvSpPr>
          <p:cNvPr id="30" name="Text 22"/>
          <p:cNvSpPr txBox="1"/>
          <p:nvPr/>
        </p:nvSpPr>
        <p:spPr>
          <a:xfrm>
            <a:off x="9345168" y="2953512"/>
            <a:ext cx="1828800" cy="512064"/>
          </a:xfrm>
          <a:prstGeom prst="rect">
            <a:avLst/>
          </a:prstGeom>
          <a:noFill/>
          <a:ln/>
        </p:spPr>
        <p:txBody>
          <a:bodyPr wrap="square" lIns="0" tIns="0" rIns="0" bIns="0" rtlCol="0" anchor="ctr"/>
          <a:lstStyle/>
          <a:p>
            <a:pPr indent="0" marL="0">
              <a:buNone/>
            </a:pPr>
            <a:r>
              <a:rPr lang="en-US" sz="1000" dirty="0">
                <a:solidFill>
                  <a:srgbClr val="FFFFFF"/>
                </a:solidFill>
              </a:rPr>
              <a:t>No article: honest gap</a:t>
            </a:r>
            <a:endParaRPr lang="en-US" sz="1000" dirty="0"/>
          </a:p>
        </p:txBody>
      </p:sp>
      <p:pic>
        <p:nvPicPr>
          <p:cNvPr id="31" name="Image 5" descr="pass">    </p:cNvPr>
          <p:cNvPicPr>
            <a:picLocks noChangeAspect="1"/>
          </p:cNvPicPr>
          <p:nvPr/>
        </p:nvPicPr>
        <p:blipFill>
          <a:blip r:embed="rId7"/>
          <a:stretch>
            <a:fillRect/>
          </a:stretch>
        </p:blipFill>
        <p:spPr>
          <a:xfrm>
            <a:off x="11219688" y="3108960"/>
            <a:ext cx="201168" cy="201168"/>
          </a:xfrm>
          <a:prstGeom prst="rect">
            <a:avLst/>
          </a:prstGeom>
        </p:spPr>
      </p:pic>
      <p:sp>
        <p:nvSpPr>
          <p:cNvPr id="32" name="Shape 23"/>
          <p:cNvSpPr/>
          <p:nvPr/>
        </p:nvSpPr>
        <p:spPr>
          <a:xfrm>
            <a:off x="6035040" y="3538728"/>
            <a:ext cx="2715768" cy="512064"/>
          </a:xfrm>
          <a:prstGeom prst="roundRect">
            <a:avLst>
              <a:gd name="adj" fmla="val 17857"/>
            </a:avLst>
          </a:prstGeom>
          <a:solidFill>
            <a:srgbClr val="FFFFFF">
              <a:alpha val="10000"/>
            </a:srgbClr>
          </a:solidFill>
          <a:ln w="9525">
            <a:solidFill>
              <a:srgbClr val="FFFFFF">
                <a:alpha val="25000"/>
              </a:srgbClr>
            </a:solidFill>
            <a:prstDash val="solid"/>
          </a:ln>
        </p:spPr>
      </p:sp>
      <p:sp>
        <p:nvSpPr>
          <p:cNvPr id="33" name="Text 24"/>
          <p:cNvSpPr txBox="1"/>
          <p:nvPr/>
        </p:nvSpPr>
        <p:spPr>
          <a:xfrm>
            <a:off x="6144768" y="3538728"/>
            <a:ext cx="411480" cy="512064"/>
          </a:xfrm>
          <a:prstGeom prst="rect">
            <a:avLst/>
          </a:prstGeom>
          <a:noFill/>
          <a:ln/>
        </p:spPr>
        <p:txBody>
          <a:bodyPr wrap="square" lIns="0" tIns="0" rIns="0" bIns="0" rtlCol="0" anchor="ctr"/>
          <a:lstStyle/>
          <a:p>
            <a:pPr indent="0" marL="0">
              <a:buNone/>
            </a:pPr>
            <a:r>
              <a:rPr lang="en-US" sz="1100" b="1" dirty="0">
                <a:solidFill>
                  <a:srgbClr val="3CC3F0"/>
                </a:solidFill>
              </a:rPr>
              <a:t>T7</a:t>
            </a:r>
            <a:endParaRPr lang="en-US" sz="1100" dirty="0"/>
          </a:p>
        </p:txBody>
      </p:sp>
      <p:sp>
        <p:nvSpPr>
          <p:cNvPr id="34" name="Text 25"/>
          <p:cNvSpPr txBox="1"/>
          <p:nvPr/>
        </p:nvSpPr>
        <p:spPr>
          <a:xfrm>
            <a:off x="6537960" y="3538728"/>
            <a:ext cx="1828800" cy="512064"/>
          </a:xfrm>
          <a:prstGeom prst="rect">
            <a:avLst/>
          </a:prstGeom>
          <a:noFill/>
          <a:ln/>
        </p:spPr>
        <p:txBody>
          <a:bodyPr wrap="square" lIns="0" tIns="0" rIns="0" bIns="0" rtlCol="0" anchor="ctr"/>
          <a:lstStyle/>
          <a:p>
            <a:pPr indent="0" marL="0">
              <a:buNone/>
            </a:pPr>
            <a:r>
              <a:rPr lang="en-US" sz="1000" dirty="0">
                <a:solidFill>
                  <a:srgbClr val="FFFFFF"/>
                </a:solidFill>
              </a:rPr>
              <a:t>Correction: active value only</a:t>
            </a:r>
            <a:endParaRPr lang="en-US" sz="1000" dirty="0"/>
          </a:p>
        </p:txBody>
      </p:sp>
      <p:pic>
        <p:nvPicPr>
          <p:cNvPr id="35" name="Image 6" descr="pass">    </p:cNvPr>
          <p:cNvPicPr>
            <a:picLocks noChangeAspect="1"/>
          </p:cNvPicPr>
          <p:nvPr/>
        </p:nvPicPr>
        <p:blipFill>
          <a:blip r:embed="rId8"/>
          <a:stretch>
            <a:fillRect/>
          </a:stretch>
        </p:blipFill>
        <p:spPr>
          <a:xfrm>
            <a:off x="8412480" y="3694176"/>
            <a:ext cx="201168" cy="201168"/>
          </a:xfrm>
          <a:prstGeom prst="rect">
            <a:avLst/>
          </a:prstGeom>
        </p:spPr>
      </p:pic>
      <p:sp>
        <p:nvSpPr>
          <p:cNvPr id="36" name="Shape 26"/>
          <p:cNvSpPr/>
          <p:nvPr/>
        </p:nvSpPr>
        <p:spPr>
          <a:xfrm>
            <a:off x="8842248" y="3538728"/>
            <a:ext cx="2715768" cy="512064"/>
          </a:xfrm>
          <a:prstGeom prst="roundRect">
            <a:avLst>
              <a:gd name="adj" fmla="val 17857"/>
            </a:avLst>
          </a:prstGeom>
          <a:solidFill>
            <a:srgbClr val="FFFFFF">
              <a:alpha val="10000"/>
            </a:srgbClr>
          </a:solidFill>
          <a:ln w="9525">
            <a:solidFill>
              <a:srgbClr val="FFFFFF">
                <a:alpha val="25000"/>
              </a:srgbClr>
            </a:solidFill>
            <a:prstDash val="solid"/>
          </a:ln>
        </p:spPr>
      </p:sp>
      <p:sp>
        <p:nvSpPr>
          <p:cNvPr id="37" name="Text 27"/>
          <p:cNvSpPr txBox="1"/>
          <p:nvPr/>
        </p:nvSpPr>
        <p:spPr>
          <a:xfrm>
            <a:off x="8951976" y="3538728"/>
            <a:ext cx="411480" cy="512064"/>
          </a:xfrm>
          <a:prstGeom prst="rect">
            <a:avLst/>
          </a:prstGeom>
          <a:noFill/>
          <a:ln/>
        </p:spPr>
        <p:txBody>
          <a:bodyPr wrap="square" lIns="0" tIns="0" rIns="0" bIns="0" rtlCol="0" anchor="ctr"/>
          <a:lstStyle/>
          <a:p>
            <a:pPr indent="0" marL="0">
              <a:buNone/>
            </a:pPr>
            <a:r>
              <a:rPr lang="en-US" sz="1100" b="1" dirty="0">
                <a:solidFill>
                  <a:srgbClr val="3CC3F0"/>
                </a:solidFill>
              </a:rPr>
              <a:t>T8</a:t>
            </a:r>
            <a:endParaRPr lang="en-US" sz="1100" dirty="0"/>
          </a:p>
        </p:txBody>
      </p:sp>
      <p:sp>
        <p:nvSpPr>
          <p:cNvPr id="38" name="Text 28"/>
          <p:cNvSpPr txBox="1"/>
          <p:nvPr/>
        </p:nvSpPr>
        <p:spPr>
          <a:xfrm>
            <a:off x="9345168" y="3538728"/>
            <a:ext cx="1828800" cy="512064"/>
          </a:xfrm>
          <a:prstGeom prst="rect">
            <a:avLst/>
          </a:prstGeom>
          <a:noFill/>
          <a:ln/>
        </p:spPr>
        <p:txBody>
          <a:bodyPr wrap="square" lIns="0" tIns="0" rIns="0" bIns="0" rtlCol="0" anchor="ctr"/>
          <a:lstStyle/>
          <a:p>
            <a:pPr indent="0" marL="0">
              <a:buNone/>
            </a:pPr>
            <a:r>
              <a:rPr lang="en-US" sz="1000" dirty="0">
                <a:solidFill>
                  <a:srgbClr val="FFFFFF"/>
                </a:solidFill>
              </a:rPr>
              <a:t>Contradiction: human review</a:t>
            </a:r>
            <a:endParaRPr lang="en-US" sz="1000" dirty="0"/>
          </a:p>
        </p:txBody>
      </p:sp>
      <p:pic>
        <p:nvPicPr>
          <p:cNvPr id="39" name="Image 7" descr="pass">    </p:cNvPr>
          <p:cNvPicPr>
            <a:picLocks noChangeAspect="1"/>
          </p:cNvPicPr>
          <p:nvPr/>
        </p:nvPicPr>
        <p:blipFill>
          <a:blip r:embed="rId9"/>
          <a:stretch>
            <a:fillRect/>
          </a:stretch>
        </p:blipFill>
        <p:spPr>
          <a:xfrm>
            <a:off x="11219688" y="3694176"/>
            <a:ext cx="201168" cy="201168"/>
          </a:xfrm>
          <a:prstGeom prst="rect">
            <a:avLst/>
          </a:prstGeom>
        </p:spPr>
      </p:pic>
      <p:sp>
        <p:nvSpPr>
          <p:cNvPr id="40" name="Shape 29"/>
          <p:cNvSpPr/>
          <p:nvPr/>
        </p:nvSpPr>
        <p:spPr>
          <a:xfrm>
            <a:off x="6035040" y="4123944"/>
            <a:ext cx="2715768" cy="512064"/>
          </a:xfrm>
          <a:prstGeom prst="roundRect">
            <a:avLst>
              <a:gd name="adj" fmla="val 17857"/>
            </a:avLst>
          </a:prstGeom>
          <a:solidFill>
            <a:srgbClr val="FFFFFF">
              <a:alpha val="10000"/>
            </a:srgbClr>
          </a:solidFill>
          <a:ln w="9525">
            <a:solidFill>
              <a:srgbClr val="FFFFFF">
                <a:alpha val="25000"/>
              </a:srgbClr>
            </a:solidFill>
            <a:prstDash val="solid"/>
          </a:ln>
        </p:spPr>
      </p:sp>
      <p:sp>
        <p:nvSpPr>
          <p:cNvPr id="41" name="Text 30"/>
          <p:cNvSpPr txBox="1"/>
          <p:nvPr/>
        </p:nvSpPr>
        <p:spPr>
          <a:xfrm>
            <a:off x="6144768" y="4123944"/>
            <a:ext cx="411480" cy="512064"/>
          </a:xfrm>
          <a:prstGeom prst="rect">
            <a:avLst/>
          </a:prstGeom>
          <a:noFill/>
          <a:ln/>
        </p:spPr>
        <p:txBody>
          <a:bodyPr wrap="square" lIns="0" tIns="0" rIns="0" bIns="0" rtlCol="0" anchor="ctr"/>
          <a:lstStyle/>
          <a:p>
            <a:pPr indent="0" marL="0">
              <a:buNone/>
            </a:pPr>
            <a:r>
              <a:rPr lang="en-US" sz="1100" b="1" dirty="0">
                <a:solidFill>
                  <a:srgbClr val="3CC3F0"/>
                </a:solidFill>
              </a:rPr>
              <a:t>T9</a:t>
            </a:r>
            <a:endParaRPr lang="en-US" sz="1100" dirty="0"/>
          </a:p>
        </p:txBody>
      </p:sp>
      <p:sp>
        <p:nvSpPr>
          <p:cNvPr id="42" name="Text 31"/>
          <p:cNvSpPr txBox="1"/>
          <p:nvPr/>
        </p:nvSpPr>
        <p:spPr>
          <a:xfrm>
            <a:off x="6537960" y="4123944"/>
            <a:ext cx="1828800" cy="512064"/>
          </a:xfrm>
          <a:prstGeom prst="rect">
            <a:avLst/>
          </a:prstGeom>
          <a:noFill/>
          <a:ln/>
        </p:spPr>
        <p:txBody>
          <a:bodyPr wrap="square" lIns="0" tIns="0" rIns="0" bIns="0" rtlCol="0" anchor="ctr"/>
          <a:lstStyle/>
          <a:p>
            <a:pPr indent="0" marL="0">
              <a:buNone/>
            </a:pPr>
            <a:r>
              <a:rPr lang="en-US" sz="1000" dirty="0">
                <a:solidFill>
                  <a:srgbClr val="FFFFFF"/>
                </a:solidFill>
              </a:rPr>
              <a:t>Reminder in member channel</a:t>
            </a:r>
            <a:endParaRPr lang="en-US" sz="1000" dirty="0"/>
          </a:p>
        </p:txBody>
      </p:sp>
      <p:pic>
        <p:nvPicPr>
          <p:cNvPr id="43" name="Image 8" descr="pass">    </p:cNvPr>
          <p:cNvPicPr>
            <a:picLocks noChangeAspect="1"/>
          </p:cNvPicPr>
          <p:nvPr/>
        </p:nvPicPr>
        <p:blipFill>
          <a:blip r:embed="rId10"/>
          <a:stretch>
            <a:fillRect/>
          </a:stretch>
        </p:blipFill>
        <p:spPr>
          <a:xfrm>
            <a:off x="8412480" y="4279392"/>
            <a:ext cx="201168" cy="201168"/>
          </a:xfrm>
          <a:prstGeom prst="rect">
            <a:avLst/>
          </a:prstGeom>
        </p:spPr>
      </p:pic>
      <p:sp>
        <p:nvSpPr>
          <p:cNvPr id="44" name="Shape 32"/>
          <p:cNvSpPr/>
          <p:nvPr/>
        </p:nvSpPr>
        <p:spPr>
          <a:xfrm>
            <a:off x="8842248" y="4123944"/>
            <a:ext cx="2715768" cy="512064"/>
          </a:xfrm>
          <a:prstGeom prst="roundRect">
            <a:avLst>
              <a:gd name="adj" fmla="val 17857"/>
            </a:avLst>
          </a:prstGeom>
          <a:solidFill>
            <a:srgbClr val="FFFFFF">
              <a:alpha val="10000"/>
            </a:srgbClr>
          </a:solidFill>
          <a:ln w="9525">
            <a:solidFill>
              <a:srgbClr val="FFFFFF">
                <a:alpha val="25000"/>
              </a:srgbClr>
            </a:solidFill>
            <a:prstDash val="solid"/>
          </a:ln>
        </p:spPr>
      </p:sp>
      <p:sp>
        <p:nvSpPr>
          <p:cNvPr id="45" name="Text 33"/>
          <p:cNvSpPr txBox="1"/>
          <p:nvPr/>
        </p:nvSpPr>
        <p:spPr>
          <a:xfrm>
            <a:off x="8951976" y="4123944"/>
            <a:ext cx="411480" cy="512064"/>
          </a:xfrm>
          <a:prstGeom prst="rect">
            <a:avLst/>
          </a:prstGeom>
          <a:noFill/>
          <a:ln/>
        </p:spPr>
        <p:txBody>
          <a:bodyPr wrap="square" lIns="0" tIns="0" rIns="0" bIns="0" rtlCol="0" anchor="ctr"/>
          <a:lstStyle/>
          <a:p>
            <a:pPr indent="0" marL="0">
              <a:buNone/>
            </a:pPr>
            <a:r>
              <a:rPr lang="en-US" sz="1100" b="1" dirty="0">
                <a:solidFill>
                  <a:srgbClr val="3CC3F0"/>
                </a:solidFill>
              </a:rPr>
              <a:t>T10</a:t>
            </a:r>
            <a:endParaRPr lang="en-US" sz="1100" dirty="0"/>
          </a:p>
        </p:txBody>
      </p:sp>
      <p:sp>
        <p:nvSpPr>
          <p:cNvPr id="46" name="Text 34"/>
          <p:cNvSpPr txBox="1"/>
          <p:nvPr/>
        </p:nvSpPr>
        <p:spPr>
          <a:xfrm>
            <a:off x="9345168" y="4123944"/>
            <a:ext cx="1828800" cy="512064"/>
          </a:xfrm>
          <a:prstGeom prst="rect">
            <a:avLst/>
          </a:prstGeom>
          <a:noFill/>
          <a:ln/>
        </p:spPr>
        <p:txBody>
          <a:bodyPr wrap="square" lIns="0" tIns="0" rIns="0" bIns="0" rtlCol="0" anchor="ctr"/>
          <a:lstStyle/>
          <a:p>
            <a:pPr indent="0" marL="0">
              <a:buNone/>
            </a:pPr>
            <a:r>
              <a:rPr lang="en-US" sz="1000" dirty="0">
                <a:solidFill>
                  <a:srgbClr val="FFFFFF"/>
                </a:solidFill>
              </a:rPr>
              <a:t>Tool failure: safe message</a:t>
            </a:r>
            <a:endParaRPr lang="en-US" sz="1000" dirty="0"/>
          </a:p>
        </p:txBody>
      </p:sp>
      <p:pic>
        <p:nvPicPr>
          <p:cNvPr id="47" name="Image 9" descr="pass">    </p:cNvPr>
          <p:cNvPicPr>
            <a:picLocks noChangeAspect="1"/>
          </p:cNvPicPr>
          <p:nvPr/>
        </p:nvPicPr>
        <p:blipFill>
          <a:blip r:embed="rId11"/>
          <a:stretch>
            <a:fillRect/>
          </a:stretch>
        </p:blipFill>
        <p:spPr>
          <a:xfrm>
            <a:off x="11219688" y="4279392"/>
            <a:ext cx="201168" cy="201168"/>
          </a:xfrm>
          <a:prstGeom prst="rect">
            <a:avLst/>
          </a:prstGeom>
        </p:spPr>
      </p:pic>
      <p:sp>
        <p:nvSpPr>
          <p:cNvPr id="48" name="Shape 35"/>
          <p:cNvSpPr/>
          <p:nvPr/>
        </p:nvSpPr>
        <p:spPr>
          <a:xfrm>
            <a:off x="6035040" y="4709160"/>
            <a:ext cx="2715768" cy="512064"/>
          </a:xfrm>
          <a:prstGeom prst="roundRect">
            <a:avLst>
              <a:gd name="adj" fmla="val 17857"/>
            </a:avLst>
          </a:prstGeom>
          <a:solidFill>
            <a:srgbClr val="FFFFFF">
              <a:alpha val="10000"/>
            </a:srgbClr>
          </a:solidFill>
          <a:ln w="9525">
            <a:solidFill>
              <a:srgbClr val="FFFFFF">
                <a:alpha val="25000"/>
              </a:srgbClr>
            </a:solidFill>
            <a:prstDash val="solid"/>
          </a:ln>
        </p:spPr>
      </p:sp>
      <p:sp>
        <p:nvSpPr>
          <p:cNvPr id="49" name="Text 36"/>
          <p:cNvSpPr txBox="1"/>
          <p:nvPr/>
        </p:nvSpPr>
        <p:spPr>
          <a:xfrm>
            <a:off x="6144768" y="4709160"/>
            <a:ext cx="411480" cy="512064"/>
          </a:xfrm>
          <a:prstGeom prst="rect">
            <a:avLst/>
          </a:prstGeom>
          <a:noFill/>
          <a:ln/>
        </p:spPr>
        <p:txBody>
          <a:bodyPr wrap="square" lIns="0" tIns="0" rIns="0" bIns="0" rtlCol="0" anchor="ctr"/>
          <a:lstStyle/>
          <a:p>
            <a:pPr indent="0" marL="0">
              <a:buNone/>
            </a:pPr>
            <a:r>
              <a:rPr lang="en-US" sz="1100" b="1" dirty="0">
                <a:solidFill>
                  <a:srgbClr val="3CC3F0"/>
                </a:solidFill>
              </a:rPr>
              <a:t>T11</a:t>
            </a:r>
            <a:endParaRPr lang="en-US" sz="1100" dirty="0"/>
          </a:p>
        </p:txBody>
      </p:sp>
      <p:sp>
        <p:nvSpPr>
          <p:cNvPr id="50" name="Text 37"/>
          <p:cNvSpPr txBox="1"/>
          <p:nvPr/>
        </p:nvSpPr>
        <p:spPr>
          <a:xfrm>
            <a:off x="6537960" y="4709160"/>
            <a:ext cx="1828800" cy="512064"/>
          </a:xfrm>
          <a:prstGeom prst="rect">
            <a:avLst/>
          </a:prstGeom>
          <a:noFill/>
          <a:ln/>
        </p:spPr>
        <p:txBody>
          <a:bodyPr wrap="square" lIns="0" tIns="0" rIns="0" bIns="0" rtlCol="0" anchor="ctr"/>
          <a:lstStyle/>
          <a:p>
            <a:pPr indent="0" marL="0">
              <a:buNone/>
            </a:pPr>
            <a:r>
              <a:rPr lang="en-US" sz="1000" dirty="0">
                <a:solidFill>
                  <a:srgbClr val="FFFFFF"/>
                </a:solidFill>
              </a:rPr>
              <a:t>Interpretation: to staff</a:t>
            </a:r>
            <a:endParaRPr lang="en-US" sz="1000" dirty="0"/>
          </a:p>
        </p:txBody>
      </p:sp>
      <p:pic>
        <p:nvPicPr>
          <p:cNvPr id="51" name="Image 10" descr="pass">    </p:cNvPr>
          <p:cNvPicPr>
            <a:picLocks noChangeAspect="1"/>
          </p:cNvPicPr>
          <p:nvPr/>
        </p:nvPicPr>
        <p:blipFill>
          <a:blip r:embed="rId12"/>
          <a:stretch>
            <a:fillRect/>
          </a:stretch>
        </p:blipFill>
        <p:spPr>
          <a:xfrm>
            <a:off x="8412480" y="4864608"/>
            <a:ext cx="201168" cy="201168"/>
          </a:xfrm>
          <a:prstGeom prst="rect">
            <a:avLst/>
          </a:prstGeom>
        </p:spPr>
      </p:pic>
      <p:sp>
        <p:nvSpPr>
          <p:cNvPr id="52" name="Shape 38"/>
          <p:cNvSpPr/>
          <p:nvPr/>
        </p:nvSpPr>
        <p:spPr>
          <a:xfrm>
            <a:off x="8842248" y="4709160"/>
            <a:ext cx="2715768" cy="512064"/>
          </a:xfrm>
          <a:prstGeom prst="roundRect">
            <a:avLst>
              <a:gd name="adj" fmla="val 17857"/>
            </a:avLst>
          </a:prstGeom>
          <a:solidFill>
            <a:srgbClr val="FFFFFF">
              <a:alpha val="10000"/>
            </a:srgbClr>
          </a:solidFill>
          <a:ln w="9525">
            <a:solidFill>
              <a:srgbClr val="FFFFFF">
                <a:alpha val="25000"/>
              </a:srgbClr>
            </a:solidFill>
            <a:prstDash val="solid"/>
          </a:ln>
        </p:spPr>
      </p:sp>
      <p:sp>
        <p:nvSpPr>
          <p:cNvPr id="53" name="Text 39"/>
          <p:cNvSpPr txBox="1"/>
          <p:nvPr/>
        </p:nvSpPr>
        <p:spPr>
          <a:xfrm>
            <a:off x="8951976" y="4709160"/>
            <a:ext cx="411480" cy="512064"/>
          </a:xfrm>
          <a:prstGeom prst="rect">
            <a:avLst/>
          </a:prstGeom>
          <a:noFill/>
          <a:ln/>
        </p:spPr>
        <p:txBody>
          <a:bodyPr wrap="square" lIns="0" tIns="0" rIns="0" bIns="0" rtlCol="0" anchor="ctr"/>
          <a:lstStyle/>
          <a:p>
            <a:pPr indent="0" marL="0">
              <a:buNone/>
            </a:pPr>
            <a:r>
              <a:rPr lang="en-US" sz="1100" b="1" dirty="0">
                <a:solidFill>
                  <a:srgbClr val="3CC3F0"/>
                </a:solidFill>
              </a:rPr>
              <a:t>T12</a:t>
            </a:r>
            <a:endParaRPr lang="en-US" sz="1100" dirty="0"/>
          </a:p>
        </p:txBody>
      </p:sp>
      <p:sp>
        <p:nvSpPr>
          <p:cNvPr id="54" name="Text 40"/>
          <p:cNvSpPr txBox="1"/>
          <p:nvPr/>
        </p:nvSpPr>
        <p:spPr>
          <a:xfrm>
            <a:off x="9345168" y="4709160"/>
            <a:ext cx="1828800" cy="512064"/>
          </a:xfrm>
          <a:prstGeom prst="rect">
            <a:avLst/>
          </a:prstGeom>
          <a:noFill/>
          <a:ln/>
        </p:spPr>
        <p:txBody>
          <a:bodyPr wrap="square" lIns="0" tIns="0" rIns="0" bIns="0" rtlCol="0" anchor="ctr"/>
          <a:lstStyle/>
          <a:p>
            <a:pPr indent="0" marL="0">
              <a:buNone/>
            </a:pPr>
            <a:r>
              <a:rPr lang="en-US" sz="1000" dirty="0">
                <a:solidFill>
                  <a:srgbClr val="FFFFFF"/>
                </a:solidFill>
              </a:rPr>
              <a:t>Prompt injection blocked</a:t>
            </a:r>
            <a:endParaRPr lang="en-US" sz="1000" dirty="0"/>
          </a:p>
        </p:txBody>
      </p:sp>
      <p:pic>
        <p:nvPicPr>
          <p:cNvPr id="55" name="Image 11" descr="pass">    </p:cNvPr>
          <p:cNvPicPr>
            <a:picLocks noChangeAspect="1"/>
          </p:cNvPicPr>
          <p:nvPr/>
        </p:nvPicPr>
        <p:blipFill>
          <a:blip r:embed="rId13"/>
          <a:stretch>
            <a:fillRect/>
          </a:stretch>
        </p:blipFill>
        <p:spPr>
          <a:xfrm>
            <a:off x="11219688" y="4864608"/>
            <a:ext cx="201168" cy="201168"/>
          </a:xfrm>
          <a:prstGeom prst="rect">
            <a:avLst/>
          </a:prstGeom>
        </p:spPr>
      </p:pic>
      <p:sp>
        <p:nvSpPr>
          <p:cNvPr id="56" name="Shape 41"/>
          <p:cNvSpPr/>
          <p:nvPr/>
        </p:nvSpPr>
        <p:spPr>
          <a:xfrm>
            <a:off x="6035040" y="5294376"/>
            <a:ext cx="2715768" cy="512064"/>
          </a:xfrm>
          <a:prstGeom prst="roundRect">
            <a:avLst>
              <a:gd name="adj" fmla="val 17857"/>
            </a:avLst>
          </a:prstGeom>
          <a:solidFill>
            <a:srgbClr val="FFFFFF">
              <a:alpha val="10000"/>
            </a:srgbClr>
          </a:solidFill>
          <a:ln w="9525">
            <a:solidFill>
              <a:srgbClr val="FFFFFF">
                <a:alpha val="25000"/>
              </a:srgbClr>
            </a:solidFill>
            <a:prstDash val="solid"/>
          </a:ln>
        </p:spPr>
      </p:sp>
      <p:sp>
        <p:nvSpPr>
          <p:cNvPr id="57" name="Text 42"/>
          <p:cNvSpPr txBox="1"/>
          <p:nvPr/>
        </p:nvSpPr>
        <p:spPr>
          <a:xfrm>
            <a:off x="6144768" y="5294376"/>
            <a:ext cx="411480" cy="512064"/>
          </a:xfrm>
          <a:prstGeom prst="rect">
            <a:avLst/>
          </a:prstGeom>
          <a:noFill/>
          <a:ln/>
        </p:spPr>
        <p:txBody>
          <a:bodyPr wrap="square" lIns="0" tIns="0" rIns="0" bIns="0" rtlCol="0" anchor="ctr"/>
          <a:lstStyle/>
          <a:p>
            <a:pPr indent="0" marL="0">
              <a:buNone/>
            </a:pPr>
            <a:r>
              <a:rPr lang="en-US" sz="1100" b="1" dirty="0">
                <a:solidFill>
                  <a:srgbClr val="3CC3F0"/>
                </a:solidFill>
              </a:rPr>
              <a:t>T13</a:t>
            </a:r>
            <a:endParaRPr lang="en-US" sz="1100" dirty="0"/>
          </a:p>
        </p:txBody>
      </p:sp>
      <p:sp>
        <p:nvSpPr>
          <p:cNvPr id="58" name="Text 43"/>
          <p:cNvSpPr txBox="1"/>
          <p:nvPr/>
        </p:nvSpPr>
        <p:spPr>
          <a:xfrm>
            <a:off x="6537960" y="5294376"/>
            <a:ext cx="1828800" cy="512064"/>
          </a:xfrm>
          <a:prstGeom prst="rect">
            <a:avLst/>
          </a:prstGeom>
          <a:noFill/>
          <a:ln/>
        </p:spPr>
        <p:txBody>
          <a:bodyPr wrap="square" lIns="0" tIns="0" rIns="0" bIns="0" rtlCol="0" anchor="ctr"/>
          <a:lstStyle/>
          <a:p>
            <a:pPr indent="0" marL="0">
              <a:buNone/>
            </a:pPr>
            <a:r>
              <a:rPr lang="en-US" sz="1000" dirty="0">
                <a:solidFill>
                  <a:srgbClr val="FFFFFF"/>
                </a:solidFill>
              </a:rPr>
              <a:t>Wrong-program article unused</a:t>
            </a:r>
            <a:endParaRPr lang="en-US" sz="1000" dirty="0"/>
          </a:p>
        </p:txBody>
      </p:sp>
      <p:pic>
        <p:nvPicPr>
          <p:cNvPr id="59" name="Image 12" descr="pass">    </p:cNvPr>
          <p:cNvPicPr>
            <a:picLocks noChangeAspect="1"/>
          </p:cNvPicPr>
          <p:nvPr/>
        </p:nvPicPr>
        <p:blipFill>
          <a:blip r:embed="rId14"/>
          <a:stretch>
            <a:fillRect/>
          </a:stretch>
        </p:blipFill>
        <p:spPr>
          <a:xfrm>
            <a:off x="8412480" y="5449824"/>
            <a:ext cx="201168" cy="201168"/>
          </a:xfrm>
          <a:prstGeom prst="rect">
            <a:avLst/>
          </a:prstGeom>
        </p:spPr>
      </p:pic>
      <p:sp>
        <p:nvSpPr>
          <p:cNvPr id="60" name="Shape 44"/>
          <p:cNvSpPr/>
          <p:nvPr/>
        </p:nvSpPr>
        <p:spPr>
          <a:xfrm>
            <a:off x="8842248" y="5294376"/>
            <a:ext cx="2715768" cy="512064"/>
          </a:xfrm>
          <a:prstGeom prst="roundRect">
            <a:avLst>
              <a:gd name="adj" fmla="val 17857"/>
            </a:avLst>
          </a:prstGeom>
          <a:solidFill>
            <a:srgbClr val="FFFFFF">
              <a:alpha val="10000"/>
            </a:srgbClr>
          </a:solidFill>
          <a:ln w="9525">
            <a:solidFill>
              <a:srgbClr val="FFFFFF">
                <a:alpha val="25000"/>
              </a:srgbClr>
            </a:solidFill>
            <a:prstDash val="solid"/>
          </a:ln>
        </p:spPr>
      </p:sp>
      <p:sp>
        <p:nvSpPr>
          <p:cNvPr id="61" name="Text 45"/>
          <p:cNvSpPr txBox="1"/>
          <p:nvPr/>
        </p:nvSpPr>
        <p:spPr>
          <a:xfrm>
            <a:off x="8951976" y="5294376"/>
            <a:ext cx="411480" cy="512064"/>
          </a:xfrm>
          <a:prstGeom prst="rect">
            <a:avLst/>
          </a:prstGeom>
          <a:noFill/>
          <a:ln/>
        </p:spPr>
        <p:txBody>
          <a:bodyPr wrap="square" lIns="0" tIns="0" rIns="0" bIns="0" rtlCol="0" anchor="ctr"/>
          <a:lstStyle/>
          <a:p>
            <a:pPr indent="0" marL="0">
              <a:buNone/>
            </a:pPr>
            <a:r>
              <a:rPr lang="en-US" sz="1100" b="1" dirty="0">
                <a:solidFill>
                  <a:srgbClr val="3CC3F0"/>
                </a:solidFill>
              </a:rPr>
              <a:t>T14</a:t>
            </a:r>
            <a:endParaRPr lang="en-US" sz="1100" dirty="0"/>
          </a:p>
        </p:txBody>
      </p:sp>
      <p:sp>
        <p:nvSpPr>
          <p:cNvPr id="62" name="Text 46"/>
          <p:cNvSpPr txBox="1"/>
          <p:nvPr/>
        </p:nvSpPr>
        <p:spPr>
          <a:xfrm>
            <a:off x="9345168" y="5294376"/>
            <a:ext cx="1828800" cy="512064"/>
          </a:xfrm>
          <a:prstGeom prst="rect">
            <a:avLst/>
          </a:prstGeom>
          <a:noFill/>
          <a:ln/>
        </p:spPr>
        <p:txBody>
          <a:bodyPr wrap="square" lIns="0" tIns="0" rIns="0" bIns="0" rtlCol="0" anchor="ctr"/>
          <a:lstStyle/>
          <a:p>
            <a:pPr indent="0" marL="0">
              <a:buNone/>
            </a:pPr>
            <a:r>
              <a:rPr lang="en-US" sz="1000" dirty="0">
                <a:solidFill>
                  <a:srgbClr val="FFFFFF"/>
                </a:solidFill>
              </a:rPr>
              <a:t>Greeting: no escalation</a:t>
            </a:r>
            <a:endParaRPr lang="en-US" sz="1000" dirty="0"/>
          </a:p>
        </p:txBody>
      </p:sp>
      <p:pic>
        <p:nvPicPr>
          <p:cNvPr id="63" name="Image 13" descr="pass">    </p:cNvPr>
          <p:cNvPicPr>
            <a:picLocks noChangeAspect="1"/>
          </p:cNvPicPr>
          <p:nvPr/>
        </p:nvPicPr>
        <p:blipFill>
          <a:blip r:embed="rId15"/>
          <a:stretch>
            <a:fillRect/>
          </a:stretch>
        </p:blipFill>
        <p:spPr>
          <a:xfrm>
            <a:off x="11219688" y="5449824"/>
            <a:ext cx="201168" cy="201168"/>
          </a:xfrm>
          <a:prstGeom prst="rect">
            <a:avLst/>
          </a:prstGeom>
        </p:spPr>
      </p:pic>
      <p:sp>
        <p:nvSpPr>
          <p:cNvPr id="64" name="Text 47"/>
          <p:cNvSpPr txBox="1"/>
          <p:nvPr/>
        </p:nvSpPr>
        <p:spPr>
          <a:xfrm>
            <a:off x="6035040" y="5943600"/>
            <a:ext cx="5513832" cy="365760"/>
          </a:xfrm>
          <a:prstGeom prst="rect">
            <a:avLst/>
          </a:prstGeom>
          <a:noFill/>
          <a:ln/>
        </p:spPr>
        <p:txBody>
          <a:bodyPr wrap="square" lIns="0" tIns="0" rIns="0" bIns="0" rtlCol="0" anchor="t"/>
          <a:lstStyle/>
          <a:p>
            <a:pPr indent="0" marL="0">
              <a:buNone/>
            </a:pPr>
            <a:r>
              <a:rPr lang="en-US" sz="1100" b="1" dirty="0">
                <a:solidFill>
                  <a:srgbClr val="F5A524"/>
                </a:solidFill>
              </a:rPr>
              <a:t>Offline dry run (templates, no Azure calls). The online run in Foundry is the next step and the submission evidence.</a:t>
            </a:r>
            <a:endParaRPr lang="en-US" sz="11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body" hasCustomPrompt="1"/>
          </p:nvPr>
        </p:nvSpPr>
        <p:spPr>
          <a:xfrm>
            <a:off x="640080" y="438912"/>
            <a:ext cx="8229600" cy="274320"/>
          </a:xfrm>
          <a:prstGeom prst="rect">
            <a:avLst/>
          </a:prstGeom>
          <a:noFill/>
          <a:ln/>
        </p:spPr>
        <p:txBody>
          <a:bodyPr wrap="square" lIns="0" tIns="0" rIns="0" bIns="0" rtlCol="0" anchor="t"/>
          <a:lstStyle/>
          <a:p>
            <a:pPr indent="0" marL="0">
              <a:buNone/>
            </a:pPr>
            <a:r>
              <a:rPr lang="en-US" sz="1200" b="1" spc="400" kern="0" dirty="0">
                <a:solidFill>
                  <a:srgbClr val="3CC3F0"/>
                </a:solidFill>
              </a:rPr>
              <a:t>13  ·  HONEST LIMITS &amp; NEXT STEPS</a:t>
            </a:r>
            <a:endParaRPr lang="en-US" sz="1200" dirty="0"/>
          </a:p>
        </p:txBody>
      </p:sp>
      <p:sp>
        <p:nvSpPr>
          <p:cNvPr id="3" name="Text 2"/>
          <p:cNvSpPr/>
          <p:nvPr>
            <p:ph idx="104" type="title" hasCustomPrompt="1"/>
          </p:nvPr>
        </p:nvSpPr>
        <p:spPr>
          <a:xfrm>
            <a:off x="640080" y="749808"/>
            <a:ext cx="10908792" cy="777240"/>
          </a:xfrm>
          <a:prstGeom prst="rect">
            <a:avLst/>
          </a:prstGeom>
          <a:noFill/>
          <a:ln/>
        </p:spPr>
        <p:txBody>
          <a:bodyPr wrap="square" lIns="0" tIns="0" rIns="0" bIns="0" rtlCol="0" anchor="t"/>
          <a:lstStyle/>
          <a:p>
            <a:pPr algn="l" indent="0" marL="0">
              <a:buNone/>
            </a:pPr>
            <a:r>
              <a:rPr lang="en-US" sz="3200" b="1" dirty="0">
                <a:solidFill>
                  <a:srgbClr val="FFFFFF"/>
                </a:solidFill>
              </a:rPr>
              <a:t>What is proven, and what comes next</a:t>
            </a:r>
            <a:endParaRPr lang="en-US" sz="3200" dirty="0"/>
          </a:p>
        </p:txBody>
      </p:sp>
      <p:sp>
        <p:nvSpPr>
          <p:cNvPr id="4" name="Shape 2"/>
          <p:cNvSpPr/>
          <p:nvPr/>
        </p:nvSpPr>
        <p:spPr>
          <a:xfrm>
            <a:off x="640080" y="1783080"/>
            <a:ext cx="5349240" cy="2880360"/>
          </a:xfrm>
          <a:prstGeom prst="roundRect">
            <a:avLst>
              <a:gd name="adj" fmla="val 3810"/>
            </a:avLst>
          </a:prstGeom>
          <a:solidFill>
            <a:srgbClr val="FFFFFF">
              <a:alpha val="10000"/>
            </a:srgbClr>
          </a:solidFill>
          <a:ln w="9525">
            <a:solidFill>
              <a:srgbClr val="FFFFFF">
                <a:alpha val="25000"/>
              </a:srgbClr>
            </a:solidFill>
            <a:prstDash val="solid"/>
          </a:ln>
        </p:spPr>
      </p:sp>
      <p:pic>
        <p:nvPicPr>
          <p:cNvPr id="5" name="Image 0" descr="PROVEN OFFLINE">    </p:cNvPr>
          <p:cNvPicPr>
            <a:picLocks noChangeAspect="1"/>
          </p:cNvPicPr>
          <p:nvPr/>
        </p:nvPicPr>
        <p:blipFill>
          <a:blip r:embed="rId1"/>
          <a:stretch>
            <a:fillRect/>
          </a:stretch>
        </p:blipFill>
        <p:spPr>
          <a:xfrm>
            <a:off x="914400" y="1984248"/>
            <a:ext cx="292608" cy="292608"/>
          </a:xfrm>
          <a:prstGeom prst="rect">
            <a:avLst/>
          </a:prstGeom>
        </p:spPr>
      </p:pic>
      <p:sp>
        <p:nvSpPr>
          <p:cNvPr id="6" name="Text 3"/>
          <p:cNvSpPr txBox="1"/>
          <p:nvPr/>
        </p:nvSpPr>
        <p:spPr>
          <a:xfrm>
            <a:off x="1371600" y="1965960"/>
            <a:ext cx="4114800" cy="329184"/>
          </a:xfrm>
          <a:prstGeom prst="rect">
            <a:avLst/>
          </a:prstGeom>
          <a:noFill/>
          <a:ln/>
        </p:spPr>
        <p:txBody>
          <a:bodyPr wrap="square" lIns="0" tIns="0" rIns="0" bIns="0" rtlCol="0" anchor="ctr"/>
          <a:lstStyle/>
          <a:p>
            <a:pPr indent="0" marL="0">
              <a:buNone/>
            </a:pPr>
            <a:r>
              <a:rPr lang="en-US" sz="1200" b="1" spc="200" kern="0" dirty="0">
                <a:solidFill>
                  <a:srgbClr val="12A36B"/>
                </a:solidFill>
              </a:rPr>
              <a:t>PROVEN OFFLINE</a:t>
            </a:r>
            <a:endParaRPr lang="en-US" sz="1200" dirty="0"/>
          </a:p>
        </p:txBody>
      </p:sp>
      <p:sp>
        <p:nvSpPr>
          <p:cNvPr id="7" name="Shape 4"/>
          <p:cNvSpPr/>
          <p:nvPr/>
        </p:nvSpPr>
        <p:spPr>
          <a:xfrm>
            <a:off x="960120" y="2587752"/>
            <a:ext cx="91440" cy="91440"/>
          </a:xfrm>
          <a:prstGeom prst="ellipse">
            <a:avLst/>
          </a:prstGeom>
          <a:solidFill>
            <a:srgbClr val="12A36B"/>
          </a:solidFill>
          <a:ln w="6350">
            <a:solidFill>
              <a:srgbClr val="12A36B"/>
            </a:solidFill>
            <a:prstDash val="solid"/>
          </a:ln>
        </p:spPr>
      </p:sp>
      <p:sp>
        <p:nvSpPr>
          <p:cNvPr id="8" name="Text 5"/>
          <p:cNvSpPr txBox="1"/>
          <p:nvPr/>
        </p:nvSpPr>
        <p:spPr>
          <a:xfrm>
            <a:off x="1234440" y="2468880"/>
            <a:ext cx="4526280" cy="329184"/>
          </a:xfrm>
          <a:prstGeom prst="rect">
            <a:avLst/>
          </a:prstGeom>
          <a:noFill/>
          <a:ln/>
        </p:spPr>
        <p:txBody>
          <a:bodyPr wrap="square" lIns="0" tIns="0" rIns="0" bIns="0" rtlCol="0" anchor="ctr"/>
          <a:lstStyle/>
          <a:p>
            <a:pPr indent="0" marL="0">
              <a:buNone/>
            </a:pPr>
            <a:r>
              <a:rPr lang="en-US" sz="1250" dirty="0">
                <a:solidFill>
                  <a:srgbClr val="FFFFFF"/>
                </a:solidFill>
              </a:rPr>
              <a:t>Rules ER-501 to ER-504 in code</a:t>
            </a:r>
            <a:endParaRPr lang="en-US" sz="1250" dirty="0"/>
          </a:p>
        </p:txBody>
      </p:sp>
      <p:sp>
        <p:nvSpPr>
          <p:cNvPr id="9" name="Shape 6"/>
          <p:cNvSpPr/>
          <p:nvPr/>
        </p:nvSpPr>
        <p:spPr>
          <a:xfrm>
            <a:off x="960120" y="2990088"/>
            <a:ext cx="91440" cy="91440"/>
          </a:xfrm>
          <a:prstGeom prst="ellipse">
            <a:avLst/>
          </a:prstGeom>
          <a:solidFill>
            <a:srgbClr val="12A36B"/>
          </a:solidFill>
          <a:ln w="6350">
            <a:solidFill>
              <a:srgbClr val="12A36B"/>
            </a:solidFill>
            <a:prstDash val="solid"/>
          </a:ln>
        </p:spPr>
      </p:sp>
      <p:sp>
        <p:nvSpPr>
          <p:cNvPr id="10" name="Text 7"/>
          <p:cNvSpPr txBox="1"/>
          <p:nvPr/>
        </p:nvSpPr>
        <p:spPr>
          <a:xfrm>
            <a:off x="1234440" y="2871216"/>
            <a:ext cx="4526280" cy="329184"/>
          </a:xfrm>
          <a:prstGeom prst="rect">
            <a:avLst/>
          </a:prstGeom>
          <a:noFill/>
          <a:ln/>
        </p:spPr>
        <p:txBody>
          <a:bodyPr wrap="square" lIns="0" tIns="0" rIns="0" bIns="0" rtlCol="0" anchor="ctr"/>
          <a:lstStyle/>
          <a:p>
            <a:pPr indent="0" marL="0">
              <a:buNone/>
            </a:pPr>
            <a:r>
              <a:rPr lang="en-US" sz="1250" dirty="0">
                <a:solidFill>
                  <a:srgbClr val="FFFFFF"/>
                </a:solidFill>
              </a:rPr>
              <a:t>Guards reject advice and ungrounded numbers</a:t>
            </a:r>
            <a:endParaRPr lang="en-US" sz="1250" dirty="0"/>
          </a:p>
        </p:txBody>
      </p:sp>
      <p:sp>
        <p:nvSpPr>
          <p:cNvPr id="11" name="Shape 8"/>
          <p:cNvSpPr/>
          <p:nvPr/>
        </p:nvSpPr>
        <p:spPr>
          <a:xfrm>
            <a:off x="960120" y="3392424"/>
            <a:ext cx="91440" cy="91440"/>
          </a:xfrm>
          <a:prstGeom prst="ellipse">
            <a:avLst/>
          </a:prstGeom>
          <a:solidFill>
            <a:srgbClr val="12A36B"/>
          </a:solidFill>
          <a:ln w="6350">
            <a:solidFill>
              <a:srgbClr val="12A36B"/>
            </a:solidFill>
            <a:prstDash val="solid"/>
          </a:ln>
        </p:spPr>
      </p:sp>
      <p:sp>
        <p:nvSpPr>
          <p:cNvPr id="12" name="Text 9"/>
          <p:cNvSpPr txBox="1"/>
          <p:nvPr/>
        </p:nvSpPr>
        <p:spPr>
          <a:xfrm>
            <a:off x="1234440" y="3273552"/>
            <a:ext cx="4526280" cy="329184"/>
          </a:xfrm>
          <a:prstGeom prst="rect">
            <a:avLst/>
          </a:prstGeom>
          <a:noFill/>
          <a:ln/>
        </p:spPr>
        <p:txBody>
          <a:bodyPr wrap="square" lIns="0" tIns="0" rIns="0" bIns="0" rtlCol="0" anchor="ctr"/>
          <a:lstStyle/>
          <a:p>
            <a:pPr indent="0" marL="0">
              <a:buNone/>
            </a:pPr>
            <a:r>
              <a:rPr lang="en-US" sz="1250" dirty="0">
                <a:solidFill>
                  <a:srgbClr val="FFFFFF"/>
                </a:solidFill>
              </a:rPr>
              <a:t>Citation and status checks</a:t>
            </a:r>
            <a:endParaRPr lang="en-US" sz="1250" dirty="0"/>
          </a:p>
        </p:txBody>
      </p:sp>
      <p:sp>
        <p:nvSpPr>
          <p:cNvPr id="13" name="Shape 10"/>
          <p:cNvSpPr/>
          <p:nvPr/>
        </p:nvSpPr>
        <p:spPr>
          <a:xfrm>
            <a:off x="960120" y="3794760"/>
            <a:ext cx="91440" cy="91440"/>
          </a:xfrm>
          <a:prstGeom prst="ellipse">
            <a:avLst/>
          </a:prstGeom>
          <a:solidFill>
            <a:srgbClr val="12A36B"/>
          </a:solidFill>
          <a:ln w="6350">
            <a:solidFill>
              <a:srgbClr val="12A36B"/>
            </a:solidFill>
            <a:prstDash val="solid"/>
          </a:ln>
        </p:spPr>
      </p:sp>
      <p:sp>
        <p:nvSpPr>
          <p:cNvPr id="14" name="Text 11"/>
          <p:cNvSpPr txBox="1"/>
          <p:nvPr/>
        </p:nvSpPr>
        <p:spPr>
          <a:xfrm>
            <a:off x="1234440" y="3675888"/>
            <a:ext cx="4526280" cy="329184"/>
          </a:xfrm>
          <a:prstGeom prst="rect">
            <a:avLst/>
          </a:prstGeom>
          <a:noFill/>
          <a:ln/>
        </p:spPr>
        <p:txBody>
          <a:bodyPr wrap="square" lIns="0" tIns="0" rIns="0" bIns="0" rtlCol="0" anchor="ctr"/>
          <a:lstStyle/>
          <a:p>
            <a:pPr indent="0" marL="0">
              <a:buNone/>
            </a:pPr>
            <a:r>
              <a:rPr lang="en-US" sz="1250" dirty="0">
                <a:solidFill>
                  <a:srgbClr val="FFFFFF"/>
                </a:solidFill>
              </a:rPr>
              <a:t>Upload, rollback and approval in the UI</a:t>
            </a:r>
            <a:endParaRPr lang="en-US" sz="1250" dirty="0"/>
          </a:p>
        </p:txBody>
      </p:sp>
      <p:sp>
        <p:nvSpPr>
          <p:cNvPr id="15" name="Shape 12"/>
          <p:cNvSpPr/>
          <p:nvPr/>
        </p:nvSpPr>
        <p:spPr>
          <a:xfrm>
            <a:off x="960120" y="4197096"/>
            <a:ext cx="91440" cy="91440"/>
          </a:xfrm>
          <a:prstGeom prst="ellipse">
            <a:avLst/>
          </a:prstGeom>
          <a:solidFill>
            <a:srgbClr val="12A36B"/>
          </a:solidFill>
          <a:ln w="6350">
            <a:solidFill>
              <a:srgbClr val="12A36B"/>
            </a:solidFill>
            <a:prstDash val="solid"/>
          </a:ln>
        </p:spPr>
      </p:sp>
      <p:sp>
        <p:nvSpPr>
          <p:cNvPr id="16" name="Text 13"/>
          <p:cNvSpPr txBox="1"/>
          <p:nvPr/>
        </p:nvSpPr>
        <p:spPr>
          <a:xfrm>
            <a:off x="1234440" y="4078224"/>
            <a:ext cx="4526280" cy="329184"/>
          </a:xfrm>
          <a:prstGeom prst="rect">
            <a:avLst/>
          </a:prstGeom>
          <a:noFill/>
          <a:ln/>
        </p:spPr>
        <p:txBody>
          <a:bodyPr wrap="square" lIns="0" tIns="0" rIns="0" bIns="0" rtlCol="0" anchor="ctr"/>
          <a:lstStyle/>
          <a:p>
            <a:pPr indent="0" marL="0">
              <a:buNone/>
            </a:pPr>
            <a:r>
              <a:rPr lang="en-US" sz="1250" dirty="0">
                <a:solidFill>
                  <a:srgbClr val="FFFFFF"/>
                </a:solidFill>
              </a:rPr>
              <a:t>Switches and fallbacks, tested with mocks</a:t>
            </a:r>
            <a:endParaRPr lang="en-US" sz="1250" dirty="0"/>
          </a:p>
        </p:txBody>
      </p:sp>
      <p:sp>
        <p:nvSpPr>
          <p:cNvPr id="17" name="Shape 14"/>
          <p:cNvSpPr/>
          <p:nvPr/>
        </p:nvSpPr>
        <p:spPr>
          <a:xfrm>
            <a:off x="6199632" y="1783080"/>
            <a:ext cx="5349240" cy="2880360"/>
          </a:xfrm>
          <a:prstGeom prst="roundRect">
            <a:avLst>
              <a:gd name="adj" fmla="val 3810"/>
            </a:avLst>
          </a:prstGeom>
          <a:solidFill>
            <a:srgbClr val="FFFFFF">
              <a:alpha val="10000"/>
            </a:srgbClr>
          </a:solidFill>
          <a:ln w="9525">
            <a:solidFill>
              <a:srgbClr val="FFFFFF">
                <a:alpha val="25000"/>
              </a:srgbClr>
            </a:solidFill>
            <a:prstDash val="solid"/>
          </a:ln>
        </p:spPr>
      </p:sp>
      <p:pic>
        <p:nvPicPr>
          <p:cNvPr id="18" name="Image 1" descr="NEEDS LIVE AZURE OR SIGN-OFF">    </p:cNvPr>
          <p:cNvPicPr>
            <a:picLocks noChangeAspect="1"/>
          </p:cNvPicPr>
          <p:nvPr/>
        </p:nvPicPr>
        <p:blipFill>
          <a:blip r:embed="rId2"/>
          <a:stretch>
            <a:fillRect/>
          </a:stretch>
        </p:blipFill>
        <p:spPr>
          <a:xfrm>
            <a:off x="6473952" y="1984248"/>
            <a:ext cx="292608" cy="292608"/>
          </a:xfrm>
          <a:prstGeom prst="rect">
            <a:avLst/>
          </a:prstGeom>
        </p:spPr>
      </p:pic>
      <p:sp>
        <p:nvSpPr>
          <p:cNvPr id="19" name="Text 15"/>
          <p:cNvSpPr txBox="1"/>
          <p:nvPr/>
        </p:nvSpPr>
        <p:spPr>
          <a:xfrm>
            <a:off x="6931152" y="1965960"/>
            <a:ext cx="4114800" cy="329184"/>
          </a:xfrm>
          <a:prstGeom prst="rect">
            <a:avLst/>
          </a:prstGeom>
          <a:noFill/>
          <a:ln/>
        </p:spPr>
        <p:txBody>
          <a:bodyPr wrap="square" lIns="0" tIns="0" rIns="0" bIns="0" rtlCol="0" anchor="ctr"/>
          <a:lstStyle/>
          <a:p>
            <a:pPr indent="0" marL="0">
              <a:buNone/>
            </a:pPr>
            <a:r>
              <a:rPr lang="en-US" sz="1200" b="1" spc="200" kern="0" dirty="0">
                <a:solidFill>
                  <a:srgbClr val="F5A524"/>
                </a:solidFill>
              </a:rPr>
              <a:t>NEEDS LIVE AZURE OR SIGN-OFF</a:t>
            </a:r>
            <a:endParaRPr lang="en-US" sz="1200" dirty="0"/>
          </a:p>
        </p:txBody>
      </p:sp>
      <p:sp>
        <p:nvSpPr>
          <p:cNvPr id="20" name="Shape 16"/>
          <p:cNvSpPr/>
          <p:nvPr/>
        </p:nvSpPr>
        <p:spPr>
          <a:xfrm>
            <a:off x="6519672" y="2587752"/>
            <a:ext cx="91440" cy="91440"/>
          </a:xfrm>
          <a:prstGeom prst="ellipse">
            <a:avLst/>
          </a:prstGeom>
          <a:solidFill>
            <a:srgbClr val="F5A524"/>
          </a:solidFill>
          <a:ln w="6350">
            <a:solidFill>
              <a:srgbClr val="F5A524"/>
            </a:solidFill>
            <a:prstDash val="solid"/>
          </a:ln>
        </p:spPr>
      </p:sp>
      <p:sp>
        <p:nvSpPr>
          <p:cNvPr id="21" name="Text 17"/>
          <p:cNvSpPr txBox="1"/>
          <p:nvPr/>
        </p:nvSpPr>
        <p:spPr>
          <a:xfrm>
            <a:off x="6793992" y="2468880"/>
            <a:ext cx="4526280" cy="329184"/>
          </a:xfrm>
          <a:prstGeom prst="rect">
            <a:avLst/>
          </a:prstGeom>
          <a:noFill/>
          <a:ln/>
        </p:spPr>
        <p:txBody>
          <a:bodyPr wrap="square" lIns="0" tIns="0" rIns="0" bIns="0" rtlCol="0" anchor="ctr"/>
          <a:lstStyle/>
          <a:p>
            <a:pPr indent="0" marL="0">
              <a:buNone/>
            </a:pPr>
            <a:r>
              <a:rPr lang="en-US" sz="1250" dirty="0">
                <a:solidFill>
                  <a:srgbClr val="FFFFFF"/>
                </a:solidFill>
              </a:rPr>
              <a:t>Agent registration in Foundry</a:t>
            </a:r>
            <a:endParaRPr lang="en-US" sz="1250" dirty="0"/>
          </a:p>
        </p:txBody>
      </p:sp>
      <p:sp>
        <p:nvSpPr>
          <p:cNvPr id="22" name="Shape 18"/>
          <p:cNvSpPr/>
          <p:nvPr/>
        </p:nvSpPr>
        <p:spPr>
          <a:xfrm>
            <a:off x="6519672" y="2990088"/>
            <a:ext cx="91440" cy="91440"/>
          </a:xfrm>
          <a:prstGeom prst="ellipse">
            <a:avLst/>
          </a:prstGeom>
          <a:solidFill>
            <a:srgbClr val="F5A524"/>
          </a:solidFill>
          <a:ln w="6350">
            <a:solidFill>
              <a:srgbClr val="F5A524"/>
            </a:solidFill>
            <a:prstDash val="solid"/>
          </a:ln>
        </p:spPr>
      </p:sp>
      <p:sp>
        <p:nvSpPr>
          <p:cNvPr id="23" name="Text 19"/>
          <p:cNvSpPr txBox="1"/>
          <p:nvPr/>
        </p:nvSpPr>
        <p:spPr>
          <a:xfrm>
            <a:off x="6793992" y="2871216"/>
            <a:ext cx="4526280" cy="329184"/>
          </a:xfrm>
          <a:prstGeom prst="rect">
            <a:avLst/>
          </a:prstGeom>
          <a:noFill/>
          <a:ln/>
        </p:spPr>
        <p:txBody>
          <a:bodyPr wrap="square" lIns="0" tIns="0" rIns="0" bIns="0" rtlCol="0" anchor="ctr"/>
          <a:lstStyle/>
          <a:p>
            <a:pPr indent="0" marL="0">
              <a:buNone/>
            </a:pPr>
            <a:r>
              <a:rPr lang="en-US" sz="1250" dirty="0">
                <a:solidFill>
                  <a:srgbClr val="FFFFFF"/>
                </a:solidFill>
              </a:rPr>
              <a:t>Blob upload and AI Search indexing</a:t>
            </a:r>
            <a:endParaRPr lang="en-US" sz="1250" dirty="0"/>
          </a:p>
        </p:txBody>
      </p:sp>
      <p:sp>
        <p:nvSpPr>
          <p:cNvPr id="24" name="Shape 20"/>
          <p:cNvSpPr/>
          <p:nvPr/>
        </p:nvSpPr>
        <p:spPr>
          <a:xfrm>
            <a:off x="6519672" y="3392424"/>
            <a:ext cx="91440" cy="91440"/>
          </a:xfrm>
          <a:prstGeom prst="ellipse">
            <a:avLst/>
          </a:prstGeom>
          <a:solidFill>
            <a:srgbClr val="F5A524"/>
          </a:solidFill>
          <a:ln w="6350">
            <a:solidFill>
              <a:srgbClr val="F5A524"/>
            </a:solidFill>
            <a:prstDash val="solid"/>
          </a:ln>
        </p:spPr>
      </p:sp>
      <p:sp>
        <p:nvSpPr>
          <p:cNvPr id="25" name="Text 21"/>
          <p:cNvSpPr txBox="1"/>
          <p:nvPr/>
        </p:nvSpPr>
        <p:spPr>
          <a:xfrm>
            <a:off x="6793992" y="3273552"/>
            <a:ext cx="4526280" cy="329184"/>
          </a:xfrm>
          <a:prstGeom prst="rect">
            <a:avLst/>
          </a:prstGeom>
          <a:noFill/>
          <a:ln/>
        </p:spPr>
        <p:txBody>
          <a:bodyPr wrap="square" lIns="0" tIns="0" rIns="0" bIns="0" rtlCol="0" anchor="ctr"/>
          <a:lstStyle/>
          <a:p>
            <a:pPr indent="0" marL="0">
              <a:buNone/>
            </a:pPr>
            <a:r>
              <a:rPr lang="en-US" sz="1250" dirty="0">
                <a:solidFill>
                  <a:srgbClr val="FFFFFF"/>
                </a:solidFill>
              </a:rPr>
              <a:t>Knowledge base (a preview feature)</a:t>
            </a:r>
            <a:endParaRPr lang="en-US" sz="1250" dirty="0"/>
          </a:p>
        </p:txBody>
      </p:sp>
      <p:sp>
        <p:nvSpPr>
          <p:cNvPr id="26" name="Shape 22"/>
          <p:cNvSpPr/>
          <p:nvPr/>
        </p:nvSpPr>
        <p:spPr>
          <a:xfrm>
            <a:off x="6519672" y="3794760"/>
            <a:ext cx="91440" cy="91440"/>
          </a:xfrm>
          <a:prstGeom prst="ellipse">
            <a:avLst/>
          </a:prstGeom>
          <a:solidFill>
            <a:srgbClr val="F5A524"/>
          </a:solidFill>
          <a:ln w="6350">
            <a:solidFill>
              <a:srgbClr val="F5A524"/>
            </a:solidFill>
            <a:prstDash val="solid"/>
          </a:ln>
        </p:spPr>
      </p:sp>
      <p:sp>
        <p:nvSpPr>
          <p:cNvPr id="27" name="Text 23"/>
          <p:cNvSpPr txBox="1"/>
          <p:nvPr/>
        </p:nvSpPr>
        <p:spPr>
          <a:xfrm>
            <a:off x="6793992" y="3675888"/>
            <a:ext cx="4526280" cy="329184"/>
          </a:xfrm>
          <a:prstGeom prst="rect">
            <a:avLst/>
          </a:prstGeom>
          <a:noFill/>
          <a:ln/>
        </p:spPr>
        <p:txBody>
          <a:bodyPr wrap="square" lIns="0" tIns="0" rIns="0" bIns="0" rtlCol="0" anchor="ctr"/>
          <a:lstStyle/>
          <a:p>
            <a:pPr indent="0" marL="0">
              <a:buNone/>
            </a:pPr>
            <a:r>
              <a:rPr lang="en-US" sz="1250" dirty="0">
                <a:solidFill>
                  <a:srgbClr val="FFFFFF"/>
                </a:solidFill>
              </a:rPr>
              <a:t>Quality of model wording and JSON replies</a:t>
            </a:r>
            <a:endParaRPr lang="en-US" sz="1250" dirty="0"/>
          </a:p>
        </p:txBody>
      </p:sp>
      <p:sp>
        <p:nvSpPr>
          <p:cNvPr id="28" name="Shape 24"/>
          <p:cNvSpPr/>
          <p:nvPr/>
        </p:nvSpPr>
        <p:spPr>
          <a:xfrm>
            <a:off x="6519672" y="4197096"/>
            <a:ext cx="91440" cy="91440"/>
          </a:xfrm>
          <a:prstGeom prst="ellipse">
            <a:avLst/>
          </a:prstGeom>
          <a:solidFill>
            <a:srgbClr val="F5A524"/>
          </a:solidFill>
          <a:ln w="6350">
            <a:solidFill>
              <a:srgbClr val="F5A524"/>
            </a:solidFill>
            <a:prstDash val="solid"/>
          </a:ln>
        </p:spPr>
      </p:sp>
      <p:sp>
        <p:nvSpPr>
          <p:cNvPr id="29" name="Text 25"/>
          <p:cNvSpPr txBox="1"/>
          <p:nvPr/>
        </p:nvSpPr>
        <p:spPr>
          <a:xfrm>
            <a:off x="6793992" y="4078224"/>
            <a:ext cx="4526280" cy="329184"/>
          </a:xfrm>
          <a:prstGeom prst="rect">
            <a:avLst/>
          </a:prstGeom>
          <a:noFill/>
          <a:ln/>
        </p:spPr>
        <p:txBody>
          <a:bodyPr wrap="square" lIns="0" tIns="0" rIns="0" bIns="0" rtlCol="0" anchor="ctr"/>
          <a:lstStyle/>
          <a:p>
            <a:pPr indent="0" marL="0">
              <a:buNone/>
            </a:pPr>
            <a:r>
              <a:rPr lang="en-US" sz="1250" dirty="0">
                <a:solidFill>
                  <a:srgbClr val="FFFFFF"/>
                </a:solidFill>
              </a:rPr>
              <a:t>Thresholds are placeholders: clinicians must set them</a:t>
            </a:r>
            <a:endParaRPr lang="en-US" sz="1250" dirty="0"/>
          </a:p>
        </p:txBody>
      </p:sp>
      <p:sp>
        <p:nvSpPr>
          <p:cNvPr id="30" name="Shape 26"/>
          <p:cNvSpPr/>
          <p:nvPr/>
        </p:nvSpPr>
        <p:spPr>
          <a:xfrm>
            <a:off x="640080" y="4983480"/>
            <a:ext cx="2697480" cy="914400"/>
          </a:xfrm>
          <a:prstGeom prst="chevron">
            <a:avLst/>
          </a:prstGeom>
          <a:solidFill>
            <a:srgbClr val="1547C8"/>
          </a:solidFill>
          <a:ln w="12700">
            <a:solidFill>
              <a:srgbClr val="3CC3F0"/>
            </a:solidFill>
            <a:prstDash val="solid"/>
          </a:ln>
        </p:spPr>
      </p:sp>
      <p:sp>
        <p:nvSpPr>
          <p:cNvPr id="31" name="Text 27"/>
          <p:cNvSpPr txBox="1"/>
          <p:nvPr/>
        </p:nvSpPr>
        <p:spPr>
          <a:xfrm>
            <a:off x="1143000" y="4983480"/>
            <a:ext cx="365760" cy="914400"/>
          </a:xfrm>
          <a:prstGeom prst="rect">
            <a:avLst/>
          </a:prstGeom>
          <a:noFill/>
          <a:ln/>
        </p:spPr>
        <p:txBody>
          <a:bodyPr wrap="square" lIns="0" tIns="0" rIns="0" bIns="0" rtlCol="0" anchor="ctr"/>
          <a:lstStyle/>
          <a:p>
            <a:pPr indent="0" marL="0">
              <a:buNone/>
            </a:pPr>
            <a:r>
              <a:rPr lang="en-US" sz="2200" b="1" dirty="0">
                <a:solidFill>
                  <a:srgbClr val="3CC3F0"/>
                </a:solidFill>
              </a:rPr>
              <a:t>1</a:t>
            </a:r>
            <a:endParaRPr lang="en-US" sz="2200" dirty="0"/>
          </a:p>
        </p:txBody>
      </p:sp>
      <p:sp>
        <p:nvSpPr>
          <p:cNvPr id="32" name="Text 28"/>
          <p:cNvSpPr txBox="1"/>
          <p:nvPr/>
        </p:nvSpPr>
        <p:spPr>
          <a:xfrm>
            <a:off x="1554480" y="4983480"/>
            <a:ext cx="1600200" cy="914400"/>
          </a:xfrm>
          <a:prstGeom prst="rect">
            <a:avLst/>
          </a:prstGeom>
          <a:noFill/>
          <a:ln/>
        </p:spPr>
        <p:txBody>
          <a:bodyPr wrap="square" lIns="0" tIns="0" rIns="0" bIns="0" rtlCol="0" anchor="ctr"/>
          <a:lstStyle/>
          <a:p>
            <a:pPr indent="0" marL="0">
              <a:buNone/>
            </a:pPr>
            <a:r>
              <a:rPr lang="en-US" sz="1150" b="1" dirty="0">
                <a:solidFill>
                  <a:srgbClr val="FFFFFF"/>
                </a:solidFill>
              </a:rPr>
              <a:t>Create the Azure resources</a:t>
            </a:r>
            <a:endParaRPr lang="en-US" sz="1150" dirty="0"/>
          </a:p>
        </p:txBody>
      </p:sp>
      <p:sp>
        <p:nvSpPr>
          <p:cNvPr id="33" name="Shape 29"/>
          <p:cNvSpPr/>
          <p:nvPr/>
        </p:nvSpPr>
        <p:spPr>
          <a:xfrm>
            <a:off x="3364992" y="4983480"/>
            <a:ext cx="2697480" cy="914400"/>
          </a:xfrm>
          <a:prstGeom prst="chevron">
            <a:avLst/>
          </a:prstGeom>
          <a:solidFill>
            <a:srgbClr val="1547C8">
              <a:alpha val="88000"/>
            </a:srgbClr>
          </a:solidFill>
          <a:ln w="12700">
            <a:solidFill>
              <a:srgbClr val="3CC3F0"/>
            </a:solidFill>
            <a:prstDash val="solid"/>
          </a:ln>
        </p:spPr>
      </p:sp>
      <p:sp>
        <p:nvSpPr>
          <p:cNvPr id="34" name="Text 30"/>
          <p:cNvSpPr txBox="1"/>
          <p:nvPr/>
        </p:nvSpPr>
        <p:spPr>
          <a:xfrm>
            <a:off x="3867912" y="4983480"/>
            <a:ext cx="365760" cy="914400"/>
          </a:xfrm>
          <a:prstGeom prst="rect">
            <a:avLst/>
          </a:prstGeom>
          <a:noFill/>
          <a:ln/>
        </p:spPr>
        <p:txBody>
          <a:bodyPr wrap="square" lIns="0" tIns="0" rIns="0" bIns="0" rtlCol="0" anchor="ctr"/>
          <a:lstStyle/>
          <a:p>
            <a:pPr indent="0" marL="0">
              <a:buNone/>
            </a:pPr>
            <a:r>
              <a:rPr lang="en-US" sz="2200" b="1" dirty="0">
                <a:solidFill>
                  <a:srgbClr val="3CC3F0"/>
                </a:solidFill>
              </a:rPr>
              <a:t>2</a:t>
            </a:r>
            <a:endParaRPr lang="en-US" sz="2200" dirty="0"/>
          </a:p>
        </p:txBody>
      </p:sp>
      <p:sp>
        <p:nvSpPr>
          <p:cNvPr id="35" name="Text 31"/>
          <p:cNvSpPr txBox="1"/>
          <p:nvPr/>
        </p:nvSpPr>
        <p:spPr>
          <a:xfrm>
            <a:off x="4279392" y="4983480"/>
            <a:ext cx="1600200" cy="914400"/>
          </a:xfrm>
          <a:prstGeom prst="rect">
            <a:avLst/>
          </a:prstGeom>
          <a:noFill/>
          <a:ln/>
        </p:spPr>
        <p:txBody>
          <a:bodyPr wrap="square" lIns="0" tIns="0" rIns="0" bIns="0" rtlCol="0" anchor="ctr"/>
          <a:lstStyle/>
          <a:p>
            <a:pPr indent="0" marL="0">
              <a:buNone/>
            </a:pPr>
            <a:r>
              <a:rPr lang="en-US" sz="1150" b="1" dirty="0">
                <a:solidFill>
                  <a:srgbClr val="FFFFFF"/>
                </a:solidFill>
              </a:rPr>
              <a:t>Sync data and register six agents</a:t>
            </a:r>
            <a:endParaRPr lang="en-US" sz="1150" dirty="0"/>
          </a:p>
        </p:txBody>
      </p:sp>
      <p:sp>
        <p:nvSpPr>
          <p:cNvPr id="36" name="Shape 32"/>
          <p:cNvSpPr/>
          <p:nvPr/>
        </p:nvSpPr>
        <p:spPr>
          <a:xfrm>
            <a:off x="6089904" y="4983480"/>
            <a:ext cx="2697480" cy="914400"/>
          </a:xfrm>
          <a:prstGeom prst="chevron">
            <a:avLst/>
          </a:prstGeom>
          <a:solidFill>
            <a:srgbClr val="1547C8">
              <a:alpha val="76000"/>
            </a:srgbClr>
          </a:solidFill>
          <a:ln w="12700">
            <a:solidFill>
              <a:srgbClr val="3CC3F0"/>
            </a:solidFill>
            <a:prstDash val="solid"/>
          </a:ln>
        </p:spPr>
      </p:sp>
      <p:sp>
        <p:nvSpPr>
          <p:cNvPr id="37" name="Text 33"/>
          <p:cNvSpPr txBox="1"/>
          <p:nvPr/>
        </p:nvSpPr>
        <p:spPr>
          <a:xfrm>
            <a:off x="6592824" y="4983480"/>
            <a:ext cx="365760" cy="914400"/>
          </a:xfrm>
          <a:prstGeom prst="rect">
            <a:avLst/>
          </a:prstGeom>
          <a:noFill/>
          <a:ln/>
        </p:spPr>
        <p:txBody>
          <a:bodyPr wrap="square" lIns="0" tIns="0" rIns="0" bIns="0" rtlCol="0" anchor="ctr"/>
          <a:lstStyle/>
          <a:p>
            <a:pPr indent="0" marL="0">
              <a:buNone/>
            </a:pPr>
            <a:r>
              <a:rPr lang="en-US" sz="2200" b="1" dirty="0">
                <a:solidFill>
                  <a:srgbClr val="3CC3F0"/>
                </a:solidFill>
              </a:rPr>
              <a:t>3</a:t>
            </a:r>
            <a:endParaRPr lang="en-US" sz="2200" dirty="0"/>
          </a:p>
        </p:txBody>
      </p:sp>
      <p:sp>
        <p:nvSpPr>
          <p:cNvPr id="38" name="Text 34"/>
          <p:cNvSpPr txBox="1"/>
          <p:nvPr/>
        </p:nvSpPr>
        <p:spPr>
          <a:xfrm>
            <a:off x="7004304" y="4983480"/>
            <a:ext cx="1600200" cy="914400"/>
          </a:xfrm>
          <a:prstGeom prst="rect">
            <a:avLst/>
          </a:prstGeom>
          <a:noFill/>
          <a:ln/>
        </p:spPr>
        <p:txBody>
          <a:bodyPr wrap="square" lIns="0" tIns="0" rIns="0" bIns="0" rtlCol="0" anchor="ctr"/>
          <a:lstStyle/>
          <a:p>
            <a:pPr indent="0" marL="0">
              <a:buNone/>
            </a:pPr>
            <a:r>
              <a:rPr lang="en-US" sz="1150" b="1" dirty="0">
                <a:solidFill>
                  <a:srgbClr val="FFFFFF"/>
                </a:solidFill>
              </a:rPr>
              <a:t>Run T1 to T14 online</a:t>
            </a:r>
            <a:endParaRPr lang="en-US" sz="1150" dirty="0"/>
          </a:p>
        </p:txBody>
      </p:sp>
      <p:sp>
        <p:nvSpPr>
          <p:cNvPr id="39" name="Shape 35"/>
          <p:cNvSpPr/>
          <p:nvPr/>
        </p:nvSpPr>
        <p:spPr>
          <a:xfrm>
            <a:off x="8814816" y="4983480"/>
            <a:ext cx="2697480" cy="914400"/>
          </a:xfrm>
          <a:prstGeom prst="chevron">
            <a:avLst/>
          </a:prstGeom>
          <a:solidFill>
            <a:srgbClr val="1547C8">
              <a:alpha val="64000"/>
            </a:srgbClr>
          </a:solidFill>
          <a:ln w="12700">
            <a:solidFill>
              <a:srgbClr val="3CC3F0"/>
            </a:solidFill>
            <a:prstDash val="solid"/>
          </a:ln>
        </p:spPr>
      </p:sp>
      <p:sp>
        <p:nvSpPr>
          <p:cNvPr id="40" name="Text 36"/>
          <p:cNvSpPr txBox="1"/>
          <p:nvPr/>
        </p:nvSpPr>
        <p:spPr>
          <a:xfrm>
            <a:off x="9317736" y="4983480"/>
            <a:ext cx="365760" cy="914400"/>
          </a:xfrm>
          <a:prstGeom prst="rect">
            <a:avLst/>
          </a:prstGeom>
          <a:noFill/>
          <a:ln/>
        </p:spPr>
        <p:txBody>
          <a:bodyPr wrap="square" lIns="0" tIns="0" rIns="0" bIns="0" rtlCol="0" anchor="ctr"/>
          <a:lstStyle/>
          <a:p>
            <a:pPr indent="0" marL="0">
              <a:buNone/>
            </a:pPr>
            <a:r>
              <a:rPr lang="en-US" sz="2200" b="1" dirty="0">
                <a:solidFill>
                  <a:srgbClr val="3CC3F0"/>
                </a:solidFill>
              </a:rPr>
              <a:t>4</a:t>
            </a:r>
            <a:endParaRPr lang="en-US" sz="2200" dirty="0"/>
          </a:p>
        </p:txBody>
      </p:sp>
      <p:sp>
        <p:nvSpPr>
          <p:cNvPr id="41" name="Text 37"/>
          <p:cNvSpPr txBox="1"/>
          <p:nvPr/>
        </p:nvSpPr>
        <p:spPr>
          <a:xfrm>
            <a:off x="9729216" y="4983480"/>
            <a:ext cx="1600200" cy="914400"/>
          </a:xfrm>
          <a:prstGeom prst="rect">
            <a:avLst/>
          </a:prstGeom>
          <a:noFill/>
          <a:ln/>
        </p:spPr>
        <p:txBody>
          <a:bodyPr wrap="square" lIns="0" tIns="0" rIns="0" bIns="0" rtlCol="0" anchor="ctr"/>
          <a:lstStyle/>
          <a:p>
            <a:pPr indent="0" marL="0">
              <a:buNone/>
            </a:pPr>
            <a:r>
              <a:rPr lang="en-US" sz="1150" b="1" dirty="0">
                <a:solidFill>
                  <a:srgbClr val="FFFFFF"/>
                </a:solidFill>
              </a:rPr>
              <a:t>Clinician review of thresholds</a:t>
            </a:r>
            <a:endParaRPr lang="en-US" sz="115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1600200"/>
            <a:ext cx="3657600" cy="274320"/>
          </a:xfrm>
          <a:prstGeom prst="rect">
            <a:avLst/>
          </a:prstGeom>
          <a:noFill/>
          <a:ln/>
        </p:spPr>
        <p:txBody>
          <a:bodyPr wrap="square" lIns="0" tIns="0" rIns="0" bIns="0" rtlCol="0" anchor="t"/>
          <a:lstStyle/>
          <a:p>
            <a:pPr indent="0" marL="0">
              <a:buNone/>
            </a:pPr>
            <a:r>
              <a:rPr lang="en-US" sz="1200" b="1" spc="400" kern="0" dirty="0">
                <a:solidFill>
                  <a:srgbClr val="3CC3F0"/>
                </a:solidFill>
              </a:rPr>
              <a:t>CONCLUSION</a:t>
            </a:r>
            <a:endParaRPr lang="en-US" sz="1200" dirty="0"/>
          </a:p>
        </p:txBody>
      </p:sp>
      <p:sp>
        <p:nvSpPr>
          <p:cNvPr id="3" name="Text 1"/>
          <p:cNvSpPr txBox="1"/>
          <p:nvPr/>
        </p:nvSpPr>
        <p:spPr>
          <a:xfrm>
            <a:off x="640080" y="1965960"/>
            <a:ext cx="6217920" cy="2468880"/>
          </a:xfrm>
          <a:prstGeom prst="rect">
            <a:avLst/>
          </a:prstGeom>
          <a:noFill/>
          <a:ln/>
        </p:spPr>
        <p:txBody>
          <a:bodyPr wrap="square" lIns="0" tIns="0" rIns="0" bIns="0" rtlCol="0" anchor="t"/>
          <a:lstStyle/>
          <a:p>
            <a:pPr indent="0" marL="0">
              <a:lnSpc>
                <a:spcPct val="105000"/>
              </a:lnSpc>
              <a:buNone/>
            </a:pPr>
            <a:r>
              <a:rPr lang="en-US" sz="3800" b="1" dirty="0">
                <a:solidFill>
                  <a:srgbClr val="FFFFFF"/>
                </a:solidFill>
              </a:rPr>
              <a:t>Agents for language.</a:t>
            </a:r>
            <a:endParaRPr lang="en-US" sz="3800" dirty="0"/>
          </a:p>
          <a:p>
            <a:pPr indent="0" marL="0">
              <a:lnSpc>
                <a:spcPct val="105000"/>
              </a:lnSpc>
              <a:buNone/>
            </a:pPr>
            <a:r>
              <a:rPr lang="en-US" sz="3800" b="1" dirty="0">
                <a:solidFill>
                  <a:srgbClr val="FFFFFF"/>
                </a:solidFill>
              </a:rPr>
              <a:t>Code for facts.</a:t>
            </a:r>
            <a:endParaRPr lang="en-US" sz="3800" dirty="0"/>
          </a:p>
          <a:p>
            <a:pPr indent="0" marL="0">
              <a:lnSpc>
                <a:spcPct val="105000"/>
              </a:lnSpc>
              <a:buNone/>
            </a:pPr>
            <a:r>
              <a:rPr lang="en-US" sz="3800" b="1" dirty="0">
                <a:solidFill>
                  <a:srgbClr val="FFFFFF"/>
                </a:solidFill>
              </a:rPr>
              <a:t>People for decisions.</a:t>
            </a:r>
            <a:endParaRPr lang="en-US" sz="3800" dirty="0"/>
          </a:p>
        </p:txBody>
      </p:sp>
      <p:sp>
        <p:nvSpPr>
          <p:cNvPr id="4" name="Text 2"/>
          <p:cNvSpPr txBox="1"/>
          <p:nvPr/>
        </p:nvSpPr>
        <p:spPr>
          <a:xfrm>
            <a:off x="640080" y="4846320"/>
            <a:ext cx="5486400" cy="731520"/>
          </a:xfrm>
          <a:prstGeom prst="rect">
            <a:avLst/>
          </a:prstGeom>
          <a:noFill/>
          <a:ln/>
        </p:spPr>
        <p:txBody>
          <a:bodyPr wrap="square" lIns="0" tIns="0" rIns="0" bIns="0" rtlCol="0" anchor="t"/>
          <a:lstStyle/>
          <a:p>
            <a:pPr indent="0" marL="0">
              <a:buNone/>
            </a:pPr>
            <a:r>
              <a:rPr lang="en-US" sz="1400" dirty="0">
                <a:solidFill>
                  <a:srgbClr val="CFE0FF"/>
                </a:solidFill>
              </a:rPr>
              <a:t>A safe pattern for regulated work. The prototype uses synthetic data and is for learning only.</a:t>
            </a:r>
            <a:endParaRPr lang="en-US" sz="1400" dirty="0"/>
          </a:p>
        </p:txBody>
      </p:sp>
      <p:sp>
        <p:nvSpPr>
          <p:cNvPr id="5" name="Shape 3"/>
          <p:cNvSpPr/>
          <p:nvPr/>
        </p:nvSpPr>
        <p:spPr>
          <a:xfrm>
            <a:off x="7315200" y="1600200"/>
            <a:ext cx="4233672" cy="960120"/>
          </a:xfrm>
          <a:prstGeom prst="roundRect">
            <a:avLst>
              <a:gd name="adj" fmla="val 11429"/>
            </a:avLst>
          </a:prstGeom>
          <a:solidFill>
            <a:srgbClr val="FFFFFF">
              <a:alpha val="12000"/>
            </a:srgbClr>
          </a:solidFill>
          <a:ln w="9525">
            <a:solidFill>
              <a:srgbClr val="FFFFFF">
                <a:alpha val="25000"/>
              </a:srgbClr>
            </a:solidFill>
            <a:prstDash val="solid"/>
          </a:ln>
        </p:spPr>
      </p:sp>
      <p:sp>
        <p:nvSpPr>
          <p:cNvPr id="6" name="Shape 4"/>
          <p:cNvSpPr/>
          <p:nvPr/>
        </p:nvSpPr>
        <p:spPr>
          <a:xfrm>
            <a:off x="7498080" y="1801368"/>
            <a:ext cx="548640" cy="548640"/>
          </a:xfrm>
          <a:prstGeom prst="ellipse">
            <a:avLst/>
          </a:prstGeom>
          <a:solidFill>
            <a:srgbClr val="1547C8"/>
          </a:solidFill>
          <a:ln w="6350">
            <a:solidFill>
              <a:srgbClr val="1547C8"/>
            </a:solidFill>
            <a:prstDash val="solid"/>
          </a:ln>
        </p:spPr>
      </p:sp>
      <p:pic>
        <p:nvPicPr>
          <p:cNvPr id="7" name="Image 0" descr="FaShieldAlt">    </p:cNvPr>
          <p:cNvPicPr>
            <a:picLocks noChangeAspect="1"/>
          </p:cNvPicPr>
          <p:nvPr/>
        </p:nvPicPr>
        <p:blipFill>
          <a:blip r:embed="rId1"/>
          <a:stretch>
            <a:fillRect/>
          </a:stretch>
        </p:blipFill>
        <p:spPr>
          <a:xfrm>
            <a:off x="7646213" y="1949501"/>
            <a:ext cx="252374" cy="252374"/>
          </a:xfrm>
          <a:prstGeom prst="rect">
            <a:avLst/>
          </a:prstGeom>
        </p:spPr>
      </p:pic>
      <p:sp>
        <p:nvSpPr>
          <p:cNvPr id="8" name="Text 5"/>
          <p:cNvSpPr txBox="1"/>
          <p:nvPr/>
        </p:nvSpPr>
        <p:spPr>
          <a:xfrm>
            <a:off x="8229600" y="1755648"/>
            <a:ext cx="3200400" cy="320040"/>
          </a:xfrm>
          <a:prstGeom prst="rect">
            <a:avLst/>
          </a:prstGeom>
          <a:noFill/>
          <a:ln/>
        </p:spPr>
        <p:txBody>
          <a:bodyPr wrap="square" lIns="0" tIns="0" rIns="0" bIns="0" rtlCol="0" anchor="t"/>
          <a:lstStyle/>
          <a:p>
            <a:pPr indent="0" marL="0">
              <a:buNone/>
            </a:pPr>
            <a:r>
              <a:rPr lang="en-US" sz="1500" b="1" dirty="0">
                <a:solidFill>
                  <a:srgbClr val="FFFFFF"/>
                </a:solidFill>
              </a:rPr>
              <a:t>Safe by design</a:t>
            </a:r>
            <a:endParaRPr lang="en-US" sz="1500" dirty="0"/>
          </a:p>
        </p:txBody>
      </p:sp>
      <p:sp>
        <p:nvSpPr>
          <p:cNvPr id="9" name="Text 6"/>
          <p:cNvSpPr txBox="1"/>
          <p:nvPr/>
        </p:nvSpPr>
        <p:spPr>
          <a:xfrm>
            <a:off x="8229600" y="2103120"/>
            <a:ext cx="3200400" cy="365760"/>
          </a:xfrm>
          <a:prstGeom prst="rect">
            <a:avLst/>
          </a:prstGeom>
          <a:noFill/>
          <a:ln/>
        </p:spPr>
        <p:txBody>
          <a:bodyPr wrap="square" lIns="0" tIns="0" rIns="0" bIns="0" rtlCol="0" anchor="t"/>
          <a:lstStyle/>
          <a:p>
            <a:pPr indent="0" marL="0">
              <a:buNone/>
            </a:pPr>
            <a:r>
              <a:rPr lang="en-US" sz="1100" dirty="0">
                <a:solidFill>
                  <a:srgbClr val="CFE0FF"/>
                </a:solidFill>
              </a:rPr>
              <a:t>Rules and facts live in code, not in prompts</a:t>
            </a:r>
            <a:endParaRPr lang="en-US" sz="1100" dirty="0"/>
          </a:p>
        </p:txBody>
      </p:sp>
      <p:sp>
        <p:nvSpPr>
          <p:cNvPr id="10" name="Shape 7"/>
          <p:cNvSpPr/>
          <p:nvPr/>
        </p:nvSpPr>
        <p:spPr>
          <a:xfrm>
            <a:off x="7315200" y="2697480"/>
            <a:ext cx="4233672" cy="960120"/>
          </a:xfrm>
          <a:prstGeom prst="roundRect">
            <a:avLst>
              <a:gd name="adj" fmla="val 11429"/>
            </a:avLst>
          </a:prstGeom>
          <a:solidFill>
            <a:srgbClr val="FFFFFF">
              <a:alpha val="12000"/>
            </a:srgbClr>
          </a:solidFill>
          <a:ln w="9525">
            <a:solidFill>
              <a:srgbClr val="FFFFFF">
                <a:alpha val="25000"/>
              </a:srgbClr>
            </a:solidFill>
            <a:prstDash val="solid"/>
          </a:ln>
        </p:spPr>
      </p:sp>
      <p:sp>
        <p:nvSpPr>
          <p:cNvPr id="11" name="Shape 8"/>
          <p:cNvSpPr/>
          <p:nvPr/>
        </p:nvSpPr>
        <p:spPr>
          <a:xfrm>
            <a:off x="7498080" y="2898648"/>
            <a:ext cx="548640" cy="548640"/>
          </a:xfrm>
          <a:prstGeom prst="ellipse">
            <a:avLst/>
          </a:prstGeom>
          <a:solidFill>
            <a:srgbClr val="1547C8"/>
          </a:solidFill>
          <a:ln w="6350">
            <a:solidFill>
              <a:srgbClr val="1547C8"/>
            </a:solidFill>
            <a:prstDash val="solid"/>
          </a:ln>
        </p:spPr>
      </p:sp>
      <p:pic>
        <p:nvPicPr>
          <p:cNvPr id="12" name="Image 1" descr="FaBookMedical">    </p:cNvPr>
          <p:cNvPicPr>
            <a:picLocks noChangeAspect="1"/>
          </p:cNvPicPr>
          <p:nvPr/>
        </p:nvPicPr>
        <p:blipFill>
          <a:blip r:embed="rId2"/>
          <a:stretch>
            <a:fillRect/>
          </a:stretch>
        </p:blipFill>
        <p:spPr>
          <a:xfrm>
            <a:off x="7646213" y="3046781"/>
            <a:ext cx="252374" cy="252374"/>
          </a:xfrm>
          <a:prstGeom prst="rect">
            <a:avLst/>
          </a:prstGeom>
        </p:spPr>
      </p:pic>
      <p:sp>
        <p:nvSpPr>
          <p:cNvPr id="13" name="Text 9"/>
          <p:cNvSpPr txBox="1"/>
          <p:nvPr/>
        </p:nvSpPr>
        <p:spPr>
          <a:xfrm>
            <a:off x="8229600" y="2852928"/>
            <a:ext cx="3200400" cy="320040"/>
          </a:xfrm>
          <a:prstGeom prst="rect">
            <a:avLst/>
          </a:prstGeom>
          <a:noFill/>
          <a:ln/>
        </p:spPr>
        <p:txBody>
          <a:bodyPr wrap="square" lIns="0" tIns="0" rIns="0" bIns="0" rtlCol="0" anchor="t"/>
          <a:lstStyle/>
          <a:p>
            <a:pPr indent="0" marL="0">
              <a:buNone/>
            </a:pPr>
            <a:r>
              <a:rPr lang="en-US" sz="1500" b="1" dirty="0">
                <a:solidFill>
                  <a:srgbClr val="FFFFFF"/>
                </a:solidFill>
              </a:rPr>
              <a:t>Grounded</a:t>
            </a:r>
            <a:endParaRPr lang="en-US" sz="1500" dirty="0"/>
          </a:p>
        </p:txBody>
      </p:sp>
      <p:sp>
        <p:nvSpPr>
          <p:cNvPr id="14" name="Text 10"/>
          <p:cNvSpPr txBox="1"/>
          <p:nvPr/>
        </p:nvSpPr>
        <p:spPr>
          <a:xfrm>
            <a:off x="8229600" y="3200400"/>
            <a:ext cx="3200400" cy="365760"/>
          </a:xfrm>
          <a:prstGeom prst="rect">
            <a:avLst/>
          </a:prstGeom>
          <a:noFill/>
          <a:ln/>
        </p:spPr>
        <p:txBody>
          <a:bodyPr wrap="square" lIns="0" tIns="0" rIns="0" bIns="0" rtlCol="0" anchor="t"/>
          <a:lstStyle/>
          <a:p>
            <a:pPr indent="0" marL="0">
              <a:buNone/>
            </a:pPr>
            <a:r>
              <a:rPr lang="en-US" sz="1100" dirty="0">
                <a:solidFill>
                  <a:srgbClr val="CFE0FF"/>
                </a:solidFill>
              </a:rPr>
              <a:t>Answers cite approved articles or admit a gap</a:t>
            </a:r>
            <a:endParaRPr lang="en-US" sz="1100" dirty="0"/>
          </a:p>
        </p:txBody>
      </p:sp>
      <p:sp>
        <p:nvSpPr>
          <p:cNvPr id="15" name="Shape 11"/>
          <p:cNvSpPr/>
          <p:nvPr/>
        </p:nvSpPr>
        <p:spPr>
          <a:xfrm>
            <a:off x="7315200" y="3794760"/>
            <a:ext cx="4233672" cy="960120"/>
          </a:xfrm>
          <a:prstGeom prst="roundRect">
            <a:avLst>
              <a:gd name="adj" fmla="val 11429"/>
            </a:avLst>
          </a:prstGeom>
          <a:solidFill>
            <a:srgbClr val="FFFFFF">
              <a:alpha val="12000"/>
            </a:srgbClr>
          </a:solidFill>
          <a:ln w="9525">
            <a:solidFill>
              <a:srgbClr val="FFFFFF">
                <a:alpha val="25000"/>
              </a:srgbClr>
            </a:solidFill>
            <a:prstDash val="solid"/>
          </a:ln>
        </p:spPr>
      </p:sp>
      <p:sp>
        <p:nvSpPr>
          <p:cNvPr id="16" name="Shape 12"/>
          <p:cNvSpPr/>
          <p:nvPr/>
        </p:nvSpPr>
        <p:spPr>
          <a:xfrm>
            <a:off x="7498080" y="3995928"/>
            <a:ext cx="548640" cy="548640"/>
          </a:xfrm>
          <a:prstGeom prst="ellipse">
            <a:avLst/>
          </a:prstGeom>
          <a:solidFill>
            <a:srgbClr val="1547C8"/>
          </a:solidFill>
          <a:ln w="6350">
            <a:solidFill>
              <a:srgbClr val="1547C8"/>
            </a:solidFill>
            <a:prstDash val="solid"/>
          </a:ln>
        </p:spPr>
      </p:sp>
      <p:pic>
        <p:nvPicPr>
          <p:cNvPr id="17" name="Image 2" descr="FaUserMd">    </p:cNvPr>
          <p:cNvPicPr>
            <a:picLocks noChangeAspect="1"/>
          </p:cNvPicPr>
          <p:nvPr/>
        </p:nvPicPr>
        <p:blipFill>
          <a:blip r:embed="rId3"/>
          <a:stretch>
            <a:fillRect/>
          </a:stretch>
        </p:blipFill>
        <p:spPr>
          <a:xfrm>
            <a:off x="7646213" y="4144061"/>
            <a:ext cx="252374" cy="252374"/>
          </a:xfrm>
          <a:prstGeom prst="rect">
            <a:avLst/>
          </a:prstGeom>
        </p:spPr>
      </p:pic>
      <p:sp>
        <p:nvSpPr>
          <p:cNvPr id="18" name="Text 13"/>
          <p:cNvSpPr txBox="1"/>
          <p:nvPr/>
        </p:nvSpPr>
        <p:spPr>
          <a:xfrm>
            <a:off x="8229600" y="3950208"/>
            <a:ext cx="3200400" cy="320040"/>
          </a:xfrm>
          <a:prstGeom prst="rect">
            <a:avLst/>
          </a:prstGeom>
          <a:noFill/>
          <a:ln/>
        </p:spPr>
        <p:txBody>
          <a:bodyPr wrap="square" lIns="0" tIns="0" rIns="0" bIns="0" rtlCol="0" anchor="t"/>
          <a:lstStyle/>
          <a:p>
            <a:pPr indent="0" marL="0">
              <a:buNone/>
            </a:pPr>
            <a:r>
              <a:rPr lang="en-US" sz="1500" b="1" dirty="0">
                <a:solidFill>
                  <a:srgbClr val="FFFFFF"/>
                </a:solidFill>
              </a:rPr>
              <a:t>Human-led</a:t>
            </a:r>
            <a:endParaRPr lang="en-US" sz="1500" dirty="0"/>
          </a:p>
        </p:txBody>
      </p:sp>
      <p:sp>
        <p:nvSpPr>
          <p:cNvPr id="19" name="Text 14"/>
          <p:cNvSpPr txBox="1"/>
          <p:nvPr/>
        </p:nvSpPr>
        <p:spPr>
          <a:xfrm>
            <a:off x="8229600" y="4297680"/>
            <a:ext cx="3200400" cy="365760"/>
          </a:xfrm>
          <a:prstGeom prst="rect">
            <a:avLst/>
          </a:prstGeom>
          <a:noFill/>
          <a:ln/>
        </p:spPr>
        <p:txBody>
          <a:bodyPr wrap="square" lIns="0" tIns="0" rIns="0" bIns="0" rtlCol="0" anchor="t"/>
          <a:lstStyle/>
          <a:p>
            <a:pPr indent="0" marL="0">
              <a:buNone/>
            </a:pPr>
            <a:r>
              <a:rPr lang="en-US" sz="1100" dirty="0">
                <a:solidFill>
                  <a:srgbClr val="CFE0FF"/>
                </a:solidFill>
              </a:rPr>
              <a:t>Risk goes to a staff queue with a clean packet</a:t>
            </a:r>
            <a:endParaRPr lang="en-US" sz="1100" dirty="0"/>
          </a:p>
        </p:txBody>
      </p:sp>
      <p:sp>
        <p:nvSpPr>
          <p:cNvPr id="20" name="Shape 15"/>
          <p:cNvSpPr/>
          <p:nvPr/>
        </p:nvSpPr>
        <p:spPr>
          <a:xfrm>
            <a:off x="7315200" y="4892040"/>
            <a:ext cx="4233672" cy="960120"/>
          </a:xfrm>
          <a:prstGeom prst="roundRect">
            <a:avLst>
              <a:gd name="adj" fmla="val 11429"/>
            </a:avLst>
          </a:prstGeom>
          <a:solidFill>
            <a:srgbClr val="FFFFFF">
              <a:alpha val="12000"/>
            </a:srgbClr>
          </a:solidFill>
          <a:ln w="9525">
            <a:solidFill>
              <a:srgbClr val="FFFFFF">
                <a:alpha val="25000"/>
              </a:srgbClr>
            </a:solidFill>
            <a:prstDash val="solid"/>
          </a:ln>
        </p:spPr>
      </p:sp>
      <p:sp>
        <p:nvSpPr>
          <p:cNvPr id="21" name="Shape 16"/>
          <p:cNvSpPr/>
          <p:nvPr/>
        </p:nvSpPr>
        <p:spPr>
          <a:xfrm>
            <a:off x="7498080" y="5093208"/>
            <a:ext cx="548640" cy="548640"/>
          </a:xfrm>
          <a:prstGeom prst="ellipse">
            <a:avLst/>
          </a:prstGeom>
          <a:solidFill>
            <a:srgbClr val="1547C8"/>
          </a:solidFill>
          <a:ln w="6350">
            <a:solidFill>
              <a:srgbClr val="1547C8"/>
            </a:solidFill>
            <a:prstDash val="solid"/>
          </a:ln>
        </p:spPr>
      </p:sp>
      <p:pic>
        <p:nvPicPr>
          <p:cNvPr id="22" name="Image 3" descr="FaClipboardCheck">    </p:cNvPr>
          <p:cNvPicPr>
            <a:picLocks noChangeAspect="1"/>
          </p:cNvPicPr>
          <p:nvPr/>
        </p:nvPicPr>
        <p:blipFill>
          <a:blip r:embed="rId4"/>
          <a:stretch>
            <a:fillRect/>
          </a:stretch>
        </p:blipFill>
        <p:spPr>
          <a:xfrm>
            <a:off x="7646213" y="5241341"/>
            <a:ext cx="252374" cy="252374"/>
          </a:xfrm>
          <a:prstGeom prst="rect">
            <a:avLst/>
          </a:prstGeom>
        </p:spPr>
      </p:pic>
      <p:sp>
        <p:nvSpPr>
          <p:cNvPr id="23" name="Text 17"/>
          <p:cNvSpPr txBox="1"/>
          <p:nvPr/>
        </p:nvSpPr>
        <p:spPr>
          <a:xfrm>
            <a:off x="8229600" y="5047488"/>
            <a:ext cx="3200400" cy="320040"/>
          </a:xfrm>
          <a:prstGeom prst="rect">
            <a:avLst/>
          </a:prstGeom>
          <a:noFill/>
          <a:ln/>
        </p:spPr>
        <p:txBody>
          <a:bodyPr wrap="square" lIns="0" tIns="0" rIns="0" bIns="0" rtlCol="0" anchor="t"/>
          <a:lstStyle/>
          <a:p>
            <a:pPr indent="0" marL="0">
              <a:buNone/>
            </a:pPr>
            <a:r>
              <a:rPr lang="en-US" sz="1500" b="1" dirty="0">
                <a:solidFill>
                  <a:srgbClr val="FFFFFF"/>
                </a:solidFill>
              </a:rPr>
              <a:t>Auditable</a:t>
            </a:r>
            <a:endParaRPr lang="en-US" sz="1500" dirty="0"/>
          </a:p>
        </p:txBody>
      </p:sp>
      <p:sp>
        <p:nvSpPr>
          <p:cNvPr id="24" name="Text 18"/>
          <p:cNvSpPr txBox="1"/>
          <p:nvPr/>
        </p:nvSpPr>
        <p:spPr>
          <a:xfrm>
            <a:off x="8229600" y="5394960"/>
            <a:ext cx="3200400" cy="365760"/>
          </a:xfrm>
          <a:prstGeom prst="rect">
            <a:avLst/>
          </a:prstGeom>
          <a:noFill/>
          <a:ln/>
        </p:spPr>
        <p:txBody>
          <a:bodyPr wrap="square" lIns="0" tIns="0" rIns="0" bIns="0" rtlCol="0" anchor="t"/>
          <a:lstStyle/>
          <a:p>
            <a:pPr indent="0" marL="0">
              <a:buNone/>
            </a:pPr>
            <a:r>
              <a:rPr lang="en-US" sz="1100" dirty="0">
                <a:solidFill>
                  <a:srgbClr val="CFE0FF"/>
                </a:solidFill>
              </a:rPr>
              <a:t>Masked IDs, no message text, rule IDs recorded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2468880"/>
            <a:ext cx="7315200" cy="914400"/>
          </a:xfrm>
          <a:prstGeom prst="rect">
            <a:avLst/>
          </a:prstGeom>
          <a:noFill/>
          <a:ln/>
        </p:spPr>
        <p:txBody>
          <a:bodyPr wrap="square" lIns="0" tIns="0" rIns="0" bIns="0" rtlCol="0" anchor="t"/>
          <a:lstStyle/>
          <a:p>
            <a:pPr indent="0" marL="0">
              <a:buNone/>
            </a:pPr>
            <a:r>
              <a:rPr lang="en-US" sz="5400" b="1" dirty="0">
                <a:solidFill>
                  <a:srgbClr val="FFFFFF"/>
                </a:solidFill>
              </a:rPr>
              <a:t>Thank you</a:t>
            </a:r>
            <a:endParaRPr lang="en-US" sz="5400" dirty="0"/>
          </a:p>
        </p:txBody>
      </p:sp>
      <p:sp>
        <p:nvSpPr>
          <p:cNvPr id="3" name="Text 1"/>
          <p:cNvSpPr txBox="1"/>
          <p:nvPr/>
        </p:nvSpPr>
        <p:spPr>
          <a:xfrm>
            <a:off x="640080" y="3474720"/>
            <a:ext cx="7315200" cy="457200"/>
          </a:xfrm>
          <a:prstGeom prst="rect">
            <a:avLst/>
          </a:prstGeom>
          <a:noFill/>
          <a:ln/>
        </p:spPr>
        <p:txBody>
          <a:bodyPr wrap="square" lIns="0" tIns="0" rIns="0" bIns="0" rtlCol="0" anchor="t"/>
          <a:lstStyle/>
          <a:p>
            <a:pPr indent="0" marL="0">
              <a:buNone/>
            </a:pPr>
            <a:r>
              <a:rPr lang="en-US" sz="2200" dirty="0">
                <a:solidFill>
                  <a:srgbClr val="3CC3F0"/>
                </a:solidFill>
              </a:rPr>
              <a:t>Questions and live demo</a:t>
            </a:r>
            <a:endParaRPr lang="en-US" sz="2200" dirty="0"/>
          </a:p>
        </p:txBody>
      </p:sp>
      <p:sp>
        <p:nvSpPr>
          <p:cNvPr id="4" name="Text 2"/>
          <p:cNvSpPr txBox="1"/>
          <p:nvPr/>
        </p:nvSpPr>
        <p:spPr>
          <a:xfrm>
            <a:off x="640080" y="5852160"/>
            <a:ext cx="4572000" cy="320040"/>
          </a:xfrm>
          <a:prstGeom prst="rect">
            <a:avLst/>
          </a:prstGeom>
          <a:noFill/>
          <a:ln/>
        </p:spPr>
        <p:txBody>
          <a:bodyPr wrap="square" lIns="0" tIns="0" rIns="0" bIns="0" rtlCol="0" anchor="t"/>
          <a:lstStyle/>
          <a:p>
            <a:pPr indent="0" marL="0">
              <a:buNone/>
            </a:pPr>
            <a:r>
              <a:rPr lang="en-US" sz="1400" dirty="0">
                <a:solidFill>
                  <a:srgbClr val="CFE0FF"/>
                </a:solidFill>
              </a:rPr>
              <a:t>Sujit Gorakh Raut</a:t>
            </a:r>
            <a:endParaRPr lang="en-US" sz="1400" dirty="0"/>
          </a:p>
        </p:txBody>
      </p:sp>
    </p:spTree>
  </p:cSld>
  <p:clrMapOvr>
    <a:masterClrMapping/>
  </p:clrMapOvr>
</p:sld>
</file>

<file path=ppt/theme/theme1.xml><?xml version="1.0" encoding="utf-8"?>
<a:theme xmlns:a="http://schemas.openxmlformats.org/drawingml/2006/main" name="CitiusTech Dark">
  <a:themeElements>
    <a:clrScheme name="CitiusTech Dark">
      <a:dk1>
        <a:srgbClr val="0A1F5C"/>
      </a:dk1>
      <a:lt1>
        <a:srgbClr val="FFFFFF"/>
      </a:lt1>
      <a:dk2>
        <a:srgbClr val="06143D"/>
      </a:dk2>
      <a:lt2>
        <a:srgbClr val="EAF0FC"/>
      </a:lt2>
      <a:accent1>
        <a:srgbClr val="1547C8"/>
      </a:accent1>
      <a:accent2>
        <a:srgbClr val="3CC3F0"/>
      </a:accent2>
      <a:accent3>
        <a:srgbClr val="F5A524"/>
      </a:accent3>
      <a:accent4>
        <a:srgbClr val="E5484D"/>
      </a:accent4>
      <a:accent5>
        <a:srgbClr val="12A36B"/>
      </a:accent5>
      <a:accent6>
        <a:srgbClr val="7F9BEA"/>
      </a:accent6>
      <a:hlink>
        <a:srgbClr val="3CC3F0"/>
      </a:hlink>
      <a:folHlink>
        <a:srgbClr val="A9BBEA"/>
      </a:folHlink>
    </a:clrScheme>
    <a:fontScheme name="CitiusTech Da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CitiusTech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Care Engagement &amp; Follow-up</dc:title>
  <dc:subject>PptxGenJS Presentation</dc:subject>
  <dc:creator>Sujit Gorakh Raut</dc:creator>
  <cp:lastModifiedBy>Sujit Gorakh Raut</cp:lastModifiedBy>
  <cp:revision>1</cp:revision>
  <dcterms:created xsi:type="dcterms:W3CDTF">2026-10-10T14:35:21Z</dcterms:created>
  <dcterms:modified xsi:type="dcterms:W3CDTF">2026-10-10T14:35:21Z</dcterms:modified>
</cp:coreProperties>
</file>