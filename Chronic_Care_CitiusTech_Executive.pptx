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096f7f9-de8e-fa11-502a-bdd87f992e39}">
          <p14:sldIdLst>
            <p14:sldId id="256"/>
          </p14:sldIdLst>
        </p14:section>
        <p14:section name="Context" id="{b98f829b-699a-8155-5747-8fb09c92f55a}">
          <p14:sldIdLst>
            <p14:sldId id="257"/>
            <p14:sldId id="258"/>
          </p14:sldIdLst>
        </p14:section>
        <p14:section name="Solution" id="{fa01d4ce-3be3-931f-7f31-276ce12219a3}">
          <p14:sldIdLst>
            <p14:sldId id="259"/>
            <p14:sldId id="260"/>
            <p14:sldId id="261"/>
            <p14:sldId id="262"/>
          </p14:sldIdLst>
        </p14:section>
        <p14:section name="Safety" id="{e73a080f-9d6f-757b-6481-fd4727d53cbd}">
          <p14:sldIdLst>
            <p14:sldId id="263"/>
            <p14:sldId id="264"/>
            <p14:sldId id="265"/>
          </p14:sldIdLst>
        </p14:section>
        <p14:section name="Evidence" id="{bba27dc1-f616-c1ec-527a-8dfad86bb46c}">
          <p14:sldIdLst>
            <p14:sldId id="266"/>
            <p14:sldId id="267"/>
          </p14:sldIdLst>
        </p14:section>
        <p14:section name="Way forward" id="{67b40be1-97c9-b37e-c1d0-a5cfd23cf2f7}">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Consent</c:v>
                </c:pt>
              </c:strCache>
            </c:strRef>
          </c:tx>
          <c:spPr>
            <a:solidFill>
              <a:schemeClr val="accent1"/>
            </a:solidFill>
            <a:ln w="9525" cap="flat">
              <a:solidFill>
                <a:srgbClr val="F9F9F9"/>
              </a:solidFill>
              <a:prstDash val="solid"/>
              <a:round/>
            </a:ln>
            <a:effectLst/>
          </c:spPr>
          <c:dPt>
            <c:idx val="0"/>
            <c:bubble3D val="0"/>
            <c:spPr>
              <a:solidFill>
                <a:srgbClr val="12A36B"/>
              </a:solidFill>
              <a:ln w="19050" cap="flat">
                <a:solidFill>
                  <a:srgbClr val="FFFFFF"/>
                </a:solidFill>
                <a:prstDash val="solid"/>
                <a:round/>
              </a:ln>
              <a:effectLst/>
            </c:spPr>
          </c:dPt>
          <c:dPt>
            <c:idx val="1"/>
            <c:bubble3D val="0"/>
            <c:spPr>
              <a:solidFill>
                <a:srgbClr val="D98200"/>
              </a:solidFill>
              <a:ln w="19050" cap="flat">
                <a:solidFill>
                  <a:srgbClr val="FFFFFF"/>
                </a:solidFill>
                <a:prstDash val="solid"/>
                <a:round/>
              </a:ln>
              <a:effectLst/>
            </c:spPr>
          </c:dPt>
          <c:dPt>
            <c:idx val="2"/>
            <c:bubble3D val="0"/>
            <c:spPr>
              <a:solidFill>
                <a:srgbClr val="1B9AD6"/>
              </a:solidFill>
              <a:ln w="19050" cap="flat">
                <a:solidFill>
                  <a:srgbClr val="FFFFFF"/>
                </a:solidFill>
                <a:prstDash val="solid"/>
                <a:round/>
              </a:ln>
              <a:effectLst/>
            </c:spPr>
          </c:dPt>
          <c:dPt>
            <c:idx val="3"/>
            <c:bubble3D val="0"/>
            <c:spPr>
              <a:solidFill>
                <a:srgbClr val="E5484D"/>
              </a:solidFill>
              <a:ln w="19050" cap="flat">
                <a:solidFill>
                  <a:srgbClr val="FFFFFF"/>
                </a:solidFill>
                <a:prstDash val="solid"/>
                <a:round/>
              </a:ln>
              <a:effectLst/>
            </c:spPr>
          </c:dPt>
          <c:dLbls>
            <c:dLbl>
              <c:idx val="0"/>
              <c:numFmt formatCode="General" sourceLinked="0"/>
              <c:spPr/>
              <c:txPr>
                <a:bodyPr/>
                <a:lstStyle/>
                <a:p>
                  <a:pPr>
                    <a:defRPr sz="1100" b="1" i="0" u="none" strike="noStrike">
                      <a:solidFill>
                        <a:srgbClr val="FFFFFF"/>
                      </a:solidFill>
                      <a:latin typeface="Arial"/>
                    </a:defRPr>
                  </a:pPr>
                </a:p>
              </c:txPr>
              <c:showLegendKey val="0"/>
              <c:showVal val="1"/>
              <c:showCatName val="0"/>
              <c:showSerName val="0"/>
              <c:showPercent val="0"/>
              <c:showBubbleSize val="0"/>
            </c:dLbl>
            <c:dLbl>
              <c:idx val="1"/>
              <c:numFmt formatCode="General" sourceLinked="0"/>
              <c:spPr/>
              <c:txPr>
                <a:bodyPr/>
                <a:lstStyle/>
                <a:p>
                  <a:pPr>
                    <a:defRPr sz="1100" b="1" i="0" u="none" strike="noStrike">
                      <a:solidFill>
                        <a:srgbClr val="FFFFFF"/>
                      </a:solidFill>
                      <a:latin typeface="Arial"/>
                    </a:defRPr>
                  </a:pPr>
                </a:p>
              </c:txPr>
              <c:showLegendKey val="0"/>
              <c:showVal val="1"/>
              <c:showCatName val="0"/>
              <c:showSerName val="0"/>
              <c:showPercent val="0"/>
              <c:showBubbleSize val="0"/>
            </c:dLbl>
            <c:dLbl>
              <c:idx val="2"/>
              <c:numFmt formatCode="General" sourceLinked="0"/>
              <c:spPr/>
              <c:txPr>
                <a:bodyPr/>
                <a:lstStyle/>
                <a:p>
                  <a:pPr>
                    <a:defRPr sz="1100" b="1" i="0" u="none" strike="noStrike">
                      <a:solidFill>
                        <a:srgbClr val="FFFFFF"/>
                      </a:solidFill>
                      <a:latin typeface="Arial"/>
                    </a:defRPr>
                  </a:pPr>
                </a:p>
              </c:txPr>
              <c:showLegendKey val="0"/>
              <c:showVal val="1"/>
              <c:showCatName val="0"/>
              <c:showSerName val="0"/>
              <c:showPercent val="0"/>
              <c:showBubbleSize val="0"/>
            </c:dLbl>
            <c:dLbl>
              <c:idx val="3"/>
              <c:numFmt formatCode="General" sourceLinked="0"/>
              <c:spPr/>
              <c:txPr>
                <a:bodyPr/>
                <a:lstStyle/>
                <a:p>
                  <a:pPr>
                    <a:defRPr sz="1100" b="1" i="0" u="none" strike="noStrike">
                      <a:solidFill>
                        <a:srgbClr val="FFFFFF"/>
                      </a:solidFill>
                      <a:latin typeface="Arial"/>
                    </a:defRPr>
                  </a:pPr>
                </a:p>
              </c:txPr>
              <c:showLegendKey val="0"/>
              <c:showVal val="1"/>
              <c:showCatName val="0"/>
              <c:showSerName val="0"/>
              <c:showPercent val="0"/>
              <c:showBubbleSize val="0"/>
            </c:dLbl>
            <c:numFmt formatCode="General"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Active</c:v>
                </c:pt>
                <c:pt idx="1">
                  <c:v>Expired</c:v>
                </c:pt>
                <c:pt idx="2">
                  <c:v>Pending</c:v>
                </c:pt>
                <c:pt idx="3">
                  <c:v>Revoked</c:v>
                </c:pt>
              </c:strCache>
            </c:strRef>
          </c:cat>
          <c:val>
            <c:numRef>
              <c:f>Sheet1!$B$2:$B$5</c:f>
              <c:numCache>
                <c:ptCount val="4"/>
                <c:pt idx="0">
                  <c:v>200</c:v>
                </c:pt>
                <c:pt idx="1">
                  <c:v>18</c:v>
                </c:pt>
                <c:pt idx="2">
                  <c:v>16</c:v>
                </c:pt>
                <c:pt idx="3">
                  <c:v>16</c:v>
                </c:pt>
              </c:numCache>
            </c:numRef>
          </c:val>
        </c:ser>
        <c:firstSliceAng val="0"/>
        <c:holeSize val="56"/>
      </c:doughnutChart>
      <c:spPr>
        <a:noFill/>
        <a:ln>
          <a:noFill/>
        </a:ln>
        <a:effectLst/>
      </c:spPr>
    </c:plotArea>
    <c:legend>
      <c:legendPos val="b"/>
      <c:overlay val="0"/>
      <c:txPr>
        <a:bodyPr/>
        <a:lstStyle/>
        <a:p>
          <a:pPr>
            <a:defRPr sz="1100">
              <a:solidFill>
                <a:srgbClr val="1F2937"/>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Checks</c:v>
                </c:pt>
              </c:strCache>
            </c:strRef>
          </c:tx>
          <c:spPr>
            <a:solidFill>
              <a:srgbClr val="1547C8"/>
            </a:solidFill>
            <a:effectLst/>
          </c:spPr>
          <c:invertIfNegative val="0"/>
          <c:dLbls>
            <c:numFmt formatCode="#,##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cat>
            <c:multiLvlStrRef>
              <c:f>Sheet1!$A$2:$A$5</c:f>
              <c:multiLvlStrCache>
                <c:ptCount val="4"/>
                <c:lvl>
                  <c:pt idx="0">
                    <c:v>Assignment scenarios</c:v>
                  </c:pt>
                  <c:pt idx="1">
                    <c:v>Azure integration (mocked)</c:v>
                  </c:pt>
                  <c:pt idx="2">
                    <c:v>Data and upload integrity</c:v>
                  </c:pt>
                  <c:pt idx="3">
                    <c:v>Rules and data scale</c:v>
                  </c:pt>
                </c:lvl>
              </c:multiLvlStrCache>
            </c:multiLvlStrRef>
          </c:cat>
          <c:val>
            <c:numRef>
              <c:f>Sheet1!$B$2:$B$5</c:f>
              <c:numCache>
                <c:formatCode>General</c:formatCode>
                <c:ptCount val="4"/>
                <c:pt idx="0">
                  <c:v>14</c:v>
                </c:pt>
                <c:pt idx="1">
                  <c:v>22</c:v>
                </c:pt>
                <c:pt idx="2">
                  <c:v>21</c:v>
                </c:pt>
                <c:pt idx="3">
                  <c:v>22</c:v>
                </c:pt>
              </c:numCache>
            </c:numRef>
          </c:val>
        </c:ser>
        <c:dLbls>
          <c:numFmt formatCode="#,##0" sourceLinked="0"/>
          <c:txPr>
            <a:bodyPr/>
            <a:lstStyle/>
            <a:p>
              <a:pPr>
                <a:defRPr b="0" i="0" strike="noStrike" sz="1200" u="none">
                  <a:solidFill>
                    <a:srgbClr val="1F2937"/>
                  </a:solidFill>
                  <a:latin typeface="Arial"/>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5B6478"/>
                </a:solidFill>
                <a:latin typeface="Arial"/>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Purpose of this review: present a proof of concept for AI-assisted chronic-care follow-up, show how safety is built into the design, and agree the path to a controlled pilot. The prototype uses synthetic data only. One sentence to remember: AI organises the information, people make every clinical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proposition on one page. The challenge is capacity and risk. The solution is a governed multi-agent assistant in which code decides facts and rules and agents only word them. The safeguard is that the system never diagnoses, advises or changes medicines. Status: validated offline, with online validation next. Three decisions are requested from leadership, which I return to on the last content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pressures. Capacity: coordinators repeat the same answers. Consistency: follow-up quality varies and is hard to audit. Risk: an unsupervised chatbot can invent facts or give advice. The objective is to scale follow-up without scaling clinical risk. No external statistics are quoted here; the case is qualitative at proof-of-concept stage and the pilot would establish the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solution in one flow. A member asks a question. A governed workflow verifies consent, applies rules in code and uses six specialised agents to word the facts. The output is always two separate things: a plain-language response for the member with cited sources, and a structured packet for staff. The three properties leadership should take away are consistency, auditability and human-led handling of anything risky.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central design decision. We do not rely on the model to behave. The boundary is absolute: never diagnose, never give medical advice, never change medicines. It is enforced by four independent controls. First, the workflow and rules run in code, independent of any AI wording. Second, an output guard blocks advice, diagnosis and dosing language. Third, every number must exist in the source facts and every citation must be an approved document. Fourth, if any check fails, a fixed approved template replaces the AI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layers. Interfaces for members and staff sit on top. Below them the orchestration layer is plain Python with a fixed order of steps, which is what makes behaviour predictable. The six agents run in Microsoft Foundry and only word facts that code has already established. Knowledge comes from Azure Blob Storage through either an Azure AI Search index or a Foundry knowledge base; this is a configuration choice. The governance layer is always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agents, one responsibility each, with deliberately narrow data access. The orchestrator agent only classifies the request; the workflow itself is code. The reading and care plan agents see only the member's own records. The education agent sees approved documents only. The escalation agent never decides whether a rule applies; it words the note for rules that code has already matched. All six are created in the Foundry project at start-up, so they can be shown in the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escalation rules, applied exactly as specified. The logic of each rule is fixed in code, so the same input always gives the same result. What is configurable is where a case is routed: 102 routing variants decide the staff queue by program and context. Important caveat to state clearly: the test values behind rule ER-502 are training placeholders chosen so the rule can be demonstrated. They are not clinical thresholds. Clinicians must set production values before any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Content governance. Documents are authored with an ID and version, approved, and stored in Azure Blob Storage split by status. Only approved documents are retrievable. A single configuration setting switches retrieval between an Azure AI Search index and a Foundry knowledge base. The Foundry knowledge base is a preview feature, so production readiness must be confirmed. Before any citation is shown it is validated: it must exist, be approved, fit the member's program and show the catalog version. If nothing qualifies, the system says so and asks staff to follow up rather than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Privacy and audit controls. Member identifiers are masked in logs. The audit record deliberately holds no message text and no reading values, so the log itself carries no clinical content. Each record shows which agents were called, which rules fired and which source versions were used. Data and rule edits are versioned with rollback, and content requires an approver. State clearly that the prototype uses synthetic data only; a production privacy and security review is a pilot prerequisite.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data set was expanded for realism: 250 members, over five thousand readings, 657 care plan tasks and 110 documents, plus the rule tables. All of it is synthetic. The point to make to leadership: scale improves the quality of testing, because it includes expired, pending and revoked consent, contradictory readings and corrections. It does not make the system smarter. Rules and checks decide every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to date. 79 automated checks across four suites all pass: the 14 scenarios from the assignment, 22 integration checks using a simulated Azure and Foundry, 21 checks on data integrity and upload, and 22 on rules and data scale. The 14 scenarios cover normal paths, safety escalations, edge cases and failure handling. Be explicit about the basis: this is the offline run using template wording. The online run against the deployed Foundry agents is still to be done, and that is the formal evidence for the submission and for any pilot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balanced readiness view. On the left, what has been demonstrated offline. On the right, what must be closed before a pilot: online validation including the quality of model wording, confirmation of Blob and AI Search behaviour in the target environment, readiness of the Foundry knowledge base which is a preview feature, clinical sign-off of thresholds and content, and a security and compliance review. None of the open items is a design problem; they are validation and approval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path. Phase one, online validation of all scenarios against the deployed Foundry agents. Phase two, clinical review: set real thresholds, review the content and name owners for each escalation queue. Phase three, a controlled pilot with a limited program and an agreed set of success measures. Phase four, scale. No dates are proposed here because they depend on the environment and reviewer decisions. Three decisions are requested: approve an Azure environment, nominate clinical reviewers, and agree pilot scope and success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pattern: AI for language, code for facts, people for decisions. Four properties: safe by design, grounded in approved content, human-led and auditable. Restate the three decisions requested, then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If a demonstration is requested, run the app with a member asking to change a dose and show the staff queue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CT_CONTENT-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CT_TITLE-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CT_CONCLUSION-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CT_THANKS-image-2.jpe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T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mark">    </p:cNvPr>
          <p:cNvPicPr>
            <a:picLocks noChangeAspect="1"/>
          </p:cNvPicPr>
          <p:nvPr/>
        </p:nvPicPr>
        <p:blipFill>
          <a:blip r:embed="rId1"/>
          <a:stretch>
            <a:fillRect/>
          </a:stretch>
        </p:blipFill>
        <p:spPr>
          <a:xfrm>
            <a:off x="640080" y="6400800"/>
            <a:ext cx="274320" cy="274320"/>
          </a:xfrm>
          <a:prstGeom prst="rect">
            <a:avLst/>
          </a:prstGeom>
        </p:spPr>
      </p:pic>
      <p:sp>
        <p:nvSpPr>
          <p:cNvPr id="3" name="Text 0"/>
          <p:cNvSpPr/>
          <p:nvPr/>
        </p:nvSpPr>
        <p:spPr>
          <a:xfrm>
            <a:off x="1005840" y="6382512"/>
            <a:ext cx="2377440" cy="310896"/>
          </a:xfrm>
          <a:prstGeom prst="rect">
            <a:avLst/>
          </a:prstGeom>
          <a:noFill/>
          <a:ln/>
        </p:spPr>
        <p:txBody>
          <a:bodyPr wrap="square" lIns="0" tIns="0" rIns="0" bIns="0" rtlCol="0" anchor="ctr"/>
          <a:lstStyle/>
          <a:p>
            <a:pPr indent="0" marL="0">
              <a:buNone/>
            </a:pPr>
            <a:r>
              <a:rPr lang="en-US" sz="1300" b="1" dirty="0">
                <a:solidFill>
                  <a:srgbClr val="FFFFFF"/>
                </a:solidFill>
              </a:rPr>
              <a:t>CitiusTech</a:t>
            </a:r>
            <a:endParaRPr lang="en-US" sz="1300" dirty="0"/>
          </a:p>
        </p:txBody>
      </p:sp>
      <p:sp>
        <p:nvSpPr>
          <p:cNvPr id="4" name="Text 1"/>
          <p:cNvSpPr/>
          <p:nvPr/>
        </p:nvSpPr>
        <p:spPr>
          <a:xfrm>
            <a:off x="3108960" y="6400800"/>
            <a:ext cx="6583680" cy="274320"/>
          </a:xfrm>
          <a:prstGeom prst="rect">
            <a:avLst/>
          </a:prstGeom>
          <a:noFill/>
          <a:ln/>
        </p:spPr>
        <p:txBody>
          <a:bodyPr wrap="square" lIns="0" tIns="0" rIns="0" bIns="0" rtlCol="0" anchor="ctr"/>
          <a:lstStyle/>
          <a:p>
            <a:pPr algn="ctr" indent="0" marL="0">
              <a:buNone/>
            </a:pPr>
            <a:r>
              <a:rPr lang="en-US" sz="1000" dirty="0">
                <a:solidFill>
                  <a:srgbClr val="A9BBEA"/>
                </a:solidFill>
              </a:rPr>
              <a:t>Chronic Care Engagement &amp; Follow-up  |  Executive review  |  Synthetic data, proof of concept</a:t>
            </a:r>
            <a:endParaRPr lang="en-US" sz="1000" dirty="0"/>
          </a:p>
        </p:txBody>
      </p:sp>
      <p:sp>
        <p:nvSpPr>
          <p:cNvPr id="5" name="Text 2"/>
          <p:cNvSpPr/>
          <p:nvPr>
            <p:ph idx="103" type="body" hasCustomPrompt="1"/>
          </p:nvPr>
        </p:nvSpPr>
        <p:spPr>
          <a:xfrm>
            <a:off x="640080" y="411480"/>
            <a:ext cx="7315200" cy="274320"/>
          </a:xfrm>
          <a:prstGeom prst="rect">
            <a:avLst/>
          </a:prstGeom>
          <a:noFill/>
          <a:ln/>
        </p:spPr>
        <p:txBody>
          <a:bodyPr wrap="square" rtlCol="0"/>
          <a:lstStyle>
            <a:lvl1pPr indent="0" marL="0">
              <a:buNone/>
              <a:defRPr lang="en-US" sz="1200" b="1" spc="400" kern="0" dirty="0">
                <a:solidFill>
                  <a:srgbClr val="3CC3F0"/>
                </a:solidFill>
              </a:defRPr>
            </a:lvl1pPr>
          </a:lstStyle>
          <a:p>
            <a:pPr indent="0" marL="0">
              <a:buNone/>
            </a:pPr>
            <a:endParaRPr lang="en-US" sz="1200" dirty="0"/>
          </a:p>
        </p:txBody>
      </p:sp>
      <p:sp>
        <p:nvSpPr>
          <p:cNvPr id="6" name="Text 2"/>
          <p:cNvSpPr/>
          <p:nvPr>
            <p:ph idx="104" type="title" hasCustomPrompt="1"/>
          </p:nvPr>
        </p:nvSpPr>
        <p:spPr>
          <a:xfrm>
            <a:off x="640080" y="777240"/>
            <a:ext cx="10908792" cy="731520"/>
          </a:xfrm>
          <a:prstGeom prst="rect">
            <a:avLst/>
          </a:prstGeom>
          <a:noFill/>
          <a:ln/>
        </p:spPr>
        <p:txBody>
          <a:bodyPr wrap="square" rtlCol="0"/>
          <a:lstStyle>
            <a:lvl1pPr algn="l" indent="0" marL="0">
              <a:buNone/>
              <a:defRPr lang="en-US" sz="3000" b="1" dirty="0">
                <a:solidFill>
                  <a:srgbClr val="FFFFFF"/>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T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mark">    </p:cNvPr>
          <p:cNvPicPr>
            <a:picLocks noChangeAspect="1"/>
          </p:cNvPicPr>
          <p:nvPr/>
        </p:nvPicPr>
        <p:blipFill>
          <a:blip r:embed="rId1"/>
          <a:stretch>
            <a:fillRect/>
          </a:stretch>
        </p:blipFill>
        <p:spPr>
          <a:xfrm>
            <a:off x="640080" y="502920"/>
            <a:ext cx="457200" cy="457200"/>
          </a:xfrm>
          <a:prstGeom prst="rect">
            <a:avLst/>
          </a:prstGeom>
        </p:spPr>
      </p:pic>
      <p:sp>
        <p:nvSpPr>
          <p:cNvPr id="3" name="Text 0"/>
          <p:cNvSpPr/>
          <p:nvPr/>
        </p:nvSpPr>
        <p:spPr>
          <a:xfrm>
            <a:off x="1188720" y="484632"/>
            <a:ext cx="2377440" cy="493776"/>
          </a:xfrm>
          <a:prstGeom prst="rect">
            <a:avLst/>
          </a:prstGeom>
          <a:noFill/>
          <a:ln/>
        </p:spPr>
        <p:txBody>
          <a:bodyPr wrap="square" lIns="0" tIns="0" rIns="0" bIns="0" rtlCol="0" anchor="ctr"/>
          <a:lstStyle/>
          <a:p>
            <a:pPr indent="0" marL="0">
              <a:buNone/>
            </a:pPr>
            <a:r>
              <a:rPr lang="en-US" sz="2200" b="1" dirty="0">
                <a:solidFill>
                  <a:srgbClr val="FFFFFF"/>
                </a:solidFill>
              </a:rPr>
              <a:t>CitiusTech</a:t>
            </a: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T_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mark">    </p:cNvPr>
          <p:cNvPicPr>
            <a:picLocks noChangeAspect="1"/>
          </p:cNvPicPr>
          <p:nvPr/>
        </p:nvPicPr>
        <p:blipFill>
          <a:blip r:embed="rId1"/>
          <a:stretch>
            <a:fillRect/>
          </a:stretch>
        </p:blipFill>
        <p:spPr>
          <a:xfrm>
            <a:off x="640080" y="502920"/>
            <a:ext cx="457200" cy="457200"/>
          </a:xfrm>
          <a:prstGeom prst="rect">
            <a:avLst/>
          </a:prstGeom>
        </p:spPr>
      </p:pic>
      <p:sp>
        <p:nvSpPr>
          <p:cNvPr id="3" name="Text 0"/>
          <p:cNvSpPr/>
          <p:nvPr/>
        </p:nvSpPr>
        <p:spPr>
          <a:xfrm>
            <a:off x="1188720" y="484632"/>
            <a:ext cx="2377440" cy="493776"/>
          </a:xfrm>
          <a:prstGeom prst="rect">
            <a:avLst/>
          </a:prstGeom>
          <a:noFill/>
          <a:ln/>
        </p:spPr>
        <p:txBody>
          <a:bodyPr wrap="square" lIns="0" tIns="0" rIns="0" bIns="0" rtlCol="0" anchor="ctr"/>
          <a:lstStyle/>
          <a:p>
            <a:pPr indent="0" marL="0">
              <a:buNone/>
            </a:pPr>
            <a:r>
              <a:rPr lang="en-US" sz="2200" b="1" dirty="0">
                <a:solidFill>
                  <a:srgbClr val="FFFFFF"/>
                </a:solidFill>
              </a:rPr>
              <a:t>CitiusTech</a:t>
            </a:r>
            <a:endParaRPr lang="en-US" sz="22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T_THANK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CitiusTech logo mark">    </p:cNvPr>
          <p:cNvPicPr>
            <a:picLocks noChangeAspect="1"/>
          </p:cNvPicPr>
          <p:nvPr/>
        </p:nvPicPr>
        <p:blipFill>
          <a:blip r:embed="rId1"/>
          <a:stretch>
            <a:fillRect/>
          </a:stretch>
        </p:blipFill>
        <p:spPr>
          <a:xfrm>
            <a:off x="640080" y="502920"/>
            <a:ext cx="457200" cy="457200"/>
          </a:xfrm>
          <a:prstGeom prst="rect">
            <a:avLst/>
          </a:prstGeom>
        </p:spPr>
      </p:pic>
      <p:sp>
        <p:nvSpPr>
          <p:cNvPr id="3" name="Text 0"/>
          <p:cNvSpPr/>
          <p:nvPr/>
        </p:nvSpPr>
        <p:spPr>
          <a:xfrm>
            <a:off x="1188720" y="484632"/>
            <a:ext cx="2377440" cy="493776"/>
          </a:xfrm>
          <a:prstGeom prst="rect">
            <a:avLst/>
          </a:prstGeom>
          <a:noFill/>
          <a:ln/>
        </p:spPr>
        <p:txBody>
          <a:bodyPr wrap="square" lIns="0" tIns="0" rIns="0" bIns="0" rtlCol="0" anchor="ctr"/>
          <a:lstStyle/>
          <a:p>
            <a:pPr indent="0" marL="0">
              <a:buNone/>
            </a:pPr>
            <a:r>
              <a:rPr lang="en-US" sz="2200" b="1" dirty="0">
                <a:solidFill>
                  <a:srgbClr val="FFFFFF"/>
                </a:solidFill>
              </a:rPr>
              <a:t>CitiusTech</a:t>
            </a:r>
            <a:endParaRPr lang="en-US" sz="2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3.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2.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2.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554480"/>
            <a:ext cx="6400800" cy="274320"/>
          </a:xfrm>
          <a:prstGeom prst="rect">
            <a:avLst/>
          </a:prstGeom>
          <a:noFill/>
          <a:ln/>
        </p:spPr>
        <p:txBody>
          <a:bodyPr wrap="square" lIns="0" tIns="0" rIns="0" bIns="0" rtlCol="0" anchor="t"/>
          <a:lstStyle/>
          <a:p>
            <a:pPr indent="0" marL="0">
              <a:buNone/>
            </a:pPr>
            <a:r>
              <a:rPr lang="en-US" sz="1200" b="1" spc="300" kern="0" dirty="0">
                <a:solidFill>
                  <a:srgbClr val="3CC3F0"/>
                </a:solidFill>
              </a:rPr>
              <a:t>AI-ENABLED CARE COORDINATION  |  PROOF OF CONCEPT</a:t>
            </a:r>
            <a:endParaRPr lang="en-US" sz="1200" dirty="0"/>
          </a:p>
        </p:txBody>
      </p:sp>
      <p:sp>
        <p:nvSpPr>
          <p:cNvPr id="3" name="Text 1"/>
          <p:cNvSpPr txBox="1"/>
          <p:nvPr/>
        </p:nvSpPr>
        <p:spPr>
          <a:xfrm>
            <a:off x="640080" y="1920240"/>
            <a:ext cx="6949440" cy="1463040"/>
          </a:xfrm>
          <a:prstGeom prst="rect">
            <a:avLst/>
          </a:prstGeom>
          <a:noFill/>
          <a:ln/>
        </p:spPr>
        <p:txBody>
          <a:bodyPr wrap="square" lIns="0" tIns="0" rIns="0" bIns="0" rtlCol="0" anchor="t"/>
          <a:lstStyle/>
          <a:p>
            <a:pPr indent="0" marL="0">
              <a:lnSpc>
                <a:spcPct val="100000"/>
              </a:lnSpc>
              <a:buNone/>
            </a:pPr>
            <a:r>
              <a:rPr lang="en-US" sz="4000" b="1" dirty="0">
                <a:solidFill>
                  <a:srgbClr val="FFFFFF"/>
                </a:solidFill>
              </a:rPr>
              <a:t>Chronic Care Engagement</a:t>
            </a:r>
            <a:endParaRPr lang="en-US" sz="4000" dirty="0"/>
          </a:p>
          <a:p>
            <a:pPr indent="0" marL="0">
              <a:lnSpc>
                <a:spcPct val="100000"/>
              </a:lnSpc>
              <a:buNone/>
            </a:pPr>
            <a:r>
              <a:rPr lang="en-US" sz="4000" b="1" dirty="0">
                <a:solidFill>
                  <a:srgbClr val="FFFFFF"/>
                </a:solidFill>
              </a:rPr>
              <a:t>&amp; Follow-up</a:t>
            </a:r>
            <a:endParaRPr lang="en-US" sz="4000" dirty="0"/>
          </a:p>
        </p:txBody>
      </p:sp>
      <p:sp>
        <p:nvSpPr>
          <p:cNvPr id="4" name="Text 2"/>
          <p:cNvSpPr txBox="1"/>
          <p:nvPr/>
        </p:nvSpPr>
        <p:spPr>
          <a:xfrm>
            <a:off x="640080" y="3657600"/>
            <a:ext cx="6217920" cy="1188720"/>
          </a:xfrm>
          <a:prstGeom prst="rect">
            <a:avLst/>
          </a:prstGeom>
          <a:noFill/>
          <a:ln/>
        </p:spPr>
        <p:txBody>
          <a:bodyPr wrap="square" lIns="0" tIns="0" rIns="0" bIns="0" rtlCol="0" anchor="t"/>
          <a:lstStyle/>
          <a:p>
            <a:pPr indent="0" marL="0">
              <a:buNone/>
            </a:pPr>
            <a:r>
              <a:rPr lang="en-US" sz="1800" dirty="0">
                <a:solidFill>
                  <a:srgbClr val="CFE0FF"/>
                </a:solidFill>
              </a:rPr>
              <a:t>A governed multi-agent assistant on Microsoft Foundry. AI organises the information; people make every clinical decision.</a:t>
            </a:r>
            <a:endParaRPr lang="en-US" sz="1800" dirty="0"/>
          </a:p>
        </p:txBody>
      </p:sp>
      <p:sp>
        <p:nvSpPr>
          <p:cNvPr id="5" name="Text 3"/>
          <p:cNvSpPr txBox="1"/>
          <p:nvPr/>
        </p:nvSpPr>
        <p:spPr>
          <a:xfrm>
            <a:off x="640080" y="5486400"/>
            <a:ext cx="2743200" cy="228600"/>
          </a:xfrm>
          <a:prstGeom prst="rect">
            <a:avLst/>
          </a:prstGeom>
          <a:noFill/>
          <a:ln/>
        </p:spPr>
        <p:txBody>
          <a:bodyPr wrap="square" lIns="0" tIns="0" rIns="0" bIns="0" rtlCol="0" anchor="t"/>
          <a:lstStyle/>
          <a:p>
            <a:pPr indent="0" marL="0">
              <a:buNone/>
            </a:pPr>
            <a:r>
              <a:rPr lang="en-US" sz="1000" b="1" spc="300" kern="0" dirty="0">
                <a:solidFill>
                  <a:srgbClr val="3CC3F0"/>
                </a:solidFill>
              </a:rPr>
              <a:t>PRESENTED BY</a:t>
            </a:r>
            <a:endParaRPr lang="en-US" sz="1000" dirty="0"/>
          </a:p>
        </p:txBody>
      </p:sp>
      <p:sp>
        <p:nvSpPr>
          <p:cNvPr id="6" name="Text 4"/>
          <p:cNvSpPr txBox="1"/>
          <p:nvPr/>
        </p:nvSpPr>
        <p:spPr>
          <a:xfrm>
            <a:off x="640080" y="5742432"/>
            <a:ext cx="3657600" cy="320040"/>
          </a:xfrm>
          <a:prstGeom prst="rect">
            <a:avLst/>
          </a:prstGeom>
          <a:noFill/>
          <a:ln/>
        </p:spPr>
        <p:txBody>
          <a:bodyPr wrap="square" lIns="0" tIns="0" rIns="0" bIns="0" rtlCol="0" anchor="t"/>
          <a:lstStyle/>
          <a:p>
            <a:pPr indent="0" marL="0">
              <a:buNone/>
            </a:pPr>
            <a:r>
              <a:rPr lang="en-US" sz="1600" b="1" dirty="0">
                <a:solidFill>
                  <a:srgbClr val="FFFFFF"/>
                </a:solidFill>
              </a:rPr>
              <a:t>Sujit Gorakh Raut</a:t>
            </a:r>
            <a:endParaRPr lang="en-US" sz="1600" dirty="0"/>
          </a:p>
        </p:txBody>
      </p:sp>
      <p:sp>
        <p:nvSpPr>
          <p:cNvPr id="7" name="Text 5"/>
          <p:cNvSpPr txBox="1"/>
          <p:nvPr/>
        </p:nvSpPr>
        <p:spPr>
          <a:xfrm>
            <a:off x="3840480" y="5760720"/>
            <a:ext cx="3291840" cy="274320"/>
          </a:xfrm>
          <a:prstGeom prst="rect">
            <a:avLst/>
          </a:prstGeom>
          <a:noFill/>
          <a:ln/>
        </p:spPr>
        <p:txBody>
          <a:bodyPr wrap="square" lIns="0" tIns="0" rIns="0" bIns="0" rtlCol="0" anchor="t"/>
          <a:lstStyle/>
          <a:p>
            <a:pPr indent="0" marL="0">
              <a:buNone/>
            </a:pPr>
            <a:r>
              <a:rPr lang="en-US" sz="1200" dirty="0">
                <a:solidFill>
                  <a:srgbClr val="CFE0FF"/>
                </a:solidFill>
              </a:rPr>
              <a:t>Executive review  |  October 2026</a:t>
            </a:r>
            <a:endParaRPr lang="en-US" sz="1200" dirty="0"/>
          </a:p>
        </p:txBody>
      </p:sp>
      <p:sp>
        <p:nvSpPr>
          <p:cNvPr id="8" name="Shape 6"/>
          <p:cNvSpPr/>
          <p:nvPr/>
        </p:nvSpPr>
        <p:spPr>
          <a:xfrm>
            <a:off x="7680960" y="1737360"/>
            <a:ext cx="3867912" cy="1188720"/>
          </a:xfrm>
          <a:prstGeom prst="roundRect">
            <a:avLst>
              <a:gd name="adj" fmla="val 7692"/>
            </a:avLst>
          </a:prstGeom>
          <a:solidFill>
            <a:srgbClr val="FFFFFF">
              <a:alpha val="12000"/>
            </a:srgbClr>
          </a:solidFill>
          <a:ln w="9525">
            <a:solidFill>
              <a:srgbClr val="FFFFFF">
                <a:alpha val="30000"/>
              </a:srgbClr>
            </a:solidFill>
            <a:prstDash val="solid"/>
          </a:ln>
        </p:spPr>
      </p:sp>
      <p:sp>
        <p:nvSpPr>
          <p:cNvPr id="9" name="Shape 7"/>
          <p:cNvSpPr/>
          <p:nvPr/>
        </p:nvSpPr>
        <p:spPr>
          <a:xfrm>
            <a:off x="7882128" y="2039112"/>
            <a:ext cx="585216" cy="585216"/>
          </a:xfrm>
          <a:prstGeom prst="ellipse">
            <a:avLst/>
          </a:prstGeom>
          <a:solidFill>
            <a:srgbClr val="0A1F5C"/>
          </a:solidFill>
          <a:ln w="6350">
            <a:solidFill>
              <a:srgbClr val="0A1F5C"/>
            </a:solidFill>
            <a:prstDash val="solid"/>
          </a:ln>
        </p:spPr>
      </p:sp>
      <p:pic>
        <p:nvPicPr>
          <p:cNvPr id="10" name="Image 0" descr="FaCommentDots">    </p:cNvPr>
          <p:cNvPicPr>
            <a:picLocks noChangeAspect="1"/>
          </p:cNvPicPr>
          <p:nvPr/>
        </p:nvPicPr>
        <p:blipFill>
          <a:blip r:embed="rId1"/>
          <a:stretch>
            <a:fillRect/>
          </a:stretch>
        </p:blipFill>
        <p:spPr>
          <a:xfrm>
            <a:off x="8040136" y="2197120"/>
            <a:ext cx="269199" cy="269199"/>
          </a:xfrm>
          <a:prstGeom prst="rect">
            <a:avLst/>
          </a:prstGeom>
        </p:spPr>
      </p:pic>
      <p:sp>
        <p:nvSpPr>
          <p:cNvPr id="11" name="Text 8"/>
          <p:cNvSpPr txBox="1"/>
          <p:nvPr/>
        </p:nvSpPr>
        <p:spPr>
          <a:xfrm>
            <a:off x="8613648" y="1920240"/>
            <a:ext cx="2834640" cy="320040"/>
          </a:xfrm>
          <a:prstGeom prst="rect">
            <a:avLst/>
          </a:prstGeom>
          <a:noFill/>
          <a:ln/>
        </p:spPr>
        <p:txBody>
          <a:bodyPr wrap="square" lIns="0" tIns="0" rIns="0" bIns="0" rtlCol="0" anchor="t"/>
          <a:lstStyle/>
          <a:p>
            <a:pPr indent="0" marL="0">
              <a:buNone/>
            </a:pPr>
            <a:r>
              <a:rPr lang="en-US" sz="1500" b="1" dirty="0">
                <a:solidFill>
                  <a:srgbClr val="FFFFFF"/>
                </a:solidFill>
              </a:rPr>
              <a:t>1  Member request</a:t>
            </a:r>
            <a:endParaRPr lang="en-US" sz="1500" dirty="0"/>
          </a:p>
        </p:txBody>
      </p:sp>
      <p:sp>
        <p:nvSpPr>
          <p:cNvPr id="12" name="Text 9"/>
          <p:cNvSpPr txBox="1"/>
          <p:nvPr/>
        </p:nvSpPr>
        <p:spPr>
          <a:xfrm>
            <a:off x="8613648" y="2267712"/>
            <a:ext cx="2834640" cy="594360"/>
          </a:xfrm>
          <a:prstGeom prst="rect">
            <a:avLst/>
          </a:prstGeom>
          <a:noFill/>
          <a:ln/>
        </p:spPr>
        <p:txBody>
          <a:bodyPr wrap="square" lIns="0" tIns="0" rIns="0" bIns="0" rtlCol="0" anchor="t"/>
          <a:lstStyle/>
          <a:p>
            <a:pPr indent="0" marL="0">
              <a:buNone/>
            </a:pPr>
            <a:r>
              <a:rPr lang="en-US" sz="1100" dirty="0">
                <a:solidFill>
                  <a:srgbClr val="CFE0FF"/>
                </a:solidFill>
              </a:rPr>
              <a:t>Consent is verified before any data is read</a:t>
            </a:r>
            <a:endParaRPr lang="en-US" sz="1100" dirty="0"/>
          </a:p>
        </p:txBody>
      </p:sp>
      <p:pic>
        <p:nvPicPr>
          <p:cNvPr id="13" name="Image 1" descr="next">    </p:cNvPr>
          <p:cNvPicPr>
            <a:picLocks noChangeAspect="1"/>
          </p:cNvPicPr>
          <p:nvPr/>
        </p:nvPicPr>
        <p:blipFill>
          <a:blip r:embed="rId2"/>
          <a:stretch>
            <a:fillRect/>
          </a:stretch>
        </p:blipFill>
        <p:spPr>
          <a:xfrm>
            <a:off x="9464040" y="2953512"/>
            <a:ext cx="228600" cy="228600"/>
          </a:xfrm>
          <a:prstGeom prst="rect">
            <a:avLst/>
          </a:prstGeom>
        </p:spPr>
      </p:pic>
      <p:sp>
        <p:nvSpPr>
          <p:cNvPr id="14" name="Shape 10"/>
          <p:cNvSpPr/>
          <p:nvPr/>
        </p:nvSpPr>
        <p:spPr>
          <a:xfrm>
            <a:off x="7680960" y="3246120"/>
            <a:ext cx="3867912" cy="1188720"/>
          </a:xfrm>
          <a:prstGeom prst="roundRect">
            <a:avLst>
              <a:gd name="adj" fmla="val 7692"/>
            </a:avLst>
          </a:prstGeom>
          <a:solidFill>
            <a:srgbClr val="FFFFFF">
              <a:alpha val="12000"/>
            </a:srgbClr>
          </a:solidFill>
          <a:ln w="9525">
            <a:solidFill>
              <a:srgbClr val="FFFFFF">
                <a:alpha val="30000"/>
              </a:srgbClr>
            </a:solidFill>
            <a:prstDash val="solid"/>
          </a:ln>
        </p:spPr>
      </p:sp>
      <p:sp>
        <p:nvSpPr>
          <p:cNvPr id="15" name="Shape 11"/>
          <p:cNvSpPr/>
          <p:nvPr/>
        </p:nvSpPr>
        <p:spPr>
          <a:xfrm>
            <a:off x="7882128" y="3547872"/>
            <a:ext cx="585216" cy="585216"/>
          </a:xfrm>
          <a:prstGeom prst="ellipse">
            <a:avLst/>
          </a:prstGeom>
          <a:solidFill>
            <a:srgbClr val="1547C8"/>
          </a:solidFill>
          <a:ln w="6350">
            <a:solidFill>
              <a:srgbClr val="1547C8"/>
            </a:solidFill>
            <a:prstDash val="solid"/>
          </a:ln>
        </p:spPr>
      </p:sp>
      <p:pic>
        <p:nvPicPr>
          <p:cNvPr id="16" name="Image 2" descr="FaShieldAlt">    </p:cNvPr>
          <p:cNvPicPr>
            <a:picLocks noChangeAspect="1"/>
          </p:cNvPicPr>
          <p:nvPr/>
        </p:nvPicPr>
        <p:blipFill>
          <a:blip r:embed="rId3"/>
          <a:stretch>
            <a:fillRect/>
          </a:stretch>
        </p:blipFill>
        <p:spPr>
          <a:xfrm>
            <a:off x="8040136" y="3705880"/>
            <a:ext cx="269199" cy="269199"/>
          </a:xfrm>
          <a:prstGeom prst="rect">
            <a:avLst/>
          </a:prstGeom>
        </p:spPr>
      </p:pic>
      <p:sp>
        <p:nvSpPr>
          <p:cNvPr id="17" name="Text 12"/>
          <p:cNvSpPr txBox="1"/>
          <p:nvPr/>
        </p:nvSpPr>
        <p:spPr>
          <a:xfrm>
            <a:off x="8613648" y="3429000"/>
            <a:ext cx="2834640" cy="320040"/>
          </a:xfrm>
          <a:prstGeom prst="rect">
            <a:avLst/>
          </a:prstGeom>
          <a:noFill/>
          <a:ln/>
        </p:spPr>
        <p:txBody>
          <a:bodyPr wrap="square" lIns="0" tIns="0" rIns="0" bIns="0" rtlCol="0" anchor="t"/>
          <a:lstStyle/>
          <a:p>
            <a:pPr indent="0" marL="0">
              <a:buNone/>
            </a:pPr>
            <a:r>
              <a:rPr lang="en-US" sz="1500" b="1" dirty="0">
                <a:solidFill>
                  <a:srgbClr val="FFFFFF"/>
                </a:solidFill>
              </a:rPr>
              <a:t>2  Governed workflow</a:t>
            </a:r>
            <a:endParaRPr lang="en-US" sz="1500" dirty="0"/>
          </a:p>
        </p:txBody>
      </p:sp>
      <p:sp>
        <p:nvSpPr>
          <p:cNvPr id="18" name="Text 13"/>
          <p:cNvSpPr txBox="1"/>
          <p:nvPr/>
        </p:nvSpPr>
        <p:spPr>
          <a:xfrm>
            <a:off x="8613648" y="3776472"/>
            <a:ext cx="2834640" cy="594360"/>
          </a:xfrm>
          <a:prstGeom prst="rect">
            <a:avLst/>
          </a:prstGeom>
          <a:noFill/>
          <a:ln/>
        </p:spPr>
        <p:txBody>
          <a:bodyPr wrap="square" lIns="0" tIns="0" rIns="0" bIns="0" rtlCol="0" anchor="t"/>
          <a:lstStyle/>
          <a:p>
            <a:pPr indent="0" marL="0">
              <a:buNone/>
            </a:pPr>
            <a:r>
              <a:rPr lang="en-US" sz="1100" dirty="0">
                <a:solidFill>
                  <a:srgbClr val="CFE0FF"/>
                </a:solidFill>
              </a:rPr>
              <a:t>Rules run in code; six specialised agents word the facts; every output is checked</a:t>
            </a:r>
            <a:endParaRPr lang="en-US" sz="1100" dirty="0"/>
          </a:p>
        </p:txBody>
      </p:sp>
      <p:pic>
        <p:nvPicPr>
          <p:cNvPr id="19" name="Image 3" descr="next">    </p:cNvPr>
          <p:cNvPicPr>
            <a:picLocks noChangeAspect="1"/>
          </p:cNvPicPr>
          <p:nvPr/>
        </p:nvPicPr>
        <p:blipFill>
          <a:blip r:embed="rId4"/>
          <a:stretch>
            <a:fillRect/>
          </a:stretch>
        </p:blipFill>
        <p:spPr>
          <a:xfrm>
            <a:off x="9464040" y="4462272"/>
            <a:ext cx="228600" cy="228600"/>
          </a:xfrm>
          <a:prstGeom prst="rect">
            <a:avLst/>
          </a:prstGeom>
        </p:spPr>
      </p:pic>
      <p:sp>
        <p:nvSpPr>
          <p:cNvPr id="20" name="Shape 14"/>
          <p:cNvSpPr/>
          <p:nvPr/>
        </p:nvSpPr>
        <p:spPr>
          <a:xfrm>
            <a:off x="7680960" y="4754880"/>
            <a:ext cx="3867912" cy="1188720"/>
          </a:xfrm>
          <a:prstGeom prst="roundRect">
            <a:avLst>
              <a:gd name="adj" fmla="val 7692"/>
            </a:avLst>
          </a:prstGeom>
          <a:solidFill>
            <a:srgbClr val="FFFFFF">
              <a:alpha val="12000"/>
            </a:srgbClr>
          </a:solidFill>
          <a:ln w="9525">
            <a:solidFill>
              <a:srgbClr val="FFFFFF">
                <a:alpha val="30000"/>
              </a:srgbClr>
            </a:solidFill>
            <a:prstDash val="solid"/>
          </a:ln>
        </p:spPr>
      </p:sp>
      <p:sp>
        <p:nvSpPr>
          <p:cNvPr id="21" name="Shape 15"/>
          <p:cNvSpPr/>
          <p:nvPr/>
        </p:nvSpPr>
        <p:spPr>
          <a:xfrm>
            <a:off x="7882128" y="5056632"/>
            <a:ext cx="585216" cy="585216"/>
          </a:xfrm>
          <a:prstGeom prst="ellipse">
            <a:avLst/>
          </a:prstGeom>
          <a:solidFill>
            <a:srgbClr val="0A1F5C"/>
          </a:solidFill>
          <a:ln w="6350">
            <a:solidFill>
              <a:srgbClr val="0A1F5C"/>
            </a:solidFill>
            <a:prstDash val="solid"/>
          </a:ln>
        </p:spPr>
      </p:sp>
      <p:pic>
        <p:nvPicPr>
          <p:cNvPr id="22" name="Image 4" descr="FaUserCheck">    </p:cNvPr>
          <p:cNvPicPr>
            <a:picLocks noChangeAspect="1"/>
          </p:cNvPicPr>
          <p:nvPr/>
        </p:nvPicPr>
        <p:blipFill>
          <a:blip r:embed="rId5"/>
          <a:stretch>
            <a:fillRect/>
          </a:stretch>
        </p:blipFill>
        <p:spPr>
          <a:xfrm>
            <a:off x="8040136" y="5214640"/>
            <a:ext cx="269199" cy="269199"/>
          </a:xfrm>
          <a:prstGeom prst="rect">
            <a:avLst/>
          </a:prstGeom>
        </p:spPr>
      </p:pic>
      <p:sp>
        <p:nvSpPr>
          <p:cNvPr id="23" name="Text 16"/>
          <p:cNvSpPr txBox="1"/>
          <p:nvPr/>
        </p:nvSpPr>
        <p:spPr>
          <a:xfrm>
            <a:off x="8613648" y="4937760"/>
            <a:ext cx="2834640" cy="320040"/>
          </a:xfrm>
          <a:prstGeom prst="rect">
            <a:avLst/>
          </a:prstGeom>
          <a:noFill/>
          <a:ln/>
        </p:spPr>
        <p:txBody>
          <a:bodyPr wrap="square" lIns="0" tIns="0" rIns="0" bIns="0" rtlCol="0" anchor="t"/>
          <a:lstStyle/>
          <a:p>
            <a:pPr indent="0" marL="0">
              <a:buNone/>
            </a:pPr>
            <a:r>
              <a:rPr lang="en-US" sz="1500" b="1" dirty="0">
                <a:solidFill>
                  <a:srgbClr val="FFFFFF"/>
                </a:solidFill>
              </a:rPr>
              <a:t>3  Safe outcome</a:t>
            </a:r>
            <a:endParaRPr lang="en-US" sz="1500" dirty="0"/>
          </a:p>
        </p:txBody>
      </p:sp>
      <p:sp>
        <p:nvSpPr>
          <p:cNvPr id="24" name="Text 17"/>
          <p:cNvSpPr txBox="1"/>
          <p:nvPr/>
        </p:nvSpPr>
        <p:spPr>
          <a:xfrm>
            <a:off x="8613648" y="5285232"/>
            <a:ext cx="2834640" cy="594360"/>
          </a:xfrm>
          <a:prstGeom prst="rect">
            <a:avLst/>
          </a:prstGeom>
          <a:noFill/>
          <a:ln/>
        </p:spPr>
        <p:txBody>
          <a:bodyPr wrap="square" lIns="0" tIns="0" rIns="0" bIns="0" rtlCol="0" anchor="t"/>
          <a:lstStyle/>
          <a:p>
            <a:pPr indent="0" marL="0">
              <a:buNone/>
            </a:pPr>
            <a:r>
              <a:rPr lang="en-US" sz="1100" dirty="0">
                <a:solidFill>
                  <a:srgbClr val="CFE0FF"/>
                </a:solidFill>
              </a:rPr>
              <a:t>A cited answer for the member, or a clean hand-off to staff</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body" hasCustomPrompt="1"/>
          </p:nvPr>
        </p:nvSpPr>
        <p:spPr>
          <a:xfrm>
            <a:off x="640080" y="411480"/>
            <a:ext cx="7315200" cy="274320"/>
          </a:xfrm>
          <a:prstGeom prst="rect">
            <a:avLst/>
          </a:prstGeom>
          <a:noFill/>
          <a:ln/>
        </p:spPr>
        <p:txBody>
          <a:bodyPr wrap="square" lIns="0" tIns="0" rIns="0" bIns="0" rtlCol="0" anchor="t"/>
          <a:lstStyle/>
          <a:p>
            <a:pPr indent="0" marL="0">
              <a:buNone/>
            </a:pPr>
            <a:r>
              <a:rPr lang="en-US" sz="1200" b="1" spc="400" kern="0" dirty="0">
                <a:solidFill>
                  <a:srgbClr val="3CC3F0"/>
                </a:solidFill>
              </a:rPr>
              <a:t>EXECUTIVE SUMMARY</a:t>
            </a:r>
            <a:endParaRPr lang="en-US" sz="1200" dirty="0"/>
          </a:p>
        </p:txBody>
      </p:sp>
      <p:sp>
        <p:nvSpPr>
          <p:cNvPr id="3" name="Text 2"/>
          <p:cNvSpPr/>
          <p:nvPr>
            <p:ph idx="104" type="title" hasCustomPrompt="1"/>
          </p:nvPr>
        </p:nvSpPr>
        <p:spPr>
          <a:xfrm>
            <a:off x="640080" y="777240"/>
            <a:ext cx="10908792" cy="731520"/>
          </a:xfrm>
          <a:prstGeom prst="rect">
            <a:avLst/>
          </a:prstGeom>
          <a:noFill/>
          <a:ln/>
        </p:spPr>
        <p:txBody>
          <a:bodyPr wrap="square" lIns="0" tIns="0" rIns="0" bIns="0" rtlCol="0" anchor="t"/>
          <a:lstStyle/>
          <a:p>
            <a:pPr algn="l" indent="0" marL="0">
              <a:buNone/>
            </a:pPr>
            <a:r>
              <a:rPr lang="en-US" sz="3000" b="1" dirty="0">
                <a:solidFill>
                  <a:srgbClr val="FFFFFF"/>
                </a:solidFill>
              </a:rPr>
              <a:t>The proposition in one page</a:t>
            </a:r>
            <a:endParaRPr lang="en-US" sz="3000" dirty="0"/>
          </a:p>
        </p:txBody>
      </p:sp>
      <p:sp>
        <p:nvSpPr>
          <p:cNvPr id="4" name="Text 2"/>
          <p:cNvSpPr txBox="1"/>
          <p:nvPr/>
        </p:nvSpPr>
        <p:spPr>
          <a:xfrm>
            <a:off x="7863840" y="411480"/>
            <a:ext cx="3685032" cy="274320"/>
          </a:xfrm>
          <a:prstGeom prst="rect">
            <a:avLst/>
          </a:prstGeom>
          <a:noFill/>
          <a:ln/>
        </p:spPr>
        <p:txBody>
          <a:bodyPr wrap="square" lIns="0" tIns="0" rIns="0" bIns="0" rtlCol="0" anchor="t"/>
          <a:lstStyle/>
          <a:p>
            <a:pPr algn="r" indent="0" marL="0">
              <a:buNone/>
            </a:pPr>
            <a:r>
              <a:rPr lang="en-US" sz="1000" b="1" spc="300" kern="0" dirty="0">
                <a:solidFill>
                  <a:srgbClr val="A9BBEA"/>
                </a:solidFill>
              </a:rPr>
              <a:t>CONTEXT</a:t>
            </a:r>
            <a:endParaRPr lang="en-US" sz="1000" dirty="0"/>
          </a:p>
        </p:txBody>
      </p:sp>
      <p:sp>
        <p:nvSpPr>
          <p:cNvPr id="5" name="Shape 3"/>
          <p:cNvSpPr/>
          <p:nvPr/>
        </p:nvSpPr>
        <p:spPr>
          <a:xfrm>
            <a:off x="640080" y="1783080"/>
            <a:ext cx="7223760" cy="960120"/>
          </a:xfrm>
          <a:prstGeom prst="roundRect">
            <a:avLst>
              <a:gd name="adj" fmla="val 7619"/>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6" name="Shape 4"/>
          <p:cNvSpPr/>
          <p:nvPr/>
        </p:nvSpPr>
        <p:spPr>
          <a:xfrm>
            <a:off x="841248" y="1965960"/>
            <a:ext cx="594360" cy="594360"/>
          </a:xfrm>
          <a:prstGeom prst="ellipse">
            <a:avLst/>
          </a:prstGeom>
          <a:solidFill>
            <a:srgbClr val="1547C8"/>
          </a:solidFill>
          <a:ln w="6350">
            <a:solidFill>
              <a:srgbClr val="1547C8"/>
            </a:solidFill>
            <a:prstDash val="solid"/>
          </a:ln>
        </p:spPr>
      </p:sp>
      <p:pic>
        <p:nvPicPr>
          <p:cNvPr id="7" name="Image 0" descr="FaExclamationCircle">    </p:cNvPr>
          <p:cNvPicPr>
            <a:picLocks noChangeAspect="1"/>
          </p:cNvPicPr>
          <p:nvPr/>
        </p:nvPicPr>
        <p:blipFill>
          <a:blip r:embed="rId1"/>
          <a:stretch>
            <a:fillRect/>
          </a:stretch>
        </p:blipFill>
        <p:spPr>
          <a:xfrm>
            <a:off x="1001725" y="2126437"/>
            <a:ext cx="273406" cy="273406"/>
          </a:xfrm>
          <a:prstGeom prst="rect">
            <a:avLst/>
          </a:prstGeom>
        </p:spPr>
      </p:pic>
      <p:sp>
        <p:nvSpPr>
          <p:cNvPr id="8" name="Text 5"/>
          <p:cNvSpPr txBox="1"/>
          <p:nvPr/>
        </p:nvSpPr>
        <p:spPr>
          <a:xfrm>
            <a:off x="1645920" y="1911096"/>
            <a:ext cx="1828800" cy="228600"/>
          </a:xfrm>
          <a:prstGeom prst="rect">
            <a:avLst/>
          </a:prstGeom>
          <a:noFill/>
          <a:ln/>
        </p:spPr>
        <p:txBody>
          <a:bodyPr wrap="square" lIns="0" tIns="0" rIns="0" bIns="0" rtlCol="0" anchor="t"/>
          <a:lstStyle/>
          <a:p>
            <a:pPr indent="0" marL="0">
              <a:buNone/>
            </a:pPr>
            <a:r>
              <a:rPr lang="en-US" sz="1000" b="1" spc="200" kern="0" dirty="0">
                <a:solidFill>
                  <a:srgbClr val="1547C8"/>
                </a:solidFill>
              </a:rPr>
              <a:t>CHALLENGE</a:t>
            </a:r>
            <a:endParaRPr lang="en-US" sz="1000" dirty="0"/>
          </a:p>
        </p:txBody>
      </p:sp>
      <p:sp>
        <p:nvSpPr>
          <p:cNvPr id="9" name="Text 6"/>
          <p:cNvSpPr txBox="1"/>
          <p:nvPr/>
        </p:nvSpPr>
        <p:spPr>
          <a:xfrm>
            <a:off x="1645920" y="2148840"/>
            <a:ext cx="6035040" cy="548640"/>
          </a:xfrm>
          <a:prstGeom prst="rect">
            <a:avLst/>
          </a:prstGeom>
          <a:noFill/>
          <a:ln/>
        </p:spPr>
        <p:txBody>
          <a:bodyPr wrap="square" lIns="0" tIns="0" rIns="0" bIns="0" rtlCol="0" anchor="t"/>
          <a:lstStyle/>
          <a:p>
            <a:pPr indent="0" marL="0">
              <a:buNone/>
            </a:pPr>
            <a:r>
              <a:rPr lang="en-US" sz="1250" dirty="0">
                <a:solidFill>
                  <a:srgbClr val="1F2937"/>
                </a:solidFill>
              </a:rPr>
              <a:t>Coordinators spend time on repetitive follow-up, and unsupervised AI is not acceptable in a clinical setting.</a:t>
            </a:r>
            <a:endParaRPr lang="en-US" sz="1250" dirty="0"/>
          </a:p>
        </p:txBody>
      </p:sp>
      <p:sp>
        <p:nvSpPr>
          <p:cNvPr id="10" name="Shape 7"/>
          <p:cNvSpPr/>
          <p:nvPr/>
        </p:nvSpPr>
        <p:spPr>
          <a:xfrm>
            <a:off x="640080" y="2880360"/>
            <a:ext cx="7223760" cy="960120"/>
          </a:xfrm>
          <a:prstGeom prst="roundRect">
            <a:avLst>
              <a:gd name="adj" fmla="val 7619"/>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11" name="Shape 8"/>
          <p:cNvSpPr/>
          <p:nvPr/>
        </p:nvSpPr>
        <p:spPr>
          <a:xfrm>
            <a:off x="841248" y="3063240"/>
            <a:ext cx="594360" cy="594360"/>
          </a:xfrm>
          <a:prstGeom prst="ellipse">
            <a:avLst/>
          </a:prstGeom>
          <a:solidFill>
            <a:srgbClr val="1547C8"/>
          </a:solidFill>
          <a:ln w="6350">
            <a:solidFill>
              <a:srgbClr val="1547C8"/>
            </a:solidFill>
            <a:prstDash val="solid"/>
          </a:ln>
        </p:spPr>
      </p:sp>
      <p:pic>
        <p:nvPicPr>
          <p:cNvPr id="12" name="Image 1" descr="FaProjectDiagram">    </p:cNvPr>
          <p:cNvPicPr>
            <a:picLocks noChangeAspect="1"/>
          </p:cNvPicPr>
          <p:nvPr/>
        </p:nvPicPr>
        <p:blipFill>
          <a:blip r:embed="rId2"/>
          <a:stretch>
            <a:fillRect/>
          </a:stretch>
        </p:blipFill>
        <p:spPr>
          <a:xfrm>
            <a:off x="1001725" y="3223717"/>
            <a:ext cx="273406" cy="273406"/>
          </a:xfrm>
          <a:prstGeom prst="rect">
            <a:avLst/>
          </a:prstGeom>
        </p:spPr>
      </p:pic>
      <p:sp>
        <p:nvSpPr>
          <p:cNvPr id="13" name="Text 9"/>
          <p:cNvSpPr txBox="1"/>
          <p:nvPr/>
        </p:nvSpPr>
        <p:spPr>
          <a:xfrm>
            <a:off x="1645920" y="3008376"/>
            <a:ext cx="1828800" cy="228600"/>
          </a:xfrm>
          <a:prstGeom prst="rect">
            <a:avLst/>
          </a:prstGeom>
          <a:noFill/>
          <a:ln/>
        </p:spPr>
        <p:txBody>
          <a:bodyPr wrap="square" lIns="0" tIns="0" rIns="0" bIns="0" rtlCol="0" anchor="t"/>
          <a:lstStyle/>
          <a:p>
            <a:pPr indent="0" marL="0">
              <a:buNone/>
            </a:pPr>
            <a:r>
              <a:rPr lang="en-US" sz="1000" b="1" spc="200" kern="0" dirty="0">
                <a:solidFill>
                  <a:srgbClr val="1547C8"/>
                </a:solidFill>
              </a:rPr>
              <a:t>SOLUTION</a:t>
            </a:r>
            <a:endParaRPr lang="en-US" sz="1000" dirty="0"/>
          </a:p>
        </p:txBody>
      </p:sp>
      <p:sp>
        <p:nvSpPr>
          <p:cNvPr id="14" name="Text 10"/>
          <p:cNvSpPr txBox="1"/>
          <p:nvPr/>
        </p:nvSpPr>
        <p:spPr>
          <a:xfrm>
            <a:off x="1645920" y="3246120"/>
            <a:ext cx="6035040" cy="548640"/>
          </a:xfrm>
          <a:prstGeom prst="rect">
            <a:avLst/>
          </a:prstGeom>
          <a:noFill/>
          <a:ln/>
        </p:spPr>
        <p:txBody>
          <a:bodyPr wrap="square" lIns="0" tIns="0" rIns="0" bIns="0" rtlCol="0" anchor="t"/>
          <a:lstStyle/>
          <a:p>
            <a:pPr indent="0" marL="0">
              <a:buNone/>
            </a:pPr>
            <a:r>
              <a:rPr lang="en-US" sz="1250" dirty="0">
                <a:solidFill>
                  <a:srgbClr val="1F2937"/>
                </a:solidFill>
              </a:rPr>
              <a:t>Six specialised agents on Microsoft Foundry draft plain-language responses. A rules engine in code decides every fact and every escalation.</a:t>
            </a:r>
            <a:endParaRPr lang="en-US" sz="1250" dirty="0"/>
          </a:p>
        </p:txBody>
      </p:sp>
      <p:sp>
        <p:nvSpPr>
          <p:cNvPr id="15" name="Shape 11"/>
          <p:cNvSpPr/>
          <p:nvPr/>
        </p:nvSpPr>
        <p:spPr>
          <a:xfrm>
            <a:off x="640080" y="3977640"/>
            <a:ext cx="7223760" cy="960120"/>
          </a:xfrm>
          <a:prstGeom prst="roundRect">
            <a:avLst>
              <a:gd name="adj" fmla="val 7619"/>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16" name="Shape 12"/>
          <p:cNvSpPr/>
          <p:nvPr/>
        </p:nvSpPr>
        <p:spPr>
          <a:xfrm>
            <a:off x="841248" y="4160520"/>
            <a:ext cx="594360" cy="594360"/>
          </a:xfrm>
          <a:prstGeom prst="ellipse">
            <a:avLst/>
          </a:prstGeom>
          <a:solidFill>
            <a:srgbClr val="1547C8"/>
          </a:solidFill>
          <a:ln w="6350">
            <a:solidFill>
              <a:srgbClr val="1547C8"/>
            </a:solidFill>
            <a:prstDash val="solid"/>
          </a:ln>
        </p:spPr>
      </p:sp>
      <p:pic>
        <p:nvPicPr>
          <p:cNvPr id="17" name="Image 2" descr="FaShieldAlt">    </p:cNvPr>
          <p:cNvPicPr>
            <a:picLocks noChangeAspect="1"/>
          </p:cNvPicPr>
          <p:nvPr/>
        </p:nvPicPr>
        <p:blipFill>
          <a:blip r:embed="rId3"/>
          <a:stretch>
            <a:fillRect/>
          </a:stretch>
        </p:blipFill>
        <p:spPr>
          <a:xfrm>
            <a:off x="1001725" y="4320997"/>
            <a:ext cx="273406" cy="273406"/>
          </a:xfrm>
          <a:prstGeom prst="rect">
            <a:avLst/>
          </a:prstGeom>
        </p:spPr>
      </p:pic>
      <p:sp>
        <p:nvSpPr>
          <p:cNvPr id="18" name="Text 13"/>
          <p:cNvSpPr txBox="1"/>
          <p:nvPr/>
        </p:nvSpPr>
        <p:spPr>
          <a:xfrm>
            <a:off x="1645920" y="4105656"/>
            <a:ext cx="1828800" cy="228600"/>
          </a:xfrm>
          <a:prstGeom prst="rect">
            <a:avLst/>
          </a:prstGeom>
          <a:noFill/>
          <a:ln/>
        </p:spPr>
        <p:txBody>
          <a:bodyPr wrap="square" lIns="0" tIns="0" rIns="0" bIns="0" rtlCol="0" anchor="t"/>
          <a:lstStyle/>
          <a:p>
            <a:pPr indent="0" marL="0">
              <a:buNone/>
            </a:pPr>
            <a:r>
              <a:rPr lang="en-US" sz="1000" b="1" spc="200" kern="0" dirty="0">
                <a:solidFill>
                  <a:srgbClr val="1547C8"/>
                </a:solidFill>
              </a:rPr>
              <a:t>SAFEGUARDS</a:t>
            </a:r>
            <a:endParaRPr lang="en-US" sz="1000" dirty="0"/>
          </a:p>
        </p:txBody>
      </p:sp>
      <p:sp>
        <p:nvSpPr>
          <p:cNvPr id="19" name="Text 14"/>
          <p:cNvSpPr txBox="1"/>
          <p:nvPr/>
        </p:nvSpPr>
        <p:spPr>
          <a:xfrm>
            <a:off x="1645920" y="4343400"/>
            <a:ext cx="6035040" cy="548640"/>
          </a:xfrm>
          <a:prstGeom prst="rect">
            <a:avLst/>
          </a:prstGeom>
          <a:noFill/>
          <a:ln/>
        </p:spPr>
        <p:txBody>
          <a:bodyPr wrap="square" lIns="0" tIns="0" rIns="0" bIns="0" rtlCol="0" anchor="t"/>
          <a:lstStyle/>
          <a:p>
            <a:pPr indent="0" marL="0">
              <a:buNone/>
            </a:pPr>
            <a:r>
              <a:rPr lang="en-US" sz="1250" dirty="0">
                <a:solidFill>
                  <a:srgbClr val="1F2937"/>
                </a:solidFill>
              </a:rPr>
              <a:t>The system never diagnoses, advises or changes medicines. Risky cases go to a named staff queue with a clean packet.</a:t>
            </a:r>
            <a:endParaRPr lang="en-US" sz="1250" dirty="0"/>
          </a:p>
        </p:txBody>
      </p:sp>
      <p:sp>
        <p:nvSpPr>
          <p:cNvPr id="20" name="Shape 15"/>
          <p:cNvSpPr/>
          <p:nvPr/>
        </p:nvSpPr>
        <p:spPr>
          <a:xfrm>
            <a:off x="640080" y="5074920"/>
            <a:ext cx="7223760" cy="960120"/>
          </a:xfrm>
          <a:prstGeom prst="roundRect">
            <a:avLst>
              <a:gd name="adj" fmla="val 7619"/>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21" name="Shape 16"/>
          <p:cNvSpPr/>
          <p:nvPr/>
        </p:nvSpPr>
        <p:spPr>
          <a:xfrm>
            <a:off x="841248" y="5257800"/>
            <a:ext cx="594360" cy="594360"/>
          </a:xfrm>
          <a:prstGeom prst="ellipse">
            <a:avLst/>
          </a:prstGeom>
          <a:solidFill>
            <a:srgbClr val="1547C8"/>
          </a:solidFill>
          <a:ln w="6350">
            <a:solidFill>
              <a:srgbClr val="1547C8"/>
            </a:solidFill>
            <a:prstDash val="solid"/>
          </a:ln>
        </p:spPr>
      </p:sp>
      <p:pic>
        <p:nvPicPr>
          <p:cNvPr id="22" name="Image 3" descr="FaClipboardCheck">    </p:cNvPr>
          <p:cNvPicPr>
            <a:picLocks noChangeAspect="1"/>
          </p:cNvPicPr>
          <p:nvPr/>
        </p:nvPicPr>
        <p:blipFill>
          <a:blip r:embed="rId4"/>
          <a:stretch>
            <a:fillRect/>
          </a:stretch>
        </p:blipFill>
        <p:spPr>
          <a:xfrm>
            <a:off x="1001725" y="5418277"/>
            <a:ext cx="273406" cy="273406"/>
          </a:xfrm>
          <a:prstGeom prst="rect">
            <a:avLst/>
          </a:prstGeom>
        </p:spPr>
      </p:pic>
      <p:sp>
        <p:nvSpPr>
          <p:cNvPr id="23" name="Text 17"/>
          <p:cNvSpPr txBox="1"/>
          <p:nvPr/>
        </p:nvSpPr>
        <p:spPr>
          <a:xfrm>
            <a:off x="1645920" y="5202936"/>
            <a:ext cx="1828800" cy="228600"/>
          </a:xfrm>
          <a:prstGeom prst="rect">
            <a:avLst/>
          </a:prstGeom>
          <a:noFill/>
          <a:ln/>
        </p:spPr>
        <p:txBody>
          <a:bodyPr wrap="square" lIns="0" tIns="0" rIns="0" bIns="0" rtlCol="0" anchor="t"/>
          <a:lstStyle/>
          <a:p>
            <a:pPr indent="0" marL="0">
              <a:buNone/>
            </a:pPr>
            <a:r>
              <a:rPr lang="en-US" sz="1000" b="1" spc="200" kern="0" dirty="0">
                <a:solidFill>
                  <a:srgbClr val="1547C8"/>
                </a:solidFill>
              </a:rPr>
              <a:t>STATUS</a:t>
            </a:r>
            <a:endParaRPr lang="en-US" sz="1000" dirty="0"/>
          </a:p>
        </p:txBody>
      </p:sp>
      <p:sp>
        <p:nvSpPr>
          <p:cNvPr id="24" name="Text 18"/>
          <p:cNvSpPr txBox="1"/>
          <p:nvPr/>
        </p:nvSpPr>
        <p:spPr>
          <a:xfrm>
            <a:off x="1645920" y="5440680"/>
            <a:ext cx="6035040" cy="548640"/>
          </a:xfrm>
          <a:prstGeom prst="rect">
            <a:avLst/>
          </a:prstGeom>
          <a:noFill/>
          <a:ln/>
        </p:spPr>
        <p:txBody>
          <a:bodyPr wrap="square" lIns="0" tIns="0" rIns="0" bIns="0" rtlCol="0" anchor="t"/>
          <a:lstStyle/>
          <a:p>
            <a:pPr indent="0" marL="0">
              <a:buNone/>
            </a:pPr>
            <a:r>
              <a:rPr lang="en-US" sz="1250" dirty="0">
                <a:solidFill>
                  <a:srgbClr val="1F2937"/>
                </a:solidFill>
              </a:rPr>
              <a:t>Prototype complete and validated offline: 79 of 79 automated checks passed. Online validation in Foundry is the next step.</a:t>
            </a:r>
            <a:endParaRPr lang="en-US" sz="1250" dirty="0"/>
          </a:p>
        </p:txBody>
      </p:sp>
      <p:sp>
        <p:nvSpPr>
          <p:cNvPr id="25" name="Shape 19"/>
          <p:cNvSpPr/>
          <p:nvPr/>
        </p:nvSpPr>
        <p:spPr>
          <a:xfrm>
            <a:off x="8183880" y="1783080"/>
            <a:ext cx="3364992" cy="4251960"/>
          </a:xfrm>
          <a:prstGeom prst="roundRect">
            <a:avLst>
              <a:gd name="adj" fmla="val 2174"/>
            </a:avLst>
          </a:prstGeom>
          <a:solidFill>
            <a:srgbClr val="1547C8"/>
          </a:solidFill>
          <a:ln w="19050">
            <a:solidFill>
              <a:srgbClr val="3CC3F0"/>
            </a:solidFill>
            <a:prstDash val="solid"/>
          </a:ln>
          <a:effectLst>
            <a:outerShdw sx="100000" sy="100000" kx="0" ky="0" algn="bl" rotWithShape="0" blurRad="127000" dist="38100" dir="5400000">
              <a:srgbClr val="000000">
                <a:alpha val="28000"/>
              </a:srgbClr>
            </a:outerShdw>
          </a:effectLst>
        </p:spPr>
      </p:sp>
      <p:sp>
        <p:nvSpPr>
          <p:cNvPr id="26" name="Text 20"/>
          <p:cNvSpPr txBox="1"/>
          <p:nvPr/>
        </p:nvSpPr>
        <p:spPr>
          <a:xfrm>
            <a:off x="8412480" y="2011680"/>
            <a:ext cx="2926080" cy="274320"/>
          </a:xfrm>
          <a:prstGeom prst="rect">
            <a:avLst/>
          </a:prstGeom>
          <a:noFill/>
          <a:ln/>
        </p:spPr>
        <p:txBody>
          <a:bodyPr wrap="square" lIns="0" tIns="0" rIns="0" bIns="0" rtlCol="0" anchor="t"/>
          <a:lstStyle/>
          <a:p>
            <a:pPr indent="0" marL="0">
              <a:buNone/>
            </a:pPr>
            <a:r>
              <a:rPr lang="en-US" sz="1100" b="1" spc="200" kern="0" dirty="0">
                <a:solidFill>
                  <a:srgbClr val="3CC3F0"/>
                </a:solidFill>
              </a:rPr>
              <a:t>DECISIONS REQUESTED</a:t>
            </a:r>
            <a:endParaRPr lang="en-US" sz="1100" dirty="0"/>
          </a:p>
        </p:txBody>
      </p:sp>
      <p:sp>
        <p:nvSpPr>
          <p:cNvPr id="27" name="Shape 21"/>
          <p:cNvSpPr/>
          <p:nvPr/>
        </p:nvSpPr>
        <p:spPr>
          <a:xfrm>
            <a:off x="8412480" y="2514600"/>
            <a:ext cx="384048" cy="384048"/>
          </a:xfrm>
          <a:prstGeom prst="ellipse">
            <a:avLst/>
          </a:prstGeom>
          <a:solidFill>
            <a:srgbClr val="FFFFFF"/>
          </a:solidFill>
          <a:ln w="6350">
            <a:solidFill>
              <a:srgbClr val="FFFFFF"/>
            </a:solidFill>
            <a:prstDash val="solid"/>
          </a:ln>
        </p:spPr>
      </p:sp>
      <p:sp>
        <p:nvSpPr>
          <p:cNvPr id="28" name="Text 22"/>
          <p:cNvSpPr txBox="1"/>
          <p:nvPr/>
        </p:nvSpPr>
        <p:spPr>
          <a:xfrm>
            <a:off x="8412480" y="2514600"/>
            <a:ext cx="384048" cy="384048"/>
          </a:xfrm>
          <a:prstGeom prst="rect">
            <a:avLst/>
          </a:prstGeom>
          <a:noFill/>
          <a:ln/>
        </p:spPr>
        <p:txBody>
          <a:bodyPr wrap="square" lIns="0" tIns="0" rIns="0" bIns="0" rtlCol="0" anchor="ctr"/>
          <a:lstStyle/>
          <a:p>
            <a:pPr algn="ctr" indent="0" marL="0">
              <a:buNone/>
            </a:pPr>
            <a:r>
              <a:rPr lang="en-US" sz="1400" b="1" dirty="0">
                <a:solidFill>
                  <a:srgbClr val="1547C8"/>
                </a:solidFill>
              </a:rPr>
              <a:t>1</a:t>
            </a:r>
            <a:endParaRPr lang="en-US" sz="1400" dirty="0"/>
          </a:p>
        </p:txBody>
      </p:sp>
      <p:sp>
        <p:nvSpPr>
          <p:cNvPr id="29" name="Text 23"/>
          <p:cNvSpPr txBox="1"/>
          <p:nvPr/>
        </p:nvSpPr>
        <p:spPr>
          <a:xfrm>
            <a:off x="8961120" y="2478024"/>
            <a:ext cx="2377440" cy="914400"/>
          </a:xfrm>
          <a:prstGeom prst="rect">
            <a:avLst/>
          </a:prstGeom>
          <a:noFill/>
          <a:ln/>
        </p:spPr>
        <p:txBody>
          <a:bodyPr wrap="square" lIns="0" tIns="0" rIns="0" bIns="0" rtlCol="0" anchor="t"/>
          <a:lstStyle/>
          <a:p>
            <a:pPr indent="0" marL="0">
              <a:buNone/>
            </a:pPr>
            <a:r>
              <a:rPr lang="en-US" sz="1350" b="1" dirty="0">
                <a:solidFill>
                  <a:srgbClr val="FFFFFF"/>
                </a:solidFill>
              </a:rPr>
              <a:t>Approve an Azure environment for online validation</a:t>
            </a:r>
            <a:endParaRPr lang="en-US" sz="1350" dirty="0"/>
          </a:p>
        </p:txBody>
      </p:sp>
      <p:sp>
        <p:nvSpPr>
          <p:cNvPr id="30" name="Shape 24"/>
          <p:cNvSpPr/>
          <p:nvPr/>
        </p:nvSpPr>
        <p:spPr>
          <a:xfrm>
            <a:off x="8412480" y="3657600"/>
            <a:ext cx="384048" cy="384048"/>
          </a:xfrm>
          <a:prstGeom prst="ellipse">
            <a:avLst/>
          </a:prstGeom>
          <a:solidFill>
            <a:srgbClr val="FFFFFF"/>
          </a:solidFill>
          <a:ln w="6350">
            <a:solidFill>
              <a:srgbClr val="FFFFFF"/>
            </a:solidFill>
            <a:prstDash val="solid"/>
          </a:ln>
        </p:spPr>
      </p:sp>
      <p:sp>
        <p:nvSpPr>
          <p:cNvPr id="31" name="Text 25"/>
          <p:cNvSpPr txBox="1"/>
          <p:nvPr/>
        </p:nvSpPr>
        <p:spPr>
          <a:xfrm>
            <a:off x="8412480" y="3657600"/>
            <a:ext cx="384048" cy="384048"/>
          </a:xfrm>
          <a:prstGeom prst="rect">
            <a:avLst/>
          </a:prstGeom>
          <a:noFill/>
          <a:ln/>
        </p:spPr>
        <p:txBody>
          <a:bodyPr wrap="square" lIns="0" tIns="0" rIns="0" bIns="0" rtlCol="0" anchor="ctr"/>
          <a:lstStyle/>
          <a:p>
            <a:pPr algn="ctr" indent="0" marL="0">
              <a:buNone/>
            </a:pPr>
            <a:r>
              <a:rPr lang="en-US" sz="1400" b="1" dirty="0">
                <a:solidFill>
                  <a:srgbClr val="1547C8"/>
                </a:solidFill>
              </a:rPr>
              <a:t>2</a:t>
            </a:r>
            <a:endParaRPr lang="en-US" sz="1400" dirty="0"/>
          </a:p>
        </p:txBody>
      </p:sp>
      <p:sp>
        <p:nvSpPr>
          <p:cNvPr id="32" name="Text 26"/>
          <p:cNvSpPr txBox="1"/>
          <p:nvPr/>
        </p:nvSpPr>
        <p:spPr>
          <a:xfrm>
            <a:off x="8961120" y="3621024"/>
            <a:ext cx="2377440" cy="914400"/>
          </a:xfrm>
          <a:prstGeom prst="rect">
            <a:avLst/>
          </a:prstGeom>
          <a:noFill/>
          <a:ln/>
        </p:spPr>
        <p:txBody>
          <a:bodyPr wrap="square" lIns="0" tIns="0" rIns="0" bIns="0" rtlCol="0" anchor="t"/>
          <a:lstStyle/>
          <a:p>
            <a:pPr indent="0" marL="0">
              <a:buNone/>
            </a:pPr>
            <a:r>
              <a:rPr lang="en-US" sz="1350" b="1" dirty="0">
                <a:solidFill>
                  <a:srgbClr val="FFFFFF"/>
                </a:solidFill>
              </a:rPr>
              <a:t>Nominate clinical reviewers for thresholds and content</a:t>
            </a:r>
            <a:endParaRPr lang="en-US" sz="1350" dirty="0"/>
          </a:p>
        </p:txBody>
      </p:sp>
      <p:sp>
        <p:nvSpPr>
          <p:cNvPr id="33" name="Shape 27"/>
          <p:cNvSpPr/>
          <p:nvPr/>
        </p:nvSpPr>
        <p:spPr>
          <a:xfrm>
            <a:off x="8412480" y="4800600"/>
            <a:ext cx="384048" cy="384048"/>
          </a:xfrm>
          <a:prstGeom prst="ellipse">
            <a:avLst/>
          </a:prstGeom>
          <a:solidFill>
            <a:srgbClr val="FFFFFF"/>
          </a:solidFill>
          <a:ln w="6350">
            <a:solidFill>
              <a:srgbClr val="FFFFFF"/>
            </a:solidFill>
            <a:prstDash val="solid"/>
          </a:ln>
        </p:spPr>
      </p:sp>
      <p:sp>
        <p:nvSpPr>
          <p:cNvPr id="34" name="Text 28"/>
          <p:cNvSpPr txBox="1"/>
          <p:nvPr/>
        </p:nvSpPr>
        <p:spPr>
          <a:xfrm>
            <a:off x="8412480" y="4800600"/>
            <a:ext cx="384048" cy="384048"/>
          </a:xfrm>
          <a:prstGeom prst="rect">
            <a:avLst/>
          </a:prstGeom>
          <a:noFill/>
          <a:ln/>
        </p:spPr>
        <p:txBody>
          <a:bodyPr wrap="square" lIns="0" tIns="0" rIns="0" bIns="0" rtlCol="0" anchor="ctr"/>
          <a:lstStyle/>
          <a:p>
            <a:pPr algn="ctr" indent="0" marL="0">
              <a:buNone/>
            </a:pPr>
            <a:r>
              <a:rPr lang="en-US" sz="1400" b="1" dirty="0">
                <a:solidFill>
                  <a:srgbClr val="1547C8"/>
                </a:solidFill>
              </a:rPr>
              <a:t>3</a:t>
            </a:r>
            <a:endParaRPr lang="en-US" sz="1400" dirty="0"/>
          </a:p>
        </p:txBody>
      </p:sp>
      <p:sp>
        <p:nvSpPr>
          <p:cNvPr id="35" name="Text 29"/>
          <p:cNvSpPr txBox="1"/>
          <p:nvPr/>
        </p:nvSpPr>
        <p:spPr>
          <a:xfrm>
            <a:off x="8961120" y="4764024"/>
            <a:ext cx="2377440" cy="914400"/>
          </a:xfrm>
          <a:prstGeom prst="rect">
            <a:avLst/>
          </a:prstGeom>
          <a:noFill/>
          <a:ln/>
        </p:spPr>
        <p:txBody>
          <a:bodyPr wrap="square" lIns="0" tIns="0" rIns="0" bIns="0" rtlCol="0" anchor="t"/>
          <a:lstStyle/>
          <a:p>
            <a:pPr indent="0" marL="0">
              <a:buNone/>
            </a:pPr>
            <a:r>
              <a:rPr lang="en-US" sz="1350" b="1" dirty="0">
                <a:solidFill>
                  <a:srgbClr val="FFFFFF"/>
                </a:solidFill>
              </a:rPr>
              <a:t>Agree pilot scope and success measures</a:t>
            </a:r>
            <a:endParaRPr lang="en-US" sz="135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body" hasCustomPrompt="1"/>
          </p:nvPr>
        </p:nvSpPr>
        <p:spPr>
          <a:xfrm>
            <a:off x="640080" y="411480"/>
            <a:ext cx="7315200" cy="274320"/>
          </a:xfrm>
          <a:prstGeom prst="rect">
            <a:avLst/>
          </a:prstGeom>
          <a:noFill/>
          <a:ln/>
        </p:spPr>
        <p:txBody>
          <a:bodyPr wrap="square" lIns="0" tIns="0" rIns="0" bIns="0" rtlCol="0" anchor="t"/>
          <a:lstStyle/>
          <a:p>
            <a:pPr indent="0" marL="0">
              <a:buNone/>
            </a:pPr>
            <a:r>
              <a:rPr lang="en-US" sz="1200" b="1" spc="400" kern="0" dirty="0">
                <a:solidFill>
                  <a:srgbClr val="3CC3F0"/>
                </a:solidFill>
              </a:rPr>
              <a:t>BUSINESS CHALLENGE</a:t>
            </a:r>
            <a:endParaRPr lang="en-US" sz="1200" dirty="0"/>
          </a:p>
        </p:txBody>
      </p:sp>
      <p:sp>
        <p:nvSpPr>
          <p:cNvPr id="3" name="Text 2"/>
          <p:cNvSpPr/>
          <p:nvPr>
            <p:ph idx="104" type="title" hasCustomPrompt="1"/>
          </p:nvPr>
        </p:nvSpPr>
        <p:spPr>
          <a:xfrm>
            <a:off x="640080" y="777240"/>
            <a:ext cx="10908792" cy="731520"/>
          </a:xfrm>
          <a:prstGeom prst="rect">
            <a:avLst/>
          </a:prstGeom>
          <a:noFill/>
          <a:ln/>
        </p:spPr>
        <p:txBody>
          <a:bodyPr wrap="square" lIns="0" tIns="0" rIns="0" bIns="0" rtlCol="0" anchor="t"/>
          <a:lstStyle/>
          <a:p>
            <a:pPr algn="l" indent="0" marL="0">
              <a:buNone/>
            </a:pPr>
            <a:r>
              <a:rPr lang="en-US" sz="3000" b="1" dirty="0">
                <a:solidFill>
                  <a:srgbClr val="FFFFFF"/>
                </a:solidFill>
              </a:rPr>
              <a:t>Follow-up demand outpaces coordinator capacity</a:t>
            </a:r>
            <a:endParaRPr lang="en-US" sz="3000" dirty="0"/>
          </a:p>
        </p:txBody>
      </p:sp>
      <p:sp>
        <p:nvSpPr>
          <p:cNvPr id="4" name="Text 2"/>
          <p:cNvSpPr txBox="1"/>
          <p:nvPr/>
        </p:nvSpPr>
        <p:spPr>
          <a:xfrm>
            <a:off x="7863840" y="411480"/>
            <a:ext cx="3685032" cy="274320"/>
          </a:xfrm>
          <a:prstGeom prst="rect">
            <a:avLst/>
          </a:prstGeom>
          <a:noFill/>
          <a:ln/>
        </p:spPr>
        <p:txBody>
          <a:bodyPr wrap="square" lIns="0" tIns="0" rIns="0" bIns="0" rtlCol="0" anchor="t"/>
          <a:lstStyle/>
          <a:p>
            <a:pPr algn="r" indent="0" marL="0">
              <a:buNone/>
            </a:pPr>
            <a:r>
              <a:rPr lang="en-US" sz="1000" b="1" spc="300" kern="0" dirty="0">
                <a:solidFill>
                  <a:srgbClr val="A9BBEA"/>
                </a:solidFill>
              </a:rPr>
              <a:t>CONTEXT</a:t>
            </a:r>
            <a:endParaRPr lang="en-US" sz="1000" dirty="0"/>
          </a:p>
        </p:txBody>
      </p:sp>
      <p:sp>
        <p:nvSpPr>
          <p:cNvPr id="5" name="Shape 3"/>
          <p:cNvSpPr/>
          <p:nvPr/>
        </p:nvSpPr>
        <p:spPr>
          <a:xfrm>
            <a:off x="640080" y="1783080"/>
            <a:ext cx="3474720" cy="3200400"/>
          </a:xfrm>
          <a:prstGeom prst="roundRect">
            <a:avLst>
              <a:gd name="adj" fmla="val 2286"/>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6" name="Shape 4"/>
          <p:cNvSpPr/>
          <p:nvPr/>
        </p:nvSpPr>
        <p:spPr>
          <a:xfrm>
            <a:off x="914400" y="2057400"/>
            <a:ext cx="731520" cy="731520"/>
          </a:xfrm>
          <a:prstGeom prst="ellipse">
            <a:avLst/>
          </a:prstGeom>
          <a:solidFill>
            <a:srgbClr val="1547C8"/>
          </a:solidFill>
          <a:ln w="6350">
            <a:solidFill>
              <a:srgbClr val="1547C8"/>
            </a:solidFill>
            <a:prstDash val="solid"/>
          </a:ln>
        </p:spPr>
      </p:sp>
      <p:pic>
        <p:nvPicPr>
          <p:cNvPr id="7" name="Image 0" descr="FaUsers">    </p:cNvPr>
          <p:cNvPicPr>
            <a:picLocks noChangeAspect="1"/>
          </p:cNvPicPr>
          <p:nvPr/>
        </p:nvPicPr>
        <p:blipFill>
          <a:blip r:embed="rId1"/>
          <a:stretch>
            <a:fillRect/>
          </a:stretch>
        </p:blipFill>
        <p:spPr>
          <a:xfrm>
            <a:off x="1111910" y="2254910"/>
            <a:ext cx="336499" cy="336499"/>
          </a:xfrm>
          <a:prstGeom prst="rect">
            <a:avLst/>
          </a:prstGeom>
        </p:spPr>
      </p:pic>
      <p:sp>
        <p:nvSpPr>
          <p:cNvPr id="8" name="Text 5"/>
          <p:cNvSpPr txBox="1"/>
          <p:nvPr/>
        </p:nvSpPr>
        <p:spPr>
          <a:xfrm>
            <a:off x="914400" y="3017520"/>
            <a:ext cx="2926080" cy="411480"/>
          </a:xfrm>
          <a:prstGeom prst="rect">
            <a:avLst/>
          </a:prstGeom>
          <a:noFill/>
          <a:ln/>
        </p:spPr>
        <p:txBody>
          <a:bodyPr wrap="square" lIns="0" tIns="0" rIns="0" bIns="0" rtlCol="0" anchor="t"/>
          <a:lstStyle/>
          <a:p>
            <a:pPr indent="0" marL="0">
              <a:buNone/>
            </a:pPr>
            <a:r>
              <a:rPr lang="en-US" sz="2000" b="1" dirty="0">
                <a:solidFill>
                  <a:srgbClr val="1F2937"/>
                </a:solidFill>
              </a:rPr>
              <a:t>Capacity</a:t>
            </a:r>
            <a:endParaRPr lang="en-US" sz="2000" dirty="0"/>
          </a:p>
        </p:txBody>
      </p:sp>
      <p:sp>
        <p:nvSpPr>
          <p:cNvPr id="9" name="Text 6"/>
          <p:cNvSpPr txBox="1"/>
          <p:nvPr/>
        </p:nvSpPr>
        <p:spPr>
          <a:xfrm>
            <a:off x="914400" y="3520440"/>
            <a:ext cx="2926080" cy="1371600"/>
          </a:xfrm>
          <a:prstGeom prst="rect">
            <a:avLst/>
          </a:prstGeom>
          <a:noFill/>
          <a:ln/>
        </p:spPr>
        <p:txBody>
          <a:bodyPr wrap="square" lIns="0" tIns="0" rIns="0" bIns="0" rtlCol="0" anchor="t"/>
          <a:lstStyle/>
          <a:p>
            <a:pPr indent="0" marL="0">
              <a:buNone/>
            </a:pPr>
            <a:r>
              <a:rPr lang="en-US" sz="1300" dirty="0">
                <a:solidFill>
                  <a:srgbClr val="5B6478"/>
                </a:solidFill>
              </a:rPr>
              <a:t>Coordinators answer the same general questions repeatedly, which leaves less time for members who genuinely need a person.</a:t>
            </a:r>
            <a:endParaRPr lang="en-US" sz="1300" dirty="0"/>
          </a:p>
        </p:txBody>
      </p:sp>
      <p:sp>
        <p:nvSpPr>
          <p:cNvPr id="10" name="Shape 7"/>
          <p:cNvSpPr/>
          <p:nvPr/>
        </p:nvSpPr>
        <p:spPr>
          <a:xfrm>
            <a:off x="4357116" y="1783080"/>
            <a:ext cx="3474720" cy="3200400"/>
          </a:xfrm>
          <a:prstGeom prst="roundRect">
            <a:avLst>
              <a:gd name="adj" fmla="val 2286"/>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11" name="Shape 8"/>
          <p:cNvSpPr/>
          <p:nvPr/>
        </p:nvSpPr>
        <p:spPr>
          <a:xfrm>
            <a:off x="4631436" y="2057400"/>
            <a:ext cx="731520" cy="731520"/>
          </a:xfrm>
          <a:prstGeom prst="ellipse">
            <a:avLst/>
          </a:prstGeom>
          <a:solidFill>
            <a:srgbClr val="1547C8"/>
          </a:solidFill>
          <a:ln w="6350">
            <a:solidFill>
              <a:srgbClr val="1547C8"/>
            </a:solidFill>
            <a:prstDash val="solid"/>
          </a:ln>
        </p:spPr>
      </p:sp>
      <p:pic>
        <p:nvPicPr>
          <p:cNvPr id="12" name="Image 1" descr="FaRandom">    </p:cNvPr>
          <p:cNvPicPr>
            <a:picLocks noChangeAspect="1"/>
          </p:cNvPicPr>
          <p:nvPr/>
        </p:nvPicPr>
        <p:blipFill>
          <a:blip r:embed="rId2"/>
          <a:stretch>
            <a:fillRect/>
          </a:stretch>
        </p:blipFill>
        <p:spPr>
          <a:xfrm>
            <a:off x="4828946" y="2254910"/>
            <a:ext cx="336499" cy="336499"/>
          </a:xfrm>
          <a:prstGeom prst="rect">
            <a:avLst/>
          </a:prstGeom>
        </p:spPr>
      </p:pic>
      <p:sp>
        <p:nvSpPr>
          <p:cNvPr id="13" name="Text 9"/>
          <p:cNvSpPr txBox="1"/>
          <p:nvPr/>
        </p:nvSpPr>
        <p:spPr>
          <a:xfrm>
            <a:off x="4631436" y="3017520"/>
            <a:ext cx="2926080" cy="411480"/>
          </a:xfrm>
          <a:prstGeom prst="rect">
            <a:avLst/>
          </a:prstGeom>
          <a:noFill/>
          <a:ln/>
        </p:spPr>
        <p:txBody>
          <a:bodyPr wrap="square" lIns="0" tIns="0" rIns="0" bIns="0" rtlCol="0" anchor="t"/>
          <a:lstStyle/>
          <a:p>
            <a:pPr indent="0" marL="0">
              <a:buNone/>
            </a:pPr>
            <a:r>
              <a:rPr lang="en-US" sz="2000" b="1" dirty="0">
                <a:solidFill>
                  <a:srgbClr val="1F2937"/>
                </a:solidFill>
              </a:rPr>
              <a:t>Consistency</a:t>
            </a:r>
            <a:endParaRPr lang="en-US" sz="2000" dirty="0"/>
          </a:p>
        </p:txBody>
      </p:sp>
      <p:sp>
        <p:nvSpPr>
          <p:cNvPr id="14" name="Text 10"/>
          <p:cNvSpPr txBox="1"/>
          <p:nvPr/>
        </p:nvSpPr>
        <p:spPr>
          <a:xfrm>
            <a:off x="4631436" y="3520440"/>
            <a:ext cx="2926080" cy="1371600"/>
          </a:xfrm>
          <a:prstGeom prst="rect">
            <a:avLst/>
          </a:prstGeom>
          <a:noFill/>
          <a:ln/>
        </p:spPr>
        <p:txBody>
          <a:bodyPr wrap="square" lIns="0" tIns="0" rIns="0" bIns="0" rtlCol="0" anchor="t"/>
          <a:lstStyle/>
          <a:p>
            <a:pPr indent="0" marL="0">
              <a:buNone/>
            </a:pPr>
            <a:r>
              <a:rPr lang="en-US" sz="1300" dirty="0">
                <a:solidFill>
                  <a:srgbClr val="5B6478"/>
                </a:solidFill>
              </a:rPr>
              <a:t>Missed readings, overdue tasks and manual hand-offs vary by coordinator and by day, and are hard to audit.</a:t>
            </a:r>
            <a:endParaRPr lang="en-US" sz="1300" dirty="0"/>
          </a:p>
        </p:txBody>
      </p:sp>
      <p:sp>
        <p:nvSpPr>
          <p:cNvPr id="15" name="Shape 11"/>
          <p:cNvSpPr/>
          <p:nvPr/>
        </p:nvSpPr>
        <p:spPr>
          <a:xfrm>
            <a:off x="8074152" y="1783080"/>
            <a:ext cx="3474720" cy="3200400"/>
          </a:xfrm>
          <a:prstGeom prst="roundRect">
            <a:avLst>
              <a:gd name="adj" fmla="val 2286"/>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16" name="Shape 12"/>
          <p:cNvSpPr/>
          <p:nvPr/>
        </p:nvSpPr>
        <p:spPr>
          <a:xfrm>
            <a:off x="8348472" y="2057400"/>
            <a:ext cx="731520" cy="731520"/>
          </a:xfrm>
          <a:prstGeom prst="ellipse">
            <a:avLst/>
          </a:prstGeom>
          <a:solidFill>
            <a:srgbClr val="E5484D"/>
          </a:solidFill>
          <a:ln w="6350">
            <a:solidFill>
              <a:srgbClr val="E5484D"/>
            </a:solidFill>
            <a:prstDash val="solid"/>
          </a:ln>
        </p:spPr>
      </p:sp>
      <p:pic>
        <p:nvPicPr>
          <p:cNvPr id="17" name="Image 2" descr="FaExclamationTriangle">    </p:cNvPr>
          <p:cNvPicPr>
            <a:picLocks noChangeAspect="1"/>
          </p:cNvPicPr>
          <p:nvPr/>
        </p:nvPicPr>
        <p:blipFill>
          <a:blip r:embed="rId3"/>
          <a:stretch>
            <a:fillRect/>
          </a:stretch>
        </p:blipFill>
        <p:spPr>
          <a:xfrm>
            <a:off x="8545982" y="2254910"/>
            <a:ext cx="336499" cy="336499"/>
          </a:xfrm>
          <a:prstGeom prst="rect">
            <a:avLst/>
          </a:prstGeom>
        </p:spPr>
      </p:pic>
      <p:sp>
        <p:nvSpPr>
          <p:cNvPr id="18" name="Text 13"/>
          <p:cNvSpPr txBox="1"/>
          <p:nvPr/>
        </p:nvSpPr>
        <p:spPr>
          <a:xfrm>
            <a:off x="8348472" y="3017520"/>
            <a:ext cx="2926080" cy="411480"/>
          </a:xfrm>
          <a:prstGeom prst="rect">
            <a:avLst/>
          </a:prstGeom>
          <a:noFill/>
          <a:ln/>
        </p:spPr>
        <p:txBody>
          <a:bodyPr wrap="square" lIns="0" tIns="0" rIns="0" bIns="0" rtlCol="0" anchor="t"/>
          <a:lstStyle/>
          <a:p>
            <a:pPr indent="0" marL="0">
              <a:buNone/>
            </a:pPr>
            <a:r>
              <a:rPr lang="en-US" sz="2000" b="1" dirty="0">
                <a:solidFill>
                  <a:srgbClr val="1F2937"/>
                </a:solidFill>
              </a:rPr>
              <a:t>Risk</a:t>
            </a:r>
            <a:endParaRPr lang="en-US" sz="2000" dirty="0"/>
          </a:p>
        </p:txBody>
      </p:sp>
      <p:sp>
        <p:nvSpPr>
          <p:cNvPr id="19" name="Text 14"/>
          <p:cNvSpPr txBox="1"/>
          <p:nvPr/>
        </p:nvSpPr>
        <p:spPr>
          <a:xfrm>
            <a:off x="8348472" y="3520440"/>
            <a:ext cx="2926080" cy="1371600"/>
          </a:xfrm>
          <a:prstGeom prst="rect">
            <a:avLst/>
          </a:prstGeom>
          <a:noFill/>
          <a:ln/>
        </p:spPr>
        <p:txBody>
          <a:bodyPr wrap="square" lIns="0" tIns="0" rIns="0" bIns="0" rtlCol="0" anchor="t"/>
          <a:lstStyle/>
          <a:p>
            <a:pPr indent="0" marL="0">
              <a:buNone/>
            </a:pPr>
            <a:r>
              <a:rPr lang="en-US" sz="1300" dirty="0">
                <a:solidFill>
                  <a:srgbClr val="5B6478"/>
                </a:solidFill>
              </a:rPr>
              <a:t>A free-form chatbot can invent facts or drift into medical advice. That is not acceptable in a clinical setting.</a:t>
            </a:r>
            <a:endParaRPr lang="en-US" sz="1300" dirty="0"/>
          </a:p>
        </p:txBody>
      </p:sp>
      <p:sp>
        <p:nvSpPr>
          <p:cNvPr id="20" name="Shape 15"/>
          <p:cNvSpPr/>
          <p:nvPr/>
        </p:nvSpPr>
        <p:spPr>
          <a:xfrm>
            <a:off x="640080" y="5257800"/>
            <a:ext cx="10908792" cy="777240"/>
          </a:xfrm>
          <a:prstGeom prst="roundRect">
            <a:avLst>
              <a:gd name="adj" fmla="val 11765"/>
            </a:avLst>
          </a:prstGeom>
          <a:solidFill>
            <a:srgbClr val="3CC3F0">
              <a:alpha val="15000"/>
            </a:srgbClr>
          </a:solidFill>
          <a:ln w="15875">
            <a:solidFill>
              <a:srgbClr val="3CC3F0"/>
            </a:solidFill>
            <a:prstDash val="solid"/>
          </a:ln>
        </p:spPr>
      </p:sp>
      <p:sp>
        <p:nvSpPr>
          <p:cNvPr id="21" name="Text 16"/>
          <p:cNvSpPr txBox="1"/>
          <p:nvPr/>
        </p:nvSpPr>
        <p:spPr>
          <a:xfrm>
            <a:off x="914400" y="5257800"/>
            <a:ext cx="10424160" cy="777240"/>
          </a:xfrm>
          <a:prstGeom prst="rect">
            <a:avLst/>
          </a:prstGeom>
          <a:noFill/>
          <a:ln/>
        </p:spPr>
        <p:txBody>
          <a:bodyPr wrap="square" lIns="0" tIns="0" rIns="0" bIns="0" rtlCol="0" anchor="ctr"/>
          <a:lstStyle/>
          <a:p>
            <a:pPr indent="0" marL="0">
              <a:buNone/>
            </a:pPr>
            <a:r>
              <a:rPr lang="en-US" sz="1600" b="1" dirty="0">
                <a:solidFill>
                  <a:srgbClr val="3CC3F0"/>
                </a:solidFill>
              </a:rPr>
              <a:t>Objective   </a:t>
            </a:r>
            <a:pPr indent="0" marL="0">
              <a:buNone/>
            </a:pPr>
            <a:r>
              <a:rPr lang="en-US" sz="1600" dirty="0">
                <a:solidFill>
                  <a:srgbClr val="FFFFFF"/>
                </a:solidFill>
              </a:rPr>
              <a:t>Scale education and follow-up while every clinical decision stays with qualified people.</a:t>
            </a:r>
            <a:endParaRPr lang="en-US" sz="16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body" hasCustomPrompt="1"/>
          </p:nvPr>
        </p:nvSpPr>
        <p:spPr>
          <a:xfrm>
            <a:off x="640080" y="411480"/>
            <a:ext cx="7315200" cy="274320"/>
          </a:xfrm>
          <a:prstGeom prst="rect">
            <a:avLst/>
          </a:prstGeom>
          <a:noFill/>
          <a:ln/>
        </p:spPr>
        <p:txBody>
          <a:bodyPr wrap="square" lIns="0" tIns="0" rIns="0" bIns="0" rtlCol="0" anchor="t"/>
          <a:lstStyle/>
          <a:p>
            <a:pPr indent="0" marL="0">
              <a:buNone/>
            </a:pPr>
            <a:r>
              <a:rPr lang="en-US" sz="1200" b="1" spc="400" kern="0" dirty="0">
                <a:solidFill>
                  <a:srgbClr val="3CC3F0"/>
                </a:solidFill>
              </a:rPr>
              <a:t>SOLUTION OVERVIEW</a:t>
            </a:r>
            <a:endParaRPr lang="en-US" sz="1200" dirty="0"/>
          </a:p>
        </p:txBody>
      </p:sp>
      <p:sp>
        <p:nvSpPr>
          <p:cNvPr id="3" name="Text 2"/>
          <p:cNvSpPr/>
          <p:nvPr>
            <p:ph idx="104" type="title" hasCustomPrompt="1"/>
          </p:nvPr>
        </p:nvSpPr>
        <p:spPr>
          <a:xfrm>
            <a:off x="640080" y="777240"/>
            <a:ext cx="10908792" cy="731520"/>
          </a:xfrm>
          <a:prstGeom prst="rect">
            <a:avLst/>
          </a:prstGeom>
          <a:noFill/>
          <a:ln/>
        </p:spPr>
        <p:txBody>
          <a:bodyPr wrap="square" lIns="0" tIns="0" rIns="0" bIns="0" rtlCol="0" anchor="t"/>
          <a:lstStyle/>
          <a:p>
            <a:pPr algn="l" indent="0" marL="0">
              <a:buNone/>
            </a:pPr>
            <a:r>
              <a:rPr lang="en-US" sz="3000" b="1" dirty="0">
                <a:solidFill>
                  <a:srgbClr val="FFFFFF"/>
                </a:solidFill>
              </a:rPr>
              <a:t>A governed assistant: AI explains, people decide</a:t>
            </a:r>
            <a:endParaRPr lang="en-US" sz="3000" dirty="0"/>
          </a:p>
        </p:txBody>
      </p:sp>
      <p:sp>
        <p:nvSpPr>
          <p:cNvPr id="4" name="Text 2"/>
          <p:cNvSpPr txBox="1"/>
          <p:nvPr/>
        </p:nvSpPr>
        <p:spPr>
          <a:xfrm>
            <a:off x="7863840" y="411480"/>
            <a:ext cx="3685032" cy="274320"/>
          </a:xfrm>
          <a:prstGeom prst="rect">
            <a:avLst/>
          </a:prstGeom>
          <a:noFill/>
          <a:ln/>
        </p:spPr>
        <p:txBody>
          <a:bodyPr wrap="square" lIns="0" tIns="0" rIns="0" bIns="0" rtlCol="0" anchor="t"/>
          <a:lstStyle/>
          <a:p>
            <a:pPr algn="r" indent="0" marL="0">
              <a:buNone/>
            </a:pPr>
            <a:r>
              <a:rPr lang="en-US" sz="1000" b="1" spc="300" kern="0" dirty="0">
                <a:solidFill>
                  <a:srgbClr val="A9BBEA"/>
                </a:solidFill>
              </a:rPr>
              <a:t>SOLUTION</a:t>
            </a:r>
            <a:endParaRPr lang="en-US" sz="1000" dirty="0"/>
          </a:p>
        </p:txBody>
      </p:sp>
      <p:sp>
        <p:nvSpPr>
          <p:cNvPr id="5" name="Shape 3"/>
          <p:cNvSpPr/>
          <p:nvPr/>
        </p:nvSpPr>
        <p:spPr>
          <a:xfrm>
            <a:off x="640080" y="1783080"/>
            <a:ext cx="3017520" cy="2514600"/>
          </a:xfrm>
          <a:prstGeom prst="roundRect">
            <a:avLst>
              <a:gd name="adj" fmla="val 2909"/>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6" name="Shape 4"/>
          <p:cNvSpPr/>
          <p:nvPr/>
        </p:nvSpPr>
        <p:spPr>
          <a:xfrm>
            <a:off x="868680" y="2011680"/>
            <a:ext cx="640080" cy="640080"/>
          </a:xfrm>
          <a:prstGeom prst="ellipse">
            <a:avLst/>
          </a:prstGeom>
          <a:solidFill>
            <a:srgbClr val="1547C8"/>
          </a:solidFill>
          <a:ln w="6350">
            <a:solidFill>
              <a:srgbClr val="1547C8"/>
            </a:solidFill>
            <a:prstDash val="solid"/>
          </a:ln>
        </p:spPr>
      </p:sp>
      <p:pic>
        <p:nvPicPr>
          <p:cNvPr id="7" name="Image 0" descr="FaCommentDots">    </p:cNvPr>
          <p:cNvPicPr>
            <a:picLocks noChangeAspect="1"/>
          </p:cNvPicPr>
          <p:nvPr/>
        </p:nvPicPr>
        <p:blipFill>
          <a:blip r:embed="rId1"/>
          <a:stretch>
            <a:fillRect/>
          </a:stretch>
        </p:blipFill>
        <p:spPr>
          <a:xfrm>
            <a:off x="1041502" y="2184502"/>
            <a:ext cx="294437" cy="294437"/>
          </a:xfrm>
          <a:prstGeom prst="rect">
            <a:avLst/>
          </a:prstGeom>
        </p:spPr>
      </p:pic>
      <p:sp>
        <p:nvSpPr>
          <p:cNvPr id="8" name="Text 5"/>
          <p:cNvSpPr txBox="1"/>
          <p:nvPr/>
        </p:nvSpPr>
        <p:spPr>
          <a:xfrm>
            <a:off x="868680" y="2788920"/>
            <a:ext cx="2651760" cy="365760"/>
          </a:xfrm>
          <a:prstGeom prst="rect">
            <a:avLst/>
          </a:prstGeom>
          <a:noFill/>
          <a:ln/>
        </p:spPr>
        <p:txBody>
          <a:bodyPr wrap="square" lIns="0" tIns="0" rIns="0" bIns="0" rtlCol="0" anchor="t"/>
          <a:lstStyle/>
          <a:p>
            <a:pPr indent="0" marL="0">
              <a:buNone/>
            </a:pPr>
            <a:r>
              <a:rPr lang="en-US" sz="1800" b="1" dirty="0">
                <a:solidFill>
                  <a:srgbClr val="1F2937"/>
                </a:solidFill>
              </a:rPr>
              <a:t>Member request</a:t>
            </a:r>
            <a:endParaRPr lang="en-US" sz="1800" dirty="0"/>
          </a:p>
        </p:txBody>
      </p:sp>
      <p:sp>
        <p:nvSpPr>
          <p:cNvPr id="9" name="Text 6"/>
          <p:cNvSpPr txBox="1"/>
          <p:nvPr/>
        </p:nvSpPr>
        <p:spPr>
          <a:xfrm>
            <a:off x="868680" y="3246120"/>
            <a:ext cx="2606040" cy="914400"/>
          </a:xfrm>
          <a:prstGeom prst="rect">
            <a:avLst/>
          </a:prstGeom>
          <a:noFill/>
          <a:ln/>
        </p:spPr>
        <p:txBody>
          <a:bodyPr wrap="square" lIns="0" tIns="0" rIns="0" bIns="0" rtlCol="0" anchor="t"/>
          <a:lstStyle/>
          <a:p>
            <a:pPr indent="0" marL="0">
              <a:buNone/>
            </a:pPr>
            <a:r>
              <a:rPr lang="en-US" sz="1250" dirty="0">
                <a:solidFill>
                  <a:srgbClr val="5B6478"/>
                </a:solidFill>
              </a:rPr>
              <a:t>A member asks a question. Consent is verified before any data is read.</a:t>
            </a:r>
            <a:endParaRPr lang="en-US" sz="1250" dirty="0"/>
          </a:p>
        </p:txBody>
      </p:sp>
      <p:sp>
        <p:nvSpPr>
          <p:cNvPr id="10" name="Shape 7"/>
          <p:cNvSpPr/>
          <p:nvPr/>
        </p:nvSpPr>
        <p:spPr>
          <a:xfrm>
            <a:off x="3703320" y="3040380"/>
            <a:ext cx="457200" cy="0"/>
          </a:xfrm>
          <a:prstGeom prst="line">
            <a:avLst/>
          </a:prstGeom>
          <a:noFill/>
          <a:ln w="28575">
            <a:solidFill>
              <a:srgbClr val="3CC3F0"/>
            </a:solidFill>
            <a:prstDash val="solid"/>
            <a:tailEnd type="triangle"/>
          </a:ln>
        </p:spPr>
      </p:sp>
      <p:sp>
        <p:nvSpPr>
          <p:cNvPr id="11" name="Shape 8"/>
          <p:cNvSpPr/>
          <p:nvPr/>
        </p:nvSpPr>
        <p:spPr>
          <a:xfrm>
            <a:off x="4206240" y="1783080"/>
            <a:ext cx="3657600" cy="2514600"/>
          </a:xfrm>
          <a:prstGeom prst="roundRect">
            <a:avLst>
              <a:gd name="adj" fmla="val 2909"/>
            </a:avLst>
          </a:prstGeom>
          <a:solidFill>
            <a:srgbClr val="1547C8"/>
          </a:solidFill>
          <a:ln w="19050">
            <a:solidFill>
              <a:srgbClr val="3CC3F0"/>
            </a:solidFill>
            <a:prstDash val="solid"/>
          </a:ln>
          <a:effectLst>
            <a:outerShdw sx="100000" sy="100000" kx="0" ky="0" algn="bl" rotWithShape="0" blurRad="127000" dist="38100" dir="5400000">
              <a:srgbClr val="000000">
                <a:alpha val="28000"/>
              </a:srgbClr>
            </a:outerShdw>
          </a:effectLst>
        </p:spPr>
      </p:sp>
      <p:sp>
        <p:nvSpPr>
          <p:cNvPr id="12" name="Shape 9"/>
          <p:cNvSpPr/>
          <p:nvPr/>
        </p:nvSpPr>
        <p:spPr>
          <a:xfrm>
            <a:off x="4434840" y="2011680"/>
            <a:ext cx="640080" cy="640080"/>
          </a:xfrm>
          <a:prstGeom prst="ellipse">
            <a:avLst/>
          </a:prstGeom>
          <a:solidFill>
            <a:srgbClr val="FFFFFF"/>
          </a:solidFill>
          <a:ln w="6350">
            <a:solidFill>
              <a:srgbClr val="FFFFFF"/>
            </a:solidFill>
            <a:prstDash val="solid"/>
          </a:ln>
        </p:spPr>
      </p:sp>
      <p:pic>
        <p:nvPicPr>
          <p:cNvPr id="13" name="Image 1" descr="FaShieldAlt">    </p:cNvPr>
          <p:cNvPicPr>
            <a:picLocks noChangeAspect="1"/>
          </p:cNvPicPr>
          <p:nvPr/>
        </p:nvPicPr>
        <p:blipFill>
          <a:blip r:embed="rId2"/>
          <a:stretch>
            <a:fillRect/>
          </a:stretch>
        </p:blipFill>
        <p:spPr>
          <a:xfrm>
            <a:off x="4607662" y="2184502"/>
            <a:ext cx="294437" cy="294437"/>
          </a:xfrm>
          <a:prstGeom prst="rect">
            <a:avLst/>
          </a:prstGeom>
        </p:spPr>
      </p:pic>
      <p:sp>
        <p:nvSpPr>
          <p:cNvPr id="14" name="Text 10"/>
          <p:cNvSpPr txBox="1"/>
          <p:nvPr/>
        </p:nvSpPr>
        <p:spPr>
          <a:xfrm>
            <a:off x="4434840" y="2788920"/>
            <a:ext cx="3200400" cy="365760"/>
          </a:xfrm>
          <a:prstGeom prst="rect">
            <a:avLst/>
          </a:prstGeom>
          <a:noFill/>
          <a:ln/>
        </p:spPr>
        <p:txBody>
          <a:bodyPr wrap="square" lIns="0" tIns="0" rIns="0" bIns="0" rtlCol="0" anchor="t"/>
          <a:lstStyle/>
          <a:p>
            <a:pPr indent="0" marL="0">
              <a:buNone/>
            </a:pPr>
            <a:r>
              <a:rPr lang="en-US" sz="1800" b="1" dirty="0">
                <a:solidFill>
                  <a:srgbClr val="FFFFFF"/>
                </a:solidFill>
              </a:rPr>
              <a:t>Governed workflow</a:t>
            </a:r>
            <a:endParaRPr lang="en-US" sz="1800" dirty="0"/>
          </a:p>
        </p:txBody>
      </p:sp>
      <p:sp>
        <p:nvSpPr>
          <p:cNvPr id="15" name="Text 11"/>
          <p:cNvSpPr txBox="1"/>
          <p:nvPr/>
        </p:nvSpPr>
        <p:spPr>
          <a:xfrm>
            <a:off x="4434840" y="3246120"/>
            <a:ext cx="3246120" cy="1005840"/>
          </a:xfrm>
          <a:prstGeom prst="rect">
            <a:avLst/>
          </a:prstGeom>
          <a:noFill/>
          <a:ln/>
        </p:spPr>
        <p:txBody>
          <a:bodyPr wrap="square" lIns="0" tIns="0" rIns="0" bIns="0" rtlCol="0" anchor="t"/>
          <a:lstStyle/>
          <a:p>
            <a:pPr indent="0" marL="0">
              <a:buNone/>
            </a:pPr>
            <a:r>
              <a:rPr lang="en-US" sz="1250" dirty="0">
                <a:solidFill>
                  <a:srgbClr val="FFFFFF"/>
                </a:solidFill>
              </a:rPr>
              <a:t>Rules and escalation run in code. Six specialised agents word the facts. Every output is checked before release.</a:t>
            </a:r>
            <a:endParaRPr lang="en-US" sz="1250" dirty="0"/>
          </a:p>
        </p:txBody>
      </p:sp>
      <p:sp>
        <p:nvSpPr>
          <p:cNvPr id="16" name="Shape 12"/>
          <p:cNvSpPr/>
          <p:nvPr/>
        </p:nvSpPr>
        <p:spPr>
          <a:xfrm>
            <a:off x="7909560" y="3040380"/>
            <a:ext cx="457200" cy="0"/>
          </a:xfrm>
          <a:prstGeom prst="line">
            <a:avLst/>
          </a:prstGeom>
          <a:noFill/>
          <a:ln w="28575">
            <a:solidFill>
              <a:srgbClr val="3CC3F0"/>
            </a:solidFill>
            <a:prstDash val="solid"/>
            <a:tailEnd type="triangle"/>
          </a:ln>
        </p:spPr>
      </p:sp>
      <p:sp>
        <p:nvSpPr>
          <p:cNvPr id="17" name="Shape 13"/>
          <p:cNvSpPr/>
          <p:nvPr/>
        </p:nvSpPr>
        <p:spPr>
          <a:xfrm>
            <a:off x="8412480" y="1783080"/>
            <a:ext cx="3136392" cy="1170432"/>
          </a:xfrm>
          <a:prstGeom prst="roundRect">
            <a:avLst>
              <a:gd name="adj" fmla="val 6250"/>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18" name="Shape 14"/>
          <p:cNvSpPr/>
          <p:nvPr/>
        </p:nvSpPr>
        <p:spPr>
          <a:xfrm>
            <a:off x="8595360" y="2057400"/>
            <a:ext cx="548640" cy="548640"/>
          </a:xfrm>
          <a:prstGeom prst="ellipse">
            <a:avLst/>
          </a:prstGeom>
          <a:solidFill>
            <a:srgbClr val="1547C8"/>
          </a:solidFill>
          <a:ln w="6350">
            <a:solidFill>
              <a:srgbClr val="1547C8"/>
            </a:solidFill>
            <a:prstDash val="solid"/>
          </a:ln>
        </p:spPr>
      </p:sp>
      <p:pic>
        <p:nvPicPr>
          <p:cNvPr id="19" name="Image 2" descr="FaUser">    </p:cNvPr>
          <p:cNvPicPr>
            <a:picLocks noChangeAspect="1"/>
          </p:cNvPicPr>
          <p:nvPr/>
        </p:nvPicPr>
        <p:blipFill>
          <a:blip r:embed="rId3"/>
          <a:stretch>
            <a:fillRect/>
          </a:stretch>
        </p:blipFill>
        <p:spPr>
          <a:xfrm>
            <a:off x="8743493" y="2205533"/>
            <a:ext cx="252374" cy="252374"/>
          </a:xfrm>
          <a:prstGeom prst="rect">
            <a:avLst/>
          </a:prstGeom>
        </p:spPr>
      </p:pic>
      <p:sp>
        <p:nvSpPr>
          <p:cNvPr id="20" name="Text 15"/>
          <p:cNvSpPr txBox="1"/>
          <p:nvPr/>
        </p:nvSpPr>
        <p:spPr>
          <a:xfrm>
            <a:off x="9281160" y="1965960"/>
            <a:ext cx="2194560" cy="320040"/>
          </a:xfrm>
          <a:prstGeom prst="rect">
            <a:avLst/>
          </a:prstGeom>
          <a:noFill/>
          <a:ln/>
        </p:spPr>
        <p:txBody>
          <a:bodyPr wrap="square" lIns="0" tIns="0" rIns="0" bIns="0" rtlCol="0" anchor="t"/>
          <a:lstStyle/>
          <a:p>
            <a:pPr indent="0" marL="0">
              <a:buNone/>
            </a:pPr>
            <a:r>
              <a:rPr lang="en-US" sz="1400" b="1" dirty="0">
                <a:solidFill>
                  <a:srgbClr val="1F2937"/>
                </a:solidFill>
              </a:rPr>
              <a:t>Member response</a:t>
            </a:r>
            <a:endParaRPr lang="en-US" sz="1400" dirty="0"/>
          </a:p>
        </p:txBody>
      </p:sp>
      <p:sp>
        <p:nvSpPr>
          <p:cNvPr id="21" name="Text 16"/>
          <p:cNvSpPr txBox="1"/>
          <p:nvPr/>
        </p:nvSpPr>
        <p:spPr>
          <a:xfrm>
            <a:off x="9281160" y="2331720"/>
            <a:ext cx="2194560" cy="502920"/>
          </a:xfrm>
          <a:prstGeom prst="rect">
            <a:avLst/>
          </a:prstGeom>
          <a:noFill/>
          <a:ln/>
        </p:spPr>
        <p:txBody>
          <a:bodyPr wrap="square" lIns="0" tIns="0" rIns="0" bIns="0" rtlCol="0" anchor="t"/>
          <a:lstStyle/>
          <a:p>
            <a:pPr indent="0" marL="0">
              <a:buNone/>
            </a:pPr>
            <a:r>
              <a:rPr lang="en-US" sz="1100" dirty="0">
                <a:solidFill>
                  <a:srgbClr val="5B6478"/>
                </a:solidFill>
              </a:rPr>
              <a:t>Plain language, cited sources</a:t>
            </a:r>
            <a:endParaRPr lang="en-US" sz="1100" dirty="0"/>
          </a:p>
        </p:txBody>
      </p:sp>
      <p:sp>
        <p:nvSpPr>
          <p:cNvPr id="22" name="Shape 17"/>
          <p:cNvSpPr/>
          <p:nvPr/>
        </p:nvSpPr>
        <p:spPr>
          <a:xfrm>
            <a:off x="8412480" y="3127248"/>
            <a:ext cx="3136392" cy="1170432"/>
          </a:xfrm>
          <a:prstGeom prst="roundRect">
            <a:avLst>
              <a:gd name="adj" fmla="val 6250"/>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23" name="Shape 18"/>
          <p:cNvSpPr/>
          <p:nvPr/>
        </p:nvSpPr>
        <p:spPr>
          <a:xfrm>
            <a:off x="8595360" y="3401568"/>
            <a:ext cx="548640" cy="548640"/>
          </a:xfrm>
          <a:prstGeom prst="ellipse">
            <a:avLst/>
          </a:prstGeom>
          <a:solidFill>
            <a:srgbClr val="1547C8"/>
          </a:solidFill>
          <a:ln w="6350">
            <a:solidFill>
              <a:srgbClr val="1547C8"/>
            </a:solidFill>
            <a:prstDash val="solid"/>
          </a:ln>
        </p:spPr>
      </p:sp>
      <p:pic>
        <p:nvPicPr>
          <p:cNvPr id="24" name="Image 3" descr="FaUserMd">    </p:cNvPr>
          <p:cNvPicPr>
            <a:picLocks noChangeAspect="1"/>
          </p:cNvPicPr>
          <p:nvPr/>
        </p:nvPicPr>
        <p:blipFill>
          <a:blip r:embed="rId4"/>
          <a:stretch>
            <a:fillRect/>
          </a:stretch>
        </p:blipFill>
        <p:spPr>
          <a:xfrm>
            <a:off x="8743493" y="3549701"/>
            <a:ext cx="252374" cy="252374"/>
          </a:xfrm>
          <a:prstGeom prst="rect">
            <a:avLst/>
          </a:prstGeom>
        </p:spPr>
      </p:pic>
      <p:sp>
        <p:nvSpPr>
          <p:cNvPr id="25" name="Text 19"/>
          <p:cNvSpPr txBox="1"/>
          <p:nvPr/>
        </p:nvSpPr>
        <p:spPr>
          <a:xfrm>
            <a:off x="9281160" y="3310128"/>
            <a:ext cx="2194560" cy="320040"/>
          </a:xfrm>
          <a:prstGeom prst="rect">
            <a:avLst/>
          </a:prstGeom>
          <a:noFill/>
          <a:ln/>
        </p:spPr>
        <p:txBody>
          <a:bodyPr wrap="square" lIns="0" tIns="0" rIns="0" bIns="0" rtlCol="0" anchor="t"/>
          <a:lstStyle/>
          <a:p>
            <a:pPr indent="0" marL="0">
              <a:buNone/>
            </a:pPr>
            <a:r>
              <a:rPr lang="en-US" sz="1400" b="1" dirty="0">
                <a:solidFill>
                  <a:srgbClr val="1F2937"/>
                </a:solidFill>
              </a:rPr>
              <a:t>Staff packet</a:t>
            </a:r>
            <a:endParaRPr lang="en-US" sz="1400" dirty="0"/>
          </a:p>
        </p:txBody>
      </p:sp>
      <p:sp>
        <p:nvSpPr>
          <p:cNvPr id="26" name="Text 20"/>
          <p:cNvSpPr txBox="1"/>
          <p:nvPr/>
        </p:nvSpPr>
        <p:spPr>
          <a:xfrm>
            <a:off x="9281160" y="3675888"/>
            <a:ext cx="2194560" cy="502920"/>
          </a:xfrm>
          <a:prstGeom prst="rect">
            <a:avLst/>
          </a:prstGeom>
          <a:noFill/>
          <a:ln/>
        </p:spPr>
        <p:txBody>
          <a:bodyPr wrap="square" lIns="0" tIns="0" rIns="0" bIns="0" rtlCol="0" anchor="t"/>
          <a:lstStyle/>
          <a:p>
            <a:pPr indent="0" marL="0">
              <a:buNone/>
            </a:pPr>
            <a:r>
              <a:rPr lang="en-US" sz="1100" dirty="0">
                <a:solidFill>
                  <a:srgbClr val="5B6478"/>
                </a:solidFill>
              </a:rPr>
              <a:t>Facts, rule IDs, suggested queue</a:t>
            </a:r>
            <a:endParaRPr lang="en-US" sz="1100" dirty="0"/>
          </a:p>
        </p:txBody>
      </p:sp>
      <p:sp>
        <p:nvSpPr>
          <p:cNvPr id="27" name="Shape 21"/>
          <p:cNvSpPr/>
          <p:nvPr/>
        </p:nvSpPr>
        <p:spPr>
          <a:xfrm>
            <a:off x="640080" y="4572000"/>
            <a:ext cx="3566160" cy="1371600"/>
          </a:xfrm>
          <a:prstGeom prst="roundRect">
            <a:avLst>
              <a:gd name="adj" fmla="val 6667"/>
            </a:avLst>
          </a:prstGeom>
          <a:solidFill>
            <a:srgbClr val="FFFFFF">
              <a:alpha val="10000"/>
            </a:srgbClr>
          </a:solidFill>
          <a:ln w="9525">
            <a:solidFill>
              <a:srgbClr val="FFFFFF">
                <a:alpha val="30000"/>
              </a:srgbClr>
            </a:solidFill>
            <a:prstDash val="solid"/>
          </a:ln>
        </p:spPr>
      </p:sp>
      <p:pic>
        <p:nvPicPr>
          <p:cNvPr id="28" name="Image 4" descr="Consistent">    </p:cNvPr>
          <p:cNvPicPr>
            <a:picLocks noChangeAspect="1"/>
          </p:cNvPicPr>
          <p:nvPr/>
        </p:nvPicPr>
        <p:blipFill>
          <a:blip r:embed="rId5"/>
          <a:stretch>
            <a:fillRect/>
          </a:stretch>
        </p:blipFill>
        <p:spPr>
          <a:xfrm>
            <a:off x="868680" y="4828032"/>
            <a:ext cx="365760" cy="365760"/>
          </a:xfrm>
          <a:prstGeom prst="rect">
            <a:avLst/>
          </a:prstGeom>
        </p:spPr>
      </p:pic>
      <p:sp>
        <p:nvSpPr>
          <p:cNvPr id="29" name="Text 22"/>
          <p:cNvSpPr txBox="1"/>
          <p:nvPr/>
        </p:nvSpPr>
        <p:spPr>
          <a:xfrm>
            <a:off x="1417320" y="4800600"/>
            <a:ext cx="2560320" cy="365760"/>
          </a:xfrm>
          <a:prstGeom prst="rect">
            <a:avLst/>
          </a:prstGeom>
          <a:noFill/>
          <a:ln/>
        </p:spPr>
        <p:txBody>
          <a:bodyPr wrap="square" lIns="0" tIns="0" rIns="0" bIns="0" rtlCol="0" anchor="ctr"/>
          <a:lstStyle/>
          <a:p>
            <a:pPr indent="0" marL="0">
              <a:buNone/>
            </a:pPr>
            <a:r>
              <a:rPr lang="en-US" sz="1600" b="1" dirty="0">
                <a:solidFill>
                  <a:srgbClr val="FFFFFF"/>
                </a:solidFill>
              </a:rPr>
              <a:t>Consistent</a:t>
            </a:r>
            <a:endParaRPr lang="en-US" sz="1600" dirty="0"/>
          </a:p>
        </p:txBody>
      </p:sp>
      <p:sp>
        <p:nvSpPr>
          <p:cNvPr id="30" name="Text 23"/>
          <p:cNvSpPr txBox="1"/>
          <p:nvPr/>
        </p:nvSpPr>
        <p:spPr>
          <a:xfrm>
            <a:off x="868680" y="5349240"/>
            <a:ext cx="3200400" cy="502920"/>
          </a:xfrm>
          <a:prstGeom prst="rect">
            <a:avLst/>
          </a:prstGeom>
          <a:noFill/>
          <a:ln/>
        </p:spPr>
        <p:txBody>
          <a:bodyPr wrap="square" lIns="0" tIns="0" rIns="0" bIns="0" rtlCol="0" anchor="t"/>
          <a:lstStyle/>
          <a:p>
            <a:pPr indent="0" marL="0">
              <a:buNone/>
            </a:pPr>
            <a:r>
              <a:rPr lang="en-US" sz="1250" dirty="0">
                <a:solidFill>
                  <a:srgbClr val="CFE0FF"/>
                </a:solidFill>
              </a:rPr>
              <a:t>The same input always follows the same path.</a:t>
            </a:r>
            <a:endParaRPr lang="en-US" sz="1250" dirty="0"/>
          </a:p>
        </p:txBody>
      </p:sp>
      <p:sp>
        <p:nvSpPr>
          <p:cNvPr id="31" name="Shape 24"/>
          <p:cNvSpPr/>
          <p:nvPr/>
        </p:nvSpPr>
        <p:spPr>
          <a:xfrm>
            <a:off x="4315968" y="4572000"/>
            <a:ext cx="3566160" cy="1371600"/>
          </a:xfrm>
          <a:prstGeom prst="roundRect">
            <a:avLst>
              <a:gd name="adj" fmla="val 6667"/>
            </a:avLst>
          </a:prstGeom>
          <a:solidFill>
            <a:srgbClr val="FFFFFF">
              <a:alpha val="10000"/>
            </a:srgbClr>
          </a:solidFill>
          <a:ln w="9525">
            <a:solidFill>
              <a:srgbClr val="FFFFFF">
                <a:alpha val="30000"/>
              </a:srgbClr>
            </a:solidFill>
            <a:prstDash val="solid"/>
          </a:ln>
        </p:spPr>
      </p:sp>
      <p:pic>
        <p:nvPicPr>
          <p:cNvPr id="32" name="Image 5" descr="Auditable">    </p:cNvPr>
          <p:cNvPicPr>
            <a:picLocks noChangeAspect="1"/>
          </p:cNvPicPr>
          <p:nvPr/>
        </p:nvPicPr>
        <p:blipFill>
          <a:blip r:embed="rId6"/>
          <a:stretch>
            <a:fillRect/>
          </a:stretch>
        </p:blipFill>
        <p:spPr>
          <a:xfrm>
            <a:off x="4544568" y="4828032"/>
            <a:ext cx="365760" cy="365760"/>
          </a:xfrm>
          <a:prstGeom prst="rect">
            <a:avLst/>
          </a:prstGeom>
        </p:spPr>
      </p:pic>
      <p:sp>
        <p:nvSpPr>
          <p:cNvPr id="33" name="Text 25"/>
          <p:cNvSpPr txBox="1"/>
          <p:nvPr/>
        </p:nvSpPr>
        <p:spPr>
          <a:xfrm>
            <a:off x="5093208" y="4800600"/>
            <a:ext cx="2560320" cy="365760"/>
          </a:xfrm>
          <a:prstGeom prst="rect">
            <a:avLst/>
          </a:prstGeom>
          <a:noFill/>
          <a:ln/>
        </p:spPr>
        <p:txBody>
          <a:bodyPr wrap="square" lIns="0" tIns="0" rIns="0" bIns="0" rtlCol="0" anchor="ctr"/>
          <a:lstStyle/>
          <a:p>
            <a:pPr indent="0" marL="0">
              <a:buNone/>
            </a:pPr>
            <a:r>
              <a:rPr lang="en-US" sz="1600" b="1" dirty="0">
                <a:solidFill>
                  <a:srgbClr val="FFFFFF"/>
                </a:solidFill>
              </a:rPr>
              <a:t>Auditable</a:t>
            </a:r>
            <a:endParaRPr lang="en-US" sz="1600" dirty="0"/>
          </a:p>
        </p:txBody>
      </p:sp>
      <p:sp>
        <p:nvSpPr>
          <p:cNvPr id="34" name="Text 26"/>
          <p:cNvSpPr txBox="1"/>
          <p:nvPr/>
        </p:nvSpPr>
        <p:spPr>
          <a:xfrm>
            <a:off x="4544568" y="5349240"/>
            <a:ext cx="3200400" cy="502920"/>
          </a:xfrm>
          <a:prstGeom prst="rect">
            <a:avLst/>
          </a:prstGeom>
          <a:noFill/>
          <a:ln/>
        </p:spPr>
        <p:txBody>
          <a:bodyPr wrap="square" lIns="0" tIns="0" rIns="0" bIns="0" rtlCol="0" anchor="t"/>
          <a:lstStyle/>
          <a:p>
            <a:pPr indent="0" marL="0">
              <a:buNone/>
            </a:pPr>
            <a:r>
              <a:rPr lang="en-US" sz="1250" dirty="0">
                <a:solidFill>
                  <a:srgbClr val="CFE0FF"/>
                </a:solidFill>
              </a:rPr>
              <a:t>Every step, rule and source version is recorded.</a:t>
            </a:r>
            <a:endParaRPr lang="en-US" sz="1250" dirty="0"/>
          </a:p>
        </p:txBody>
      </p:sp>
      <p:sp>
        <p:nvSpPr>
          <p:cNvPr id="35" name="Shape 27"/>
          <p:cNvSpPr/>
          <p:nvPr/>
        </p:nvSpPr>
        <p:spPr>
          <a:xfrm>
            <a:off x="7991856" y="4572000"/>
            <a:ext cx="3566160" cy="1371600"/>
          </a:xfrm>
          <a:prstGeom prst="roundRect">
            <a:avLst>
              <a:gd name="adj" fmla="val 6667"/>
            </a:avLst>
          </a:prstGeom>
          <a:solidFill>
            <a:srgbClr val="FFFFFF">
              <a:alpha val="10000"/>
            </a:srgbClr>
          </a:solidFill>
          <a:ln w="9525">
            <a:solidFill>
              <a:srgbClr val="FFFFFF">
                <a:alpha val="30000"/>
              </a:srgbClr>
            </a:solidFill>
            <a:prstDash val="solid"/>
          </a:ln>
        </p:spPr>
      </p:sp>
      <p:pic>
        <p:nvPicPr>
          <p:cNvPr id="36" name="Image 6" descr="Human-led">    </p:cNvPr>
          <p:cNvPicPr>
            <a:picLocks noChangeAspect="1"/>
          </p:cNvPicPr>
          <p:nvPr/>
        </p:nvPicPr>
        <p:blipFill>
          <a:blip r:embed="rId7"/>
          <a:stretch>
            <a:fillRect/>
          </a:stretch>
        </p:blipFill>
        <p:spPr>
          <a:xfrm>
            <a:off x="8220456" y="4828032"/>
            <a:ext cx="365760" cy="365760"/>
          </a:xfrm>
          <a:prstGeom prst="rect">
            <a:avLst/>
          </a:prstGeom>
        </p:spPr>
      </p:pic>
      <p:sp>
        <p:nvSpPr>
          <p:cNvPr id="37" name="Text 28"/>
          <p:cNvSpPr txBox="1"/>
          <p:nvPr/>
        </p:nvSpPr>
        <p:spPr>
          <a:xfrm>
            <a:off x="8769096" y="4800600"/>
            <a:ext cx="2560320" cy="365760"/>
          </a:xfrm>
          <a:prstGeom prst="rect">
            <a:avLst/>
          </a:prstGeom>
          <a:noFill/>
          <a:ln/>
        </p:spPr>
        <p:txBody>
          <a:bodyPr wrap="square" lIns="0" tIns="0" rIns="0" bIns="0" rtlCol="0" anchor="ctr"/>
          <a:lstStyle/>
          <a:p>
            <a:pPr indent="0" marL="0">
              <a:buNone/>
            </a:pPr>
            <a:r>
              <a:rPr lang="en-US" sz="1600" b="1" dirty="0">
                <a:solidFill>
                  <a:srgbClr val="FFFFFF"/>
                </a:solidFill>
              </a:rPr>
              <a:t>Human-led</a:t>
            </a:r>
            <a:endParaRPr lang="en-US" sz="1600" dirty="0"/>
          </a:p>
        </p:txBody>
      </p:sp>
      <p:sp>
        <p:nvSpPr>
          <p:cNvPr id="38" name="Text 29"/>
          <p:cNvSpPr txBox="1"/>
          <p:nvPr/>
        </p:nvSpPr>
        <p:spPr>
          <a:xfrm>
            <a:off x="8220456" y="5349240"/>
            <a:ext cx="3200400" cy="502920"/>
          </a:xfrm>
          <a:prstGeom prst="rect">
            <a:avLst/>
          </a:prstGeom>
          <a:noFill/>
          <a:ln/>
        </p:spPr>
        <p:txBody>
          <a:bodyPr wrap="square" lIns="0" tIns="0" rIns="0" bIns="0" rtlCol="0" anchor="t"/>
          <a:lstStyle/>
          <a:p>
            <a:pPr indent="0" marL="0">
              <a:buNone/>
            </a:pPr>
            <a:r>
              <a:rPr lang="en-US" sz="1250" dirty="0">
                <a:solidFill>
                  <a:srgbClr val="CFE0FF"/>
                </a:solidFill>
              </a:rPr>
              <a:t>Anything risky is routed to a person.</a:t>
            </a:r>
            <a:endParaRPr lang="en-US" sz="125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body" hasCustomPrompt="1"/>
          </p:nvPr>
        </p:nvSpPr>
        <p:spPr>
          <a:xfrm>
            <a:off x="640080" y="411480"/>
            <a:ext cx="7315200" cy="274320"/>
          </a:xfrm>
          <a:prstGeom prst="rect">
            <a:avLst/>
          </a:prstGeom>
          <a:noFill/>
          <a:ln/>
        </p:spPr>
        <p:txBody>
          <a:bodyPr wrap="square" lIns="0" tIns="0" rIns="0" bIns="0" rtlCol="0" anchor="t"/>
          <a:lstStyle/>
          <a:p>
            <a:pPr indent="0" marL="0">
              <a:buNone/>
            </a:pPr>
            <a:r>
              <a:rPr lang="en-US" sz="1200" b="1" spc="400" kern="0" dirty="0">
                <a:solidFill>
                  <a:srgbClr val="3CC3F0"/>
                </a:solidFill>
              </a:rPr>
              <a:t>RISK MANAGEMENT</a:t>
            </a:r>
            <a:endParaRPr lang="en-US" sz="1200" dirty="0"/>
          </a:p>
        </p:txBody>
      </p:sp>
      <p:sp>
        <p:nvSpPr>
          <p:cNvPr id="3" name="Text 2"/>
          <p:cNvSpPr/>
          <p:nvPr>
            <p:ph idx="104" type="title" hasCustomPrompt="1"/>
          </p:nvPr>
        </p:nvSpPr>
        <p:spPr>
          <a:xfrm>
            <a:off x="640080" y="777240"/>
            <a:ext cx="10908792" cy="731520"/>
          </a:xfrm>
          <a:prstGeom prst="rect">
            <a:avLst/>
          </a:prstGeom>
          <a:noFill/>
          <a:ln/>
        </p:spPr>
        <p:txBody>
          <a:bodyPr wrap="square" lIns="0" tIns="0" rIns="0" bIns="0" rtlCol="0" anchor="t"/>
          <a:lstStyle/>
          <a:p>
            <a:pPr algn="l" indent="0" marL="0">
              <a:buNone/>
            </a:pPr>
            <a:r>
              <a:rPr lang="en-US" sz="3000" b="1" dirty="0">
                <a:solidFill>
                  <a:srgbClr val="FFFFFF"/>
                </a:solidFill>
              </a:rPr>
              <a:t>Safety is enforced by design, not left to the model</a:t>
            </a:r>
            <a:endParaRPr lang="en-US" sz="3000" dirty="0"/>
          </a:p>
        </p:txBody>
      </p:sp>
      <p:sp>
        <p:nvSpPr>
          <p:cNvPr id="4" name="Text 2"/>
          <p:cNvSpPr txBox="1"/>
          <p:nvPr/>
        </p:nvSpPr>
        <p:spPr>
          <a:xfrm>
            <a:off x="7863840" y="411480"/>
            <a:ext cx="3685032" cy="274320"/>
          </a:xfrm>
          <a:prstGeom prst="rect">
            <a:avLst/>
          </a:prstGeom>
          <a:noFill/>
          <a:ln/>
        </p:spPr>
        <p:txBody>
          <a:bodyPr wrap="square" lIns="0" tIns="0" rIns="0" bIns="0" rtlCol="0" anchor="t"/>
          <a:lstStyle/>
          <a:p>
            <a:pPr algn="r" indent="0" marL="0">
              <a:buNone/>
            </a:pPr>
            <a:r>
              <a:rPr lang="en-US" sz="1000" b="1" spc="300" kern="0" dirty="0">
                <a:solidFill>
                  <a:srgbClr val="A9BBEA"/>
                </a:solidFill>
              </a:rPr>
              <a:t>SOLUTION</a:t>
            </a:r>
            <a:endParaRPr lang="en-US" sz="1000" dirty="0"/>
          </a:p>
        </p:txBody>
      </p:sp>
      <p:sp>
        <p:nvSpPr>
          <p:cNvPr id="5" name="Shape 3"/>
          <p:cNvSpPr/>
          <p:nvPr/>
        </p:nvSpPr>
        <p:spPr>
          <a:xfrm>
            <a:off x="640080" y="1783080"/>
            <a:ext cx="3931920" cy="4206240"/>
          </a:xfrm>
          <a:prstGeom prst="roundRect">
            <a:avLst>
              <a:gd name="adj" fmla="val 1860"/>
            </a:avLst>
          </a:prstGeom>
          <a:solidFill>
            <a:srgbClr val="0A1F5C"/>
          </a:solidFill>
          <a:ln w="19050">
            <a:solidFill>
              <a:srgbClr val="E5484D"/>
            </a:solidFill>
            <a:prstDash val="solid"/>
          </a:ln>
          <a:effectLst>
            <a:outerShdw sx="100000" sy="100000" kx="0" ky="0" algn="bl" rotWithShape="0" blurRad="127000" dist="38100" dir="5400000">
              <a:srgbClr val="000000">
                <a:alpha val="28000"/>
              </a:srgbClr>
            </a:outerShdw>
          </a:effectLst>
        </p:spPr>
      </p:sp>
      <p:sp>
        <p:nvSpPr>
          <p:cNvPr id="6" name="Text 4"/>
          <p:cNvSpPr txBox="1"/>
          <p:nvPr/>
        </p:nvSpPr>
        <p:spPr>
          <a:xfrm>
            <a:off x="914400" y="2011680"/>
            <a:ext cx="3383280" cy="274320"/>
          </a:xfrm>
          <a:prstGeom prst="rect">
            <a:avLst/>
          </a:prstGeom>
          <a:noFill/>
          <a:ln/>
        </p:spPr>
        <p:txBody>
          <a:bodyPr wrap="square" lIns="0" tIns="0" rIns="0" bIns="0" rtlCol="0" anchor="t"/>
          <a:lstStyle/>
          <a:p>
            <a:pPr indent="0" marL="0">
              <a:buNone/>
            </a:pPr>
            <a:r>
              <a:rPr lang="en-US" sz="1100" b="1" spc="300" kern="0" dirty="0">
                <a:solidFill>
                  <a:srgbClr val="E5484D"/>
                </a:solidFill>
              </a:rPr>
              <a:t>HARD BOUNDARIES</a:t>
            </a:r>
            <a:endParaRPr lang="en-US" sz="1100" dirty="0"/>
          </a:p>
        </p:txBody>
      </p:sp>
      <p:sp>
        <p:nvSpPr>
          <p:cNvPr id="7" name="Shape 5"/>
          <p:cNvSpPr/>
          <p:nvPr/>
        </p:nvSpPr>
        <p:spPr>
          <a:xfrm>
            <a:off x="914400" y="2560320"/>
            <a:ext cx="502920" cy="502920"/>
          </a:xfrm>
          <a:prstGeom prst="ellipse">
            <a:avLst/>
          </a:prstGeom>
          <a:solidFill>
            <a:srgbClr val="E5484D"/>
          </a:solidFill>
          <a:ln w="6350">
            <a:solidFill>
              <a:srgbClr val="E5484D"/>
            </a:solidFill>
            <a:prstDash val="solid"/>
          </a:ln>
        </p:spPr>
      </p:sp>
      <p:pic>
        <p:nvPicPr>
          <p:cNvPr id="8" name="Image 0" descr="FaTimes">    </p:cNvPr>
          <p:cNvPicPr>
            <a:picLocks noChangeAspect="1"/>
          </p:cNvPicPr>
          <p:nvPr/>
        </p:nvPicPr>
        <p:blipFill>
          <a:blip r:embed="rId1"/>
          <a:stretch>
            <a:fillRect/>
          </a:stretch>
        </p:blipFill>
        <p:spPr>
          <a:xfrm>
            <a:off x="1050188" y="2696108"/>
            <a:ext cx="231343" cy="231343"/>
          </a:xfrm>
          <a:prstGeom prst="rect">
            <a:avLst/>
          </a:prstGeom>
        </p:spPr>
      </p:pic>
      <p:sp>
        <p:nvSpPr>
          <p:cNvPr id="9" name="Text 6"/>
          <p:cNvSpPr txBox="1"/>
          <p:nvPr/>
        </p:nvSpPr>
        <p:spPr>
          <a:xfrm>
            <a:off x="1600200" y="2514600"/>
            <a:ext cx="2743200" cy="731520"/>
          </a:xfrm>
          <a:prstGeom prst="rect">
            <a:avLst/>
          </a:prstGeom>
          <a:noFill/>
          <a:ln/>
        </p:spPr>
        <p:txBody>
          <a:bodyPr wrap="square" lIns="0" tIns="0" rIns="0" bIns="0" rtlCol="0" anchor="ctr"/>
          <a:lstStyle/>
          <a:p>
            <a:pPr indent="0" marL="0">
              <a:buNone/>
            </a:pPr>
            <a:r>
              <a:rPr lang="en-US" sz="1500" b="1" dirty="0">
                <a:solidFill>
                  <a:srgbClr val="FFFFFF"/>
                </a:solidFill>
              </a:rPr>
              <a:t>Never diagnose or interpret a reading</a:t>
            </a:r>
            <a:endParaRPr lang="en-US" sz="1500" dirty="0"/>
          </a:p>
        </p:txBody>
      </p:sp>
      <p:sp>
        <p:nvSpPr>
          <p:cNvPr id="10" name="Shape 7"/>
          <p:cNvSpPr/>
          <p:nvPr/>
        </p:nvSpPr>
        <p:spPr>
          <a:xfrm>
            <a:off x="914400" y="3611880"/>
            <a:ext cx="502920" cy="502920"/>
          </a:xfrm>
          <a:prstGeom prst="ellipse">
            <a:avLst/>
          </a:prstGeom>
          <a:solidFill>
            <a:srgbClr val="E5484D"/>
          </a:solidFill>
          <a:ln w="6350">
            <a:solidFill>
              <a:srgbClr val="E5484D"/>
            </a:solidFill>
            <a:prstDash val="solid"/>
          </a:ln>
        </p:spPr>
      </p:sp>
      <p:pic>
        <p:nvPicPr>
          <p:cNvPr id="11" name="Image 1" descr="FaTimes">    </p:cNvPr>
          <p:cNvPicPr>
            <a:picLocks noChangeAspect="1"/>
          </p:cNvPicPr>
          <p:nvPr/>
        </p:nvPicPr>
        <p:blipFill>
          <a:blip r:embed="rId2"/>
          <a:stretch>
            <a:fillRect/>
          </a:stretch>
        </p:blipFill>
        <p:spPr>
          <a:xfrm>
            <a:off x="1050188" y="3747668"/>
            <a:ext cx="231343" cy="231343"/>
          </a:xfrm>
          <a:prstGeom prst="rect">
            <a:avLst/>
          </a:prstGeom>
        </p:spPr>
      </p:pic>
      <p:sp>
        <p:nvSpPr>
          <p:cNvPr id="12" name="Text 8"/>
          <p:cNvSpPr txBox="1"/>
          <p:nvPr/>
        </p:nvSpPr>
        <p:spPr>
          <a:xfrm>
            <a:off x="1600200" y="3566160"/>
            <a:ext cx="2743200" cy="731520"/>
          </a:xfrm>
          <a:prstGeom prst="rect">
            <a:avLst/>
          </a:prstGeom>
          <a:noFill/>
          <a:ln/>
        </p:spPr>
        <p:txBody>
          <a:bodyPr wrap="square" lIns="0" tIns="0" rIns="0" bIns="0" rtlCol="0" anchor="ctr"/>
          <a:lstStyle/>
          <a:p>
            <a:pPr indent="0" marL="0">
              <a:buNone/>
            </a:pPr>
            <a:r>
              <a:rPr lang="en-US" sz="1500" b="1" dirty="0">
                <a:solidFill>
                  <a:srgbClr val="FFFFFF"/>
                </a:solidFill>
              </a:rPr>
              <a:t>Never give medical advice</a:t>
            </a:r>
            <a:endParaRPr lang="en-US" sz="1500" dirty="0"/>
          </a:p>
        </p:txBody>
      </p:sp>
      <p:sp>
        <p:nvSpPr>
          <p:cNvPr id="13" name="Shape 9"/>
          <p:cNvSpPr/>
          <p:nvPr/>
        </p:nvSpPr>
        <p:spPr>
          <a:xfrm>
            <a:off x="914400" y="4663440"/>
            <a:ext cx="502920" cy="502920"/>
          </a:xfrm>
          <a:prstGeom prst="ellipse">
            <a:avLst/>
          </a:prstGeom>
          <a:solidFill>
            <a:srgbClr val="E5484D"/>
          </a:solidFill>
          <a:ln w="6350">
            <a:solidFill>
              <a:srgbClr val="E5484D"/>
            </a:solidFill>
            <a:prstDash val="solid"/>
          </a:ln>
        </p:spPr>
      </p:sp>
      <p:pic>
        <p:nvPicPr>
          <p:cNvPr id="14" name="Image 2" descr="FaTimes">    </p:cNvPr>
          <p:cNvPicPr>
            <a:picLocks noChangeAspect="1"/>
          </p:cNvPicPr>
          <p:nvPr/>
        </p:nvPicPr>
        <p:blipFill>
          <a:blip r:embed="rId3"/>
          <a:stretch>
            <a:fillRect/>
          </a:stretch>
        </p:blipFill>
        <p:spPr>
          <a:xfrm>
            <a:off x="1050188" y="4799228"/>
            <a:ext cx="231343" cy="231343"/>
          </a:xfrm>
          <a:prstGeom prst="rect">
            <a:avLst/>
          </a:prstGeom>
        </p:spPr>
      </p:pic>
      <p:sp>
        <p:nvSpPr>
          <p:cNvPr id="15" name="Text 10"/>
          <p:cNvSpPr txBox="1"/>
          <p:nvPr/>
        </p:nvSpPr>
        <p:spPr>
          <a:xfrm>
            <a:off x="1600200" y="4617720"/>
            <a:ext cx="2743200" cy="731520"/>
          </a:xfrm>
          <a:prstGeom prst="rect">
            <a:avLst/>
          </a:prstGeom>
          <a:noFill/>
          <a:ln/>
        </p:spPr>
        <p:txBody>
          <a:bodyPr wrap="square" lIns="0" tIns="0" rIns="0" bIns="0" rtlCol="0" anchor="ctr"/>
          <a:lstStyle/>
          <a:p>
            <a:pPr indent="0" marL="0">
              <a:buNone/>
            </a:pPr>
            <a:r>
              <a:rPr lang="en-US" sz="1500" b="1" dirty="0">
                <a:solidFill>
                  <a:srgbClr val="FFFFFF"/>
                </a:solidFill>
              </a:rPr>
              <a:t>Never change or recommend medicines</a:t>
            </a:r>
            <a:endParaRPr lang="en-US" sz="1500" dirty="0"/>
          </a:p>
        </p:txBody>
      </p:sp>
      <p:sp>
        <p:nvSpPr>
          <p:cNvPr id="16" name="Text 11"/>
          <p:cNvSpPr txBox="1"/>
          <p:nvPr/>
        </p:nvSpPr>
        <p:spPr>
          <a:xfrm>
            <a:off x="914400" y="5486400"/>
            <a:ext cx="3383280" cy="457200"/>
          </a:xfrm>
          <a:prstGeom prst="rect">
            <a:avLst/>
          </a:prstGeom>
          <a:noFill/>
          <a:ln/>
        </p:spPr>
        <p:txBody>
          <a:bodyPr wrap="square" lIns="0" tIns="0" rIns="0" bIns="0" rtlCol="0" anchor="t"/>
          <a:lstStyle/>
          <a:p>
            <a:pPr indent="0" marL="0">
              <a:buNone/>
            </a:pPr>
            <a:r>
              <a:rPr lang="en-US" sz="1100" dirty="0">
                <a:solidFill>
                  <a:srgbClr val="CFE0FF"/>
                </a:solidFill>
              </a:rPr>
              <a:t>The system organises information and hands risky cases to people.</a:t>
            </a:r>
            <a:endParaRPr lang="en-US" sz="1100" dirty="0"/>
          </a:p>
        </p:txBody>
      </p:sp>
      <p:sp>
        <p:nvSpPr>
          <p:cNvPr id="17" name="Text 12"/>
          <p:cNvSpPr txBox="1"/>
          <p:nvPr/>
        </p:nvSpPr>
        <p:spPr>
          <a:xfrm>
            <a:off x="4892040" y="1783080"/>
            <a:ext cx="5486400" cy="274320"/>
          </a:xfrm>
          <a:prstGeom prst="rect">
            <a:avLst/>
          </a:prstGeom>
          <a:noFill/>
          <a:ln/>
        </p:spPr>
        <p:txBody>
          <a:bodyPr wrap="square" lIns="0" tIns="0" rIns="0" bIns="0" rtlCol="0" anchor="t"/>
          <a:lstStyle/>
          <a:p>
            <a:pPr indent="0" marL="0">
              <a:buNone/>
            </a:pPr>
            <a:r>
              <a:rPr lang="en-US" sz="1100" b="1" spc="300" kern="0" dirty="0">
                <a:solidFill>
                  <a:srgbClr val="3CC3F0"/>
                </a:solidFill>
              </a:rPr>
              <a:t>FOUR INDEPENDENT CONTROLS</a:t>
            </a:r>
            <a:endParaRPr lang="en-US" sz="1100" dirty="0"/>
          </a:p>
        </p:txBody>
      </p:sp>
      <p:sp>
        <p:nvSpPr>
          <p:cNvPr id="18" name="Shape 13"/>
          <p:cNvSpPr/>
          <p:nvPr/>
        </p:nvSpPr>
        <p:spPr>
          <a:xfrm>
            <a:off x="4892040" y="2148840"/>
            <a:ext cx="6656832" cy="868680"/>
          </a:xfrm>
          <a:prstGeom prst="roundRect">
            <a:avLst>
              <a:gd name="adj" fmla="val 8421"/>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19" name="Shape 14"/>
          <p:cNvSpPr/>
          <p:nvPr/>
        </p:nvSpPr>
        <p:spPr>
          <a:xfrm>
            <a:off x="5074920" y="2350008"/>
            <a:ext cx="457200" cy="457200"/>
          </a:xfrm>
          <a:prstGeom prst="ellipse">
            <a:avLst/>
          </a:prstGeom>
          <a:solidFill>
            <a:srgbClr val="1547C8"/>
          </a:solidFill>
          <a:ln w="6350">
            <a:solidFill>
              <a:srgbClr val="1547C8"/>
            </a:solidFill>
            <a:prstDash val="solid"/>
          </a:ln>
        </p:spPr>
      </p:sp>
      <p:sp>
        <p:nvSpPr>
          <p:cNvPr id="20" name="Text 15"/>
          <p:cNvSpPr txBox="1"/>
          <p:nvPr/>
        </p:nvSpPr>
        <p:spPr>
          <a:xfrm>
            <a:off x="5074920" y="235000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21" name="Text 16"/>
          <p:cNvSpPr txBox="1"/>
          <p:nvPr/>
        </p:nvSpPr>
        <p:spPr>
          <a:xfrm>
            <a:off x="5760720" y="2240280"/>
            <a:ext cx="5577840" cy="274320"/>
          </a:xfrm>
          <a:prstGeom prst="rect">
            <a:avLst/>
          </a:prstGeom>
          <a:noFill/>
          <a:ln/>
        </p:spPr>
        <p:txBody>
          <a:bodyPr wrap="square" lIns="0" tIns="0" rIns="0" bIns="0" rtlCol="0" anchor="t"/>
          <a:lstStyle/>
          <a:p>
            <a:pPr indent="0" marL="0">
              <a:buNone/>
            </a:pPr>
            <a:r>
              <a:rPr lang="en-US" sz="1400" b="1" dirty="0">
                <a:solidFill>
                  <a:srgbClr val="1F2937"/>
                </a:solidFill>
              </a:rPr>
              <a:t>Fixed workflow in code</a:t>
            </a:r>
            <a:endParaRPr lang="en-US" sz="1400" dirty="0"/>
          </a:p>
        </p:txBody>
      </p:sp>
      <p:sp>
        <p:nvSpPr>
          <p:cNvPr id="22" name="Text 17"/>
          <p:cNvSpPr txBox="1"/>
          <p:nvPr/>
        </p:nvSpPr>
        <p:spPr>
          <a:xfrm>
            <a:off x="5760720" y="2560320"/>
            <a:ext cx="5577840" cy="411480"/>
          </a:xfrm>
          <a:prstGeom prst="rect">
            <a:avLst/>
          </a:prstGeom>
          <a:noFill/>
          <a:ln/>
        </p:spPr>
        <p:txBody>
          <a:bodyPr wrap="square" lIns="0" tIns="0" rIns="0" bIns="0" rtlCol="0" anchor="t"/>
          <a:lstStyle/>
          <a:p>
            <a:pPr indent="0" marL="0">
              <a:buNone/>
            </a:pPr>
            <a:r>
              <a:rPr lang="en-US" sz="1150" dirty="0">
                <a:solidFill>
                  <a:srgbClr val="5B6478"/>
                </a:solidFill>
              </a:rPr>
              <a:t>Consent, rules and escalation run independently of any AI wording.</a:t>
            </a:r>
            <a:endParaRPr lang="en-US" sz="1150" dirty="0"/>
          </a:p>
        </p:txBody>
      </p:sp>
      <p:sp>
        <p:nvSpPr>
          <p:cNvPr id="23" name="Shape 18"/>
          <p:cNvSpPr/>
          <p:nvPr/>
        </p:nvSpPr>
        <p:spPr>
          <a:xfrm>
            <a:off x="4892040" y="3127248"/>
            <a:ext cx="6656832" cy="868680"/>
          </a:xfrm>
          <a:prstGeom prst="roundRect">
            <a:avLst>
              <a:gd name="adj" fmla="val 8421"/>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24" name="Shape 19"/>
          <p:cNvSpPr/>
          <p:nvPr/>
        </p:nvSpPr>
        <p:spPr>
          <a:xfrm>
            <a:off x="5074920" y="3328416"/>
            <a:ext cx="457200" cy="457200"/>
          </a:xfrm>
          <a:prstGeom prst="ellipse">
            <a:avLst/>
          </a:prstGeom>
          <a:solidFill>
            <a:srgbClr val="1547C8"/>
          </a:solidFill>
          <a:ln w="6350">
            <a:solidFill>
              <a:srgbClr val="1547C8"/>
            </a:solidFill>
            <a:prstDash val="solid"/>
          </a:ln>
        </p:spPr>
      </p:sp>
      <p:sp>
        <p:nvSpPr>
          <p:cNvPr id="25" name="Text 20"/>
          <p:cNvSpPr txBox="1"/>
          <p:nvPr/>
        </p:nvSpPr>
        <p:spPr>
          <a:xfrm>
            <a:off x="5074920" y="3328416"/>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26" name="Text 21"/>
          <p:cNvSpPr txBox="1"/>
          <p:nvPr/>
        </p:nvSpPr>
        <p:spPr>
          <a:xfrm>
            <a:off x="5760720" y="3218688"/>
            <a:ext cx="5577840" cy="274320"/>
          </a:xfrm>
          <a:prstGeom prst="rect">
            <a:avLst/>
          </a:prstGeom>
          <a:noFill/>
          <a:ln/>
        </p:spPr>
        <p:txBody>
          <a:bodyPr wrap="square" lIns="0" tIns="0" rIns="0" bIns="0" rtlCol="0" anchor="t"/>
          <a:lstStyle/>
          <a:p>
            <a:pPr indent="0" marL="0">
              <a:buNone/>
            </a:pPr>
            <a:r>
              <a:rPr lang="en-US" sz="1400" b="1" dirty="0">
                <a:solidFill>
                  <a:srgbClr val="1F2937"/>
                </a:solidFill>
              </a:rPr>
              <a:t>Output guard</a:t>
            </a:r>
            <a:endParaRPr lang="en-US" sz="1400" dirty="0"/>
          </a:p>
        </p:txBody>
      </p:sp>
      <p:sp>
        <p:nvSpPr>
          <p:cNvPr id="27" name="Text 22"/>
          <p:cNvSpPr txBox="1"/>
          <p:nvPr/>
        </p:nvSpPr>
        <p:spPr>
          <a:xfrm>
            <a:off x="5760720" y="3538728"/>
            <a:ext cx="5577840" cy="411480"/>
          </a:xfrm>
          <a:prstGeom prst="rect">
            <a:avLst/>
          </a:prstGeom>
          <a:noFill/>
          <a:ln/>
        </p:spPr>
        <p:txBody>
          <a:bodyPr wrap="square" lIns="0" tIns="0" rIns="0" bIns="0" rtlCol="0" anchor="t"/>
          <a:lstStyle/>
          <a:p>
            <a:pPr indent="0" marL="0">
              <a:buNone/>
            </a:pPr>
            <a:r>
              <a:rPr lang="en-US" sz="1150" dirty="0">
                <a:solidFill>
                  <a:srgbClr val="5B6478"/>
                </a:solidFill>
              </a:rPr>
              <a:t>Blocks advice, diagnosis and dosing language before release.</a:t>
            </a:r>
            <a:endParaRPr lang="en-US" sz="1150" dirty="0"/>
          </a:p>
        </p:txBody>
      </p:sp>
      <p:sp>
        <p:nvSpPr>
          <p:cNvPr id="28" name="Shape 23"/>
          <p:cNvSpPr/>
          <p:nvPr/>
        </p:nvSpPr>
        <p:spPr>
          <a:xfrm>
            <a:off x="4892040" y="4105656"/>
            <a:ext cx="6656832" cy="868680"/>
          </a:xfrm>
          <a:prstGeom prst="roundRect">
            <a:avLst>
              <a:gd name="adj" fmla="val 8421"/>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29" name="Shape 24"/>
          <p:cNvSpPr/>
          <p:nvPr/>
        </p:nvSpPr>
        <p:spPr>
          <a:xfrm>
            <a:off x="5074920" y="4306824"/>
            <a:ext cx="457200" cy="457200"/>
          </a:xfrm>
          <a:prstGeom prst="ellipse">
            <a:avLst/>
          </a:prstGeom>
          <a:solidFill>
            <a:srgbClr val="1547C8"/>
          </a:solidFill>
          <a:ln w="6350">
            <a:solidFill>
              <a:srgbClr val="1547C8"/>
            </a:solidFill>
            <a:prstDash val="solid"/>
          </a:ln>
        </p:spPr>
      </p:sp>
      <p:sp>
        <p:nvSpPr>
          <p:cNvPr id="30" name="Text 25"/>
          <p:cNvSpPr txBox="1"/>
          <p:nvPr/>
        </p:nvSpPr>
        <p:spPr>
          <a:xfrm>
            <a:off x="5074920" y="430682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31" name="Text 26"/>
          <p:cNvSpPr txBox="1"/>
          <p:nvPr/>
        </p:nvSpPr>
        <p:spPr>
          <a:xfrm>
            <a:off x="5760720" y="4197096"/>
            <a:ext cx="5577840" cy="274320"/>
          </a:xfrm>
          <a:prstGeom prst="rect">
            <a:avLst/>
          </a:prstGeom>
          <a:noFill/>
          <a:ln/>
        </p:spPr>
        <p:txBody>
          <a:bodyPr wrap="square" lIns="0" tIns="0" rIns="0" bIns="0" rtlCol="0" anchor="t"/>
          <a:lstStyle/>
          <a:p>
            <a:pPr indent="0" marL="0">
              <a:buNone/>
            </a:pPr>
            <a:r>
              <a:rPr lang="en-US" sz="1400" b="1" dirty="0">
                <a:solidFill>
                  <a:srgbClr val="1F2937"/>
                </a:solidFill>
              </a:rPr>
              <a:t>Number and citation checks</a:t>
            </a:r>
            <a:endParaRPr lang="en-US" sz="1400" dirty="0"/>
          </a:p>
        </p:txBody>
      </p:sp>
      <p:sp>
        <p:nvSpPr>
          <p:cNvPr id="32" name="Text 27"/>
          <p:cNvSpPr txBox="1"/>
          <p:nvPr/>
        </p:nvSpPr>
        <p:spPr>
          <a:xfrm>
            <a:off x="5760720" y="4517136"/>
            <a:ext cx="5577840" cy="411480"/>
          </a:xfrm>
          <a:prstGeom prst="rect">
            <a:avLst/>
          </a:prstGeom>
          <a:noFill/>
          <a:ln/>
        </p:spPr>
        <p:txBody>
          <a:bodyPr wrap="square" lIns="0" tIns="0" rIns="0" bIns="0" rtlCol="0" anchor="t"/>
          <a:lstStyle/>
          <a:p>
            <a:pPr indent="0" marL="0">
              <a:buNone/>
            </a:pPr>
            <a:r>
              <a:rPr lang="en-US" sz="1150" dirty="0">
                <a:solidFill>
                  <a:srgbClr val="5B6478"/>
                </a:solidFill>
              </a:rPr>
              <a:t>Every figure must exist in the source facts; every citation must be an approved document.</a:t>
            </a:r>
            <a:endParaRPr lang="en-US" sz="1150" dirty="0"/>
          </a:p>
        </p:txBody>
      </p:sp>
      <p:sp>
        <p:nvSpPr>
          <p:cNvPr id="33" name="Shape 28"/>
          <p:cNvSpPr/>
          <p:nvPr/>
        </p:nvSpPr>
        <p:spPr>
          <a:xfrm>
            <a:off x="4892040" y="5084064"/>
            <a:ext cx="6656832" cy="868680"/>
          </a:xfrm>
          <a:prstGeom prst="roundRect">
            <a:avLst>
              <a:gd name="adj" fmla="val 8421"/>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34" name="Shape 29"/>
          <p:cNvSpPr/>
          <p:nvPr/>
        </p:nvSpPr>
        <p:spPr>
          <a:xfrm>
            <a:off x="5074920" y="5285232"/>
            <a:ext cx="457200" cy="457200"/>
          </a:xfrm>
          <a:prstGeom prst="ellipse">
            <a:avLst/>
          </a:prstGeom>
          <a:solidFill>
            <a:srgbClr val="1547C8"/>
          </a:solidFill>
          <a:ln w="6350">
            <a:solidFill>
              <a:srgbClr val="1547C8"/>
            </a:solidFill>
            <a:prstDash val="solid"/>
          </a:ln>
        </p:spPr>
      </p:sp>
      <p:sp>
        <p:nvSpPr>
          <p:cNvPr id="35" name="Text 30"/>
          <p:cNvSpPr txBox="1"/>
          <p:nvPr/>
        </p:nvSpPr>
        <p:spPr>
          <a:xfrm>
            <a:off x="5074920" y="528523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36" name="Text 31"/>
          <p:cNvSpPr txBox="1"/>
          <p:nvPr/>
        </p:nvSpPr>
        <p:spPr>
          <a:xfrm>
            <a:off x="5760720" y="5175504"/>
            <a:ext cx="5577840" cy="274320"/>
          </a:xfrm>
          <a:prstGeom prst="rect">
            <a:avLst/>
          </a:prstGeom>
          <a:noFill/>
          <a:ln/>
        </p:spPr>
        <p:txBody>
          <a:bodyPr wrap="square" lIns="0" tIns="0" rIns="0" bIns="0" rtlCol="0" anchor="t"/>
          <a:lstStyle/>
          <a:p>
            <a:pPr indent="0" marL="0">
              <a:buNone/>
            </a:pPr>
            <a:r>
              <a:rPr lang="en-US" sz="1400" b="1" dirty="0">
                <a:solidFill>
                  <a:srgbClr val="1F2937"/>
                </a:solidFill>
              </a:rPr>
              <a:t>Safe fallback</a:t>
            </a:r>
            <a:endParaRPr lang="en-US" sz="1400" dirty="0"/>
          </a:p>
        </p:txBody>
      </p:sp>
      <p:sp>
        <p:nvSpPr>
          <p:cNvPr id="37" name="Text 32"/>
          <p:cNvSpPr txBox="1"/>
          <p:nvPr/>
        </p:nvSpPr>
        <p:spPr>
          <a:xfrm>
            <a:off x="5760720" y="5495544"/>
            <a:ext cx="5577840" cy="411480"/>
          </a:xfrm>
          <a:prstGeom prst="rect">
            <a:avLst/>
          </a:prstGeom>
          <a:noFill/>
          <a:ln/>
        </p:spPr>
        <p:txBody>
          <a:bodyPr wrap="square" lIns="0" tIns="0" rIns="0" bIns="0" rtlCol="0" anchor="t"/>
          <a:lstStyle/>
          <a:p>
            <a:pPr indent="0" marL="0">
              <a:buNone/>
            </a:pPr>
            <a:r>
              <a:rPr lang="en-US" sz="1150" dirty="0">
                <a:solidFill>
                  <a:srgbClr val="5B6478"/>
                </a:solidFill>
              </a:rPr>
              <a:t>If any check fails, a fixed, approved template replaces the AI text.</a:t>
            </a:r>
            <a:endParaRPr lang="en-US" sz="115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body" hasCustomPrompt="1"/>
          </p:nvPr>
        </p:nvSpPr>
        <p:spPr>
          <a:xfrm>
            <a:off x="640080" y="411480"/>
            <a:ext cx="7315200" cy="274320"/>
          </a:xfrm>
          <a:prstGeom prst="rect">
            <a:avLst/>
          </a:prstGeom>
          <a:noFill/>
          <a:ln/>
        </p:spPr>
        <p:txBody>
          <a:bodyPr wrap="square" lIns="0" tIns="0" rIns="0" bIns="0" rtlCol="0" anchor="t"/>
          <a:lstStyle/>
          <a:p>
            <a:pPr indent="0" marL="0">
              <a:buNone/>
            </a:pPr>
            <a:r>
              <a:rPr lang="en-US" sz="1200" b="1" spc="400" kern="0" dirty="0">
                <a:solidFill>
                  <a:srgbClr val="3CC3F0"/>
                </a:solidFill>
              </a:rPr>
              <a:t>SOLUTION ARCHITECTURE</a:t>
            </a:r>
            <a:endParaRPr lang="en-US" sz="1200" dirty="0"/>
          </a:p>
        </p:txBody>
      </p:sp>
      <p:sp>
        <p:nvSpPr>
          <p:cNvPr id="3" name="Text 2"/>
          <p:cNvSpPr/>
          <p:nvPr>
            <p:ph idx="104" type="title" hasCustomPrompt="1"/>
          </p:nvPr>
        </p:nvSpPr>
        <p:spPr>
          <a:xfrm>
            <a:off x="640080" y="777240"/>
            <a:ext cx="10908792" cy="731520"/>
          </a:xfrm>
          <a:prstGeom prst="rect">
            <a:avLst/>
          </a:prstGeom>
          <a:noFill/>
          <a:ln/>
        </p:spPr>
        <p:txBody>
          <a:bodyPr wrap="square" lIns="0" tIns="0" rIns="0" bIns="0" rtlCol="0" anchor="t"/>
          <a:lstStyle/>
          <a:p>
            <a:pPr algn="l" indent="0" marL="0">
              <a:buNone/>
            </a:pPr>
            <a:r>
              <a:rPr lang="en-US" sz="3000" b="1" dirty="0">
                <a:solidFill>
                  <a:srgbClr val="FFFFFF"/>
                </a:solidFill>
              </a:rPr>
              <a:t>Enterprise-ready architecture on Microsoft Foundry</a:t>
            </a:r>
            <a:endParaRPr lang="en-US" sz="3000" dirty="0"/>
          </a:p>
        </p:txBody>
      </p:sp>
      <p:sp>
        <p:nvSpPr>
          <p:cNvPr id="4" name="Text 2"/>
          <p:cNvSpPr txBox="1"/>
          <p:nvPr/>
        </p:nvSpPr>
        <p:spPr>
          <a:xfrm>
            <a:off x="7863840" y="411480"/>
            <a:ext cx="3685032" cy="274320"/>
          </a:xfrm>
          <a:prstGeom prst="rect">
            <a:avLst/>
          </a:prstGeom>
          <a:noFill/>
          <a:ln/>
        </p:spPr>
        <p:txBody>
          <a:bodyPr wrap="square" lIns="0" tIns="0" rIns="0" bIns="0" rtlCol="0" anchor="t"/>
          <a:lstStyle/>
          <a:p>
            <a:pPr algn="r" indent="0" marL="0">
              <a:buNone/>
            </a:pPr>
            <a:r>
              <a:rPr lang="en-US" sz="1000" b="1" spc="300" kern="0" dirty="0">
                <a:solidFill>
                  <a:srgbClr val="A9BBEA"/>
                </a:solidFill>
              </a:rPr>
              <a:t>SOLUTION</a:t>
            </a:r>
            <a:endParaRPr lang="en-US" sz="1000" dirty="0"/>
          </a:p>
        </p:txBody>
      </p:sp>
      <p:sp>
        <p:nvSpPr>
          <p:cNvPr id="5" name="Shape 3"/>
          <p:cNvSpPr/>
          <p:nvPr/>
        </p:nvSpPr>
        <p:spPr>
          <a:xfrm>
            <a:off x="640080" y="1783080"/>
            <a:ext cx="10908792" cy="786384"/>
          </a:xfrm>
          <a:prstGeom prst="roundRect">
            <a:avLst>
              <a:gd name="adj" fmla="val 9302"/>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6" name="Shape 4"/>
          <p:cNvSpPr/>
          <p:nvPr/>
        </p:nvSpPr>
        <p:spPr>
          <a:xfrm>
            <a:off x="841248" y="2057400"/>
            <a:ext cx="237744" cy="237744"/>
          </a:xfrm>
          <a:prstGeom prst="ellipse">
            <a:avLst/>
          </a:prstGeom>
          <a:solidFill>
            <a:srgbClr val="3CC3F0"/>
          </a:solidFill>
          <a:ln w="6350">
            <a:solidFill>
              <a:srgbClr val="3CC3F0"/>
            </a:solidFill>
            <a:prstDash val="solid"/>
          </a:ln>
        </p:spPr>
      </p:sp>
      <p:sp>
        <p:nvSpPr>
          <p:cNvPr id="7" name="Text 5"/>
          <p:cNvSpPr txBox="1"/>
          <p:nvPr/>
        </p:nvSpPr>
        <p:spPr>
          <a:xfrm>
            <a:off x="1234440" y="1911096"/>
            <a:ext cx="2103120" cy="274320"/>
          </a:xfrm>
          <a:prstGeom prst="rect">
            <a:avLst/>
          </a:prstGeom>
          <a:noFill/>
          <a:ln/>
        </p:spPr>
        <p:txBody>
          <a:bodyPr wrap="square" lIns="0" tIns="0" rIns="0" bIns="0" rtlCol="0" anchor="t"/>
          <a:lstStyle/>
          <a:p>
            <a:pPr indent="0" marL="0">
              <a:buNone/>
            </a:pPr>
            <a:r>
              <a:rPr lang="en-US" sz="1100" b="1" spc="100" kern="0" dirty="0">
                <a:solidFill>
                  <a:srgbClr val="1547C8"/>
                </a:solidFill>
              </a:rPr>
              <a:t>EXPERIENCE</a:t>
            </a:r>
            <a:endParaRPr lang="en-US" sz="1100" dirty="0"/>
          </a:p>
        </p:txBody>
      </p:sp>
      <p:sp>
        <p:nvSpPr>
          <p:cNvPr id="8" name="Text 6"/>
          <p:cNvSpPr txBox="1"/>
          <p:nvPr/>
        </p:nvSpPr>
        <p:spPr>
          <a:xfrm>
            <a:off x="1234440" y="2203704"/>
            <a:ext cx="2103120" cy="274320"/>
          </a:xfrm>
          <a:prstGeom prst="rect">
            <a:avLst/>
          </a:prstGeom>
          <a:noFill/>
          <a:ln/>
        </p:spPr>
        <p:txBody>
          <a:bodyPr wrap="square" lIns="0" tIns="0" rIns="0" bIns="0" rtlCol="0" anchor="t"/>
          <a:lstStyle/>
          <a:p>
            <a:pPr indent="0" marL="0">
              <a:buNone/>
            </a:pPr>
            <a:r>
              <a:rPr lang="en-US" sz="1050" dirty="0">
                <a:solidFill>
                  <a:srgbClr val="5B6478"/>
                </a:solidFill>
              </a:rPr>
              <a:t>Interfaces for members and staff</a:t>
            </a:r>
            <a:endParaRPr lang="en-US" sz="1050" dirty="0"/>
          </a:p>
        </p:txBody>
      </p:sp>
      <p:sp>
        <p:nvSpPr>
          <p:cNvPr id="9" name="Shape 7"/>
          <p:cNvSpPr/>
          <p:nvPr/>
        </p:nvSpPr>
        <p:spPr>
          <a:xfrm>
            <a:off x="3429000" y="1920240"/>
            <a:ext cx="2584704" cy="512064"/>
          </a:xfrm>
          <a:prstGeom prst="roundRect">
            <a:avLst>
              <a:gd name="adj" fmla="val 14286"/>
            </a:avLst>
          </a:prstGeom>
          <a:solidFill>
            <a:srgbClr val="EAF0FC"/>
          </a:solidFill>
          <a:ln w="12700">
            <a:solidFill>
              <a:srgbClr val="D8DEEC"/>
            </a:solidFill>
            <a:prstDash val="solid"/>
          </a:ln>
        </p:spPr>
      </p:sp>
      <p:sp>
        <p:nvSpPr>
          <p:cNvPr id="10" name="Text 8"/>
          <p:cNvSpPr txBox="1"/>
          <p:nvPr/>
        </p:nvSpPr>
        <p:spPr>
          <a:xfrm>
            <a:off x="3429000" y="1920240"/>
            <a:ext cx="2584704" cy="512064"/>
          </a:xfrm>
          <a:prstGeom prst="rect">
            <a:avLst/>
          </a:prstGeom>
          <a:noFill/>
          <a:ln/>
        </p:spPr>
        <p:txBody>
          <a:bodyPr wrap="square" lIns="0" tIns="0" rIns="0" bIns="0" rtlCol="0" anchor="ctr"/>
          <a:lstStyle/>
          <a:p>
            <a:pPr algn="ctr" indent="0" marL="0">
              <a:buNone/>
            </a:pPr>
            <a:r>
              <a:rPr lang="en-US" sz="1100" b="1" dirty="0">
                <a:solidFill>
                  <a:srgbClr val="0A1F5C"/>
                </a:solidFill>
              </a:rPr>
              <a:t>Care desk web app</a:t>
            </a:r>
            <a:endParaRPr lang="en-US" sz="1100" dirty="0"/>
          </a:p>
        </p:txBody>
      </p:sp>
      <p:sp>
        <p:nvSpPr>
          <p:cNvPr id="11" name="Shape 9"/>
          <p:cNvSpPr/>
          <p:nvPr/>
        </p:nvSpPr>
        <p:spPr>
          <a:xfrm>
            <a:off x="6105144" y="1920240"/>
            <a:ext cx="2584704" cy="512064"/>
          </a:xfrm>
          <a:prstGeom prst="roundRect">
            <a:avLst>
              <a:gd name="adj" fmla="val 14286"/>
            </a:avLst>
          </a:prstGeom>
          <a:solidFill>
            <a:srgbClr val="EAF0FC"/>
          </a:solidFill>
          <a:ln w="12700">
            <a:solidFill>
              <a:srgbClr val="D8DEEC"/>
            </a:solidFill>
            <a:prstDash val="solid"/>
          </a:ln>
        </p:spPr>
      </p:sp>
      <p:sp>
        <p:nvSpPr>
          <p:cNvPr id="12" name="Text 10"/>
          <p:cNvSpPr txBox="1"/>
          <p:nvPr/>
        </p:nvSpPr>
        <p:spPr>
          <a:xfrm>
            <a:off x="6105144" y="1920240"/>
            <a:ext cx="2584704" cy="512064"/>
          </a:xfrm>
          <a:prstGeom prst="rect">
            <a:avLst/>
          </a:prstGeom>
          <a:noFill/>
          <a:ln/>
        </p:spPr>
        <p:txBody>
          <a:bodyPr wrap="square" lIns="0" tIns="0" rIns="0" bIns="0" rtlCol="0" anchor="ctr"/>
          <a:lstStyle/>
          <a:p>
            <a:pPr algn="ctr" indent="0" marL="0">
              <a:buNone/>
            </a:pPr>
            <a:r>
              <a:rPr lang="en-US" sz="1100" b="1" dirty="0">
                <a:solidFill>
                  <a:srgbClr val="0A1F5C"/>
                </a:solidFill>
              </a:rPr>
              <a:t>Python client</a:t>
            </a:r>
            <a:endParaRPr lang="en-US" sz="1100" dirty="0"/>
          </a:p>
        </p:txBody>
      </p:sp>
      <p:sp>
        <p:nvSpPr>
          <p:cNvPr id="13" name="Shape 11"/>
          <p:cNvSpPr/>
          <p:nvPr/>
        </p:nvSpPr>
        <p:spPr>
          <a:xfrm>
            <a:off x="8781288" y="1920240"/>
            <a:ext cx="2584704" cy="512064"/>
          </a:xfrm>
          <a:prstGeom prst="roundRect">
            <a:avLst>
              <a:gd name="adj" fmla="val 14286"/>
            </a:avLst>
          </a:prstGeom>
          <a:solidFill>
            <a:srgbClr val="EAF0FC"/>
          </a:solidFill>
          <a:ln w="12700">
            <a:solidFill>
              <a:srgbClr val="D8DEEC"/>
            </a:solidFill>
            <a:prstDash val="solid"/>
          </a:ln>
        </p:spPr>
      </p:sp>
      <p:sp>
        <p:nvSpPr>
          <p:cNvPr id="14" name="Text 12"/>
          <p:cNvSpPr txBox="1"/>
          <p:nvPr/>
        </p:nvSpPr>
        <p:spPr>
          <a:xfrm>
            <a:off x="8781288" y="1920240"/>
            <a:ext cx="2584704" cy="512064"/>
          </a:xfrm>
          <a:prstGeom prst="rect">
            <a:avLst/>
          </a:prstGeom>
          <a:noFill/>
          <a:ln/>
        </p:spPr>
        <p:txBody>
          <a:bodyPr wrap="square" lIns="0" tIns="0" rIns="0" bIns="0" rtlCol="0" anchor="ctr"/>
          <a:lstStyle/>
          <a:p>
            <a:pPr algn="ctr" indent="0" marL="0">
              <a:buNone/>
            </a:pPr>
            <a:r>
              <a:rPr lang="en-US" sz="1100" b="1" dirty="0">
                <a:solidFill>
                  <a:srgbClr val="0A1F5C"/>
                </a:solidFill>
              </a:rPr>
              <a:t>Staff view</a:t>
            </a:r>
            <a:endParaRPr lang="en-US" sz="1100" dirty="0"/>
          </a:p>
        </p:txBody>
      </p:sp>
      <p:sp>
        <p:nvSpPr>
          <p:cNvPr id="15" name="Shape 13"/>
          <p:cNvSpPr/>
          <p:nvPr/>
        </p:nvSpPr>
        <p:spPr>
          <a:xfrm>
            <a:off x="640080" y="2660904"/>
            <a:ext cx="10908792" cy="786384"/>
          </a:xfrm>
          <a:prstGeom prst="roundRect">
            <a:avLst>
              <a:gd name="adj" fmla="val 9302"/>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16" name="Shape 14"/>
          <p:cNvSpPr/>
          <p:nvPr/>
        </p:nvSpPr>
        <p:spPr>
          <a:xfrm>
            <a:off x="841248" y="2935224"/>
            <a:ext cx="237744" cy="237744"/>
          </a:xfrm>
          <a:prstGeom prst="ellipse">
            <a:avLst/>
          </a:prstGeom>
          <a:solidFill>
            <a:srgbClr val="6F9BFF"/>
          </a:solidFill>
          <a:ln w="6350">
            <a:solidFill>
              <a:srgbClr val="6F9BFF"/>
            </a:solidFill>
            <a:prstDash val="solid"/>
          </a:ln>
        </p:spPr>
      </p:sp>
      <p:sp>
        <p:nvSpPr>
          <p:cNvPr id="17" name="Text 15"/>
          <p:cNvSpPr txBox="1"/>
          <p:nvPr/>
        </p:nvSpPr>
        <p:spPr>
          <a:xfrm>
            <a:off x="1234440" y="2788920"/>
            <a:ext cx="2103120" cy="274320"/>
          </a:xfrm>
          <a:prstGeom prst="rect">
            <a:avLst/>
          </a:prstGeom>
          <a:noFill/>
          <a:ln/>
        </p:spPr>
        <p:txBody>
          <a:bodyPr wrap="square" lIns="0" tIns="0" rIns="0" bIns="0" rtlCol="0" anchor="t"/>
          <a:lstStyle/>
          <a:p>
            <a:pPr indent="0" marL="0">
              <a:buNone/>
            </a:pPr>
            <a:r>
              <a:rPr lang="en-US" sz="1100" b="1" spc="100" kern="0" dirty="0">
                <a:solidFill>
                  <a:srgbClr val="1547C8"/>
                </a:solidFill>
              </a:rPr>
              <a:t>ORCHESTRATION</a:t>
            </a:r>
            <a:endParaRPr lang="en-US" sz="1100" dirty="0"/>
          </a:p>
        </p:txBody>
      </p:sp>
      <p:sp>
        <p:nvSpPr>
          <p:cNvPr id="18" name="Text 16"/>
          <p:cNvSpPr txBox="1"/>
          <p:nvPr/>
        </p:nvSpPr>
        <p:spPr>
          <a:xfrm>
            <a:off x="1234440" y="3081528"/>
            <a:ext cx="2103120" cy="274320"/>
          </a:xfrm>
          <a:prstGeom prst="rect">
            <a:avLst/>
          </a:prstGeom>
          <a:noFill/>
          <a:ln/>
        </p:spPr>
        <p:txBody>
          <a:bodyPr wrap="square" lIns="0" tIns="0" rIns="0" bIns="0" rtlCol="0" anchor="t"/>
          <a:lstStyle/>
          <a:p>
            <a:pPr indent="0" marL="0">
              <a:buNone/>
            </a:pPr>
            <a:r>
              <a:rPr lang="en-US" sz="1050" dirty="0">
                <a:solidFill>
                  <a:srgbClr val="5B6478"/>
                </a:solidFill>
              </a:rPr>
              <a:t>Python, fixed order of steps</a:t>
            </a:r>
            <a:endParaRPr lang="en-US" sz="1050" dirty="0"/>
          </a:p>
        </p:txBody>
      </p:sp>
      <p:sp>
        <p:nvSpPr>
          <p:cNvPr id="19" name="Shape 17"/>
          <p:cNvSpPr/>
          <p:nvPr/>
        </p:nvSpPr>
        <p:spPr>
          <a:xfrm>
            <a:off x="3429000" y="2798064"/>
            <a:ext cx="1514246" cy="512064"/>
          </a:xfrm>
          <a:prstGeom prst="roundRect">
            <a:avLst>
              <a:gd name="adj" fmla="val 14286"/>
            </a:avLst>
          </a:prstGeom>
          <a:solidFill>
            <a:srgbClr val="EAF0FC"/>
          </a:solidFill>
          <a:ln w="12700">
            <a:solidFill>
              <a:srgbClr val="D8DEEC"/>
            </a:solidFill>
            <a:prstDash val="solid"/>
          </a:ln>
        </p:spPr>
      </p:sp>
      <p:sp>
        <p:nvSpPr>
          <p:cNvPr id="20" name="Text 18"/>
          <p:cNvSpPr txBox="1"/>
          <p:nvPr/>
        </p:nvSpPr>
        <p:spPr>
          <a:xfrm>
            <a:off x="3429000" y="2798064"/>
            <a:ext cx="1514246" cy="512064"/>
          </a:xfrm>
          <a:prstGeom prst="rect">
            <a:avLst/>
          </a:prstGeom>
          <a:noFill/>
          <a:ln/>
        </p:spPr>
        <p:txBody>
          <a:bodyPr wrap="square" lIns="0" tIns="0" rIns="0" bIns="0" rtlCol="0" anchor="ctr"/>
          <a:lstStyle/>
          <a:p>
            <a:pPr algn="ctr" indent="0" marL="0">
              <a:buNone/>
            </a:pPr>
            <a:r>
              <a:rPr lang="en-US" sz="1100" b="1" dirty="0">
                <a:solidFill>
                  <a:srgbClr val="0A1F5C"/>
                </a:solidFill>
              </a:rPr>
              <a:t>Consent verification</a:t>
            </a:r>
            <a:endParaRPr lang="en-US" sz="1100" dirty="0"/>
          </a:p>
        </p:txBody>
      </p:sp>
      <p:sp>
        <p:nvSpPr>
          <p:cNvPr id="21" name="Shape 19"/>
          <p:cNvSpPr/>
          <p:nvPr/>
        </p:nvSpPr>
        <p:spPr>
          <a:xfrm>
            <a:off x="5034686" y="2798064"/>
            <a:ext cx="1514246" cy="512064"/>
          </a:xfrm>
          <a:prstGeom prst="roundRect">
            <a:avLst>
              <a:gd name="adj" fmla="val 14286"/>
            </a:avLst>
          </a:prstGeom>
          <a:solidFill>
            <a:srgbClr val="EAF0FC"/>
          </a:solidFill>
          <a:ln w="12700">
            <a:solidFill>
              <a:srgbClr val="D8DEEC"/>
            </a:solidFill>
            <a:prstDash val="solid"/>
          </a:ln>
        </p:spPr>
      </p:sp>
      <p:sp>
        <p:nvSpPr>
          <p:cNvPr id="22" name="Text 20"/>
          <p:cNvSpPr txBox="1"/>
          <p:nvPr/>
        </p:nvSpPr>
        <p:spPr>
          <a:xfrm>
            <a:off x="5034686" y="2798064"/>
            <a:ext cx="1514246" cy="512064"/>
          </a:xfrm>
          <a:prstGeom prst="rect">
            <a:avLst/>
          </a:prstGeom>
          <a:noFill/>
          <a:ln/>
        </p:spPr>
        <p:txBody>
          <a:bodyPr wrap="square" lIns="0" tIns="0" rIns="0" bIns="0" rtlCol="0" anchor="ctr"/>
          <a:lstStyle/>
          <a:p>
            <a:pPr algn="ctr" indent="0" marL="0">
              <a:buNone/>
            </a:pPr>
            <a:r>
              <a:rPr lang="en-US" sz="1100" b="1" dirty="0">
                <a:solidFill>
                  <a:srgbClr val="0A1F5C"/>
                </a:solidFill>
              </a:rPr>
              <a:t>Input and medicine checks</a:t>
            </a:r>
            <a:endParaRPr lang="en-US" sz="1100" dirty="0"/>
          </a:p>
        </p:txBody>
      </p:sp>
      <p:sp>
        <p:nvSpPr>
          <p:cNvPr id="23" name="Shape 21"/>
          <p:cNvSpPr/>
          <p:nvPr/>
        </p:nvSpPr>
        <p:spPr>
          <a:xfrm>
            <a:off x="6640373" y="2798064"/>
            <a:ext cx="1514246" cy="512064"/>
          </a:xfrm>
          <a:prstGeom prst="roundRect">
            <a:avLst>
              <a:gd name="adj" fmla="val 14286"/>
            </a:avLst>
          </a:prstGeom>
          <a:solidFill>
            <a:srgbClr val="EAF0FC"/>
          </a:solidFill>
          <a:ln w="12700">
            <a:solidFill>
              <a:srgbClr val="D8DEEC"/>
            </a:solidFill>
            <a:prstDash val="solid"/>
          </a:ln>
        </p:spPr>
      </p:sp>
      <p:sp>
        <p:nvSpPr>
          <p:cNvPr id="24" name="Text 22"/>
          <p:cNvSpPr txBox="1"/>
          <p:nvPr/>
        </p:nvSpPr>
        <p:spPr>
          <a:xfrm>
            <a:off x="6640373" y="2798064"/>
            <a:ext cx="1514246" cy="512064"/>
          </a:xfrm>
          <a:prstGeom prst="rect">
            <a:avLst/>
          </a:prstGeom>
          <a:noFill/>
          <a:ln/>
        </p:spPr>
        <p:txBody>
          <a:bodyPr wrap="square" lIns="0" tIns="0" rIns="0" bIns="0" rtlCol="0" anchor="ctr"/>
          <a:lstStyle/>
          <a:p>
            <a:pPr algn="ctr" indent="0" marL="0">
              <a:buNone/>
            </a:pPr>
            <a:r>
              <a:rPr lang="en-US" sz="1100" b="1" dirty="0">
                <a:solidFill>
                  <a:srgbClr val="0A1F5C"/>
                </a:solidFill>
              </a:rPr>
              <a:t>Request routing</a:t>
            </a:r>
            <a:endParaRPr lang="en-US" sz="1100" dirty="0"/>
          </a:p>
        </p:txBody>
      </p:sp>
      <p:sp>
        <p:nvSpPr>
          <p:cNvPr id="25" name="Shape 23"/>
          <p:cNvSpPr/>
          <p:nvPr/>
        </p:nvSpPr>
        <p:spPr>
          <a:xfrm>
            <a:off x="8246059" y="2798064"/>
            <a:ext cx="1514246" cy="512064"/>
          </a:xfrm>
          <a:prstGeom prst="roundRect">
            <a:avLst>
              <a:gd name="adj" fmla="val 14286"/>
            </a:avLst>
          </a:prstGeom>
          <a:solidFill>
            <a:srgbClr val="EAF0FC"/>
          </a:solidFill>
          <a:ln w="12700">
            <a:solidFill>
              <a:srgbClr val="D8DEEC"/>
            </a:solidFill>
            <a:prstDash val="solid"/>
          </a:ln>
        </p:spPr>
      </p:sp>
      <p:sp>
        <p:nvSpPr>
          <p:cNvPr id="26" name="Text 24"/>
          <p:cNvSpPr txBox="1"/>
          <p:nvPr/>
        </p:nvSpPr>
        <p:spPr>
          <a:xfrm>
            <a:off x="8246059" y="2798064"/>
            <a:ext cx="1514246" cy="512064"/>
          </a:xfrm>
          <a:prstGeom prst="rect">
            <a:avLst/>
          </a:prstGeom>
          <a:noFill/>
          <a:ln/>
        </p:spPr>
        <p:txBody>
          <a:bodyPr wrap="square" lIns="0" tIns="0" rIns="0" bIns="0" rtlCol="0" anchor="ctr"/>
          <a:lstStyle/>
          <a:p>
            <a:pPr algn="ctr" indent="0" marL="0">
              <a:buNone/>
            </a:pPr>
            <a:r>
              <a:rPr lang="en-US" sz="1100" b="1" dirty="0">
                <a:solidFill>
                  <a:srgbClr val="0A1F5C"/>
                </a:solidFill>
              </a:rPr>
              <a:t>Rule engine</a:t>
            </a:r>
            <a:endParaRPr lang="en-US" sz="1100" dirty="0"/>
          </a:p>
        </p:txBody>
      </p:sp>
      <p:sp>
        <p:nvSpPr>
          <p:cNvPr id="27" name="Shape 25"/>
          <p:cNvSpPr/>
          <p:nvPr/>
        </p:nvSpPr>
        <p:spPr>
          <a:xfrm>
            <a:off x="9851746" y="2798064"/>
            <a:ext cx="1514246" cy="512064"/>
          </a:xfrm>
          <a:prstGeom prst="roundRect">
            <a:avLst>
              <a:gd name="adj" fmla="val 14286"/>
            </a:avLst>
          </a:prstGeom>
          <a:solidFill>
            <a:srgbClr val="EAF0FC"/>
          </a:solidFill>
          <a:ln w="12700">
            <a:solidFill>
              <a:srgbClr val="D8DEEC"/>
            </a:solidFill>
            <a:prstDash val="solid"/>
          </a:ln>
        </p:spPr>
      </p:sp>
      <p:sp>
        <p:nvSpPr>
          <p:cNvPr id="28" name="Text 26"/>
          <p:cNvSpPr txBox="1"/>
          <p:nvPr/>
        </p:nvSpPr>
        <p:spPr>
          <a:xfrm>
            <a:off x="9851746" y="2798064"/>
            <a:ext cx="1514246" cy="512064"/>
          </a:xfrm>
          <a:prstGeom prst="rect">
            <a:avLst/>
          </a:prstGeom>
          <a:noFill/>
          <a:ln/>
        </p:spPr>
        <p:txBody>
          <a:bodyPr wrap="square" lIns="0" tIns="0" rIns="0" bIns="0" rtlCol="0" anchor="ctr"/>
          <a:lstStyle/>
          <a:p>
            <a:pPr algn="ctr" indent="0" marL="0">
              <a:buNone/>
            </a:pPr>
            <a:r>
              <a:rPr lang="en-US" sz="1100" b="1" dirty="0">
                <a:solidFill>
                  <a:srgbClr val="0A1F5C"/>
                </a:solidFill>
              </a:rPr>
              <a:t>Dual output</a:t>
            </a:r>
            <a:endParaRPr lang="en-US" sz="1100" dirty="0"/>
          </a:p>
        </p:txBody>
      </p:sp>
      <p:sp>
        <p:nvSpPr>
          <p:cNvPr id="29" name="Shape 27"/>
          <p:cNvSpPr/>
          <p:nvPr/>
        </p:nvSpPr>
        <p:spPr>
          <a:xfrm>
            <a:off x="640080" y="3538728"/>
            <a:ext cx="10908792" cy="786384"/>
          </a:xfrm>
          <a:prstGeom prst="roundRect">
            <a:avLst>
              <a:gd name="adj" fmla="val 9302"/>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30" name="Shape 28"/>
          <p:cNvSpPr/>
          <p:nvPr/>
        </p:nvSpPr>
        <p:spPr>
          <a:xfrm>
            <a:off x="841248" y="3813048"/>
            <a:ext cx="237744" cy="237744"/>
          </a:xfrm>
          <a:prstGeom prst="ellipse">
            <a:avLst/>
          </a:prstGeom>
          <a:solidFill>
            <a:srgbClr val="34D399"/>
          </a:solidFill>
          <a:ln w="6350">
            <a:solidFill>
              <a:srgbClr val="34D399"/>
            </a:solidFill>
            <a:prstDash val="solid"/>
          </a:ln>
        </p:spPr>
      </p:sp>
      <p:sp>
        <p:nvSpPr>
          <p:cNvPr id="31" name="Text 29"/>
          <p:cNvSpPr txBox="1"/>
          <p:nvPr/>
        </p:nvSpPr>
        <p:spPr>
          <a:xfrm>
            <a:off x="1234440" y="3666744"/>
            <a:ext cx="2103120" cy="274320"/>
          </a:xfrm>
          <a:prstGeom prst="rect">
            <a:avLst/>
          </a:prstGeom>
          <a:noFill/>
          <a:ln/>
        </p:spPr>
        <p:txBody>
          <a:bodyPr wrap="square" lIns="0" tIns="0" rIns="0" bIns="0" rtlCol="0" anchor="t"/>
          <a:lstStyle/>
          <a:p>
            <a:pPr indent="0" marL="0">
              <a:buNone/>
            </a:pPr>
            <a:r>
              <a:rPr lang="en-US" sz="1100" b="1" spc="100" kern="0" dirty="0">
                <a:solidFill>
                  <a:srgbClr val="1547C8"/>
                </a:solidFill>
              </a:rPr>
              <a:t>FOUNDRY AGENTS</a:t>
            </a:r>
            <a:endParaRPr lang="en-US" sz="1100" dirty="0"/>
          </a:p>
        </p:txBody>
      </p:sp>
      <p:sp>
        <p:nvSpPr>
          <p:cNvPr id="32" name="Text 30"/>
          <p:cNvSpPr txBox="1"/>
          <p:nvPr/>
        </p:nvSpPr>
        <p:spPr>
          <a:xfrm>
            <a:off x="1234440" y="3959352"/>
            <a:ext cx="2103120" cy="274320"/>
          </a:xfrm>
          <a:prstGeom prst="rect">
            <a:avLst/>
          </a:prstGeom>
          <a:noFill/>
          <a:ln/>
        </p:spPr>
        <p:txBody>
          <a:bodyPr wrap="square" lIns="0" tIns="0" rIns="0" bIns="0" rtlCol="0" anchor="t"/>
          <a:lstStyle/>
          <a:p>
            <a:pPr indent="0" marL="0">
              <a:buNone/>
            </a:pPr>
            <a:r>
              <a:rPr lang="en-US" sz="1050" dirty="0">
                <a:solidFill>
                  <a:srgbClr val="5B6478"/>
                </a:solidFill>
              </a:rPr>
              <a:t>Six agents, language only</a:t>
            </a:r>
            <a:endParaRPr lang="en-US" sz="1050" dirty="0"/>
          </a:p>
        </p:txBody>
      </p:sp>
      <p:sp>
        <p:nvSpPr>
          <p:cNvPr id="33" name="Shape 31"/>
          <p:cNvSpPr/>
          <p:nvPr/>
        </p:nvSpPr>
        <p:spPr>
          <a:xfrm>
            <a:off x="3429000" y="3675888"/>
            <a:ext cx="1246632" cy="512064"/>
          </a:xfrm>
          <a:prstGeom prst="roundRect">
            <a:avLst>
              <a:gd name="adj" fmla="val 14286"/>
            </a:avLst>
          </a:prstGeom>
          <a:solidFill>
            <a:srgbClr val="E7F8F0"/>
          </a:solidFill>
          <a:ln w="12700">
            <a:solidFill>
              <a:srgbClr val="12A36B"/>
            </a:solidFill>
            <a:prstDash val="solid"/>
          </a:ln>
        </p:spPr>
      </p:sp>
      <p:sp>
        <p:nvSpPr>
          <p:cNvPr id="34" name="Text 32"/>
          <p:cNvSpPr txBox="1"/>
          <p:nvPr/>
        </p:nvSpPr>
        <p:spPr>
          <a:xfrm>
            <a:off x="3429000" y="3675888"/>
            <a:ext cx="1246632" cy="512064"/>
          </a:xfrm>
          <a:prstGeom prst="rect">
            <a:avLst/>
          </a:prstGeom>
          <a:noFill/>
          <a:ln/>
        </p:spPr>
        <p:txBody>
          <a:bodyPr wrap="square" lIns="0" tIns="0" rIns="0" bIns="0" rtlCol="0" anchor="ctr"/>
          <a:lstStyle/>
          <a:p>
            <a:pPr algn="ctr" indent="0" marL="0">
              <a:buNone/>
            </a:pPr>
            <a:r>
              <a:rPr lang="en-US" sz="1100" b="1" dirty="0">
                <a:solidFill>
                  <a:srgbClr val="0A1F5C"/>
                </a:solidFill>
              </a:rPr>
              <a:t>Orchestrator</a:t>
            </a:r>
            <a:endParaRPr lang="en-US" sz="1100" dirty="0"/>
          </a:p>
        </p:txBody>
      </p:sp>
      <p:sp>
        <p:nvSpPr>
          <p:cNvPr id="35" name="Shape 33"/>
          <p:cNvSpPr/>
          <p:nvPr/>
        </p:nvSpPr>
        <p:spPr>
          <a:xfrm>
            <a:off x="4767072" y="3675888"/>
            <a:ext cx="1246632" cy="512064"/>
          </a:xfrm>
          <a:prstGeom prst="roundRect">
            <a:avLst>
              <a:gd name="adj" fmla="val 14286"/>
            </a:avLst>
          </a:prstGeom>
          <a:solidFill>
            <a:srgbClr val="E7F8F0"/>
          </a:solidFill>
          <a:ln w="12700">
            <a:solidFill>
              <a:srgbClr val="12A36B"/>
            </a:solidFill>
            <a:prstDash val="solid"/>
          </a:ln>
        </p:spPr>
      </p:sp>
      <p:sp>
        <p:nvSpPr>
          <p:cNvPr id="36" name="Text 34"/>
          <p:cNvSpPr txBox="1"/>
          <p:nvPr/>
        </p:nvSpPr>
        <p:spPr>
          <a:xfrm>
            <a:off x="4767072" y="3675888"/>
            <a:ext cx="1246632" cy="512064"/>
          </a:xfrm>
          <a:prstGeom prst="rect">
            <a:avLst/>
          </a:prstGeom>
          <a:noFill/>
          <a:ln/>
        </p:spPr>
        <p:txBody>
          <a:bodyPr wrap="square" lIns="0" tIns="0" rIns="0" bIns="0" rtlCol="0" anchor="ctr"/>
          <a:lstStyle/>
          <a:p>
            <a:pPr algn="ctr" indent="0" marL="0">
              <a:buNone/>
            </a:pPr>
            <a:r>
              <a:rPr lang="en-US" sz="1100" b="1" dirty="0">
                <a:solidFill>
                  <a:srgbClr val="0A1F5C"/>
                </a:solidFill>
              </a:rPr>
              <a:t>Reading</a:t>
            </a:r>
            <a:endParaRPr lang="en-US" sz="1100" dirty="0"/>
          </a:p>
        </p:txBody>
      </p:sp>
      <p:sp>
        <p:nvSpPr>
          <p:cNvPr id="37" name="Shape 35"/>
          <p:cNvSpPr/>
          <p:nvPr/>
        </p:nvSpPr>
        <p:spPr>
          <a:xfrm>
            <a:off x="6105144" y="3675888"/>
            <a:ext cx="1246632" cy="512064"/>
          </a:xfrm>
          <a:prstGeom prst="roundRect">
            <a:avLst>
              <a:gd name="adj" fmla="val 14286"/>
            </a:avLst>
          </a:prstGeom>
          <a:solidFill>
            <a:srgbClr val="E7F8F0"/>
          </a:solidFill>
          <a:ln w="12700">
            <a:solidFill>
              <a:srgbClr val="12A36B"/>
            </a:solidFill>
            <a:prstDash val="solid"/>
          </a:ln>
        </p:spPr>
      </p:sp>
      <p:sp>
        <p:nvSpPr>
          <p:cNvPr id="38" name="Text 36"/>
          <p:cNvSpPr txBox="1"/>
          <p:nvPr/>
        </p:nvSpPr>
        <p:spPr>
          <a:xfrm>
            <a:off x="6105144" y="3675888"/>
            <a:ext cx="1246632" cy="512064"/>
          </a:xfrm>
          <a:prstGeom prst="rect">
            <a:avLst/>
          </a:prstGeom>
          <a:noFill/>
          <a:ln/>
        </p:spPr>
        <p:txBody>
          <a:bodyPr wrap="square" lIns="0" tIns="0" rIns="0" bIns="0" rtlCol="0" anchor="ctr"/>
          <a:lstStyle/>
          <a:p>
            <a:pPr algn="ctr" indent="0" marL="0">
              <a:buNone/>
            </a:pPr>
            <a:r>
              <a:rPr lang="en-US" sz="1100" b="1" dirty="0">
                <a:solidFill>
                  <a:srgbClr val="0A1F5C"/>
                </a:solidFill>
              </a:rPr>
              <a:t>Care Plan</a:t>
            </a:r>
            <a:endParaRPr lang="en-US" sz="1100" dirty="0"/>
          </a:p>
        </p:txBody>
      </p:sp>
      <p:sp>
        <p:nvSpPr>
          <p:cNvPr id="39" name="Shape 37"/>
          <p:cNvSpPr/>
          <p:nvPr/>
        </p:nvSpPr>
        <p:spPr>
          <a:xfrm>
            <a:off x="7443216" y="3675888"/>
            <a:ext cx="1246632" cy="512064"/>
          </a:xfrm>
          <a:prstGeom prst="roundRect">
            <a:avLst>
              <a:gd name="adj" fmla="val 14286"/>
            </a:avLst>
          </a:prstGeom>
          <a:solidFill>
            <a:srgbClr val="E7F8F0"/>
          </a:solidFill>
          <a:ln w="12700">
            <a:solidFill>
              <a:srgbClr val="12A36B"/>
            </a:solidFill>
            <a:prstDash val="solid"/>
          </a:ln>
        </p:spPr>
      </p:sp>
      <p:sp>
        <p:nvSpPr>
          <p:cNvPr id="40" name="Text 38"/>
          <p:cNvSpPr txBox="1"/>
          <p:nvPr/>
        </p:nvSpPr>
        <p:spPr>
          <a:xfrm>
            <a:off x="7443216" y="3675888"/>
            <a:ext cx="1246632" cy="512064"/>
          </a:xfrm>
          <a:prstGeom prst="rect">
            <a:avLst/>
          </a:prstGeom>
          <a:noFill/>
          <a:ln/>
        </p:spPr>
        <p:txBody>
          <a:bodyPr wrap="square" lIns="0" tIns="0" rIns="0" bIns="0" rtlCol="0" anchor="ctr"/>
          <a:lstStyle/>
          <a:p>
            <a:pPr algn="ctr" indent="0" marL="0">
              <a:buNone/>
            </a:pPr>
            <a:r>
              <a:rPr lang="en-US" sz="1100" b="1" dirty="0">
                <a:solidFill>
                  <a:srgbClr val="0A1F5C"/>
                </a:solidFill>
              </a:rPr>
              <a:t>Education</a:t>
            </a:r>
            <a:endParaRPr lang="en-US" sz="1100" dirty="0"/>
          </a:p>
        </p:txBody>
      </p:sp>
      <p:sp>
        <p:nvSpPr>
          <p:cNvPr id="41" name="Shape 39"/>
          <p:cNvSpPr/>
          <p:nvPr/>
        </p:nvSpPr>
        <p:spPr>
          <a:xfrm>
            <a:off x="8781288" y="3675888"/>
            <a:ext cx="1246632" cy="512064"/>
          </a:xfrm>
          <a:prstGeom prst="roundRect">
            <a:avLst>
              <a:gd name="adj" fmla="val 14286"/>
            </a:avLst>
          </a:prstGeom>
          <a:solidFill>
            <a:srgbClr val="E7F8F0"/>
          </a:solidFill>
          <a:ln w="12700">
            <a:solidFill>
              <a:srgbClr val="12A36B"/>
            </a:solidFill>
            <a:prstDash val="solid"/>
          </a:ln>
        </p:spPr>
      </p:sp>
      <p:sp>
        <p:nvSpPr>
          <p:cNvPr id="42" name="Text 40"/>
          <p:cNvSpPr txBox="1"/>
          <p:nvPr/>
        </p:nvSpPr>
        <p:spPr>
          <a:xfrm>
            <a:off x="8781288" y="3675888"/>
            <a:ext cx="1246632" cy="512064"/>
          </a:xfrm>
          <a:prstGeom prst="rect">
            <a:avLst/>
          </a:prstGeom>
          <a:noFill/>
          <a:ln/>
        </p:spPr>
        <p:txBody>
          <a:bodyPr wrap="square" lIns="0" tIns="0" rIns="0" bIns="0" rtlCol="0" anchor="ctr"/>
          <a:lstStyle/>
          <a:p>
            <a:pPr algn="ctr" indent="0" marL="0">
              <a:buNone/>
            </a:pPr>
            <a:r>
              <a:rPr lang="en-US" sz="1100" b="1" dirty="0">
                <a:solidFill>
                  <a:srgbClr val="0A1F5C"/>
                </a:solidFill>
              </a:rPr>
              <a:t>Engagement</a:t>
            </a:r>
            <a:endParaRPr lang="en-US" sz="1100" dirty="0"/>
          </a:p>
        </p:txBody>
      </p:sp>
      <p:sp>
        <p:nvSpPr>
          <p:cNvPr id="43" name="Shape 41"/>
          <p:cNvSpPr/>
          <p:nvPr/>
        </p:nvSpPr>
        <p:spPr>
          <a:xfrm>
            <a:off x="10119360" y="3675888"/>
            <a:ext cx="1246632" cy="512064"/>
          </a:xfrm>
          <a:prstGeom prst="roundRect">
            <a:avLst>
              <a:gd name="adj" fmla="val 14286"/>
            </a:avLst>
          </a:prstGeom>
          <a:solidFill>
            <a:srgbClr val="E7F8F0"/>
          </a:solidFill>
          <a:ln w="12700">
            <a:solidFill>
              <a:srgbClr val="12A36B"/>
            </a:solidFill>
            <a:prstDash val="solid"/>
          </a:ln>
        </p:spPr>
      </p:sp>
      <p:sp>
        <p:nvSpPr>
          <p:cNvPr id="44" name="Text 42"/>
          <p:cNvSpPr txBox="1"/>
          <p:nvPr/>
        </p:nvSpPr>
        <p:spPr>
          <a:xfrm>
            <a:off x="10119360" y="3675888"/>
            <a:ext cx="1246632" cy="512064"/>
          </a:xfrm>
          <a:prstGeom prst="rect">
            <a:avLst/>
          </a:prstGeom>
          <a:noFill/>
          <a:ln/>
        </p:spPr>
        <p:txBody>
          <a:bodyPr wrap="square" lIns="0" tIns="0" rIns="0" bIns="0" rtlCol="0" anchor="ctr"/>
          <a:lstStyle/>
          <a:p>
            <a:pPr algn="ctr" indent="0" marL="0">
              <a:buNone/>
            </a:pPr>
            <a:r>
              <a:rPr lang="en-US" sz="1100" b="1" dirty="0">
                <a:solidFill>
                  <a:srgbClr val="0A1F5C"/>
                </a:solidFill>
              </a:rPr>
              <a:t>Escalation</a:t>
            </a:r>
            <a:endParaRPr lang="en-US" sz="1100" dirty="0"/>
          </a:p>
        </p:txBody>
      </p:sp>
      <p:sp>
        <p:nvSpPr>
          <p:cNvPr id="45" name="Shape 43"/>
          <p:cNvSpPr/>
          <p:nvPr/>
        </p:nvSpPr>
        <p:spPr>
          <a:xfrm>
            <a:off x="640080" y="4416552"/>
            <a:ext cx="10908792" cy="786384"/>
          </a:xfrm>
          <a:prstGeom prst="roundRect">
            <a:avLst>
              <a:gd name="adj" fmla="val 9302"/>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46" name="Shape 44"/>
          <p:cNvSpPr/>
          <p:nvPr/>
        </p:nvSpPr>
        <p:spPr>
          <a:xfrm>
            <a:off x="841248" y="4690872"/>
            <a:ext cx="237744" cy="237744"/>
          </a:xfrm>
          <a:prstGeom prst="ellipse">
            <a:avLst/>
          </a:prstGeom>
          <a:solidFill>
            <a:srgbClr val="F5A524"/>
          </a:solidFill>
          <a:ln w="6350">
            <a:solidFill>
              <a:srgbClr val="F5A524"/>
            </a:solidFill>
            <a:prstDash val="solid"/>
          </a:ln>
        </p:spPr>
      </p:sp>
      <p:sp>
        <p:nvSpPr>
          <p:cNvPr id="47" name="Text 45"/>
          <p:cNvSpPr txBox="1"/>
          <p:nvPr/>
        </p:nvSpPr>
        <p:spPr>
          <a:xfrm>
            <a:off x="1234440" y="4544568"/>
            <a:ext cx="2103120" cy="274320"/>
          </a:xfrm>
          <a:prstGeom prst="rect">
            <a:avLst/>
          </a:prstGeom>
          <a:noFill/>
          <a:ln/>
        </p:spPr>
        <p:txBody>
          <a:bodyPr wrap="square" lIns="0" tIns="0" rIns="0" bIns="0" rtlCol="0" anchor="t"/>
          <a:lstStyle/>
          <a:p>
            <a:pPr indent="0" marL="0">
              <a:buNone/>
            </a:pPr>
            <a:r>
              <a:rPr lang="en-US" sz="1100" b="1" spc="100" kern="0" dirty="0">
                <a:solidFill>
                  <a:srgbClr val="1547C8"/>
                </a:solidFill>
              </a:rPr>
              <a:t>KNOWLEDGE AND DATA</a:t>
            </a:r>
            <a:endParaRPr lang="en-US" sz="1100" dirty="0"/>
          </a:p>
        </p:txBody>
      </p:sp>
      <p:sp>
        <p:nvSpPr>
          <p:cNvPr id="48" name="Text 46"/>
          <p:cNvSpPr txBox="1"/>
          <p:nvPr/>
        </p:nvSpPr>
        <p:spPr>
          <a:xfrm>
            <a:off x="1234440" y="4837176"/>
            <a:ext cx="2103120" cy="274320"/>
          </a:xfrm>
          <a:prstGeom prst="rect">
            <a:avLst/>
          </a:prstGeom>
          <a:noFill/>
          <a:ln/>
        </p:spPr>
        <p:txBody>
          <a:bodyPr wrap="square" lIns="0" tIns="0" rIns="0" bIns="0" rtlCol="0" anchor="t"/>
          <a:lstStyle/>
          <a:p>
            <a:pPr indent="0" marL="0">
              <a:buNone/>
            </a:pPr>
            <a:r>
              <a:rPr lang="en-US" sz="1050" dirty="0">
                <a:solidFill>
                  <a:srgbClr val="5B6478"/>
                </a:solidFill>
              </a:rPr>
              <a:t>Approved content only</a:t>
            </a:r>
            <a:endParaRPr lang="en-US" sz="1050" dirty="0"/>
          </a:p>
        </p:txBody>
      </p:sp>
      <p:sp>
        <p:nvSpPr>
          <p:cNvPr id="49" name="Shape 47"/>
          <p:cNvSpPr/>
          <p:nvPr/>
        </p:nvSpPr>
        <p:spPr>
          <a:xfrm>
            <a:off x="3429000" y="4553712"/>
            <a:ext cx="2584704" cy="512064"/>
          </a:xfrm>
          <a:prstGeom prst="roundRect">
            <a:avLst>
              <a:gd name="adj" fmla="val 14286"/>
            </a:avLst>
          </a:prstGeom>
          <a:solidFill>
            <a:srgbClr val="EAF0FC"/>
          </a:solidFill>
          <a:ln w="12700">
            <a:solidFill>
              <a:srgbClr val="D8DEEC"/>
            </a:solidFill>
            <a:prstDash val="solid"/>
          </a:ln>
        </p:spPr>
      </p:sp>
      <p:sp>
        <p:nvSpPr>
          <p:cNvPr id="50" name="Text 48"/>
          <p:cNvSpPr txBox="1"/>
          <p:nvPr/>
        </p:nvSpPr>
        <p:spPr>
          <a:xfrm>
            <a:off x="3429000" y="4553712"/>
            <a:ext cx="2584704" cy="512064"/>
          </a:xfrm>
          <a:prstGeom prst="rect">
            <a:avLst/>
          </a:prstGeom>
          <a:noFill/>
          <a:ln/>
        </p:spPr>
        <p:txBody>
          <a:bodyPr wrap="square" lIns="0" tIns="0" rIns="0" bIns="0" rtlCol="0" anchor="ctr"/>
          <a:lstStyle/>
          <a:p>
            <a:pPr algn="ctr" indent="0" marL="0">
              <a:buNone/>
            </a:pPr>
            <a:r>
              <a:rPr lang="en-US" sz="1100" b="1" dirty="0">
                <a:solidFill>
                  <a:srgbClr val="0A1F5C"/>
                </a:solidFill>
              </a:rPr>
              <a:t>Azure Blob Storage</a:t>
            </a:r>
            <a:endParaRPr lang="en-US" sz="1100" dirty="0"/>
          </a:p>
        </p:txBody>
      </p:sp>
      <p:sp>
        <p:nvSpPr>
          <p:cNvPr id="51" name="Shape 49"/>
          <p:cNvSpPr/>
          <p:nvPr/>
        </p:nvSpPr>
        <p:spPr>
          <a:xfrm>
            <a:off x="6105144" y="4553712"/>
            <a:ext cx="2584704" cy="512064"/>
          </a:xfrm>
          <a:prstGeom prst="roundRect">
            <a:avLst>
              <a:gd name="adj" fmla="val 14286"/>
            </a:avLst>
          </a:prstGeom>
          <a:solidFill>
            <a:srgbClr val="EAF0FC"/>
          </a:solidFill>
          <a:ln w="12700">
            <a:solidFill>
              <a:srgbClr val="D8DEEC"/>
            </a:solidFill>
            <a:prstDash val="solid"/>
          </a:ln>
        </p:spPr>
      </p:sp>
      <p:sp>
        <p:nvSpPr>
          <p:cNvPr id="52" name="Text 50"/>
          <p:cNvSpPr txBox="1"/>
          <p:nvPr/>
        </p:nvSpPr>
        <p:spPr>
          <a:xfrm>
            <a:off x="6105144" y="4553712"/>
            <a:ext cx="2584704" cy="512064"/>
          </a:xfrm>
          <a:prstGeom prst="rect">
            <a:avLst/>
          </a:prstGeom>
          <a:noFill/>
          <a:ln/>
        </p:spPr>
        <p:txBody>
          <a:bodyPr wrap="square" lIns="0" tIns="0" rIns="0" bIns="0" rtlCol="0" anchor="ctr"/>
          <a:lstStyle/>
          <a:p>
            <a:pPr algn="ctr" indent="0" marL="0">
              <a:buNone/>
            </a:pPr>
            <a:r>
              <a:rPr lang="en-US" sz="1100" b="1" dirty="0">
                <a:solidFill>
                  <a:srgbClr val="0A1F5C"/>
                </a:solidFill>
              </a:rPr>
              <a:t>AI Search or Foundry knowledge base</a:t>
            </a:r>
            <a:endParaRPr lang="en-US" sz="1100" dirty="0"/>
          </a:p>
        </p:txBody>
      </p:sp>
      <p:sp>
        <p:nvSpPr>
          <p:cNvPr id="53" name="Shape 51"/>
          <p:cNvSpPr/>
          <p:nvPr/>
        </p:nvSpPr>
        <p:spPr>
          <a:xfrm>
            <a:off x="8781288" y="4553712"/>
            <a:ext cx="2584704" cy="512064"/>
          </a:xfrm>
          <a:prstGeom prst="roundRect">
            <a:avLst>
              <a:gd name="adj" fmla="val 14286"/>
            </a:avLst>
          </a:prstGeom>
          <a:solidFill>
            <a:srgbClr val="EAF0FC"/>
          </a:solidFill>
          <a:ln w="12700">
            <a:solidFill>
              <a:srgbClr val="D8DEEC"/>
            </a:solidFill>
            <a:prstDash val="solid"/>
          </a:ln>
        </p:spPr>
      </p:sp>
      <p:sp>
        <p:nvSpPr>
          <p:cNvPr id="54" name="Text 52"/>
          <p:cNvSpPr txBox="1"/>
          <p:nvPr/>
        </p:nvSpPr>
        <p:spPr>
          <a:xfrm>
            <a:off x="8781288" y="4553712"/>
            <a:ext cx="2584704" cy="512064"/>
          </a:xfrm>
          <a:prstGeom prst="rect">
            <a:avLst/>
          </a:prstGeom>
          <a:noFill/>
          <a:ln/>
        </p:spPr>
        <p:txBody>
          <a:bodyPr wrap="square" lIns="0" tIns="0" rIns="0" bIns="0" rtlCol="0" anchor="ctr"/>
          <a:lstStyle/>
          <a:p>
            <a:pPr algn="ctr" indent="0" marL="0">
              <a:buNone/>
            </a:pPr>
            <a:r>
              <a:rPr lang="en-US" sz="1100" b="1" dirty="0">
                <a:solidFill>
                  <a:srgbClr val="0A1F5C"/>
                </a:solidFill>
              </a:rPr>
              <a:t>Governed data tables</a:t>
            </a:r>
            <a:endParaRPr lang="en-US" sz="1100" dirty="0"/>
          </a:p>
        </p:txBody>
      </p:sp>
      <p:sp>
        <p:nvSpPr>
          <p:cNvPr id="55" name="Shape 53"/>
          <p:cNvSpPr/>
          <p:nvPr/>
        </p:nvSpPr>
        <p:spPr>
          <a:xfrm>
            <a:off x="640080" y="5294376"/>
            <a:ext cx="10908792" cy="786384"/>
          </a:xfrm>
          <a:prstGeom prst="roundRect">
            <a:avLst>
              <a:gd name="adj" fmla="val 9302"/>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56" name="Shape 54"/>
          <p:cNvSpPr/>
          <p:nvPr/>
        </p:nvSpPr>
        <p:spPr>
          <a:xfrm>
            <a:off x="841248" y="5568696"/>
            <a:ext cx="237744" cy="237744"/>
          </a:xfrm>
          <a:prstGeom prst="ellipse">
            <a:avLst/>
          </a:prstGeom>
          <a:solidFill>
            <a:srgbClr val="B7A8FF"/>
          </a:solidFill>
          <a:ln w="6350">
            <a:solidFill>
              <a:srgbClr val="B7A8FF"/>
            </a:solidFill>
            <a:prstDash val="solid"/>
          </a:ln>
        </p:spPr>
      </p:sp>
      <p:sp>
        <p:nvSpPr>
          <p:cNvPr id="57" name="Text 55"/>
          <p:cNvSpPr txBox="1"/>
          <p:nvPr/>
        </p:nvSpPr>
        <p:spPr>
          <a:xfrm>
            <a:off x="1234440" y="5422392"/>
            <a:ext cx="2103120" cy="274320"/>
          </a:xfrm>
          <a:prstGeom prst="rect">
            <a:avLst/>
          </a:prstGeom>
          <a:noFill/>
          <a:ln/>
        </p:spPr>
        <p:txBody>
          <a:bodyPr wrap="square" lIns="0" tIns="0" rIns="0" bIns="0" rtlCol="0" anchor="t"/>
          <a:lstStyle/>
          <a:p>
            <a:pPr indent="0" marL="0">
              <a:buNone/>
            </a:pPr>
            <a:r>
              <a:rPr lang="en-US" sz="1100" b="1" spc="100" kern="0" dirty="0">
                <a:solidFill>
                  <a:srgbClr val="1547C8"/>
                </a:solidFill>
              </a:rPr>
              <a:t>GOVERNANCE</a:t>
            </a:r>
            <a:endParaRPr lang="en-US" sz="1100" dirty="0"/>
          </a:p>
        </p:txBody>
      </p:sp>
      <p:sp>
        <p:nvSpPr>
          <p:cNvPr id="58" name="Text 56"/>
          <p:cNvSpPr txBox="1"/>
          <p:nvPr/>
        </p:nvSpPr>
        <p:spPr>
          <a:xfrm>
            <a:off x="1234440" y="5715000"/>
            <a:ext cx="2103120" cy="274320"/>
          </a:xfrm>
          <a:prstGeom prst="rect">
            <a:avLst/>
          </a:prstGeom>
          <a:noFill/>
          <a:ln/>
        </p:spPr>
        <p:txBody>
          <a:bodyPr wrap="square" lIns="0" tIns="0" rIns="0" bIns="0" rtlCol="0" anchor="t"/>
          <a:lstStyle/>
          <a:p>
            <a:pPr indent="0" marL="0">
              <a:buNone/>
            </a:pPr>
            <a:r>
              <a:rPr lang="en-US" sz="1050" dirty="0">
                <a:solidFill>
                  <a:srgbClr val="5B6478"/>
                </a:solidFill>
              </a:rPr>
              <a:t>Always on</a:t>
            </a:r>
            <a:endParaRPr lang="en-US" sz="1050" dirty="0"/>
          </a:p>
        </p:txBody>
      </p:sp>
      <p:sp>
        <p:nvSpPr>
          <p:cNvPr id="59" name="Shape 57"/>
          <p:cNvSpPr/>
          <p:nvPr/>
        </p:nvSpPr>
        <p:spPr>
          <a:xfrm>
            <a:off x="3429000" y="5431536"/>
            <a:ext cx="1915668" cy="512064"/>
          </a:xfrm>
          <a:prstGeom prst="roundRect">
            <a:avLst>
              <a:gd name="adj" fmla="val 14286"/>
            </a:avLst>
          </a:prstGeom>
          <a:solidFill>
            <a:srgbClr val="EAF0FC"/>
          </a:solidFill>
          <a:ln w="12700">
            <a:solidFill>
              <a:srgbClr val="D8DEEC"/>
            </a:solidFill>
            <a:prstDash val="solid"/>
          </a:ln>
        </p:spPr>
      </p:sp>
      <p:sp>
        <p:nvSpPr>
          <p:cNvPr id="60" name="Text 58"/>
          <p:cNvSpPr txBox="1"/>
          <p:nvPr/>
        </p:nvSpPr>
        <p:spPr>
          <a:xfrm>
            <a:off x="3429000" y="5431536"/>
            <a:ext cx="1915668" cy="512064"/>
          </a:xfrm>
          <a:prstGeom prst="rect">
            <a:avLst/>
          </a:prstGeom>
          <a:noFill/>
          <a:ln/>
        </p:spPr>
        <p:txBody>
          <a:bodyPr wrap="square" lIns="0" tIns="0" rIns="0" bIns="0" rtlCol="0" anchor="ctr"/>
          <a:lstStyle/>
          <a:p>
            <a:pPr algn="ctr" indent="0" marL="0">
              <a:buNone/>
            </a:pPr>
            <a:r>
              <a:rPr lang="en-US" sz="1100" b="1" dirty="0">
                <a:solidFill>
                  <a:srgbClr val="0A1F5C"/>
                </a:solidFill>
              </a:rPr>
              <a:t>Output guard</a:t>
            </a:r>
            <a:endParaRPr lang="en-US" sz="1100" dirty="0"/>
          </a:p>
        </p:txBody>
      </p:sp>
      <p:sp>
        <p:nvSpPr>
          <p:cNvPr id="61" name="Shape 59"/>
          <p:cNvSpPr/>
          <p:nvPr/>
        </p:nvSpPr>
        <p:spPr>
          <a:xfrm>
            <a:off x="5436108" y="5431536"/>
            <a:ext cx="1915668" cy="512064"/>
          </a:xfrm>
          <a:prstGeom prst="roundRect">
            <a:avLst>
              <a:gd name="adj" fmla="val 14286"/>
            </a:avLst>
          </a:prstGeom>
          <a:solidFill>
            <a:srgbClr val="EAF0FC"/>
          </a:solidFill>
          <a:ln w="12700">
            <a:solidFill>
              <a:srgbClr val="D8DEEC"/>
            </a:solidFill>
            <a:prstDash val="solid"/>
          </a:ln>
        </p:spPr>
      </p:sp>
      <p:sp>
        <p:nvSpPr>
          <p:cNvPr id="62" name="Text 60"/>
          <p:cNvSpPr txBox="1"/>
          <p:nvPr/>
        </p:nvSpPr>
        <p:spPr>
          <a:xfrm>
            <a:off x="5436108" y="5431536"/>
            <a:ext cx="1915668" cy="512064"/>
          </a:xfrm>
          <a:prstGeom prst="rect">
            <a:avLst/>
          </a:prstGeom>
          <a:noFill/>
          <a:ln/>
        </p:spPr>
        <p:txBody>
          <a:bodyPr wrap="square" lIns="0" tIns="0" rIns="0" bIns="0" rtlCol="0" anchor="ctr"/>
          <a:lstStyle/>
          <a:p>
            <a:pPr algn="ctr" indent="0" marL="0">
              <a:buNone/>
            </a:pPr>
            <a:r>
              <a:rPr lang="en-US" sz="1100" b="1" dirty="0">
                <a:solidFill>
                  <a:srgbClr val="0A1F5C"/>
                </a:solidFill>
              </a:rPr>
              <a:t>Citation validation</a:t>
            </a:r>
            <a:endParaRPr lang="en-US" sz="1100" dirty="0"/>
          </a:p>
        </p:txBody>
      </p:sp>
      <p:sp>
        <p:nvSpPr>
          <p:cNvPr id="63" name="Shape 61"/>
          <p:cNvSpPr/>
          <p:nvPr/>
        </p:nvSpPr>
        <p:spPr>
          <a:xfrm>
            <a:off x="7443216" y="5431536"/>
            <a:ext cx="1915668" cy="512064"/>
          </a:xfrm>
          <a:prstGeom prst="roundRect">
            <a:avLst>
              <a:gd name="adj" fmla="val 14286"/>
            </a:avLst>
          </a:prstGeom>
          <a:solidFill>
            <a:srgbClr val="EAF0FC"/>
          </a:solidFill>
          <a:ln w="12700">
            <a:solidFill>
              <a:srgbClr val="D8DEEC"/>
            </a:solidFill>
            <a:prstDash val="solid"/>
          </a:ln>
        </p:spPr>
      </p:sp>
      <p:sp>
        <p:nvSpPr>
          <p:cNvPr id="64" name="Text 62"/>
          <p:cNvSpPr txBox="1"/>
          <p:nvPr/>
        </p:nvSpPr>
        <p:spPr>
          <a:xfrm>
            <a:off x="7443216" y="5431536"/>
            <a:ext cx="1915668" cy="512064"/>
          </a:xfrm>
          <a:prstGeom prst="rect">
            <a:avLst/>
          </a:prstGeom>
          <a:noFill/>
          <a:ln/>
        </p:spPr>
        <p:txBody>
          <a:bodyPr wrap="square" lIns="0" tIns="0" rIns="0" bIns="0" rtlCol="0" anchor="ctr"/>
          <a:lstStyle/>
          <a:p>
            <a:pPr algn="ctr" indent="0" marL="0">
              <a:buNone/>
            </a:pPr>
            <a:r>
              <a:rPr lang="en-US" sz="1100" b="1" dirty="0">
                <a:solidFill>
                  <a:srgbClr val="0A1F5C"/>
                </a:solidFill>
              </a:rPr>
              <a:t>Masked audit log</a:t>
            </a:r>
            <a:endParaRPr lang="en-US" sz="1100" dirty="0"/>
          </a:p>
        </p:txBody>
      </p:sp>
      <p:sp>
        <p:nvSpPr>
          <p:cNvPr id="65" name="Shape 63"/>
          <p:cNvSpPr/>
          <p:nvPr/>
        </p:nvSpPr>
        <p:spPr>
          <a:xfrm>
            <a:off x="9450324" y="5431536"/>
            <a:ext cx="1915668" cy="512064"/>
          </a:xfrm>
          <a:prstGeom prst="roundRect">
            <a:avLst>
              <a:gd name="adj" fmla="val 14286"/>
            </a:avLst>
          </a:prstGeom>
          <a:solidFill>
            <a:srgbClr val="EAF0FC"/>
          </a:solidFill>
          <a:ln w="12700">
            <a:solidFill>
              <a:srgbClr val="D8DEEC"/>
            </a:solidFill>
            <a:prstDash val="solid"/>
          </a:ln>
        </p:spPr>
      </p:sp>
      <p:sp>
        <p:nvSpPr>
          <p:cNvPr id="66" name="Text 64"/>
          <p:cNvSpPr txBox="1"/>
          <p:nvPr/>
        </p:nvSpPr>
        <p:spPr>
          <a:xfrm>
            <a:off x="9450324" y="5431536"/>
            <a:ext cx="1915668" cy="512064"/>
          </a:xfrm>
          <a:prstGeom prst="rect">
            <a:avLst/>
          </a:prstGeom>
          <a:noFill/>
          <a:ln/>
        </p:spPr>
        <p:txBody>
          <a:bodyPr wrap="square" lIns="0" tIns="0" rIns="0" bIns="0" rtlCol="0" anchor="ctr"/>
          <a:lstStyle/>
          <a:p>
            <a:pPr algn="ctr" indent="0" marL="0">
              <a:buNone/>
            </a:pPr>
            <a:r>
              <a:rPr lang="en-US" sz="1100" b="1" dirty="0">
                <a:solidFill>
                  <a:srgbClr val="0A1F5C"/>
                </a:solidFill>
              </a:rPr>
              <a:t>Staff review queue</a:t>
            </a:r>
            <a:endParaRPr lang="en-US" sz="11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body" hasCustomPrompt="1"/>
          </p:nvPr>
        </p:nvSpPr>
        <p:spPr>
          <a:xfrm>
            <a:off x="640080" y="411480"/>
            <a:ext cx="7315200" cy="274320"/>
          </a:xfrm>
          <a:prstGeom prst="rect">
            <a:avLst/>
          </a:prstGeom>
          <a:noFill/>
          <a:ln/>
        </p:spPr>
        <p:txBody>
          <a:bodyPr wrap="square" lIns="0" tIns="0" rIns="0" bIns="0" rtlCol="0" anchor="t"/>
          <a:lstStyle/>
          <a:p>
            <a:pPr indent="0" marL="0">
              <a:buNone/>
            </a:pPr>
            <a:r>
              <a:rPr lang="en-US" sz="1200" b="1" spc="400" kern="0" dirty="0">
                <a:solidFill>
                  <a:srgbClr val="3CC3F0"/>
                </a:solidFill>
              </a:rPr>
              <a:t>AGENT DESIGN</a:t>
            </a:r>
            <a:endParaRPr lang="en-US" sz="1200" dirty="0"/>
          </a:p>
        </p:txBody>
      </p:sp>
      <p:sp>
        <p:nvSpPr>
          <p:cNvPr id="3" name="Text 2"/>
          <p:cNvSpPr/>
          <p:nvPr>
            <p:ph idx="104" type="title" hasCustomPrompt="1"/>
          </p:nvPr>
        </p:nvSpPr>
        <p:spPr>
          <a:xfrm>
            <a:off x="640080" y="777240"/>
            <a:ext cx="10908792" cy="731520"/>
          </a:xfrm>
          <a:prstGeom prst="rect">
            <a:avLst/>
          </a:prstGeom>
          <a:noFill/>
          <a:ln/>
        </p:spPr>
        <p:txBody>
          <a:bodyPr wrap="square" lIns="0" tIns="0" rIns="0" bIns="0" rtlCol="0" anchor="t"/>
          <a:lstStyle/>
          <a:p>
            <a:pPr algn="l" indent="0" marL="0">
              <a:buNone/>
            </a:pPr>
            <a:r>
              <a:rPr lang="en-US" sz="3000" b="1" dirty="0">
                <a:solidFill>
                  <a:srgbClr val="FFFFFF"/>
                </a:solidFill>
              </a:rPr>
              <a:t>Six specialised agents with narrowly scoped access</a:t>
            </a:r>
            <a:endParaRPr lang="en-US" sz="3000" dirty="0"/>
          </a:p>
        </p:txBody>
      </p:sp>
      <p:sp>
        <p:nvSpPr>
          <p:cNvPr id="4" name="Text 2"/>
          <p:cNvSpPr txBox="1"/>
          <p:nvPr/>
        </p:nvSpPr>
        <p:spPr>
          <a:xfrm>
            <a:off x="7863840" y="411480"/>
            <a:ext cx="3685032" cy="274320"/>
          </a:xfrm>
          <a:prstGeom prst="rect">
            <a:avLst/>
          </a:prstGeom>
          <a:noFill/>
          <a:ln/>
        </p:spPr>
        <p:txBody>
          <a:bodyPr wrap="square" lIns="0" tIns="0" rIns="0" bIns="0" rtlCol="0" anchor="t"/>
          <a:lstStyle/>
          <a:p>
            <a:pPr algn="r" indent="0" marL="0">
              <a:buNone/>
            </a:pPr>
            <a:r>
              <a:rPr lang="en-US" sz="1000" b="1" spc="300" kern="0" dirty="0">
                <a:solidFill>
                  <a:srgbClr val="A9BBEA"/>
                </a:solidFill>
              </a:rPr>
              <a:t>SOLUTION</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2377440"/>
                <a:gridCol w="5120640"/>
                <a:gridCol w="3410712"/>
              </a:tblGrid>
              <a:tr h="457200">
                <a:tc>
                  <a:txBody>
                    <a:bodyPr/>
                    <a:lstStyle/>
                    <a:p>
                      <a:pPr indent="0" marL="0">
                        <a:buNone/>
                      </a:pPr>
                      <a:r>
                        <a:rPr lang="en-US" sz="1200" b="1" dirty="0">
                          <a:solidFill>
                            <a:srgbClr val="FFFFFF"/>
                          </a:solidFill>
                          <a:latin typeface="Arial" pitchFamily="34" charset="0"/>
                          <a:ea typeface="Arial" pitchFamily="34" charset="-122"/>
                          <a:cs typeface="Arial" pitchFamily="34" charset="-120"/>
                        </a:rPr>
                        <a:t>Agent</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1547C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Responsibility</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1547C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Data access</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1547C8"/>
                    </a:solidFill>
                  </a:tcPr>
                </a:tc>
              </a:tr>
              <a:tr h="566928">
                <a:tc>
                  <a:txBody>
                    <a:bodyPr/>
                    <a:lstStyle/>
                    <a:p>
                      <a:pPr indent="0" marL="0">
                        <a:buNone/>
                      </a:pPr>
                      <a:r>
                        <a:rPr lang="en-US" sz="1200" b="1" dirty="0">
                          <a:solidFill>
                            <a:srgbClr val="0A1F5C"/>
                          </a:solidFill>
                          <a:latin typeface="Arial" pitchFamily="34" charset="0"/>
                          <a:ea typeface="Arial" pitchFamily="34" charset="-122"/>
                          <a:cs typeface="Arial" pitchFamily="34" charset="-120"/>
                        </a:rPr>
                        <a:t>Care Orchestrator</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Classifies each request into a category</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indent="0" marL="0">
                        <a:buNone/>
                      </a:pPr>
                      <a:r>
                        <a:rPr lang="en-US" sz="1200" dirty="0">
                          <a:solidFill>
                            <a:srgbClr val="5B6478"/>
                          </a:solidFill>
                          <a:latin typeface="Arial" pitchFamily="34" charset="0"/>
                          <a:ea typeface="Arial" pitchFamily="34" charset="-122"/>
                          <a:cs typeface="Arial" pitchFamily="34" charset="-120"/>
                        </a:rPr>
                        <a:t>Message text only</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A1F5C"/>
                          </a:solidFill>
                          <a:latin typeface="Arial" pitchFamily="34" charset="0"/>
                          <a:ea typeface="Arial" pitchFamily="34" charset="-122"/>
                          <a:cs typeface="Arial" pitchFamily="34" charset="-120"/>
                        </a:rPr>
                        <a:t>Reading Summary</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AF0FC"/>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Summarises recorded readings: counts, ranges and missing dates</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AF0FC"/>
                    </a:solidFill>
                  </a:tcPr>
                </a:tc>
                <a:tc>
                  <a:txBody>
                    <a:bodyPr/>
                    <a:lstStyle/>
                    <a:p>
                      <a:pPr indent="0" marL="0">
                        <a:buNone/>
                      </a:pPr>
                      <a:r>
                        <a:rPr lang="en-US" sz="1200" dirty="0">
                          <a:solidFill>
                            <a:srgbClr val="5B6478"/>
                          </a:solidFill>
                          <a:latin typeface="Arial" pitchFamily="34" charset="0"/>
                          <a:ea typeface="Arial" pitchFamily="34" charset="-122"/>
                          <a:cs typeface="Arial" pitchFamily="34" charset="-120"/>
                        </a:rPr>
                        <a:t>One member's active readings</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AF0FC"/>
                    </a:solidFill>
                  </a:tcPr>
                </a:tc>
              </a:tr>
              <a:tr h="566928">
                <a:tc>
                  <a:txBody>
                    <a:bodyPr/>
                    <a:lstStyle/>
                    <a:p>
                      <a:pPr indent="0" marL="0">
                        <a:buNone/>
                      </a:pPr>
                      <a:r>
                        <a:rPr lang="en-US" sz="1200" b="1" dirty="0">
                          <a:solidFill>
                            <a:srgbClr val="0A1F5C"/>
                          </a:solidFill>
                          <a:latin typeface="Arial" pitchFamily="34" charset="0"/>
                          <a:ea typeface="Arial" pitchFamily="34" charset="-122"/>
                          <a:cs typeface="Arial" pitchFamily="34" charset="-120"/>
                        </a:rPr>
                        <a:t>Care Plan</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Reports due and overdue tasks exactly as recorded</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indent="0" marL="0">
                        <a:buNone/>
                      </a:pPr>
                      <a:r>
                        <a:rPr lang="en-US" sz="1200" dirty="0">
                          <a:solidFill>
                            <a:srgbClr val="5B6478"/>
                          </a:solidFill>
                          <a:latin typeface="Arial" pitchFamily="34" charset="0"/>
                          <a:ea typeface="Arial" pitchFamily="34" charset="-122"/>
                          <a:cs typeface="Arial" pitchFamily="34" charset="-120"/>
                        </a:rPr>
                        <a:t>That member's care plan tasks</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A1F5C"/>
                          </a:solidFill>
                          <a:latin typeface="Arial" pitchFamily="34" charset="0"/>
                          <a:ea typeface="Arial" pitchFamily="34" charset="-122"/>
                          <a:cs typeface="Arial" pitchFamily="34" charset="-120"/>
                        </a:rPr>
                        <a:t>Education</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AF0FC"/>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Answers from approved articles, with source ID and version</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AF0FC"/>
                    </a:solidFill>
                  </a:tcPr>
                </a:tc>
                <a:tc>
                  <a:txBody>
                    <a:bodyPr/>
                    <a:lstStyle/>
                    <a:p>
                      <a:pPr indent="0" marL="0">
                        <a:buNone/>
                      </a:pPr>
                      <a:r>
                        <a:rPr lang="en-US" sz="1200" dirty="0">
                          <a:solidFill>
                            <a:srgbClr val="5B6478"/>
                          </a:solidFill>
                          <a:latin typeface="Arial" pitchFamily="34" charset="0"/>
                          <a:ea typeface="Arial" pitchFamily="34" charset="-122"/>
                          <a:cs typeface="Arial" pitchFamily="34" charset="-120"/>
                        </a:rPr>
                        <a:t>Approved documents only</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AF0FC"/>
                    </a:solidFill>
                  </a:tcPr>
                </a:tc>
              </a:tr>
              <a:tr h="566928">
                <a:tc>
                  <a:txBody>
                    <a:bodyPr/>
                    <a:lstStyle/>
                    <a:p>
                      <a:pPr indent="0" marL="0">
                        <a:buNone/>
                      </a:pPr>
                      <a:r>
                        <a:rPr lang="en-US" sz="1200" b="1" dirty="0">
                          <a:solidFill>
                            <a:srgbClr val="0A1F5C"/>
                          </a:solidFill>
                          <a:latin typeface="Arial" pitchFamily="34" charset="0"/>
                          <a:ea typeface="Arial" pitchFamily="34" charset="-122"/>
                          <a:cs typeface="Arial" pitchFamily="34" charset="-120"/>
                        </a:rPr>
                        <a:t>Engagement</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Drafts a neutral reminder and a check-in question</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indent="0" marL="0">
                        <a:buNone/>
                      </a:pPr>
                      <a:r>
                        <a:rPr lang="en-US" sz="1200" dirty="0">
                          <a:solidFill>
                            <a:srgbClr val="5B6478"/>
                          </a:solidFill>
                          <a:latin typeface="Arial" pitchFamily="34" charset="0"/>
                          <a:ea typeface="Arial" pitchFamily="34" charset="-122"/>
                          <a:cs typeface="Arial" pitchFamily="34" charset="-120"/>
                        </a:rPr>
                        <a:t>Due tasks, channel and language</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0A1F5C"/>
                          </a:solidFill>
                          <a:latin typeface="Arial" pitchFamily="34" charset="0"/>
                          <a:ea typeface="Arial" pitchFamily="34" charset="-122"/>
                          <a:cs typeface="Arial" pitchFamily="34" charset="-120"/>
                        </a:rPr>
                        <a:t>Escalation</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AF0FC"/>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Words the staff note for rules already matched by code</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AF0FC"/>
                    </a:solidFill>
                  </a:tcPr>
                </a:tc>
                <a:tc>
                  <a:txBody>
                    <a:bodyPr/>
                    <a:lstStyle/>
                    <a:p>
                      <a:pPr indent="0" marL="0">
                        <a:buNone/>
                      </a:pPr>
                      <a:r>
                        <a:rPr lang="en-US" sz="1200" dirty="0">
                          <a:solidFill>
                            <a:srgbClr val="5B6478"/>
                          </a:solidFill>
                          <a:latin typeface="Arial" pitchFamily="34" charset="0"/>
                          <a:ea typeface="Arial" pitchFamily="34" charset="-122"/>
                          <a:cs typeface="Arial" pitchFamily="34" charset="-120"/>
                        </a:rPr>
                        <a:t>Matched rules only</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AF0FC"/>
                    </a:solidFill>
                  </a:tcPr>
                </a:tc>
              </a:tr>
            </a:tbl>
          </a:graphicData>
        </a:graphic>
      </p:graphicFrame>
      <p:sp>
        <p:nvSpPr>
          <p:cNvPr id="6" name="Shape 3"/>
          <p:cNvSpPr/>
          <p:nvPr/>
        </p:nvSpPr>
        <p:spPr>
          <a:xfrm>
            <a:off x="640080" y="5760720"/>
            <a:ext cx="10908792" cy="457200"/>
          </a:xfrm>
          <a:prstGeom prst="roundRect">
            <a:avLst>
              <a:gd name="adj" fmla="val 20000"/>
            </a:avLst>
          </a:prstGeom>
          <a:solidFill>
            <a:srgbClr val="12A36B">
              <a:alpha val="18000"/>
            </a:srgbClr>
          </a:solidFill>
          <a:ln w="12700">
            <a:solidFill>
              <a:srgbClr val="12A36B"/>
            </a:solidFill>
            <a:prstDash val="solid"/>
          </a:ln>
        </p:spPr>
      </p:sp>
      <p:sp>
        <p:nvSpPr>
          <p:cNvPr id="7" name="Text 4"/>
          <p:cNvSpPr txBox="1"/>
          <p:nvPr/>
        </p:nvSpPr>
        <p:spPr>
          <a:xfrm>
            <a:off x="822960" y="5760720"/>
            <a:ext cx="10515600" cy="457200"/>
          </a:xfrm>
          <a:prstGeom prst="rect">
            <a:avLst/>
          </a:prstGeom>
          <a:noFill/>
          <a:ln/>
        </p:spPr>
        <p:txBody>
          <a:bodyPr wrap="square" lIns="0" tIns="0" rIns="0" bIns="0" rtlCol="0" anchor="ctr"/>
          <a:lstStyle/>
          <a:p>
            <a:pPr indent="0" marL="0">
              <a:buNone/>
            </a:pPr>
            <a:r>
              <a:rPr lang="en-US" sz="1250" b="1" dirty="0">
                <a:solidFill>
                  <a:srgbClr val="FFFFFF"/>
                </a:solidFill>
              </a:rPr>
              <a:t>All six agents are provisioned in the Foundry project and visible in the portal. Each receives only the facts it needs.</a:t>
            </a:r>
            <a:endParaRPr lang="en-US" sz="125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body" hasCustomPrompt="1"/>
          </p:nvPr>
        </p:nvSpPr>
        <p:spPr>
          <a:xfrm>
            <a:off x="640080" y="411480"/>
            <a:ext cx="7315200" cy="274320"/>
          </a:xfrm>
          <a:prstGeom prst="rect">
            <a:avLst/>
          </a:prstGeom>
          <a:noFill/>
          <a:ln/>
        </p:spPr>
        <p:txBody>
          <a:bodyPr wrap="square" lIns="0" tIns="0" rIns="0" bIns="0" rtlCol="0" anchor="t"/>
          <a:lstStyle/>
          <a:p>
            <a:pPr indent="0" marL="0">
              <a:buNone/>
            </a:pPr>
            <a:r>
              <a:rPr lang="en-US" sz="1200" b="1" spc="400" kern="0" dirty="0">
                <a:solidFill>
                  <a:srgbClr val="3CC3F0"/>
                </a:solidFill>
              </a:rPr>
              <a:t>ESCALATION MODEL</a:t>
            </a:r>
            <a:endParaRPr lang="en-US" sz="1200" dirty="0"/>
          </a:p>
        </p:txBody>
      </p:sp>
      <p:sp>
        <p:nvSpPr>
          <p:cNvPr id="3" name="Text 2"/>
          <p:cNvSpPr/>
          <p:nvPr>
            <p:ph idx="104" type="title" hasCustomPrompt="1"/>
          </p:nvPr>
        </p:nvSpPr>
        <p:spPr>
          <a:xfrm>
            <a:off x="640080" y="777240"/>
            <a:ext cx="10908792" cy="731520"/>
          </a:xfrm>
          <a:prstGeom prst="rect">
            <a:avLst/>
          </a:prstGeom>
          <a:noFill/>
          <a:ln/>
        </p:spPr>
        <p:txBody>
          <a:bodyPr wrap="square" lIns="0" tIns="0" rIns="0" bIns="0" rtlCol="0" anchor="t"/>
          <a:lstStyle/>
          <a:p>
            <a:pPr algn="l" indent="0" marL="0">
              <a:buNone/>
            </a:pPr>
            <a:r>
              <a:rPr lang="en-US" sz="3000" b="1" dirty="0">
                <a:solidFill>
                  <a:srgbClr val="FFFFFF"/>
                </a:solidFill>
              </a:rPr>
              <a:t>Four escalation rules route risk to the right team</a:t>
            </a:r>
            <a:endParaRPr lang="en-US" sz="3000" dirty="0"/>
          </a:p>
        </p:txBody>
      </p:sp>
      <p:sp>
        <p:nvSpPr>
          <p:cNvPr id="4" name="Text 2"/>
          <p:cNvSpPr txBox="1"/>
          <p:nvPr/>
        </p:nvSpPr>
        <p:spPr>
          <a:xfrm>
            <a:off x="7863840" y="411480"/>
            <a:ext cx="3685032" cy="274320"/>
          </a:xfrm>
          <a:prstGeom prst="rect">
            <a:avLst/>
          </a:prstGeom>
          <a:noFill/>
          <a:ln/>
        </p:spPr>
        <p:txBody>
          <a:bodyPr wrap="square" lIns="0" tIns="0" rIns="0" bIns="0" rtlCol="0" anchor="t"/>
          <a:lstStyle/>
          <a:p>
            <a:pPr algn="r" indent="0" marL="0">
              <a:buNone/>
            </a:pPr>
            <a:r>
              <a:rPr lang="en-US" sz="1000" b="1" spc="300" kern="0" dirty="0">
                <a:solidFill>
                  <a:srgbClr val="A9BBEA"/>
                </a:solidFill>
              </a:rPr>
              <a:t>SAFETY</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1188720"/>
                <a:gridCol w="3200400"/>
                <a:gridCol w="3566160"/>
                <a:gridCol w="2953512"/>
              </a:tblGrid>
              <a:tr h="457200">
                <a:tc>
                  <a:txBody>
                    <a:bodyPr/>
                    <a:lstStyle/>
                    <a:p>
                      <a:pPr indent="0" marL="0">
                        <a:buNone/>
                      </a:pPr>
                      <a:r>
                        <a:rPr lang="en-US" sz="1200" b="1" dirty="0">
                          <a:solidFill>
                            <a:srgbClr val="FFFFFF"/>
                          </a:solidFill>
                          <a:latin typeface="Arial" pitchFamily="34" charset="0"/>
                          <a:ea typeface="Arial" pitchFamily="34" charset="-122"/>
                          <a:cs typeface="Arial" pitchFamily="34" charset="-120"/>
                        </a:rPr>
                        <a:t>Rule</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1547C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Trigger</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1547C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System action</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1547C8"/>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Routed to</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1547C8"/>
                    </a:solidFill>
                  </a:tcPr>
                </a:tc>
              </a:tr>
              <a:tr h="685800">
                <a:tc>
                  <a:txBody>
                    <a:bodyPr/>
                    <a:lstStyle/>
                    <a:p>
                      <a:pPr indent="0" marL="0">
                        <a:buNone/>
                      </a:pPr>
                      <a:r>
                        <a:rPr lang="en-US" sz="1400" b="1" dirty="0">
                          <a:solidFill>
                            <a:srgbClr val="E5484D"/>
                          </a:solidFill>
                          <a:latin typeface="Arial" pitchFamily="34" charset="0"/>
                          <a:ea typeface="Arial" pitchFamily="34" charset="-122"/>
                          <a:cs typeface="Arial" pitchFamily="34" charset="-120"/>
                        </a:rPr>
                        <a:t>ER-501</a:t>
                      </a:r>
                      <a:endParaRPr lang="en-US" sz="14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Arial" pitchFamily="34" charset="0"/>
                          <a:ea typeface="Arial" pitchFamily="34" charset="-122"/>
                          <a:cs typeface="Arial" pitchFamily="34" charset="-120"/>
                        </a:rPr>
                        <a:t>Member consent is not active</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Stops processing; no data is read</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indent="0" marL="0">
                        <a:buNone/>
                      </a:pPr>
                      <a:r>
                        <a:rPr lang="en-US" sz="1200" dirty="0">
                          <a:solidFill>
                            <a:srgbClr val="5B6478"/>
                          </a:solidFill>
                          <a:latin typeface="Arial" pitchFamily="34" charset="0"/>
                          <a:ea typeface="Arial" pitchFamily="34" charset="-122"/>
                          <a:cs typeface="Arial" pitchFamily="34" charset="-120"/>
                        </a:rPr>
                        <a:t>Enrolment and consent desk</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r>
              <a:tr h="685800">
                <a:tc>
                  <a:txBody>
                    <a:bodyPr/>
                    <a:lstStyle/>
                    <a:p>
                      <a:pPr indent="0" marL="0">
                        <a:buNone/>
                      </a:pPr>
                      <a:r>
                        <a:rPr lang="en-US" sz="1400" b="1" dirty="0">
                          <a:solidFill>
                            <a:srgbClr val="C77A00"/>
                          </a:solidFill>
                          <a:latin typeface="Arial" pitchFamily="34" charset="0"/>
                          <a:ea typeface="Arial" pitchFamily="34" charset="-122"/>
                          <a:cs typeface="Arial" pitchFamily="34" charset="-120"/>
                        </a:rPr>
                        <a:t>ER-502</a:t>
                      </a:r>
                      <a:endParaRPr lang="en-US" sz="14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AF0FC"/>
                    </a:solidFill>
                  </a:tcPr>
                </a:tc>
                <a:tc>
                  <a:txBody>
                    <a:bodyPr/>
                    <a:lstStyle/>
                    <a:p>
                      <a:pPr indent="0" marL="0">
                        <a:buNone/>
                      </a:pPr>
                      <a:r>
                        <a:rPr lang="en-US" sz="1200" b="1" dirty="0">
                          <a:solidFill>
                            <a:srgbClr val="1F2937"/>
                          </a:solidFill>
                          <a:latin typeface="Arial" pitchFamily="34" charset="0"/>
                          <a:ea typeface="Arial" pitchFamily="34" charset="-122"/>
                          <a:cs typeface="Arial" pitchFamily="34" charset="-120"/>
                        </a:rPr>
                        <a:t>A reading matches a configured test value</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AF0FC"/>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Urgent staff-review record; no interpretation</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AF0FC"/>
                    </a:solidFill>
                  </a:tcPr>
                </a:tc>
                <a:tc>
                  <a:txBody>
                    <a:bodyPr/>
                    <a:lstStyle/>
                    <a:p>
                      <a:pPr indent="0" marL="0">
                        <a:buNone/>
                      </a:pPr>
                      <a:r>
                        <a:rPr lang="en-US" sz="1200" dirty="0">
                          <a:solidFill>
                            <a:srgbClr val="5B6478"/>
                          </a:solidFill>
                          <a:latin typeface="Arial" pitchFamily="34" charset="0"/>
                          <a:ea typeface="Arial" pitchFamily="34" charset="-122"/>
                          <a:cs typeface="Arial" pitchFamily="34" charset="-120"/>
                        </a:rPr>
                        <a:t>Care team for the member's program</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AF0FC"/>
                    </a:solidFill>
                  </a:tcPr>
                </a:tc>
              </a:tr>
              <a:tr h="685800">
                <a:tc>
                  <a:txBody>
                    <a:bodyPr/>
                    <a:lstStyle/>
                    <a:p>
                      <a:pPr indent="0" marL="0">
                        <a:buNone/>
                      </a:pPr>
                      <a:r>
                        <a:rPr lang="en-US" sz="1400" b="1" dirty="0">
                          <a:solidFill>
                            <a:srgbClr val="1547C8"/>
                          </a:solidFill>
                          <a:latin typeface="Arial" pitchFamily="34" charset="0"/>
                          <a:ea typeface="Arial" pitchFamily="34" charset="-122"/>
                          <a:cs typeface="Arial" pitchFamily="34" charset="-120"/>
                        </a:rPr>
                        <a:t>ER-503</a:t>
                      </a:r>
                      <a:endParaRPr lang="en-US" sz="14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indent="0" marL="0">
                        <a:buNone/>
                      </a:pPr>
                      <a:r>
                        <a:rPr lang="en-US" sz="1200" b="1" dirty="0">
                          <a:solidFill>
                            <a:srgbClr val="1F2937"/>
                          </a:solidFill>
                          <a:latin typeface="Arial" pitchFamily="34" charset="0"/>
                          <a:ea typeface="Arial" pitchFamily="34" charset="-122"/>
                          <a:cs typeface="Arial" pitchFamily="34" charset="-120"/>
                        </a:rPr>
                        <a:t>Member asks to change a medicine</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Declines; directs to a qualified clinician</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c>
                  <a:txBody>
                    <a:bodyPr/>
                    <a:lstStyle/>
                    <a:p>
                      <a:pPr indent="0" marL="0">
                        <a:buNone/>
                      </a:pPr>
                      <a:r>
                        <a:rPr lang="en-US" sz="1200" dirty="0">
                          <a:solidFill>
                            <a:srgbClr val="5B6478"/>
                          </a:solidFill>
                          <a:latin typeface="Arial" pitchFamily="34" charset="0"/>
                          <a:ea typeface="Arial" pitchFamily="34" charset="-122"/>
                          <a:cs typeface="Arial" pitchFamily="34" charset="-120"/>
                        </a:rPr>
                        <a:t>Clinician referral desk</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FFFFFF"/>
                    </a:solidFill>
                  </a:tcPr>
                </a:tc>
              </a:tr>
              <a:tr h="685800">
                <a:tc>
                  <a:txBody>
                    <a:bodyPr/>
                    <a:lstStyle/>
                    <a:p>
                      <a:pPr indent="0" marL="0">
                        <a:buNone/>
                      </a:pPr>
                      <a:r>
                        <a:rPr lang="en-US" sz="1400" b="1" dirty="0">
                          <a:solidFill>
                            <a:srgbClr val="6C57D9"/>
                          </a:solidFill>
                          <a:latin typeface="Arial" pitchFamily="34" charset="0"/>
                          <a:ea typeface="Arial" pitchFamily="34" charset="-122"/>
                          <a:cs typeface="Arial" pitchFamily="34" charset="-120"/>
                        </a:rPr>
                        <a:t>ER-504</a:t>
                      </a:r>
                      <a:endParaRPr lang="en-US" sz="14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AF0FC"/>
                    </a:solidFill>
                  </a:tcPr>
                </a:tc>
                <a:tc>
                  <a:txBody>
                    <a:bodyPr/>
                    <a:lstStyle/>
                    <a:p>
                      <a:pPr indent="0" marL="0">
                        <a:buNone/>
                      </a:pPr>
                      <a:r>
                        <a:rPr lang="en-US" sz="1200" b="1" dirty="0">
                          <a:solidFill>
                            <a:srgbClr val="1F2937"/>
                          </a:solidFill>
                          <a:latin typeface="Arial" pitchFamily="34" charset="0"/>
                          <a:ea typeface="Arial" pitchFamily="34" charset="-122"/>
                          <a:cs typeface="Arial" pitchFamily="34" charset="-120"/>
                        </a:rPr>
                        <a:t>A reading or source is contradictory</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AF0FC"/>
                    </a:solidFill>
                  </a:tcPr>
                </a:tc>
                <a:tc>
                  <a:txBody>
                    <a:bodyPr/>
                    <a:lstStyle/>
                    <a:p>
                      <a:pPr indent="0" marL="0">
                        <a:buNone/>
                      </a:pPr>
                      <a:r>
                        <a:rPr lang="en-US" sz="1200" dirty="0">
                          <a:solidFill>
                            <a:srgbClr val="1F2937"/>
                          </a:solidFill>
                          <a:latin typeface="Arial" pitchFamily="34" charset="0"/>
                          <a:ea typeface="Arial" pitchFamily="34" charset="-122"/>
                          <a:cs typeface="Arial" pitchFamily="34" charset="-120"/>
                        </a:rPr>
                        <a:t>Flags the uncertainty; requests human review</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AF0FC"/>
                    </a:solidFill>
                  </a:tcPr>
                </a:tc>
                <a:tc>
                  <a:txBody>
                    <a:bodyPr/>
                    <a:lstStyle/>
                    <a:p>
                      <a:pPr indent="0" marL="0">
                        <a:buNone/>
                      </a:pPr>
                      <a:r>
                        <a:rPr lang="en-US" sz="1200" dirty="0">
                          <a:solidFill>
                            <a:srgbClr val="5B6478"/>
                          </a:solidFill>
                          <a:latin typeface="Arial" pitchFamily="34" charset="0"/>
                          <a:ea typeface="Arial" pitchFamily="34" charset="-122"/>
                          <a:cs typeface="Arial" pitchFamily="34" charset="-120"/>
                        </a:rPr>
                        <a:t>Data quality or content review</a:t>
                      </a:r>
                      <a:endParaRPr lang="en-US" sz="1200" dirty="0">
                        <a:latin typeface="Arial" charset="0"/>
                        <a:ea typeface="Arial" charset="0"/>
                        <a:cs typeface="Arial" charset="0"/>
                      </a:endParaRPr>
                    </a:p>
                  </a:txBody>
                  <a:tcPr marL="109728" marR="109728" marT="36576" marB="36576" anchor="ctr">
                    <a:lnL w="9525" cap="flat" cmpd="sng" algn="ctr">
                      <a:solidFill>
                        <a:srgbClr val="D8DEEC"/>
                      </a:solidFill>
                      <a:prstDash val="solid"/>
                      <a:round/>
                      <a:headEnd type="none" w="med" len="med"/>
                      <a:tailEnd type="none" w="med" len="med"/>
                    </a:lnL>
                    <a:lnR w="9525" cap="flat" cmpd="sng" algn="ctr">
                      <a:solidFill>
                        <a:srgbClr val="D8DEEC"/>
                      </a:solidFill>
                      <a:prstDash val="solid"/>
                      <a:round/>
                      <a:headEnd type="none" w="med" len="med"/>
                      <a:tailEnd type="none" w="med" len="med"/>
                    </a:lnR>
                    <a:lnT w="9525" cap="flat" cmpd="sng" algn="ctr">
                      <a:solidFill>
                        <a:srgbClr val="D8DEEC"/>
                      </a:solidFill>
                      <a:prstDash val="solid"/>
                      <a:round/>
                      <a:headEnd type="none" w="med" len="med"/>
                      <a:tailEnd type="none" w="med" len="med"/>
                    </a:lnT>
                    <a:lnB w="9525" cap="flat" cmpd="sng" algn="ctr">
                      <a:solidFill>
                        <a:srgbClr val="D8DEEC"/>
                      </a:solidFill>
                      <a:prstDash val="solid"/>
                      <a:round/>
                      <a:headEnd type="none" w="med" len="med"/>
                      <a:tailEnd type="none" w="med" len="med"/>
                    </a:lnB>
                    <a:solidFill>
                      <a:srgbClr val="EAF0FC"/>
                    </a:solidFill>
                  </a:tcPr>
                </a:tc>
              </a:tr>
            </a:tbl>
          </a:graphicData>
        </a:graphic>
      </p:graphicFrame>
      <p:sp>
        <p:nvSpPr>
          <p:cNvPr id="6" name="Shape 3"/>
          <p:cNvSpPr/>
          <p:nvPr/>
        </p:nvSpPr>
        <p:spPr>
          <a:xfrm>
            <a:off x="640080" y="5120640"/>
            <a:ext cx="10908792" cy="1005840"/>
          </a:xfrm>
          <a:prstGeom prst="roundRect">
            <a:avLst>
              <a:gd name="adj" fmla="val 7273"/>
            </a:avLst>
          </a:prstGeom>
          <a:solidFill>
            <a:srgbClr val="FFF4DD"/>
          </a:solidFill>
          <a:ln w="15875">
            <a:solidFill>
              <a:srgbClr val="F5A524"/>
            </a:solidFill>
            <a:prstDash val="solid"/>
          </a:ln>
          <a:effectLst>
            <a:outerShdw sx="100000" sy="100000" kx="0" ky="0" algn="bl" rotWithShape="0" blurRad="127000" dist="38100" dir="5400000">
              <a:srgbClr val="000000">
                <a:alpha val="28000"/>
              </a:srgbClr>
            </a:outerShdw>
          </a:effectLst>
        </p:spPr>
      </p:sp>
      <p:sp>
        <p:nvSpPr>
          <p:cNvPr id="7" name="Shape 4"/>
          <p:cNvSpPr/>
          <p:nvPr/>
        </p:nvSpPr>
        <p:spPr>
          <a:xfrm>
            <a:off x="868680" y="5376672"/>
            <a:ext cx="502920" cy="502920"/>
          </a:xfrm>
          <a:prstGeom prst="ellipse">
            <a:avLst/>
          </a:prstGeom>
          <a:solidFill>
            <a:srgbClr val="F5A524"/>
          </a:solidFill>
          <a:ln w="6350">
            <a:solidFill>
              <a:srgbClr val="F5A524"/>
            </a:solidFill>
            <a:prstDash val="solid"/>
          </a:ln>
        </p:spPr>
      </p:sp>
      <p:pic>
        <p:nvPicPr>
          <p:cNvPr id="8" name="Image 0" descr="FaExclamationTriangle">    </p:cNvPr>
          <p:cNvPicPr>
            <a:picLocks noChangeAspect="1"/>
          </p:cNvPicPr>
          <p:nvPr/>
        </p:nvPicPr>
        <p:blipFill>
          <a:blip r:embed="rId1"/>
          <a:stretch>
            <a:fillRect/>
          </a:stretch>
        </p:blipFill>
        <p:spPr>
          <a:xfrm>
            <a:off x="1004468" y="5512460"/>
            <a:ext cx="231343" cy="231343"/>
          </a:xfrm>
          <a:prstGeom prst="rect">
            <a:avLst/>
          </a:prstGeom>
        </p:spPr>
      </p:pic>
      <p:sp>
        <p:nvSpPr>
          <p:cNvPr id="9" name="Text 5"/>
          <p:cNvSpPr txBox="1"/>
          <p:nvPr/>
        </p:nvSpPr>
        <p:spPr>
          <a:xfrm>
            <a:off x="1600200" y="5120640"/>
            <a:ext cx="9784080" cy="1005840"/>
          </a:xfrm>
          <a:prstGeom prst="rect">
            <a:avLst/>
          </a:prstGeom>
          <a:noFill/>
          <a:ln/>
        </p:spPr>
        <p:txBody>
          <a:bodyPr wrap="square" lIns="0" tIns="0" rIns="0" bIns="0" rtlCol="0" anchor="ctr"/>
          <a:lstStyle/>
          <a:p>
            <a:pPr indent="0" marL="0">
              <a:buNone/>
            </a:pPr>
            <a:r>
              <a:rPr lang="en-US" sz="1300" b="1" dirty="0">
                <a:solidFill>
                  <a:srgbClr val="1F2937"/>
                </a:solidFill>
              </a:rPr>
              <a:t>Configuration scale: </a:t>
            </a:r>
            <a:pPr indent="0" marL="0">
              <a:buNone/>
            </a:pPr>
            <a:r>
              <a:rPr lang="en-US" sz="1300" dirty="0">
                <a:solidFill>
                  <a:srgbClr val="1F2937"/>
                </a:solidFill>
              </a:rPr>
              <a:t>106 rule rows (4 rules and 102 routing variants) and 104 test values. All thresholds are training placeholders; clinicians must set production values.</a:t>
            </a:r>
            <a:endParaRPr lang="en-US" sz="13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body" hasCustomPrompt="1"/>
          </p:nvPr>
        </p:nvSpPr>
        <p:spPr>
          <a:xfrm>
            <a:off x="640080" y="411480"/>
            <a:ext cx="7315200" cy="274320"/>
          </a:xfrm>
          <a:prstGeom prst="rect">
            <a:avLst/>
          </a:prstGeom>
          <a:noFill/>
          <a:ln/>
        </p:spPr>
        <p:txBody>
          <a:bodyPr wrap="square" lIns="0" tIns="0" rIns="0" bIns="0" rtlCol="0" anchor="t"/>
          <a:lstStyle/>
          <a:p>
            <a:pPr indent="0" marL="0">
              <a:buNone/>
            </a:pPr>
            <a:r>
              <a:rPr lang="en-US" sz="1200" b="1" spc="400" kern="0" dirty="0">
                <a:solidFill>
                  <a:srgbClr val="3CC3F0"/>
                </a:solidFill>
              </a:rPr>
              <a:t>CONTENT GOVERNANCE</a:t>
            </a:r>
            <a:endParaRPr lang="en-US" sz="1200" dirty="0"/>
          </a:p>
        </p:txBody>
      </p:sp>
      <p:sp>
        <p:nvSpPr>
          <p:cNvPr id="3" name="Text 2"/>
          <p:cNvSpPr/>
          <p:nvPr>
            <p:ph idx="104" type="title" hasCustomPrompt="1"/>
          </p:nvPr>
        </p:nvSpPr>
        <p:spPr>
          <a:xfrm>
            <a:off x="640080" y="777240"/>
            <a:ext cx="10908792" cy="731520"/>
          </a:xfrm>
          <a:prstGeom prst="rect">
            <a:avLst/>
          </a:prstGeom>
          <a:noFill/>
          <a:ln/>
        </p:spPr>
        <p:txBody>
          <a:bodyPr wrap="square" lIns="0" tIns="0" rIns="0" bIns="0" rtlCol="0" anchor="t"/>
          <a:lstStyle/>
          <a:p>
            <a:pPr algn="l" indent="0" marL="0">
              <a:buNone/>
            </a:pPr>
            <a:r>
              <a:rPr lang="en-US" sz="3000" b="1" dirty="0">
                <a:solidFill>
                  <a:srgbClr val="FFFFFF"/>
                </a:solidFill>
              </a:rPr>
              <a:t>Answers come only from approved, versioned content</a:t>
            </a:r>
            <a:endParaRPr lang="en-US" sz="3000" dirty="0"/>
          </a:p>
        </p:txBody>
      </p:sp>
      <p:sp>
        <p:nvSpPr>
          <p:cNvPr id="4" name="Text 2"/>
          <p:cNvSpPr txBox="1"/>
          <p:nvPr/>
        </p:nvSpPr>
        <p:spPr>
          <a:xfrm>
            <a:off x="7863840" y="411480"/>
            <a:ext cx="3685032" cy="274320"/>
          </a:xfrm>
          <a:prstGeom prst="rect">
            <a:avLst/>
          </a:prstGeom>
          <a:noFill/>
          <a:ln/>
        </p:spPr>
        <p:txBody>
          <a:bodyPr wrap="square" lIns="0" tIns="0" rIns="0" bIns="0" rtlCol="0" anchor="t"/>
          <a:lstStyle/>
          <a:p>
            <a:pPr algn="r" indent="0" marL="0">
              <a:buNone/>
            </a:pPr>
            <a:r>
              <a:rPr lang="en-US" sz="1000" b="1" spc="300" kern="0" dirty="0">
                <a:solidFill>
                  <a:srgbClr val="A9BBEA"/>
                </a:solidFill>
              </a:rPr>
              <a:t>SAFETY</a:t>
            </a:r>
            <a:endParaRPr lang="en-US" sz="1000" dirty="0"/>
          </a:p>
        </p:txBody>
      </p:sp>
      <p:sp>
        <p:nvSpPr>
          <p:cNvPr id="5" name="Shape 3"/>
          <p:cNvSpPr/>
          <p:nvPr/>
        </p:nvSpPr>
        <p:spPr>
          <a:xfrm>
            <a:off x="640080" y="1783080"/>
            <a:ext cx="1920240" cy="1920240"/>
          </a:xfrm>
          <a:prstGeom prst="roundRect">
            <a:avLst>
              <a:gd name="adj" fmla="val 3810"/>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6" name="Shape 4"/>
          <p:cNvSpPr/>
          <p:nvPr/>
        </p:nvSpPr>
        <p:spPr>
          <a:xfrm>
            <a:off x="822960" y="1965960"/>
            <a:ext cx="548640" cy="548640"/>
          </a:xfrm>
          <a:prstGeom prst="ellipse">
            <a:avLst/>
          </a:prstGeom>
          <a:solidFill>
            <a:srgbClr val="1547C8"/>
          </a:solidFill>
          <a:ln w="6350">
            <a:solidFill>
              <a:srgbClr val="1547C8"/>
            </a:solidFill>
            <a:prstDash val="solid"/>
          </a:ln>
        </p:spPr>
      </p:sp>
      <p:pic>
        <p:nvPicPr>
          <p:cNvPr id="7" name="Image 0" descr="FaFileAlt">    </p:cNvPr>
          <p:cNvPicPr>
            <a:picLocks noChangeAspect="1"/>
          </p:cNvPicPr>
          <p:nvPr/>
        </p:nvPicPr>
        <p:blipFill>
          <a:blip r:embed="rId1"/>
          <a:stretch>
            <a:fillRect/>
          </a:stretch>
        </p:blipFill>
        <p:spPr>
          <a:xfrm>
            <a:off x="971093" y="2114093"/>
            <a:ext cx="252374" cy="252374"/>
          </a:xfrm>
          <a:prstGeom prst="rect">
            <a:avLst/>
          </a:prstGeom>
        </p:spPr>
      </p:pic>
      <p:sp>
        <p:nvSpPr>
          <p:cNvPr id="8" name="Text 5"/>
          <p:cNvSpPr txBox="1"/>
          <p:nvPr/>
        </p:nvSpPr>
        <p:spPr>
          <a:xfrm>
            <a:off x="2057400" y="1965960"/>
            <a:ext cx="320040" cy="320040"/>
          </a:xfrm>
          <a:prstGeom prst="rect">
            <a:avLst/>
          </a:prstGeom>
          <a:noFill/>
          <a:ln/>
        </p:spPr>
        <p:txBody>
          <a:bodyPr wrap="square" lIns="0" tIns="0" rIns="0" bIns="0" rtlCol="0" anchor="t"/>
          <a:lstStyle/>
          <a:p>
            <a:pPr algn="r" indent="0" marL="0">
              <a:buNone/>
            </a:pPr>
            <a:r>
              <a:rPr lang="en-US" sz="1600" b="1" dirty="0">
                <a:solidFill>
                  <a:srgbClr val="D8DEEC"/>
                </a:solidFill>
              </a:rPr>
              <a:t>1</a:t>
            </a:r>
            <a:endParaRPr lang="en-US" sz="1600" dirty="0"/>
          </a:p>
        </p:txBody>
      </p:sp>
      <p:sp>
        <p:nvSpPr>
          <p:cNvPr id="9" name="Text 6"/>
          <p:cNvSpPr txBox="1"/>
          <p:nvPr/>
        </p:nvSpPr>
        <p:spPr>
          <a:xfrm>
            <a:off x="822960" y="2651760"/>
            <a:ext cx="1554480" cy="320040"/>
          </a:xfrm>
          <a:prstGeom prst="rect">
            <a:avLst/>
          </a:prstGeom>
          <a:noFill/>
          <a:ln/>
        </p:spPr>
        <p:txBody>
          <a:bodyPr wrap="square" lIns="0" tIns="0" rIns="0" bIns="0" rtlCol="0" anchor="t"/>
          <a:lstStyle/>
          <a:p>
            <a:pPr indent="0" marL="0">
              <a:buNone/>
            </a:pPr>
            <a:r>
              <a:rPr lang="en-US" sz="1500" b="1" dirty="0">
                <a:solidFill>
                  <a:srgbClr val="1F2937"/>
                </a:solidFill>
              </a:rPr>
              <a:t>Author</a:t>
            </a:r>
            <a:endParaRPr lang="en-US" sz="1500" dirty="0"/>
          </a:p>
        </p:txBody>
      </p:sp>
      <p:sp>
        <p:nvSpPr>
          <p:cNvPr id="10" name="Text 7"/>
          <p:cNvSpPr txBox="1"/>
          <p:nvPr/>
        </p:nvSpPr>
        <p:spPr>
          <a:xfrm>
            <a:off x="822960" y="3017520"/>
            <a:ext cx="1600200" cy="640080"/>
          </a:xfrm>
          <a:prstGeom prst="rect">
            <a:avLst/>
          </a:prstGeom>
          <a:noFill/>
          <a:ln/>
        </p:spPr>
        <p:txBody>
          <a:bodyPr wrap="square" lIns="0" tIns="0" rIns="0" bIns="0" rtlCol="0" anchor="t"/>
          <a:lstStyle/>
          <a:p>
            <a:pPr indent="0" marL="0">
              <a:buNone/>
            </a:pPr>
            <a:r>
              <a:rPr lang="en-US" sz="1100" dirty="0">
                <a:solidFill>
                  <a:srgbClr val="5B6478"/>
                </a:solidFill>
              </a:rPr>
              <a:t>Markdown document with an ID and version</a:t>
            </a:r>
            <a:endParaRPr lang="en-US" sz="1100" dirty="0"/>
          </a:p>
        </p:txBody>
      </p:sp>
      <p:sp>
        <p:nvSpPr>
          <p:cNvPr id="11" name="Shape 8"/>
          <p:cNvSpPr/>
          <p:nvPr/>
        </p:nvSpPr>
        <p:spPr>
          <a:xfrm>
            <a:off x="2587752" y="2743200"/>
            <a:ext cx="272034" cy="0"/>
          </a:xfrm>
          <a:prstGeom prst="line">
            <a:avLst/>
          </a:prstGeom>
          <a:noFill/>
          <a:ln w="28575">
            <a:solidFill>
              <a:srgbClr val="3CC3F0"/>
            </a:solidFill>
            <a:prstDash val="solid"/>
            <a:tailEnd type="triangle"/>
          </a:ln>
        </p:spPr>
      </p:sp>
      <p:sp>
        <p:nvSpPr>
          <p:cNvPr id="12" name="Shape 9"/>
          <p:cNvSpPr/>
          <p:nvPr/>
        </p:nvSpPr>
        <p:spPr>
          <a:xfrm>
            <a:off x="2887218" y="1783080"/>
            <a:ext cx="1920240" cy="1920240"/>
          </a:xfrm>
          <a:prstGeom prst="roundRect">
            <a:avLst>
              <a:gd name="adj" fmla="val 3810"/>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13" name="Shape 10"/>
          <p:cNvSpPr/>
          <p:nvPr/>
        </p:nvSpPr>
        <p:spPr>
          <a:xfrm>
            <a:off x="3070098" y="1965960"/>
            <a:ext cx="548640" cy="548640"/>
          </a:xfrm>
          <a:prstGeom prst="ellipse">
            <a:avLst/>
          </a:prstGeom>
          <a:solidFill>
            <a:srgbClr val="1547C8"/>
          </a:solidFill>
          <a:ln w="6350">
            <a:solidFill>
              <a:srgbClr val="1547C8"/>
            </a:solidFill>
            <a:prstDash val="solid"/>
          </a:ln>
        </p:spPr>
      </p:sp>
      <p:pic>
        <p:nvPicPr>
          <p:cNvPr id="14" name="Image 1" descr="FaUserCheck">    </p:cNvPr>
          <p:cNvPicPr>
            <a:picLocks noChangeAspect="1"/>
          </p:cNvPicPr>
          <p:nvPr/>
        </p:nvPicPr>
        <p:blipFill>
          <a:blip r:embed="rId2"/>
          <a:stretch>
            <a:fillRect/>
          </a:stretch>
        </p:blipFill>
        <p:spPr>
          <a:xfrm>
            <a:off x="3218231" y="2114093"/>
            <a:ext cx="252374" cy="252374"/>
          </a:xfrm>
          <a:prstGeom prst="rect">
            <a:avLst/>
          </a:prstGeom>
        </p:spPr>
      </p:pic>
      <p:sp>
        <p:nvSpPr>
          <p:cNvPr id="15" name="Text 11"/>
          <p:cNvSpPr txBox="1"/>
          <p:nvPr/>
        </p:nvSpPr>
        <p:spPr>
          <a:xfrm>
            <a:off x="4304538" y="1965960"/>
            <a:ext cx="320040" cy="320040"/>
          </a:xfrm>
          <a:prstGeom prst="rect">
            <a:avLst/>
          </a:prstGeom>
          <a:noFill/>
          <a:ln/>
        </p:spPr>
        <p:txBody>
          <a:bodyPr wrap="square" lIns="0" tIns="0" rIns="0" bIns="0" rtlCol="0" anchor="t"/>
          <a:lstStyle/>
          <a:p>
            <a:pPr algn="r" indent="0" marL="0">
              <a:buNone/>
            </a:pPr>
            <a:r>
              <a:rPr lang="en-US" sz="1600" b="1" dirty="0">
                <a:solidFill>
                  <a:srgbClr val="D8DEEC"/>
                </a:solidFill>
              </a:rPr>
              <a:t>2</a:t>
            </a:r>
            <a:endParaRPr lang="en-US" sz="1600" dirty="0"/>
          </a:p>
        </p:txBody>
      </p:sp>
      <p:sp>
        <p:nvSpPr>
          <p:cNvPr id="16" name="Text 12"/>
          <p:cNvSpPr txBox="1"/>
          <p:nvPr/>
        </p:nvSpPr>
        <p:spPr>
          <a:xfrm>
            <a:off x="3070098" y="2651760"/>
            <a:ext cx="1554480" cy="320040"/>
          </a:xfrm>
          <a:prstGeom prst="rect">
            <a:avLst/>
          </a:prstGeom>
          <a:noFill/>
          <a:ln/>
        </p:spPr>
        <p:txBody>
          <a:bodyPr wrap="square" lIns="0" tIns="0" rIns="0" bIns="0" rtlCol="0" anchor="t"/>
          <a:lstStyle/>
          <a:p>
            <a:pPr indent="0" marL="0">
              <a:buNone/>
            </a:pPr>
            <a:r>
              <a:rPr lang="en-US" sz="1500" b="1" dirty="0">
                <a:solidFill>
                  <a:srgbClr val="1F2937"/>
                </a:solidFill>
              </a:rPr>
              <a:t>Approve</a:t>
            </a:r>
            <a:endParaRPr lang="en-US" sz="1500" dirty="0"/>
          </a:p>
        </p:txBody>
      </p:sp>
      <p:sp>
        <p:nvSpPr>
          <p:cNvPr id="17" name="Text 13"/>
          <p:cNvSpPr txBox="1"/>
          <p:nvPr/>
        </p:nvSpPr>
        <p:spPr>
          <a:xfrm>
            <a:off x="3070098" y="3017520"/>
            <a:ext cx="1600200" cy="640080"/>
          </a:xfrm>
          <a:prstGeom prst="rect">
            <a:avLst/>
          </a:prstGeom>
          <a:noFill/>
          <a:ln/>
        </p:spPr>
        <p:txBody>
          <a:bodyPr wrap="square" lIns="0" tIns="0" rIns="0" bIns="0" rtlCol="0" anchor="t"/>
          <a:lstStyle/>
          <a:p>
            <a:pPr indent="0" marL="0">
              <a:buNone/>
            </a:pPr>
            <a:r>
              <a:rPr lang="en-US" sz="1100" dirty="0">
                <a:solidFill>
                  <a:srgbClr val="5B6478"/>
                </a:solidFill>
              </a:rPr>
              <a:t>Status: Draft, Approved or Retired</a:t>
            </a:r>
            <a:endParaRPr lang="en-US" sz="1100" dirty="0"/>
          </a:p>
        </p:txBody>
      </p:sp>
      <p:sp>
        <p:nvSpPr>
          <p:cNvPr id="18" name="Shape 14"/>
          <p:cNvSpPr/>
          <p:nvPr/>
        </p:nvSpPr>
        <p:spPr>
          <a:xfrm>
            <a:off x="4834890" y="2743200"/>
            <a:ext cx="272034" cy="0"/>
          </a:xfrm>
          <a:prstGeom prst="line">
            <a:avLst/>
          </a:prstGeom>
          <a:noFill/>
          <a:ln w="28575">
            <a:solidFill>
              <a:srgbClr val="3CC3F0"/>
            </a:solidFill>
            <a:prstDash val="solid"/>
            <a:tailEnd type="triangle"/>
          </a:ln>
        </p:spPr>
      </p:sp>
      <p:sp>
        <p:nvSpPr>
          <p:cNvPr id="19" name="Shape 15"/>
          <p:cNvSpPr/>
          <p:nvPr/>
        </p:nvSpPr>
        <p:spPr>
          <a:xfrm>
            <a:off x="5134356" y="1783080"/>
            <a:ext cx="1920240" cy="1920240"/>
          </a:xfrm>
          <a:prstGeom prst="roundRect">
            <a:avLst>
              <a:gd name="adj" fmla="val 3810"/>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20" name="Shape 16"/>
          <p:cNvSpPr/>
          <p:nvPr/>
        </p:nvSpPr>
        <p:spPr>
          <a:xfrm>
            <a:off x="5317236" y="1965960"/>
            <a:ext cx="548640" cy="548640"/>
          </a:xfrm>
          <a:prstGeom prst="ellipse">
            <a:avLst/>
          </a:prstGeom>
          <a:solidFill>
            <a:srgbClr val="1547C8"/>
          </a:solidFill>
          <a:ln w="6350">
            <a:solidFill>
              <a:srgbClr val="1547C8"/>
            </a:solidFill>
            <a:prstDash val="solid"/>
          </a:ln>
        </p:spPr>
      </p:sp>
      <p:pic>
        <p:nvPicPr>
          <p:cNvPr id="21" name="Image 2" descr="FaCloud">    </p:cNvPr>
          <p:cNvPicPr>
            <a:picLocks noChangeAspect="1"/>
          </p:cNvPicPr>
          <p:nvPr/>
        </p:nvPicPr>
        <p:blipFill>
          <a:blip r:embed="rId3"/>
          <a:stretch>
            <a:fillRect/>
          </a:stretch>
        </p:blipFill>
        <p:spPr>
          <a:xfrm>
            <a:off x="5465369" y="2114093"/>
            <a:ext cx="252374" cy="252374"/>
          </a:xfrm>
          <a:prstGeom prst="rect">
            <a:avLst/>
          </a:prstGeom>
        </p:spPr>
      </p:pic>
      <p:sp>
        <p:nvSpPr>
          <p:cNvPr id="22" name="Text 17"/>
          <p:cNvSpPr txBox="1"/>
          <p:nvPr/>
        </p:nvSpPr>
        <p:spPr>
          <a:xfrm>
            <a:off x="6551676" y="1965960"/>
            <a:ext cx="320040" cy="320040"/>
          </a:xfrm>
          <a:prstGeom prst="rect">
            <a:avLst/>
          </a:prstGeom>
          <a:noFill/>
          <a:ln/>
        </p:spPr>
        <p:txBody>
          <a:bodyPr wrap="square" lIns="0" tIns="0" rIns="0" bIns="0" rtlCol="0" anchor="t"/>
          <a:lstStyle/>
          <a:p>
            <a:pPr algn="r" indent="0" marL="0">
              <a:buNone/>
            </a:pPr>
            <a:r>
              <a:rPr lang="en-US" sz="1600" b="1" dirty="0">
                <a:solidFill>
                  <a:srgbClr val="D8DEEC"/>
                </a:solidFill>
              </a:rPr>
              <a:t>3</a:t>
            </a:r>
            <a:endParaRPr lang="en-US" sz="1600" dirty="0"/>
          </a:p>
        </p:txBody>
      </p:sp>
      <p:sp>
        <p:nvSpPr>
          <p:cNvPr id="23" name="Text 18"/>
          <p:cNvSpPr txBox="1"/>
          <p:nvPr/>
        </p:nvSpPr>
        <p:spPr>
          <a:xfrm>
            <a:off x="5317236" y="2651760"/>
            <a:ext cx="1554480" cy="320040"/>
          </a:xfrm>
          <a:prstGeom prst="rect">
            <a:avLst/>
          </a:prstGeom>
          <a:noFill/>
          <a:ln/>
        </p:spPr>
        <p:txBody>
          <a:bodyPr wrap="square" lIns="0" tIns="0" rIns="0" bIns="0" rtlCol="0" anchor="t"/>
          <a:lstStyle/>
          <a:p>
            <a:pPr indent="0" marL="0">
              <a:buNone/>
            </a:pPr>
            <a:r>
              <a:rPr lang="en-US" sz="1500" b="1" dirty="0">
                <a:solidFill>
                  <a:srgbClr val="1F2937"/>
                </a:solidFill>
              </a:rPr>
              <a:t>Store</a:t>
            </a:r>
            <a:endParaRPr lang="en-US" sz="1500" dirty="0"/>
          </a:p>
        </p:txBody>
      </p:sp>
      <p:sp>
        <p:nvSpPr>
          <p:cNvPr id="24" name="Text 19"/>
          <p:cNvSpPr txBox="1"/>
          <p:nvPr/>
        </p:nvSpPr>
        <p:spPr>
          <a:xfrm>
            <a:off x="5317236" y="3017520"/>
            <a:ext cx="1600200" cy="640080"/>
          </a:xfrm>
          <a:prstGeom prst="rect">
            <a:avLst/>
          </a:prstGeom>
          <a:noFill/>
          <a:ln/>
        </p:spPr>
        <p:txBody>
          <a:bodyPr wrap="square" lIns="0" tIns="0" rIns="0" bIns="0" rtlCol="0" anchor="t"/>
          <a:lstStyle/>
          <a:p>
            <a:pPr indent="0" marL="0">
              <a:buNone/>
            </a:pPr>
            <a:r>
              <a:rPr lang="en-US" sz="1100" dirty="0">
                <a:solidFill>
                  <a:srgbClr val="5B6478"/>
                </a:solidFill>
              </a:rPr>
              <a:t>Azure Blob Storage, split by status</a:t>
            </a:r>
            <a:endParaRPr lang="en-US" sz="1100" dirty="0"/>
          </a:p>
        </p:txBody>
      </p:sp>
      <p:sp>
        <p:nvSpPr>
          <p:cNvPr id="25" name="Shape 20"/>
          <p:cNvSpPr/>
          <p:nvPr/>
        </p:nvSpPr>
        <p:spPr>
          <a:xfrm>
            <a:off x="7082028" y="2743200"/>
            <a:ext cx="272034" cy="0"/>
          </a:xfrm>
          <a:prstGeom prst="line">
            <a:avLst/>
          </a:prstGeom>
          <a:noFill/>
          <a:ln w="28575">
            <a:solidFill>
              <a:srgbClr val="3CC3F0"/>
            </a:solidFill>
            <a:prstDash val="solid"/>
            <a:tailEnd type="triangle"/>
          </a:ln>
        </p:spPr>
      </p:sp>
      <p:sp>
        <p:nvSpPr>
          <p:cNvPr id="26" name="Shape 21"/>
          <p:cNvSpPr/>
          <p:nvPr/>
        </p:nvSpPr>
        <p:spPr>
          <a:xfrm>
            <a:off x="7381494" y="1783080"/>
            <a:ext cx="1920240" cy="1920240"/>
          </a:xfrm>
          <a:prstGeom prst="roundRect">
            <a:avLst>
              <a:gd name="adj" fmla="val 3810"/>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27" name="Shape 22"/>
          <p:cNvSpPr/>
          <p:nvPr/>
        </p:nvSpPr>
        <p:spPr>
          <a:xfrm>
            <a:off x="7564374" y="1965960"/>
            <a:ext cx="548640" cy="548640"/>
          </a:xfrm>
          <a:prstGeom prst="ellipse">
            <a:avLst/>
          </a:prstGeom>
          <a:solidFill>
            <a:srgbClr val="12A36B"/>
          </a:solidFill>
          <a:ln w="6350">
            <a:solidFill>
              <a:srgbClr val="12A36B"/>
            </a:solidFill>
            <a:prstDash val="solid"/>
          </a:ln>
        </p:spPr>
      </p:sp>
      <p:pic>
        <p:nvPicPr>
          <p:cNvPr id="28" name="Image 3" descr="FaSearch">    </p:cNvPr>
          <p:cNvPicPr>
            <a:picLocks noChangeAspect="1"/>
          </p:cNvPicPr>
          <p:nvPr/>
        </p:nvPicPr>
        <p:blipFill>
          <a:blip r:embed="rId4"/>
          <a:stretch>
            <a:fillRect/>
          </a:stretch>
        </p:blipFill>
        <p:spPr>
          <a:xfrm>
            <a:off x="7712507" y="2114093"/>
            <a:ext cx="252374" cy="252374"/>
          </a:xfrm>
          <a:prstGeom prst="rect">
            <a:avLst/>
          </a:prstGeom>
        </p:spPr>
      </p:pic>
      <p:sp>
        <p:nvSpPr>
          <p:cNvPr id="29" name="Text 23"/>
          <p:cNvSpPr txBox="1"/>
          <p:nvPr/>
        </p:nvSpPr>
        <p:spPr>
          <a:xfrm>
            <a:off x="8798814" y="1965960"/>
            <a:ext cx="320040" cy="320040"/>
          </a:xfrm>
          <a:prstGeom prst="rect">
            <a:avLst/>
          </a:prstGeom>
          <a:noFill/>
          <a:ln/>
        </p:spPr>
        <p:txBody>
          <a:bodyPr wrap="square" lIns="0" tIns="0" rIns="0" bIns="0" rtlCol="0" anchor="t"/>
          <a:lstStyle/>
          <a:p>
            <a:pPr algn="r" indent="0" marL="0">
              <a:buNone/>
            </a:pPr>
            <a:r>
              <a:rPr lang="en-US" sz="1600" b="1" dirty="0">
                <a:solidFill>
                  <a:srgbClr val="D8DEEC"/>
                </a:solidFill>
              </a:rPr>
              <a:t>4</a:t>
            </a:r>
            <a:endParaRPr lang="en-US" sz="1600" dirty="0"/>
          </a:p>
        </p:txBody>
      </p:sp>
      <p:sp>
        <p:nvSpPr>
          <p:cNvPr id="30" name="Text 24"/>
          <p:cNvSpPr txBox="1"/>
          <p:nvPr/>
        </p:nvSpPr>
        <p:spPr>
          <a:xfrm>
            <a:off x="7564374" y="2651760"/>
            <a:ext cx="1554480" cy="320040"/>
          </a:xfrm>
          <a:prstGeom prst="rect">
            <a:avLst/>
          </a:prstGeom>
          <a:noFill/>
          <a:ln/>
        </p:spPr>
        <p:txBody>
          <a:bodyPr wrap="square" lIns="0" tIns="0" rIns="0" bIns="0" rtlCol="0" anchor="t"/>
          <a:lstStyle/>
          <a:p>
            <a:pPr indent="0" marL="0">
              <a:buNone/>
            </a:pPr>
            <a:r>
              <a:rPr lang="en-US" sz="1500" b="1" dirty="0">
                <a:solidFill>
                  <a:srgbClr val="1F2937"/>
                </a:solidFill>
              </a:rPr>
              <a:t>Retrieve</a:t>
            </a:r>
            <a:endParaRPr lang="en-US" sz="1500" dirty="0"/>
          </a:p>
        </p:txBody>
      </p:sp>
      <p:sp>
        <p:nvSpPr>
          <p:cNvPr id="31" name="Text 25"/>
          <p:cNvSpPr txBox="1"/>
          <p:nvPr/>
        </p:nvSpPr>
        <p:spPr>
          <a:xfrm>
            <a:off x="7564374" y="3017520"/>
            <a:ext cx="1600200" cy="640080"/>
          </a:xfrm>
          <a:prstGeom prst="rect">
            <a:avLst/>
          </a:prstGeom>
          <a:noFill/>
          <a:ln/>
        </p:spPr>
        <p:txBody>
          <a:bodyPr wrap="square" lIns="0" tIns="0" rIns="0" bIns="0" rtlCol="0" anchor="t"/>
          <a:lstStyle/>
          <a:p>
            <a:pPr indent="0" marL="0">
              <a:buNone/>
            </a:pPr>
            <a:r>
              <a:rPr lang="en-US" sz="1100" dirty="0">
                <a:solidFill>
                  <a:srgbClr val="5B6478"/>
                </a:solidFill>
              </a:rPr>
              <a:t>AI Search index or Foundry knowledge base</a:t>
            </a:r>
            <a:endParaRPr lang="en-US" sz="1100" dirty="0"/>
          </a:p>
        </p:txBody>
      </p:sp>
      <p:sp>
        <p:nvSpPr>
          <p:cNvPr id="32" name="Shape 26"/>
          <p:cNvSpPr/>
          <p:nvPr/>
        </p:nvSpPr>
        <p:spPr>
          <a:xfrm>
            <a:off x="9329166" y="2743200"/>
            <a:ext cx="272034" cy="0"/>
          </a:xfrm>
          <a:prstGeom prst="line">
            <a:avLst/>
          </a:prstGeom>
          <a:noFill/>
          <a:ln w="28575">
            <a:solidFill>
              <a:srgbClr val="3CC3F0"/>
            </a:solidFill>
            <a:prstDash val="solid"/>
            <a:tailEnd type="triangle"/>
          </a:ln>
        </p:spPr>
      </p:sp>
      <p:sp>
        <p:nvSpPr>
          <p:cNvPr id="33" name="Shape 27"/>
          <p:cNvSpPr/>
          <p:nvPr/>
        </p:nvSpPr>
        <p:spPr>
          <a:xfrm>
            <a:off x="9628632" y="1783080"/>
            <a:ext cx="1920240" cy="1920240"/>
          </a:xfrm>
          <a:prstGeom prst="roundRect">
            <a:avLst>
              <a:gd name="adj" fmla="val 3810"/>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34" name="Shape 28"/>
          <p:cNvSpPr/>
          <p:nvPr/>
        </p:nvSpPr>
        <p:spPr>
          <a:xfrm>
            <a:off x="9811512" y="1965960"/>
            <a:ext cx="548640" cy="548640"/>
          </a:xfrm>
          <a:prstGeom prst="ellipse">
            <a:avLst/>
          </a:prstGeom>
          <a:solidFill>
            <a:srgbClr val="1547C8"/>
          </a:solidFill>
          <a:ln w="6350">
            <a:solidFill>
              <a:srgbClr val="1547C8"/>
            </a:solidFill>
            <a:prstDash val="solid"/>
          </a:ln>
        </p:spPr>
      </p:sp>
      <p:pic>
        <p:nvPicPr>
          <p:cNvPr id="35" name="Image 4" descr="FaQuoteRight">    </p:cNvPr>
          <p:cNvPicPr>
            <a:picLocks noChangeAspect="1"/>
          </p:cNvPicPr>
          <p:nvPr/>
        </p:nvPicPr>
        <p:blipFill>
          <a:blip r:embed="rId5"/>
          <a:stretch>
            <a:fillRect/>
          </a:stretch>
        </p:blipFill>
        <p:spPr>
          <a:xfrm>
            <a:off x="9959645" y="2114093"/>
            <a:ext cx="252374" cy="252374"/>
          </a:xfrm>
          <a:prstGeom prst="rect">
            <a:avLst/>
          </a:prstGeom>
        </p:spPr>
      </p:pic>
      <p:sp>
        <p:nvSpPr>
          <p:cNvPr id="36" name="Text 29"/>
          <p:cNvSpPr txBox="1"/>
          <p:nvPr/>
        </p:nvSpPr>
        <p:spPr>
          <a:xfrm>
            <a:off x="11045952" y="1965960"/>
            <a:ext cx="320040" cy="320040"/>
          </a:xfrm>
          <a:prstGeom prst="rect">
            <a:avLst/>
          </a:prstGeom>
          <a:noFill/>
          <a:ln/>
        </p:spPr>
        <p:txBody>
          <a:bodyPr wrap="square" lIns="0" tIns="0" rIns="0" bIns="0" rtlCol="0" anchor="t"/>
          <a:lstStyle/>
          <a:p>
            <a:pPr algn="r" indent="0" marL="0">
              <a:buNone/>
            </a:pPr>
            <a:r>
              <a:rPr lang="en-US" sz="1600" b="1" dirty="0">
                <a:solidFill>
                  <a:srgbClr val="D8DEEC"/>
                </a:solidFill>
              </a:rPr>
              <a:t>5</a:t>
            </a:r>
            <a:endParaRPr lang="en-US" sz="1600" dirty="0"/>
          </a:p>
        </p:txBody>
      </p:sp>
      <p:sp>
        <p:nvSpPr>
          <p:cNvPr id="37" name="Text 30"/>
          <p:cNvSpPr txBox="1"/>
          <p:nvPr/>
        </p:nvSpPr>
        <p:spPr>
          <a:xfrm>
            <a:off x="9811512" y="2651760"/>
            <a:ext cx="1554480" cy="320040"/>
          </a:xfrm>
          <a:prstGeom prst="rect">
            <a:avLst/>
          </a:prstGeom>
          <a:noFill/>
          <a:ln/>
        </p:spPr>
        <p:txBody>
          <a:bodyPr wrap="square" lIns="0" tIns="0" rIns="0" bIns="0" rtlCol="0" anchor="t"/>
          <a:lstStyle/>
          <a:p>
            <a:pPr indent="0" marL="0">
              <a:buNone/>
            </a:pPr>
            <a:r>
              <a:rPr lang="en-US" sz="1500" b="1" dirty="0">
                <a:solidFill>
                  <a:srgbClr val="1F2937"/>
                </a:solidFill>
              </a:rPr>
              <a:t>Cite</a:t>
            </a:r>
            <a:endParaRPr lang="en-US" sz="1500" dirty="0"/>
          </a:p>
        </p:txBody>
      </p:sp>
      <p:sp>
        <p:nvSpPr>
          <p:cNvPr id="38" name="Text 31"/>
          <p:cNvSpPr txBox="1"/>
          <p:nvPr/>
        </p:nvSpPr>
        <p:spPr>
          <a:xfrm>
            <a:off x="9811512" y="3017520"/>
            <a:ext cx="1600200" cy="640080"/>
          </a:xfrm>
          <a:prstGeom prst="rect">
            <a:avLst/>
          </a:prstGeom>
          <a:noFill/>
          <a:ln/>
        </p:spPr>
        <p:txBody>
          <a:bodyPr wrap="square" lIns="0" tIns="0" rIns="0" bIns="0" rtlCol="0" anchor="t"/>
          <a:lstStyle/>
          <a:p>
            <a:pPr indent="0" marL="0">
              <a:buNone/>
            </a:pPr>
            <a:r>
              <a:rPr lang="en-US" sz="1100" dirty="0">
                <a:solidFill>
                  <a:srgbClr val="5B6478"/>
                </a:solidFill>
              </a:rPr>
              <a:t>Answer shows article ID and version</a:t>
            </a:r>
            <a:endParaRPr lang="en-US" sz="1100" dirty="0"/>
          </a:p>
        </p:txBody>
      </p:sp>
      <p:sp>
        <p:nvSpPr>
          <p:cNvPr id="39" name="Shape 32"/>
          <p:cNvSpPr/>
          <p:nvPr/>
        </p:nvSpPr>
        <p:spPr>
          <a:xfrm>
            <a:off x="640080" y="3977640"/>
            <a:ext cx="5330952" cy="2103120"/>
          </a:xfrm>
          <a:prstGeom prst="roundRect">
            <a:avLst>
              <a:gd name="adj" fmla="val 3478"/>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40" name="Shape 33"/>
          <p:cNvSpPr/>
          <p:nvPr/>
        </p:nvSpPr>
        <p:spPr>
          <a:xfrm>
            <a:off x="914400" y="4206240"/>
            <a:ext cx="548640" cy="548640"/>
          </a:xfrm>
          <a:prstGeom prst="ellipse">
            <a:avLst/>
          </a:prstGeom>
          <a:solidFill>
            <a:srgbClr val="0A1F5C"/>
          </a:solidFill>
          <a:ln w="6350">
            <a:solidFill>
              <a:srgbClr val="0A1F5C"/>
            </a:solidFill>
            <a:prstDash val="solid"/>
          </a:ln>
        </p:spPr>
      </p:sp>
      <p:pic>
        <p:nvPicPr>
          <p:cNvPr id="41" name="Image 5" descr="FaFolderOpen">    </p:cNvPr>
          <p:cNvPicPr>
            <a:picLocks noChangeAspect="1"/>
          </p:cNvPicPr>
          <p:nvPr/>
        </p:nvPicPr>
        <p:blipFill>
          <a:blip r:embed="rId6"/>
          <a:stretch>
            <a:fillRect/>
          </a:stretch>
        </p:blipFill>
        <p:spPr>
          <a:xfrm>
            <a:off x="1062533" y="4354373"/>
            <a:ext cx="252374" cy="252374"/>
          </a:xfrm>
          <a:prstGeom prst="rect">
            <a:avLst/>
          </a:prstGeom>
        </p:spPr>
      </p:pic>
      <p:sp>
        <p:nvSpPr>
          <p:cNvPr id="42" name="Text 34"/>
          <p:cNvSpPr txBox="1"/>
          <p:nvPr/>
        </p:nvSpPr>
        <p:spPr>
          <a:xfrm>
            <a:off x="1645920" y="4206240"/>
            <a:ext cx="4114800" cy="548640"/>
          </a:xfrm>
          <a:prstGeom prst="rect">
            <a:avLst/>
          </a:prstGeom>
          <a:noFill/>
          <a:ln/>
        </p:spPr>
        <p:txBody>
          <a:bodyPr wrap="square" lIns="0" tIns="0" rIns="0" bIns="0" rtlCol="0" anchor="ctr"/>
          <a:lstStyle/>
          <a:p>
            <a:pPr indent="0" marL="0">
              <a:buNone/>
            </a:pPr>
            <a:r>
              <a:rPr lang="en-US" sz="1600" b="1" dirty="0">
                <a:solidFill>
                  <a:srgbClr val="1F2937"/>
                </a:solidFill>
              </a:rPr>
              <a:t>Separation of content</a:t>
            </a:r>
            <a:endParaRPr lang="en-US" sz="1600" dirty="0"/>
          </a:p>
        </p:txBody>
      </p:sp>
      <p:sp>
        <p:nvSpPr>
          <p:cNvPr id="43" name="Text 35"/>
          <p:cNvSpPr txBox="1"/>
          <p:nvPr/>
        </p:nvSpPr>
        <p:spPr>
          <a:xfrm>
            <a:off x="914400" y="4937760"/>
            <a:ext cx="4800600" cy="1097280"/>
          </a:xfrm>
          <a:prstGeom prst="rect">
            <a:avLst/>
          </a:prstGeom>
          <a:noFill/>
          <a:ln/>
        </p:spPr>
        <p:txBody>
          <a:bodyPr wrap="square" lIns="0" tIns="0" rIns="0" bIns="0" rtlCol="0" anchor="t"/>
          <a:lstStyle/>
          <a:p>
            <a:pPr indent="0" marL="0">
              <a:buNone/>
            </a:pPr>
            <a:r>
              <a:rPr lang="en-US" sz="1200" dirty="0">
                <a:solidFill>
                  <a:srgbClr val="5B6478"/>
                </a:solidFill>
              </a:rPr>
              <a:t>Approved documents are searchable. Draft and Retired documents are stored separately and never retrieved. Today: 103 approved, 7 held back.</a:t>
            </a:r>
            <a:endParaRPr lang="en-US" sz="1200" dirty="0"/>
          </a:p>
        </p:txBody>
      </p:sp>
      <p:sp>
        <p:nvSpPr>
          <p:cNvPr id="44" name="Shape 36"/>
          <p:cNvSpPr/>
          <p:nvPr/>
        </p:nvSpPr>
        <p:spPr>
          <a:xfrm>
            <a:off x="6217920" y="3977640"/>
            <a:ext cx="5330952" cy="2103120"/>
          </a:xfrm>
          <a:prstGeom prst="roundRect">
            <a:avLst>
              <a:gd name="adj" fmla="val 3478"/>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45" name="Shape 37"/>
          <p:cNvSpPr/>
          <p:nvPr/>
        </p:nvSpPr>
        <p:spPr>
          <a:xfrm>
            <a:off x="6492240" y="4206240"/>
            <a:ext cx="548640" cy="548640"/>
          </a:xfrm>
          <a:prstGeom prst="ellipse">
            <a:avLst/>
          </a:prstGeom>
          <a:solidFill>
            <a:srgbClr val="0A1F5C"/>
          </a:solidFill>
          <a:ln w="6350">
            <a:solidFill>
              <a:srgbClr val="0A1F5C"/>
            </a:solidFill>
            <a:prstDash val="solid"/>
          </a:ln>
        </p:spPr>
      </p:sp>
      <p:pic>
        <p:nvPicPr>
          <p:cNvPr id="46" name="Image 6" descr="FaCheckDouble">    </p:cNvPr>
          <p:cNvPicPr>
            <a:picLocks noChangeAspect="1"/>
          </p:cNvPicPr>
          <p:nvPr/>
        </p:nvPicPr>
        <p:blipFill>
          <a:blip r:embed="rId7"/>
          <a:stretch>
            <a:fillRect/>
          </a:stretch>
        </p:blipFill>
        <p:spPr>
          <a:xfrm>
            <a:off x="6640373" y="4354373"/>
            <a:ext cx="252374" cy="252374"/>
          </a:xfrm>
          <a:prstGeom prst="rect">
            <a:avLst/>
          </a:prstGeom>
        </p:spPr>
      </p:pic>
      <p:sp>
        <p:nvSpPr>
          <p:cNvPr id="47" name="Text 38"/>
          <p:cNvSpPr txBox="1"/>
          <p:nvPr/>
        </p:nvSpPr>
        <p:spPr>
          <a:xfrm>
            <a:off x="7223760" y="4206240"/>
            <a:ext cx="4114800" cy="548640"/>
          </a:xfrm>
          <a:prstGeom prst="rect">
            <a:avLst/>
          </a:prstGeom>
          <a:noFill/>
          <a:ln/>
        </p:spPr>
        <p:txBody>
          <a:bodyPr wrap="square" lIns="0" tIns="0" rIns="0" bIns="0" rtlCol="0" anchor="ctr"/>
          <a:lstStyle/>
          <a:p>
            <a:pPr indent="0" marL="0">
              <a:buNone/>
            </a:pPr>
            <a:r>
              <a:rPr lang="en-US" sz="1600" b="1" dirty="0">
                <a:solidFill>
                  <a:srgbClr val="1F2937"/>
                </a:solidFill>
              </a:rPr>
              <a:t>Citation validation</a:t>
            </a:r>
            <a:endParaRPr lang="en-US" sz="1600" dirty="0"/>
          </a:p>
        </p:txBody>
      </p:sp>
      <p:sp>
        <p:nvSpPr>
          <p:cNvPr id="48" name="Text 39"/>
          <p:cNvSpPr txBox="1"/>
          <p:nvPr/>
        </p:nvSpPr>
        <p:spPr>
          <a:xfrm>
            <a:off x="6492240" y="4937760"/>
            <a:ext cx="4800600" cy="1097280"/>
          </a:xfrm>
          <a:prstGeom prst="rect">
            <a:avLst/>
          </a:prstGeom>
          <a:noFill/>
          <a:ln/>
        </p:spPr>
        <p:txBody>
          <a:bodyPr wrap="square" lIns="0" tIns="0" rIns="0" bIns="0" rtlCol="0" anchor="t"/>
          <a:lstStyle/>
          <a:p>
            <a:pPr indent="0" marL="0">
              <a:buNone/>
            </a:pPr>
            <a:r>
              <a:rPr lang="en-US" sz="1200" dirty="0">
                <a:solidFill>
                  <a:srgbClr val="5B6478"/>
                </a:solidFill>
              </a:rPr>
              <a:t>A cited article must exist in the catalog, be Approved, fit the member's program and show its catalog version. If none qualifies, the system states the gap and asks staff to follow up.</a:t>
            </a:r>
            <a:endParaRPr lang="en-US" sz="12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body" hasCustomPrompt="1"/>
          </p:nvPr>
        </p:nvSpPr>
        <p:spPr>
          <a:xfrm>
            <a:off x="640080" y="411480"/>
            <a:ext cx="7315200" cy="274320"/>
          </a:xfrm>
          <a:prstGeom prst="rect">
            <a:avLst/>
          </a:prstGeom>
          <a:noFill/>
          <a:ln/>
        </p:spPr>
        <p:txBody>
          <a:bodyPr wrap="square" lIns="0" tIns="0" rIns="0" bIns="0" rtlCol="0" anchor="t"/>
          <a:lstStyle/>
          <a:p>
            <a:pPr indent="0" marL="0">
              <a:buNone/>
            </a:pPr>
            <a:r>
              <a:rPr lang="en-US" sz="1200" b="1" spc="400" kern="0" dirty="0">
                <a:solidFill>
                  <a:srgbClr val="3CC3F0"/>
                </a:solidFill>
              </a:rPr>
              <a:t>PRIVACY AND AUDIT</a:t>
            </a:r>
            <a:endParaRPr lang="en-US" sz="1200" dirty="0"/>
          </a:p>
        </p:txBody>
      </p:sp>
      <p:sp>
        <p:nvSpPr>
          <p:cNvPr id="3" name="Text 2"/>
          <p:cNvSpPr/>
          <p:nvPr>
            <p:ph idx="104" type="title" hasCustomPrompt="1"/>
          </p:nvPr>
        </p:nvSpPr>
        <p:spPr>
          <a:xfrm>
            <a:off x="640080" y="777240"/>
            <a:ext cx="10908792" cy="731520"/>
          </a:xfrm>
          <a:prstGeom prst="rect">
            <a:avLst/>
          </a:prstGeom>
          <a:noFill/>
          <a:ln/>
        </p:spPr>
        <p:txBody>
          <a:bodyPr wrap="square" lIns="0" tIns="0" rIns="0" bIns="0" rtlCol="0" anchor="t"/>
          <a:lstStyle/>
          <a:p>
            <a:pPr algn="l" indent="0" marL="0">
              <a:buNone/>
            </a:pPr>
            <a:r>
              <a:rPr lang="en-US" sz="3000" b="1" dirty="0">
                <a:solidFill>
                  <a:srgbClr val="FFFFFF"/>
                </a:solidFill>
              </a:rPr>
              <a:t>Privacy and auditability are built in</a:t>
            </a:r>
            <a:endParaRPr lang="en-US" sz="3000" dirty="0"/>
          </a:p>
        </p:txBody>
      </p:sp>
      <p:sp>
        <p:nvSpPr>
          <p:cNvPr id="4" name="Text 2"/>
          <p:cNvSpPr txBox="1"/>
          <p:nvPr/>
        </p:nvSpPr>
        <p:spPr>
          <a:xfrm>
            <a:off x="7863840" y="411480"/>
            <a:ext cx="3685032" cy="274320"/>
          </a:xfrm>
          <a:prstGeom prst="rect">
            <a:avLst/>
          </a:prstGeom>
          <a:noFill/>
          <a:ln/>
        </p:spPr>
        <p:txBody>
          <a:bodyPr wrap="square" lIns="0" tIns="0" rIns="0" bIns="0" rtlCol="0" anchor="t"/>
          <a:lstStyle/>
          <a:p>
            <a:pPr algn="r" indent="0" marL="0">
              <a:buNone/>
            </a:pPr>
            <a:r>
              <a:rPr lang="en-US" sz="1000" b="1" spc="300" kern="0" dirty="0">
                <a:solidFill>
                  <a:srgbClr val="A9BBEA"/>
                </a:solidFill>
              </a:rPr>
              <a:t>SAFETY</a:t>
            </a:r>
            <a:endParaRPr lang="en-US" sz="1000" dirty="0"/>
          </a:p>
        </p:txBody>
      </p:sp>
      <p:sp>
        <p:nvSpPr>
          <p:cNvPr id="5" name="Shape 3"/>
          <p:cNvSpPr/>
          <p:nvPr/>
        </p:nvSpPr>
        <p:spPr>
          <a:xfrm>
            <a:off x="640080" y="1783080"/>
            <a:ext cx="5330952" cy="1920240"/>
          </a:xfrm>
          <a:prstGeom prst="roundRect">
            <a:avLst>
              <a:gd name="adj" fmla="val 3810"/>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6" name="Shape 4"/>
          <p:cNvSpPr/>
          <p:nvPr/>
        </p:nvSpPr>
        <p:spPr>
          <a:xfrm>
            <a:off x="914400" y="2057400"/>
            <a:ext cx="685800" cy="685800"/>
          </a:xfrm>
          <a:prstGeom prst="ellipse">
            <a:avLst/>
          </a:prstGeom>
          <a:solidFill>
            <a:srgbClr val="1547C8"/>
          </a:solidFill>
          <a:ln w="6350">
            <a:solidFill>
              <a:srgbClr val="1547C8"/>
            </a:solidFill>
            <a:prstDash val="solid"/>
          </a:ln>
        </p:spPr>
      </p:sp>
      <p:pic>
        <p:nvPicPr>
          <p:cNvPr id="7" name="Image 0" descr="FaUserSecret">    </p:cNvPr>
          <p:cNvPicPr>
            <a:picLocks noChangeAspect="1"/>
          </p:cNvPicPr>
          <p:nvPr/>
        </p:nvPicPr>
        <p:blipFill>
          <a:blip r:embed="rId1"/>
          <a:stretch>
            <a:fillRect/>
          </a:stretch>
        </p:blipFill>
        <p:spPr>
          <a:xfrm>
            <a:off x="1099566" y="2242566"/>
            <a:ext cx="315468" cy="315468"/>
          </a:xfrm>
          <a:prstGeom prst="rect">
            <a:avLst/>
          </a:prstGeom>
        </p:spPr>
      </p:pic>
      <p:sp>
        <p:nvSpPr>
          <p:cNvPr id="8" name="Text 5"/>
          <p:cNvSpPr txBox="1"/>
          <p:nvPr/>
        </p:nvSpPr>
        <p:spPr>
          <a:xfrm>
            <a:off x="1828800" y="2057400"/>
            <a:ext cx="3931920" cy="457200"/>
          </a:xfrm>
          <a:prstGeom prst="rect">
            <a:avLst/>
          </a:prstGeom>
          <a:noFill/>
          <a:ln/>
        </p:spPr>
        <p:txBody>
          <a:bodyPr wrap="square" lIns="0" tIns="0" rIns="0" bIns="0" rtlCol="0" anchor="ctr"/>
          <a:lstStyle/>
          <a:p>
            <a:pPr indent="0" marL="0">
              <a:buNone/>
            </a:pPr>
            <a:r>
              <a:rPr lang="en-US" sz="1800" b="1" dirty="0">
                <a:solidFill>
                  <a:srgbClr val="1F2937"/>
                </a:solidFill>
              </a:rPr>
              <a:t>Masked identifiers</a:t>
            </a:r>
            <a:endParaRPr lang="en-US" sz="1800" dirty="0"/>
          </a:p>
        </p:txBody>
      </p:sp>
      <p:sp>
        <p:nvSpPr>
          <p:cNvPr id="9" name="Text 6"/>
          <p:cNvSpPr txBox="1"/>
          <p:nvPr/>
        </p:nvSpPr>
        <p:spPr>
          <a:xfrm>
            <a:off x="1828800" y="2651760"/>
            <a:ext cx="3931920" cy="914400"/>
          </a:xfrm>
          <a:prstGeom prst="rect">
            <a:avLst/>
          </a:prstGeom>
          <a:noFill/>
          <a:ln/>
        </p:spPr>
        <p:txBody>
          <a:bodyPr wrap="square" lIns="0" tIns="0" rIns="0" bIns="0" rtlCol="0" anchor="t"/>
          <a:lstStyle/>
          <a:p>
            <a:pPr indent="0" marL="0">
              <a:buNone/>
            </a:pPr>
            <a:r>
              <a:rPr lang="en-US" sz="1300" dirty="0">
                <a:solidFill>
                  <a:srgbClr val="5B6478"/>
                </a:solidFill>
              </a:rPr>
              <a:t>Member IDs are partly hidden in all logs, for example M-1**.</a:t>
            </a:r>
            <a:endParaRPr lang="en-US" sz="1300" dirty="0"/>
          </a:p>
        </p:txBody>
      </p:sp>
      <p:sp>
        <p:nvSpPr>
          <p:cNvPr id="10" name="Shape 7"/>
          <p:cNvSpPr/>
          <p:nvPr/>
        </p:nvSpPr>
        <p:spPr>
          <a:xfrm>
            <a:off x="6217920" y="1783080"/>
            <a:ext cx="5330952" cy="1920240"/>
          </a:xfrm>
          <a:prstGeom prst="roundRect">
            <a:avLst>
              <a:gd name="adj" fmla="val 3810"/>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11" name="Shape 8"/>
          <p:cNvSpPr/>
          <p:nvPr/>
        </p:nvSpPr>
        <p:spPr>
          <a:xfrm>
            <a:off x="6492240" y="2057400"/>
            <a:ext cx="685800" cy="685800"/>
          </a:xfrm>
          <a:prstGeom prst="ellipse">
            <a:avLst/>
          </a:prstGeom>
          <a:solidFill>
            <a:srgbClr val="1547C8"/>
          </a:solidFill>
          <a:ln w="6350">
            <a:solidFill>
              <a:srgbClr val="1547C8"/>
            </a:solidFill>
            <a:prstDash val="solid"/>
          </a:ln>
        </p:spPr>
      </p:sp>
      <p:pic>
        <p:nvPicPr>
          <p:cNvPr id="12" name="Image 1" descr="FaEyeSlash">    </p:cNvPr>
          <p:cNvPicPr>
            <a:picLocks noChangeAspect="1"/>
          </p:cNvPicPr>
          <p:nvPr/>
        </p:nvPicPr>
        <p:blipFill>
          <a:blip r:embed="rId2"/>
          <a:stretch>
            <a:fillRect/>
          </a:stretch>
        </p:blipFill>
        <p:spPr>
          <a:xfrm>
            <a:off x="6677406" y="2242566"/>
            <a:ext cx="315468" cy="315468"/>
          </a:xfrm>
          <a:prstGeom prst="rect">
            <a:avLst/>
          </a:prstGeom>
        </p:spPr>
      </p:pic>
      <p:sp>
        <p:nvSpPr>
          <p:cNvPr id="13" name="Text 9"/>
          <p:cNvSpPr txBox="1"/>
          <p:nvPr/>
        </p:nvSpPr>
        <p:spPr>
          <a:xfrm>
            <a:off x="7406640" y="2057400"/>
            <a:ext cx="3931920" cy="457200"/>
          </a:xfrm>
          <a:prstGeom prst="rect">
            <a:avLst/>
          </a:prstGeom>
          <a:noFill/>
          <a:ln/>
        </p:spPr>
        <p:txBody>
          <a:bodyPr wrap="square" lIns="0" tIns="0" rIns="0" bIns="0" rtlCol="0" anchor="ctr"/>
          <a:lstStyle/>
          <a:p>
            <a:pPr indent="0" marL="0">
              <a:buNone/>
            </a:pPr>
            <a:r>
              <a:rPr lang="en-US" sz="1800" b="1" dirty="0">
                <a:solidFill>
                  <a:srgbClr val="1F2937"/>
                </a:solidFill>
              </a:rPr>
              <a:t>Minimal logging</a:t>
            </a:r>
            <a:endParaRPr lang="en-US" sz="1800" dirty="0"/>
          </a:p>
        </p:txBody>
      </p:sp>
      <p:sp>
        <p:nvSpPr>
          <p:cNvPr id="14" name="Text 10"/>
          <p:cNvSpPr txBox="1"/>
          <p:nvPr/>
        </p:nvSpPr>
        <p:spPr>
          <a:xfrm>
            <a:off x="7406640" y="2651760"/>
            <a:ext cx="3931920" cy="914400"/>
          </a:xfrm>
          <a:prstGeom prst="rect">
            <a:avLst/>
          </a:prstGeom>
          <a:noFill/>
          <a:ln/>
        </p:spPr>
        <p:txBody>
          <a:bodyPr wrap="square" lIns="0" tIns="0" rIns="0" bIns="0" rtlCol="0" anchor="t"/>
          <a:lstStyle/>
          <a:p>
            <a:pPr indent="0" marL="0">
              <a:buNone/>
            </a:pPr>
            <a:r>
              <a:rPr lang="en-US" sz="1300" dirty="0">
                <a:solidFill>
                  <a:srgbClr val="5B6478"/>
                </a:solidFill>
              </a:rPr>
              <a:t>The audit record stores no message text and no reading values.</a:t>
            </a:r>
            <a:endParaRPr lang="en-US" sz="1300" dirty="0"/>
          </a:p>
        </p:txBody>
      </p:sp>
      <p:sp>
        <p:nvSpPr>
          <p:cNvPr id="15" name="Shape 11"/>
          <p:cNvSpPr/>
          <p:nvPr/>
        </p:nvSpPr>
        <p:spPr>
          <a:xfrm>
            <a:off x="640080" y="3886200"/>
            <a:ext cx="5330952" cy="1920240"/>
          </a:xfrm>
          <a:prstGeom prst="roundRect">
            <a:avLst>
              <a:gd name="adj" fmla="val 3810"/>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16" name="Shape 12"/>
          <p:cNvSpPr/>
          <p:nvPr/>
        </p:nvSpPr>
        <p:spPr>
          <a:xfrm>
            <a:off x="914400" y="4160520"/>
            <a:ext cx="685800" cy="685800"/>
          </a:xfrm>
          <a:prstGeom prst="ellipse">
            <a:avLst/>
          </a:prstGeom>
          <a:solidFill>
            <a:srgbClr val="1547C8"/>
          </a:solidFill>
          <a:ln w="6350">
            <a:solidFill>
              <a:srgbClr val="1547C8"/>
            </a:solidFill>
            <a:prstDash val="solid"/>
          </a:ln>
        </p:spPr>
      </p:sp>
      <p:pic>
        <p:nvPicPr>
          <p:cNvPr id="17" name="Image 2" descr="FaRoute">    </p:cNvPr>
          <p:cNvPicPr>
            <a:picLocks noChangeAspect="1"/>
          </p:cNvPicPr>
          <p:nvPr/>
        </p:nvPicPr>
        <p:blipFill>
          <a:blip r:embed="rId3"/>
          <a:stretch>
            <a:fillRect/>
          </a:stretch>
        </p:blipFill>
        <p:spPr>
          <a:xfrm>
            <a:off x="1099566" y="4345686"/>
            <a:ext cx="315468" cy="315468"/>
          </a:xfrm>
          <a:prstGeom prst="rect">
            <a:avLst/>
          </a:prstGeom>
        </p:spPr>
      </p:pic>
      <p:sp>
        <p:nvSpPr>
          <p:cNvPr id="18" name="Text 13"/>
          <p:cNvSpPr txBox="1"/>
          <p:nvPr/>
        </p:nvSpPr>
        <p:spPr>
          <a:xfrm>
            <a:off x="1828800" y="4160520"/>
            <a:ext cx="3931920" cy="457200"/>
          </a:xfrm>
          <a:prstGeom prst="rect">
            <a:avLst/>
          </a:prstGeom>
          <a:noFill/>
          <a:ln/>
        </p:spPr>
        <p:txBody>
          <a:bodyPr wrap="square" lIns="0" tIns="0" rIns="0" bIns="0" rtlCol="0" anchor="ctr"/>
          <a:lstStyle/>
          <a:p>
            <a:pPr indent="0" marL="0">
              <a:buNone/>
            </a:pPr>
            <a:r>
              <a:rPr lang="en-US" sz="1800" b="1" dirty="0">
                <a:solidFill>
                  <a:srgbClr val="1F2937"/>
                </a:solidFill>
              </a:rPr>
              <a:t>Full traceability</a:t>
            </a:r>
            <a:endParaRPr lang="en-US" sz="1800" dirty="0"/>
          </a:p>
        </p:txBody>
      </p:sp>
      <p:sp>
        <p:nvSpPr>
          <p:cNvPr id="19" name="Text 14"/>
          <p:cNvSpPr txBox="1"/>
          <p:nvPr/>
        </p:nvSpPr>
        <p:spPr>
          <a:xfrm>
            <a:off x="1828800" y="4754880"/>
            <a:ext cx="3931920" cy="914400"/>
          </a:xfrm>
          <a:prstGeom prst="rect">
            <a:avLst/>
          </a:prstGeom>
          <a:noFill/>
          <a:ln/>
        </p:spPr>
        <p:txBody>
          <a:bodyPr wrap="square" lIns="0" tIns="0" rIns="0" bIns="0" rtlCol="0" anchor="t"/>
          <a:lstStyle/>
          <a:p>
            <a:pPr indent="0" marL="0">
              <a:buNone/>
            </a:pPr>
            <a:r>
              <a:rPr lang="en-US" sz="1300" dirty="0">
                <a:solidFill>
                  <a:srgbClr val="5B6478"/>
                </a:solidFill>
              </a:rPr>
              <a:t>Each record shows the agents called, the rules that fired and the source versions used.</a:t>
            </a:r>
            <a:endParaRPr lang="en-US" sz="1300" dirty="0"/>
          </a:p>
        </p:txBody>
      </p:sp>
      <p:sp>
        <p:nvSpPr>
          <p:cNvPr id="20" name="Shape 15"/>
          <p:cNvSpPr/>
          <p:nvPr/>
        </p:nvSpPr>
        <p:spPr>
          <a:xfrm>
            <a:off x="6217920" y="3886200"/>
            <a:ext cx="5330952" cy="1920240"/>
          </a:xfrm>
          <a:prstGeom prst="roundRect">
            <a:avLst>
              <a:gd name="adj" fmla="val 3810"/>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21" name="Shape 16"/>
          <p:cNvSpPr/>
          <p:nvPr/>
        </p:nvSpPr>
        <p:spPr>
          <a:xfrm>
            <a:off x="6492240" y="4160520"/>
            <a:ext cx="685800" cy="685800"/>
          </a:xfrm>
          <a:prstGeom prst="ellipse">
            <a:avLst/>
          </a:prstGeom>
          <a:solidFill>
            <a:srgbClr val="1547C8"/>
          </a:solidFill>
          <a:ln w="6350">
            <a:solidFill>
              <a:srgbClr val="1547C8"/>
            </a:solidFill>
            <a:prstDash val="solid"/>
          </a:ln>
        </p:spPr>
      </p:sp>
      <p:pic>
        <p:nvPicPr>
          <p:cNvPr id="22" name="Image 3" descr="FaHistory">    </p:cNvPr>
          <p:cNvPicPr>
            <a:picLocks noChangeAspect="1"/>
          </p:cNvPicPr>
          <p:nvPr/>
        </p:nvPicPr>
        <p:blipFill>
          <a:blip r:embed="rId4"/>
          <a:stretch>
            <a:fillRect/>
          </a:stretch>
        </p:blipFill>
        <p:spPr>
          <a:xfrm>
            <a:off x="6677406" y="4345686"/>
            <a:ext cx="315468" cy="315468"/>
          </a:xfrm>
          <a:prstGeom prst="rect">
            <a:avLst/>
          </a:prstGeom>
        </p:spPr>
      </p:pic>
      <p:sp>
        <p:nvSpPr>
          <p:cNvPr id="23" name="Text 17"/>
          <p:cNvSpPr txBox="1"/>
          <p:nvPr/>
        </p:nvSpPr>
        <p:spPr>
          <a:xfrm>
            <a:off x="7406640" y="4160520"/>
            <a:ext cx="3931920" cy="457200"/>
          </a:xfrm>
          <a:prstGeom prst="rect">
            <a:avLst/>
          </a:prstGeom>
          <a:noFill/>
          <a:ln/>
        </p:spPr>
        <p:txBody>
          <a:bodyPr wrap="square" lIns="0" tIns="0" rIns="0" bIns="0" rtlCol="0" anchor="ctr"/>
          <a:lstStyle/>
          <a:p>
            <a:pPr indent="0" marL="0">
              <a:buNone/>
            </a:pPr>
            <a:r>
              <a:rPr lang="en-US" sz="1800" b="1" dirty="0">
                <a:solidFill>
                  <a:srgbClr val="1F2937"/>
                </a:solidFill>
              </a:rPr>
              <a:t>Controlled change</a:t>
            </a:r>
            <a:endParaRPr lang="en-US" sz="1800" dirty="0"/>
          </a:p>
        </p:txBody>
      </p:sp>
      <p:sp>
        <p:nvSpPr>
          <p:cNvPr id="24" name="Text 18"/>
          <p:cNvSpPr txBox="1"/>
          <p:nvPr/>
        </p:nvSpPr>
        <p:spPr>
          <a:xfrm>
            <a:off x="7406640" y="4754880"/>
            <a:ext cx="3931920" cy="914400"/>
          </a:xfrm>
          <a:prstGeom prst="rect">
            <a:avLst/>
          </a:prstGeom>
          <a:noFill/>
          <a:ln/>
        </p:spPr>
        <p:txBody>
          <a:bodyPr wrap="square" lIns="0" tIns="0" rIns="0" bIns="0" rtlCol="0" anchor="t"/>
          <a:lstStyle/>
          <a:p>
            <a:pPr indent="0" marL="0">
              <a:buNone/>
            </a:pPr>
            <a:r>
              <a:rPr lang="en-US" sz="1300" dirty="0">
                <a:solidFill>
                  <a:srgbClr val="5B6478"/>
                </a:solidFill>
              </a:rPr>
              <a:t>Data and rule edits are versioned, can be rolled back, and content needs an approver.</a:t>
            </a:r>
            <a:endParaRPr lang="en-US" sz="1300" dirty="0"/>
          </a:p>
        </p:txBody>
      </p:sp>
      <p:sp>
        <p:nvSpPr>
          <p:cNvPr id="25" name="Text 19"/>
          <p:cNvSpPr txBox="1"/>
          <p:nvPr/>
        </p:nvSpPr>
        <p:spPr>
          <a:xfrm>
            <a:off x="640080" y="6035040"/>
            <a:ext cx="10908792" cy="274320"/>
          </a:xfrm>
          <a:prstGeom prst="rect">
            <a:avLst/>
          </a:prstGeom>
          <a:noFill/>
          <a:ln/>
        </p:spPr>
        <p:txBody>
          <a:bodyPr wrap="square" lIns="0" tIns="0" rIns="0" bIns="0" rtlCol="0" anchor="t"/>
          <a:lstStyle/>
          <a:p>
            <a:pPr indent="0" marL="0">
              <a:buNone/>
            </a:pPr>
            <a:r>
              <a:rPr lang="en-US" sz="1150" b="1" dirty="0">
                <a:solidFill>
                  <a:srgbClr val="CFE0FF"/>
                </a:solidFill>
              </a:rPr>
              <a:t>Prototype scope: all data is synthetic. No protected health information is used.</a:t>
            </a:r>
            <a:endParaRPr lang="en-US" sz="115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body" hasCustomPrompt="1"/>
          </p:nvPr>
        </p:nvSpPr>
        <p:spPr>
          <a:xfrm>
            <a:off x="640080" y="411480"/>
            <a:ext cx="7315200" cy="274320"/>
          </a:xfrm>
          <a:prstGeom prst="rect">
            <a:avLst/>
          </a:prstGeom>
          <a:noFill/>
          <a:ln/>
        </p:spPr>
        <p:txBody>
          <a:bodyPr wrap="square" lIns="0" tIns="0" rIns="0" bIns="0" rtlCol="0" anchor="t"/>
          <a:lstStyle/>
          <a:p>
            <a:pPr indent="0" marL="0">
              <a:buNone/>
            </a:pPr>
            <a:r>
              <a:rPr lang="en-US" sz="1200" b="1" spc="400" kern="0" dirty="0">
                <a:solidFill>
                  <a:srgbClr val="3CC3F0"/>
                </a:solidFill>
              </a:rPr>
              <a:t>TEST DATA</a:t>
            </a:r>
            <a:endParaRPr lang="en-US" sz="1200" dirty="0"/>
          </a:p>
        </p:txBody>
      </p:sp>
      <p:sp>
        <p:nvSpPr>
          <p:cNvPr id="3" name="Text 2"/>
          <p:cNvSpPr/>
          <p:nvPr>
            <p:ph idx="104" type="title" hasCustomPrompt="1"/>
          </p:nvPr>
        </p:nvSpPr>
        <p:spPr>
          <a:xfrm>
            <a:off x="640080" y="777240"/>
            <a:ext cx="10908792" cy="731520"/>
          </a:xfrm>
          <a:prstGeom prst="rect">
            <a:avLst/>
          </a:prstGeom>
          <a:noFill/>
          <a:ln/>
        </p:spPr>
        <p:txBody>
          <a:bodyPr wrap="square" lIns="0" tIns="0" rIns="0" bIns="0" rtlCol="0" anchor="t"/>
          <a:lstStyle/>
          <a:p>
            <a:pPr algn="l" indent="0" marL="0">
              <a:buNone/>
            </a:pPr>
            <a:r>
              <a:rPr lang="en-US" sz="3000" b="1" dirty="0">
                <a:solidFill>
                  <a:srgbClr val="FFFFFF"/>
                </a:solidFill>
              </a:rPr>
              <a:t>A synthetic data set covers realistic scenarios</a:t>
            </a:r>
            <a:endParaRPr lang="en-US" sz="3000" dirty="0"/>
          </a:p>
        </p:txBody>
      </p:sp>
      <p:sp>
        <p:nvSpPr>
          <p:cNvPr id="4" name="Text 2"/>
          <p:cNvSpPr txBox="1"/>
          <p:nvPr/>
        </p:nvSpPr>
        <p:spPr>
          <a:xfrm>
            <a:off x="7863840" y="411480"/>
            <a:ext cx="3685032" cy="274320"/>
          </a:xfrm>
          <a:prstGeom prst="rect">
            <a:avLst/>
          </a:prstGeom>
          <a:noFill/>
          <a:ln/>
        </p:spPr>
        <p:txBody>
          <a:bodyPr wrap="square" lIns="0" tIns="0" rIns="0" bIns="0" rtlCol="0" anchor="t"/>
          <a:lstStyle/>
          <a:p>
            <a:pPr algn="r" indent="0" marL="0">
              <a:buNone/>
            </a:pPr>
            <a:r>
              <a:rPr lang="en-US" sz="1000" b="1" spc="300" kern="0" dirty="0">
                <a:solidFill>
                  <a:srgbClr val="A9BBEA"/>
                </a:solidFill>
              </a:rPr>
              <a:t>EVIDENCE</a:t>
            </a:r>
            <a:endParaRPr lang="en-US" sz="1000" dirty="0"/>
          </a:p>
        </p:txBody>
      </p:sp>
      <p:sp>
        <p:nvSpPr>
          <p:cNvPr id="5" name="Shape 3"/>
          <p:cNvSpPr/>
          <p:nvPr/>
        </p:nvSpPr>
        <p:spPr>
          <a:xfrm>
            <a:off x="640080" y="1783080"/>
            <a:ext cx="1554480" cy="1280160"/>
          </a:xfrm>
          <a:prstGeom prst="roundRect">
            <a:avLst>
              <a:gd name="adj" fmla="val 5714"/>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6" name="Text 4"/>
          <p:cNvSpPr txBox="1"/>
          <p:nvPr/>
        </p:nvSpPr>
        <p:spPr>
          <a:xfrm>
            <a:off x="640080" y="1965960"/>
            <a:ext cx="1554480" cy="594360"/>
          </a:xfrm>
          <a:prstGeom prst="rect">
            <a:avLst/>
          </a:prstGeom>
          <a:noFill/>
          <a:ln/>
        </p:spPr>
        <p:txBody>
          <a:bodyPr wrap="square" lIns="0" tIns="0" rIns="0" bIns="0" rtlCol="0" anchor="ctr"/>
          <a:lstStyle/>
          <a:p>
            <a:pPr algn="ctr" indent="0" marL="0">
              <a:buNone/>
            </a:pPr>
            <a:r>
              <a:rPr lang="en-US" sz="3000" b="1" dirty="0">
                <a:solidFill>
                  <a:srgbClr val="1547C8"/>
                </a:solidFill>
              </a:rPr>
              <a:t>250</a:t>
            </a:r>
            <a:endParaRPr lang="en-US" sz="3000" dirty="0"/>
          </a:p>
        </p:txBody>
      </p:sp>
      <p:sp>
        <p:nvSpPr>
          <p:cNvPr id="7" name="Text 5"/>
          <p:cNvSpPr txBox="1"/>
          <p:nvPr/>
        </p:nvSpPr>
        <p:spPr>
          <a:xfrm>
            <a:off x="713232" y="2606040"/>
            <a:ext cx="1408176" cy="365760"/>
          </a:xfrm>
          <a:prstGeom prst="rect">
            <a:avLst/>
          </a:prstGeom>
          <a:noFill/>
          <a:ln/>
        </p:spPr>
        <p:txBody>
          <a:bodyPr wrap="square" lIns="0" tIns="0" rIns="0" bIns="0" rtlCol="0" anchor="t"/>
          <a:lstStyle/>
          <a:p>
            <a:pPr algn="ctr" indent="0" marL="0">
              <a:buNone/>
            </a:pPr>
            <a:r>
              <a:rPr lang="en-US" sz="1100" dirty="0">
                <a:solidFill>
                  <a:srgbClr val="5B6478"/>
                </a:solidFill>
              </a:rPr>
              <a:t>members</a:t>
            </a:r>
            <a:endParaRPr lang="en-US" sz="1100" dirty="0"/>
          </a:p>
        </p:txBody>
      </p:sp>
      <p:sp>
        <p:nvSpPr>
          <p:cNvPr id="8" name="Shape 6"/>
          <p:cNvSpPr/>
          <p:nvPr/>
        </p:nvSpPr>
        <p:spPr>
          <a:xfrm>
            <a:off x="2286000" y="1783080"/>
            <a:ext cx="1554480" cy="1280160"/>
          </a:xfrm>
          <a:prstGeom prst="roundRect">
            <a:avLst>
              <a:gd name="adj" fmla="val 5714"/>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9" name="Text 7"/>
          <p:cNvSpPr txBox="1"/>
          <p:nvPr/>
        </p:nvSpPr>
        <p:spPr>
          <a:xfrm>
            <a:off x="2286000" y="1965960"/>
            <a:ext cx="1554480" cy="594360"/>
          </a:xfrm>
          <a:prstGeom prst="rect">
            <a:avLst/>
          </a:prstGeom>
          <a:noFill/>
          <a:ln/>
        </p:spPr>
        <p:txBody>
          <a:bodyPr wrap="square" lIns="0" tIns="0" rIns="0" bIns="0" rtlCol="0" anchor="ctr"/>
          <a:lstStyle/>
          <a:p>
            <a:pPr algn="ctr" indent="0" marL="0">
              <a:buNone/>
            </a:pPr>
            <a:r>
              <a:rPr lang="en-US" sz="3000" b="1" dirty="0">
                <a:solidFill>
                  <a:srgbClr val="1547C8"/>
                </a:solidFill>
              </a:rPr>
              <a:t>5,573</a:t>
            </a:r>
            <a:endParaRPr lang="en-US" sz="3000" dirty="0"/>
          </a:p>
        </p:txBody>
      </p:sp>
      <p:sp>
        <p:nvSpPr>
          <p:cNvPr id="10" name="Text 8"/>
          <p:cNvSpPr txBox="1"/>
          <p:nvPr/>
        </p:nvSpPr>
        <p:spPr>
          <a:xfrm>
            <a:off x="2359152" y="2606040"/>
            <a:ext cx="1408176" cy="365760"/>
          </a:xfrm>
          <a:prstGeom prst="rect">
            <a:avLst/>
          </a:prstGeom>
          <a:noFill/>
          <a:ln/>
        </p:spPr>
        <p:txBody>
          <a:bodyPr wrap="square" lIns="0" tIns="0" rIns="0" bIns="0" rtlCol="0" anchor="t"/>
          <a:lstStyle/>
          <a:p>
            <a:pPr algn="ctr" indent="0" marL="0">
              <a:buNone/>
            </a:pPr>
            <a:r>
              <a:rPr lang="en-US" sz="1100" dirty="0">
                <a:solidFill>
                  <a:srgbClr val="5B6478"/>
                </a:solidFill>
              </a:rPr>
              <a:t>readings</a:t>
            </a:r>
            <a:endParaRPr lang="en-US" sz="1100" dirty="0"/>
          </a:p>
        </p:txBody>
      </p:sp>
      <p:sp>
        <p:nvSpPr>
          <p:cNvPr id="11" name="Shape 9"/>
          <p:cNvSpPr/>
          <p:nvPr/>
        </p:nvSpPr>
        <p:spPr>
          <a:xfrm>
            <a:off x="3931920" y="1783080"/>
            <a:ext cx="1554480" cy="1280160"/>
          </a:xfrm>
          <a:prstGeom prst="roundRect">
            <a:avLst>
              <a:gd name="adj" fmla="val 5714"/>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12" name="Text 10"/>
          <p:cNvSpPr txBox="1"/>
          <p:nvPr/>
        </p:nvSpPr>
        <p:spPr>
          <a:xfrm>
            <a:off x="3931920" y="1965960"/>
            <a:ext cx="1554480" cy="594360"/>
          </a:xfrm>
          <a:prstGeom prst="rect">
            <a:avLst/>
          </a:prstGeom>
          <a:noFill/>
          <a:ln/>
        </p:spPr>
        <p:txBody>
          <a:bodyPr wrap="square" lIns="0" tIns="0" rIns="0" bIns="0" rtlCol="0" anchor="ctr"/>
          <a:lstStyle/>
          <a:p>
            <a:pPr algn="ctr" indent="0" marL="0">
              <a:buNone/>
            </a:pPr>
            <a:r>
              <a:rPr lang="en-US" sz="3000" b="1" dirty="0">
                <a:solidFill>
                  <a:srgbClr val="1547C8"/>
                </a:solidFill>
              </a:rPr>
              <a:t>657</a:t>
            </a:r>
            <a:endParaRPr lang="en-US" sz="3000" dirty="0"/>
          </a:p>
        </p:txBody>
      </p:sp>
      <p:sp>
        <p:nvSpPr>
          <p:cNvPr id="13" name="Text 11"/>
          <p:cNvSpPr txBox="1"/>
          <p:nvPr/>
        </p:nvSpPr>
        <p:spPr>
          <a:xfrm>
            <a:off x="4005072" y="2606040"/>
            <a:ext cx="1408176" cy="365760"/>
          </a:xfrm>
          <a:prstGeom prst="rect">
            <a:avLst/>
          </a:prstGeom>
          <a:noFill/>
          <a:ln/>
        </p:spPr>
        <p:txBody>
          <a:bodyPr wrap="square" lIns="0" tIns="0" rIns="0" bIns="0" rtlCol="0" anchor="t"/>
          <a:lstStyle/>
          <a:p>
            <a:pPr algn="ctr" indent="0" marL="0">
              <a:buNone/>
            </a:pPr>
            <a:r>
              <a:rPr lang="en-US" sz="1100" dirty="0">
                <a:solidFill>
                  <a:srgbClr val="5B6478"/>
                </a:solidFill>
              </a:rPr>
              <a:t>care plan tasks</a:t>
            </a:r>
            <a:endParaRPr lang="en-US" sz="1100" dirty="0"/>
          </a:p>
        </p:txBody>
      </p:sp>
      <p:sp>
        <p:nvSpPr>
          <p:cNvPr id="14" name="Shape 12"/>
          <p:cNvSpPr/>
          <p:nvPr/>
        </p:nvSpPr>
        <p:spPr>
          <a:xfrm>
            <a:off x="5577840" y="1783080"/>
            <a:ext cx="1554480" cy="1280160"/>
          </a:xfrm>
          <a:prstGeom prst="roundRect">
            <a:avLst>
              <a:gd name="adj" fmla="val 5714"/>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15" name="Text 13"/>
          <p:cNvSpPr txBox="1"/>
          <p:nvPr/>
        </p:nvSpPr>
        <p:spPr>
          <a:xfrm>
            <a:off x="5577840" y="1965960"/>
            <a:ext cx="1554480" cy="594360"/>
          </a:xfrm>
          <a:prstGeom prst="rect">
            <a:avLst/>
          </a:prstGeom>
          <a:noFill/>
          <a:ln/>
        </p:spPr>
        <p:txBody>
          <a:bodyPr wrap="square" lIns="0" tIns="0" rIns="0" bIns="0" rtlCol="0" anchor="ctr"/>
          <a:lstStyle/>
          <a:p>
            <a:pPr algn="ctr" indent="0" marL="0">
              <a:buNone/>
            </a:pPr>
            <a:r>
              <a:rPr lang="en-US" sz="3000" b="1" dirty="0">
                <a:solidFill>
                  <a:srgbClr val="1547C8"/>
                </a:solidFill>
              </a:rPr>
              <a:t>110</a:t>
            </a:r>
            <a:endParaRPr lang="en-US" sz="3000" dirty="0"/>
          </a:p>
        </p:txBody>
      </p:sp>
      <p:sp>
        <p:nvSpPr>
          <p:cNvPr id="16" name="Text 14"/>
          <p:cNvSpPr txBox="1"/>
          <p:nvPr/>
        </p:nvSpPr>
        <p:spPr>
          <a:xfrm>
            <a:off x="5650992" y="2606040"/>
            <a:ext cx="1408176" cy="365760"/>
          </a:xfrm>
          <a:prstGeom prst="rect">
            <a:avLst/>
          </a:prstGeom>
          <a:noFill/>
          <a:ln/>
        </p:spPr>
        <p:txBody>
          <a:bodyPr wrap="square" lIns="0" tIns="0" rIns="0" bIns="0" rtlCol="0" anchor="t"/>
          <a:lstStyle/>
          <a:p>
            <a:pPr algn="ctr" indent="0" marL="0">
              <a:buNone/>
            </a:pPr>
            <a:r>
              <a:rPr lang="en-US" sz="1100" dirty="0">
                <a:solidFill>
                  <a:srgbClr val="5B6478"/>
                </a:solidFill>
              </a:rPr>
              <a:t>documents</a:t>
            </a:r>
            <a:endParaRPr lang="en-US" sz="1100" dirty="0"/>
          </a:p>
        </p:txBody>
      </p:sp>
      <p:sp>
        <p:nvSpPr>
          <p:cNvPr id="17" name="Shape 15"/>
          <p:cNvSpPr/>
          <p:nvPr/>
        </p:nvSpPr>
        <p:spPr>
          <a:xfrm>
            <a:off x="640080" y="3200400"/>
            <a:ext cx="1554480" cy="1280160"/>
          </a:xfrm>
          <a:prstGeom prst="roundRect">
            <a:avLst>
              <a:gd name="adj" fmla="val 5714"/>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18" name="Text 16"/>
          <p:cNvSpPr txBox="1"/>
          <p:nvPr/>
        </p:nvSpPr>
        <p:spPr>
          <a:xfrm>
            <a:off x="640080" y="3383280"/>
            <a:ext cx="1554480" cy="594360"/>
          </a:xfrm>
          <a:prstGeom prst="rect">
            <a:avLst/>
          </a:prstGeom>
          <a:noFill/>
          <a:ln/>
        </p:spPr>
        <p:txBody>
          <a:bodyPr wrap="square" lIns="0" tIns="0" rIns="0" bIns="0" rtlCol="0" anchor="ctr"/>
          <a:lstStyle/>
          <a:p>
            <a:pPr algn="ctr" indent="0" marL="0">
              <a:buNone/>
            </a:pPr>
            <a:r>
              <a:rPr lang="en-US" sz="3000" b="1" dirty="0">
                <a:solidFill>
                  <a:srgbClr val="1547C8"/>
                </a:solidFill>
              </a:rPr>
              <a:t>106</a:t>
            </a:r>
            <a:endParaRPr lang="en-US" sz="3000" dirty="0"/>
          </a:p>
        </p:txBody>
      </p:sp>
      <p:sp>
        <p:nvSpPr>
          <p:cNvPr id="19" name="Text 17"/>
          <p:cNvSpPr txBox="1"/>
          <p:nvPr/>
        </p:nvSpPr>
        <p:spPr>
          <a:xfrm>
            <a:off x="713232" y="4023360"/>
            <a:ext cx="1408176" cy="365760"/>
          </a:xfrm>
          <a:prstGeom prst="rect">
            <a:avLst/>
          </a:prstGeom>
          <a:noFill/>
          <a:ln/>
        </p:spPr>
        <p:txBody>
          <a:bodyPr wrap="square" lIns="0" tIns="0" rIns="0" bIns="0" rtlCol="0" anchor="t"/>
          <a:lstStyle/>
          <a:p>
            <a:pPr algn="ctr" indent="0" marL="0">
              <a:buNone/>
            </a:pPr>
            <a:r>
              <a:rPr lang="en-US" sz="1100" dirty="0">
                <a:solidFill>
                  <a:srgbClr val="5B6478"/>
                </a:solidFill>
              </a:rPr>
              <a:t>rule rows</a:t>
            </a:r>
            <a:endParaRPr lang="en-US" sz="1100" dirty="0"/>
          </a:p>
        </p:txBody>
      </p:sp>
      <p:sp>
        <p:nvSpPr>
          <p:cNvPr id="20" name="Shape 18"/>
          <p:cNvSpPr/>
          <p:nvPr/>
        </p:nvSpPr>
        <p:spPr>
          <a:xfrm>
            <a:off x="2286000" y="3200400"/>
            <a:ext cx="1554480" cy="1280160"/>
          </a:xfrm>
          <a:prstGeom prst="roundRect">
            <a:avLst>
              <a:gd name="adj" fmla="val 5714"/>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21" name="Text 19"/>
          <p:cNvSpPr txBox="1"/>
          <p:nvPr/>
        </p:nvSpPr>
        <p:spPr>
          <a:xfrm>
            <a:off x="2286000" y="3383280"/>
            <a:ext cx="1554480" cy="594360"/>
          </a:xfrm>
          <a:prstGeom prst="rect">
            <a:avLst/>
          </a:prstGeom>
          <a:noFill/>
          <a:ln/>
        </p:spPr>
        <p:txBody>
          <a:bodyPr wrap="square" lIns="0" tIns="0" rIns="0" bIns="0" rtlCol="0" anchor="ctr"/>
          <a:lstStyle/>
          <a:p>
            <a:pPr algn="ctr" indent="0" marL="0">
              <a:buNone/>
            </a:pPr>
            <a:r>
              <a:rPr lang="en-US" sz="3000" b="1" dirty="0">
                <a:solidFill>
                  <a:srgbClr val="1547C8"/>
                </a:solidFill>
              </a:rPr>
              <a:t>104</a:t>
            </a:r>
            <a:endParaRPr lang="en-US" sz="3000" dirty="0"/>
          </a:p>
        </p:txBody>
      </p:sp>
      <p:sp>
        <p:nvSpPr>
          <p:cNvPr id="22" name="Text 20"/>
          <p:cNvSpPr txBox="1"/>
          <p:nvPr/>
        </p:nvSpPr>
        <p:spPr>
          <a:xfrm>
            <a:off x="2359152" y="4023360"/>
            <a:ext cx="1408176" cy="365760"/>
          </a:xfrm>
          <a:prstGeom prst="rect">
            <a:avLst/>
          </a:prstGeom>
          <a:noFill/>
          <a:ln/>
        </p:spPr>
        <p:txBody>
          <a:bodyPr wrap="square" lIns="0" tIns="0" rIns="0" bIns="0" rtlCol="0" anchor="t"/>
          <a:lstStyle/>
          <a:p>
            <a:pPr algn="ctr" indent="0" marL="0">
              <a:buNone/>
            </a:pPr>
            <a:r>
              <a:rPr lang="en-US" sz="1100" dirty="0">
                <a:solidFill>
                  <a:srgbClr val="5B6478"/>
                </a:solidFill>
              </a:rPr>
              <a:t>test values</a:t>
            </a:r>
            <a:endParaRPr lang="en-US" sz="1100" dirty="0"/>
          </a:p>
        </p:txBody>
      </p:sp>
      <p:sp>
        <p:nvSpPr>
          <p:cNvPr id="23" name="Shape 21"/>
          <p:cNvSpPr/>
          <p:nvPr/>
        </p:nvSpPr>
        <p:spPr>
          <a:xfrm>
            <a:off x="3931920" y="3200400"/>
            <a:ext cx="1554480" cy="1280160"/>
          </a:xfrm>
          <a:prstGeom prst="roundRect">
            <a:avLst>
              <a:gd name="adj" fmla="val 5714"/>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24" name="Text 22"/>
          <p:cNvSpPr txBox="1"/>
          <p:nvPr/>
        </p:nvSpPr>
        <p:spPr>
          <a:xfrm>
            <a:off x="3931920" y="3383280"/>
            <a:ext cx="1554480" cy="594360"/>
          </a:xfrm>
          <a:prstGeom prst="rect">
            <a:avLst/>
          </a:prstGeom>
          <a:noFill/>
          <a:ln/>
        </p:spPr>
        <p:txBody>
          <a:bodyPr wrap="square" lIns="0" tIns="0" rIns="0" bIns="0" rtlCol="0" anchor="ctr"/>
          <a:lstStyle/>
          <a:p>
            <a:pPr algn="ctr" indent="0" marL="0">
              <a:buNone/>
            </a:pPr>
            <a:r>
              <a:rPr lang="en-US" sz="3000" b="1" dirty="0">
                <a:solidFill>
                  <a:srgbClr val="1547C8"/>
                </a:solidFill>
              </a:rPr>
              <a:t>184</a:t>
            </a:r>
            <a:endParaRPr lang="en-US" sz="3000" dirty="0"/>
          </a:p>
        </p:txBody>
      </p:sp>
      <p:sp>
        <p:nvSpPr>
          <p:cNvPr id="25" name="Text 23"/>
          <p:cNvSpPr txBox="1"/>
          <p:nvPr/>
        </p:nvSpPr>
        <p:spPr>
          <a:xfrm>
            <a:off x="4005072" y="4023360"/>
            <a:ext cx="1408176" cy="365760"/>
          </a:xfrm>
          <a:prstGeom prst="rect">
            <a:avLst/>
          </a:prstGeom>
          <a:noFill/>
          <a:ln/>
        </p:spPr>
        <p:txBody>
          <a:bodyPr wrap="square" lIns="0" tIns="0" rIns="0" bIns="0" rtlCol="0" anchor="t"/>
          <a:lstStyle/>
          <a:p>
            <a:pPr algn="ctr" indent="0" marL="0">
              <a:buNone/>
            </a:pPr>
            <a:r>
              <a:rPr lang="en-US" sz="1100" dirty="0">
                <a:solidFill>
                  <a:srgbClr val="5B6478"/>
                </a:solidFill>
              </a:rPr>
              <a:t>medicine-change terms</a:t>
            </a:r>
            <a:endParaRPr lang="en-US" sz="1100" dirty="0"/>
          </a:p>
        </p:txBody>
      </p:sp>
      <p:sp>
        <p:nvSpPr>
          <p:cNvPr id="26" name="Shape 24"/>
          <p:cNvSpPr/>
          <p:nvPr/>
        </p:nvSpPr>
        <p:spPr>
          <a:xfrm>
            <a:off x="5577840" y="3200400"/>
            <a:ext cx="1554480" cy="1280160"/>
          </a:xfrm>
          <a:prstGeom prst="roundRect">
            <a:avLst>
              <a:gd name="adj" fmla="val 5714"/>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27" name="Text 25"/>
          <p:cNvSpPr txBox="1"/>
          <p:nvPr/>
        </p:nvSpPr>
        <p:spPr>
          <a:xfrm>
            <a:off x="5577840" y="3383280"/>
            <a:ext cx="1554480" cy="594360"/>
          </a:xfrm>
          <a:prstGeom prst="rect">
            <a:avLst/>
          </a:prstGeom>
          <a:noFill/>
          <a:ln/>
        </p:spPr>
        <p:txBody>
          <a:bodyPr wrap="square" lIns="0" tIns="0" rIns="0" bIns="0" rtlCol="0" anchor="ctr"/>
          <a:lstStyle/>
          <a:p>
            <a:pPr algn="ctr" indent="0" marL="0">
              <a:buNone/>
            </a:pPr>
            <a:r>
              <a:rPr lang="en-US" sz="3000" b="1" dirty="0">
                <a:solidFill>
                  <a:srgbClr val="1547C8"/>
                </a:solidFill>
              </a:rPr>
              <a:t>16</a:t>
            </a:r>
            <a:endParaRPr lang="en-US" sz="3000" dirty="0"/>
          </a:p>
        </p:txBody>
      </p:sp>
      <p:sp>
        <p:nvSpPr>
          <p:cNvPr id="28" name="Text 26"/>
          <p:cNvSpPr txBox="1"/>
          <p:nvPr/>
        </p:nvSpPr>
        <p:spPr>
          <a:xfrm>
            <a:off x="5650992" y="4023360"/>
            <a:ext cx="1408176" cy="365760"/>
          </a:xfrm>
          <a:prstGeom prst="rect">
            <a:avLst/>
          </a:prstGeom>
          <a:noFill/>
          <a:ln/>
        </p:spPr>
        <p:txBody>
          <a:bodyPr wrap="square" lIns="0" tIns="0" rIns="0" bIns="0" rtlCol="0" anchor="t"/>
          <a:lstStyle/>
          <a:p>
            <a:pPr algn="ctr" indent="0" marL="0">
              <a:buNone/>
            </a:pPr>
            <a:r>
              <a:rPr lang="en-US" sz="1100" dirty="0">
                <a:solidFill>
                  <a:srgbClr val="5B6478"/>
                </a:solidFill>
              </a:rPr>
              <a:t>reading types</a:t>
            </a:r>
            <a:endParaRPr lang="en-US" sz="1100" dirty="0"/>
          </a:p>
        </p:txBody>
      </p:sp>
      <p:sp>
        <p:nvSpPr>
          <p:cNvPr id="29" name="Shape 27"/>
          <p:cNvSpPr/>
          <p:nvPr/>
        </p:nvSpPr>
        <p:spPr>
          <a:xfrm>
            <a:off x="640080" y="4754880"/>
            <a:ext cx="6492240" cy="1325880"/>
          </a:xfrm>
          <a:prstGeom prst="roundRect">
            <a:avLst>
              <a:gd name="adj" fmla="val 6897"/>
            </a:avLst>
          </a:prstGeom>
          <a:solidFill>
            <a:srgbClr val="F5A524">
              <a:alpha val="15000"/>
            </a:srgbClr>
          </a:solidFill>
          <a:ln w="15875">
            <a:solidFill>
              <a:srgbClr val="F5A524"/>
            </a:solidFill>
            <a:prstDash val="solid"/>
          </a:ln>
        </p:spPr>
      </p:sp>
      <p:sp>
        <p:nvSpPr>
          <p:cNvPr id="30" name="Text 28"/>
          <p:cNvSpPr txBox="1"/>
          <p:nvPr/>
        </p:nvSpPr>
        <p:spPr>
          <a:xfrm>
            <a:off x="914400" y="4892040"/>
            <a:ext cx="6035040" cy="320040"/>
          </a:xfrm>
          <a:prstGeom prst="rect">
            <a:avLst/>
          </a:prstGeom>
          <a:noFill/>
          <a:ln/>
        </p:spPr>
        <p:txBody>
          <a:bodyPr wrap="square" lIns="0" tIns="0" rIns="0" bIns="0" rtlCol="0" anchor="t"/>
          <a:lstStyle/>
          <a:p>
            <a:pPr indent="0" marL="0">
              <a:buNone/>
            </a:pPr>
            <a:r>
              <a:rPr lang="en-US" sz="1500" b="1" dirty="0">
                <a:solidFill>
                  <a:srgbClr val="F5A524"/>
                </a:solidFill>
              </a:rPr>
              <a:t>Scale supports testing, not decisions</a:t>
            </a:r>
            <a:endParaRPr lang="en-US" sz="1500" dirty="0"/>
          </a:p>
        </p:txBody>
      </p:sp>
      <p:sp>
        <p:nvSpPr>
          <p:cNvPr id="31" name="Text 29"/>
          <p:cNvSpPr txBox="1"/>
          <p:nvPr/>
        </p:nvSpPr>
        <p:spPr>
          <a:xfrm>
            <a:off x="914400" y="5257800"/>
            <a:ext cx="5989320" cy="777240"/>
          </a:xfrm>
          <a:prstGeom prst="rect">
            <a:avLst/>
          </a:prstGeom>
          <a:noFill/>
          <a:ln/>
        </p:spPr>
        <p:txBody>
          <a:bodyPr wrap="square" lIns="0" tIns="0" rIns="0" bIns="0" rtlCol="0" anchor="t"/>
          <a:lstStyle/>
          <a:p>
            <a:pPr indent="0" marL="0">
              <a:buNone/>
            </a:pPr>
            <a:r>
              <a:rPr lang="en-US" sz="1200" dirty="0">
                <a:solidFill>
                  <a:srgbClr val="FFFFFF"/>
                </a:solidFill>
              </a:rPr>
              <a:t>A larger data set exposes the system to expired consent, contradictory readings, corrections and overdue tasks. It does not change how answers are produced: rules and checks decide every response.</a:t>
            </a:r>
            <a:endParaRPr lang="en-US" sz="1200" dirty="0"/>
          </a:p>
        </p:txBody>
      </p:sp>
      <p:sp>
        <p:nvSpPr>
          <p:cNvPr id="32" name="Shape 30"/>
          <p:cNvSpPr/>
          <p:nvPr/>
        </p:nvSpPr>
        <p:spPr>
          <a:xfrm>
            <a:off x="7452360" y="1783080"/>
            <a:ext cx="4096512" cy="4297680"/>
          </a:xfrm>
          <a:prstGeom prst="roundRect">
            <a:avLst>
              <a:gd name="adj" fmla="val 1786"/>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33" name="Text 31"/>
          <p:cNvSpPr txBox="1"/>
          <p:nvPr/>
        </p:nvSpPr>
        <p:spPr>
          <a:xfrm>
            <a:off x="7680960" y="1920240"/>
            <a:ext cx="3657600" cy="274320"/>
          </a:xfrm>
          <a:prstGeom prst="rect">
            <a:avLst/>
          </a:prstGeom>
          <a:noFill/>
          <a:ln/>
        </p:spPr>
        <p:txBody>
          <a:bodyPr wrap="square" lIns="0" tIns="0" rIns="0" bIns="0" rtlCol="0" anchor="t"/>
          <a:lstStyle/>
          <a:p>
            <a:pPr indent="0" marL="0">
              <a:buNone/>
            </a:pPr>
            <a:r>
              <a:rPr lang="en-US" sz="1400" b="1" dirty="0">
                <a:solidFill>
                  <a:srgbClr val="1F2937"/>
                </a:solidFill>
              </a:rPr>
              <a:t>Consent status of 250 members</a:t>
            </a:r>
            <a:endParaRPr lang="en-US" sz="1400" dirty="0"/>
          </a:p>
        </p:txBody>
      </p:sp>
      <p:graphicFrame>
        <p:nvGraphicFramePr>
          <p:cNvPr id="34" name="Chart 0" descr=""/>
          <p:cNvGraphicFramePr/>
          <p:nvPr/>
        </p:nvGraphicFramePr>
        <p:xfrm>
          <a:off x="7589520" y="2286000"/>
          <a:ext cx="3840480" cy="37033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body" hasCustomPrompt="1"/>
          </p:nvPr>
        </p:nvSpPr>
        <p:spPr>
          <a:xfrm>
            <a:off x="640080" y="411480"/>
            <a:ext cx="7315200" cy="274320"/>
          </a:xfrm>
          <a:prstGeom prst="rect">
            <a:avLst/>
          </a:prstGeom>
          <a:noFill/>
          <a:ln/>
        </p:spPr>
        <p:txBody>
          <a:bodyPr wrap="square" lIns="0" tIns="0" rIns="0" bIns="0" rtlCol="0" anchor="t"/>
          <a:lstStyle/>
          <a:p>
            <a:pPr indent="0" marL="0">
              <a:buNone/>
            </a:pPr>
            <a:r>
              <a:rPr lang="en-US" sz="1200" b="1" spc="400" kern="0" dirty="0">
                <a:solidFill>
                  <a:srgbClr val="3CC3F0"/>
                </a:solidFill>
              </a:rPr>
              <a:t>VALIDATION RESULTS</a:t>
            </a:r>
            <a:endParaRPr lang="en-US" sz="1200" dirty="0"/>
          </a:p>
        </p:txBody>
      </p:sp>
      <p:sp>
        <p:nvSpPr>
          <p:cNvPr id="3" name="Text 2"/>
          <p:cNvSpPr/>
          <p:nvPr>
            <p:ph idx="104" type="title" hasCustomPrompt="1"/>
          </p:nvPr>
        </p:nvSpPr>
        <p:spPr>
          <a:xfrm>
            <a:off x="640080" y="777240"/>
            <a:ext cx="10908792" cy="731520"/>
          </a:xfrm>
          <a:prstGeom prst="rect">
            <a:avLst/>
          </a:prstGeom>
          <a:noFill/>
          <a:ln/>
        </p:spPr>
        <p:txBody>
          <a:bodyPr wrap="square" lIns="0" tIns="0" rIns="0" bIns="0" rtlCol="0" anchor="t"/>
          <a:lstStyle/>
          <a:p>
            <a:pPr algn="l" indent="0" marL="0">
              <a:buNone/>
            </a:pPr>
            <a:r>
              <a:rPr lang="en-US" sz="3000" b="1" dirty="0">
                <a:solidFill>
                  <a:srgbClr val="FFFFFF"/>
                </a:solidFill>
              </a:rPr>
              <a:t>Offline validation: 79 of 79 checks passed</a:t>
            </a:r>
            <a:endParaRPr lang="en-US" sz="3000" dirty="0"/>
          </a:p>
        </p:txBody>
      </p:sp>
      <p:sp>
        <p:nvSpPr>
          <p:cNvPr id="4" name="Text 2"/>
          <p:cNvSpPr txBox="1"/>
          <p:nvPr/>
        </p:nvSpPr>
        <p:spPr>
          <a:xfrm>
            <a:off x="7863840" y="411480"/>
            <a:ext cx="3685032" cy="274320"/>
          </a:xfrm>
          <a:prstGeom prst="rect">
            <a:avLst/>
          </a:prstGeom>
          <a:noFill/>
          <a:ln/>
        </p:spPr>
        <p:txBody>
          <a:bodyPr wrap="square" lIns="0" tIns="0" rIns="0" bIns="0" rtlCol="0" anchor="t"/>
          <a:lstStyle/>
          <a:p>
            <a:pPr algn="r" indent="0" marL="0">
              <a:buNone/>
            </a:pPr>
            <a:r>
              <a:rPr lang="en-US" sz="1000" b="1" spc="300" kern="0" dirty="0">
                <a:solidFill>
                  <a:srgbClr val="A9BBEA"/>
                </a:solidFill>
              </a:rPr>
              <a:t>EVIDENCE</a:t>
            </a:r>
            <a:endParaRPr lang="en-US" sz="1000" dirty="0"/>
          </a:p>
        </p:txBody>
      </p:sp>
      <p:sp>
        <p:nvSpPr>
          <p:cNvPr id="5" name="Shape 3"/>
          <p:cNvSpPr/>
          <p:nvPr/>
        </p:nvSpPr>
        <p:spPr>
          <a:xfrm>
            <a:off x="640080" y="1783080"/>
            <a:ext cx="5486400" cy="4297680"/>
          </a:xfrm>
          <a:prstGeom prst="roundRect">
            <a:avLst>
              <a:gd name="adj" fmla="val 1702"/>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6" name="Text 4"/>
          <p:cNvSpPr txBox="1"/>
          <p:nvPr/>
        </p:nvSpPr>
        <p:spPr>
          <a:xfrm>
            <a:off x="914400" y="1920240"/>
            <a:ext cx="1737360" cy="822960"/>
          </a:xfrm>
          <a:prstGeom prst="rect">
            <a:avLst/>
          </a:prstGeom>
          <a:noFill/>
          <a:ln/>
        </p:spPr>
        <p:txBody>
          <a:bodyPr wrap="square" lIns="0" tIns="0" rIns="0" bIns="0" rtlCol="0" anchor="ctr"/>
          <a:lstStyle/>
          <a:p>
            <a:pPr indent="0" marL="0">
              <a:buNone/>
            </a:pPr>
            <a:r>
              <a:rPr lang="en-US" sz="5400" b="1" dirty="0">
                <a:solidFill>
                  <a:srgbClr val="1547C8"/>
                </a:solidFill>
              </a:rPr>
              <a:t>79</a:t>
            </a:r>
            <a:endParaRPr lang="en-US" sz="5400" dirty="0"/>
          </a:p>
        </p:txBody>
      </p:sp>
      <p:sp>
        <p:nvSpPr>
          <p:cNvPr id="7" name="Text 5"/>
          <p:cNvSpPr txBox="1"/>
          <p:nvPr/>
        </p:nvSpPr>
        <p:spPr>
          <a:xfrm>
            <a:off x="2606040" y="1965960"/>
            <a:ext cx="3291840" cy="731520"/>
          </a:xfrm>
          <a:prstGeom prst="rect">
            <a:avLst/>
          </a:prstGeom>
          <a:noFill/>
          <a:ln/>
        </p:spPr>
        <p:txBody>
          <a:bodyPr wrap="square" lIns="0" tIns="0" rIns="0" bIns="0" rtlCol="0" anchor="ctr"/>
          <a:lstStyle/>
          <a:p>
            <a:pPr indent="0" marL="0">
              <a:buNone/>
            </a:pPr>
            <a:r>
              <a:rPr lang="en-US" sz="1400" b="1" dirty="0">
                <a:solidFill>
                  <a:srgbClr val="1F2937"/>
                </a:solidFill>
              </a:rPr>
              <a:t>automated checks, all passing, in four suites</a:t>
            </a:r>
            <a:endParaRPr lang="en-US" sz="1400" dirty="0"/>
          </a:p>
        </p:txBody>
      </p:sp>
      <p:graphicFrame>
        <p:nvGraphicFramePr>
          <p:cNvPr id="8" name="Chart 0" descr=""/>
          <p:cNvGraphicFramePr/>
          <p:nvPr/>
        </p:nvGraphicFramePr>
        <p:xfrm>
          <a:off x="822960" y="2926080"/>
          <a:ext cx="5120640" cy="3017520"/>
        </p:xfrm>
        <a:graphic xmlns:a="http://schemas.openxmlformats.org/drawingml/2006/main">
          <a:graphicData uri="http://schemas.openxmlformats.org/drawingml/2006/chart">
            <c:chart xmlns:c="http://schemas.openxmlformats.org/drawingml/2006/chart" r:id="rId1"/>
          </a:graphicData>
        </a:graphic>
      </p:graphicFrame>
      <p:sp>
        <p:nvSpPr>
          <p:cNvPr id="9" name="Text 6"/>
          <p:cNvSpPr txBox="1"/>
          <p:nvPr/>
        </p:nvSpPr>
        <p:spPr>
          <a:xfrm>
            <a:off x="6446520" y="1783080"/>
            <a:ext cx="5029200" cy="274320"/>
          </a:xfrm>
          <a:prstGeom prst="rect">
            <a:avLst/>
          </a:prstGeom>
          <a:noFill/>
          <a:ln/>
        </p:spPr>
        <p:txBody>
          <a:bodyPr wrap="square" lIns="0" tIns="0" rIns="0" bIns="0" rtlCol="0" anchor="t"/>
          <a:lstStyle/>
          <a:p>
            <a:pPr indent="0" marL="0">
              <a:buNone/>
            </a:pPr>
            <a:r>
              <a:rPr lang="en-US" sz="1100" b="1" spc="200" kern="0" dirty="0">
                <a:solidFill>
                  <a:srgbClr val="3CC3F0"/>
                </a:solidFill>
              </a:rPr>
              <a:t>COVERAGE OF THE 14 ASSIGNMENT SCENARIOS</a:t>
            </a:r>
            <a:endParaRPr lang="en-US" sz="1100" dirty="0"/>
          </a:p>
        </p:txBody>
      </p:sp>
      <p:sp>
        <p:nvSpPr>
          <p:cNvPr id="10" name="Shape 7"/>
          <p:cNvSpPr/>
          <p:nvPr/>
        </p:nvSpPr>
        <p:spPr>
          <a:xfrm>
            <a:off x="6446520" y="2148840"/>
            <a:ext cx="5102352" cy="804672"/>
          </a:xfrm>
          <a:prstGeom prst="roundRect">
            <a:avLst>
              <a:gd name="adj" fmla="val 9091"/>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11" name="Text 8"/>
          <p:cNvSpPr txBox="1"/>
          <p:nvPr/>
        </p:nvSpPr>
        <p:spPr>
          <a:xfrm>
            <a:off x="6629400" y="2148840"/>
            <a:ext cx="640080" cy="804672"/>
          </a:xfrm>
          <a:prstGeom prst="rect">
            <a:avLst/>
          </a:prstGeom>
          <a:noFill/>
          <a:ln/>
        </p:spPr>
        <p:txBody>
          <a:bodyPr wrap="square" lIns="0" tIns="0" rIns="0" bIns="0" rtlCol="0" anchor="ctr"/>
          <a:lstStyle/>
          <a:p>
            <a:pPr algn="ctr" indent="0" marL="0">
              <a:buNone/>
            </a:pPr>
            <a:r>
              <a:rPr lang="en-US" sz="2800" b="1" dirty="0">
                <a:solidFill>
                  <a:srgbClr val="1547C8"/>
                </a:solidFill>
              </a:rPr>
              <a:t>4</a:t>
            </a:r>
            <a:endParaRPr lang="en-US" sz="2800" dirty="0"/>
          </a:p>
        </p:txBody>
      </p:sp>
      <p:sp>
        <p:nvSpPr>
          <p:cNvPr id="12" name="Text 9"/>
          <p:cNvSpPr txBox="1"/>
          <p:nvPr/>
        </p:nvSpPr>
        <p:spPr>
          <a:xfrm>
            <a:off x="7406640" y="2240280"/>
            <a:ext cx="4023360" cy="274320"/>
          </a:xfrm>
          <a:prstGeom prst="rect">
            <a:avLst/>
          </a:prstGeom>
          <a:noFill/>
          <a:ln/>
        </p:spPr>
        <p:txBody>
          <a:bodyPr wrap="square" lIns="0" tIns="0" rIns="0" bIns="0" rtlCol="0" anchor="t"/>
          <a:lstStyle/>
          <a:p>
            <a:pPr indent="0" marL="0">
              <a:buNone/>
            </a:pPr>
            <a:r>
              <a:rPr lang="en-US" sz="1350" b="1" dirty="0">
                <a:solidFill>
                  <a:srgbClr val="1F2937"/>
                </a:solidFill>
              </a:rPr>
              <a:t>Normal paths</a:t>
            </a:r>
            <a:endParaRPr lang="en-US" sz="1350" dirty="0"/>
          </a:p>
        </p:txBody>
      </p:sp>
      <p:sp>
        <p:nvSpPr>
          <p:cNvPr id="13" name="Text 10"/>
          <p:cNvSpPr txBox="1"/>
          <p:nvPr/>
        </p:nvSpPr>
        <p:spPr>
          <a:xfrm>
            <a:off x="7406640" y="2542032"/>
            <a:ext cx="4023360" cy="365760"/>
          </a:xfrm>
          <a:prstGeom prst="rect">
            <a:avLst/>
          </a:prstGeom>
          <a:noFill/>
          <a:ln/>
        </p:spPr>
        <p:txBody>
          <a:bodyPr wrap="square" lIns="0" tIns="0" rIns="0" bIns="0" rtlCol="0" anchor="t"/>
          <a:lstStyle/>
          <a:p>
            <a:pPr indent="0" marL="0">
              <a:buNone/>
            </a:pPr>
            <a:r>
              <a:rPr lang="en-US" sz="1050" dirty="0">
                <a:solidFill>
                  <a:srgbClr val="5B6478"/>
                </a:solidFill>
              </a:rPr>
              <a:t>Education, summaries, reminders</a:t>
            </a:r>
            <a:endParaRPr lang="en-US" sz="1050" dirty="0"/>
          </a:p>
        </p:txBody>
      </p:sp>
      <p:sp>
        <p:nvSpPr>
          <p:cNvPr id="14" name="Shape 11"/>
          <p:cNvSpPr/>
          <p:nvPr/>
        </p:nvSpPr>
        <p:spPr>
          <a:xfrm>
            <a:off x="6446520" y="3063240"/>
            <a:ext cx="5102352" cy="804672"/>
          </a:xfrm>
          <a:prstGeom prst="roundRect">
            <a:avLst>
              <a:gd name="adj" fmla="val 9091"/>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15" name="Text 12"/>
          <p:cNvSpPr txBox="1"/>
          <p:nvPr/>
        </p:nvSpPr>
        <p:spPr>
          <a:xfrm>
            <a:off x="6629400" y="3063240"/>
            <a:ext cx="640080" cy="804672"/>
          </a:xfrm>
          <a:prstGeom prst="rect">
            <a:avLst/>
          </a:prstGeom>
          <a:noFill/>
          <a:ln/>
        </p:spPr>
        <p:txBody>
          <a:bodyPr wrap="square" lIns="0" tIns="0" rIns="0" bIns="0" rtlCol="0" anchor="ctr"/>
          <a:lstStyle/>
          <a:p>
            <a:pPr algn="ctr" indent="0" marL="0">
              <a:buNone/>
            </a:pPr>
            <a:r>
              <a:rPr lang="en-US" sz="2800" b="1" dirty="0">
                <a:solidFill>
                  <a:srgbClr val="1547C8"/>
                </a:solidFill>
              </a:rPr>
              <a:t>5</a:t>
            </a:r>
            <a:endParaRPr lang="en-US" sz="2800" dirty="0"/>
          </a:p>
        </p:txBody>
      </p:sp>
      <p:sp>
        <p:nvSpPr>
          <p:cNvPr id="16" name="Text 13"/>
          <p:cNvSpPr txBox="1"/>
          <p:nvPr/>
        </p:nvSpPr>
        <p:spPr>
          <a:xfrm>
            <a:off x="7406640" y="3154680"/>
            <a:ext cx="4023360" cy="274320"/>
          </a:xfrm>
          <a:prstGeom prst="rect">
            <a:avLst/>
          </a:prstGeom>
          <a:noFill/>
          <a:ln/>
        </p:spPr>
        <p:txBody>
          <a:bodyPr wrap="square" lIns="0" tIns="0" rIns="0" bIns="0" rtlCol="0" anchor="t"/>
          <a:lstStyle/>
          <a:p>
            <a:pPr indent="0" marL="0">
              <a:buNone/>
            </a:pPr>
            <a:r>
              <a:rPr lang="en-US" sz="1350" b="1" dirty="0">
                <a:solidFill>
                  <a:srgbClr val="1F2937"/>
                </a:solidFill>
              </a:rPr>
              <a:t>Safety escalations</a:t>
            </a:r>
            <a:endParaRPr lang="en-US" sz="1350" dirty="0"/>
          </a:p>
        </p:txBody>
      </p:sp>
      <p:sp>
        <p:nvSpPr>
          <p:cNvPr id="17" name="Text 14"/>
          <p:cNvSpPr txBox="1"/>
          <p:nvPr/>
        </p:nvSpPr>
        <p:spPr>
          <a:xfrm>
            <a:off x="7406640" y="3456432"/>
            <a:ext cx="4023360" cy="365760"/>
          </a:xfrm>
          <a:prstGeom prst="rect">
            <a:avLst/>
          </a:prstGeom>
          <a:noFill/>
          <a:ln/>
        </p:spPr>
        <p:txBody>
          <a:bodyPr wrap="square" lIns="0" tIns="0" rIns="0" bIns="0" rtlCol="0" anchor="t"/>
          <a:lstStyle/>
          <a:p>
            <a:pPr indent="0" marL="0">
              <a:buNone/>
            </a:pPr>
            <a:r>
              <a:rPr lang="en-US" sz="1050" dirty="0">
                <a:solidFill>
                  <a:srgbClr val="5B6478"/>
                </a:solidFill>
              </a:rPr>
              <a:t>Consent, medicine change, test value, interpretation, injection</a:t>
            </a:r>
            <a:endParaRPr lang="en-US" sz="1050" dirty="0"/>
          </a:p>
        </p:txBody>
      </p:sp>
      <p:sp>
        <p:nvSpPr>
          <p:cNvPr id="18" name="Shape 15"/>
          <p:cNvSpPr/>
          <p:nvPr/>
        </p:nvSpPr>
        <p:spPr>
          <a:xfrm>
            <a:off x="6446520" y="3977640"/>
            <a:ext cx="5102352" cy="804672"/>
          </a:xfrm>
          <a:prstGeom prst="roundRect">
            <a:avLst>
              <a:gd name="adj" fmla="val 9091"/>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19" name="Text 16"/>
          <p:cNvSpPr txBox="1"/>
          <p:nvPr/>
        </p:nvSpPr>
        <p:spPr>
          <a:xfrm>
            <a:off x="6629400" y="3977640"/>
            <a:ext cx="640080" cy="804672"/>
          </a:xfrm>
          <a:prstGeom prst="rect">
            <a:avLst/>
          </a:prstGeom>
          <a:noFill/>
          <a:ln/>
        </p:spPr>
        <p:txBody>
          <a:bodyPr wrap="square" lIns="0" tIns="0" rIns="0" bIns="0" rtlCol="0" anchor="ctr"/>
          <a:lstStyle/>
          <a:p>
            <a:pPr algn="ctr" indent="0" marL="0">
              <a:buNone/>
            </a:pPr>
            <a:r>
              <a:rPr lang="en-US" sz="2800" b="1" dirty="0">
                <a:solidFill>
                  <a:srgbClr val="1547C8"/>
                </a:solidFill>
              </a:rPr>
              <a:t>4</a:t>
            </a:r>
            <a:endParaRPr lang="en-US" sz="2800" dirty="0"/>
          </a:p>
        </p:txBody>
      </p:sp>
      <p:sp>
        <p:nvSpPr>
          <p:cNvPr id="20" name="Text 17"/>
          <p:cNvSpPr txBox="1"/>
          <p:nvPr/>
        </p:nvSpPr>
        <p:spPr>
          <a:xfrm>
            <a:off x="7406640" y="4069080"/>
            <a:ext cx="4023360" cy="274320"/>
          </a:xfrm>
          <a:prstGeom prst="rect">
            <a:avLst/>
          </a:prstGeom>
          <a:noFill/>
          <a:ln/>
        </p:spPr>
        <p:txBody>
          <a:bodyPr wrap="square" lIns="0" tIns="0" rIns="0" bIns="0" rtlCol="0" anchor="t"/>
          <a:lstStyle/>
          <a:p>
            <a:pPr indent="0" marL="0">
              <a:buNone/>
            </a:pPr>
            <a:r>
              <a:rPr lang="en-US" sz="1350" b="1" dirty="0">
                <a:solidFill>
                  <a:srgbClr val="1F2937"/>
                </a:solidFill>
              </a:rPr>
              <a:t>Edge cases and conflicts</a:t>
            </a:r>
            <a:endParaRPr lang="en-US" sz="1350" dirty="0"/>
          </a:p>
        </p:txBody>
      </p:sp>
      <p:sp>
        <p:nvSpPr>
          <p:cNvPr id="21" name="Text 18"/>
          <p:cNvSpPr txBox="1"/>
          <p:nvPr/>
        </p:nvSpPr>
        <p:spPr>
          <a:xfrm>
            <a:off x="7406640" y="4370832"/>
            <a:ext cx="4023360" cy="365760"/>
          </a:xfrm>
          <a:prstGeom prst="rect">
            <a:avLst/>
          </a:prstGeom>
          <a:noFill/>
          <a:ln/>
        </p:spPr>
        <p:txBody>
          <a:bodyPr wrap="square" lIns="0" tIns="0" rIns="0" bIns="0" rtlCol="0" anchor="t"/>
          <a:lstStyle/>
          <a:p>
            <a:pPr indent="0" marL="0">
              <a:buNone/>
            </a:pPr>
            <a:r>
              <a:rPr lang="en-US" sz="1050" dirty="0">
                <a:solidFill>
                  <a:srgbClr val="5B6478"/>
                </a:solidFill>
              </a:rPr>
              <a:t>Missing days, corrections, contradictions, wrong-program content</a:t>
            </a:r>
            <a:endParaRPr lang="en-US" sz="1050" dirty="0"/>
          </a:p>
        </p:txBody>
      </p:sp>
      <p:sp>
        <p:nvSpPr>
          <p:cNvPr id="22" name="Shape 19"/>
          <p:cNvSpPr/>
          <p:nvPr/>
        </p:nvSpPr>
        <p:spPr>
          <a:xfrm>
            <a:off x="6446520" y="4892040"/>
            <a:ext cx="5102352" cy="804672"/>
          </a:xfrm>
          <a:prstGeom prst="roundRect">
            <a:avLst>
              <a:gd name="adj" fmla="val 9091"/>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23" name="Text 20"/>
          <p:cNvSpPr txBox="1"/>
          <p:nvPr/>
        </p:nvSpPr>
        <p:spPr>
          <a:xfrm>
            <a:off x="6629400" y="4892040"/>
            <a:ext cx="640080" cy="804672"/>
          </a:xfrm>
          <a:prstGeom prst="rect">
            <a:avLst/>
          </a:prstGeom>
          <a:noFill/>
          <a:ln/>
        </p:spPr>
        <p:txBody>
          <a:bodyPr wrap="square" lIns="0" tIns="0" rIns="0" bIns="0" rtlCol="0" anchor="ctr"/>
          <a:lstStyle/>
          <a:p>
            <a:pPr algn="ctr" indent="0" marL="0">
              <a:buNone/>
            </a:pPr>
            <a:r>
              <a:rPr lang="en-US" sz="2800" b="1" dirty="0">
                <a:solidFill>
                  <a:srgbClr val="1547C8"/>
                </a:solidFill>
              </a:rPr>
              <a:t>1</a:t>
            </a:r>
            <a:endParaRPr lang="en-US" sz="2800" dirty="0"/>
          </a:p>
        </p:txBody>
      </p:sp>
      <p:sp>
        <p:nvSpPr>
          <p:cNvPr id="24" name="Text 21"/>
          <p:cNvSpPr txBox="1"/>
          <p:nvPr/>
        </p:nvSpPr>
        <p:spPr>
          <a:xfrm>
            <a:off x="7406640" y="4983480"/>
            <a:ext cx="4023360" cy="274320"/>
          </a:xfrm>
          <a:prstGeom prst="rect">
            <a:avLst/>
          </a:prstGeom>
          <a:noFill/>
          <a:ln/>
        </p:spPr>
        <p:txBody>
          <a:bodyPr wrap="square" lIns="0" tIns="0" rIns="0" bIns="0" rtlCol="0" anchor="t"/>
          <a:lstStyle/>
          <a:p>
            <a:pPr indent="0" marL="0">
              <a:buNone/>
            </a:pPr>
            <a:r>
              <a:rPr lang="en-US" sz="1350" b="1" dirty="0">
                <a:solidFill>
                  <a:srgbClr val="1F2937"/>
                </a:solidFill>
              </a:rPr>
              <a:t>Failure handling</a:t>
            </a:r>
            <a:endParaRPr lang="en-US" sz="1350" dirty="0"/>
          </a:p>
        </p:txBody>
      </p:sp>
      <p:sp>
        <p:nvSpPr>
          <p:cNvPr id="25" name="Text 22"/>
          <p:cNvSpPr txBox="1"/>
          <p:nvPr/>
        </p:nvSpPr>
        <p:spPr>
          <a:xfrm>
            <a:off x="7406640" y="5285232"/>
            <a:ext cx="4023360" cy="365760"/>
          </a:xfrm>
          <a:prstGeom prst="rect">
            <a:avLst/>
          </a:prstGeom>
          <a:noFill/>
          <a:ln/>
        </p:spPr>
        <p:txBody>
          <a:bodyPr wrap="square" lIns="0" tIns="0" rIns="0" bIns="0" rtlCol="0" anchor="t"/>
          <a:lstStyle/>
          <a:p>
            <a:pPr indent="0" marL="0">
              <a:buNone/>
            </a:pPr>
            <a:r>
              <a:rPr lang="en-US" sz="1050" dirty="0">
                <a:solidFill>
                  <a:srgbClr val="5B6478"/>
                </a:solidFill>
              </a:rPr>
              <a:t>A data source is unavailable</a:t>
            </a:r>
            <a:endParaRPr lang="en-US" sz="1050" dirty="0"/>
          </a:p>
        </p:txBody>
      </p:sp>
      <p:sp>
        <p:nvSpPr>
          <p:cNvPr id="26" name="Shape 23"/>
          <p:cNvSpPr/>
          <p:nvPr/>
        </p:nvSpPr>
        <p:spPr>
          <a:xfrm>
            <a:off x="6446520" y="5852160"/>
            <a:ext cx="5102352" cy="228600"/>
          </a:xfrm>
          <a:prstGeom prst="roundRect">
            <a:avLst>
              <a:gd name="adj" fmla="val 40000"/>
            </a:avLst>
          </a:prstGeom>
          <a:solidFill>
            <a:srgbClr val="FFFFFF">
              <a:alpha val="0"/>
            </a:srgbClr>
          </a:solidFill>
          <a:ln w="12700">
            <a:solidFill>
              <a:srgbClr val="FFFFFF">
                <a:alpha val="0"/>
              </a:srgbClr>
            </a:solidFill>
            <a:prstDash val="solid"/>
          </a:ln>
        </p:spPr>
      </p:sp>
      <p:sp>
        <p:nvSpPr>
          <p:cNvPr id="27" name="Text 24"/>
          <p:cNvSpPr txBox="1"/>
          <p:nvPr/>
        </p:nvSpPr>
        <p:spPr>
          <a:xfrm>
            <a:off x="6446520" y="5833872"/>
            <a:ext cx="5102352" cy="457200"/>
          </a:xfrm>
          <a:prstGeom prst="rect">
            <a:avLst/>
          </a:prstGeom>
          <a:noFill/>
          <a:ln/>
        </p:spPr>
        <p:txBody>
          <a:bodyPr wrap="square" lIns="0" tIns="0" rIns="0" bIns="0" rtlCol="0" anchor="t"/>
          <a:lstStyle/>
          <a:p>
            <a:pPr indent="0" marL="0">
              <a:buNone/>
            </a:pPr>
            <a:r>
              <a:rPr lang="en-US" sz="1050" b="1" dirty="0">
                <a:solidFill>
                  <a:srgbClr val="F5A524"/>
                </a:solidFill>
              </a:rPr>
              <a:t>Basis: offline run with template wording. The online run against deployed Foundry agents is pending and is the formal evidence.</a:t>
            </a:r>
            <a:endParaRPr lang="en-US" sz="105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body" hasCustomPrompt="1"/>
          </p:nvPr>
        </p:nvSpPr>
        <p:spPr>
          <a:xfrm>
            <a:off x="640080" y="411480"/>
            <a:ext cx="7315200" cy="274320"/>
          </a:xfrm>
          <a:prstGeom prst="rect">
            <a:avLst/>
          </a:prstGeom>
          <a:noFill/>
          <a:ln/>
        </p:spPr>
        <p:txBody>
          <a:bodyPr wrap="square" lIns="0" tIns="0" rIns="0" bIns="0" rtlCol="0" anchor="t"/>
          <a:lstStyle/>
          <a:p>
            <a:pPr indent="0" marL="0">
              <a:buNone/>
            </a:pPr>
            <a:r>
              <a:rPr lang="en-US" sz="1200" b="1" spc="400" kern="0" dirty="0">
                <a:solidFill>
                  <a:srgbClr val="3CC3F0"/>
                </a:solidFill>
              </a:rPr>
              <a:t>READINESS ASSESSMENT</a:t>
            </a:r>
            <a:endParaRPr lang="en-US" sz="1200" dirty="0"/>
          </a:p>
        </p:txBody>
      </p:sp>
      <p:sp>
        <p:nvSpPr>
          <p:cNvPr id="3" name="Text 2"/>
          <p:cNvSpPr/>
          <p:nvPr>
            <p:ph idx="104" type="title" hasCustomPrompt="1"/>
          </p:nvPr>
        </p:nvSpPr>
        <p:spPr>
          <a:xfrm>
            <a:off x="640080" y="777240"/>
            <a:ext cx="10908792" cy="731520"/>
          </a:xfrm>
          <a:prstGeom prst="rect">
            <a:avLst/>
          </a:prstGeom>
          <a:noFill/>
          <a:ln/>
        </p:spPr>
        <p:txBody>
          <a:bodyPr wrap="square" lIns="0" tIns="0" rIns="0" bIns="0" rtlCol="0" anchor="t"/>
          <a:lstStyle/>
          <a:p>
            <a:pPr algn="l" indent="0" marL="0">
              <a:buNone/>
            </a:pPr>
            <a:r>
              <a:rPr lang="en-US" sz="3000" b="1" dirty="0">
                <a:solidFill>
                  <a:srgbClr val="FFFFFF"/>
                </a:solidFill>
              </a:rPr>
              <a:t>What is validated today, and what remains open</a:t>
            </a:r>
            <a:endParaRPr lang="en-US" sz="3000" dirty="0"/>
          </a:p>
        </p:txBody>
      </p:sp>
      <p:sp>
        <p:nvSpPr>
          <p:cNvPr id="4" name="Text 2"/>
          <p:cNvSpPr txBox="1"/>
          <p:nvPr/>
        </p:nvSpPr>
        <p:spPr>
          <a:xfrm>
            <a:off x="7863840" y="411480"/>
            <a:ext cx="3685032" cy="274320"/>
          </a:xfrm>
          <a:prstGeom prst="rect">
            <a:avLst/>
          </a:prstGeom>
          <a:noFill/>
          <a:ln/>
        </p:spPr>
        <p:txBody>
          <a:bodyPr wrap="square" lIns="0" tIns="0" rIns="0" bIns="0" rtlCol="0" anchor="t"/>
          <a:lstStyle/>
          <a:p>
            <a:pPr algn="r" indent="0" marL="0">
              <a:buNone/>
            </a:pPr>
            <a:r>
              <a:rPr lang="en-US" sz="1000" b="1" spc="300" kern="0" dirty="0">
                <a:solidFill>
                  <a:srgbClr val="A9BBEA"/>
                </a:solidFill>
              </a:rPr>
              <a:t>WAY FORWARD</a:t>
            </a:r>
            <a:endParaRPr lang="en-US" sz="1000" dirty="0"/>
          </a:p>
        </p:txBody>
      </p:sp>
      <p:sp>
        <p:nvSpPr>
          <p:cNvPr id="5" name="Shape 3"/>
          <p:cNvSpPr/>
          <p:nvPr/>
        </p:nvSpPr>
        <p:spPr>
          <a:xfrm>
            <a:off x="640080" y="1783080"/>
            <a:ext cx="5239512" cy="4206240"/>
          </a:xfrm>
          <a:prstGeom prst="roundRect">
            <a:avLst>
              <a:gd name="adj" fmla="val 1739"/>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6" name="Shape 4"/>
          <p:cNvSpPr/>
          <p:nvPr/>
        </p:nvSpPr>
        <p:spPr>
          <a:xfrm>
            <a:off x="914400" y="2011680"/>
            <a:ext cx="502920" cy="502920"/>
          </a:xfrm>
          <a:prstGeom prst="ellipse">
            <a:avLst/>
          </a:prstGeom>
          <a:solidFill>
            <a:srgbClr val="12A36B"/>
          </a:solidFill>
          <a:ln w="6350">
            <a:solidFill>
              <a:srgbClr val="12A36B"/>
            </a:solidFill>
            <a:prstDash val="solid"/>
          </a:ln>
        </p:spPr>
      </p:sp>
      <p:pic>
        <p:nvPicPr>
          <p:cNvPr id="7" name="Image 0" descr="FaCheckCircle">    </p:cNvPr>
          <p:cNvPicPr>
            <a:picLocks noChangeAspect="1"/>
          </p:cNvPicPr>
          <p:nvPr/>
        </p:nvPicPr>
        <p:blipFill>
          <a:blip r:embed="rId1"/>
          <a:stretch>
            <a:fillRect/>
          </a:stretch>
        </p:blipFill>
        <p:spPr>
          <a:xfrm>
            <a:off x="1050188" y="2147468"/>
            <a:ext cx="231343" cy="231343"/>
          </a:xfrm>
          <a:prstGeom prst="rect">
            <a:avLst/>
          </a:prstGeom>
        </p:spPr>
      </p:pic>
      <p:sp>
        <p:nvSpPr>
          <p:cNvPr id="8" name="Text 5"/>
          <p:cNvSpPr txBox="1"/>
          <p:nvPr/>
        </p:nvSpPr>
        <p:spPr>
          <a:xfrm>
            <a:off x="1600200" y="2011680"/>
            <a:ext cx="4023360" cy="502920"/>
          </a:xfrm>
          <a:prstGeom prst="rect">
            <a:avLst/>
          </a:prstGeom>
          <a:noFill/>
          <a:ln/>
        </p:spPr>
        <p:txBody>
          <a:bodyPr wrap="square" lIns="0" tIns="0" rIns="0" bIns="0" rtlCol="0" anchor="ctr"/>
          <a:lstStyle/>
          <a:p>
            <a:pPr indent="0" marL="0">
              <a:buNone/>
            </a:pPr>
            <a:r>
              <a:rPr lang="en-US" sz="1300" b="1" spc="200" kern="0" dirty="0">
                <a:solidFill>
                  <a:srgbClr val="12A36B"/>
                </a:solidFill>
              </a:rPr>
              <a:t>VALIDATED OFFLINE</a:t>
            </a:r>
            <a:endParaRPr lang="en-US" sz="1300" dirty="0"/>
          </a:p>
        </p:txBody>
      </p:sp>
      <p:sp>
        <p:nvSpPr>
          <p:cNvPr id="9" name="Shape 6"/>
          <p:cNvSpPr/>
          <p:nvPr/>
        </p:nvSpPr>
        <p:spPr>
          <a:xfrm>
            <a:off x="960120" y="2926080"/>
            <a:ext cx="109728" cy="109728"/>
          </a:xfrm>
          <a:prstGeom prst="ellipse">
            <a:avLst/>
          </a:prstGeom>
          <a:solidFill>
            <a:srgbClr val="12A36B"/>
          </a:solidFill>
          <a:ln w="6350">
            <a:solidFill>
              <a:srgbClr val="12A36B"/>
            </a:solidFill>
            <a:prstDash val="solid"/>
          </a:ln>
        </p:spPr>
      </p:sp>
      <p:sp>
        <p:nvSpPr>
          <p:cNvPr id="10" name="Text 7"/>
          <p:cNvSpPr txBox="1"/>
          <p:nvPr/>
        </p:nvSpPr>
        <p:spPr>
          <a:xfrm>
            <a:off x="1234440" y="2743200"/>
            <a:ext cx="4434840" cy="548640"/>
          </a:xfrm>
          <a:prstGeom prst="rect">
            <a:avLst/>
          </a:prstGeom>
          <a:noFill/>
          <a:ln/>
        </p:spPr>
        <p:txBody>
          <a:bodyPr wrap="square" lIns="0" tIns="0" rIns="0" bIns="0" rtlCol="0" anchor="ctr"/>
          <a:lstStyle/>
          <a:p>
            <a:pPr indent="0" marL="0">
              <a:buNone/>
            </a:pPr>
            <a:r>
              <a:rPr lang="en-US" sz="1250" dirty="0">
                <a:solidFill>
                  <a:srgbClr val="1F2937"/>
                </a:solidFill>
              </a:rPr>
              <a:t>Escalation rules ER-501 to ER-504 behave as specified</a:t>
            </a:r>
            <a:endParaRPr lang="en-US" sz="1250" dirty="0"/>
          </a:p>
        </p:txBody>
      </p:sp>
      <p:sp>
        <p:nvSpPr>
          <p:cNvPr id="11" name="Shape 8"/>
          <p:cNvSpPr/>
          <p:nvPr/>
        </p:nvSpPr>
        <p:spPr>
          <a:xfrm>
            <a:off x="960120" y="3547872"/>
            <a:ext cx="109728" cy="109728"/>
          </a:xfrm>
          <a:prstGeom prst="ellipse">
            <a:avLst/>
          </a:prstGeom>
          <a:solidFill>
            <a:srgbClr val="12A36B"/>
          </a:solidFill>
          <a:ln w="6350">
            <a:solidFill>
              <a:srgbClr val="12A36B"/>
            </a:solidFill>
            <a:prstDash val="solid"/>
          </a:ln>
        </p:spPr>
      </p:sp>
      <p:sp>
        <p:nvSpPr>
          <p:cNvPr id="12" name="Text 9"/>
          <p:cNvSpPr txBox="1"/>
          <p:nvPr/>
        </p:nvSpPr>
        <p:spPr>
          <a:xfrm>
            <a:off x="1234440" y="3364992"/>
            <a:ext cx="4434840" cy="548640"/>
          </a:xfrm>
          <a:prstGeom prst="rect">
            <a:avLst/>
          </a:prstGeom>
          <a:noFill/>
          <a:ln/>
        </p:spPr>
        <p:txBody>
          <a:bodyPr wrap="square" lIns="0" tIns="0" rIns="0" bIns="0" rtlCol="0" anchor="ctr"/>
          <a:lstStyle/>
          <a:p>
            <a:pPr indent="0" marL="0">
              <a:buNone/>
            </a:pPr>
            <a:r>
              <a:rPr lang="en-US" sz="1250" dirty="0">
                <a:solidFill>
                  <a:srgbClr val="1F2937"/>
                </a:solidFill>
              </a:rPr>
              <a:t>Output guard rejects advice and ungrounded numbers</a:t>
            </a:r>
            <a:endParaRPr lang="en-US" sz="1250" dirty="0"/>
          </a:p>
        </p:txBody>
      </p:sp>
      <p:sp>
        <p:nvSpPr>
          <p:cNvPr id="13" name="Shape 10"/>
          <p:cNvSpPr/>
          <p:nvPr/>
        </p:nvSpPr>
        <p:spPr>
          <a:xfrm>
            <a:off x="960120" y="4169664"/>
            <a:ext cx="109728" cy="109728"/>
          </a:xfrm>
          <a:prstGeom prst="ellipse">
            <a:avLst/>
          </a:prstGeom>
          <a:solidFill>
            <a:srgbClr val="12A36B"/>
          </a:solidFill>
          <a:ln w="6350">
            <a:solidFill>
              <a:srgbClr val="12A36B"/>
            </a:solidFill>
            <a:prstDash val="solid"/>
          </a:ln>
        </p:spPr>
      </p:sp>
      <p:sp>
        <p:nvSpPr>
          <p:cNvPr id="14" name="Text 11"/>
          <p:cNvSpPr txBox="1"/>
          <p:nvPr/>
        </p:nvSpPr>
        <p:spPr>
          <a:xfrm>
            <a:off x="1234440" y="3986784"/>
            <a:ext cx="4434840" cy="548640"/>
          </a:xfrm>
          <a:prstGeom prst="rect">
            <a:avLst/>
          </a:prstGeom>
          <a:noFill/>
          <a:ln/>
        </p:spPr>
        <p:txBody>
          <a:bodyPr wrap="square" lIns="0" tIns="0" rIns="0" bIns="0" rtlCol="0" anchor="ctr"/>
          <a:lstStyle/>
          <a:p>
            <a:pPr indent="0" marL="0">
              <a:buNone/>
            </a:pPr>
            <a:r>
              <a:rPr lang="en-US" sz="1250" dirty="0">
                <a:solidFill>
                  <a:srgbClr val="1F2937"/>
                </a:solidFill>
              </a:rPr>
              <a:t>Citation and approval checks work as designed</a:t>
            </a:r>
            <a:endParaRPr lang="en-US" sz="1250" dirty="0"/>
          </a:p>
        </p:txBody>
      </p:sp>
      <p:sp>
        <p:nvSpPr>
          <p:cNvPr id="15" name="Shape 12"/>
          <p:cNvSpPr/>
          <p:nvPr/>
        </p:nvSpPr>
        <p:spPr>
          <a:xfrm>
            <a:off x="960120" y="4791456"/>
            <a:ext cx="109728" cy="109728"/>
          </a:xfrm>
          <a:prstGeom prst="ellipse">
            <a:avLst/>
          </a:prstGeom>
          <a:solidFill>
            <a:srgbClr val="12A36B"/>
          </a:solidFill>
          <a:ln w="6350">
            <a:solidFill>
              <a:srgbClr val="12A36B"/>
            </a:solidFill>
            <a:prstDash val="solid"/>
          </a:ln>
        </p:spPr>
      </p:sp>
      <p:sp>
        <p:nvSpPr>
          <p:cNvPr id="16" name="Text 13"/>
          <p:cNvSpPr txBox="1"/>
          <p:nvPr/>
        </p:nvSpPr>
        <p:spPr>
          <a:xfrm>
            <a:off x="1234440" y="4608576"/>
            <a:ext cx="4434840" cy="548640"/>
          </a:xfrm>
          <a:prstGeom prst="rect">
            <a:avLst/>
          </a:prstGeom>
          <a:noFill/>
          <a:ln/>
        </p:spPr>
        <p:txBody>
          <a:bodyPr wrap="square" lIns="0" tIns="0" rIns="0" bIns="0" rtlCol="0" anchor="ctr"/>
          <a:lstStyle/>
          <a:p>
            <a:pPr indent="0" marL="0">
              <a:buNone/>
            </a:pPr>
            <a:r>
              <a:rPr lang="en-US" sz="1250" dirty="0">
                <a:solidFill>
                  <a:srgbClr val="1F2937"/>
                </a:solidFill>
              </a:rPr>
              <a:t>Data upload, versioning and rollback work</a:t>
            </a:r>
            <a:endParaRPr lang="en-US" sz="1250" dirty="0"/>
          </a:p>
        </p:txBody>
      </p:sp>
      <p:sp>
        <p:nvSpPr>
          <p:cNvPr id="17" name="Shape 14"/>
          <p:cNvSpPr/>
          <p:nvPr/>
        </p:nvSpPr>
        <p:spPr>
          <a:xfrm>
            <a:off x="960120" y="5413248"/>
            <a:ext cx="109728" cy="109728"/>
          </a:xfrm>
          <a:prstGeom prst="ellipse">
            <a:avLst/>
          </a:prstGeom>
          <a:solidFill>
            <a:srgbClr val="12A36B"/>
          </a:solidFill>
          <a:ln w="6350">
            <a:solidFill>
              <a:srgbClr val="12A36B"/>
            </a:solidFill>
            <a:prstDash val="solid"/>
          </a:ln>
        </p:spPr>
      </p:sp>
      <p:sp>
        <p:nvSpPr>
          <p:cNvPr id="18" name="Text 15"/>
          <p:cNvSpPr txBox="1"/>
          <p:nvPr/>
        </p:nvSpPr>
        <p:spPr>
          <a:xfrm>
            <a:off x="1234440" y="5230368"/>
            <a:ext cx="4434840" cy="548640"/>
          </a:xfrm>
          <a:prstGeom prst="rect">
            <a:avLst/>
          </a:prstGeom>
          <a:noFill/>
          <a:ln/>
        </p:spPr>
        <p:txBody>
          <a:bodyPr wrap="square" lIns="0" tIns="0" rIns="0" bIns="0" rtlCol="0" anchor="ctr"/>
          <a:lstStyle/>
          <a:p>
            <a:pPr indent="0" marL="0">
              <a:buNone/>
            </a:pPr>
            <a:r>
              <a:rPr lang="en-US" sz="1250" dirty="0">
                <a:solidFill>
                  <a:srgbClr val="1F2937"/>
                </a:solidFill>
              </a:rPr>
              <a:t>Fallbacks and switches work with simulated Azure</a:t>
            </a:r>
            <a:endParaRPr lang="en-US" sz="1250" dirty="0"/>
          </a:p>
        </p:txBody>
      </p:sp>
      <p:sp>
        <p:nvSpPr>
          <p:cNvPr id="19" name="Shape 16"/>
          <p:cNvSpPr/>
          <p:nvPr/>
        </p:nvSpPr>
        <p:spPr>
          <a:xfrm>
            <a:off x="6309360" y="1783080"/>
            <a:ext cx="5239512" cy="4206240"/>
          </a:xfrm>
          <a:prstGeom prst="roundRect">
            <a:avLst>
              <a:gd name="adj" fmla="val 1739"/>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20" name="Shape 17"/>
          <p:cNvSpPr/>
          <p:nvPr/>
        </p:nvSpPr>
        <p:spPr>
          <a:xfrm>
            <a:off x="6583680" y="2011680"/>
            <a:ext cx="502920" cy="502920"/>
          </a:xfrm>
          <a:prstGeom prst="ellipse">
            <a:avLst/>
          </a:prstGeom>
          <a:solidFill>
            <a:srgbClr val="C77A00"/>
          </a:solidFill>
          <a:ln w="6350">
            <a:solidFill>
              <a:srgbClr val="C77A00"/>
            </a:solidFill>
            <a:prstDash val="solid"/>
          </a:ln>
        </p:spPr>
      </p:sp>
      <p:pic>
        <p:nvPicPr>
          <p:cNvPr id="21" name="Image 1" descr="FaExclamationTriangle">    </p:cNvPr>
          <p:cNvPicPr>
            <a:picLocks noChangeAspect="1"/>
          </p:cNvPicPr>
          <p:nvPr/>
        </p:nvPicPr>
        <p:blipFill>
          <a:blip r:embed="rId2"/>
          <a:stretch>
            <a:fillRect/>
          </a:stretch>
        </p:blipFill>
        <p:spPr>
          <a:xfrm>
            <a:off x="6719468" y="2147468"/>
            <a:ext cx="231343" cy="231343"/>
          </a:xfrm>
          <a:prstGeom prst="rect">
            <a:avLst/>
          </a:prstGeom>
        </p:spPr>
      </p:pic>
      <p:sp>
        <p:nvSpPr>
          <p:cNvPr id="22" name="Text 18"/>
          <p:cNvSpPr txBox="1"/>
          <p:nvPr/>
        </p:nvSpPr>
        <p:spPr>
          <a:xfrm>
            <a:off x="7269480" y="2011680"/>
            <a:ext cx="4023360" cy="502920"/>
          </a:xfrm>
          <a:prstGeom prst="rect">
            <a:avLst/>
          </a:prstGeom>
          <a:noFill/>
          <a:ln/>
        </p:spPr>
        <p:txBody>
          <a:bodyPr wrap="square" lIns="0" tIns="0" rIns="0" bIns="0" rtlCol="0" anchor="ctr"/>
          <a:lstStyle/>
          <a:p>
            <a:pPr indent="0" marL="0">
              <a:buNone/>
            </a:pPr>
            <a:r>
              <a:rPr lang="en-US" sz="1300" b="1" spc="200" kern="0" dirty="0">
                <a:solidFill>
                  <a:srgbClr val="C77A00"/>
                </a:solidFill>
              </a:rPr>
              <a:t>OPEN BEFORE A PILOT</a:t>
            </a:r>
            <a:endParaRPr lang="en-US" sz="1300" dirty="0"/>
          </a:p>
        </p:txBody>
      </p:sp>
      <p:sp>
        <p:nvSpPr>
          <p:cNvPr id="23" name="Shape 19"/>
          <p:cNvSpPr/>
          <p:nvPr/>
        </p:nvSpPr>
        <p:spPr>
          <a:xfrm>
            <a:off x="6629400" y="2926080"/>
            <a:ext cx="109728" cy="109728"/>
          </a:xfrm>
          <a:prstGeom prst="ellipse">
            <a:avLst/>
          </a:prstGeom>
          <a:solidFill>
            <a:srgbClr val="C77A00"/>
          </a:solidFill>
          <a:ln w="6350">
            <a:solidFill>
              <a:srgbClr val="C77A00"/>
            </a:solidFill>
            <a:prstDash val="solid"/>
          </a:ln>
        </p:spPr>
      </p:sp>
      <p:sp>
        <p:nvSpPr>
          <p:cNvPr id="24" name="Text 20"/>
          <p:cNvSpPr txBox="1"/>
          <p:nvPr/>
        </p:nvSpPr>
        <p:spPr>
          <a:xfrm>
            <a:off x="6903720" y="2743200"/>
            <a:ext cx="4434840" cy="548640"/>
          </a:xfrm>
          <a:prstGeom prst="rect">
            <a:avLst/>
          </a:prstGeom>
          <a:noFill/>
          <a:ln/>
        </p:spPr>
        <p:txBody>
          <a:bodyPr wrap="square" lIns="0" tIns="0" rIns="0" bIns="0" rtlCol="0" anchor="ctr"/>
          <a:lstStyle/>
          <a:p>
            <a:pPr indent="0" marL="0">
              <a:buNone/>
            </a:pPr>
            <a:r>
              <a:rPr lang="en-US" sz="1250" dirty="0">
                <a:solidFill>
                  <a:srgbClr val="1F2937"/>
                </a:solidFill>
              </a:rPr>
              <a:t>Online validation in Foundry, including model wording quality</a:t>
            </a:r>
            <a:endParaRPr lang="en-US" sz="1250" dirty="0"/>
          </a:p>
        </p:txBody>
      </p:sp>
      <p:sp>
        <p:nvSpPr>
          <p:cNvPr id="25" name="Shape 21"/>
          <p:cNvSpPr/>
          <p:nvPr/>
        </p:nvSpPr>
        <p:spPr>
          <a:xfrm>
            <a:off x="6629400" y="3547872"/>
            <a:ext cx="109728" cy="109728"/>
          </a:xfrm>
          <a:prstGeom prst="ellipse">
            <a:avLst/>
          </a:prstGeom>
          <a:solidFill>
            <a:srgbClr val="C77A00"/>
          </a:solidFill>
          <a:ln w="6350">
            <a:solidFill>
              <a:srgbClr val="C77A00"/>
            </a:solidFill>
            <a:prstDash val="solid"/>
          </a:ln>
        </p:spPr>
      </p:sp>
      <p:sp>
        <p:nvSpPr>
          <p:cNvPr id="26" name="Text 22"/>
          <p:cNvSpPr txBox="1"/>
          <p:nvPr/>
        </p:nvSpPr>
        <p:spPr>
          <a:xfrm>
            <a:off x="6903720" y="3364992"/>
            <a:ext cx="4434840" cy="548640"/>
          </a:xfrm>
          <a:prstGeom prst="rect">
            <a:avLst/>
          </a:prstGeom>
          <a:noFill/>
          <a:ln/>
        </p:spPr>
        <p:txBody>
          <a:bodyPr wrap="square" lIns="0" tIns="0" rIns="0" bIns="0" rtlCol="0" anchor="ctr"/>
          <a:lstStyle/>
          <a:p>
            <a:pPr indent="0" marL="0">
              <a:buNone/>
            </a:pPr>
            <a:r>
              <a:rPr lang="en-US" sz="1250" dirty="0">
                <a:solidFill>
                  <a:srgbClr val="1F2937"/>
                </a:solidFill>
              </a:rPr>
              <a:t>Blob upload and AI Search indexing in the target environment</a:t>
            </a:r>
            <a:endParaRPr lang="en-US" sz="1250" dirty="0"/>
          </a:p>
        </p:txBody>
      </p:sp>
      <p:sp>
        <p:nvSpPr>
          <p:cNvPr id="27" name="Shape 23"/>
          <p:cNvSpPr/>
          <p:nvPr/>
        </p:nvSpPr>
        <p:spPr>
          <a:xfrm>
            <a:off x="6629400" y="4169664"/>
            <a:ext cx="109728" cy="109728"/>
          </a:xfrm>
          <a:prstGeom prst="ellipse">
            <a:avLst/>
          </a:prstGeom>
          <a:solidFill>
            <a:srgbClr val="C77A00"/>
          </a:solidFill>
          <a:ln w="6350">
            <a:solidFill>
              <a:srgbClr val="C77A00"/>
            </a:solidFill>
            <a:prstDash val="solid"/>
          </a:ln>
        </p:spPr>
      </p:sp>
      <p:sp>
        <p:nvSpPr>
          <p:cNvPr id="28" name="Text 24"/>
          <p:cNvSpPr txBox="1"/>
          <p:nvPr/>
        </p:nvSpPr>
        <p:spPr>
          <a:xfrm>
            <a:off x="6903720" y="3986784"/>
            <a:ext cx="4434840" cy="548640"/>
          </a:xfrm>
          <a:prstGeom prst="rect">
            <a:avLst/>
          </a:prstGeom>
          <a:noFill/>
          <a:ln/>
        </p:spPr>
        <p:txBody>
          <a:bodyPr wrap="square" lIns="0" tIns="0" rIns="0" bIns="0" rtlCol="0" anchor="ctr"/>
          <a:lstStyle/>
          <a:p>
            <a:pPr indent="0" marL="0">
              <a:buNone/>
            </a:pPr>
            <a:r>
              <a:rPr lang="en-US" sz="1250" dirty="0">
                <a:solidFill>
                  <a:srgbClr val="1F2937"/>
                </a:solidFill>
              </a:rPr>
              <a:t>Foundry knowledge base is a preview feature: confirm readiness</a:t>
            </a:r>
            <a:endParaRPr lang="en-US" sz="1250" dirty="0"/>
          </a:p>
        </p:txBody>
      </p:sp>
      <p:sp>
        <p:nvSpPr>
          <p:cNvPr id="29" name="Shape 25"/>
          <p:cNvSpPr/>
          <p:nvPr/>
        </p:nvSpPr>
        <p:spPr>
          <a:xfrm>
            <a:off x="6629400" y="4791456"/>
            <a:ext cx="109728" cy="109728"/>
          </a:xfrm>
          <a:prstGeom prst="ellipse">
            <a:avLst/>
          </a:prstGeom>
          <a:solidFill>
            <a:srgbClr val="C77A00"/>
          </a:solidFill>
          <a:ln w="6350">
            <a:solidFill>
              <a:srgbClr val="C77A00"/>
            </a:solidFill>
            <a:prstDash val="solid"/>
          </a:ln>
        </p:spPr>
      </p:sp>
      <p:sp>
        <p:nvSpPr>
          <p:cNvPr id="30" name="Text 26"/>
          <p:cNvSpPr txBox="1"/>
          <p:nvPr/>
        </p:nvSpPr>
        <p:spPr>
          <a:xfrm>
            <a:off x="6903720" y="4608576"/>
            <a:ext cx="4434840" cy="548640"/>
          </a:xfrm>
          <a:prstGeom prst="rect">
            <a:avLst/>
          </a:prstGeom>
          <a:noFill/>
          <a:ln/>
        </p:spPr>
        <p:txBody>
          <a:bodyPr wrap="square" lIns="0" tIns="0" rIns="0" bIns="0" rtlCol="0" anchor="ctr"/>
          <a:lstStyle/>
          <a:p>
            <a:pPr indent="0" marL="0">
              <a:buNone/>
            </a:pPr>
            <a:r>
              <a:rPr lang="en-US" sz="1250" dirty="0">
                <a:solidFill>
                  <a:srgbClr val="1F2937"/>
                </a:solidFill>
              </a:rPr>
              <a:t>Clinical sign-off of thresholds and content</a:t>
            </a:r>
            <a:endParaRPr lang="en-US" sz="1250" dirty="0"/>
          </a:p>
        </p:txBody>
      </p:sp>
      <p:sp>
        <p:nvSpPr>
          <p:cNvPr id="31" name="Shape 27"/>
          <p:cNvSpPr/>
          <p:nvPr/>
        </p:nvSpPr>
        <p:spPr>
          <a:xfrm>
            <a:off x="6629400" y="5413248"/>
            <a:ext cx="109728" cy="109728"/>
          </a:xfrm>
          <a:prstGeom prst="ellipse">
            <a:avLst/>
          </a:prstGeom>
          <a:solidFill>
            <a:srgbClr val="C77A00"/>
          </a:solidFill>
          <a:ln w="6350">
            <a:solidFill>
              <a:srgbClr val="C77A00"/>
            </a:solidFill>
            <a:prstDash val="solid"/>
          </a:ln>
        </p:spPr>
      </p:sp>
      <p:sp>
        <p:nvSpPr>
          <p:cNvPr id="32" name="Text 28"/>
          <p:cNvSpPr txBox="1"/>
          <p:nvPr/>
        </p:nvSpPr>
        <p:spPr>
          <a:xfrm>
            <a:off x="6903720" y="5230368"/>
            <a:ext cx="4434840" cy="548640"/>
          </a:xfrm>
          <a:prstGeom prst="rect">
            <a:avLst/>
          </a:prstGeom>
          <a:noFill/>
          <a:ln/>
        </p:spPr>
        <p:txBody>
          <a:bodyPr wrap="square" lIns="0" tIns="0" rIns="0" bIns="0" rtlCol="0" anchor="ctr"/>
          <a:lstStyle/>
          <a:p>
            <a:pPr indent="0" marL="0">
              <a:buNone/>
            </a:pPr>
            <a:r>
              <a:rPr lang="en-US" sz="1250" dirty="0">
                <a:solidFill>
                  <a:srgbClr val="1F2937"/>
                </a:solidFill>
              </a:rPr>
              <a:t>Security and compliance review</a:t>
            </a:r>
            <a:endParaRPr lang="en-US" sz="125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body" hasCustomPrompt="1"/>
          </p:nvPr>
        </p:nvSpPr>
        <p:spPr>
          <a:xfrm>
            <a:off x="640080" y="411480"/>
            <a:ext cx="7315200" cy="274320"/>
          </a:xfrm>
          <a:prstGeom prst="rect">
            <a:avLst/>
          </a:prstGeom>
          <a:noFill/>
          <a:ln/>
        </p:spPr>
        <p:txBody>
          <a:bodyPr wrap="square" lIns="0" tIns="0" rIns="0" bIns="0" rtlCol="0" anchor="t"/>
          <a:lstStyle/>
          <a:p>
            <a:pPr indent="0" marL="0">
              <a:buNone/>
            </a:pPr>
            <a:r>
              <a:rPr lang="en-US" sz="1200" b="1" spc="400" kern="0" dirty="0">
                <a:solidFill>
                  <a:srgbClr val="3CC3F0"/>
                </a:solidFill>
              </a:rPr>
              <a:t>PROPOSED PATH</a:t>
            </a:r>
            <a:endParaRPr lang="en-US" sz="1200" dirty="0"/>
          </a:p>
        </p:txBody>
      </p:sp>
      <p:sp>
        <p:nvSpPr>
          <p:cNvPr id="3" name="Text 2"/>
          <p:cNvSpPr/>
          <p:nvPr>
            <p:ph idx="104" type="title" hasCustomPrompt="1"/>
          </p:nvPr>
        </p:nvSpPr>
        <p:spPr>
          <a:xfrm>
            <a:off x="640080" y="777240"/>
            <a:ext cx="10908792" cy="731520"/>
          </a:xfrm>
          <a:prstGeom prst="rect">
            <a:avLst/>
          </a:prstGeom>
          <a:noFill/>
          <a:ln/>
        </p:spPr>
        <p:txBody>
          <a:bodyPr wrap="square" lIns="0" tIns="0" rIns="0" bIns="0" rtlCol="0" anchor="t"/>
          <a:lstStyle/>
          <a:p>
            <a:pPr algn="l" indent="0" marL="0">
              <a:buNone/>
            </a:pPr>
            <a:r>
              <a:rPr lang="en-US" sz="3000" b="1" dirty="0">
                <a:solidFill>
                  <a:srgbClr val="FFFFFF"/>
                </a:solidFill>
              </a:rPr>
              <a:t>Four steps to a controlled pilot</a:t>
            </a:r>
            <a:endParaRPr lang="en-US" sz="3000" dirty="0"/>
          </a:p>
        </p:txBody>
      </p:sp>
      <p:sp>
        <p:nvSpPr>
          <p:cNvPr id="4" name="Text 2"/>
          <p:cNvSpPr txBox="1"/>
          <p:nvPr/>
        </p:nvSpPr>
        <p:spPr>
          <a:xfrm>
            <a:off x="7863840" y="411480"/>
            <a:ext cx="3685032" cy="274320"/>
          </a:xfrm>
          <a:prstGeom prst="rect">
            <a:avLst/>
          </a:prstGeom>
          <a:noFill/>
          <a:ln/>
        </p:spPr>
        <p:txBody>
          <a:bodyPr wrap="square" lIns="0" tIns="0" rIns="0" bIns="0" rtlCol="0" anchor="t"/>
          <a:lstStyle/>
          <a:p>
            <a:pPr algn="r" indent="0" marL="0">
              <a:buNone/>
            </a:pPr>
            <a:r>
              <a:rPr lang="en-US" sz="1000" b="1" spc="300" kern="0" dirty="0">
                <a:solidFill>
                  <a:srgbClr val="A9BBEA"/>
                </a:solidFill>
              </a:rPr>
              <a:t>WAY FORWARD</a:t>
            </a:r>
            <a:endParaRPr lang="en-US" sz="1000" dirty="0"/>
          </a:p>
        </p:txBody>
      </p:sp>
      <p:sp>
        <p:nvSpPr>
          <p:cNvPr id="5" name="Shape 3"/>
          <p:cNvSpPr/>
          <p:nvPr/>
        </p:nvSpPr>
        <p:spPr>
          <a:xfrm>
            <a:off x="640080" y="1783080"/>
            <a:ext cx="2606040" cy="777240"/>
          </a:xfrm>
          <a:prstGeom prst="homePlate">
            <a:avLst/>
          </a:prstGeom>
          <a:solidFill>
            <a:srgbClr val="1547C8"/>
          </a:solidFill>
          <a:ln w="12700">
            <a:solidFill>
              <a:srgbClr val="3CC3F0"/>
            </a:solidFill>
            <a:prstDash val="solid"/>
          </a:ln>
        </p:spPr>
      </p:sp>
      <p:sp>
        <p:nvSpPr>
          <p:cNvPr id="6" name="Text 4"/>
          <p:cNvSpPr txBox="1"/>
          <p:nvPr/>
        </p:nvSpPr>
        <p:spPr>
          <a:xfrm>
            <a:off x="868680" y="1783080"/>
            <a:ext cx="2103120" cy="777240"/>
          </a:xfrm>
          <a:prstGeom prst="rect">
            <a:avLst/>
          </a:prstGeom>
          <a:noFill/>
          <a:ln/>
        </p:spPr>
        <p:txBody>
          <a:bodyPr wrap="square" lIns="0" tIns="0" rIns="0" bIns="0" rtlCol="0" anchor="ctr"/>
          <a:lstStyle/>
          <a:p>
            <a:pPr indent="0" marL="0">
              <a:buNone/>
            </a:pPr>
            <a:r>
              <a:rPr lang="en-US" sz="1200" b="1" spc="200" kern="0" dirty="0">
                <a:solidFill>
                  <a:srgbClr val="FFFFFF"/>
                </a:solidFill>
              </a:rPr>
              <a:t>PHASE 1</a:t>
            </a:r>
            <a:endParaRPr lang="en-US" sz="1200" dirty="0"/>
          </a:p>
        </p:txBody>
      </p:sp>
      <p:sp>
        <p:nvSpPr>
          <p:cNvPr id="7" name="Shape 5"/>
          <p:cNvSpPr/>
          <p:nvPr/>
        </p:nvSpPr>
        <p:spPr>
          <a:xfrm>
            <a:off x="640080" y="2697480"/>
            <a:ext cx="2606040" cy="1554480"/>
          </a:xfrm>
          <a:prstGeom prst="roundRect">
            <a:avLst>
              <a:gd name="adj" fmla="val 4706"/>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8" name="Text 6"/>
          <p:cNvSpPr txBox="1"/>
          <p:nvPr/>
        </p:nvSpPr>
        <p:spPr>
          <a:xfrm>
            <a:off x="841248" y="2834640"/>
            <a:ext cx="2203704" cy="365760"/>
          </a:xfrm>
          <a:prstGeom prst="rect">
            <a:avLst/>
          </a:prstGeom>
          <a:noFill/>
          <a:ln/>
        </p:spPr>
        <p:txBody>
          <a:bodyPr wrap="square" lIns="0" tIns="0" rIns="0" bIns="0" rtlCol="0" anchor="t"/>
          <a:lstStyle/>
          <a:p>
            <a:pPr indent="0" marL="0">
              <a:buNone/>
            </a:pPr>
            <a:r>
              <a:rPr lang="en-US" sz="1600" b="1" dirty="0">
                <a:solidFill>
                  <a:srgbClr val="1F2937"/>
                </a:solidFill>
              </a:rPr>
              <a:t>Online validation</a:t>
            </a:r>
            <a:endParaRPr lang="en-US" sz="1600" dirty="0"/>
          </a:p>
        </p:txBody>
      </p:sp>
      <p:sp>
        <p:nvSpPr>
          <p:cNvPr id="9" name="Text 7"/>
          <p:cNvSpPr txBox="1"/>
          <p:nvPr/>
        </p:nvSpPr>
        <p:spPr>
          <a:xfrm>
            <a:off x="841248" y="3291840"/>
            <a:ext cx="2203704" cy="868680"/>
          </a:xfrm>
          <a:prstGeom prst="rect">
            <a:avLst/>
          </a:prstGeom>
          <a:noFill/>
          <a:ln/>
        </p:spPr>
        <p:txBody>
          <a:bodyPr wrap="square" lIns="0" tIns="0" rIns="0" bIns="0" rtlCol="0" anchor="t"/>
          <a:lstStyle/>
          <a:p>
            <a:pPr indent="0" marL="0">
              <a:buNone/>
            </a:pPr>
            <a:r>
              <a:rPr lang="en-US" sz="1200" dirty="0">
                <a:solidFill>
                  <a:srgbClr val="5B6478"/>
                </a:solidFill>
              </a:rPr>
              <a:t>Run all scenarios against deployed Foundry agents</a:t>
            </a:r>
            <a:endParaRPr lang="en-US" sz="1200" dirty="0"/>
          </a:p>
        </p:txBody>
      </p:sp>
      <p:sp>
        <p:nvSpPr>
          <p:cNvPr id="10" name="Shape 8"/>
          <p:cNvSpPr/>
          <p:nvPr/>
        </p:nvSpPr>
        <p:spPr>
          <a:xfrm>
            <a:off x="3407664" y="1783080"/>
            <a:ext cx="2606040" cy="777240"/>
          </a:xfrm>
          <a:prstGeom prst="homePlate">
            <a:avLst/>
          </a:prstGeom>
          <a:solidFill>
            <a:srgbClr val="1E3A9E"/>
          </a:solidFill>
          <a:ln w="12700">
            <a:solidFill>
              <a:srgbClr val="3CC3F0"/>
            </a:solidFill>
            <a:prstDash val="solid"/>
          </a:ln>
        </p:spPr>
      </p:sp>
      <p:sp>
        <p:nvSpPr>
          <p:cNvPr id="11" name="Text 9"/>
          <p:cNvSpPr txBox="1"/>
          <p:nvPr/>
        </p:nvSpPr>
        <p:spPr>
          <a:xfrm>
            <a:off x="3636264" y="1783080"/>
            <a:ext cx="2103120" cy="777240"/>
          </a:xfrm>
          <a:prstGeom prst="rect">
            <a:avLst/>
          </a:prstGeom>
          <a:noFill/>
          <a:ln/>
        </p:spPr>
        <p:txBody>
          <a:bodyPr wrap="square" lIns="0" tIns="0" rIns="0" bIns="0" rtlCol="0" anchor="ctr"/>
          <a:lstStyle/>
          <a:p>
            <a:pPr indent="0" marL="0">
              <a:buNone/>
            </a:pPr>
            <a:r>
              <a:rPr lang="en-US" sz="1200" b="1" spc="200" kern="0" dirty="0">
                <a:solidFill>
                  <a:srgbClr val="FFFFFF"/>
                </a:solidFill>
              </a:rPr>
              <a:t>PHASE 2</a:t>
            </a:r>
            <a:endParaRPr lang="en-US" sz="1200" dirty="0"/>
          </a:p>
        </p:txBody>
      </p:sp>
      <p:sp>
        <p:nvSpPr>
          <p:cNvPr id="12" name="Shape 10"/>
          <p:cNvSpPr/>
          <p:nvPr/>
        </p:nvSpPr>
        <p:spPr>
          <a:xfrm>
            <a:off x="3407664" y="2697480"/>
            <a:ext cx="2606040" cy="1554480"/>
          </a:xfrm>
          <a:prstGeom prst="roundRect">
            <a:avLst>
              <a:gd name="adj" fmla="val 4706"/>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13" name="Text 11"/>
          <p:cNvSpPr txBox="1"/>
          <p:nvPr/>
        </p:nvSpPr>
        <p:spPr>
          <a:xfrm>
            <a:off x="3608832" y="2834640"/>
            <a:ext cx="2203704" cy="365760"/>
          </a:xfrm>
          <a:prstGeom prst="rect">
            <a:avLst/>
          </a:prstGeom>
          <a:noFill/>
          <a:ln/>
        </p:spPr>
        <p:txBody>
          <a:bodyPr wrap="square" lIns="0" tIns="0" rIns="0" bIns="0" rtlCol="0" anchor="t"/>
          <a:lstStyle/>
          <a:p>
            <a:pPr indent="0" marL="0">
              <a:buNone/>
            </a:pPr>
            <a:r>
              <a:rPr lang="en-US" sz="1600" b="1" dirty="0">
                <a:solidFill>
                  <a:srgbClr val="1F2937"/>
                </a:solidFill>
              </a:rPr>
              <a:t>Clinical review</a:t>
            </a:r>
            <a:endParaRPr lang="en-US" sz="1600" dirty="0"/>
          </a:p>
        </p:txBody>
      </p:sp>
      <p:sp>
        <p:nvSpPr>
          <p:cNvPr id="14" name="Text 12"/>
          <p:cNvSpPr txBox="1"/>
          <p:nvPr/>
        </p:nvSpPr>
        <p:spPr>
          <a:xfrm>
            <a:off x="3608832" y="3291840"/>
            <a:ext cx="2203704" cy="868680"/>
          </a:xfrm>
          <a:prstGeom prst="rect">
            <a:avLst/>
          </a:prstGeom>
          <a:noFill/>
          <a:ln/>
        </p:spPr>
        <p:txBody>
          <a:bodyPr wrap="square" lIns="0" tIns="0" rIns="0" bIns="0" rtlCol="0" anchor="t"/>
          <a:lstStyle/>
          <a:p>
            <a:pPr indent="0" marL="0">
              <a:buNone/>
            </a:pPr>
            <a:r>
              <a:rPr lang="en-US" sz="1200" dirty="0">
                <a:solidFill>
                  <a:srgbClr val="5B6478"/>
                </a:solidFill>
              </a:rPr>
              <a:t>Set thresholds, review content, name escalation owners</a:t>
            </a:r>
            <a:endParaRPr lang="en-US" sz="1200" dirty="0"/>
          </a:p>
        </p:txBody>
      </p:sp>
      <p:sp>
        <p:nvSpPr>
          <p:cNvPr id="15" name="Shape 13"/>
          <p:cNvSpPr/>
          <p:nvPr/>
        </p:nvSpPr>
        <p:spPr>
          <a:xfrm>
            <a:off x="6175248" y="1783080"/>
            <a:ext cx="2606040" cy="777240"/>
          </a:xfrm>
          <a:prstGeom prst="homePlate">
            <a:avLst/>
          </a:prstGeom>
          <a:solidFill>
            <a:srgbClr val="1E3A9E"/>
          </a:solidFill>
          <a:ln w="12700">
            <a:solidFill>
              <a:srgbClr val="3CC3F0"/>
            </a:solidFill>
            <a:prstDash val="solid"/>
          </a:ln>
        </p:spPr>
      </p:sp>
      <p:sp>
        <p:nvSpPr>
          <p:cNvPr id="16" name="Text 14"/>
          <p:cNvSpPr txBox="1"/>
          <p:nvPr/>
        </p:nvSpPr>
        <p:spPr>
          <a:xfrm>
            <a:off x="6403848" y="1783080"/>
            <a:ext cx="2103120" cy="777240"/>
          </a:xfrm>
          <a:prstGeom prst="rect">
            <a:avLst/>
          </a:prstGeom>
          <a:noFill/>
          <a:ln/>
        </p:spPr>
        <p:txBody>
          <a:bodyPr wrap="square" lIns="0" tIns="0" rIns="0" bIns="0" rtlCol="0" anchor="ctr"/>
          <a:lstStyle/>
          <a:p>
            <a:pPr indent="0" marL="0">
              <a:buNone/>
            </a:pPr>
            <a:r>
              <a:rPr lang="en-US" sz="1200" b="1" spc="200" kern="0" dirty="0">
                <a:solidFill>
                  <a:srgbClr val="FFFFFF"/>
                </a:solidFill>
              </a:rPr>
              <a:t>PHASE 3</a:t>
            </a:r>
            <a:endParaRPr lang="en-US" sz="1200" dirty="0"/>
          </a:p>
        </p:txBody>
      </p:sp>
      <p:sp>
        <p:nvSpPr>
          <p:cNvPr id="17" name="Shape 15"/>
          <p:cNvSpPr/>
          <p:nvPr/>
        </p:nvSpPr>
        <p:spPr>
          <a:xfrm>
            <a:off x="6175248" y="2697480"/>
            <a:ext cx="2606040" cy="1554480"/>
          </a:xfrm>
          <a:prstGeom prst="roundRect">
            <a:avLst>
              <a:gd name="adj" fmla="val 4706"/>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18" name="Text 16"/>
          <p:cNvSpPr txBox="1"/>
          <p:nvPr/>
        </p:nvSpPr>
        <p:spPr>
          <a:xfrm>
            <a:off x="6376416" y="2834640"/>
            <a:ext cx="2203704" cy="365760"/>
          </a:xfrm>
          <a:prstGeom prst="rect">
            <a:avLst/>
          </a:prstGeom>
          <a:noFill/>
          <a:ln/>
        </p:spPr>
        <p:txBody>
          <a:bodyPr wrap="square" lIns="0" tIns="0" rIns="0" bIns="0" rtlCol="0" anchor="t"/>
          <a:lstStyle/>
          <a:p>
            <a:pPr indent="0" marL="0">
              <a:buNone/>
            </a:pPr>
            <a:r>
              <a:rPr lang="en-US" sz="1600" b="1" dirty="0">
                <a:solidFill>
                  <a:srgbClr val="1F2937"/>
                </a:solidFill>
              </a:rPr>
              <a:t>Controlled pilot</a:t>
            </a:r>
            <a:endParaRPr lang="en-US" sz="1600" dirty="0"/>
          </a:p>
        </p:txBody>
      </p:sp>
      <p:sp>
        <p:nvSpPr>
          <p:cNvPr id="19" name="Text 17"/>
          <p:cNvSpPr txBox="1"/>
          <p:nvPr/>
        </p:nvSpPr>
        <p:spPr>
          <a:xfrm>
            <a:off x="6376416" y="3291840"/>
            <a:ext cx="2203704" cy="868680"/>
          </a:xfrm>
          <a:prstGeom prst="rect">
            <a:avLst/>
          </a:prstGeom>
          <a:noFill/>
          <a:ln/>
        </p:spPr>
        <p:txBody>
          <a:bodyPr wrap="square" lIns="0" tIns="0" rIns="0" bIns="0" rtlCol="0" anchor="t"/>
          <a:lstStyle/>
          <a:p>
            <a:pPr indent="0" marL="0">
              <a:buNone/>
            </a:pPr>
            <a:r>
              <a:rPr lang="en-US" sz="1200" dirty="0">
                <a:solidFill>
                  <a:srgbClr val="5B6478"/>
                </a:solidFill>
              </a:rPr>
              <a:t>Limited program and member group, agreed success measures</a:t>
            </a:r>
            <a:endParaRPr lang="en-US" sz="1200" dirty="0"/>
          </a:p>
        </p:txBody>
      </p:sp>
      <p:sp>
        <p:nvSpPr>
          <p:cNvPr id="20" name="Shape 18"/>
          <p:cNvSpPr/>
          <p:nvPr/>
        </p:nvSpPr>
        <p:spPr>
          <a:xfrm>
            <a:off x="8942832" y="1783080"/>
            <a:ext cx="2606040" cy="777240"/>
          </a:xfrm>
          <a:prstGeom prst="homePlate">
            <a:avLst/>
          </a:prstGeom>
          <a:solidFill>
            <a:srgbClr val="1E3A9E"/>
          </a:solidFill>
          <a:ln w="12700">
            <a:solidFill>
              <a:srgbClr val="3CC3F0"/>
            </a:solidFill>
            <a:prstDash val="solid"/>
          </a:ln>
        </p:spPr>
      </p:sp>
      <p:sp>
        <p:nvSpPr>
          <p:cNvPr id="21" name="Text 19"/>
          <p:cNvSpPr txBox="1"/>
          <p:nvPr/>
        </p:nvSpPr>
        <p:spPr>
          <a:xfrm>
            <a:off x="9171432" y="1783080"/>
            <a:ext cx="2103120" cy="777240"/>
          </a:xfrm>
          <a:prstGeom prst="rect">
            <a:avLst/>
          </a:prstGeom>
          <a:noFill/>
          <a:ln/>
        </p:spPr>
        <p:txBody>
          <a:bodyPr wrap="square" lIns="0" tIns="0" rIns="0" bIns="0" rtlCol="0" anchor="ctr"/>
          <a:lstStyle/>
          <a:p>
            <a:pPr indent="0" marL="0">
              <a:buNone/>
            </a:pPr>
            <a:r>
              <a:rPr lang="en-US" sz="1200" b="1" spc="200" kern="0" dirty="0">
                <a:solidFill>
                  <a:srgbClr val="FFFFFF"/>
                </a:solidFill>
              </a:rPr>
              <a:t>PHASE 4</a:t>
            </a:r>
            <a:endParaRPr lang="en-US" sz="1200" dirty="0"/>
          </a:p>
        </p:txBody>
      </p:sp>
      <p:sp>
        <p:nvSpPr>
          <p:cNvPr id="22" name="Shape 20"/>
          <p:cNvSpPr/>
          <p:nvPr/>
        </p:nvSpPr>
        <p:spPr>
          <a:xfrm>
            <a:off x="8942832" y="2697480"/>
            <a:ext cx="2606040" cy="1554480"/>
          </a:xfrm>
          <a:prstGeom prst="roundRect">
            <a:avLst>
              <a:gd name="adj" fmla="val 4706"/>
            </a:avLst>
          </a:prstGeom>
          <a:solidFill>
            <a:srgbClr val="FFFFFF"/>
          </a:solidFill>
          <a:ln w="6350">
            <a:solidFill>
              <a:srgbClr val="FFFFFF"/>
            </a:solidFill>
            <a:prstDash val="solid"/>
          </a:ln>
          <a:effectLst>
            <a:outerShdw sx="100000" sy="100000" kx="0" ky="0" algn="bl" rotWithShape="0" blurRad="127000" dist="38100" dir="5400000">
              <a:srgbClr val="000000">
                <a:alpha val="28000"/>
              </a:srgbClr>
            </a:outerShdw>
          </a:effectLst>
        </p:spPr>
      </p:sp>
      <p:sp>
        <p:nvSpPr>
          <p:cNvPr id="23" name="Text 21"/>
          <p:cNvSpPr txBox="1"/>
          <p:nvPr/>
        </p:nvSpPr>
        <p:spPr>
          <a:xfrm>
            <a:off x="9144000" y="2834640"/>
            <a:ext cx="2203704" cy="365760"/>
          </a:xfrm>
          <a:prstGeom prst="rect">
            <a:avLst/>
          </a:prstGeom>
          <a:noFill/>
          <a:ln/>
        </p:spPr>
        <p:txBody>
          <a:bodyPr wrap="square" lIns="0" tIns="0" rIns="0" bIns="0" rtlCol="0" anchor="t"/>
          <a:lstStyle/>
          <a:p>
            <a:pPr indent="0" marL="0">
              <a:buNone/>
            </a:pPr>
            <a:r>
              <a:rPr lang="en-US" sz="1600" b="1" dirty="0">
                <a:solidFill>
                  <a:srgbClr val="1F2937"/>
                </a:solidFill>
              </a:rPr>
              <a:t>Scale</a:t>
            </a:r>
            <a:endParaRPr lang="en-US" sz="1600" dirty="0"/>
          </a:p>
        </p:txBody>
      </p:sp>
      <p:sp>
        <p:nvSpPr>
          <p:cNvPr id="24" name="Text 22"/>
          <p:cNvSpPr txBox="1"/>
          <p:nvPr/>
        </p:nvSpPr>
        <p:spPr>
          <a:xfrm>
            <a:off x="9144000" y="3291840"/>
            <a:ext cx="2203704" cy="868680"/>
          </a:xfrm>
          <a:prstGeom prst="rect">
            <a:avLst/>
          </a:prstGeom>
          <a:noFill/>
          <a:ln/>
        </p:spPr>
        <p:txBody>
          <a:bodyPr wrap="square" lIns="0" tIns="0" rIns="0" bIns="0" rtlCol="0" anchor="t"/>
          <a:lstStyle/>
          <a:p>
            <a:pPr indent="0" marL="0">
              <a:buNone/>
            </a:pPr>
            <a:r>
              <a:rPr lang="en-US" sz="1200" dirty="0">
                <a:solidFill>
                  <a:srgbClr val="5B6478"/>
                </a:solidFill>
              </a:rPr>
              <a:t>Extend to further programs and channels</a:t>
            </a:r>
            <a:endParaRPr lang="en-US" sz="1200" dirty="0"/>
          </a:p>
        </p:txBody>
      </p:sp>
      <p:sp>
        <p:nvSpPr>
          <p:cNvPr id="25" name="Text 23"/>
          <p:cNvSpPr txBox="1"/>
          <p:nvPr/>
        </p:nvSpPr>
        <p:spPr>
          <a:xfrm>
            <a:off x="640080" y="4526280"/>
            <a:ext cx="5486400" cy="274320"/>
          </a:xfrm>
          <a:prstGeom prst="rect">
            <a:avLst/>
          </a:prstGeom>
          <a:noFill/>
          <a:ln/>
        </p:spPr>
        <p:txBody>
          <a:bodyPr wrap="square" lIns="0" tIns="0" rIns="0" bIns="0" rtlCol="0" anchor="t"/>
          <a:lstStyle/>
          <a:p>
            <a:pPr indent="0" marL="0">
              <a:buNone/>
            </a:pPr>
            <a:r>
              <a:rPr lang="en-US" sz="1100" b="1" spc="300" kern="0" dirty="0">
                <a:solidFill>
                  <a:srgbClr val="3CC3F0"/>
                </a:solidFill>
              </a:rPr>
              <a:t>DECISIONS REQUESTED</a:t>
            </a:r>
            <a:endParaRPr lang="en-US" sz="1100" dirty="0"/>
          </a:p>
        </p:txBody>
      </p:sp>
      <p:sp>
        <p:nvSpPr>
          <p:cNvPr id="26" name="Shape 24"/>
          <p:cNvSpPr/>
          <p:nvPr/>
        </p:nvSpPr>
        <p:spPr>
          <a:xfrm>
            <a:off x="640080" y="4846320"/>
            <a:ext cx="3566160" cy="1280160"/>
          </a:xfrm>
          <a:prstGeom prst="roundRect">
            <a:avLst>
              <a:gd name="adj" fmla="val 5714"/>
            </a:avLst>
          </a:prstGeom>
          <a:solidFill>
            <a:srgbClr val="1547C8"/>
          </a:solidFill>
          <a:ln w="15875">
            <a:solidFill>
              <a:srgbClr val="3CC3F0"/>
            </a:solidFill>
            <a:prstDash val="solid"/>
          </a:ln>
          <a:effectLst>
            <a:outerShdw sx="100000" sy="100000" kx="0" ky="0" algn="bl" rotWithShape="0" blurRad="127000" dist="38100" dir="5400000">
              <a:srgbClr val="000000">
                <a:alpha val="28000"/>
              </a:srgbClr>
            </a:outerShdw>
          </a:effectLst>
        </p:spPr>
      </p:sp>
      <p:sp>
        <p:nvSpPr>
          <p:cNvPr id="27" name="Shape 25"/>
          <p:cNvSpPr/>
          <p:nvPr/>
        </p:nvSpPr>
        <p:spPr>
          <a:xfrm>
            <a:off x="822960" y="5029200"/>
            <a:ext cx="384048" cy="384048"/>
          </a:xfrm>
          <a:prstGeom prst="ellipse">
            <a:avLst/>
          </a:prstGeom>
          <a:solidFill>
            <a:srgbClr val="FFFFFF"/>
          </a:solidFill>
          <a:ln w="6350">
            <a:solidFill>
              <a:srgbClr val="FFFFFF"/>
            </a:solidFill>
            <a:prstDash val="solid"/>
          </a:ln>
        </p:spPr>
      </p:sp>
      <p:sp>
        <p:nvSpPr>
          <p:cNvPr id="28" name="Text 26"/>
          <p:cNvSpPr txBox="1"/>
          <p:nvPr/>
        </p:nvSpPr>
        <p:spPr>
          <a:xfrm>
            <a:off x="822960" y="5029200"/>
            <a:ext cx="384048" cy="384048"/>
          </a:xfrm>
          <a:prstGeom prst="rect">
            <a:avLst/>
          </a:prstGeom>
          <a:noFill/>
          <a:ln/>
        </p:spPr>
        <p:txBody>
          <a:bodyPr wrap="square" lIns="0" tIns="0" rIns="0" bIns="0" rtlCol="0" anchor="ctr"/>
          <a:lstStyle/>
          <a:p>
            <a:pPr algn="ctr" indent="0" marL="0">
              <a:buNone/>
            </a:pPr>
            <a:r>
              <a:rPr lang="en-US" sz="1400" b="1" dirty="0">
                <a:solidFill>
                  <a:srgbClr val="1547C8"/>
                </a:solidFill>
              </a:rPr>
              <a:t>1</a:t>
            </a:r>
            <a:endParaRPr lang="en-US" sz="1400" dirty="0"/>
          </a:p>
        </p:txBody>
      </p:sp>
      <p:sp>
        <p:nvSpPr>
          <p:cNvPr id="29" name="Text 27"/>
          <p:cNvSpPr txBox="1"/>
          <p:nvPr/>
        </p:nvSpPr>
        <p:spPr>
          <a:xfrm>
            <a:off x="1353312" y="4983480"/>
            <a:ext cx="2743200" cy="502920"/>
          </a:xfrm>
          <a:prstGeom prst="rect">
            <a:avLst/>
          </a:prstGeom>
          <a:noFill/>
          <a:ln/>
        </p:spPr>
        <p:txBody>
          <a:bodyPr wrap="square" lIns="0" tIns="0" rIns="0" bIns="0" rtlCol="0" anchor="ctr"/>
          <a:lstStyle/>
          <a:p>
            <a:pPr indent="0" marL="0">
              <a:buNone/>
            </a:pPr>
            <a:r>
              <a:rPr lang="en-US" sz="1350" b="1" dirty="0">
                <a:solidFill>
                  <a:srgbClr val="FFFFFF"/>
                </a:solidFill>
              </a:rPr>
              <a:t>Approve an Azure environment</a:t>
            </a:r>
            <a:endParaRPr lang="en-US" sz="1350" dirty="0"/>
          </a:p>
        </p:txBody>
      </p:sp>
      <p:sp>
        <p:nvSpPr>
          <p:cNvPr id="30" name="Text 28"/>
          <p:cNvSpPr txBox="1"/>
          <p:nvPr/>
        </p:nvSpPr>
        <p:spPr>
          <a:xfrm>
            <a:off x="841248" y="5532120"/>
            <a:ext cx="3200400" cy="548640"/>
          </a:xfrm>
          <a:prstGeom prst="rect">
            <a:avLst/>
          </a:prstGeom>
          <a:noFill/>
          <a:ln/>
        </p:spPr>
        <p:txBody>
          <a:bodyPr wrap="square" lIns="0" tIns="0" rIns="0" bIns="0" rtlCol="0" anchor="t"/>
          <a:lstStyle/>
          <a:p>
            <a:pPr indent="0" marL="0">
              <a:buNone/>
            </a:pPr>
            <a:r>
              <a:rPr lang="en-US" sz="1100" dirty="0">
                <a:solidFill>
                  <a:srgbClr val="CFE0FF"/>
                </a:solidFill>
              </a:rPr>
              <a:t>Subscription, Foundry project and storage for online validation</a:t>
            </a:r>
            <a:endParaRPr lang="en-US" sz="1100" dirty="0"/>
          </a:p>
        </p:txBody>
      </p:sp>
      <p:sp>
        <p:nvSpPr>
          <p:cNvPr id="31" name="Shape 29"/>
          <p:cNvSpPr/>
          <p:nvPr/>
        </p:nvSpPr>
        <p:spPr>
          <a:xfrm>
            <a:off x="4315968" y="4846320"/>
            <a:ext cx="3566160" cy="1280160"/>
          </a:xfrm>
          <a:prstGeom prst="roundRect">
            <a:avLst>
              <a:gd name="adj" fmla="val 5714"/>
            </a:avLst>
          </a:prstGeom>
          <a:solidFill>
            <a:srgbClr val="1547C8"/>
          </a:solidFill>
          <a:ln w="15875">
            <a:solidFill>
              <a:srgbClr val="3CC3F0"/>
            </a:solidFill>
            <a:prstDash val="solid"/>
          </a:ln>
          <a:effectLst>
            <a:outerShdw sx="100000" sy="100000" kx="0" ky="0" algn="bl" rotWithShape="0" blurRad="127000" dist="38100" dir="5400000">
              <a:srgbClr val="000000">
                <a:alpha val="28000"/>
              </a:srgbClr>
            </a:outerShdw>
          </a:effectLst>
        </p:spPr>
      </p:sp>
      <p:sp>
        <p:nvSpPr>
          <p:cNvPr id="32" name="Shape 30"/>
          <p:cNvSpPr/>
          <p:nvPr/>
        </p:nvSpPr>
        <p:spPr>
          <a:xfrm>
            <a:off x="4498848" y="5029200"/>
            <a:ext cx="384048" cy="384048"/>
          </a:xfrm>
          <a:prstGeom prst="ellipse">
            <a:avLst/>
          </a:prstGeom>
          <a:solidFill>
            <a:srgbClr val="FFFFFF"/>
          </a:solidFill>
          <a:ln w="6350">
            <a:solidFill>
              <a:srgbClr val="FFFFFF"/>
            </a:solidFill>
            <a:prstDash val="solid"/>
          </a:ln>
        </p:spPr>
      </p:sp>
      <p:sp>
        <p:nvSpPr>
          <p:cNvPr id="33" name="Text 31"/>
          <p:cNvSpPr txBox="1"/>
          <p:nvPr/>
        </p:nvSpPr>
        <p:spPr>
          <a:xfrm>
            <a:off x="4498848" y="5029200"/>
            <a:ext cx="384048" cy="384048"/>
          </a:xfrm>
          <a:prstGeom prst="rect">
            <a:avLst/>
          </a:prstGeom>
          <a:noFill/>
          <a:ln/>
        </p:spPr>
        <p:txBody>
          <a:bodyPr wrap="square" lIns="0" tIns="0" rIns="0" bIns="0" rtlCol="0" anchor="ctr"/>
          <a:lstStyle/>
          <a:p>
            <a:pPr algn="ctr" indent="0" marL="0">
              <a:buNone/>
            </a:pPr>
            <a:r>
              <a:rPr lang="en-US" sz="1400" b="1" dirty="0">
                <a:solidFill>
                  <a:srgbClr val="1547C8"/>
                </a:solidFill>
              </a:rPr>
              <a:t>2</a:t>
            </a:r>
            <a:endParaRPr lang="en-US" sz="1400" dirty="0"/>
          </a:p>
        </p:txBody>
      </p:sp>
      <p:sp>
        <p:nvSpPr>
          <p:cNvPr id="34" name="Text 32"/>
          <p:cNvSpPr txBox="1"/>
          <p:nvPr/>
        </p:nvSpPr>
        <p:spPr>
          <a:xfrm>
            <a:off x="5029200" y="4983480"/>
            <a:ext cx="2743200" cy="502920"/>
          </a:xfrm>
          <a:prstGeom prst="rect">
            <a:avLst/>
          </a:prstGeom>
          <a:noFill/>
          <a:ln/>
        </p:spPr>
        <p:txBody>
          <a:bodyPr wrap="square" lIns="0" tIns="0" rIns="0" bIns="0" rtlCol="0" anchor="ctr"/>
          <a:lstStyle/>
          <a:p>
            <a:pPr indent="0" marL="0">
              <a:buNone/>
            </a:pPr>
            <a:r>
              <a:rPr lang="en-US" sz="1350" b="1" dirty="0">
                <a:solidFill>
                  <a:srgbClr val="FFFFFF"/>
                </a:solidFill>
              </a:rPr>
              <a:t>Nominate clinical reviewers</a:t>
            </a:r>
            <a:endParaRPr lang="en-US" sz="1350" dirty="0"/>
          </a:p>
        </p:txBody>
      </p:sp>
      <p:sp>
        <p:nvSpPr>
          <p:cNvPr id="35" name="Text 33"/>
          <p:cNvSpPr txBox="1"/>
          <p:nvPr/>
        </p:nvSpPr>
        <p:spPr>
          <a:xfrm>
            <a:off x="4517136" y="5532120"/>
            <a:ext cx="3200400" cy="548640"/>
          </a:xfrm>
          <a:prstGeom prst="rect">
            <a:avLst/>
          </a:prstGeom>
          <a:noFill/>
          <a:ln/>
        </p:spPr>
        <p:txBody>
          <a:bodyPr wrap="square" lIns="0" tIns="0" rIns="0" bIns="0" rtlCol="0" anchor="t"/>
          <a:lstStyle/>
          <a:p>
            <a:pPr indent="0" marL="0">
              <a:buNone/>
            </a:pPr>
            <a:r>
              <a:rPr lang="en-US" sz="1100" dirty="0">
                <a:solidFill>
                  <a:srgbClr val="CFE0FF"/>
                </a:solidFill>
              </a:rPr>
              <a:t>To set production thresholds and approve content</a:t>
            </a:r>
            <a:endParaRPr lang="en-US" sz="1100" dirty="0"/>
          </a:p>
        </p:txBody>
      </p:sp>
      <p:sp>
        <p:nvSpPr>
          <p:cNvPr id="36" name="Shape 34"/>
          <p:cNvSpPr/>
          <p:nvPr/>
        </p:nvSpPr>
        <p:spPr>
          <a:xfrm>
            <a:off x="7991856" y="4846320"/>
            <a:ext cx="3566160" cy="1280160"/>
          </a:xfrm>
          <a:prstGeom prst="roundRect">
            <a:avLst>
              <a:gd name="adj" fmla="val 5714"/>
            </a:avLst>
          </a:prstGeom>
          <a:solidFill>
            <a:srgbClr val="1547C8"/>
          </a:solidFill>
          <a:ln w="15875">
            <a:solidFill>
              <a:srgbClr val="3CC3F0"/>
            </a:solidFill>
            <a:prstDash val="solid"/>
          </a:ln>
          <a:effectLst>
            <a:outerShdw sx="100000" sy="100000" kx="0" ky="0" algn="bl" rotWithShape="0" blurRad="127000" dist="38100" dir="5400000">
              <a:srgbClr val="000000">
                <a:alpha val="28000"/>
              </a:srgbClr>
            </a:outerShdw>
          </a:effectLst>
        </p:spPr>
      </p:sp>
      <p:sp>
        <p:nvSpPr>
          <p:cNvPr id="37" name="Shape 35"/>
          <p:cNvSpPr/>
          <p:nvPr/>
        </p:nvSpPr>
        <p:spPr>
          <a:xfrm>
            <a:off x="8174736" y="5029200"/>
            <a:ext cx="384048" cy="384048"/>
          </a:xfrm>
          <a:prstGeom prst="ellipse">
            <a:avLst/>
          </a:prstGeom>
          <a:solidFill>
            <a:srgbClr val="FFFFFF"/>
          </a:solidFill>
          <a:ln w="6350">
            <a:solidFill>
              <a:srgbClr val="FFFFFF"/>
            </a:solidFill>
            <a:prstDash val="solid"/>
          </a:ln>
        </p:spPr>
      </p:sp>
      <p:sp>
        <p:nvSpPr>
          <p:cNvPr id="38" name="Text 36"/>
          <p:cNvSpPr txBox="1"/>
          <p:nvPr/>
        </p:nvSpPr>
        <p:spPr>
          <a:xfrm>
            <a:off x="8174736" y="5029200"/>
            <a:ext cx="384048" cy="384048"/>
          </a:xfrm>
          <a:prstGeom prst="rect">
            <a:avLst/>
          </a:prstGeom>
          <a:noFill/>
          <a:ln/>
        </p:spPr>
        <p:txBody>
          <a:bodyPr wrap="square" lIns="0" tIns="0" rIns="0" bIns="0" rtlCol="0" anchor="ctr"/>
          <a:lstStyle/>
          <a:p>
            <a:pPr algn="ctr" indent="0" marL="0">
              <a:buNone/>
            </a:pPr>
            <a:r>
              <a:rPr lang="en-US" sz="1400" b="1" dirty="0">
                <a:solidFill>
                  <a:srgbClr val="1547C8"/>
                </a:solidFill>
              </a:rPr>
              <a:t>3</a:t>
            </a:r>
            <a:endParaRPr lang="en-US" sz="1400" dirty="0"/>
          </a:p>
        </p:txBody>
      </p:sp>
      <p:sp>
        <p:nvSpPr>
          <p:cNvPr id="39" name="Text 37"/>
          <p:cNvSpPr txBox="1"/>
          <p:nvPr/>
        </p:nvSpPr>
        <p:spPr>
          <a:xfrm>
            <a:off x="8705088" y="4983480"/>
            <a:ext cx="2743200" cy="502920"/>
          </a:xfrm>
          <a:prstGeom prst="rect">
            <a:avLst/>
          </a:prstGeom>
          <a:noFill/>
          <a:ln/>
        </p:spPr>
        <p:txBody>
          <a:bodyPr wrap="square" lIns="0" tIns="0" rIns="0" bIns="0" rtlCol="0" anchor="ctr"/>
          <a:lstStyle/>
          <a:p>
            <a:pPr indent="0" marL="0">
              <a:buNone/>
            </a:pPr>
            <a:r>
              <a:rPr lang="en-US" sz="1350" b="1" dirty="0">
                <a:solidFill>
                  <a:srgbClr val="FFFFFF"/>
                </a:solidFill>
              </a:rPr>
              <a:t>Agree pilot scope and success measures</a:t>
            </a:r>
            <a:endParaRPr lang="en-US" sz="1350" dirty="0"/>
          </a:p>
        </p:txBody>
      </p:sp>
      <p:sp>
        <p:nvSpPr>
          <p:cNvPr id="40" name="Text 38"/>
          <p:cNvSpPr txBox="1"/>
          <p:nvPr/>
        </p:nvSpPr>
        <p:spPr>
          <a:xfrm>
            <a:off x="8193024" y="5532120"/>
            <a:ext cx="3200400" cy="548640"/>
          </a:xfrm>
          <a:prstGeom prst="rect">
            <a:avLst/>
          </a:prstGeom>
          <a:noFill/>
          <a:ln/>
        </p:spPr>
        <p:txBody>
          <a:bodyPr wrap="square" lIns="0" tIns="0" rIns="0" bIns="0" rtlCol="0" anchor="t"/>
          <a:lstStyle/>
          <a:p>
            <a:pPr indent="0" marL="0">
              <a:buNone/>
            </a:pPr>
            <a:r>
              <a:rPr lang="en-US" sz="1100" dirty="0">
                <a:solidFill>
                  <a:srgbClr val="CFE0FF"/>
                </a:solidFill>
              </a:rPr>
              <a:t>Which program, how many members, what good looks like</a:t>
            </a:r>
            <a:endParaRPr lang="en-US" sz="1100" dirty="0"/>
          </a:p>
        </p:txBody>
      </p:sp>
      <p:sp>
        <p:nvSpPr>
          <p:cNvPr id="25" name="Slide Number Placeholder 0"/>
          <p:cNvSpPr>
            <a:spLocks noGrp="1"/>
          </p:cNvSpPr>
          <p:nvPr>
            <p:ph type="sldNum" sz="quarter" idx="4294967295"/>
          </p:nvPr>
        </p:nvSpPr>
        <p:spPr>
          <a:xfrm>
            <a:off x="10881360" y="6400800"/>
            <a:ext cx="667512"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A9BBE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1600200"/>
            <a:ext cx="3657600" cy="274320"/>
          </a:xfrm>
          <a:prstGeom prst="rect">
            <a:avLst/>
          </a:prstGeom>
          <a:noFill/>
          <a:ln/>
        </p:spPr>
        <p:txBody>
          <a:bodyPr wrap="square" lIns="0" tIns="0" rIns="0" bIns="0" rtlCol="0" anchor="t"/>
          <a:lstStyle/>
          <a:p>
            <a:pPr indent="0" marL="0">
              <a:buNone/>
            </a:pPr>
            <a:r>
              <a:rPr lang="en-US" sz="1200" b="1" spc="400" kern="0" dirty="0">
                <a:solidFill>
                  <a:srgbClr val="3CC3F0"/>
                </a:solidFill>
              </a:rPr>
              <a:t>KEY TAKEAWAYS</a:t>
            </a:r>
            <a:endParaRPr lang="en-US" sz="1200" dirty="0"/>
          </a:p>
        </p:txBody>
      </p:sp>
      <p:sp>
        <p:nvSpPr>
          <p:cNvPr id="3" name="Text 1"/>
          <p:cNvSpPr txBox="1"/>
          <p:nvPr/>
        </p:nvSpPr>
        <p:spPr>
          <a:xfrm>
            <a:off x="640080" y="1965960"/>
            <a:ext cx="6217920" cy="2468880"/>
          </a:xfrm>
          <a:prstGeom prst="rect">
            <a:avLst/>
          </a:prstGeom>
          <a:noFill/>
          <a:ln/>
        </p:spPr>
        <p:txBody>
          <a:bodyPr wrap="square" lIns="0" tIns="0" rIns="0" bIns="0" rtlCol="0" anchor="t"/>
          <a:lstStyle/>
          <a:p>
            <a:pPr indent="0" marL="0">
              <a:lnSpc>
                <a:spcPct val="105000"/>
              </a:lnSpc>
              <a:buNone/>
            </a:pPr>
            <a:r>
              <a:rPr lang="en-US" sz="3800" b="1" dirty="0">
                <a:solidFill>
                  <a:srgbClr val="FFFFFF"/>
                </a:solidFill>
              </a:rPr>
              <a:t>AI for language.</a:t>
            </a:r>
            <a:endParaRPr lang="en-US" sz="3800" dirty="0"/>
          </a:p>
          <a:p>
            <a:pPr indent="0" marL="0">
              <a:lnSpc>
                <a:spcPct val="105000"/>
              </a:lnSpc>
              <a:buNone/>
            </a:pPr>
            <a:r>
              <a:rPr lang="en-US" sz="3800" b="1" dirty="0">
                <a:solidFill>
                  <a:srgbClr val="FFFFFF"/>
                </a:solidFill>
              </a:rPr>
              <a:t>Code for facts.</a:t>
            </a:r>
            <a:endParaRPr lang="en-US" sz="3800" dirty="0"/>
          </a:p>
          <a:p>
            <a:pPr indent="0" marL="0">
              <a:lnSpc>
                <a:spcPct val="105000"/>
              </a:lnSpc>
              <a:buNone/>
            </a:pPr>
            <a:r>
              <a:rPr lang="en-US" sz="3800" b="1" dirty="0">
                <a:solidFill>
                  <a:srgbClr val="FFFFFF"/>
                </a:solidFill>
              </a:rPr>
              <a:t>People for decisions.</a:t>
            </a:r>
            <a:endParaRPr lang="en-US" sz="3800" dirty="0"/>
          </a:p>
        </p:txBody>
      </p:sp>
      <p:sp>
        <p:nvSpPr>
          <p:cNvPr id="4" name="Text 2"/>
          <p:cNvSpPr txBox="1"/>
          <p:nvPr/>
        </p:nvSpPr>
        <p:spPr>
          <a:xfrm>
            <a:off x="640080" y="4846320"/>
            <a:ext cx="5486400" cy="731520"/>
          </a:xfrm>
          <a:prstGeom prst="rect">
            <a:avLst/>
          </a:prstGeom>
          <a:noFill/>
          <a:ln/>
        </p:spPr>
        <p:txBody>
          <a:bodyPr wrap="square" lIns="0" tIns="0" rIns="0" bIns="0" rtlCol="0" anchor="t"/>
          <a:lstStyle/>
          <a:p>
            <a:pPr indent="0" marL="0">
              <a:buNone/>
            </a:pPr>
            <a:r>
              <a:rPr lang="en-US" sz="1400" dirty="0">
                <a:solidFill>
                  <a:srgbClr val="CFE0FF"/>
                </a:solidFill>
              </a:rPr>
              <a:t>A repeatable pattern for AI in regulated work. The prototype uses synthetic data and is not for clinical use.</a:t>
            </a:r>
            <a:endParaRPr lang="en-US" sz="1400" dirty="0"/>
          </a:p>
        </p:txBody>
      </p:sp>
      <p:sp>
        <p:nvSpPr>
          <p:cNvPr id="5" name="Shape 3"/>
          <p:cNvSpPr/>
          <p:nvPr/>
        </p:nvSpPr>
        <p:spPr>
          <a:xfrm>
            <a:off x="7315200" y="1600200"/>
            <a:ext cx="4233672" cy="960120"/>
          </a:xfrm>
          <a:prstGeom prst="roundRect">
            <a:avLst>
              <a:gd name="adj" fmla="val 9524"/>
            </a:avLst>
          </a:prstGeom>
          <a:solidFill>
            <a:srgbClr val="FFFFFF">
              <a:alpha val="12000"/>
            </a:srgbClr>
          </a:solidFill>
          <a:ln w="9525">
            <a:solidFill>
              <a:srgbClr val="FFFFFF">
                <a:alpha val="30000"/>
              </a:srgbClr>
            </a:solidFill>
            <a:prstDash val="solid"/>
          </a:ln>
        </p:spPr>
      </p:sp>
      <p:sp>
        <p:nvSpPr>
          <p:cNvPr id="6" name="Shape 4"/>
          <p:cNvSpPr/>
          <p:nvPr/>
        </p:nvSpPr>
        <p:spPr>
          <a:xfrm>
            <a:off x="7498080" y="1801368"/>
            <a:ext cx="548640" cy="548640"/>
          </a:xfrm>
          <a:prstGeom prst="ellipse">
            <a:avLst/>
          </a:prstGeom>
          <a:solidFill>
            <a:srgbClr val="1547C8"/>
          </a:solidFill>
          <a:ln w="6350">
            <a:solidFill>
              <a:srgbClr val="1547C8"/>
            </a:solidFill>
            <a:prstDash val="solid"/>
          </a:ln>
        </p:spPr>
      </p:sp>
      <p:pic>
        <p:nvPicPr>
          <p:cNvPr id="7" name="Image 0" descr="FaShieldAlt">    </p:cNvPr>
          <p:cNvPicPr>
            <a:picLocks noChangeAspect="1"/>
          </p:cNvPicPr>
          <p:nvPr/>
        </p:nvPicPr>
        <p:blipFill>
          <a:blip r:embed="rId1"/>
          <a:stretch>
            <a:fillRect/>
          </a:stretch>
        </p:blipFill>
        <p:spPr>
          <a:xfrm>
            <a:off x="7646213" y="1949501"/>
            <a:ext cx="252374" cy="252374"/>
          </a:xfrm>
          <a:prstGeom prst="rect">
            <a:avLst/>
          </a:prstGeom>
        </p:spPr>
      </p:pic>
      <p:sp>
        <p:nvSpPr>
          <p:cNvPr id="8" name="Text 5"/>
          <p:cNvSpPr txBox="1"/>
          <p:nvPr/>
        </p:nvSpPr>
        <p:spPr>
          <a:xfrm>
            <a:off x="8229600" y="1755648"/>
            <a:ext cx="3200400" cy="320040"/>
          </a:xfrm>
          <a:prstGeom prst="rect">
            <a:avLst/>
          </a:prstGeom>
          <a:noFill/>
          <a:ln/>
        </p:spPr>
        <p:txBody>
          <a:bodyPr wrap="square" lIns="0" tIns="0" rIns="0" bIns="0" rtlCol="0" anchor="t"/>
          <a:lstStyle/>
          <a:p>
            <a:pPr indent="0" marL="0">
              <a:buNone/>
            </a:pPr>
            <a:r>
              <a:rPr lang="en-US" sz="1500" b="1" dirty="0">
                <a:solidFill>
                  <a:srgbClr val="FFFFFF"/>
                </a:solidFill>
              </a:rPr>
              <a:t>Safe by design</a:t>
            </a:r>
            <a:endParaRPr lang="en-US" sz="1500" dirty="0"/>
          </a:p>
        </p:txBody>
      </p:sp>
      <p:sp>
        <p:nvSpPr>
          <p:cNvPr id="9" name="Text 6"/>
          <p:cNvSpPr txBox="1"/>
          <p:nvPr/>
        </p:nvSpPr>
        <p:spPr>
          <a:xfrm>
            <a:off x="8229600" y="2103120"/>
            <a:ext cx="3200400" cy="365760"/>
          </a:xfrm>
          <a:prstGeom prst="rect">
            <a:avLst/>
          </a:prstGeom>
          <a:noFill/>
          <a:ln/>
        </p:spPr>
        <p:txBody>
          <a:bodyPr wrap="square" lIns="0" tIns="0" rIns="0" bIns="0" rtlCol="0" anchor="t"/>
          <a:lstStyle/>
          <a:p>
            <a:pPr indent="0" marL="0">
              <a:buNone/>
            </a:pPr>
            <a:r>
              <a:rPr lang="en-US" sz="1100" dirty="0">
                <a:solidFill>
                  <a:srgbClr val="CFE0FF"/>
                </a:solidFill>
              </a:rPr>
              <a:t>Rules and facts live in code, not in prompts</a:t>
            </a:r>
            <a:endParaRPr lang="en-US" sz="1100" dirty="0"/>
          </a:p>
        </p:txBody>
      </p:sp>
      <p:sp>
        <p:nvSpPr>
          <p:cNvPr id="10" name="Shape 7"/>
          <p:cNvSpPr/>
          <p:nvPr/>
        </p:nvSpPr>
        <p:spPr>
          <a:xfrm>
            <a:off x="7315200" y="2697480"/>
            <a:ext cx="4233672" cy="960120"/>
          </a:xfrm>
          <a:prstGeom prst="roundRect">
            <a:avLst>
              <a:gd name="adj" fmla="val 9524"/>
            </a:avLst>
          </a:prstGeom>
          <a:solidFill>
            <a:srgbClr val="FFFFFF">
              <a:alpha val="12000"/>
            </a:srgbClr>
          </a:solidFill>
          <a:ln w="9525">
            <a:solidFill>
              <a:srgbClr val="FFFFFF">
                <a:alpha val="30000"/>
              </a:srgbClr>
            </a:solidFill>
            <a:prstDash val="solid"/>
          </a:ln>
        </p:spPr>
      </p:sp>
      <p:sp>
        <p:nvSpPr>
          <p:cNvPr id="11" name="Shape 8"/>
          <p:cNvSpPr/>
          <p:nvPr/>
        </p:nvSpPr>
        <p:spPr>
          <a:xfrm>
            <a:off x="7498080" y="2898648"/>
            <a:ext cx="548640" cy="548640"/>
          </a:xfrm>
          <a:prstGeom prst="ellipse">
            <a:avLst/>
          </a:prstGeom>
          <a:solidFill>
            <a:srgbClr val="1547C8"/>
          </a:solidFill>
          <a:ln w="6350">
            <a:solidFill>
              <a:srgbClr val="1547C8"/>
            </a:solidFill>
            <a:prstDash val="solid"/>
          </a:ln>
        </p:spPr>
      </p:sp>
      <p:pic>
        <p:nvPicPr>
          <p:cNvPr id="12" name="Image 1" descr="FaBookMedical">    </p:cNvPr>
          <p:cNvPicPr>
            <a:picLocks noChangeAspect="1"/>
          </p:cNvPicPr>
          <p:nvPr/>
        </p:nvPicPr>
        <p:blipFill>
          <a:blip r:embed="rId2"/>
          <a:stretch>
            <a:fillRect/>
          </a:stretch>
        </p:blipFill>
        <p:spPr>
          <a:xfrm>
            <a:off x="7646213" y="3046781"/>
            <a:ext cx="252374" cy="252374"/>
          </a:xfrm>
          <a:prstGeom prst="rect">
            <a:avLst/>
          </a:prstGeom>
        </p:spPr>
      </p:pic>
      <p:sp>
        <p:nvSpPr>
          <p:cNvPr id="13" name="Text 9"/>
          <p:cNvSpPr txBox="1"/>
          <p:nvPr/>
        </p:nvSpPr>
        <p:spPr>
          <a:xfrm>
            <a:off x="8229600" y="2852928"/>
            <a:ext cx="3200400" cy="320040"/>
          </a:xfrm>
          <a:prstGeom prst="rect">
            <a:avLst/>
          </a:prstGeom>
          <a:noFill/>
          <a:ln/>
        </p:spPr>
        <p:txBody>
          <a:bodyPr wrap="square" lIns="0" tIns="0" rIns="0" bIns="0" rtlCol="0" anchor="t"/>
          <a:lstStyle/>
          <a:p>
            <a:pPr indent="0" marL="0">
              <a:buNone/>
            </a:pPr>
            <a:r>
              <a:rPr lang="en-US" sz="1500" b="1" dirty="0">
                <a:solidFill>
                  <a:srgbClr val="FFFFFF"/>
                </a:solidFill>
              </a:rPr>
              <a:t>Grounded</a:t>
            </a:r>
            <a:endParaRPr lang="en-US" sz="1500" dirty="0"/>
          </a:p>
        </p:txBody>
      </p:sp>
      <p:sp>
        <p:nvSpPr>
          <p:cNvPr id="14" name="Text 10"/>
          <p:cNvSpPr txBox="1"/>
          <p:nvPr/>
        </p:nvSpPr>
        <p:spPr>
          <a:xfrm>
            <a:off x="8229600" y="3200400"/>
            <a:ext cx="3200400" cy="365760"/>
          </a:xfrm>
          <a:prstGeom prst="rect">
            <a:avLst/>
          </a:prstGeom>
          <a:noFill/>
          <a:ln/>
        </p:spPr>
        <p:txBody>
          <a:bodyPr wrap="square" lIns="0" tIns="0" rIns="0" bIns="0" rtlCol="0" anchor="t"/>
          <a:lstStyle/>
          <a:p>
            <a:pPr indent="0" marL="0">
              <a:buNone/>
            </a:pPr>
            <a:r>
              <a:rPr lang="en-US" sz="1100" dirty="0">
                <a:solidFill>
                  <a:srgbClr val="CFE0FF"/>
                </a:solidFill>
              </a:rPr>
              <a:t>Answers cite approved content or state a gap</a:t>
            </a:r>
            <a:endParaRPr lang="en-US" sz="1100" dirty="0"/>
          </a:p>
        </p:txBody>
      </p:sp>
      <p:sp>
        <p:nvSpPr>
          <p:cNvPr id="15" name="Shape 11"/>
          <p:cNvSpPr/>
          <p:nvPr/>
        </p:nvSpPr>
        <p:spPr>
          <a:xfrm>
            <a:off x="7315200" y="3794760"/>
            <a:ext cx="4233672" cy="960120"/>
          </a:xfrm>
          <a:prstGeom prst="roundRect">
            <a:avLst>
              <a:gd name="adj" fmla="val 9524"/>
            </a:avLst>
          </a:prstGeom>
          <a:solidFill>
            <a:srgbClr val="FFFFFF">
              <a:alpha val="12000"/>
            </a:srgbClr>
          </a:solidFill>
          <a:ln w="9525">
            <a:solidFill>
              <a:srgbClr val="FFFFFF">
                <a:alpha val="30000"/>
              </a:srgbClr>
            </a:solidFill>
            <a:prstDash val="solid"/>
          </a:ln>
        </p:spPr>
      </p:sp>
      <p:sp>
        <p:nvSpPr>
          <p:cNvPr id="16" name="Shape 12"/>
          <p:cNvSpPr/>
          <p:nvPr/>
        </p:nvSpPr>
        <p:spPr>
          <a:xfrm>
            <a:off x="7498080" y="3995928"/>
            <a:ext cx="548640" cy="548640"/>
          </a:xfrm>
          <a:prstGeom prst="ellipse">
            <a:avLst/>
          </a:prstGeom>
          <a:solidFill>
            <a:srgbClr val="1547C8"/>
          </a:solidFill>
          <a:ln w="6350">
            <a:solidFill>
              <a:srgbClr val="1547C8"/>
            </a:solidFill>
            <a:prstDash val="solid"/>
          </a:ln>
        </p:spPr>
      </p:sp>
      <p:pic>
        <p:nvPicPr>
          <p:cNvPr id="17" name="Image 2" descr="FaUserMd">    </p:cNvPr>
          <p:cNvPicPr>
            <a:picLocks noChangeAspect="1"/>
          </p:cNvPicPr>
          <p:nvPr/>
        </p:nvPicPr>
        <p:blipFill>
          <a:blip r:embed="rId3"/>
          <a:stretch>
            <a:fillRect/>
          </a:stretch>
        </p:blipFill>
        <p:spPr>
          <a:xfrm>
            <a:off x="7646213" y="4144061"/>
            <a:ext cx="252374" cy="252374"/>
          </a:xfrm>
          <a:prstGeom prst="rect">
            <a:avLst/>
          </a:prstGeom>
        </p:spPr>
      </p:pic>
      <p:sp>
        <p:nvSpPr>
          <p:cNvPr id="18" name="Text 13"/>
          <p:cNvSpPr txBox="1"/>
          <p:nvPr/>
        </p:nvSpPr>
        <p:spPr>
          <a:xfrm>
            <a:off x="8229600" y="3950208"/>
            <a:ext cx="3200400" cy="320040"/>
          </a:xfrm>
          <a:prstGeom prst="rect">
            <a:avLst/>
          </a:prstGeom>
          <a:noFill/>
          <a:ln/>
        </p:spPr>
        <p:txBody>
          <a:bodyPr wrap="square" lIns="0" tIns="0" rIns="0" bIns="0" rtlCol="0" anchor="t"/>
          <a:lstStyle/>
          <a:p>
            <a:pPr indent="0" marL="0">
              <a:buNone/>
            </a:pPr>
            <a:r>
              <a:rPr lang="en-US" sz="1500" b="1" dirty="0">
                <a:solidFill>
                  <a:srgbClr val="FFFFFF"/>
                </a:solidFill>
              </a:rPr>
              <a:t>Human-led</a:t>
            </a:r>
            <a:endParaRPr lang="en-US" sz="1500" dirty="0"/>
          </a:p>
        </p:txBody>
      </p:sp>
      <p:sp>
        <p:nvSpPr>
          <p:cNvPr id="19" name="Text 14"/>
          <p:cNvSpPr txBox="1"/>
          <p:nvPr/>
        </p:nvSpPr>
        <p:spPr>
          <a:xfrm>
            <a:off x="8229600" y="4297680"/>
            <a:ext cx="3200400" cy="365760"/>
          </a:xfrm>
          <a:prstGeom prst="rect">
            <a:avLst/>
          </a:prstGeom>
          <a:noFill/>
          <a:ln/>
        </p:spPr>
        <p:txBody>
          <a:bodyPr wrap="square" lIns="0" tIns="0" rIns="0" bIns="0" rtlCol="0" anchor="t"/>
          <a:lstStyle/>
          <a:p>
            <a:pPr indent="0" marL="0">
              <a:buNone/>
            </a:pPr>
            <a:r>
              <a:rPr lang="en-US" sz="1100" dirty="0">
                <a:solidFill>
                  <a:srgbClr val="CFE0FF"/>
                </a:solidFill>
              </a:rPr>
              <a:t>Risk goes to a staff queue with a clean packet</a:t>
            </a:r>
            <a:endParaRPr lang="en-US" sz="1100" dirty="0"/>
          </a:p>
        </p:txBody>
      </p:sp>
      <p:sp>
        <p:nvSpPr>
          <p:cNvPr id="20" name="Shape 15"/>
          <p:cNvSpPr/>
          <p:nvPr/>
        </p:nvSpPr>
        <p:spPr>
          <a:xfrm>
            <a:off x="7315200" y="4892040"/>
            <a:ext cx="4233672" cy="960120"/>
          </a:xfrm>
          <a:prstGeom prst="roundRect">
            <a:avLst>
              <a:gd name="adj" fmla="val 9524"/>
            </a:avLst>
          </a:prstGeom>
          <a:solidFill>
            <a:srgbClr val="FFFFFF">
              <a:alpha val="12000"/>
            </a:srgbClr>
          </a:solidFill>
          <a:ln w="9525">
            <a:solidFill>
              <a:srgbClr val="FFFFFF">
                <a:alpha val="30000"/>
              </a:srgbClr>
            </a:solidFill>
            <a:prstDash val="solid"/>
          </a:ln>
        </p:spPr>
      </p:sp>
      <p:sp>
        <p:nvSpPr>
          <p:cNvPr id="21" name="Shape 16"/>
          <p:cNvSpPr/>
          <p:nvPr/>
        </p:nvSpPr>
        <p:spPr>
          <a:xfrm>
            <a:off x="7498080" y="5093208"/>
            <a:ext cx="548640" cy="548640"/>
          </a:xfrm>
          <a:prstGeom prst="ellipse">
            <a:avLst/>
          </a:prstGeom>
          <a:solidFill>
            <a:srgbClr val="1547C8"/>
          </a:solidFill>
          <a:ln w="6350">
            <a:solidFill>
              <a:srgbClr val="1547C8"/>
            </a:solidFill>
            <a:prstDash val="solid"/>
          </a:ln>
        </p:spPr>
      </p:sp>
      <p:pic>
        <p:nvPicPr>
          <p:cNvPr id="22" name="Image 3" descr="FaClipboardCheck">    </p:cNvPr>
          <p:cNvPicPr>
            <a:picLocks noChangeAspect="1"/>
          </p:cNvPicPr>
          <p:nvPr/>
        </p:nvPicPr>
        <p:blipFill>
          <a:blip r:embed="rId4"/>
          <a:stretch>
            <a:fillRect/>
          </a:stretch>
        </p:blipFill>
        <p:spPr>
          <a:xfrm>
            <a:off x="7646213" y="5241341"/>
            <a:ext cx="252374" cy="252374"/>
          </a:xfrm>
          <a:prstGeom prst="rect">
            <a:avLst/>
          </a:prstGeom>
        </p:spPr>
      </p:pic>
      <p:sp>
        <p:nvSpPr>
          <p:cNvPr id="23" name="Text 17"/>
          <p:cNvSpPr txBox="1"/>
          <p:nvPr/>
        </p:nvSpPr>
        <p:spPr>
          <a:xfrm>
            <a:off x="8229600" y="5047488"/>
            <a:ext cx="3200400" cy="320040"/>
          </a:xfrm>
          <a:prstGeom prst="rect">
            <a:avLst/>
          </a:prstGeom>
          <a:noFill/>
          <a:ln/>
        </p:spPr>
        <p:txBody>
          <a:bodyPr wrap="square" lIns="0" tIns="0" rIns="0" bIns="0" rtlCol="0" anchor="t"/>
          <a:lstStyle/>
          <a:p>
            <a:pPr indent="0" marL="0">
              <a:buNone/>
            </a:pPr>
            <a:r>
              <a:rPr lang="en-US" sz="1500" b="1" dirty="0">
                <a:solidFill>
                  <a:srgbClr val="FFFFFF"/>
                </a:solidFill>
              </a:rPr>
              <a:t>Auditable</a:t>
            </a:r>
            <a:endParaRPr lang="en-US" sz="1500" dirty="0"/>
          </a:p>
        </p:txBody>
      </p:sp>
      <p:sp>
        <p:nvSpPr>
          <p:cNvPr id="24" name="Text 18"/>
          <p:cNvSpPr txBox="1"/>
          <p:nvPr/>
        </p:nvSpPr>
        <p:spPr>
          <a:xfrm>
            <a:off x="8229600" y="5394960"/>
            <a:ext cx="3200400" cy="365760"/>
          </a:xfrm>
          <a:prstGeom prst="rect">
            <a:avLst/>
          </a:prstGeom>
          <a:noFill/>
          <a:ln/>
        </p:spPr>
        <p:txBody>
          <a:bodyPr wrap="square" lIns="0" tIns="0" rIns="0" bIns="0" rtlCol="0" anchor="t"/>
          <a:lstStyle/>
          <a:p>
            <a:pPr indent="0" marL="0">
              <a:buNone/>
            </a:pPr>
            <a:r>
              <a:rPr lang="en-US" sz="1100" dirty="0">
                <a:solidFill>
                  <a:srgbClr val="CFE0FF"/>
                </a:solidFill>
              </a:rPr>
              <a:t>Masked IDs, no message text, full rule trace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640080" y="2468880"/>
            <a:ext cx="7315200" cy="914400"/>
          </a:xfrm>
          <a:prstGeom prst="rect">
            <a:avLst/>
          </a:prstGeom>
          <a:noFill/>
          <a:ln/>
        </p:spPr>
        <p:txBody>
          <a:bodyPr wrap="square" lIns="0" tIns="0" rIns="0" bIns="0" rtlCol="0" anchor="t"/>
          <a:lstStyle/>
          <a:p>
            <a:pPr indent="0" marL="0">
              <a:buNone/>
            </a:pPr>
            <a:r>
              <a:rPr lang="en-US" sz="5400" b="1" dirty="0">
                <a:solidFill>
                  <a:srgbClr val="FFFFFF"/>
                </a:solidFill>
              </a:rPr>
              <a:t>Thank you</a:t>
            </a:r>
            <a:endParaRPr lang="en-US" sz="5400" dirty="0"/>
          </a:p>
        </p:txBody>
      </p:sp>
      <p:sp>
        <p:nvSpPr>
          <p:cNvPr id="3" name="Text 1"/>
          <p:cNvSpPr txBox="1"/>
          <p:nvPr/>
        </p:nvSpPr>
        <p:spPr>
          <a:xfrm>
            <a:off x="640080" y="3474720"/>
            <a:ext cx="7315200" cy="457200"/>
          </a:xfrm>
          <a:prstGeom prst="rect">
            <a:avLst/>
          </a:prstGeom>
          <a:noFill/>
          <a:ln/>
        </p:spPr>
        <p:txBody>
          <a:bodyPr wrap="square" lIns="0" tIns="0" rIns="0" bIns="0" rtlCol="0" anchor="t"/>
          <a:lstStyle/>
          <a:p>
            <a:pPr indent="0" marL="0">
              <a:buNone/>
            </a:pPr>
            <a:r>
              <a:rPr lang="en-US" sz="2200" dirty="0">
                <a:solidFill>
                  <a:srgbClr val="3CC3F0"/>
                </a:solidFill>
              </a:rPr>
              <a:t>Questions and discussion</a:t>
            </a:r>
            <a:endParaRPr lang="en-US" sz="2200" dirty="0"/>
          </a:p>
        </p:txBody>
      </p:sp>
      <p:sp>
        <p:nvSpPr>
          <p:cNvPr id="4" name="Text 2"/>
          <p:cNvSpPr txBox="1"/>
          <p:nvPr/>
        </p:nvSpPr>
        <p:spPr>
          <a:xfrm>
            <a:off x="640080" y="5852160"/>
            <a:ext cx="4572000" cy="320040"/>
          </a:xfrm>
          <a:prstGeom prst="rect">
            <a:avLst/>
          </a:prstGeom>
          <a:noFill/>
          <a:ln/>
        </p:spPr>
        <p:txBody>
          <a:bodyPr wrap="square" lIns="0" tIns="0" rIns="0" bIns="0" rtlCol="0" anchor="t"/>
          <a:lstStyle/>
          <a:p>
            <a:pPr indent="0" marL="0">
              <a:buNone/>
            </a:pPr>
            <a:r>
              <a:rPr lang="en-US" sz="1400" dirty="0">
                <a:solidFill>
                  <a:srgbClr val="CFE0FF"/>
                </a:solidFill>
              </a:rPr>
              <a:t>Sujit Gorakh Raut</a:t>
            </a:r>
            <a:endParaRPr lang="en-US" sz="1400" dirty="0"/>
          </a:p>
        </p:txBody>
      </p:sp>
    </p:spTree>
  </p:cSld>
  <p:clrMapOvr>
    <a:masterClrMapping/>
  </p:clrMapOvr>
</p:sld>
</file>

<file path=ppt/theme/theme1.xml><?xml version="1.0" encoding="utf-8"?>
<a:theme xmlns:a="http://schemas.openxmlformats.org/drawingml/2006/main" name="CitiusTech Executive">
  <a:themeElements>
    <a:clrScheme name="CitiusTech Executive">
      <a:dk1>
        <a:srgbClr val="0A1F5C"/>
      </a:dk1>
      <a:lt1>
        <a:srgbClr val="FFFFFF"/>
      </a:lt1>
      <a:dk2>
        <a:srgbClr val="06143D"/>
      </a:dk2>
      <a:lt2>
        <a:srgbClr val="EAF0FC"/>
      </a:lt2>
      <a:accent1>
        <a:srgbClr val="1547C8"/>
      </a:accent1>
      <a:accent2>
        <a:srgbClr val="3CC3F0"/>
      </a:accent2>
      <a:accent3>
        <a:srgbClr val="F5A524"/>
      </a:accent3>
      <a:accent4>
        <a:srgbClr val="E5484D"/>
      </a:accent4>
      <a:accent5>
        <a:srgbClr val="12A36B"/>
      </a:accent5>
      <a:accent6>
        <a:srgbClr val="7F9BEA"/>
      </a:accent6>
      <a:hlink>
        <a:srgbClr val="3CC3F0"/>
      </a:hlink>
      <a:folHlink>
        <a:srgbClr val="A9BBEA"/>
      </a:folHlink>
    </a:clrScheme>
    <a:fontScheme name="CitiusTech Executiv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CitiusTech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Chronic Care Engagement &amp; Follow-up: Executive Review</dc:title>
  <dc:subject>PptxGenJS Presentation</dc:subject>
  <dc:creator>Sujit Gorakh Raut</dc:creator>
  <cp:lastModifiedBy>Sujit Gorakh Raut</cp:lastModifiedBy>
  <cp:revision>1</cp:revision>
  <dcterms:created xsi:type="dcterms:W3CDTF">2026-10-11T04:35:28Z</dcterms:created>
  <dcterms:modified xsi:type="dcterms:W3CDTF">2026-10-11T04:35:28Z</dcterms:modified>
</cp:coreProperties>
</file>