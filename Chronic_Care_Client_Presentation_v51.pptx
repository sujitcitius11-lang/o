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and thank you for your time. We are Amey, Saurabh, Sujit and Shubham from CitiusTech. We will show you a working prototype that helps care teams keep chronic-care members engaged between visits. It runs on Microsoft Foundry and Azure. It organises information and hands anything risky to a person. It never diagnoses, never gives medical advice and never changes a medicine.
EXPLANATION:
Opening slide. Introduce the team and state the safety sentence once; everything later traces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the detail, here is the whole story on one slide. We built an assistant that is safe by design: code makes every decision and agents only word the result. It is grounded in approved knowledge: every education answer carries a verified citation or is withheld. And it is proven: fourteen scenarios passed against live Azure. The numbers at the bottom show the scale: six agents, four safety rules, fourteen validated scenarios, and synthetic data only.
EXPLANATION:
One-slide summary for executives who may leave early. The three pillars map to slides 4, 9 and 11. If the audience only remembers one thing, it should be: the model can help with wording but cannot change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Chronic-care programmes depend on small repeated actions: home readings, care-plan tasks and approved education. Coordinators chase these by hand. Readings go missing or conflict. Members ask questions that need an approved answer, not a guess. And the few cases that really need a human are buried in routine work. Our brief was clear: organise the information, and hand risky cases to humans.
EXPLANATION:
Frames the business problem without invented statistics. The three pain points map to what the system does later: missing-data flags, cited education,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Our core principle is: code decides the facts, agents only word them. Consent checks, rule matching, date windows and counts are plain, testable code. Language models only phrase the result. Every output passes three checks: forbidden wording, numbers that must match the data, and citations that must exist in the approved catalog. If a check fails, a safe template message is sent instead.
EXPLANATION:
The design philosophy and the slide most likely to be probed. Key phrase: deterministic decisions, generative wording. A failed guard never produces an unsafe message; it produces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hard line. The assistant never diagnoses, never gives medical advice, never starts, stops or changes a medicine and never decides emergency priority. What it does is check consent first, summarise readings and flag missing data, show care-plan tasks, answer from approved articles with a citation, and hand risky or unclear cases to a person.
EXPLANATION:
Use this to answer 'is this a medical device?' No. It is an organisation and hand-off tool; thresholds are configurable placeholders that clinicians would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user works in the Streamlit app. Requests go to the orchestrator, a fixed Python workflow, so the order of steps never depends on a model. It calls six agents hosted in Microsoft Foundry. Reading, care-plan and rule data come from governed tables. Education answers come from Azure AI Search, fed by approved articles in Blob Storage. Output guards sit between every agent and the member.
EXPLANATION:
Walk left to right. The orchestrator is deliberately not an agent. Foundry access uses Azure identity and the Azure AI User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Six agents, each with one job and the least access it needs. The router classifies the request. Reading Summary words a summary of recent readings. Care Plan presents tasks. Education answers from approved articles with citations and cannot see readings or plans. Engagement writes reminders in the member's channel and language. Escalation prepares the staff hand-off record. All six are registered in Foundry as named, versioned agents.
EXPLANATION:
Table of role, access and limits. Least privilege is per agent. Registered agents can be listed, inspected and versioned in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Follow one request. First consent: if it is not active we stop. Second, a safety screen for prompt injection and medicine-change requests. Third, routing. Fourth, code reads the date window and applies the rules. Fifth, the right agent words the answer. Sixth, the output guard checks wording, numbers and citations. Seventh, the member gets the answer or the case goes to the staff queue, and an audit entry is written.
EXPLANATION:
Seven steps. Consent is first, and nothing from the question text is stored. Each step maps to a validation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rules protect the member. ER-501: consent not active, so we stop and read no data. ER-502: a reading matches a configured test value, so we create an urgent staff-review record with no interpretation. ER-503: a request to change a medicine is declined and referred to a clinician. ER-504: contradictory readings or a conflicting source version are marked uncertain for human review. These are code rules, not prompts, and the thresholds are placeholders that clinicians would own. If no approved article exists, the system says so and asks staff to follow up.
EXPLANATION:
Core safety slide. Be explicit that ER-502 values are placeholders. Routing variants choose the staff queue by program, context and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Education answers use retrieval over approved content only. Articles are approved, draft or retired, and only approved versions reach Blob Storage and the Azure AI Search index, with embeddings and semantic ranking. The Education agent searches that index. Our code then checks every citation for existence, version and program fit. If any citation fails, the answer is withheld and staff follow up. Retiring an article removes it on the next sync.
EXPLANATION:
Pipeline: author, Blob, index, agent, citation check. Embeddings use text-embedding-3-large. The search tool's own markers are replaced by our verified Sources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 Microsoft Foundry we have a project with chat and embedding deployments and the six agents. Blob Storage holds the data tables and approved knowledge. Azure AI Search holds the education and care-plan guidance indexes. Access uses Azure identity with role-based access, and settings live in environment variables. All data is synthetic: about 250 members, over 5,500 readings, 650 tasks and 110 articles. More rows give more realistic tests, not a more accurate model.
EXPLANATION:
If asked about cost or scale: this is a proof of concept sized for synthetic data. Security: identity-based access, no secrets in code; real data needs the production controls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 validated end to end against the live Azure deployment: Foundry agents, Blob Storage and AI Search. Fourteen scenarios cover the safety rules and failure modes, including expired consent, a medicine-change request, a rule trigger, missing readings, a correction, contradictory readings, prompt injection, no matching article, an article for a different program and a tool failure. All fourteen passed, and each run records expected and actual results in an evidence file.
EXPLANATION:
Present the pass count only after the final run confirms 14 of 14. Each scenario checks disposition, sources and member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be clear, this is a proof of concept on synthetic data with placeholder thresholds, no real login yet and a file-based review queue. The path to production is: authentication and role-based access, a database or case-management system, clinician-owned rule values and article approval, quality monitoring, and native-speaker review of translations. The next step we propose is a pilot scope and a clinical owner for the rule values.
EXPLANATION:
Listing limits up front builds trust. Do not promise dates; offer to size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Thank you. We would be glad to take your questions and show any part of the solution live.
EXPLANATION:
Q&amp;A. Suggested ownership: architecture and agents to Saurabh, safety and Azure to Sujit, validation and roadmap to Shubham, scope questions to Amey.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END-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E"/>
        </a:solidFill>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0A1F5C"/>
                </a:solidFill>
              </a:rPr>
              <a:t>CitiusTech</a:t>
            </a:r>
            <a:endParaRPr lang="en-US" sz="1200" dirty="0"/>
          </a:p>
        </p:txBody>
      </p:sp>
      <p:sp>
        <p:nvSpPr>
          <p:cNvPr id="4" name="Shape 1"/>
          <p:cNvSpPr/>
          <p:nvPr/>
        </p:nvSpPr>
        <p:spPr>
          <a:xfrm>
            <a:off x="640080" y="6291072"/>
            <a:ext cx="10908792" cy="0"/>
          </a:xfrm>
          <a:prstGeom prst="line">
            <a:avLst/>
          </a:prstGeom>
          <a:noFill/>
          <a:ln w="9525">
            <a:solidFill>
              <a:srgbClr val="D5DEEE"/>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1E4FD8"/>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0A1F5C"/>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FFFFFF"/>
                </a:solidFill>
              </a:rPr>
              <a:t>CitiusTech</a:t>
            </a:r>
            <a:endParaRPr lang="en-US" sz="1200" dirty="0"/>
          </a:p>
        </p:txBody>
      </p:sp>
      <p:sp>
        <p:nvSpPr>
          <p:cNvPr id="4" name="Shape 1"/>
          <p:cNvSpPr/>
          <p:nvPr/>
        </p:nvSpPr>
        <p:spPr>
          <a:xfrm>
            <a:off x="640080" y="6291072"/>
            <a:ext cx="10908792" cy="0"/>
          </a:xfrm>
          <a:prstGeom prst="line">
            <a:avLst/>
          </a:prstGeom>
          <a:noFill/>
          <a:ln w="6350">
            <a:solidFill>
              <a:srgbClr val="FFFFFF">
                <a:alpha val="25000"/>
              </a:srgbClr>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3CC3F0"/>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949440" y="914400"/>
            <a:ext cx="4937760" cy="4937760"/>
          </a:xfrm>
          <a:prstGeom prst="ellipse">
            <a:avLst/>
          </a:prstGeom>
          <a:ln w="9525">
            <a:solidFill>
              <a:srgbClr val="FFFFFF">
                <a:alpha val="18000"/>
              </a:srgbClr>
            </a:solidFill>
            <a:prstDash val="dash"/>
          </a:ln>
        </p:spPr>
      </p:sp>
      <p:sp>
        <p:nvSpPr>
          <p:cNvPr id="6" name="Shape 2"/>
          <p:cNvSpPr/>
          <p:nvPr/>
        </p:nvSpPr>
        <p:spPr>
          <a:xfrm>
            <a:off x="7484364" y="1449324"/>
            <a:ext cx="3867912" cy="3867912"/>
          </a:xfrm>
          <a:prstGeom prst="ellipse">
            <a:avLst/>
          </a:prstGeom>
          <a:ln w="9525">
            <a:solidFill>
              <a:srgbClr val="FFFFFF">
                <a:alpha val="30000"/>
              </a:srgbClr>
            </a:solidFill>
            <a:prstDash val="solid"/>
          </a:ln>
        </p:spPr>
      </p:sp>
      <p:sp>
        <p:nvSpPr>
          <p:cNvPr id="7" name="Shape 3"/>
          <p:cNvSpPr/>
          <p:nvPr/>
        </p:nvSpPr>
        <p:spPr>
          <a:xfrm>
            <a:off x="8019288" y="1984248"/>
            <a:ext cx="2798064" cy="2798064"/>
          </a:xfrm>
          <a:prstGeom prst="ellipse">
            <a:avLst/>
          </a:prstGeom>
          <a:ln w="9525">
            <a:solidFill>
              <a:srgbClr val="FFFFFF">
                <a:alpha val="30000"/>
              </a:srgbClr>
            </a:solidFill>
            <a:prstDash val="solid"/>
          </a:ln>
        </p:spPr>
      </p:sp>
      <p:sp>
        <p:nvSpPr>
          <p:cNvPr id="8" name="Shape 4"/>
          <p:cNvSpPr/>
          <p:nvPr/>
        </p:nvSpPr>
        <p:spPr>
          <a:xfrm>
            <a:off x="8595360" y="2560320"/>
            <a:ext cx="1645920" cy="164592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84248"/>
            <a:ext cx="0" cy="1399032"/>
          </a:xfrm>
          <a:prstGeom prst="line">
            <a:avLst/>
          </a:prstGeom>
          <a:noFill/>
          <a:ln w="12700">
            <a:solidFill>
              <a:srgbClr val="FFFFFF">
                <a:alpha val="45000"/>
              </a:srgbClr>
            </a:solidFill>
            <a:prstDash val="solid"/>
          </a:ln>
        </p:spPr>
      </p:sp>
      <p:sp>
        <p:nvSpPr>
          <p:cNvPr id="10" name="Shape 6"/>
          <p:cNvSpPr/>
          <p:nvPr/>
        </p:nvSpPr>
        <p:spPr>
          <a:xfrm flipV="1">
            <a:off x="9418320" y="2683764"/>
            <a:ext cx="1211597" cy="699516"/>
          </a:xfrm>
          <a:prstGeom prst="line">
            <a:avLst/>
          </a:prstGeom>
          <a:noFill/>
          <a:ln w="12700">
            <a:solidFill>
              <a:srgbClr val="FFFFFF">
                <a:alpha val="45000"/>
              </a:srgbClr>
            </a:solidFill>
            <a:prstDash val="solid"/>
          </a:ln>
        </p:spPr>
      </p:sp>
      <p:sp>
        <p:nvSpPr>
          <p:cNvPr id="11" name="Shape 7"/>
          <p:cNvSpPr/>
          <p:nvPr/>
        </p:nvSpPr>
        <p:spPr>
          <a:xfrm>
            <a:off x="9418320" y="3383280"/>
            <a:ext cx="1211597" cy="699516"/>
          </a:xfrm>
          <a:prstGeom prst="line">
            <a:avLst/>
          </a:prstGeom>
          <a:noFill/>
          <a:ln w="12700">
            <a:solidFill>
              <a:srgbClr val="FFFFFF">
                <a:alpha val="45000"/>
              </a:srgbClr>
            </a:solidFill>
            <a:prstDash val="solid"/>
          </a:ln>
        </p:spPr>
      </p:sp>
      <p:sp>
        <p:nvSpPr>
          <p:cNvPr id="12" name="Shape 8"/>
          <p:cNvSpPr/>
          <p:nvPr/>
        </p:nvSpPr>
        <p:spPr>
          <a:xfrm>
            <a:off x="9418320" y="3383280"/>
            <a:ext cx="0" cy="1399032"/>
          </a:xfrm>
          <a:prstGeom prst="line">
            <a:avLst/>
          </a:prstGeom>
          <a:noFill/>
          <a:ln w="12700">
            <a:solidFill>
              <a:srgbClr val="FFFFFF">
                <a:alpha val="45000"/>
              </a:srgbClr>
            </a:solidFill>
            <a:prstDash val="solid"/>
          </a:ln>
        </p:spPr>
      </p:sp>
      <p:sp>
        <p:nvSpPr>
          <p:cNvPr id="13" name="Shape 9"/>
          <p:cNvSpPr/>
          <p:nvPr/>
        </p:nvSpPr>
        <p:spPr>
          <a:xfrm flipV="1">
            <a:off x="8206723" y="3383280"/>
            <a:ext cx="1211597" cy="699516"/>
          </a:xfrm>
          <a:prstGeom prst="line">
            <a:avLst/>
          </a:prstGeom>
          <a:noFill/>
          <a:ln w="12700">
            <a:solidFill>
              <a:srgbClr val="FFFFFF">
                <a:alpha val="45000"/>
              </a:srgbClr>
            </a:solidFill>
            <a:prstDash val="solid"/>
          </a:ln>
        </p:spPr>
      </p:sp>
      <p:sp>
        <p:nvSpPr>
          <p:cNvPr id="14" name="Shape 10"/>
          <p:cNvSpPr/>
          <p:nvPr/>
        </p:nvSpPr>
        <p:spPr>
          <a:xfrm>
            <a:off x="8206723" y="2683764"/>
            <a:ext cx="1211597" cy="699516"/>
          </a:xfrm>
          <a:prstGeom prst="line">
            <a:avLst/>
          </a:prstGeom>
          <a:noFill/>
          <a:ln w="12700">
            <a:solidFill>
              <a:srgbClr val="FFFFFF">
                <a:alpha val="45000"/>
              </a:srgbClr>
            </a:solidFill>
            <a:prstDash val="solid"/>
          </a:ln>
        </p:spPr>
      </p:sp>
      <p:sp>
        <p:nvSpPr>
          <p:cNvPr id="15" name="Shape 11"/>
          <p:cNvSpPr/>
          <p:nvPr/>
        </p:nvSpPr>
        <p:spPr>
          <a:xfrm>
            <a:off x="9418320" y="1984248"/>
            <a:ext cx="1211597" cy="699516"/>
          </a:xfrm>
          <a:prstGeom prst="line">
            <a:avLst/>
          </a:prstGeom>
          <a:noFill/>
          <a:ln w="9525">
            <a:solidFill>
              <a:srgbClr val="3CC3F0">
                <a:alpha val="30000"/>
              </a:srgbClr>
            </a:solidFill>
            <a:prstDash val="solid"/>
          </a:ln>
        </p:spPr>
      </p:sp>
      <p:sp>
        <p:nvSpPr>
          <p:cNvPr id="16" name="Shape 12"/>
          <p:cNvSpPr/>
          <p:nvPr/>
        </p:nvSpPr>
        <p:spPr>
          <a:xfrm>
            <a:off x="10629917" y="2683764"/>
            <a:ext cx="0" cy="1399032"/>
          </a:xfrm>
          <a:prstGeom prst="line">
            <a:avLst/>
          </a:prstGeom>
          <a:noFill/>
          <a:ln w="9525">
            <a:solidFill>
              <a:srgbClr val="3CC3F0">
                <a:alpha val="30000"/>
              </a:srgbClr>
            </a:solidFill>
            <a:prstDash val="solid"/>
          </a:ln>
        </p:spPr>
      </p:sp>
      <p:sp>
        <p:nvSpPr>
          <p:cNvPr id="17" name="Shape 13"/>
          <p:cNvSpPr/>
          <p:nvPr/>
        </p:nvSpPr>
        <p:spPr>
          <a:xfrm flipV="1">
            <a:off x="9418320" y="4082796"/>
            <a:ext cx="1211597" cy="699516"/>
          </a:xfrm>
          <a:prstGeom prst="line">
            <a:avLst/>
          </a:prstGeom>
          <a:noFill/>
          <a:ln w="9525">
            <a:solidFill>
              <a:srgbClr val="3CC3F0">
                <a:alpha val="30000"/>
              </a:srgbClr>
            </a:solidFill>
            <a:prstDash val="solid"/>
          </a:ln>
        </p:spPr>
      </p:sp>
      <p:sp>
        <p:nvSpPr>
          <p:cNvPr id="18" name="Shape 14"/>
          <p:cNvSpPr/>
          <p:nvPr/>
        </p:nvSpPr>
        <p:spPr>
          <a:xfrm>
            <a:off x="8206723" y="4082796"/>
            <a:ext cx="1211597" cy="699516"/>
          </a:xfrm>
          <a:prstGeom prst="line">
            <a:avLst/>
          </a:prstGeom>
          <a:noFill/>
          <a:ln w="9525">
            <a:solidFill>
              <a:srgbClr val="3CC3F0">
                <a:alpha val="30000"/>
              </a:srgbClr>
            </a:solidFill>
            <a:prstDash val="solid"/>
          </a:ln>
        </p:spPr>
      </p:sp>
      <p:sp>
        <p:nvSpPr>
          <p:cNvPr id="19" name="Shape 15"/>
          <p:cNvSpPr/>
          <p:nvPr/>
        </p:nvSpPr>
        <p:spPr>
          <a:xfrm flipV="1">
            <a:off x="8206723" y="2683764"/>
            <a:ext cx="0" cy="1399032"/>
          </a:xfrm>
          <a:prstGeom prst="line">
            <a:avLst/>
          </a:prstGeom>
          <a:noFill/>
          <a:ln w="9525">
            <a:solidFill>
              <a:srgbClr val="3CC3F0">
                <a:alpha val="30000"/>
              </a:srgbClr>
            </a:solidFill>
            <a:prstDash val="solid"/>
          </a:ln>
        </p:spPr>
      </p:sp>
      <p:sp>
        <p:nvSpPr>
          <p:cNvPr id="20" name="Shape 16"/>
          <p:cNvSpPr/>
          <p:nvPr/>
        </p:nvSpPr>
        <p:spPr>
          <a:xfrm flipV="1">
            <a:off x="8206723" y="1984248"/>
            <a:ext cx="1211597" cy="699516"/>
          </a:xfrm>
          <a:prstGeom prst="line">
            <a:avLst/>
          </a:prstGeom>
          <a:noFill/>
          <a:ln w="9525">
            <a:solidFill>
              <a:srgbClr val="3CC3F0">
                <a:alpha val="30000"/>
              </a:srgbClr>
            </a:solidFill>
            <a:prstDash val="solid"/>
          </a:ln>
        </p:spPr>
      </p:sp>
      <p:sp>
        <p:nvSpPr>
          <p:cNvPr id="21" name="Shape 17"/>
          <p:cNvSpPr/>
          <p:nvPr/>
        </p:nvSpPr>
        <p:spPr>
          <a:xfrm>
            <a:off x="8908085" y="2873045"/>
            <a:ext cx="1020470" cy="1020470"/>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72677" y="3037637"/>
            <a:ext cx="691286" cy="691286"/>
          </a:xfrm>
          <a:prstGeom prst="ellipse">
            <a:avLst/>
          </a:prstGeom>
          <a:solidFill>
            <a:srgbClr val="FFFFFF"/>
          </a:solidFill>
          <a:ln w="12700">
            <a:solidFill>
              <a:srgbClr val="FFFFFF"/>
            </a:solidFill>
            <a:prstDash val="solid"/>
          </a:ln>
        </p:spPr>
      </p:sp>
      <p:sp>
        <p:nvSpPr>
          <p:cNvPr id="23" name="Text 19"/>
          <p:cNvSpPr txBox="1"/>
          <p:nvPr/>
        </p:nvSpPr>
        <p:spPr>
          <a:xfrm>
            <a:off x="9072677" y="3037637"/>
            <a:ext cx="691286" cy="691286"/>
          </a:xfrm>
          <a:prstGeom prst="rect">
            <a:avLst/>
          </a:prstGeom>
          <a:noFill/>
          <a:ln/>
        </p:spPr>
        <p:txBody>
          <a:bodyPr wrap="square" lIns="0" tIns="0" rIns="0" bIns="0" rtlCol="0" anchor="ctr"/>
          <a:lstStyle/>
          <a:p>
            <a:pPr algn="ctr" indent="0" marL="0">
              <a:buNone/>
            </a:pPr>
            <a:r>
              <a:rPr lang="en-US" sz="810" b="1" dirty="0">
                <a:solidFill>
                  <a:srgbClr val="0A1F5C"/>
                </a:solidFill>
              </a:rPr>
              <a:t>CODE</a:t>
            </a:r>
            <a:endParaRPr lang="en-US" sz="810" dirty="0"/>
          </a:p>
          <a:p>
            <a:pPr algn="ctr" indent="0" marL="0">
              <a:buNone/>
            </a:pPr>
            <a:r>
              <a:rPr lang="en-US" sz="810" b="1" dirty="0">
                <a:solidFill>
                  <a:srgbClr val="0A1F5C"/>
                </a:solidFill>
              </a:rPr>
              <a:t>RULES</a:t>
            </a:r>
            <a:endParaRPr lang="en-US" sz="810" dirty="0"/>
          </a:p>
        </p:txBody>
      </p:sp>
      <p:sp>
        <p:nvSpPr>
          <p:cNvPr id="24" name="Shape 20"/>
          <p:cNvSpPr/>
          <p:nvPr/>
        </p:nvSpPr>
        <p:spPr>
          <a:xfrm>
            <a:off x="9171432" y="1737360"/>
            <a:ext cx="493776" cy="493776"/>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78417" y="1844345"/>
            <a:ext cx="279806" cy="279806"/>
          </a:xfrm>
          <a:prstGeom prst="ellipse">
            <a:avLst/>
          </a:prstGeom>
          <a:solidFill>
            <a:srgbClr val="FFFFFF"/>
          </a:solidFill>
          <a:ln w="12700">
            <a:solidFill>
              <a:srgbClr val="FFFFFF"/>
            </a:solidFill>
            <a:prstDash val="solid"/>
          </a:ln>
        </p:spPr>
      </p:sp>
      <p:sp>
        <p:nvSpPr>
          <p:cNvPr id="26" name="Text 22"/>
          <p:cNvSpPr txBox="1"/>
          <p:nvPr/>
        </p:nvSpPr>
        <p:spPr>
          <a:xfrm>
            <a:off x="8778240" y="1327709"/>
            <a:ext cx="1280160" cy="274320"/>
          </a:xfrm>
          <a:prstGeom prst="rect">
            <a:avLst/>
          </a:prstGeom>
          <a:noFill/>
          <a:ln/>
        </p:spPr>
        <p:txBody>
          <a:bodyPr wrap="square" lIns="0" tIns="0" rIns="0" bIns="0" rtlCol="0" anchor="ctr"/>
          <a:lstStyle/>
          <a:p>
            <a:pPr algn="ctr" indent="0" marL="0">
              <a:buNone/>
            </a:pPr>
            <a:r>
              <a:rPr lang="en-US" sz="990" b="1" dirty="0">
                <a:solidFill>
                  <a:srgbClr val="FFFFFF"/>
                </a:solidFill>
              </a:rPr>
              <a:t>Router</a:t>
            </a:r>
            <a:endParaRPr lang="en-US" sz="990" dirty="0"/>
          </a:p>
        </p:txBody>
      </p:sp>
      <p:sp>
        <p:nvSpPr>
          <p:cNvPr id="27" name="Shape 23"/>
          <p:cNvSpPr/>
          <p:nvPr/>
        </p:nvSpPr>
        <p:spPr>
          <a:xfrm>
            <a:off x="10383029" y="2436876"/>
            <a:ext cx="493776" cy="493776"/>
          </a:xfrm>
          <a:prstGeom prst="ellipse">
            <a:avLst/>
          </a:prstGeom>
          <a:solidFill>
            <a:srgbClr val="3CC3F0">
              <a:alpha val="25000"/>
            </a:srgbClr>
          </a:solidFill>
          <a:ln w="12700">
            <a:solidFill>
              <a:srgbClr val="3CC3F0">
                <a:alpha val="0"/>
              </a:srgbClr>
            </a:solidFill>
            <a:prstDash val="solid"/>
          </a:ln>
        </p:spPr>
      </p:sp>
      <p:sp>
        <p:nvSpPr>
          <p:cNvPr id="28" name="Shape 24"/>
          <p:cNvSpPr/>
          <p:nvPr/>
        </p:nvSpPr>
        <p:spPr>
          <a:xfrm>
            <a:off x="10490014" y="2543861"/>
            <a:ext cx="279806" cy="279806"/>
          </a:xfrm>
          <a:prstGeom prst="ellipse">
            <a:avLst/>
          </a:prstGeom>
          <a:solidFill>
            <a:srgbClr val="3CC3F0"/>
          </a:solidFill>
          <a:ln w="12700">
            <a:solidFill>
              <a:srgbClr val="3CC3F0"/>
            </a:solidFill>
            <a:prstDash val="solid"/>
          </a:ln>
        </p:spPr>
      </p:sp>
      <p:sp>
        <p:nvSpPr>
          <p:cNvPr id="29" name="Text 25"/>
          <p:cNvSpPr txBox="1"/>
          <p:nvPr/>
        </p:nvSpPr>
        <p:spPr>
          <a:xfrm>
            <a:off x="11000523" y="2332634"/>
            <a:ext cx="1280160" cy="274320"/>
          </a:xfrm>
          <a:prstGeom prst="rect">
            <a:avLst/>
          </a:prstGeom>
          <a:noFill/>
          <a:ln/>
        </p:spPr>
        <p:txBody>
          <a:bodyPr wrap="square" lIns="0" tIns="0" rIns="0" bIns="0" rtlCol="0" anchor="ctr"/>
          <a:lstStyle/>
          <a:p>
            <a:pPr algn="l" indent="0" marL="0">
              <a:buNone/>
            </a:pPr>
            <a:r>
              <a:rPr lang="en-US" sz="990" b="1" dirty="0">
                <a:solidFill>
                  <a:srgbClr val="FFFFFF"/>
                </a:solidFill>
              </a:rPr>
              <a:t>Reading</a:t>
            </a:r>
            <a:endParaRPr lang="en-US" sz="990" dirty="0"/>
          </a:p>
        </p:txBody>
      </p:sp>
      <p:sp>
        <p:nvSpPr>
          <p:cNvPr id="30" name="Shape 26"/>
          <p:cNvSpPr/>
          <p:nvPr/>
        </p:nvSpPr>
        <p:spPr>
          <a:xfrm>
            <a:off x="10383029" y="3835908"/>
            <a:ext cx="493776" cy="493776"/>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10490014" y="3942893"/>
            <a:ext cx="279806" cy="279806"/>
          </a:xfrm>
          <a:prstGeom prst="ellipse">
            <a:avLst/>
          </a:prstGeom>
          <a:solidFill>
            <a:srgbClr val="3CC3F0"/>
          </a:solidFill>
          <a:ln w="12700">
            <a:solidFill>
              <a:srgbClr val="3CC3F0"/>
            </a:solidFill>
            <a:prstDash val="solid"/>
          </a:ln>
        </p:spPr>
      </p:sp>
      <p:sp>
        <p:nvSpPr>
          <p:cNvPr id="32" name="Text 28"/>
          <p:cNvSpPr txBox="1"/>
          <p:nvPr/>
        </p:nvSpPr>
        <p:spPr>
          <a:xfrm>
            <a:off x="11000523" y="4159606"/>
            <a:ext cx="1280160" cy="274320"/>
          </a:xfrm>
          <a:prstGeom prst="rect">
            <a:avLst/>
          </a:prstGeom>
          <a:noFill/>
          <a:ln/>
        </p:spPr>
        <p:txBody>
          <a:bodyPr wrap="square" lIns="0" tIns="0" rIns="0" bIns="0" rtlCol="0" anchor="ctr"/>
          <a:lstStyle/>
          <a:p>
            <a:pPr algn="l" indent="0" marL="0">
              <a:buNone/>
            </a:pPr>
            <a:r>
              <a:rPr lang="en-US" sz="990" b="1" dirty="0">
                <a:solidFill>
                  <a:srgbClr val="FFFFFF"/>
                </a:solidFill>
              </a:rPr>
              <a:t>Care plan</a:t>
            </a:r>
            <a:endParaRPr lang="en-US" sz="990" dirty="0"/>
          </a:p>
        </p:txBody>
      </p:sp>
      <p:sp>
        <p:nvSpPr>
          <p:cNvPr id="33" name="Shape 29"/>
          <p:cNvSpPr/>
          <p:nvPr/>
        </p:nvSpPr>
        <p:spPr>
          <a:xfrm>
            <a:off x="9171432" y="4535424"/>
            <a:ext cx="493776" cy="493776"/>
          </a:xfrm>
          <a:prstGeom prst="ellipse">
            <a:avLst/>
          </a:prstGeom>
          <a:solidFill>
            <a:srgbClr val="3CC3F0">
              <a:alpha val="25000"/>
            </a:srgbClr>
          </a:solidFill>
          <a:ln w="12700">
            <a:solidFill>
              <a:srgbClr val="3CC3F0">
                <a:alpha val="0"/>
              </a:srgbClr>
            </a:solidFill>
            <a:prstDash val="solid"/>
          </a:ln>
        </p:spPr>
      </p:sp>
      <p:sp>
        <p:nvSpPr>
          <p:cNvPr id="34" name="Shape 30"/>
          <p:cNvSpPr/>
          <p:nvPr/>
        </p:nvSpPr>
        <p:spPr>
          <a:xfrm>
            <a:off x="9278417" y="4642409"/>
            <a:ext cx="279806" cy="279806"/>
          </a:xfrm>
          <a:prstGeom prst="ellipse">
            <a:avLst/>
          </a:prstGeom>
          <a:solidFill>
            <a:srgbClr val="3CC3F0"/>
          </a:solidFill>
          <a:ln w="12700">
            <a:solidFill>
              <a:srgbClr val="3CC3F0"/>
            </a:solidFill>
            <a:prstDash val="solid"/>
          </a:ln>
        </p:spPr>
      </p:sp>
      <p:sp>
        <p:nvSpPr>
          <p:cNvPr id="35" name="Text 31"/>
          <p:cNvSpPr txBox="1"/>
          <p:nvPr/>
        </p:nvSpPr>
        <p:spPr>
          <a:xfrm>
            <a:off x="8778240" y="5164531"/>
            <a:ext cx="1280160" cy="274320"/>
          </a:xfrm>
          <a:prstGeom prst="rect">
            <a:avLst/>
          </a:prstGeom>
          <a:noFill/>
          <a:ln/>
        </p:spPr>
        <p:txBody>
          <a:bodyPr wrap="square" lIns="0" tIns="0" rIns="0" bIns="0" rtlCol="0" anchor="ctr"/>
          <a:lstStyle/>
          <a:p>
            <a:pPr algn="ctr" indent="0" marL="0">
              <a:buNone/>
            </a:pPr>
            <a:r>
              <a:rPr lang="en-US" sz="990" b="1" dirty="0">
                <a:solidFill>
                  <a:srgbClr val="FFFFFF"/>
                </a:solidFill>
              </a:rPr>
              <a:t>Education</a:t>
            </a:r>
            <a:endParaRPr lang="en-US" sz="990" dirty="0"/>
          </a:p>
        </p:txBody>
      </p:sp>
      <p:sp>
        <p:nvSpPr>
          <p:cNvPr id="36" name="Shape 32"/>
          <p:cNvSpPr/>
          <p:nvPr/>
        </p:nvSpPr>
        <p:spPr>
          <a:xfrm>
            <a:off x="7959835" y="3835908"/>
            <a:ext cx="493776" cy="493776"/>
          </a:xfrm>
          <a:prstGeom prst="ellipse">
            <a:avLst/>
          </a:prstGeom>
          <a:solidFill>
            <a:srgbClr val="3CC3F0">
              <a:alpha val="25000"/>
            </a:srgbClr>
          </a:solidFill>
          <a:ln w="12700">
            <a:solidFill>
              <a:srgbClr val="3CC3F0">
                <a:alpha val="0"/>
              </a:srgbClr>
            </a:solidFill>
            <a:prstDash val="solid"/>
          </a:ln>
        </p:spPr>
      </p:sp>
      <p:sp>
        <p:nvSpPr>
          <p:cNvPr id="37" name="Shape 33"/>
          <p:cNvSpPr/>
          <p:nvPr/>
        </p:nvSpPr>
        <p:spPr>
          <a:xfrm>
            <a:off x="8066820" y="3942893"/>
            <a:ext cx="279806" cy="279806"/>
          </a:xfrm>
          <a:prstGeom prst="ellipse">
            <a:avLst/>
          </a:prstGeom>
          <a:solidFill>
            <a:srgbClr val="3CC3F0"/>
          </a:solidFill>
          <a:ln w="12700">
            <a:solidFill>
              <a:srgbClr val="3CC3F0"/>
            </a:solidFill>
            <a:prstDash val="solid"/>
          </a:ln>
        </p:spPr>
      </p:sp>
      <p:sp>
        <p:nvSpPr>
          <p:cNvPr id="38" name="Text 34"/>
          <p:cNvSpPr txBox="1"/>
          <p:nvPr/>
        </p:nvSpPr>
        <p:spPr>
          <a:xfrm>
            <a:off x="6555957" y="4159606"/>
            <a:ext cx="1280160" cy="274320"/>
          </a:xfrm>
          <a:prstGeom prst="rect">
            <a:avLst/>
          </a:prstGeom>
          <a:noFill/>
          <a:ln/>
        </p:spPr>
        <p:txBody>
          <a:bodyPr wrap="square" lIns="0" tIns="0" rIns="0" bIns="0" rtlCol="0" anchor="ctr"/>
          <a:lstStyle/>
          <a:p>
            <a:pPr algn="r" indent="0" marL="0">
              <a:buNone/>
            </a:pPr>
            <a:r>
              <a:rPr lang="en-US" sz="990" b="1" dirty="0">
                <a:solidFill>
                  <a:srgbClr val="FFFFFF"/>
                </a:solidFill>
              </a:rPr>
              <a:t>Engagement</a:t>
            </a:r>
            <a:endParaRPr lang="en-US" sz="990" dirty="0"/>
          </a:p>
        </p:txBody>
      </p:sp>
      <p:sp>
        <p:nvSpPr>
          <p:cNvPr id="39" name="Shape 35"/>
          <p:cNvSpPr/>
          <p:nvPr/>
        </p:nvSpPr>
        <p:spPr>
          <a:xfrm>
            <a:off x="7959835" y="2436876"/>
            <a:ext cx="493776" cy="493776"/>
          </a:xfrm>
          <a:prstGeom prst="ellipse">
            <a:avLst/>
          </a:prstGeom>
          <a:solidFill>
            <a:srgbClr val="3CC3F0">
              <a:alpha val="25000"/>
            </a:srgbClr>
          </a:solidFill>
          <a:ln w="12700">
            <a:solidFill>
              <a:srgbClr val="3CC3F0">
                <a:alpha val="0"/>
              </a:srgbClr>
            </a:solidFill>
            <a:prstDash val="solid"/>
          </a:ln>
        </p:spPr>
      </p:sp>
      <p:sp>
        <p:nvSpPr>
          <p:cNvPr id="40" name="Shape 36"/>
          <p:cNvSpPr/>
          <p:nvPr/>
        </p:nvSpPr>
        <p:spPr>
          <a:xfrm>
            <a:off x="8066820" y="2543861"/>
            <a:ext cx="279806" cy="279806"/>
          </a:xfrm>
          <a:prstGeom prst="ellipse">
            <a:avLst/>
          </a:prstGeom>
          <a:solidFill>
            <a:srgbClr val="3CC3F0"/>
          </a:solidFill>
          <a:ln w="12700">
            <a:solidFill>
              <a:srgbClr val="3CC3F0"/>
            </a:solidFill>
            <a:prstDash val="solid"/>
          </a:ln>
        </p:spPr>
      </p:sp>
      <p:sp>
        <p:nvSpPr>
          <p:cNvPr id="41" name="Text 37"/>
          <p:cNvSpPr txBox="1"/>
          <p:nvPr/>
        </p:nvSpPr>
        <p:spPr>
          <a:xfrm>
            <a:off x="6555957" y="2332634"/>
            <a:ext cx="1280160" cy="274320"/>
          </a:xfrm>
          <a:prstGeom prst="rect">
            <a:avLst/>
          </a:prstGeom>
          <a:noFill/>
          <a:ln/>
        </p:spPr>
        <p:txBody>
          <a:bodyPr wrap="square" lIns="0" tIns="0" rIns="0" bIns="0" rtlCol="0" anchor="ctr"/>
          <a:lstStyle/>
          <a:p>
            <a:pPr algn="r" indent="0" marL="0">
              <a:buNone/>
            </a:pPr>
            <a:r>
              <a:rPr lang="en-US" sz="990" b="1" dirty="0">
                <a:solidFill>
                  <a:srgbClr val="FFFFFF"/>
                </a:solidFill>
              </a:rPr>
              <a:t>Escalation</a:t>
            </a:r>
            <a:endParaRPr lang="en-US" sz="990" dirty="0"/>
          </a:p>
        </p:txBody>
      </p:sp>
      <p:sp>
        <p:nvSpPr>
          <p:cNvPr id="42" name="Shape 38"/>
          <p:cNvSpPr/>
          <p:nvPr/>
        </p:nvSpPr>
        <p:spPr>
          <a:xfrm>
            <a:off x="11358412" y="1884893"/>
            <a:ext cx="164592" cy="164592"/>
          </a:xfrm>
          <a:prstGeom prst="ellipse">
            <a:avLst/>
          </a:prstGeom>
          <a:solidFill>
            <a:srgbClr val="FFFFFF">
              <a:alpha val="70000"/>
            </a:srgbClr>
          </a:solidFill>
          <a:ln w="12700">
            <a:solidFill>
              <a:srgbClr val="FFFFFF"/>
            </a:solidFill>
            <a:prstDash val="solid"/>
          </a:ln>
        </p:spPr>
      </p:sp>
      <p:sp>
        <p:nvSpPr>
          <p:cNvPr id="43" name="Shape 39"/>
          <p:cNvSpPr/>
          <p:nvPr/>
        </p:nvSpPr>
        <p:spPr>
          <a:xfrm>
            <a:off x="7197911" y="4535424"/>
            <a:ext cx="164592" cy="164592"/>
          </a:xfrm>
          <a:prstGeom prst="ellipse">
            <a:avLst/>
          </a:prstGeom>
          <a:solidFill>
            <a:srgbClr val="FFFFFF">
              <a:alpha val="70000"/>
            </a:srgbClr>
          </a:solidFill>
          <a:ln w="12700">
            <a:solidFill>
              <a:srgbClr val="FFFFFF"/>
            </a:solidFill>
            <a:prstDash val="solid"/>
          </a:ln>
        </p:spPr>
      </p:sp>
      <p:sp>
        <p:nvSpPr>
          <p:cNvPr id="44" name="Shape 40"/>
          <p:cNvSpPr/>
          <p:nvPr/>
        </p:nvSpPr>
        <p:spPr>
          <a:xfrm>
            <a:off x="7313636" y="1884893"/>
            <a:ext cx="164592" cy="164592"/>
          </a:xfrm>
          <a:prstGeom prst="ellipse">
            <a:avLst/>
          </a:prstGeom>
          <a:solidFill>
            <a:srgbClr val="FFFFFF">
              <a:alpha val="70000"/>
            </a:srgbClr>
          </a:solidFill>
          <a:ln w="12700">
            <a:solidFill>
              <a:srgbClr val="FFFFFF"/>
            </a:solidFill>
            <a:prstDash val="solid"/>
          </a:ln>
        </p:spPr>
      </p:sp>
      <p:sp>
        <p:nvSpPr>
          <p:cNvPr id="45" name="Text 41"/>
          <p:cNvSpPr txBox="1"/>
          <p:nvPr/>
        </p:nvSpPr>
        <p:spPr>
          <a:xfrm>
            <a:off x="8961120" y="566928"/>
            <a:ext cx="2743200" cy="274320"/>
          </a:xfrm>
          <a:prstGeom prst="rect">
            <a:avLst/>
          </a:prstGeom>
          <a:noFill/>
          <a:ln/>
        </p:spPr>
        <p:txBody>
          <a:bodyPr wrap="square" lIns="0" tIns="0" rIns="0" bIns="0" rtlCol="0" anchor="t"/>
          <a:lstStyle/>
          <a:p>
            <a:pPr algn="r" indent="0" marL="0">
              <a:buNone/>
            </a:pPr>
            <a:r>
              <a:rPr lang="en-US" sz="1200" dirty="0">
                <a:solidFill>
                  <a:srgbClr val="C9D8F2"/>
                </a:solidFill>
              </a:rPr>
              <a:t>October 2026</a:t>
            </a:r>
            <a:endParaRPr lang="en-US" sz="1200" dirty="0"/>
          </a:p>
        </p:txBody>
      </p:sp>
      <p:sp>
        <p:nvSpPr>
          <p:cNvPr id="46" name="Text 42"/>
          <p:cNvSpPr txBox="1"/>
          <p:nvPr/>
        </p:nvSpPr>
        <p:spPr>
          <a:xfrm>
            <a:off x="731520" y="1783080"/>
            <a:ext cx="6400800" cy="274320"/>
          </a:xfrm>
          <a:prstGeom prst="rect">
            <a:avLst/>
          </a:prstGeom>
          <a:noFill/>
          <a:ln/>
        </p:spPr>
        <p:txBody>
          <a:bodyPr wrap="square" lIns="0" tIns="0" rIns="0" bIns="0" rtlCol="0" anchor="t"/>
          <a:lstStyle/>
          <a:p>
            <a:pPr indent="0" marL="0">
              <a:buNone/>
            </a:pPr>
            <a:r>
              <a:rPr lang="en-US" sz="1200" b="1" spc="400" kern="0" dirty="0">
                <a:solidFill>
                  <a:srgbClr val="3CC3F0"/>
                </a:solidFill>
              </a:rPr>
              <a:t>AI-ENABLED CARE COORDINATION</a:t>
            </a:r>
            <a:endParaRPr lang="en-US" sz="1200" dirty="0"/>
          </a:p>
        </p:txBody>
      </p:sp>
      <p:sp>
        <p:nvSpPr>
          <p:cNvPr id="47" name="Text 43"/>
          <p:cNvSpPr txBox="1"/>
          <p:nvPr/>
        </p:nvSpPr>
        <p:spPr>
          <a:xfrm>
            <a:off x="731520" y="2194560"/>
            <a:ext cx="6766560"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rPr>
              <a:t>Chronic Care</a:t>
            </a:r>
            <a:endParaRPr lang="en-US" sz="4000" dirty="0"/>
          </a:p>
          <a:p>
            <a:pPr indent="0" marL="0">
              <a:lnSpc>
                <a:spcPct val="100000"/>
              </a:lnSpc>
              <a:buNone/>
            </a:pPr>
            <a:r>
              <a:rPr lang="en-US" sz="4000" b="1" dirty="0">
                <a:solidFill>
                  <a:srgbClr val="FFFFFF"/>
                </a:solidFill>
              </a:rPr>
              <a:t>Engagement &amp; Follow-up</a:t>
            </a:r>
            <a:endParaRPr lang="en-US" sz="4000" dirty="0"/>
          </a:p>
        </p:txBody>
      </p:sp>
      <p:sp>
        <p:nvSpPr>
          <p:cNvPr id="48" name="Text 44"/>
          <p:cNvSpPr txBox="1"/>
          <p:nvPr/>
        </p:nvSpPr>
        <p:spPr>
          <a:xfrm>
            <a:off x="731520" y="3931920"/>
            <a:ext cx="5852160" cy="914400"/>
          </a:xfrm>
          <a:prstGeom prst="rect">
            <a:avLst/>
          </a:prstGeom>
          <a:noFill/>
          <a:ln/>
        </p:spPr>
        <p:txBody>
          <a:bodyPr wrap="square" lIns="0" tIns="0" rIns="0" bIns="0" rtlCol="0" anchor="t"/>
          <a:lstStyle/>
          <a:p>
            <a:pPr indent="0" marL="0">
              <a:buNone/>
            </a:pPr>
            <a:r>
              <a:rPr lang="en-US" sz="1600" dirty="0">
                <a:solidFill>
                  <a:srgbClr val="C9D8F2"/>
                </a:solidFill>
              </a:rPr>
              <a:t>A governed multi-agent assistant on Microsoft Foundry that organises information and hands every risky case to a person.</a:t>
            </a:r>
            <a:endParaRPr lang="en-US" sz="1600" dirty="0"/>
          </a:p>
        </p:txBody>
      </p:sp>
      <p:sp>
        <p:nvSpPr>
          <p:cNvPr id="49" name="Shape 45"/>
          <p:cNvSpPr/>
          <p:nvPr/>
        </p:nvSpPr>
        <p:spPr>
          <a:xfrm>
            <a:off x="731520" y="5074920"/>
            <a:ext cx="5394960" cy="1097280"/>
          </a:xfrm>
          <a:prstGeom prst="rect">
            <a:avLst/>
          </a:prstGeom>
          <a:solidFill>
            <a:srgbClr val="FFFFFF">
              <a:alpha val="10000"/>
            </a:srgbClr>
          </a:solidFill>
          <a:ln w="9525">
            <a:solidFill>
              <a:srgbClr val="FFFFFF">
                <a:alpha val="28000"/>
              </a:srgbClr>
            </a:solidFill>
            <a:prstDash val="solid"/>
          </a:ln>
        </p:spPr>
      </p:sp>
      <p:sp>
        <p:nvSpPr>
          <p:cNvPr id="50" name="Shape 46"/>
          <p:cNvSpPr/>
          <p:nvPr/>
        </p:nvSpPr>
        <p:spPr>
          <a:xfrm>
            <a:off x="731520" y="5074920"/>
            <a:ext cx="64008" cy="1097280"/>
          </a:xfrm>
          <a:prstGeom prst="rect">
            <a:avLst/>
          </a:prstGeom>
          <a:solidFill>
            <a:srgbClr val="3CC3F0"/>
          </a:solidFill>
          <a:ln w="12700">
            <a:solidFill>
              <a:srgbClr val="3CC3F0"/>
            </a:solidFill>
            <a:prstDash val="solid"/>
          </a:ln>
        </p:spPr>
      </p:sp>
      <p:sp>
        <p:nvSpPr>
          <p:cNvPr id="51" name="Text 47"/>
          <p:cNvSpPr txBox="1"/>
          <p:nvPr/>
        </p:nvSpPr>
        <p:spPr>
          <a:xfrm>
            <a:off x="1005840" y="5074920"/>
            <a:ext cx="822960" cy="1097280"/>
          </a:xfrm>
          <a:prstGeom prst="rect">
            <a:avLst/>
          </a:prstGeom>
          <a:noFill/>
          <a:ln/>
        </p:spPr>
        <p:txBody>
          <a:bodyPr wrap="square" lIns="0" tIns="0" rIns="0" bIns="0" rtlCol="0" anchor="ctr"/>
          <a:lstStyle/>
          <a:p>
            <a:pPr indent="0" marL="0">
              <a:buNone/>
            </a:pPr>
            <a:r>
              <a:rPr lang="en-US" sz="1100" b="1" spc="300" kern="0" dirty="0">
                <a:solidFill>
                  <a:srgbClr val="3CC3F0"/>
                </a:solidFill>
              </a:rPr>
              <a:t>TEAM</a:t>
            </a:r>
            <a:endParaRPr lang="en-US" sz="1100" dirty="0"/>
          </a:p>
        </p:txBody>
      </p:sp>
      <p:sp>
        <p:nvSpPr>
          <p:cNvPr id="52" name="Text 48"/>
          <p:cNvSpPr txBox="1"/>
          <p:nvPr/>
        </p:nvSpPr>
        <p:spPr>
          <a:xfrm>
            <a:off x="192024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Amey Patil</a:t>
            </a:r>
            <a:endParaRPr lang="en-US" sz="1500" dirty="0"/>
          </a:p>
        </p:txBody>
      </p:sp>
      <p:sp>
        <p:nvSpPr>
          <p:cNvPr id="53" name="Text 49"/>
          <p:cNvSpPr txBox="1"/>
          <p:nvPr/>
        </p:nvSpPr>
        <p:spPr>
          <a:xfrm>
            <a:off x="402336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Saurabh Singh</a:t>
            </a:r>
            <a:endParaRPr lang="en-US" sz="1500" dirty="0"/>
          </a:p>
        </p:txBody>
      </p:sp>
      <p:sp>
        <p:nvSpPr>
          <p:cNvPr id="54" name="Text 50"/>
          <p:cNvSpPr txBox="1"/>
          <p:nvPr/>
        </p:nvSpPr>
        <p:spPr>
          <a:xfrm>
            <a:off x="192024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Sujit Raut</a:t>
            </a:r>
            <a:endParaRPr lang="en-US" sz="1500" dirty="0"/>
          </a:p>
        </p:txBody>
      </p:sp>
      <p:sp>
        <p:nvSpPr>
          <p:cNvPr id="55" name="Text 51"/>
          <p:cNvSpPr txBox="1"/>
          <p:nvPr/>
        </p:nvSpPr>
        <p:spPr>
          <a:xfrm>
            <a:off x="402336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Shubham Sahu</a:t>
            </a:r>
            <a:endParaRPr lang="en-US" sz="1500" dirty="0"/>
          </a:p>
        </p:txBody>
      </p:sp>
      <p:sp>
        <p:nvSpPr>
          <p:cNvPr id="56" name="Shape 52"/>
          <p:cNvSpPr/>
          <p:nvPr/>
        </p:nvSpPr>
        <p:spPr>
          <a:xfrm>
            <a:off x="69494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7" name="Text 53"/>
          <p:cNvSpPr txBox="1"/>
          <p:nvPr/>
        </p:nvSpPr>
        <p:spPr>
          <a:xfrm>
            <a:off x="69494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Microsoft Foundry</a:t>
            </a:r>
            <a:endParaRPr lang="en-US" sz="1000" dirty="0"/>
          </a:p>
        </p:txBody>
      </p:sp>
      <p:sp>
        <p:nvSpPr>
          <p:cNvPr id="58" name="Shape 54"/>
          <p:cNvSpPr/>
          <p:nvPr/>
        </p:nvSpPr>
        <p:spPr>
          <a:xfrm>
            <a:off x="85496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9" name="Text 55"/>
          <p:cNvSpPr txBox="1"/>
          <p:nvPr/>
        </p:nvSpPr>
        <p:spPr>
          <a:xfrm>
            <a:off x="85496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Azure AI Search</a:t>
            </a:r>
            <a:endParaRPr lang="en-US" sz="1000" dirty="0"/>
          </a:p>
        </p:txBody>
      </p:sp>
      <p:sp>
        <p:nvSpPr>
          <p:cNvPr id="60" name="Shape 56"/>
          <p:cNvSpPr/>
          <p:nvPr/>
        </p:nvSpPr>
        <p:spPr>
          <a:xfrm>
            <a:off x="101498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61" name="Text 57"/>
          <p:cNvSpPr txBox="1"/>
          <p:nvPr/>
        </p:nvSpPr>
        <p:spPr>
          <a:xfrm>
            <a:off x="101498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Azure Blob Storage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EXECUTIVE SUMMARY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A safe assistant that helps people and never replaces them</a:t>
            </a:r>
            <a:endParaRPr lang="en-US" sz="2800" dirty="0"/>
          </a:p>
        </p:txBody>
      </p:sp>
      <p:sp>
        <p:nvSpPr>
          <p:cNvPr id="5" name="Shape 2"/>
          <p:cNvSpPr/>
          <p:nvPr/>
        </p:nvSpPr>
        <p:spPr>
          <a:xfrm>
            <a:off x="640080" y="1737360"/>
            <a:ext cx="3502152" cy="2514600"/>
          </a:xfrm>
          <a:prstGeom prst="rect">
            <a:avLst/>
          </a:prstGeom>
          <a:solidFill>
            <a:srgbClr val="FFFFFF">
              <a:alpha val="8000"/>
            </a:srgbClr>
          </a:solidFill>
          <a:ln w="9525">
            <a:solidFill>
              <a:srgbClr val="FFFFFF">
                <a:alpha val="28000"/>
              </a:srgbClr>
            </a:solidFill>
            <a:prstDash val="solid"/>
          </a:ln>
        </p:spPr>
      </p:sp>
      <p:sp>
        <p:nvSpPr>
          <p:cNvPr id="6" name="Shape 3"/>
          <p:cNvSpPr/>
          <p:nvPr/>
        </p:nvSpPr>
        <p:spPr>
          <a:xfrm>
            <a:off x="640080" y="1737360"/>
            <a:ext cx="3502152" cy="0"/>
          </a:xfrm>
          <a:prstGeom prst="line">
            <a:avLst/>
          </a:prstGeom>
          <a:noFill/>
          <a:ln w="38100">
            <a:solidFill>
              <a:srgbClr val="3CC3F0"/>
            </a:solidFill>
            <a:prstDash val="solid"/>
          </a:ln>
        </p:spPr>
      </p:sp>
      <p:sp>
        <p:nvSpPr>
          <p:cNvPr id="7" name="Text 4"/>
          <p:cNvSpPr txBox="1"/>
          <p:nvPr/>
        </p:nvSpPr>
        <p:spPr>
          <a:xfrm>
            <a:off x="914400" y="1965960"/>
            <a:ext cx="3017520" cy="274320"/>
          </a:xfrm>
          <a:prstGeom prst="rect">
            <a:avLst/>
          </a:prstGeom>
          <a:noFill/>
          <a:ln/>
        </p:spPr>
        <p:txBody>
          <a:bodyPr wrap="square" lIns="0" tIns="0" rIns="0" bIns="0" rtlCol="0" anchor="t"/>
          <a:lstStyle/>
          <a:p>
            <a:pPr indent="0" marL="0">
              <a:buNone/>
            </a:pPr>
            <a:r>
              <a:rPr lang="en-US" sz="1100" b="1" spc="300" kern="0" dirty="0">
                <a:solidFill>
                  <a:srgbClr val="3CC3F0"/>
                </a:solidFill>
              </a:rPr>
              <a:t>SAFE BY DESIGN</a:t>
            </a:r>
            <a:endParaRPr lang="en-US" sz="1100" dirty="0"/>
          </a:p>
        </p:txBody>
      </p:sp>
      <p:sp>
        <p:nvSpPr>
          <p:cNvPr id="8" name="Text 5"/>
          <p:cNvSpPr txBox="1"/>
          <p:nvPr/>
        </p:nvSpPr>
        <p:spPr>
          <a:xfrm>
            <a:off x="91440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Code decides, agents word</a:t>
            </a:r>
            <a:endParaRPr lang="en-US" sz="2100" dirty="0"/>
          </a:p>
        </p:txBody>
      </p:sp>
      <p:sp>
        <p:nvSpPr>
          <p:cNvPr id="9" name="Text 6"/>
          <p:cNvSpPr txBox="1"/>
          <p:nvPr/>
        </p:nvSpPr>
        <p:spPr>
          <a:xfrm>
            <a:off x="91440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Consent, rules and routing are plain code. A model can phrase a result but cannot change a decision.</a:t>
            </a:r>
            <a:endParaRPr lang="en-US" sz="1300" dirty="0"/>
          </a:p>
        </p:txBody>
      </p:sp>
      <p:sp>
        <p:nvSpPr>
          <p:cNvPr id="10" name="Shape 7"/>
          <p:cNvSpPr/>
          <p:nvPr/>
        </p:nvSpPr>
        <p:spPr>
          <a:xfrm>
            <a:off x="4343400" y="1737360"/>
            <a:ext cx="3502152" cy="2514600"/>
          </a:xfrm>
          <a:prstGeom prst="rect">
            <a:avLst/>
          </a:prstGeom>
          <a:solidFill>
            <a:srgbClr val="FFFFFF">
              <a:alpha val="8000"/>
            </a:srgbClr>
          </a:solidFill>
          <a:ln w="9525">
            <a:solidFill>
              <a:srgbClr val="FFFFFF">
                <a:alpha val="28000"/>
              </a:srgbClr>
            </a:solidFill>
            <a:prstDash val="solid"/>
          </a:ln>
        </p:spPr>
      </p:sp>
      <p:sp>
        <p:nvSpPr>
          <p:cNvPr id="11" name="Shape 8"/>
          <p:cNvSpPr/>
          <p:nvPr/>
        </p:nvSpPr>
        <p:spPr>
          <a:xfrm>
            <a:off x="4343400" y="1737360"/>
            <a:ext cx="3502152" cy="0"/>
          </a:xfrm>
          <a:prstGeom prst="line">
            <a:avLst/>
          </a:prstGeom>
          <a:noFill/>
          <a:ln w="38100">
            <a:solidFill>
              <a:srgbClr val="12B5B0"/>
            </a:solidFill>
            <a:prstDash val="solid"/>
          </a:ln>
        </p:spPr>
      </p:sp>
      <p:sp>
        <p:nvSpPr>
          <p:cNvPr id="12" name="Text 9"/>
          <p:cNvSpPr txBox="1"/>
          <p:nvPr/>
        </p:nvSpPr>
        <p:spPr>
          <a:xfrm>
            <a:off x="4617720" y="1965960"/>
            <a:ext cx="3017520" cy="274320"/>
          </a:xfrm>
          <a:prstGeom prst="rect">
            <a:avLst/>
          </a:prstGeom>
          <a:noFill/>
          <a:ln/>
        </p:spPr>
        <p:txBody>
          <a:bodyPr wrap="square" lIns="0" tIns="0" rIns="0" bIns="0" rtlCol="0" anchor="t"/>
          <a:lstStyle/>
          <a:p>
            <a:pPr indent="0" marL="0">
              <a:buNone/>
            </a:pPr>
            <a:r>
              <a:rPr lang="en-US" sz="1100" b="1" spc="300" kern="0" dirty="0">
                <a:solidFill>
                  <a:srgbClr val="12B5B0"/>
                </a:solidFill>
              </a:rPr>
              <a:t>GROUNDED</a:t>
            </a:r>
            <a:endParaRPr lang="en-US" sz="1100" dirty="0"/>
          </a:p>
        </p:txBody>
      </p:sp>
      <p:sp>
        <p:nvSpPr>
          <p:cNvPr id="13" name="Text 10"/>
          <p:cNvSpPr txBox="1"/>
          <p:nvPr/>
        </p:nvSpPr>
        <p:spPr>
          <a:xfrm>
            <a:off x="461772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Approved knowledge only</a:t>
            </a:r>
            <a:endParaRPr lang="en-US" sz="2100" dirty="0"/>
          </a:p>
        </p:txBody>
      </p:sp>
      <p:sp>
        <p:nvSpPr>
          <p:cNvPr id="14" name="Text 11"/>
          <p:cNvSpPr txBox="1"/>
          <p:nvPr/>
        </p:nvSpPr>
        <p:spPr>
          <a:xfrm>
            <a:off x="461772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Education answers cite an approved, versioned article, or are withheld and handed to staff.</a:t>
            </a:r>
            <a:endParaRPr lang="en-US" sz="1300" dirty="0"/>
          </a:p>
        </p:txBody>
      </p:sp>
      <p:sp>
        <p:nvSpPr>
          <p:cNvPr id="15" name="Shape 12"/>
          <p:cNvSpPr/>
          <p:nvPr/>
        </p:nvSpPr>
        <p:spPr>
          <a:xfrm>
            <a:off x="8046720" y="1737360"/>
            <a:ext cx="3502152" cy="2514600"/>
          </a:xfrm>
          <a:prstGeom prst="rect">
            <a:avLst/>
          </a:prstGeom>
          <a:solidFill>
            <a:srgbClr val="FFFFFF">
              <a:alpha val="8000"/>
            </a:srgbClr>
          </a:solidFill>
          <a:ln w="9525">
            <a:solidFill>
              <a:srgbClr val="FFFFFF">
                <a:alpha val="28000"/>
              </a:srgbClr>
            </a:solidFill>
            <a:prstDash val="solid"/>
          </a:ln>
        </p:spPr>
      </p:sp>
      <p:sp>
        <p:nvSpPr>
          <p:cNvPr id="16" name="Shape 13"/>
          <p:cNvSpPr/>
          <p:nvPr/>
        </p:nvSpPr>
        <p:spPr>
          <a:xfrm>
            <a:off x="8046720" y="1737360"/>
            <a:ext cx="3502152" cy="0"/>
          </a:xfrm>
          <a:prstGeom prst="line">
            <a:avLst/>
          </a:prstGeom>
          <a:noFill/>
          <a:ln w="38100">
            <a:solidFill>
              <a:srgbClr val="F5A524"/>
            </a:solidFill>
            <a:prstDash val="solid"/>
          </a:ln>
        </p:spPr>
      </p:sp>
      <p:sp>
        <p:nvSpPr>
          <p:cNvPr id="17" name="Text 14"/>
          <p:cNvSpPr txBox="1"/>
          <p:nvPr/>
        </p:nvSpPr>
        <p:spPr>
          <a:xfrm>
            <a:off x="8321040" y="1965960"/>
            <a:ext cx="3017520" cy="274320"/>
          </a:xfrm>
          <a:prstGeom prst="rect">
            <a:avLst/>
          </a:prstGeom>
          <a:noFill/>
          <a:ln/>
        </p:spPr>
        <p:txBody>
          <a:bodyPr wrap="square" lIns="0" tIns="0" rIns="0" bIns="0" rtlCol="0" anchor="t"/>
          <a:lstStyle/>
          <a:p>
            <a:pPr indent="0" marL="0">
              <a:buNone/>
            </a:pPr>
            <a:r>
              <a:rPr lang="en-US" sz="1100" b="1" spc="300" kern="0" dirty="0">
                <a:solidFill>
                  <a:srgbClr val="F5A524"/>
                </a:solidFill>
              </a:rPr>
              <a:t>PROVEN</a:t>
            </a:r>
            <a:endParaRPr lang="en-US" sz="1100" dirty="0"/>
          </a:p>
        </p:txBody>
      </p:sp>
      <p:sp>
        <p:nvSpPr>
          <p:cNvPr id="18" name="Text 15"/>
          <p:cNvSpPr txBox="1"/>
          <p:nvPr/>
        </p:nvSpPr>
        <p:spPr>
          <a:xfrm>
            <a:off x="832104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Validated on live Azure</a:t>
            </a:r>
            <a:endParaRPr lang="en-US" sz="2100" dirty="0"/>
          </a:p>
        </p:txBody>
      </p:sp>
      <p:sp>
        <p:nvSpPr>
          <p:cNvPr id="19" name="Text 16"/>
          <p:cNvSpPr txBox="1"/>
          <p:nvPr/>
        </p:nvSpPr>
        <p:spPr>
          <a:xfrm>
            <a:off x="832104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Fourteen scenarios across safety, data, knowledge and resilience passed on Foundry, AI Search and Blob Storage.</a:t>
            </a:r>
            <a:endParaRPr lang="en-US" sz="1300" dirty="0"/>
          </a:p>
        </p:txBody>
      </p:sp>
      <p:sp>
        <p:nvSpPr>
          <p:cNvPr id="20" name="Shape 17"/>
          <p:cNvSpPr/>
          <p:nvPr/>
        </p:nvSpPr>
        <p:spPr>
          <a:xfrm>
            <a:off x="640080" y="4572000"/>
            <a:ext cx="2560320" cy="0"/>
          </a:xfrm>
          <a:prstGeom prst="line">
            <a:avLst/>
          </a:prstGeom>
          <a:noFill/>
          <a:ln w="9525">
            <a:solidFill>
              <a:srgbClr val="FFFFFF">
                <a:alpha val="30000"/>
              </a:srgbClr>
            </a:solidFill>
            <a:prstDash val="solid"/>
          </a:ln>
        </p:spPr>
      </p:sp>
      <p:sp>
        <p:nvSpPr>
          <p:cNvPr id="21" name="Text 18"/>
          <p:cNvSpPr txBox="1"/>
          <p:nvPr/>
        </p:nvSpPr>
        <p:spPr>
          <a:xfrm>
            <a:off x="64008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6</a:t>
            </a:r>
            <a:endParaRPr lang="en-US" sz="4000" dirty="0"/>
          </a:p>
        </p:txBody>
      </p:sp>
      <p:sp>
        <p:nvSpPr>
          <p:cNvPr id="22" name="Text 19"/>
          <p:cNvSpPr txBox="1"/>
          <p:nvPr/>
        </p:nvSpPr>
        <p:spPr>
          <a:xfrm>
            <a:off x="64008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agents in Foundry</a:t>
            </a:r>
            <a:endParaRPr lang="en-US" sz="1300" dirty="0"/>
          </a:p>
        </p:txBody>
      </p:sp>
      <p:sp>
        <p:nvSpPr>
          <p:cNvPr id="23" name="Shape 20"/>
          <p:cNvSpPr/>
          <p:nvPr/>
        </p:nvSpPr>
        <p:spPr>
          <a:xfrm>
            <a:off x="3429000" y="4572000"/>
            <a:ext cx="2560320" cy="0"/>
          </a:xfrm>
          <a:prstGeom prst="line">
            <a:avLst/>
          </a:prstGeom>
          <a:noFill/>
          <a:ln w="9525">
            <a:solidFill>
              <a:srgbClr val="FFFFFF">
                <a:alpha val="30000"/>
              </a:srgbClr>
            </a:solidFill>
            <a:prstDash val="solid"/>
          </a:ln>
        </p:spPr>
      </p:sp>
      <p:sp>
        <p:nvSpPr>
          <p:cNvPr id="24" name="Text 21"/>
          <p:cNvSpPr txBox="1"/>
          <p:nvPr/>
        </p:nvSpPr>
        <p:spPr>
          <a:xfrm>
            <a:off x="342900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4</a:t>
            </a:r>
            <a:endParaRPr lang="en-US" sz="4000" dirty="0"/>
          </a:p>
        </p:txBody>
      </p:sp>
      <p:sp>
        <p:nvSpPr>
          <p:cNvPr id="25" name="Text 22"/>
          <p:cNvSpPr txBox="1"/>
          <p:nvPr/>
        </p:nvSpPr>
        <p:spPr>
          <a:xfrm>
            <a:off x="342900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code-enforced safety rules</a:t>
            </a:r>
            <a:endParaRPr lang="en-US" sz="1300" dirty="0"/>
          </a:p>
        </p:txBody>
      </p:sp>
      <p:sp>
        <p:nvSpPr>
          <p:cNvPr id="26" name="Shape 23"/>
          <p:cNvSpPr/>
          <p:nvPr/>
        </p:nvSpPr>
        <p:spPr>
          <a:xfrm>
            <a:off x="6217920" y="4572000"/>
            <a:ext cx="2560320" cy="0"/>
          </a:xfrm>
          <a:prstGeom prst="line">
            <a:avLst/>
          </a:prstGeom>
          <a:noFill/>
          <a:ln w="9525">
            <a:solidFill>
              <a:srgbClr val="FFFFFF">
                <a:alpha val="30000"/>
              </a:srgbClr>
            </a:solidFill>
            <a:prstDash val="solid"/>
          </a:ln>
        </p:spPr>
      </p:sp>
      <p:sp>
        <p:nvSpPr>
          <p:cNvPr id="27" name="Text 24"/>
          <p:cNvSpPr txBox="1"/>
          <p:nvPr/>
        </p:nvSpPr>
        <p:spPr>
          <a:xfrm>
            <a:off x="621792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14/14</a:t>
            </a:r>
            <a:endParaRPr lang="en-US" sz="4000" dirty="0"/>
          </a:p>
        </p:txBody>
      </p:sp>
      <p:sp>
        <p:nvSpPr>
          <p:cNvPr id="28" name="Text 25"/>
          <p:cNvSpPr txBox="1"/>
          <p:nvPr/>
        </p:nvSpPr>
        <p:spPr>
          <a:xfrm>
            <a:off x="621792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scenarios passed</a:t>
            </a:r>
            <a:endParaRPr lang="en-US" sz="1300" dirty="0"/>
          </a:p>
        </p:txBody>
      </p:sp>
      <p:sp>
        <p:nvSpPr>
          <p:cNvPr id="29" name="Shape 26"/>
          <p:cNvSpPr/>
          <p:nvPr/>
        </p:nvSpPr>
        <p:spPr>
          <a:xfrm>
            <a:off x="9006840" y="4572000"/>
            <a:ext cx="2560320" cy="0"/>
          </a:xfrm>
          <a:prstGeom prst="line">
            <a:avLst/>
          </a:prstGeom>
          <a:noFill/>
          <a:ln w="9525">
            <a:solidFill>
              <a:srgbClr val="FFFFFF">
                <a:alpha val="30000"/>
              </a:srgbClr>
            </a:solidFill>
            <a:prstDash val="solid"/>
          </a:ln>
        </p:spPr>
      </p:sp>
      <p:sp>
        <p:nvSpPr>
          <p:cNvPr id="30" name="Text 27"/>
          <p:cNvSpPr txBox="1"/>
          <p:nvPr/>
        </p:nvSpPr>
        <p:spPr>
          <a:xfrm>
            <a:off x="900684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100%</a:t>
            </a:r>
            <a:endParaRPr lang="en-US" sz="4000" dirty="0"/>
          </a:p>
        </p:txBody>
      </p:sp>
      <p:sp>
        <p:nvSpPr>
          <p:cNvPr id="31" name="Text 28"/>
          <p:cNvSpPr txBox="1"/>
          <p:nvPr/>
        </p:nvSpPr>
        <p:spPr>
          <a:xfrm>
            <a:off x="900684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synthetic data</a:t>
            </a:r>
            <a:endParaRPr lang="en-US" sz="13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01  ·  THE CHALLENGE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Follow-up breaks down at three points</a:t>
            </a:r>
            <a:endParaRPr lang="en-US" sz="2800" dirty="0"/>
          </a:p>
        </p:txBody>
      </p:sp>
      <p:sp>
        <p:nvSpPr>
          <p:cNvPr id="5" name="Text 2"/>
          <p:cNvSpPr txBox="1"/>
          <p:nvPr/>
        </p:nvSpPr>
        <p:spPr>
          <a:xfrm>
            <a:off x="640080" y="1783080"/>
            <a:ext cx="3383280" cy="1188720"/>
          </a:xfrm>
          <a:prstGeom prst="rect">
            <a:avLst/>
          </a:prstGeom>
          <a:noFill/>
          <a:ln/>
        </p:spPr>
        <p:txBody>
          <a:bodyPr wrap="square" lIns="0" tIns="0" rIns="0" bIns="0" rtlCol="0" anchor="t"/>
          <a:lstStyle/>
          <a:p>
            <a:pPr indent="0" marL="0">
              <a:buNone/>
            </a:pPr>
            <a:r>
              <a:rPr lang="en-US" sz="1800" b="1" dirty="0">
                <a:solidFill>
                  <a:srgbClr val="0A1F5C"/>
                </a:solidFill>
              </a:rPr>
              <a:t>Chronic-care programmes depend on small, repeated actions between visits.</a:t>
            </a:r>
            <a:endParaRPr lang="en-US" sz="1800" dirty="0"/>
          </a:p>
        </p:txBody>
      </p:sp>
      <p:sp>
        <p:nvSpPr>
          <p:cNvPr id="6" name="Text 3"/>
          <p:cNvSpPr txBox="1"/>
          <p:nvPr/>
        </p:nvSpPr>
        <p:spPr>
          <a:xfrm>
            <a:off x="640080" y="3108960"/>
            <a:ext cx="3200400" cy="1463040"/>
          </a:xfrm>
          <a:prstGeom prst="rect">
            <a:avLst/>
          </a:prstGeom>
          <a:noFill/>
          <a:ln/>
        </p:spPr>
        <p:txBody>
          <a:bodyPr wrap="square" lIns="0" tIns="0" rIns="0" bIns="0" rtlCol="0" anchor="t"/>
          <a:lstStyle/>
          <a:p>
            <a:pPr indent="0" marL="0">
              <a:buNone/>
            </a:pPr>
            <a:r>
              <a:rPr lang="en-US" sz="1300" dirty="0">
                <a:solidFill>
                  <a:srgbClr val="5E6C84"/>
                </a:solidFill>
              </a:rPr>
              <a:t>Coordinators close these gaps by hand. The assistant must organise the information without ever stepping into clinical territory.</a:t>
            </a:r>
            <a:endParaRPr lang="en-US" sz="1300" dirty="0"/>
          </a:p>
        </p:txBody>
      </p:sp>
      <p:sp>
        <p:nvSpPr>
          <p:cNvPr id="7" name="Shape 4"/>
          <p:cNvSpPr/>
          <p:nvPr/>
        </p:nvSpPr>
        <p:spPr>
          <a:xfrm>
            <a:off x="4297680" y="1737360"/>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8" name="Shape 5"/>
          <p:cNvSpPr/>
          <p:nvPr/>
        </p:nvSpPr>
        <p:spPr>
          <a:xfrm>
            <a:off x="4297680" y="1737360"/>
            <a:ext cx="82296" cy="1024128"/>
          </a:xfrm>
          <a:prstGeom prst="rect">
            <a:avLst/>
          </a:prstGeom>
          <a:solidFill>
            <a:srgbClr val="1E4FD8"/>
          </a:solidFill>
          <a:ln w="12700">
            <a:solidFill>
              <a:srgbClr val="1E4FD8"/>
            </a:solidFill>
            <a:prstDash val="solid"/>
          </a:ln>
        </p:spPr>
      </p:sp>
      <p:sp>
        <p:nvSpPr>
          <p:cNvPr id="9" name="Shape 6"/>
          <p:cNvSpPr/>
          <p:nvPr/>
        </p:nvSpPr>
        <p:spPr>
          <a:xfrm>
            <a:off x="4617720" y="1920240"/>
            <a:ext cx="1005840" cy="256032"/>
          </a:xfrm>
          <a:prstGeom prst="roundRect">
            <a:avLst>
              <a:gd name="adj" fmla="val 50000"/>
            </a:avLst>
          </a:prstGeom>
          <a:solidFill>
            <a:srgbClr val="1E4FD8"/>
          </a:solidFill>
          <a:ln w="12700">
            <a:solidFill>
              <a:srgbClr val="1E4FD8"/>
            </a:solidFill>
            <a:prstDash val="solid"/>
          </a:ln>
        </p:spPr>
      </p:sp>
      <p:sp>
        <p:nvSpPr>
          <p:cNvPr id="10" name="Text 7"/>
          <p:cNvSpPr txBox="1"/>
          <p:nvPr/>
        </p:nvSpPr>
        <p:spPr>
          <a:xfrm>
            <a:off x="4617720" y="192024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DATA</a:t>
            </a:r>
            <a:endParaRPr lang="en-US" sz="900" dirty="0"/>
          </a:p>
        </p:txBody>
      </p:sp>
      <p:sp>
        <p:nvSpPr>
          <p:cNvPr id="11" name="Text 8"/>
          <p:cNvSpPr txBox="1"/>
          <p:nvPr/>
        </p:nvSpPr>
        <p:spPr>
          <a:xfrm>
            <a:off x="4617720" y="2212848"/>
            <a:ext cx="2834640" cy="457200"/>
          </a:xfrm>
          <a:prstGeom prst="rect">
            <a:avLst/>
          </a:prstGeom>
          <a:noFill/>
          <a:ln/>
        </p:spPr>
        <p:txBody>
          <a:bodyPr wrap="square" lIns="0" tIns="0" rIns="0" bIns="0" rtlCol="0" anchor="t"/>
          <a:lstStyle/>
          <a:p>
            <a:pPr indent="0" marL="0">
              <a:buNone/>
            </a:pPr>
            <a:r>
              <a:rPr lang="en-US" sz="1400" b="1" dirty="0">
                <a:solidFill>
                  <a:srgbClr val="0A1F5C"/>
                </a:solidFill>
              </a:rPr>
              <a:t>Readings go missing or conflict</a:t>
            </a:r>
            <a:endParaRPr lang="en-US" sz="1400" dirty="0"/>
          </a:p>
        </p:txBody>
      </p:sp>
      <p:sp>
        <p:nvSpPr>
          <p:cNvPr id="12" name="Text 9"/>
          <p:cNvSpPr txBox="1"/>
          <p:nvPr/>
        </p:nvSpPr>
        <p:spPr>
          <a:xfrm>
            <a:off x="7680960" y="1865376"/>
            <a:ext cx="3657600" cy="822960"/>
          </a:xfrm>
          <a:prstGeom prst="rect">
            <a:avLst/>
          </a:prstGeom>
          <a:noFill/>
          <a:ln/>
        </p:spPr>
        <p:txBody>
          <a:bodyPr wrap="square" lIns="0" tIns="0" rIns="0" bIns="0" rtlCol="0" anchor="ctr"/>
          <a:lstStyle/>
          <a:p>
            <a:pPr indent="0" marL="0">
              <a:buNone/>
            </a:pPr>
            <a:r>
              <a:rPr lang="en-US" sz="1200" dirty="0">
                <a:solidFill>
                  <a:srgbClr val="5E6C84"/>
                </a:solidFill>
              </a:rPr>
              <a:t>Home readings are late, absent or contradictory, and coordinators chase them manually.</a:t>
            </a:r>
            <a:endParaRPr lang="en-US" sz="1200" dirty="0"/>
          </a:p>
        </p:txBody>
      </p:sp>
      <p:sp>
        <p:nvSpPr>
          <p:cNvPr id="13" name="Shape 10"/>
          <p:cNvSpPr/>
          <p:nvPr/>
        </p:nvSpPr>
        <p:spPr>
          <a:xfrm>
            <a:off x="4297680" y="2907792"/>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4297680" y="2907792"/>
            <a:ext cx="82296" cy="1024128"/>
          </a:xfrm>
          <a:prstGeom prst="rect">
            <a:avLst/>
          </a:prstGeom>
          <a:solidFill>
            <a:srgbClr val="12B5B0"/>
          </a:solidFill>
          <a:ln w="12700">
            <a:solidFill>
              <a:srgbClr val="12B5B0"/>
            </a:solidFill>
            <a:prstDash val="solid"/>
          </a:ln>
        </p:spPr>
      </p:sp>
      <p:sp>
        <p:nvSpPr>
          <p:cNvPr id="15" name="Shape 12"/>
          <p:cNvSpPr/>
          <p:nvPr/>
        </p:nvSpPr>
        <p:spPr>
          <a:xfrm>
            <a:off x="4617720" y="3090672"/>
            <a:ext cx="1005840" cy="256032"/>
          </a:xfrm>
          <a:prstGeom prst="roundRect">
            <a:avLst>
              <a:gd name="adj" fmla="val 50000"/>
            </a:avLst>
          </a:prstGeom>
          <a:solidFill>
            <a:srgbClr val="12B5B0"/>
          </a:solidFill>
          <a:ln w="12700">
            <a:solidFill>
              <a:srgbClr val="12B5B0"/>
            </a:solidFill>
            <a:prstDash val="solid"/>
          </a:ln>
        </p:spPr>
      </p:sp>
      <p:sp>
        <p:nvSpPr>
          <p:cNvPr id="16" name="Text 13"/>
          <p:cNvSpPr txBox="1"/>
          <p:nvPr/>
        </p:nvSpPr>
        <p:spPr>
          <a:xfrm>
            <a:off x="4617720" y="3090672"/>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KNOWLEDGE</a:t>
            </a:r>
            <a:endParaRPr lang="en-US" sz="900" dirty="0"/>
          </a:p>
        </p:txBody>
      </p:sp>
      <p:sp>
        <p:nvSpPr>
          <p:cNvPr id="17" name="Text 14"/>
          <p:cNvSpPr txBox="1"/>
          <p:nvPr/>
        </p:nvSpPr>
        <p:spPr>
          <a:xfrm>
            <a:off x="4617720" y="3383280"/>
            <a:ext cx="2834640" cy="457200"/>
          </a:xfrm>
          <a:prstGeom prst="rect">
            <a:avLst/>
          </a:prstGeom>
          <a:noFill/>
          <a:ln/>
        </p:spPr>
        <p:txBody>
          <a:bodyPr wrap="square" lIns="0" tIns="0" rIns="0" bIns="0" rtlCol="0" anchor="t"/>
          <a:lstStyle/>
          <a:p>
            <a:pPr indent="0" marL="0">
              <a:buNone/>
            </a:pPr>
            <a:r>
              <a:rPr lang="en-US" sz="1400" b="1" dirty="0">
                <a:solidFill>
                  <a:srgbClr val="0A1F5C"/>
                </a:solidFill>
              </a:rPr>
              <a:t>Questions need approved answers</a:t>
            </a:r>
            <a:endParaRPr lang="en-US" sz="1400" dirty="0"/>
          </a:p>
        </p:txBody>
      </p:sp>
      <p:sp>
        <p:nvSpPr>
          <p:cNvPr id="18" name="Text 15"/>
          <p:cNvSpPr txBox="1"/>
          <p:nvPr/>
        </p:nvSpPr>
        <p:spPr>
          <a:xfrm>
            <a:off x="7680960" y="3035808"/>
            <a:ext cx="3657600" cy="822960"/>
          </a:xfrm>
          <a:prstGeom prst="rect">
            <a:avLst/>
          </a:prstGeom>
          <a:noFill/>
          <a:ln/>
        </p:spPr>
        <p:txBody>
          <a:bodyPr wrap="square" lIns="0" tIns="0" rIns="0" bIns="0" rtlCol="0" anchor="ctr"/>
          <a:lstStyle/>
          <a:p>
            <a:pPr indent="0" marL="0">
              <a:buNone/>
            </a:pPr>
            <a:r>
              <a:rPr lang="en-US" sz="1200" dirty="0">
                <a:solidFill>
                  <a:srgbClr val="5E6C84"/>
                </a:solidFill>
              </a:rPr>
              <a:t>Members ask how and why. In a care programme, an unapproved guess is not acceptable.</a:t>
            </a:r>
            <a:endParaRPr lang="en-US" sz="1200" dirty="0"/>
          </a:p>
        </p:txBody>
      </p:sp>
      <p:sp>
        <p:nvSpPr>
          <p:cNvPr id="19" name="Shape 16"/>
          <p:cNvSpPr/>
          <p:nvPr/>
        </p:nvSpPr>
        <p:spPr>
          <a:xfrm>
            <a:off x="4297680" y="4078224"/>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4297680" y="4078224"/>
            <a:ext cx="82296" cy="1024128"/>
          </a:xfrm>
          <a:prstGeom prst="rect">
            <a:avLst/>
          </a:prstGeom>
          <a:solidFill>
            <a:srgbClr val="F5A524"/>
          </a:solidFill>
          <a:ln w="12700">
            <a:solidFill>
              <a:srgbClr val="F5A524"/>
            </a:solidFill>
            <a:prstDash val="solid"/>
          </a:ln>
        </p:spPr>
      </p:sp>
      <p:sp>
        <p:nvSpPr>
          <p:cNvPr id="21" name="Shape 18"/>
          <p:cNvSpPr/>
          <p:nvPr/>
        </p:nvSpPr>
        <p:spPr>
          <a:xfrm>
            <a:off x="4617720" y="4261104"/>
            <a:ext cx="1005840" cy="256032"/>
          </a:xfrm>
          <a:prstGeom prst="roundRect">
            <a:avLst>
              <a:gd name="adj" fmla="val 50000"/>
            </a:avLst>
          </a:prstGeom>
          <a:solidFill>
            <a:srgbClr val="F5A524"/>
          </a:solidFill>
          <a:ln w="12700">
            <a:solidFill>
              <a:srgbClr val="F5A524"/>
            </a:solidFill>
            <a:prstDash val="solid"/>
          </a:ln>
        </p:spPr>
      </p:sp>
      <p:sp>
        <p:nvSpPr>
          <p:cNvPr id="22" name="Text 19"/>
          <p:cNvSpPr txBox="1"/>
          <p:nvPr/>
        </p:nvSpPr>
        <p:spPr>
          <a:xfrm>
            <a:off x="4617720" y="4261104"/>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TRIAGE</a:t>
            </a:r>
            <a:endParaRPr lang="en-US" sz="900" dirty="0"/>
          </a:p>
        </p:txBody>
      </p:sp>
      <p:sp>
        <p:nvSpPr>
          <p:cNvPr id="23" name="Text 20"/>
          <p:cNvSpPr txBox="1"/>
          <p:nvPr/>
        </p:nvSpPr>
        <p:spPr>
          <a:xfrm>
            <a:off x="4617720" y="4553712"/>
            <a:ext cx="2834640" cy="457200"/>
          </a:xfrm>
          <a:prstGeom prst="rect">
            <a:avLst/>
          </a:prstGeom>
          <a:noFill/>
          <a:ln/>
        </p:spPr>
        <p:txBody>
          <a:bodyPr wrap="square" lIns="0" tIns="0" rIns="0" bIns="0" rtlCol="0" anchor="t"/>
          <a:lstStyle/>
          <a:p>
            <a:pPr indent="0" marL="0">
              <a:buNone/>
            </a:pPr>
            <a:r>
              <a:rPr lang="en-US" sz="1400" b="1" dirty="0">
                <a:solidFill>
                  <a:srgbClr val="0A1F5C"/>
                </a:solidFill>
              </a:rPr>
              <a:t>Risk is buried in routine work</a:t>
            </a:r>
            <a:endParaRPr lang="en-US" sz="1400" dirty="0"/>
          </a:p>
        </p:txBody>
      </p:sp>
      <p:sp>
        <p:nvSpPr>
          <p:cNvPr id="24" name="Text 21"/>
          <p:cNvSpPr txBox="1"/>
          <p:nvPr/>
        </p:nvSpPr>
        <p:spPr>
          <a:xfrm>
            <a:off x="7680960" y="4206240"/>
            <a:ext cx="3657600" cy="822960"/>
          </a:xfrm>
          <a:prstGeom prst="rect">
            <a:avLst/>
          </a:prstGeom>
          <a:noFill/>
          <a:ln/>
        </p:spPr>
        <p:txBody>
          <a:bodyPr wrap="square" lIns="0" tIns="0" rIns="0" bIns="0" rtlCol="0" anchor="ctr"/>
          <a:lstStyle/>
          <a:p>
            <a:pPr indent="0" marL="0">
              <a:buNone/>
            </a:pPr>
            <a:r>
              <a:rPr lang="en-US" sz="1200" dirty="0">
                <a:solidFill>
                  <a:srgbClr val="5E6C84"/>
                </a:solidFill>
              </a:rPr>
              <a:t>The few cases that need a clinician or coordinator are hard to see among routine requests.</a:t>
            </a:r>
            <a:endParaRPr lang="en-US" sz="1200" dirty="0"/>
          </a:p>
        </p:txBody>
      </p:sp>
      <p:sp>
        <p:nvSpPr>
          <p:cNvPr id="25" name="Shape 22"/>
          <p:cNvSpPr/>
          <p:nvPr/>
        </p:nvSpPr>
        <p:spPr>
          <a:xfrm>
            <a:off x="640080" y="5349240"/>
            <a:ext cx="10908792" cy="731520"/>
          </a:xfrm>
          <a:prstGeom prst="rect">
            <a:avLst/>
          </a:prstGeom>
          <a:solidFill>
            <a:srgbClr val="0A1F5C"/>
          </a:solidFill>
          <a:ln w="12700">
            <a:solidFill>
              <a:srgbClr val="0A1F5C"/>
            </a:solidFill>
            <a:prstDash val="solid"/>
          </a:ln>
        </p:spPr>
      </p:sp>
      <p:sp>
        <p:nvSpPr>
          <p:cNvPr id="26" name="Text 23"/>
          <p:cNvSpPr txBox="1"/>
          <p:nvPr/>
        </p:nvSpPr>
        <p:spPr>
          <a:xfrm>
            <a:off x="960120" y="5349240"/>
            <a:ext cx="1554480" cy="731520"/>
          </a:xfrm>
          <a:prstGeom prst="rect">
            <a:avLst/>
          </a:prstGeom>
          <a:noFill/>
          <a:ln/>
        </p:spPr>
        <p:txBody>
          <a:bodyPr wrap="square" lIns="0" tIns="0" rIns="0" bIns="0" rtlCol="0" anchor="ctr"/>
          <a:lstStyle/>
          <a:p>
            <a:pPr indent="0" marL="0">
              <a:buNone/>
            </a:pPr>
            <a:r>
              <a:rPr lang="en-US" sz="1100" b="1" spc="300" kern="0" dirty="0">
                <a:solidFill>
                  <a:srgbClr val="3CC3F0"/>
                </a:solidFill>
              </a:rPr>
              <a:t>THE BRIEF</a:t>
            </a:r>
            <a:endParaRPr lang="en-US" sz="1100" dirty="0"/>
          </a:p>
        </p:txBody>
      </p:sp>
      <p:sp>
        <p:nvSpPr>
          <p:cNvPr id="27" name="Text 24"/>
          <p:cNvSpPr txBox="1"/>
          <p:nvPr/>
        </p:nvSpPr>
        <p:spPr>
          <a:xfrm>
            <a:off x="2560320" y="5349240"/>
            <a:ext cx="8778240" cy="731520"/>
          </a:xfrm>
          <a:prstGeom prst="rect">
            <a:avLst/>
          </a:prstGeom>
          <a:noFill/>
          <a:ln/>
        </p:spPr>
        <p:txBody>
          <a:bodyPr wrap="square" lIns="0" tIns="0" rIns="0" bIns="0" rtlCol="0" anchor="ctr"/>
          <a:lstStyle/>
          <a:p>
            <a:pPr indent="0" marL="0">
              <a:buNone/>
            </a:pPr>
            <a:r>
              <a:rPr lang="en-US" sz="1500" b="1" dirty="0">
                <a:solidFill>
                  <a:srgbClr val="FFFFFF"/>
                </a:solidFill>
              </a:rPr>
              <a:t>Organise the information. Never diagnose, give medical advice or change medicines. Hand risky cases to humans.</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02  ·  OUR APPROACH</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Code decides the facts. Agents only word them.</a:t>
            </a:r>
            <a:endParaRPr lang="en-US" sz="2800" dirty="0"/>
          </a:p>
        </p:txBody>
      </p:sp>
      <p:sp>
        <p:nvSpPr>
          <p:cNvPr id="5" name="Shape 2"/>
          <p:cNvSpPr/>
          <p:nvPr/>
        </p:nvSpPr>
        <p:spPr>
          <a:xfrm>
            <a:off x="640080" y="1737360"/>
            <a:ext cx="7498080" cy="1234440"/>
          </a:xfrm>
          <a:prstGeom prst="rect">
            <a:avLst/>
          </a:prstGeom>
          <a:solidFill>
            <a:srgbClr val="FFFFFF">
              <a:alpha val="10000"/>
            </a:srgbClr>
          </a:solidFill>
          <a:ln w="9525">
            <a:solidFill>
              <a:srgbClr val="FFFFFF">
                <a:alpha val="28000"/>
              </a:srgbClr>
            </a:solidFill>
            <a:prstDash val="solid"/>
          </a:ln>
        </p:spPr>
      </p:sp>
      <p:sp>
        <p:nvSpPr>
          <p:cNvPr id="6" name="Shape 3"/>
          <p:cNvSpPr/>
          <p:nvPr/>
        </p:nvSpPr>
        <p:spPr>
          <a:xfrm>
            <a:off x="640080" y="1737360"/>
            <a:ext cx="73152" cy="1234440"/>
          </a:xfrm>
          <a:prstGeom prst="rect">
            <a:avLst/>
          </a:prstGeom>
          <a:solidFill>
            <a:srgbClr val="3CC3F0"/>
          </a:solidFill>
          <a:ln w="12700">
            <a:solidFill>
              <a:srgbClr val="3CC3F0"/>
            </a:solidFill>
            <a:prstDash val="solid"/>
          </a:ln>
        </p:spPr>
      </p:sp>
      <p:sp>
        <p:nvSpPr>
          <p:cNvPr id="7" name="Text 4"/>
          <p:cNvSpPr txBox="1"/>
          <p:nvPr/>
        </p:nvSpPr>
        <p:spPr>
          <a:xfrm>
            <a:off x="960120" y="18745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DECIDED BY CODE</a:t>
            </a:r>
            <a:endParaRPr lang="en-US" sz="1100" dirty="0"/>
          </a:p>
        </p:txBody>
      </p:sp>
      <p:sp>
        <p:nvSpPr>
          <p:cNvPr id="8" name="Text 5"/>
          <p:cNvSpPr txBox="1"/>
          <p:nvPr/>
        </p:nvSpPr>
        <p:spPr>
          <a:xfrm>
            <a:off x="960120" y="2148840"/>
            <a:ext cx="2194560" cy="731520"/>
          </a:xfrm>
          <a:prstGeom prst="rect">
            <a:avLst/>
          </a:prstGeom>
          <a:noFill/>
          <a:ln/>
        </p:spPr>
        <p:txBody>
          <a:bodyPr wrap="square" lIns="0" tIns="0" rIns="0" bIns="0" rtlCol="0" anchor="t"/>
          <a:lstStyle/>
          <a:p>
            <a:pPr indent="0" marL="0">
              <a:buNone/>
            </a:pPr>
            <a:r>
              <a:rPr lang="en-US" sz="1100" dirty="0">
                <a:solidFill>
                  <a:srgbClr val="C9D8F2"/>
                </a:solidFill>
              </a:rPr>
              <a:t>Deterministic, testable, repeatable</a:t>
            </a:r>
            <a:endParaRPr lang="en-US" sz="1100" dirty="0"/>
          </a:p>
        </p:txBody>
      </p:sp>
      <p:sp>
        <p:nvSpPr>
          <p:cNvPr id="9" name="Shape 6"/>
          <p:cNvSpPr/>
          <p:nvPr/>
        </p:nvSpPr>
        <p:spPr>
          <a:xfrm>
            <a:off x="3200400" y="1883664"/>
            <a:ext cx="2331720" cy="411480"/>
          </a:xfrm>
          <a:prstGeom prst="rect">
            <a:avLst/>
          </a:prstGeom>
          <a:solidFill>
            <a:srgbClr val="FFFFFF">
              <a:alpha val="14000"/>
            </a:srgbClr>
          </a:solidFill>
          <a:ln w="9525">
            <a:solidFill>
              <a:srgbClr val="FFFFFF">
                <a:alpha val="28000"/>
              </a:srgbClr>
            </a:solidFill>
            <a:prstDash val="solid"/>
          </a:ln>
        </p:spPr>
      </p:sp>
      <p:sp>
        <p:nvSpPr>
          <p:cNvPr id="10" name="Text 7"/>
          <p:cNvSpPr txBox="1"/>
          <p:nvPr/>
        </p:nvSpPr>
        <p:spPr>
          <a:xfrm>
            <a:off x="3310128" y="188366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Consent and member checks</a:t>
            </a:r>
            <a:endParaRPr lang="en-US" sz="1200" dirty="0"/>
          </a:p>
        </p:txBody>
      </p:sp>
      <p:sp>
        <p:nvSpPr>
          <p:cNvPr id="11" name="Shape 8"/>
          <p:cNvSpPr/>
          <p:nvPr/>
        </p:nvSpPr>
        <p:spPr>
          <a:xfrm>
            <a:off x="5669280" y="1883664"/>
            <a:ext cx="2331720" cy="411480"/>
          </a:xfrm>
          <a:prstGeom prst="rect">
            <a:avLst/>
          </a:prstGeom>
          <a:solidFill>
            <a:srgbClr val="FFFFFF">
              <a:alpha val="14000"/>
            </a:srgbClr>
          </a:solidFill>
          <a:ln w="9525">
            <a:solidFill>
              <a:srgbClr val="FFFFFF">
                <a:alpha val="28000"/>
              </a:srgbClr>
            </a:solidFill>
            <a:prstDash val="solid"/>
          </a:ln>
        </p:spPr>
      </p:sp>
      <p:sp>
        <p:nvSpPr>
          <p:cNvPr id="12" name="Text 9"/>
          <p:cNvSpPr txBox="1"/>
          <p:nvPr/>
        </p:nvSpPr>
        <p:spPr>
          <a:xfrm>
            <a:off x="5779008" y="188366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Rules ER-501 to ER-504</a:t>
            </a:r>
            <a:endParaRPr lang="en-US" sz="1200" dirty="0"/>
          </a:p>
        </p:txBody>
      </p:sp>
      <p:sp>
        <p:nvSpPr>
          <p:cNvPr id="13" name="Shape 10"/>
          <p:cNvSpPr/>
          <p:nvPr/>
        </p:nvSpPr>
        <p:spPr>
          <a:xfrm>
            <a:off x="3200400" y="2386584"/>
            <a:ext cx="2331720" cy="411480"/>
          </a:xfrm>
          <a:prstGeom prst="rect">
            <a:avLst/>
          </a:prstGeom>
          <a:solidFill>
            <a:srgbClr val="FFFFFF">
              <a:alpha val="14000"/>
            </a:srgbClr>
          </a:solidFill>
          <a:ln w="9525">
            <a:solidFill>
              <a:srgbClr val="FFFFFF">
                <a:alpha val="28000"/>
              </a:srgbClr>
            </a:solidFill>
            <a:prstDash val="solid"/>
          </a:ln>
        </p:spPr>
      </p:sp>
      <p:sp>
        <p:nvSpPr>
          <p:cNvPr id="14" name="Text 11"/>
          <p:cNvSpPr txBox="1"/>
          <p:nvPr/>
        </p:nvSpPr>
        <p:spPr>
          <a:xfrm>
            <a:off x="3310128" y="23865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Date windows and counts</a:t>
            </a:r>
            <a:endParaRPr lang="en-US" sz="1200" dirty="0"/>
          </a:p>
        </p:txBody>
      </p:sp>
      <p:sp>
        <p:nvSpPr>
          <p:cNvPr id="15" name="Shape 12"/>
          <p:cNvSpPr/>
          <p:nvPr/>
        </p:nvSpPr>
        <p:spPr>
          <a:xfrm>
            <a:off x="5669280" y="2386584"/>
            <a:ext cx="2331720" cy="411480"/>
          </a:xfrm>
          <a:prstGeom prst="rect">
            <a:avLst/>
          </a:prstGeom>
          <a:solidFill>
            <a:srgbClr val="FFFFFF">
              <a:alpha val="14000"/>
            </a:srgbClr>
          </a:solidFill>
          <a:ln w="9525">
            <a:solidFill>
              <a:srgbClr val="FFFFFF">
                <a:alpha val="28000"/>
              </a:srgbClr>
            </a:solidFill>
            <a:prstDash val="solid"/>
          </a:ln>
        </p:spPr>
      </p:sp>
      <p:sp>
        <p:nvSpPr>
          <p:cNvPr id="16" name="Text 13"/>
          <p:cNvSpPr txBox="1"/>
          <p:nvPr/>
        </p:nvSpPr>
        <p:spPr>
          <a:xfrm>
            <a:off x="5779008" y="23865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Who is told, which queue</a:t>
            </a:r>
            <a:endParaRPr lang="en-US" sz="1200" dirty="0"/>
          </a:p>
        </p:txBody>
      </p:sp>
      <p:sp>
        <p:nvSpPr>
          <p:cNvPr id="17" name="Shape 14"/>
          <p:cNvSpPr/>
          <p:nvPr/>
        </p:nvSpPr>
        <p:spPr>
          <a:xfrm>
            <a:off x="640080" y="3154680"/>
            <a:ext cx="7498080" cy="1234440"/>
          </a:xfrm>
          <a:prstGeom prst="rect">
            <a:avLst/>
          </a:prstGeom>
          <a:solidFill>
            <a:srgbClr val="FFFFFF">
              <a:alpha val="10000"/>
            </a:srgbClr>
          </a:solidFill>
          <a:ln w="9525">
            <a:solidFill>
              <a:srgbClr val="FFFFFF">
                <a:alpha val="28000"/>
              </a:srgbClr>
            </a:solidFill>
            <a:prstDash val="solid"/>
          </a:ln>
        </p:spPr>
      </p:sp>
      <p:sp>
        <p:nvSpPr>
          <p:cNvPr id="18" name="Shape 15"/>
          <p:cNvSpPr/>
          <p:nvPr/>
        </p:nvSpPr>
        <p:spPr>
          <a:xfrm>
            <a:off x="640080" y="3154680"/>
            <a:ext cx="73152" cy="1234440"/>
          </a:xfrm>
          <a:prstGeom prst="rect">
            <a:avLst/>
          </a:prstGeom>
          <a:solidFill>
            <a:srgbClr val="F5A524"/>
          </a:solidFill>
          <a:ln w="12700">
            <a:solidFill>
              <a:srgbClr val="F5A524"/>
            </a:solidFill>
            <a:prstDash val="solid"/>
          </a:ln>
        </p:spPr>
      </p:sp>
      <p:sp>
        <p:nvSpPr>
          <p:cNvPr id="19" name="Text 16"/>
          <p:cNvSpPr txBox="1"/>
          <p:nvPr/>
        </p:nvSpPr>
        <p:spPr>
          <a:xfrm>
            <a:off x="960120" y="3291840"/>
            <a:ext cx="2743200" cy="274320"/>
          </a:xfrm>
          <a:prstGeom prst="rect">
            <a:avLst/>
          </a:prstGeom>
          <a:noFill/>
          <a:ln/>
        </p:spPr>
        <p:txBody>
          <a:bodyPr wrap="square" lIns="0" tIns="0" rIns="0" bIns="0" rtlCol="0" anchor="t"/>
          <a:lstStyle/>
          <a:p>
            <a:pPr indent="0" marL="0">
              <a:buNone/>
            </a:pPr>
            <a:r>
              <a:rPr lang="en-US" sz="1100" b="1" spc="300" kern="0" dirty="0">
                <a:solidFill>
                  <a:srgbClr val="F5A524"/>
                </a:solidFill>
              </a:rPr>
              <a:t>WORDED BY AGENTS</a:t>
            </a:r>
            <a:endParaRPr lang="en-US" sz="1100" dirty="0"/>
          </a:p>
        </p:txBody>
      </p:sp>
      <p:sp>
        <p:nvSpPr>
          <p:cNvPr id="20" name="Text 17"/>
          <p:cNvSpPr txBox="1"/>
          <p:nvPr/>
        </p:nvSpPr>
        <p:spPr>
          <a:xfrm>
            <a:off x="960120" y="3566160"/>
            <a:ext cx="2194560" cy="731520"/>
          </a:xfrm>
          <a:prstGeom prst="rect">
            <a:avLst/>
          </a:prstGeom>
          <a:noFill/>
          <a:ln/>
        </p:spPr>
        <p:txBody>
          <a:bodyPr wrap="square" lIns="0" tIns="0" rIns="0" bIns="0" rtlCol="0" anchor="t"/>
          <a:lstStyle/>
          <a:p>
            <a:pPr indent="0" marL="0">
              <a:buNone/>
            </a:pPr>
            <a:r>
              <a:rPr lang="en-US" sz="1100" dirty="0">
                <a:solidFill>
                  <a:srgbClr val="C9D8F2"/>
                </a:solidFill>
              </a:rPr>
              <a:t>Generative, constrained, checked</a:t>
            </a:r>
            <a:endParaRPr lang="en-US" sz="1100" dirty="0"/>
          </a:p>
        </p:txBody>
      </p:sp>
      <p:sp>
        <p:nvSpPr>
          <p:cNvPr id="21" name="Shape 18"/>
          <p:cNvSpPr/>
          <p:nvPr/>
        </p:nvSpPr>
        <p:spPr>
          <a:xfrm>
            <a:off x="3200400" y="3300984"/>
            <a:ext cx="2331720" cy="411480"/>
          </a:xfrm>
          <a:prstGeom prst="rect">
            <a:avLst/>
          </a:prstGeom>
          <a:solidFill>
            <a:srgbClr val="FFFFFF">
              <a:alpha val="14000"/>
            </a:srgbClr>
          </a:solidFill>
          <a:ln w="9525">
            <a:solidFill>
              <a:srgbClr val="FFFFFF">
                <a:alpha val="28000"/>
              </a:srgbClr>
            </a:solidFill>
            <a:prstDash val="solid"/>
          </a:ln>
        </p:spPr>
      </p:sp>
      <p:sp>
        <p:nvSpPr>
          <p:cNvPr id="22" name="Text 19"/>
          <p:cNvSpPr txBox="1"/>
          <p:nvPr/>
        </p:nvSpPr>
        <p:spPr>
          <a:xfrm>
            <a:off x="3310128" y="33009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Reading summary</a:t>
            </a:r>
            <a:endParaRPr lang="en-US" sz="1200" dirty="0"/>
          </a:p>
        </p:txBody>
      </p:sp>
      <p:sp>
        <p:nvSpPr>
          <p:cNvPr id="23" name="Shape 20"/>
          <p:cNvSpPr/>
          <p:nvPr/>
        </p:nvSpPr>
        <p:spPr>
          <a:xfrm>
            <a:off x="5669280" y="3300984"/>
            <a:ext cx="2331720" cy="411480"/>
          </a:xfrm>
          <a:prstGeom prst="rect">
            <a:avLst/>
          </a:prstGeom>
          <a:solidFill>
            <a:srgbClr val="FFFFFF">
              <a:alpha val="14000"/>
            </a:srgbClr>
          </a:solidFill>
          <a:ln w="9525">
            <a:solidFill>
              <a:srgbClr val="FFFFFF">
                <a:alpha val="28000"/>
              </a:srgbClr>
            </a:solidFill>
            <a:prstDash val="solid"/>
          </a:ln>
        </p:spPr>
      </p:sp>
      <p:sp>
        <p:nvSpPr>
          <p:cNvPr id="24" name="Text 21"/>
          <p:cNvSpPr txBox="1"/>
          <p:nvPr/>
        </p:nvSpPr>
        <p:spPr>
          <a:xfrm>
            <a:off x="5779008" y="33009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Care-plan reminder text</a:t>
            </a:r>
            <a:endParaRPr lang="en-US" sz="1200" dirty="0"/>
          </a:p>
        </p:txBody>
      </p:sp>
      <p:sp>
        <p:nvSpPr>
          <p:cNvPr id="25" name="Shape 22"/>
          <p:cNvSpPr/>
          <p:nvPr/>
        </p:nvSpPr>
        <p:spPr>
          <a:xfrm>
            <a:off x="3200400" y="3803904"/>
            <a:ext cx="2331720" cy="411480"/>
          </a:xfrm>
          <a:prstGeom prst="rect">
            <a:avLst/>
          </a:prstGeom>
          <a:solidFill>
            <a:srgbClr val="FFFFFF">
              <a:alpha val="14000"/>
            </a:srgbClr>
          </a:solidFill>
          <a:ln w="9525">
            <a:solidFill>
              <a:srgbClr val="FFFFFF">
                <a:alpha val="28000"/>
              </a:srgbClr>
            </a:solidFill>
            <a:prstDash val="solid"/>
          </a:ln>
        </p:spPr>
      </p:sp>
      <p:sp>
        <p:nvSpPr>
          <p:cNvPr id="26" name="Text 23"/>
          <p:cNvSpPr txBox="1"/>
          <p:nvPr/>
        </p:nvSpPr>
        <p:spPr>
          <a:xfrm>
            <a:off x="3310128" y="380390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Education answer</a:t>
            </a:r>
            <a:endParaRPr lang="en-US" sz="1200" dirty="0"/>
          </a:p>
        </p:txBody>
      </p:sp>
      <p:sp>
        <p:nvSpPr>
          <p:cNvPr id="27" name="Shape 24"/>
          <p:cNvSpPr/>
          <p:nvPr/>
        </p:nvSpPr>
        <p:spPr>
          <a:xfrm>
            <a:off x="5669280" y="3803904"/>
            <a:ext cx="2331720" cy="411480"/>
          </a:xfrm>
          <a:prstGeom prst="rect">
            <a:avLst/>
          </a:prstGeom>
          <a:solidFill>
            <a:srgbClr val="FFFFFF">
              <a:alpha val="14000"/>
            </a:srgbClr>
          </a:solidFill>
          <a:ln w="9525">
            <a:solidFill>
              <a:srgbClr val="FFFFFF">
                <a:alpha val="28000"/>
              </a:srgbClr>
            </a:solidFill>
            <a:prstDash val="solid"/>
          </a:ln>
        </p:spPr>
      </p:sp>
      <p:sp>
        <p:nvSpPr>
          <p:cNvPr id="28" name="Text 25"/>
          <p:cNvSpPr txBox="1"/>
          <p:nvPr/>
        </p:nvSpPr>
        <p:spPr>
          <a:xfrm>
            <a:off x="5779008" y="380390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Hand-off note for staff</a:t>
            </a:r>
            <a:endParaRPr lang="en-US" sz="1200" dirty="0"/>
          </a:p>
        </p:txBody>
      </p:sp>
      <p:sp>
        <p:nvSpPr>
          <p:cNvPr id="29" name="Shape 26"/>
          <p:cNvSpPr/>
          <p:nvPr/>
        </p:nvSpPr>
        <p:spPr>
          <a:xfrm>
            <a:off x="4389120" y="2971800"/>
            <a:ext cx="0" cy="182880"/>
          </a:xfrm>
          <a:prstGeom prst="line">
            <a:avLst/>
          </a:prstGeom>
          <a:noFill/>
          <a:ln w="19050">
            <a:solidFill>
              <a:srgbClr val="3CC3F0">
                <a:alpha val="70000"/>
              </a:srgbClr>
            </a:solidFill>
            <a:prstDash val="solid"/>
          </a:ln>
        </p:spPr>
      </p:sp>
      <p:sp>
        <p:nvSpPr>
          <p:cNvPr id="30" name="Shape 27"/>
          <p:cNvSpPr/>
          <p:nvPr/>
        </p:nvSpPr>
        <p:spPr>
          <a:xfrm>
            <a:off x="8412480" y="1737360"/>
            <a:ext cx="3136392" cy="2651760"/>
          </a:xfrm>
          <a:prstGeom prst="rect">
            <a:avLst/>
          </a:prstGeom>
          <a:solidFill>
            <a:srgbClr val="FFFFFF">
              <a:alpha val="7000"/>
            </a:srgbClr>
          </a:solidFill>
          <a:ln w="9525">
            <a:solidFill>
              <a:srgbClr val="FFFFFF">
                <a:alpha val="28000"/>
              </a:srgbClr>
            </a:solidFill>
            <a:prstDash val="solid"/>
          </a:ln>
        </p:spPr>
      </p:sp>
      <p:sp>
        <p:nvSpPr>
          <p:cNvPr id="31" name="Text 28"/>
          <p:cNvSpPr txBox="1"/>
          <p:nvPr/>
        </p:nvSpPr>
        <p:spPr>
          <a:xfrm>
            <a:off x="8686800" y="192024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OUTPUT GUARD</a:t>
            </a:r>
            <a:endParaRPr lang="en-US" sz="1100" dirty="0"/>
          </a:p>
        </p:txBody>
      </p:sp>
      <p:sp>
        <p:nvSpPr>
          <p:cNvPr id="32" name="Text 29"/>
          <p:cNvSpPr txBox="1"/>
          <p:nvPr/>
        </p:nvSpPr>
        <p:spPr>
          <a:xfrm>
            <a:off x="8686800" y="237744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1</a:t>
            </a:r>
            <a:endParaRPr lang="en-US" sz="2600" dirty="0"/>
          </a:p>
        </p:txBody>
      </p:sp>
      <p:sp>
        <p:nvSpPr>
          <p:cNvPr id="33" name="Text 30"/>
          <p:cNvSpPr txBox="1"/>
          <p:nvPr/>
        </p:nvSpPr>
        <p:spPr>
          <a:xfrm>
            <a:off x="9235440" y="237744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Forbidden wording is blocked</a:t>
            </a:r>
            <a:endParaRPr lang="en-US" sz="1200" dirty="0"/>
          </a:p>
        </p:txBody>
      </p:sp>
      <p:sp>
        <p:nvSpPr>
          <p:cNvPr id="34" name="Text 31"/>
          <p:cNvSpPr txBox="1"/>
          <p:nvPr/>
        </p:nvSpPr>
        <p:spPr>
          <a:xfrm>
            <a:off x="8686800" y="301752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2</a:t>
            </a:r>
            <a:endParaRPr lang="en-US" sz="2600" dirty="0"/>
          </a:p>
        </p:txBody>
      </p:sp>
      <p:sp>
        <p:nvSpPr>
          <p:cNvPr id="35" name="Text 32"/>
          <p:cNvSpPr txBox="1"/>
          <p:nvPr/>
        </p:nvSpPr>
        <p:spPr>
          <a:xfrm>
            <a:off x="9235440" y="301752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Numbers must match the data</a:t>
            </a:r>
            <a:endParaRPr lang="en-US" sz="1200" dirty="0"/>
          </a:p>
        </p:txBody>
      </p:sp>
      <p:sp>
        <p:nvSpPr>
          <p:cNvPr id="36" name="Text 33"/>
          <p:cNvSpPr txBox="1"/>
          <p:nvPr/>
        </p:nvSpPr>
        <p:spPr>
          <a:xfrm>
            <a:off x="8686800" y="365760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3</a:t>
            </a:r>
            <a:endParaRPr lang="en-US" sz="2600" dirty="0"/>
          </a:p>
        </p:txBody>
      </p:sp>
      <p:sp>
        <p:nvSpPr>
          <p:cNvPr id="37" name="Text 34"/>
          <p:cNvSpPr txBox="1"/>
          <p:nvPr/>
        </p:nvSpPr>
        <p:spPr>
          <a:xfrm>
            <a:off x="9235440" y="365760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Citations must exist in the approved catalog</a:t>
            </a:r>
            <a:endParaRPr lang="en-US" sz="1200" dirty="0"/>
          </a:p>
        </p:txBody>
      </p:sp>
      <p:sp>
        <p:nvSpPr>
          <p:cNvPr id="38" name="Shape 35"/>
          <p:cNvSpPr/>
          <p:nvPr/>
        </p:nvSpPr>
        <p:spPr>
          <a:xfrm>
            <a:off x="640080" y="4709160"/>
            <a:ext cx="10908792" cy="1234440"/>
          </a:xfrm>
          <a:prstGeom prst="rect">
            <a:avLst/>
          </a:prstGeom>
          <a:solidFill>
            <a:srgbClr val="3CC3F0">
              <a:alpha val="15000"/>
            </a:srgbClr>
          </a:solidFill>
          <a:ln w="12700">
            <a:solidFill>
              <a:srgbClr val="3CC3F0">
                <a:alpha val="60000"/>
              </a:srgbClr>
            </a:solidFill>
            <a:prstDash val="solid"/>
          </a:ln>
        </p:spPr>
      </p:sp>
      <p:sp>
        <p:nvSpPr>
          <p:cNvPr id="39" name="Text 36"/>
          <p:cNvSpPr txBox="1"/>
          <p:nvPr/>
        </p:nvSpPr>
        <p:spPr>
          <a:xfrm>
            <a:off x="960120" y="48463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The outcome</a:t>
            </a:r>
            <a:endParaRPr lang="en-US" sz="1100" dirty="0"/>
          </a:p>
        </p:txBody>
      </p:sp>
      <p:sp>
        <p:nvSpPr>
          <p:cNvPr id="40" name="Text 37"/>
          <p:cNvSpPr txBox="1"/>
          <p:nvPr/>
        </p:nvSpPr>
        <p:spPr>
          <a:xfrm>
            <a:off x="960120" y="5166360"/>
            <a:ext cx="10241280" cy="640080"/>
          </a:xfrm>
          <a:prstGeom prst="rect">
            <a:avLst/>
          </a:prstGeom>
          <a:noFill/>
          <a:ln/>
        </p:spPr>
        <p:txBody>
          <a:bodyPr wrap="square" lIns="0" tIns="0" rIns="0" bIns="0" rtlCol="0" anchor="t"/>
          <a:lstStyle/>
          <a:p>
            <a:pPr indent="0" marL="0">
              <a:buNone/>
            </a:pPr>
            <a:r>
              <a:rPr lang="en-US" sz="1700" b="1" dirty="0">
                <a:solidFill>
                  <a:srgbClr val="FFFFFF"/>
                </a:solidFill>
              </a:rPr>
              <a:t>A model can help with wording, but it cannot change a decision. If any check fails, a safe template message is sent instead.</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03  ·  SAFETY BOUNDARY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The line the assistant never crosses</a:t>
            </a:r>
            <a:endParaRPr lang="en-US" sz="2800" dirty="0"/>
          </a:p>
        </p:txBody>
      </p:sp>
      <p:sp>
        <p:nvSpPr>
          <p:cNvPr id="5" name="Shape 2"/>
          <p:cNvSpPr/>
          <p:nvPr/>
        </p:nvSpPr>
        <p:spPr>
          <a:xfrm>
            <a:off x="640080" y="1737360"/>
            <a:ext cx="5303520" cy="4297680"/>
          </a:xfrm>
          <a:prstGeom prst="rect">
            <a:avLst/>
          </a:prstGeom>
          <a:solidFill>
            <a:srgbClr val="FDF3F3"/>
          </a:solidFill>
          <a:ln w="15875">
            <a:solidFill>
              <a:srgbClr val="E5484D"/>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5303520" cy="82296"/>
          </a:xfrm>
          <a:prstGeom prst="rect">
            <a:avLst/>
          </a:prstGeom>
          <a:solidFill>
            <a:srgbClr val="E5484D"/>
          </a:solidFill>
          <a:ln w="12700">
            <a:solidFill>
              <a:srgbClr val="E5484D"/>
            </a:solidFill>
            <a:prstDash val="solid"/>
          </a:ln>
        </p:spPr>
      </p:sp>
      <p:sp>
        <p:nvSpPr>
          <p:cNvPr id="7" name="Text 4"/>
          <p:cNvSpPr txBox="1"/>
          <p:nvPr/>
        </p:nvSpPr>
        <p:spPr>
          <a:xfrm>
            <a:off x="1051560" y="2011680"/>
            <a:ext cx="3657600" cy="640080"/>
          </a:xfrm>
          <a:prstGeom prst="rect">
            <a:avLst/>
          </a:prstGeom>
          <a:noFill/>
          <a:ln/>
        </p:spPr>
        <p:txBody>
          <a:bodyPr wrap="square" lIns="0" tIns="0" rIns="0" bIns="0" rtlCol="0" anchor="t"/>
          <a:lstStyle/>
          <a:p>
            <a:pPr indent="0" marL="0">
              <a:buNone/>
            </a:pPr>
            <a:r>
              <a:rPr lang="en-US" sz="3000" b="1" dirty="0">
                <a:solidFill>
                  <a:srgbClr val="E5484D"/>
                </a:solidFill>
              </a:rPr>
              <a:t>Never</a:t>
            </a:r>
            <a:endParaRPr lang="en-US" sz="3000" dirty="0"/>
          </a:p>
        </p:txBody>
      </p:sp>
      <p:sp>
        <p:nvSpPr>
          <p:cNvPr id="8" name="Shape 5"/>
          <p:cNvSpPr/>
          <p:nvPr/>
        </p:nvSpPr>
        <p:spPr>
          <a:xfrm>
            <a:off x="1051560" y="2807208"/>
            <a:ext cx="4480560" cy="0"/>
          </a:xfrm>
          <a:prstGeom prst="line">
            <a:avLst/>
          </a:prstGeom>
          <a:noFill/>
          <a:ln w="9525">
            <a:solidFill>
              <a:srgbClr val="D5DEEE"/>
            </a:solidFill>
            <a:prstDash val="solid"/>
          </a:ln>
        </p:spPr>
      </p:sp>
      <p:sp>
        <p:nvSpPr>
          <p:cNvPr id="9" name="Shape 6"/>
          <p:cNvSpPr/>
          <p:nvPr/>
        </p:nvSpPr>
        <p:spPr>
          <a:xfrm>
            <a:off x="1051560" y="2953512"/>
            <a:ext cx="384048" cy="384048"/>
          </a:xfrm>
          <a:prstGeom prst="ellipse">
            <a:avLst/>
          </a:prstGeom>
          <a:solidFill>
            <a:srgbClr val="E5484D"/>
          </a:solidFill>
          <a:ln w="12700">
            <a:solidFill>
              <a:srgbClr val="E5484D"/>
            </a:solidFill>
            <a:prstDash val="solid"/>
          </a:ln>
        </p:spPr>
      </p:sp>
      <p:sp>
        <p:nvSpPr>
          <p:cNvPr id="10" name="Text 7"/>
          <p:cNvSpPr txBox="1"/>
          <p:nvPr/>
        </p:nvSpPr>
        <p:spPr>
          <a:xfrm>
            <a:off x="1051560"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600200"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Diagnose a condition</a:t>
            </a:r>
            <a:endParaRPr lang="en-US" sz="1500" dirty="0"/>
          </a:p>
        </p:txBody>
      </p:sp>
      <p:sp>
        <p:nvSpPr>
          <p:cNvPr id="12" name="Shape 9"/>
          <p:cNvSpPr/>
          <p:nvPr/>
        </p:nvSpPr>
        <p:spPr>
          <a:xfrm>
            <a:off x="1051560" y="3557016"/>
            <a:ext cx="4480560" cy="0"/>
          </a:xfrm>
          <a:prstGeom prst="line">
            <a:avLst/>
          </a:prstGeom>
          <a:noFill/>
          <a:ln w="9525">
            <a:solidFill>
              <a:srgbClr val="D5DEEE"/>
            </a:solidFill>
            <a:prstDash val="solid"/>
          </a:ln>
        </p:spPr>
      </p:sp>
      <p:sp>
        <p:nvSpPr>
          <p:cNvPr id="13" name="Shape 10"/>
          <p:cNvSpPr/>
          <p:nvPr/>
        </p:nvSpPr>
        <p:spPr>
          <a:xfrm>
            <a:off x="1051560" y="3703320"/>
            <a:ext cx="384048" cy="384048"/>
          </a:xfrm>
          <a:prstGeom prst="ellipse">
            <a:avLst/>
          </a:prstGeom>
          <a:solidFill>
            <a:srgbClr val="E5484D"/>
          </a:solidFill>
          <a:ln w="12700">
            <a:solidFill>
              <a:srgbClr val="E5484D"/>
            </a:solidFill>
            <a:prstDash val="solid"/>
          </a:ln>
        </p:spPr>
      </p:sp>
      <p:sp>
        <p:nvSpPr>
          <p:cNvPr id="14" name="Text 11"/>
          <p:cNvSpPr txBox="1"/>
          <p:nvPr/>
        </p:nvSpPr>
        <p:spPr>
          <a:xfrm>
            <a:off x="1051560"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Text 12"/>
          <p:cNvSpPr txBox="1"/>
          <p:nvPr/>
        </p:nvSpPr>
        <p:spPr>
          <a:xfrm>
            <a:off x="1600200"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Give medical advice or interpret results</a:t>
            </a:r>
            <a:endParaRPr lang="en-US" sz="1500" dirty="0"/>
          </a:p>
        </p:txBody>
      </p:sp>
      <p:sp>
        <p:nvSpPr>
          <p:cNvPr id="16" name="Shape 13"/>
          <p:cNvSpPr/>
          <p:nvPr/>
        </p:nvSpPr>
        <p:spPr>
          <a:xfrm>
            <a:off x="1051560" y="4306824"/>
            <a:ext cx="4480560" cy="0"/>
          </a:xfrm>
          <a:prstGeom prst="line">
            <a:avLst/>
          </a:prstGeom>
          <a:noFill/>
          <a:ln w="9525">
            <a:solidFill>
              <a:srgbClr val="D5DEEE"/>
            </a:solidFill>
            <a:prstDash val="solid"/>
          </a:ln>
        </p:spPr>
      </p:sp>
      <p:sp>
        <p:nvSpPr>
          <p:cNvPr id="17" name="Shape 14"/>
          <p:cNvSpPr/>
          <p:nvPr/>
        </p:nvSpPr>
        <p:spPr>
          <a:xfrm>
            <a:off x="1051560" y="4453128"/>
            <a:ext cx="384048" cy="384048"/>
          </a:xfrm>
          <a:prstGeom prst="ellipse">
            <a:avLst/>
          </a:prstGeom>
          <a:solidFill>
            <a:srgbClr val="E5484D"/>
          </a:solidFill>
          <a:ln w="12700">
            <a:solidFill>
              <a:srgbClr val="E5484D"/>
            </a:solidFill>
            <a:prstDash val="solid"/>
          </a:ln>
        </p:spPr>
      </p:sp>
      <p:sp>
        <p:nvSpPr>
          <p:cNvPr id="18" name="Text 15"/>
          <p:cNvSpPr txBox="1"/>
          <p:nvPr/>
        </p:nvSpPr>
        <p:spPr>
          <a:xfrm>
            <a:off x="1051560"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600200"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Start, stop or change a medicine</a:t>
            </a:r>
            <a:endParaRPr lang="en-US" sz="1500" dirty="0"/>
          </a:p>
        </p:txBody>
      </p:sp>
      <p:sp>
        <p:nvSpPr>
          <p:cNvPr id="20" name="Shape 17"/>
          <p:cNvSpPr/>
          <p:nvPr/>
        </p:nvSpPr>
        <p:spPr>
          <a:xfrm>
            <a:off x="1051560" y="5056632"/>
            <a:ext cx="4480560" cy="0"/>
          </a:xfrm>
          <a:prstGeom prst="line">
            <a:avLst/>
          </a:prstGeom>
          <a:noFill/>
          <a:ln w="9525">
            <a:solidFill>
              <a:srgbClr val="D5DEEE"/>
            </a:solidFill>
            <a:prstDash val="solid"/>
          </a:ln>
        </p:spPr>
      </p:sp>
      <p:sp>
        <p:nvSpPr>
          <p:cNvPr id="21" name="Shape 18"/>
          <p:cNvSpPr/>
          <p:nvPr/>
        </p:nvSpPr>
        <p:spPr>
          <a:xfrm>
            <a:off x="1051560" y="5202936"/>
            <a:ext cx="384048" cy="384048"/>
          </a:xfrm>
          <a:prstGeom prst="ellipse">
            <a:avLst/>
          </a:prstGeom>
          <a:solidFill>
            <a:srgbClr val="E5484D"/>
          </a:solidFill>
          <a:ln w="12700">
            <a:solidFill>
              <a:srgbClr val="E5484D"/>
            </a:solidFill>
            <a:prstDash val="solid"/>
          </a:ln>
        </p:spPr>
      </p:sp>
      <p:sp>
        <p:nvSpPr>
          <p:cNvPr id="22" name="Text 19"/>
          <p:cNvSpPr txBox="1"/>
          <p:nvPr/>
        </p:nvSpPr>
        <p:spPr>
          <a:xfrm>
            <a:off x="1051560"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600200"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Decide emergency priority</a:t>
            </a:r>
            <a:endParaRPr lang="en-US" sz="1500" dirty="0"/>
          </a:p>
        </p:txBody>
      </p:sp>
      <p:sp>
        <p:nvSpPr>
          <p:cNvPr id="24" name="Shape 21"/>
          <p:cNvSpPr/>
          <p:nvPr/>
        </p:nvSpPr>
        <p:spPr>
          <a:xfrm>
            <a:off x="6245352" y="1737360"/>
            <a:ext cx="5303520" cy="4297680"/>
          </a:xfrm>
          <a:prstGeom prst="rect">
            <a:avLst/>
          </a:prstGeom>
          <a:solidFill>
            <a:srgbClr val="F1FAF5"/>
          </a:solidFill>
          <a:ln w="15875">
            <a:solidFill>
              <a:srgbClr val="22B573"/>
            </a:solidFill>
            <a:prstDash val="solid"/>
          </a:ln>
          <a:effectLst>
            <a:outerShdw sx="100000" sy="100000" kx="0" ky="0" algn="bl" rotWithShape="0" blurRad="127000" dist="38100" dir="5400000">
              <a:srgbClr val="0A1F5C">
                <a:alpha val="9000"/>
              </a:srgbClr>
            </a:outerShdw>
          </a:effectLst>
        </p:spPr>
      </p:sp>
      <p:sp>
        <p:nvSpPr>
          <p:cNvPr id="25" name="Shape 22"/>
          <p:cNvSpPr/>
          <p:nvPr/>
        </p:nvSpPr>
        <p:spPr>
          <a:xfrm>
            <a:off x="6245352" y="1737360"/>
            <a:ext cx="5303520" cy="82296"/>
          </a:xfrm>
          <a:prstGeom prst="rect">
            <a:avLst/>
          </a:prstGeom>
          <a:solidFill>
            <a:srgbClr val="22B573"/>
          </a:solidFill>
          <a:ln w="12700">
            <a:solidFill>
              <a:srgbClr val="22B573"/>
            </a:solidFill>
            <a:prstDash val="solid"/>
          </a:ln>
        </p:spPr>
      </p:sp>
      <p:sp>
        <p:nvSpPr>
          <p:cNvPr id="26" name="Text 23"/>
          <p:cNvSpPr txBox="1"/>
          <p:nvPr/>
        </p:nvSpPr>
        <p:spPr>
          <a:xfrm>
            <a:off x="6656832" y="2011680"/>
            <a:ext cx="3657600" cy="640080"/>
          </a:xfrm>
          <a:prstGeom prst="rect">
            <a:avLst/>
          </a:prstGeom>
          <a:noFill/>
          <a:ln/>
        </p:spPr>
        <p:txBody>
          <a:bodyPr wrap="square" lIns="0" tIns="0" rIns="0" bIns="0" rtlCol="0" anchor="t"/>
          <a:lstStyle/>
          <a:p>
            <a:pPr indent="0" marL="0">
              <a:buNone/>
            </a:pPr>
            <a:r>
              <a:rPr lang="en-US" sz="3000" b="1" dirty="0">
                <a:solidFill>
                  <a:srgbClr val="22B573"/>
                </a:solidFill>
              </a:rPr>
              <a:t>Always</a:t>
            </a:r>
            <a:endParaRPr lang="en-US" sz="3000" dirty="0"/>
          </a:p>
        </p:txBody>
      </p:sp>
      <p:sp>
        <p:nvSpPr>
          <p:cNvPr id="27" name="Shape 24"/>
          <p:cNvSpPr/>
          <p:nvPr/>
        </p:nvSpPr>
        <p:spPr>
          <a:xfrm>
            <a:off x="6656832" y="2807208"/>
            <a:ext cx="4480560" cy="0"/>
          </a:xfrm>
          <a:prstGeom prst="line">
            <a:avLst/>
          </a:prstGeom>
          <a:noFill/>
          <a:ln w="9525">
            <a:solidFill>
              <a:srgbClr val="D5DEEE"/>
            </a:solidFill>
            <a:prstDash val="solid"/>
          </a:ln>
        </p:spPr>
      </p:sp>
      <p:sp>
        <p:nvSpPr>
          <p:cNvPr id="28" name="Shape 25"/>
          <p:cNvSpPr/>
          <p:nvPr/>
        </p:nvSpPr>
        <p:spPr>
          <a:xfrm>
            <a:off x="6656832" y="2953512"/>
            <a:ext cx="384048" cy="384048"/>
          </a:xfrm>
          <a:prstGeom prst="ellipse">
            <a:avLst/>
          </a:prstGeom>
          <a:solidFill>
            <a:srgbClr val="22B573"/>
          </a:solidFill>
          <a:ln w="12700">
            <a:solidFill>
              <a:srgbClr val="22B573"/>
            </a:solidFill>
            <a:prstDash val="solid"/>
          </a:ln>
        </p:spPr>
      </p:sp>
      <p:sp>
        <p:nvSpPr>
          <p:cNvPr id="29" name="Text 26"/>
          <p:cNvSpPr txBox="1"/>
          <p:nvPr/>
        </p:nvSpPr>
        <p:spPr>
          <a:xfrm>
            <a:off x="6656832"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7"/>
          <p:cNvSpPr txBox="1"/>
          <p:nvPr/>
        </p:nvSpPr>
        <p:spPr>
          <a:xfrm>
            <a:off x="7205472"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Check consent before reading data</a:t>
            </a:r>
            <a:endParaRPr lang="en-US" sz="1500" dirty="0"/>
          </a:p>
        </p:txBody>
      </p:sp>
      <p:sp>
        <p:nvSpPr>
          <p:cNvPr id="31" name="Shape 28"/>
          <p:cNvSpPr/>
          <p:nvPr/>
        </p:nvSpPr>
        <p:spPr>
          <a:xfrm>
            <a:off x="6656832" y="3557016"/>
            <a:ext cx="4480560" cy="0"/>
          </a:xfrm>
          <a:prstGeom prst="line">
            <a:avLst/>
          </a:prstGeom>
          <a:noFill/>
          <a:ln w="9525">
            <a:solidFill>
              <a:srgbClr val="D5DEEE"/>
            </a:solidFill>
            <a:prstDash val="solid"/>
          </a:ln>
        </p:spPr>
      </p:sp>
      <p:sp>
        <p:nvSpPr>
          <p:cNvPr id="32" name="Shape 29"/>
          <p:cNvSpPr/>
          <p:nvPr/>
        </p:nvSpPr>
        <p:spPr>
          <a:xfrm>
            <a:off x="6656832" y="3703320"/>
            <a:ext cx="384048" cy="384048"/>
          </a:xfrm>
          <a:prstGeom prst="ellipse">
            <a:avLst/>
          </a:prstGeom>
          <a:solidFill>
            <a:srgbClr val="22B573"/>
          </a:solidFill>
          <a:ln w="12700">
            <a:solidFill>
              <a:srgbClr val="22B573"/>
            </a:solidFill>
            <a:prstDash val="solid"/>
          </a:ln>
        </p:spPr>
      </p:sp>
      <p:sp>
        <p:nvSpPr>
          <p:cNvPr id="33" name="Text 30"/>
          <p:cNvSpPr txBox="1"/>
          <p:nvPr/>
        </p:nvSpPr>
        <p:spPr>
          <a:xfrm>
            <a:off x="6656832"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1"/>
          <p:cNvSpPr txBox="1"/>
          <p:nvPr/>
        </p:nvSpPr>
        <p:spPr>
          <a:xfrm>
            <a:off x="7205472"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Summarise readings, flag missing data</a:t>
            </a:r>
            <a:endParaRPr lang="en-US" sz="1500" dirty="0"/>
          </a:p>
        </p:txBody>
      </p:sp>
      <p:sp>
        <p:nvSpPr>
          <p:cNvPr id="35" name="Shape 32"/>
          <p:cNvSpPr/>
          <p:nvPr/>
        </p:nvSpPr>
        <p:spPr>
          <a:xfrm>
            <a:off x="6656832" y="4306824"/>
            <a:ext cx="4480560" cy="0"/>
          </a:xfrm>
          <a:prstGeom prst="line">
            <a:avLst/>
          </a:prstGeom>
          <a:noFill/>
          <a:ln w="9525">
            <a:solidFill>
              <a:srgbClr val="D5DEEE"/>
            </a:solidFill>
            <a:prstDash val="solid"/>
          </a:ln>
        </p:spPr>
      </p:sp>
      <p:sp>
        <p:nvSpPr>
          <p:cNvPr id="36" name="Shape 33"/>
          <p:cNvSpPr/>
          <p:nvPr/>
        </p:nvSpPr>
        <p:spPr>
          <a:xfrm>
            <a:off x="6656832" y="4453128"/>
            <a:ext cx="384048" cy="384048"/>
          </a:xfrm>
          <a:prstGeom prst="ellipse">
            <a:avLst/>
          </a:prstGeom>
          <a:solidFill>
            <a:srgbClr val="22B573"/>
          </a:solidFill>
          <a:ln w="12700">
            <a:solidFill>
              <a:srgbClr val="22B573"/>
            </a:solidFill>
            <a:prstDash val="solid"/>
          </a:ln>
        </p:spPr>
      </p:sp>
      <p:sp>
        <p:nvSpPr>
          <p:cNvPr id="37" name="Text 34"/>
          <p:cNvSpPr txBox="1"/>
          <p:nvPr/>
        </p:nvSpPr>
        <p:spPr>
          <a:xfrm>
            <a:off x="6656832"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8" name="Text 35"/>
          <p:cNvSpPr txBox="1"/>
          <p:nvPr/>
        </p:nvSpPr>
        <p:spPr>
          <a:xfrm>
            <a:off x="7205472"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Answer from approved, cited articles</a:t>
            </a:r>
            <a:endParaRPr lang="en-US" sz="1500" dirty="0"/>
          </a:p>
        </p:txBody>
      </p:sp>
      <p:sp>
        <p:nvSpPr>
          <p:cNvPr id="39" name="Shape 36"/>
          <p:cNvSpPr/>
          <p:nvPr/>
        </p:nvSpPr>
        <p:spPr>
          <a:xfrm>
            <a:off x="6656832" y="5056632"/>
            <a:ext cx="4480560" cy="0"/>
          </a:xfrm>
          <a:prstGeom prst="line">
            <a:avLst/>
          </a:prstGeom>
          <a:noFill/>
          <a:ln w="9525">
            <a:solidFill>
              <a:srgbClr val="D5DEEE"/>
            </a:solidFill>
            <a:prstDash val="solid"/>
          </a:ln>
        </p:spPr>
      </p:sp>
      <p:sp>
        <p:nvSpPr>
          <p:cNvPr id="40" name="Shape 37"/>
          <p:cNvSpPr/>
          <p:nvPr/>
        </p:nvSpPr>
        <p:spPr>
          <a:xfrm>
            <a:off x="6656832" y="5202936"/>
            <a:ext cx="384048" cy="384048"/>
          </a:xfrm>
          <a:prstGeom prst="ellipse">
            <a:avLst/>
          </a:prstGeom>
          <a:solidFill>
            <a:srgbClr val="22B573"/>
          </a:solidFill>
          <a:ln w="12700">
            <a:solidFill>
              <a:srgbClr val="22B573"/>
            </a:solidFill>
            <a:prstDash val="solid"/>
          </a:ln>
        </p:spPr>
      </p:sp>
      <p:sp>
        <p:nvSpPr>
          <p:cNvPr id="41" name="Text 38"/>
          <p:cNvSpPr txBox="1"/>
          <p:nvPr/>
        </p:nvSpPr>
        <p:spPr>
          <a:xfrm>
            <a:off x="6656832"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2" name="Text 39"/>
          <p:cNvSpPr txBox="1"/>
          <p:nvPr/>
        </p:nvSpPr>
        <p:spPr>
          <a:xfrm>
            <a:off x="7205472"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Hand risky cases to a person</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04  ·  ARCHITECTURE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A layered design on Microsoft Foundry and Azure</a:t>
            </a:r>
            <a:endParaRPr lang="en-US" sz="2800" dirty="0"/>
          </a:p>
        </p:txBody>
      </p:sp>
      <p:sp>
        <p:nvSpPr>
          <p:cNvPr id="5" name="Shape 2"/>
          <p:cNvSpPr/>
          <p:nvPr/>
        </p:nvSpPr>
        <p:spPr>
          <a:xfrm>
            <a:off x="640080" y="1691640"/>
            <a:ext cx="10908792" cy="804672"/>
          </a:xfrm>
          <a:prstGeom prst="rect">
            <a:avLst/>
          </a:prstGeom>
          <a:solidFill>
            <a:srgbClr val="FFFFFF"/>
          </a:solidFill>
          <a:ln w="9525">
            <a:solidFill>
              <a:srgbClr val="D5DEEE"/>
            </a:solidFill>
            <a:prstDash val="solid"/>
          </a:ln>
        </p:spPr>
      </p:sp>
      <p:sp>
        <p:nvSpPr>
          <p:cNvPr id="6" name="Shape 3"/>
          <p:cNvSpPr/>
          <p:nvPr/>
        </p:nvSpPr>
        <p:spPr>
          <a:xfrm>
            <a:off x="640080" y="1691640"/>
            <a:ext cx="1828800" cy="804672"/>
          </a:xfrm>
          <a:prstGeom prst="rect">
            <a:avLst/>
          </a:prstGeom>
          <a:solidFill>
            <a:srgbClr val="1E4FD8"/>
          </a:solidFill>
          <a:ln w="12700">
            <a:solidFill>
              <a:srgbClr val="1E4FD8"/>
            </a:solidFill>
            <a:prstDash val="solid"/>
          </a:ln>
        </p:spPr>
      </p:sp>
      <p:sp>
        <p:nvSpPr>
          <p:cNvPr id="7" name="Text 4"/>
          <p:cNvSpPr txBox="1"/>
          <p:nvPr/>
        </p:nvSpPr>
        <p:spPr>
          <a:xfrm>
            <a:off x="640080" y="1691640"/>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EXPERIENCE</a:t>
            </a:r>
            <a:endParaRPr lang="en-US" sz="1000" dirty="0"/>
          </a:p>
        </p:txBody>
      </p:sp>
      <p:sp>
        <p:nvSpPr>
          <p:cNvPr id="8" name="Shape 5"/>
          <p:cNvSpPr/>
          <p:nvPr/>
        </p:nvSpPr>
        <p:spPr>
          <a:xfrm>
            <a:off x="640080" y="2587752"/>
            <a:ext cx="10908792" cy="804672"/>
          </a:xfrm>
          <a:prstGeom prst="rect">
            <a:avLst/>
          </a:prstGeom>
          <a:solidFill>
            <a:srgbClr val="FFFFFF"/>
          </a:solidFill>
          <a:ln w="9525">
            <a:solidFill>
              <a:srgbClr val="D5DEEE"/>
            </a:solidFill>
            <a:prstDash val="solid"/>
          </a:ln>
        </p:spPr>
      </p:sp>
      <p:sp>
        <p:nvSpPr>
          <p:cNvPr id="9" name="Shape 6"/>
          <p:cNvSpPr/>
          <p:nvPr/>
        </p:nvSpPr>
        <p:spPr>
          <a:xfrm>
            <a:off x="640080" y="2587752"/>
            <a:ext cx="1828800" cy="804672"/>
          </a:xfrm>
          <a:prstGeom prst="rect">
            <a:avLst/>
          </a:prstGeom>
          <a:solidFill>
            <a:srgbClr val="0A1F5C"/>
          </a:solidFill>
          <a:ln w="12700">
            <a:solidFill>
              <a:srgbClr val="0A1F5C"/>
            </a:solidFill>
            <a:prstDash val="solid"/>
          </a:ln>
        </p:spPr>
      </p:sp>
      <p:sp>
        <p:nvSpPr>
          <p:cNvPr id="10" name="Text 7"/>
          <p:cNvSpPr txBox="1"/>
          <p:nvPr/>
        </p:nvSpPr>
        <p:spPr>
          <a:xfrm>
            <a:off x="640080" y="2587752"/>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ORCHESTRATION</a:t>
            </a:r>
            <a:endParaRPr lang="en-US" sz="1000" dirty="0"/>
          </a:p>
        </p:txBody>
      </p:sp>
      <p:sp>
        <p:nvSpPr>
          <p:cNvPr id="11" name="Shape 8"/>
          <p:cNvSpPr/>
          <p:nvPr/>
        </p:nvSpPr>
        <p:spPr>
          <a:xfrm>
            <a:off x="640080" y="3483864"/>
            <a:ext cx="10908792" cy="804672"/>
          </a:xfrm>
          <a:prstGeom prst="rect">
            <a:avLst/>
          </a:prstGeom>
          <a:solidFill>
            <a:srgbClr val="FFFFFF"/>
          </a:solidFill>
          <a:ln w="9525">
            <a:solidFill>
              <a:srgbClr val="D5DEEE"/>
            </a:solidFill>
            <a:prstDash val="solid"/>
          </a:ln>
        </p:spPr>
      </p:sp>
      <p:sp>
        <p:nvSpPr>
          <p:cNvPr id="12" name="Shape 9"/>
          <p:cNvSpPr/>
          <p:nvPr/>
        </p:nvSpPr>
        <p:spPr>
          <a:xfrm>
            <a:off x="640080" y="3483864"/>
            <a:ext cx="1828800" cy="804672"/>
          </a:xfrm>
          <a:prstGeom prst="rect">
            <a:avLst/>
          </a:prstGeom>
          <a:solidFill>
            <a:srgbClr val="12B5B0"/>
          </a:solidFill>
          <a:ln w="12700">
            <a:solidFill>
              <a:srgbClr val="12B5B0"/>
            </a:solidFill>
            <a:prstDash val="solid"/>
          </a:ln>
        </p:spPr>
      </p:sp>
      <p:sp>
        <p:nvSpPr>
          <p:cNvPr id="13" name="Text 10"/>
          <p:cNvSpPr txBox="1"/>
          <p:nvPr/>
        </p:nvSpPr>
        <p:spPr>
          <a:xfrm>
            <a:off x="640080" y="3483864"/>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INTELLIGENCE</a:t>
            </a:r>
            <a:endParaRPr lang="en-US" sz="1000" dirty="0"/>
          </a:p>
        </p:txBody>
      </p:sp>
      <p:sp>
        <p:nvSpPr>
          <p:cNvPr id="14" name="Shape 11"/>
          <p:cNvSpPr/>
          <p:nvPr/>
        </p:nvSpPr>
        <p:spPr>
          <a:xfrm>
            <a:off x="640080" y="4379976"/>
            <a:ext cx="10908792" cy="804672"/>
          </a:xfrm>
          <a:prstGeom prst="rect">
            <a:avLst/>
          </a:prstGeom>
          <a:solidFill>
            <a:srgbClr val="FFFFFF"/>
          </a:solidFill>
          <a:ln w="9525">
            <a:solidFill>
              <a:srgbClr val="D5DEEE"/>
            </a:solidFill>
            <a:prstDash val="solid"/>
          </a:ln>
        </p:spPr>
      </p:sp>
      <p:sp>
        <p:nvSpPr>
          <p:cNvPr id="15" name="Shape 12"/>
          <p:cNvSpPr/>
          <p:nvPr/>
        </p:nvSpPr>
        <p:spPr>
          <a:xfrm>
            <a:off x="640080" y="4379976"/>
            <a:ext cx="1828800" cy="804672"/>
          </a:xfrm>
          <a:prstGeom prst="rect">
            <a:avLst/>
          </a:prstGeom>
          <a:solidFill>
            <a:srgbClr val="1E4FD8"/>
          </a:solidFill>
          <a:ln w="12700">
            <a:solidFill>
              <a:srgbClr val="1E4FD8"/>
            </a:solidFill>
            <a:prstDash val="solid"/>
          </a:ln>
        </p:spPr>
      </p:sp>
      <p:sp>
        <p:nvSpPr>
          <p:cNvPr id="16" name="Text 13"/>
          <p:cNvSpPr txBox="1"/>
          <p:nvPr/>
        </p:nvSpPr>
        <p:spPr>
          <a:xfrm>
            <a:off x="640080" y="4379976"/>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KNOWLEDGE &amp; DATA</a:t>
            </a:r>
            <a:endParaRPr lang="en-US" sz="1000" dirty="0"/>
          </a:p>
        </p:txBody>
      </p:sp>
      <p:sp>
        <p:nvSpPr>
          <p:cNvPr id="17" name="Shape 14"/>
          <p:cNvSpPr/>
          <p:nvPr/>
        </p:nvSpPr>
        <p:spPr>
          <a:xfrm>
            <a:off x="640080" y="5276088"/>
            <a:ext cx="10908792" cy="804672"/>
          </a:xfrm>
          <a:prstGeom prst="rect">
            <a:avLst/>
          </a:prstGeom>
          <a:solidFill>
            <a:srgbClr val="FFFFFF"/>
          </a:solidFill>
          <a:ln w="9525">
            <a:solidFill>
              <a:srgbClr val="D5DEEE"/>
            </a:solidFill>
            <a:prstDash val="solid"/>
          </a:ln>
        </p:spPr>
      </p:sp>
      <p:sp>
        <p:nvSpPr>
          <p:cNvPr id="18" name="Shape 15"/>
          <p:cNvSpPr/>
          <p:nvPr/>
        </p:nvSpPr>
        <p:spPr>
          <a:xfrm>
            <a:off x="640080" y="5276088"/>
            <a:ext cx="1828800" cy="804672"/>
          </a:xfrm>
          <a:prstGeom prst="rect">
            <a:avLst/>
          </a:prstGeom>
          <a:solidFill>
            <a:srgbClr val="5E6C84"/>
          </a:solidFill>
          <a:ln w="12700">
            <a:solidFill>
              <a:srgbClr val="5E6C84"/>
            </a:solidFill>
            <a:prstDash val="solid"/>
          </a:ln>
        </p:spPr>
      </p:sp>
      <p:sp>
        <p:nvSpPr>
          <p:cNvPr id="19" name="Text 16"/>
          <p:cNvSpPr txBox="1"/>
          <p:nvPr/>
        </p:nvSpPr>
        <p:spPr>
          <a:xfrm>
            <a:off x="640080" y="5276088"/>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GOVERNANCE</a:t>
            </a:r>
            <a:endParaRPr lang="en-US" sz="1000" dirty="0"/>
          </a:p>
        </p:txBody>
      </p:sp>
      <p:sp>
        <p:nvSpPr>
          <p:cNvPr id="20" name="Shape 17"/>
          <p:cNvSpPr/>
          <p:nvPr/>
        </p:nvSpPr>
        <p:spPr>
          <a:xfrm>
            <a:off x="2697480" y="1874520"/>
            <a:ext cx="4023360" cy="438912"/>
          </a:xfrm>
          <a:prstGeom prst="rect">
            <a:avLst/>
          </a:prstGeom>
          <a:solidFill>
            <a:srgbClr val="E8EFFC"/>
          </a:solidFill>
          <a:ln w="12700">
            <a:solidFill>
              <a:srgbClr val="E8EFFC"/>
            </a:solidFill>
            <a:prstDash val="solid"/>
          </a:ln>
        </p:spPr>
      </p:sp>
      <p:sp>
        <p:nvSpPr>
          <p:cNvPr id="21" name="Text 18"/>
          <p:cNvSpPr txBox="1"/>
          <p:nvPr/>
        </p:nvSpPr>
        <p:spPr>
          <a:xfrm>
            <a:off x="2697480" y="1874520"/>
            <a:ext cx="4023360" cy="438912"/>
          </a:xfrm>
          <a:prstGeom prst="rect">
            <a:avLst/>
          </a:prstGeom>
          <a:noFill/>
          <a:ln/>
        </p:spPr>
        <p:txBody>
          <a:bodyPr wrap="square" lIns="0" tIns="0" rIns="0" bIns="0" rtlCol="0" anchor="ctr"/>
          <a:lstStyle/>
          <a:p>
            <a:pPr algn="ctr" indent="0" marL="0">
              <a:buNone/>
            </a:pPr>
            <a:r>
              <a:rPr lang="en-US" sz="1200" b="1" dirty="0">
                <a:solidFill>
                  <a:srgbClr val="0A1F5C"/>
                </a:solidFill>
              </a:rPr>
              <a:t>Streamlit app: member view and staff view</a:t>
            </a:r>
            <a:endParaRPr lang="en-US" sz="1200" dirty="0"/>
          </a:p>
        </p:txBody>
      </p:sp>
      <p:sp>
        <p:nvSpPr>
          <p:cNvPr id="22" name="Shape 19"/>
          <p:cNvSpPr/>
          <p:nvPr/>
        </p:nvSpPr>
        <p:spPr>
          <a:xfrm>
            <a:off x="6903720" y="1874520"/>
            <a:ext cx="4572000" cy="438912"/>
          </a:xfrm>
          <a:prstGeom prst="rect">
            <a:avLst/>
          </a:prstGeom>
          <a:solidFill>
            <a:srgbClr val="E8EFFC"/>
          </a:solidFill>
          <a:ln w="12700">
            <a:solidFill>
              <a:srgbClr val="E8EFFC"/>
            </a:solidFill>
            <a:prstDash val="solid"/>
          </a:ln>
        </p:spPr>
      </p:sp>
      <p:sp>
        <p:nvSpPr>
          <p:cNvPr id="23" name="Text 20"/>
          <p:cNvSpPr txBox="1"/>
          <p:nvPr/>
        </p:nvSpPr>
        <p:spPr>
          <a:xfrm>
            <a:off x="6903720" y="1874520"/>
            <a:ext cx="4572000" cy="438912"/>
          </a:xfrm>
          <a:prstGeom prst="rect">
            <a:avLst/>
          </a:prstGeom>
          <a:noFill/>
          <a:ln/>
        </p:spPr>
        <p:txBody>
          <a:bodyPr wrap="square" lIns="0" tIns="0" rIns="0" bIns="0" rtlCol="0" anchor="ctr"/>
          <a:lstStyle/>
          <a:p>
            <a:pPr algn="ctr" indent="0" marL="0">
              <a:buNone/>
            </a:pPr>
            <a:r>
              <a:rPr lang="en-US" sz="1200" b="1" dirty="0">
                <a:solidFill>
                  <a:srgbClr val="0A1F5C"/>
                </a:solidFill>
              </a:rPr>
              <a:t>Review queue and data manager</a:t>
            </a:r>
            <a:endParaRPr lang="en-US" sz="1200" dirty="0"/>
          </a:p>
        </p:txBody>
      </p:sp>
      <p:sp>
        <p:nvSpPr>
          <p:cNvPr id="24" name="Shape 21"/>
          <p:cNvSpPr/>
          <p:nvPr/>
        </p:nvSpPr>
        <p:spPr>
          <a:xfrm>
            <a:off x="2697480" y="2770632"/>
            <a:ext cx="1645920" cy="438912"/>
          </a:xfrm>
          <a:prstGeom prst="rect">
            <a:avLst/>
          </a:prstGeom>
          <a:solidFill>
            <a:srgbClr val="E8EFFC"/>
          </a:solidFill>
          <a:ln w="12700">
            <a:solidFill>
              <a:srgbClr val="E8EFFC"/>
            </a:solidFill>
            <a:prstDash val="solid"/>
          </a:ln>
        </p:spPr>
      </p:sp>
      <p:sp>
        <p:nvSpPr>
          <p:cNvPr id="25" name="Text 22"/>
          <p:cNvSpPr txBox="1"/>
          <p:nvPr/>
        </p:nvSpPr>
        <p:spPr>
          <a:xfrm>
            <a:off x="2697480"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Consent</a:t>
            </a:r>
            <a:endParaRPr lang="en-US" sz="1200" dirty="0"/>
          </a:p>
        </p:txBody>
      </p:sp>
      <p:sp>
        <p:nvSpPr>
          <p:cNvPr id="26" name="Shape 23"/>
          <p:cNvSpPr/>
          <p:nvPr/>
        </p:nvSpPr>
        <p:spPr>
          <a:xfrm>
            <a:off x="4453128" y="2770632"/>
            <a:ext cx="1645920" cy="438912"/>
          </a:xfrm>
          <a:prstGeom prst="rect">
            <a:avLst/>
          </a:prstGeom>
          <a:solidFill>
            <a:srgbClr val="E8EFFC"/>
          </a:solidFill>
          <a:ln w="12700">
            <a:solidFill>
              <a:srgbClr val="E8EFFC"/>
            </a:solidFill>
            <a:prstDash val="solid"/>
          </a:ln>
        </p:spPr>
      </p:sp>
      <p:sp>
        <p:nvSpPr>
          <p:cNvPr id="27" name="Text 24"/>
          <p:cNvSpPr txBox="1"/>
          <p:nvPr/>
        </p:nvSpPr>
        <p:spPr>
          <a:xfrm>
            <a:off x="4453128"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Safety screen</a:t>
            </a:r>
            <a:endParaRPr lang="en-US" sz="1200" dirty="0"/>
          </a:p>
        </p:txBody>
      </p:sp>
      <p:sp>
        <p:nvSpPr>
          <p:cNvPr id="28" name="Shape 25"/>
          <p:cNvSpPr/>
          <p:nvPr/>
        </p:nvSpPr>
        <p:spPr>
          <a:xfrm>
            <a:off x="6208776" y="2770632"/>
            <a:ext cx="1645920" cy="438912"/>
          </a:xfrm>
          <a:prstGeom prst="rect">
            <a:avLst/>
          </a:prstGeom>
          <a:solidFill>
            <a:srgbClr val="E8EFFC"/>
          </a:solidFill>
          <a:ln w="12700">
            <a:solidFill>
              <a:srgbClr val="E8EFFC"/>
            </a:solidFill>
            <a:prstDash val="solid"/>
          </a:ln>
        </p:spPr>
      </p:sp>
      <p:sp>
        <p:nvSpPr>
          <p:cNvPr id="29" name="Text 26"/>
          <p:cNvSpPr txBox="1"/>
          <p:nvPr/>
        </p:nvSpPr>
        <p:spPr>
          <a:xfrm>
            <a:off x="6208776"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Router</a:t>
            </a:r>
            <a:endParaRPr lang="en-US" sz="1200" dirty="0"/>
          </a:p>
        </p:txBody>
      </p:sp>
      <p:sp>
        <p:nvSpPr>
          <p:cNvPr id="30" name="Shape 27"/>
          <p:cNvSpPr/>
          <p:nvPr/>
        </p:nvSpPr>
        <p:spPr>
          <a:xfrm>
            <a:off x="7964424" y="2770632"/>
            <a:ext cx="1645920" cy="438912"/>
          </a:xfrm>
          <a:prstGeom prst="rect">
            <a:avLst/>
          </a:prstGeom>
          <a:solidFill>
            <a:srgbClr val="E8EFFC"/>
          </a:solidFill>
          <a:ln w="12700">
            <a:solidFill>
              <a:srgbClr val="E8EFFC"/>
            </a:solidFill>
            <a:prstDash val="solid"/>
          </a:ln>
        </p:spPr>
      </p:sp>
      <p:sp>
        <p:nvSpPr>
          <p:cNvPr id="31" name="Text 28"/>
          <p:cNvSpPr txBox="1"/>
          <p:nvPr/>
        </p:nvSpPr>
        <p:spPr>
          <a:xfrm>
            <a:off x="7964424"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Rules</a:t>
            </a:r>
            <a:endParaRPr lang="en-US" sz="1200" dirty="0"/>
          </a:p>
        </p:txBody>
      </p:sp>
      <p:sp>
        <p:nvSpPr>
          <p:cNvPr id="32" name="Shape 29"/>
          <p:cNvSpPr/>
          <p:nvPr/>
        </p:nvSpPr>
        <p:spPr>
          <a:xfrm>
            <a:off x="9720072" y="2770632"/>
            <a:ext cx="1645920" cy="438912"/>
          </a:xfrm>
          <a:prstGeom prst="rect">
            <a:avLst/>
          </a:prstGeom>
          <a:solidFill>
            <a:srgbClr val="0A1F5C"/>
          </a:solidFill>
          <a:ln w="12700">
            <a:solidFill>
              <a:srgbClr val="0A1F5C"/>
            </a:solidFill>
            <a:prstDash val="solid"/>
          </a:ln>
        </p:spPr>
      </p:sp>
      <p:sp>
        <p:nvSpPr>
          <p:cNvPr id="33" name="Text 30"/>
          <p:cNvSpPr txBox="1"/>
          <p:nvPr/>
        </p:nvSpPr>
        <p:spPr>
          <a:xfrm>
            <a:off x="9720072" y="2770632"/>
            <a:ext cx="1645920" cy="438912"/>
          </a:xfrm>
          <a:prstGeom prst="rect">
            <a:avLst/>
          </a:prstGeom>
          <a:noFill/>
          <a:ln/>
        </p:spPr>
        <p:txBody>
          <a:bodyPr wrap="square" lIns="0" tIns="0" rIns="0" bIns="0" rtlCol="0" anchor="ctr"/>
          <a:lstStyle/>
          <a:p>
            <a:pPr algn="ctr" indent="0" marL="0">
              <a:buNone/>
            </a:pPr>
            <a:r>
              <a:rPr lang="en-US" sz="1200" b="1" dirty="0">
                <a:solidFill>
                  <a:srgbClr val="FFFFFF"/>
                </a:solidFill>
              </a:rPr>
              <a:t>Output guard</a:t>
            </a:r>
            <a:endParaRPr lang="en-US" sz="1200" dirty="0"/>
          </a:p>
        </p:txBody>
      </p:sp>
      <p:sp>
        <p:nvSpPr>
          <p:cNvPr id="34" name="Shape 31"/>
          <p:cNvSpPr/>
          <p:nvPr/>
        </p:nvSpPr>
        <p:spPr>
          <a:xfrm>
            <a:off x="2697480" y="3666744"/>
            <a:ext cx="1371600" cy="438912"/>
          </a:xfrm>
          <a:prstGeom prst="rect">
            <a:avLst/>
          </a:prstGeom>
          <a:solidFill>
            <a:srgbClr val="DDF3F2"/>
          </a:solidFill>
          <a:ln w="12700">
            <a:solidFill>
              <a:srgbClr val="DDF3F2"/>
            </a:solidFill>
            <a:prstDash val="solid"/>
          </a:ln>
        </p:spPr>
      </p:sp>
      <p:sp>
        <p:nvSpPr>
          <p:cNvPr id="35" name="Text 32"/>
          <p:cNvSpPr txBox="1"/>
          <p:nvPr/>
        </p:nvSpPr>
        <p:spPr>
          <a:xfrm>
            <a:off x="269748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Reading</a:t>
            </a:r>
            <a:endParaRPr lang="en-US" sz="1200" dirty="0"/>
          </a:p>
        </p:txBody>
      </p:sp>
      <p:sp>
        <p:nvSpPr>
          <p:cNvPr id="36" name="Shape 33"/>
          <p:cNvSpPr/>
          <p:nvPr/>
        </p:nvSpPr>
        <p:spPr>
          <a:xfrm>
            <a:off x="4160520" y="3666744"/>
            <a:ext cx="1371600" cy="438912"/>
          </a:xfrm>
          <a:prstGeom prst="rect">
            <a:avLst/>
          </a:prstGeom>
          <a:solidFill>
            <a:srgbClr val="DDF3F2"/>
          </a:solidFill>
          <a:ln w="12700">
            <a:solidFill>
              <a:srgbClr val="DDF3F2"/>
            </a:solidFill>
            <a:prstDash val="solid"/>
          </a:ln>
        </p:spPr>
      </p:sp>
      <p:sp>
        <p:nvSpPr>
          <p:cNvPr id="37" name="Text 34"/>
          <p:cNvSpPr txBox="1"/>
          <p:nvPr/>
        </p:nvSpPr>
        <p:spPr>
          <a:xfrm>
            <a:off x="416052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Care plan</a:t>
            </a:r>
            <a:endParaRPr lang="en-US" sz="1200" dirty="0"/>
          </a:p>
        </p:txBody>
      </p:sp>
      <p:sp>
        <p:nvSpPr>
          <p:cNvPr id="38" name="Shape 35"/>
          <p:cNvSpPr/>
          <p:nvPr/>
        </p:nvSpPr>
        <p:spPr>
          <a:xfrm>
            <a:off x="5623560" y="3666744"/>
            <a:ext cx="1371600" cy="438912"/>
          </a:xfrm>
          <a:prstGeom prst="rect">
            <a:avLst/>
          </a:prstGeom>
          <a:solidFill>
            <a:srgbClr val="DDF3F2"/>
          </a:solidFill>
          <a:ln w="12700">
            <a:solidFill>
              <a:srgbClr val="DDF3F2"/>
            </a:solidFill>
            <a:prstDash val="solid"/>
          </a:ln>
        </p:spPr>
      </p:sp>
      <p:sp>
        <p:nvSpPr>
          <p:cNvPr id="39" name="Text 36"/>
          <p:cNvSpPr txBox="1"/>
          <p:nvPr/>
        </p:nvSpPr>
        <p:spPr>
          <a:xfrm>
            <a:off x="562356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Education</a:t>
            </a:r>
            <a:endParaRPr lang="en-US" sz="1200" dirty="0"/>
          </a:p>
        </p:txBody>
      </p:sp>
      <p:sp>
        <p:nvSpPr>
          <p:cNvPr id="40" name="Shape 37"/>
          <p:cNvSpPr/>
          <p:nvPr/>
        </p:nvSpPr>
        <p:spPr>
          <a:xfrm>
            <a:off x="7086600" y="3666744"/>
            <a:ext cx="1371600" cy="438912"/>
          </a:xfrm>
          <a:prstGeom prst="rect">
            <a:avLst/>
          </a:prstGeom>
          <a:solidFill>
            <a:srgbClr val="DDF3F2"/>
          </a:solidFill>
          <a:ln w="12700">
            <a:solidFill>
              <a:srgbClr val="DDF3F2"/>
            </a:solidFill>
            <a:prstDash val="solid"/>
          </a:ln>
        </p:spPr>
      </p:sp>
      <p:sp>
        <p:nvSpPr>
          <p:cNvPr id="41" name="Text 38"/>
          <p:cNvSpPr txBox="1"/>
          <p:nvPr/>
        </p:nvSpPr>
        <p:spPr>
          <a:xfrm>
            <a:off x="708660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Engagement</a:t>
            </a:r>
            <a:endParaRPr lang="en-US" sz="1200" dirty="0"/>
          </a:p>
        </p:txBody>
      </p:sp>
      <p:sp>
        <p:nvSpPr>
          <p:cNvPr id="42" name="Shape 39"/>
          <p:cNvSpPr/>
          <p:nvPr/>
        </p:nvSpPr>
        <p:spPr>
          <a:xfrm>
            <a:off x="8549640" y="3666744"/>
            <a:ext cx="1371600" cy="438912"/>
          </a:xfrm>
          <a:prstGeom prst="rect">
            <a:avLst/>
          </a:prstGeom>
          <a:solidFill>
            <a:srgbClr val="DDF3F2"/>
          </a:solidFill>
          <a:ln w="12700">
            <a:solidFill>
              <a:srgbClr val="DDF3F2"/>
            </a:solidFill>
            <a:prstDash val="solid"/>
          </a:ln>
        </p:spPr>
      </p:sp>
      <p:sp>
        <p:nvSpPr>
          <p:cNvPr id="43" name="Text 40"/>
          <p:cNvSpPr txBox="1"/>
          <p:nvPr/>
        </p:nvSpPr>
        <p:spPr>
          <a:xfrm>
            <a:off x="854964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Escalation</a:t>
            </a:r>
            <a:endParaRPr lang="en-US" sz="1200" dirty="0"/>
          </a:p>
        </p:txBody>
      </p:sp>
      <p:sp>
        <p:nvSpPr>
          <p:cNvPr id="44" name="Shape 41"/>
          <p:cNvSpPr/>
          <p:nvPr/>
        </p:nvSpPr>
        <p:spPr>
          <a:xfrm>
            <a:off x="10012680" y="3666744"/>
            <a:ext cx="1371600" cy="438912"/>
          </a:xfrm>
          <a:prstGeom prst="rect">
            <a:avLst/>
          </a:prstGeom>
          <a:solidFill>
            <a:srgbClr val="DDF3F2"/>
          </a:solidFill>
          <a:ln w="12700">
            <a:solidFill>
              <a:srgbClr val="DDF3F2"/>
            </a:solidFill>
            <a:prstDash val="solid"/>
          </a:ln>
        </p:spPr>
      </p:sp>
      <p:sp>
        <p:nvSpPr>
          <p:cNvPr id="45" name="Text 42"/>
          <p:cNvSpPr txBox="1"/>
          <p:nvPr/>
        </p:nvSpPr>
        <p:spPr>
          <a:xfrm>
            <a:off x="1001268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Router</a:t>
            </a:r>
            <a:endParaRPr lang="en-US" sz="1200" dirty="0"/>
          </a:p>
        </p:txBody>
      </p:sp>
      <p:sp>
        <p:nvSpPr>
          <p:cNvPr id="46" name="Shape 43"/>
          <p:cNvSpPr/>
          <p:nvPr/>
        </p:nvSpPr>
        <p:spPr>
          <a:xfrm>
            <a:off x="2697480" y="4562856"/>
            <a:ext cx="3383280" cy="438912"/>
          </a:xfrm>
          <a:prstGeom prst="rect">
            <a:avLst/>
          </a:prstGeom>
          <a:solidFill>
            <a:srgbClr val="E8EFFC"/>
          </a:solidFill>
          <a:ln w="12700">
            <a:solidFill>
              <a:srgbClr val="E8EFFC"/>
            </a:solidFill>
            <a:prstDash val="solid"/>
          </a:ln>
        </p:spPr>
      </p:sp>
      <p:sp>
        <p:nvSpPr>
          <p:cNvPr id="47" name="Text 44"/>
          <p:cNvSpPr txBox="1"/>
          <p:nvPr/>
        </p:nvSpPr>
        <p:spPr>
          <a:xfrm>
            <a:off x="2697480" y="4562856"/>
            <a:ext cx="3383280" cy="438912"/>
          </a:xfrm>
          <a:prstGeom prst="rect">
            <a:avLst/>
          </a:prstGeom>
          <a:noFill/>
          <a:ln/>
        </p:spPr>
        <p:txBody>
          <a:bodyPr wrap="square" lIns="0" tIns="0" rIns="0" bIns="0" rtlCol="0" anchor="ctr"/>
          <a:lstStyle/>
          <a:p>
            <a:pPr algn="ctr" indent="0" marL="0">
              <a:buNone/>
            </a:pPr>
            <a:r>
              <a:rPr lang="en-US" sz="1200" b="1" dirty="0">
                <a:solidFill>
                  <a:srgbClr val="0A1F5C"/>
                </a:solidFill>
              </a:rPr>
              <a:t>Azure AI Search: education + guidance</a:t>
            </a:r>
            <a:endParaRPr lang="en-US" sz="1200" dirty="0"/>
          </a:p>
        </p:txBody>
      </p:sp>
      <p:sp>
        <p:nvSpPr>
          <p:cNvPr id="48" name="Shape 45"/>
          <p:cNvSpPr/>
          <p:nvPr/>
        </p:nvSpPr>
        <p:spPr>
          <a:xfrm>
            <a:off x="6217920" y="4562856"/>
            <a:ext cx="2560320" cy="438912"/>
          </a:xfrm>
          <a:prstGeom prst="rect">
            <a:avLst/>
          </a:prstGeom>
          <a:solidFill>
            <a:srgbClr val="E8EFFC"/>
          </a:solidFill>
          <a:ln w="12700">
            <a:solidFill>
              <a:srgbClr val="E8EFFC"/>
            </a:solidFill>
            <a:prstDash val="solid"/>
          </a:ln>
        </p:spPr>
      </p:sp>
      <p:sp>
        <p:nvSpPr>
          <p:cNvPr id="49" name="Text 46"/>
          <p:cNvSpPr txBox="1"/>
          <p:nvPr/>
        </p:nvSpPr>
        <p:spPr>
          <a:xfrm>
            <a:off x="6217920" y="4562856"/>
            <a:ext cx="2560320" cy="438912"/>
          </a:xfrm>
          <a:prstGeom prst="rect">
            <a:avLst/>
          </a:prstGeom>
          <a:noFill/>
          <a:ln/>
        </p:spPr>
        <p:txBody>
          <a:bodyPr wrap="square" lIns="0" tIns="0" rIns="0" bIns="0" rtlCol="0" anchor="ctr"/>
          <a:lstStyle/>
          <a:p>
            <a:pPr algn="ctr" indent="0" marL="0">
              <a:buNone/>
            </a:pPr>
            <a:r>
              <a:rPr lang="en-US" sz="1200" b="1" dirty="0">
                <a:solidFill>
                  <a:srgbClr val="0A1F5C"/>
                </a:solidFill>
              </a:rPr>
              <a:t>Blob Storage: approved articles</a:t>
            </a:r>
            <a:endParaRPr lang="en-US" sz="1200" dirty="0"/>
          </a:p>
        </p:txBody>
      </p:sp>
      <p:sp>
        <p:nvSpPr>
          <p:cNvPr id="50" name="Shape 47"/>
          <p:cNvSpPr/>
          <p:nvPr/>
        </p:nvSpPr>
        <p:spPr>
          <a:xfrm>
            <a:off x="8915400" y="4562856"/>
            <a:ext cx="2560320" cy="438912"/>
          </a:xfrm>
          <a:prstGeom prst="rect">
            <a:avLst/>
          </a:prstGeom>
          <a:solidFill>
            <a:srgbClr val="E8EFFC"/>
          </a:solidFill>
          <a:ln w="12700">
            <a:solidFill>
              <a:srgbClr val="E8EFFC"/>
            </a:solidFill>
            <a:prstDash val="solid"/>
          </a:ln>
        </p:spPr>
      </p:sp>
      <p:sp>
        <p:nvSpPr>
          <p:cNvPr id="51" name="Text 48"/>
          <p:cNvSpPr txBox="1"/>
          <p:nvPr/>
        </p:nvSpPr>
        <p:spPr>
          <a:xfrm>
            <a:off x="8915400" y="4562856"/>
            <a:ext cx="2560320" cy="438912"/>
          </a:xfrm>
          <a:prstGeom prst="rect">
            <a:avLst/>
          </a:prstGeom>
          <a:noFill/>
          <a:ln/>
        </p:spPr>
        <p:txBody>
          <a:bodyPr wrap="square" lIns="0" tIns="0" rIns="0" bIns="0" rtlCol="0" anchor="ctr"/>
          <a:lstStyle/>
          <a:p>
            <a:pPr algn="ctr" indent="0" marL="0">
              <a:buNone/>
            </a:pPr>
            <a:r>
              <a:rPr lang="en-US" sz="1200" b="1" dirty="0">
                <a:solidFill>
                  <a:srgbClr val="0A1F5C"/>
                </a:solidFill>
              </a:rPr>
              <a:t>Governed data tables</a:t>
            </a:r>
            <a:endParaRPr lang="en-US" sz="1200" dirty="0"/>
          </a:p>
        </p:txBody>
      </p:sp>
      <p:sp>
        <p:nvSpPr>
          <p:cNvPr id="52" name="Shape 49"/>
          <p:cNvSpPr/>
          <p:nvPr/>
        </p:nvSpPr>
        <p:spPr>
          <a:xfrm>
            <a:off x="2697480" y="5458968"/>
            <a:ext cx="3383280" cy="438912"/>
          </a:xfrm>
          <a:prstGeom prst="rect">
            <a:avLst/>
          </a:prstGeom>
          <a:solidFill>
            <a:srgbClr val="EEF1F6"/>
          </a:solidFill>
          <a:ln w="12700">
            <a:solidFill>
              <a:srgbClr val="EEF1F6"/>
            </a:solidFill>
            <a:prstDash val="solid"/>
          </a:ln>
        </p:spPr>
      </p:sp>
      <p:sp>
        <p:nvSpPr>
          <p:cNvPr id="53" name="Text 50"/>
          <p:cNvSpPr txBox="1"/>
          <p:nvPr/>
        </p:nvSpPr>
        <p:spPr>
          <a:xfrm>
            <a:off x="2697480" y="5458968"/>
            <a:ext cx="3383280" cy="438912"/>
          </a:xfrm>
          <a:prstGeom prst="rect">
            <a:avLst/>
          </a:prstGeom>
          <a:noFill/>
          <a:ln/>
        </p:spPr>
        <p:txBody>
          <a:bodyPr wrap="square" lIns="0" tIns="0" rIns="0" bIns="0" rtlCol="0" anchor="ctr"/>
          <a:lstStyle/>
          <a:p>
            <a:pPr algn="ctr" indent="0" marL="0">
              <a:buNone/>
            </a:pPr>
            <a:r>
              <a:rPr lang="en-US" sz="1200" b="1" dirty="0">
                <a:solidFill>
                  <a:srgbClr val="5E6C84"/>
                </a:solidFill>
              </a:rPr>
              <a:t>Azure identity and role-based access</a:t>
            </a:r>
            <a:endParaRPr lang="en-US" sz="1200" dirty="0"/>
          </a:p>
        </p:txBody>
      </p:sp>
      <p:sp>
        <p:nvSpPr>
          <p:cNvPr id="54" name="Shape 51"/>
          <p:cNvSpPr/>
          <p:nvPr/>
        </p:nvSpPr>
        <p:spPr>
          <a:xfrm>
            <a:off x="6217920" y="5458968"/>
            <a:ext cx="2560320" cy="438912"/>
          </a:xfrm>
          <a:prstGeom prst="rect">
            <a:avLst/>
          </a:prstGeom>
          <a:solidFill>
            <a:srgbClr val="EEF1F6"/>
          </a:solidFill>
          <a:ln w="12700">
            <a:solidFill>
              <a:srgbClr val="EEF1F6"/>
            </a:solidFill>
            <a:prstDash val="solid"/>
          </a:ln>
        </p:spPr>
      </p:sp>
      <p:sp>
        <p:nvSpPr>
          <p:cNvPr id="55" name="Text 52"/>
          <p:cNvSpPr txBox="1"/>
          <p:nvPr/>
        </p:nvSpPr>
        <p:spPr>
          <a:xfrm>
            <a:off x="6217920" y="5458968"/>
            <a:ext cx="2560320" cy="438912"/>
          </a:xfrm>
          <a:prstGeom prst="rect">
            <a:avLst/>
          </a:prstGeom>
          <a:noFill/>
          <a:ln/>
        </p:spPr>
        <p:txBody>
          <a:bodyPr wrap="square" lIns="0" tIns="0" rIns="0" bIns="0" rtlCol="0" anchor="ctr"/>
          <a:lstStyle/>
          <a:p>
            <a:pPr algn="ctr" indent="0" marL="0">
              <a:buNone/>
            </a:pPr>
            <a:r>
              <a:rPr lang="en-US" sz="1200" b="1" dirty="0">
                <a:solidFill>
                  <a:srgbClr val="5E6C84"/>
                </a:solidFill>
              </a:rPr>
              <a:t>Audit log</a:t>
            </a:r>
            <a:endParaRPr lang="en-US" sz="1200" dirty="0"/>
          </a:p>
        </p:txBody>
      </p:sp>
      <p:sp>
        <p:nvSpPr>
          <p:cNvPr id="56" name="Shape 53"/>
          <p:cNvSpPr/>
          <p:nvPr/>
        </p:nvSpPr>
        <p:spPr>
          <a:xfrm>
            <a:off x="8915400" y="5458968"/>
            <a:ext cx="2560320" cy="438912"/>
          </a:xfrm>
          <a:prstGeom prst="rect">
            <a:avLst/>
          </a:prstGeom>
          <a:solidFill>
            <a:srgbClr val="EEF1F6"/>
          </a:solidFill>
          <a:ln w="12700">
            <a:solidFill>
              <a:srgbClr val="EEF1F6"/>
            </a:solidFill>
            <a:prstDash val="solid"/>
          </a:ln>
        </p:spPr>
      </p:sp>
      <p:sp>
        <p:nvSpPr>
          <p:cNvPr id="57" name="Text 54"/>
          <p:cNvSpPr txBox="1"/>
          <p:nvPr/>
        </p:nvSpPr>
        <p:spPr>
          <a:xfrm>
            <a:off x="8915400" y="5458968"/>
            <a:ext cx="2560320" cy="438912"/>
          </a:xfrm>
          <a:prstGeom prst="rect">
            <a:avLst/>
          </a:prstGeom>
          <a:noFill/>
          <a:ln/>
        </p:spPr>
        <p:txBody>
          <a:bodyPr wrap="square" lIns="0" tIns="0" rIns="0" bIns="0" rtlCol="0" anchor="ctr"/>
          <a:lstStyle/>
          <a:p>
            <a:pPr algn="ctr" indent="0" marL="0">
              <a:buNone/>
            </a:pPr>
            <a:r>
              <a:rPr lang="en-US" sz="1200" b="1" dirty="0">
                <a:solidFill>
                  <a:srgbClr val="5E6C84"/>
                </a:solidFill>
              </a:rPr>
              <a:t>No secrets in code</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05  ·  THE AGENTS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Six agents, one job each, least access</a:t>
            </a:r>
            <a:endParaRPr lang="en-US" sz="2800" dirty="0"/>
          </a:p>
        </p:txBody>
      </p:sp>
      <p:sp>
        <p:nvSpPr>
          <p:cNvPr id="5" name="Shape 2"/>
          <p:cNvSpPr/>
          <p:nvPr/>
        </p:nvSpPr>
        <p:spPr>
          <a:xfrm>
            <a:off x="640080" y="173736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3502152" cy="0"/>
          </a:xfrm>
          <a:prstGeom prst="line">
            <a:avLst/>
          </a:prstGeom>
          <a:noFill/>
          <a:ln w="38100">
            <a:solidFill>
              <a:srgbClr val="1E4FD8"/>
            </a:solidFill>
            <a:prstDash val="solid"/>
          </a:ln>
        </p:spPr>
      </p:sp>
      <p:sp>
        <p:nvSpPr>
          <p:cNvPr id="7" name="Text 4"/>
          <p:cNvSpPr txBox="1"/>
          <p:nvPr/>
        </p:nvSpPr>
        <p:spPr>
          <a:xfrm>
            <a:off x="86868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01</a:t>
            </a:r>
            <a:endParaRPr lang="en-US" sz="2200" dirty="0"/>
          </a:p>
        </p:txBody>
      </p:sp>
      <p:sp>
        <p:nvSpPr>
          <p:cNvPr id="8" name="Text 5"/>
          <p:cNvSpPr txBox="1"/>
          <p:nvPr/>
        </p:nvSpPr>
        <p:spPr>
          <a:xfrm>
            <a:off x="150876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Router</a:t>
            </a:r>
            <a:endParaRPr lang="en-US" sz="1600" dirty="0"/>
          </a:p>
        </p:txBody>
      </p:sp>
      <p:sp>
        <p:nvSpPr>
          <p:cNvPr id="9" name="Text 6"/>
          <p:cNvSpPr txBox="1"/>
          <p:nvPr/>
        </p:nvSpPr>
        <p:spPr>
          <a:xfrm>
            <a:off x="86868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Classifies the request</a:t>
            </a:r>
            <a:endParaRPr lang="en-US" sz="1300" dirty="0"/>
          </a:p>
        </p:txBody>
      </p:sp>
      <p:sp>
        <p:nvSpPr>
          <p:cNvPr id="10" name="Shape 7"/>
          <p:cNvSpPr/>
          <p:nvPr/>
        </p:nvSpPr>
        <p:spPr>
          <a:xfrm>
            <a:off x="868680" y="2880360"/>
            <a:ext cx="3044952" cy="0"/>
          </a:xfrm>
          <a:prstGeom prst="line">
            <a:avLst/>
          </a:prstGeom>
          <a:noFill/>
          <a:ln w="9525">
            <a:solidFill>
              <a:srgbClr val="D5DEEE"/>
            </a:solidFill>
            <a:prstDash val="solid"/>
          </a:ln>
        </p:spPr>
      </p:sp>
      <p:sp>
        <p:nvSpPr>
          <p:cNvPr id="11" name="Text 8"/>
          <p:cNvSpPr txBox="1"/>
          <p:nvPr/>
        </p:nvSpPr>
        <p:spPr>
          <a:xfrm>
            <a:off x="86868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12" name="Text 9"/>
          <p:cNvSpPr txBox="1"/>
          <p:nvPr/>
        </p:nvSpPr>
        <p:spPr>
          <a:xfrm>
            <a:off x="173736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Message text</a:t>
            </a:r>
            <a:endParaRPr lang="en-US" sz="1200" dirty="0"/>
          </a:p>
        </p:txBody>
      </p:sp>
      <p:sp>
        <p:nvSpPr>
          <p:cNvPr id="13" name="Text 10"/>
          <p:cNvSpPr txBox="1"/>
          <p:nvPr/>
        </p:nvSpPr>
        <p:spPr>
          <a:xfrm>
            <a:off x="868680" y="329184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14" name="Text 11"/>
          <p:cNvSpPr txBox="1"/>
          <p:nvPr/>
        </p:nvSpPr>
        <p:spPr>
          <a:xfrm>
            <a:off x="1737360" y="3264408"/>
            <a:ext cx="2194560" cy="274320"/>
          </a:xfrm>
          <a:prstGeom prst="rect">
            <a:avLst/>
          </a:prstGeom>
          <a:noFill/>
          <a:ln/>
        </p:spPr>
        <p:txBody>
          <a:bodyPr wrap="square" lIns="0" tIns="0" rIns="0" bIns="0" rtlCol="0" anchor="t"/>
          <a:lstStyle/>
          <a:p>
            <a:pPr indent="0" marL="0">
              <a:buNone/>
            </a:pPr>
            <a:r>
              <a:rPr lang="en-US" sz="1200" dirty="0">
                <a:solidFill>
                  <a:srgbClr val="1B2438"/>
                </a:solidFill>
              </a:rPr>
              <a:t>Read data or answer</a:t>
            </a:r>
            <a:endParaRPr lang="en-US" sz="1200" dirty="0"/>
          </a:p>
        </p:txBody>
      </p:sp>
      <p:sp>
        <p:nvSpPr>
          <p:cNvPr id="15" name="Shape 12"/>
          <p:cNvSpPr/>
          <p:nvPr/>
        </p:nvSpPr>
        <p:spPr>
          <a:xfrm>
            <a:off x="4343400" y="173736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6" name="Shape 13"/>
          <p:cNvSpPr/>
          <p:nvPr/>
        </p:nvSpPr>
        <p:spPr>
          <a:xfrm>
            <a:off x="4343400" y="1737360"/>
            <a:ext cx="3502152" cy="0"/>
          </a:xfrm>
          <a:prstGeom prst="line">
            <a:avLst/>
          </a:prstGeom>
          <a:noFill/>
          <a:ln w="38100">
            <a:solidFill>
              <a:srgbClr val="1E4FD8"/>
            </a:solidFill>
            <a:prstDash val="solid"/>
          </a:ln>
        </p:spPr>
      </p:sp>
      <p:sp>
        <p:nvSpPr>
          <p:cNvPr id="17" name="Text 14"/>
          <p:cNvSpPr txBox="1"/>
          <p:nvPr/>
        </p:nvSpPr>
        <p:spPr>
          <a:xfrm>
            <a:off x="457200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02</a:t>
            </a:r>
            <a:endParaRPr lang="en-US" sz="2200" dirty="0"/>
          </a:p>
        </p:txBody>
      </p:sp>
      <p:sp>
        <p:nvSpPr>
          <p:cNvPr id="18" name="Text 15"/>
          <p:cNvSpPr txBox="1"/>
          <p:nvPr/>
        </p:nvSpPr>
        <p:spPr>
          <a:xfrm>
            <a:off x="521208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Reading Summary</a:t>
            </a:r>
            <a:endParaRPr lang="en-US" sz="1600" dirty="0"/>
          </a:p>
        </p:txBody>
      </p:sp>
      <p:sp>
        <p:nvSpPr>
          <p:cNvPr id="19" name="Text 16"/>
          <p:cNvSpPr txBox="1"/>
          <p:nvPr/>
        </p:nvSpPr>
        <p:spPr>
          <a:xfrm>
            <a:off x="457200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Words recent-reading summary</a:t>
            </a:r>
            <a:endParaRPr lang="en-US" sz="1300" dirty="0"/>
          </a:p>
        </p:txBody>
      </p:sp>
      <p:sp>
        <p:nvSpPr>
          <p:cNvPr id="20" name="Shape 17"/>
          <p:cNvSpPr/>
          <p:nvPr/>
        </p:nvSpPr>
        <p:spPr>
          <a:xfrm>
            <a:off x="4572000" y="2880360"/>
            <a:ext cx="3044952" cy="0"/>
          </a:xfrm>
          <a:prstGeom prst="line">
            <a:avLst/>
          </a:prstGeom>
          <a:noFill/>
          <a:ln w="9525">
            <a:solidFill>
              <a:srgbClr val="D5DEEE"/>
            </a:solidFill>
            <a:prstDash val="solid"/>
          </a:ln>
        </p:spPr>
      </p:sp>
      <p:sp>
        <p:nvSpPr>
          <p:cNvPr id="21" name="Text 18"/>
          <p:cNvSpPr txBox="1"/>
          <p:nvPr/>
        </p:nvSpPr>
        <p:spPr>
          <a:xfrm>
            <a:off x="457200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22" name="Text 19"/>
          <p:cNvSpPr txBox="1"/>
          <p:nvPr/>
        </p:nvSpPr>
        <p:spPr>
          <a:xfrm>
            <a:off x="544068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Code-selected readings</a:t>
            </a:r>
            <a:endParaRPr lang="en-US" sz="1200" dirty="0"/>
          </a:p>
        </p:txBody>
      </p:sp>
      <p:sp>
        <p:nvSpPr>
          <p:cNvPr id="23" name="Text 20"/>
          <p:cNvSpPr txBox="1"/>
          <p:nvPr/>
        </p:nvSpPr>
        <p:spPr>
          <a:xfrm>
            <a:off x="4572000" y="329184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24" name="Text 21"/>
          <p:cNvSpPr txBox="1"/>
          <p:nvPr/>
        </p:nvSpPr>
        <p:spPr>
          <a:xfrm>
            <a:off x="5440680" y="3264408"/>
            <a:ext cx="2194560" cy="274320"/>
          </a:xfrm>
          <a:prstGeom prst="rect">
            <a:avLst/>
          </a:prstGeom>
          <a:noFill/>
          <a:ln/>
        </p:spPr>
        <p:txBody>
          <a:bodyPr wrap="square" lIns="0" tIns="0" rIns="0" bIns="0" rtlCol="0" anchor="t"/>
          <a:lstStyle/>
          <a:p>
            <a:pPr indent="0" marL="0">
              <a:buNone/>
            </a:pPr>
            <a:r>
              <a:rPr lang="en-US" sz="1200" dirty="0">
                <a:solidFill>
                  <a:srgbClr val="1B2438"/>
                </a:solidFill>
              </a:rPr>
              <a:t>Interpret values</a:t>
            </a:r>
            <a:endParaRPr lang="en-US" sz="1200" dirty="0"/>
          </a:p>
        </p:txBody>
      </p:sp>
      <p:sp>
        <p:nvSpPr>
          <p:cNvPr id="25" name="Shape 22"/>
          <p:cNvSpPr/>
          <p:nvPr/>
        </p:nvSpPr>
        <p:spPr>
          <a:xfrm>
            <a:off x="8046720" y="173736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8046720" y="1737360"/>
            <a:ext cx="3502152" cy="0"/>
          </a:xfrm>
          <a:prstGeom prst="line">
            <a:avLst/>
          </a:prstGeom>
          <a:noFill/>
          <a:ln w="38100">
            <a:solidFill>
              <a:srgbClr val="1E4FD8"/>
            </a:solidFill>
            <a:prstDash val="solid"/>
          </a:ln>
        </p:spPr>
      </p:sp>
      <p:sp>
        <p:nvSpPr>
          <p:cNvPr id="27" name="Text 24"/>
          <p:cNvSpPr txBox="1"/>
          <p:nvPr/>
        </p:nvSpPr>
        <p:spPr>
          <a:xfrm>
            <a:off x="827532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03</a:t>
            </a:r>
            <a:endParaRPr lang="en-US" sz="2200" dirty="0"/>
          </a:p>
        </p:txBody>
      </p:sp>
      <p:sp>
        <p:nvSpPr>
          <p:cNvPr id="28" name="Text 25"/>
          <p:cNvSpPr txBox="1"/>
          <p:nvPr/>
        </p:nvSpPr>
        <p:spPr>
          <a:xfrm>
            <a:off x="891540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Care Plan</a:t>
            </a:r>
            <a:endParaRPr lang="en-US" sz="1600" dirty="0"/>
          </a:p>
        </p:txBody>
      </p:sp>
      <p:sp>
        <p:nvSpPr>
          <p:cNvPr id="29" name="Text 26"/>
          <p:cNvSpPr txBox="1"/>
          <p:nvPr/>
        </p:nvSpPr>
        <p:spPr>
          <a:xfrm>
            <a:off x="827532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Presents tasks and due items</a:t>
            </a:r>
            <a:endParaRPr lang="en-US" sz="1300" dirty="0"/>
          </a:p>
        </p:txBody>
      </p:sp>
      <p:sp>
        <p:nvSpPr>
          <p:cNvPr id="30" name="Shape 27"/>
          <p:cNvSpPr/>
          <p:nvPr/>
        </p:nvSpPr>
        <p:spPr>
          <a:xfrm>
            <a:off x="8275320" y="2880360"/>
            <a:ext cx="3044952" cy="0"/>
          </a:xfrm>
          <a:prstGeom prst="line">
            <a:avLst/>
          </a:prstGeom>
          <a:noFill/>
          <a:ln w="9525">
            <a:solidFill>
              <a:srgbClr val="D5DEEE"/>
            </a:solidFill>
            <a:prstDash val="solid"/>
          </a:ln>
        </p:spPr>
      </p:sp>
      <p:sp>
        <p:nvSpPr>
          <p:cNvPr id="31" name="Text 28"/>
          <p:cNvSpPr txBox="1"/>
          <p:nvPr/>
        </p:nvSpPr>
        <p:spPr>
          <a:xfrm>
            <a:off x="827532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32" name="Text 29"/>
          <p:cNvSpPr txBox="1"/>
          <p:nvPr/>
        </p:nvSpPr>
        <p:spPr>
          <a:xfrm>
            <a:off x="914400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Care-plan tasks</a:t>
            </a:r>
            <a:endParaRPr lang="en-US" sz="1200" dirty="0"/>
          </a:p>
        </p:txBody>
      </p:sp>
      <p:sp>
        <p:nvSpPr>
          <p:cNvPr id="33" name="Text 30"/>
          <p:cNvSpPr txBox="1"/>
          <p:nvPr/>
        </p:nvSpPr>
        <p:spPr>
          <a:xfrm>
            <a:off x="8275320" y="329184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34" name="Text 31"/>
          <p:cNvSpPr txBox="1"/>
          <p:nvPr/>
        </p:nvSpPr>
        <p:spPr>
          <a:xfrm>
            <a:off x="9144000" y="3264408"/>
            <a:ext cx="2194560" cy="274320"/>
          </a:xfrm>
          <a:prstGeom prst="rect">
            <a:avLst/>
          </a:prstGeom>
          <a:noFill/>
          <a:ln/>
        </p:spPr>
        <p:txBody>
          <a:bodyPr wrap="square" lIns="0" tIns="0" rIns="0" bIns="0" rtlCol="0" anchor="t"/>
          <a:lstStyle/>
          <a:p>
            <a:pPr indent="0" marL="0">
              <a:buNone/>
            </a:pPr>
            <a:r>
              <a:rPr lang="en-US" sz="1200" dirty="0">
                <a:solidFill>
                  <a:srgbClr val="1B2438"/>
                </a:solidFill>
              </a:rPr>
              <a:t>Change the plan</a:t>
            </a:r>
            <a:endParaRPr lang="en-US" sz="1200" dirty="0"/>
          </a:p>
        </p:txBody>
      </p:sp>
      <p:sp>
        <p:nvSpPr>
          <p:cNvPr id="35" name="Shape 32"/>
          <p:cNvSpPr/>
          <p:nvPr/>
        </p:nvSpPr>
        <p:spPr>
          <a:xfrm>
            <a:off x="640080" y="384048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6" name="Shape 33"/>
          <p:cNvSpPr/>
          <p:nvPr/>
        </p:nvSpPr>
        <p:spPr>
          <a:xfrm>
            <a:off x="640080" y="3840480"/>
            <a:ext cx="3502152" cy="0"/>
          </a:xfrm>
          <a:prstGeom prst="line">
            <a:avLst/>
          </a:prstGeom>
          <a:noFill/>
          <a:ln w="38100">
            <a:solidFill>
              <a:srgbClr val="12B5B0"/>
            </a:solidFill>
            <a:prstDash val="solid"/>
          </a:ln>
        </p:spPr>
      </p:sp>
      <p:sp>
        <p:nvSpPr>
          <p:cNvPr id="37" name="Text 34"/>
          <p:cNvSpPr txBox="1"/>
          <p:nvPr/>
        </p:nvSpPr>
        <p:spPr>
          <a:xfrm>
            <a:off x="868680" y="402336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04</a:t>
            </a:r>
            <a:endParaRPr lang="en-US" sz="2200" dirty="0"/>
          </a:p>
        </p:txBody>
      </p:sp>
      <p:sp>
        <p:nvSpPr>
          <p:cNvPr id="38" name="Text 35"/>
          <p:cNvSpPr txBox="1"/>
          <p:nvPr/>
        </p:nvSpPr>
        <p:spPr>
          <a:xfrm>
            <a:off x="1508760" y="402336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Education RAG</a:t>
            </a:r>
            <a:endParaRPr lang="en-US" sz="1600" dirty="0"/>
          </a:p>
        </p:txBody>
      </p:sp>
      <p:sp>
        <p:nvSpPr>
          <p:cNvPr id="39" name="Text 36"/>
          <p:cNvSpPr txBox="1"/>
          <p:nvPr/>
        </p:nvSpPr>
        <p:spPr>
          <a:xfrm>
            <a:off x="868680" y="4617720"/>
            <a:ext cx="3017520" cy="320040"/>
          </a:xfrm>
          <a:prstGeom prst="rect">
            <a:avLst/>
          </a:prstGeom>
          <a:noFill/>
          <a:ln/>
        </p:spPr>
        <p:txBody>
          <a:bodyPr wrap="square" lIns="0" tIns="0" rIns="0" bIns="0" rtlCol="0" anchor="t"/>
          <a:lstStyle/>
          <a:p>
            <a:pPr indent="0" marL="0">
              <a:buNone/>
            </a:pPr>
            <a:r>
              <a:rPr lang="en-US" sz="1300" dirty="0">
                <a:solidFill>
                  <a:srgbClr val="5E6C84"/>
                </a:solidFill>
              </a:rPr>
              <a:t>Answers with citations</a:t>
            </a:r>
            <a:endParaRPr lang="en-US" sz="1300" dirty="0"/>
          </a:p>
        </p:txBody>
      </p:sp>
      <p:sp>
        <p:nvSpPr>
          <p:cNvPr id="40" name="Shape 37"/>
          <p:cNvSpPr/>
          <p:nvPr/>
        </p:nvSpPr>
        <p:spPr>
          <a:xfrm>
            <a:off x="868680" y="4983480"/>
            <a:ext cx="3044952" cy="0"/>
          </a:xfrm>
          <a:prstGeom prst="line">
            <a:avLst/>
          </a:prstGeom>
          <a:noFill/>
          <a:ln w="9525">
            <a:solidFill>
              <a:srgbClr val="D5DEEE"/>
            </a:solidFill>
            <a:prstDash val="solid"/>
          </a:ln>
        </p:spPr>
      </p:sp>
      <p:sp>
        <p:nvSpPr>
          <p:cNvPr id="41" name="Text 38"/>
          <p:cNvSpPr txBox="1"/>
          <p:nvPr/>
        </p:nvSpPr>
        <p:spPr>
          <a:xfrm>
            <a:off x="868680" y="510235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42" name="Text 39"/>
          <p:cNvSpPr txBox="1"/>
          <p:nvPr/>
        </p:nvSpPr>
        <p:spPr>
          <a:xfrm>
            <a:off x="1737360" y="5074920"/>
            <a:ext cx="2194560" cy="274320"/>
          </a:xfrm>
          <a:prstGeom prst="rect">
            <a:avLst/>
          </a:prstGeom>
          <a:noFill/>
          <a:ln/>
        </p:spPr>
        <p:txBody>
          <a:bodyPr wrap="square" lIns="0" tIns="0" rIns="0" bIns="0" rtlCol="0" anchor="t"/>
          <a:lstStyle/>
          <a:p>
            <a:pPr indent="0" marL="0">
              <a:buNone/>
            </a:pPr>
            <a:r>
              <a:rPr lang="en-US" sz="1200" dirty="0">
                <a:solidFill>
                  <a:srgbClr val="1B2438"/>
                </a:solidFill>
              </a:rPr>
              <a:t>Approved index only</a:t>
            </a:r>
            <a:endParaRPr lang="en-US" sz="1200" dirty="0"/>
          </a:p>
        </p:txBody>
      </p:sp>
      <p:sp>
        <p:nvSpPr>
          <p:cNvPr id="43" name="Text 40"/>
          <p:cNvSpPr txBox="1"/>
          <p:nvPr/>
        </p:nvSpPr>
        <p:spPr>
          <a:xfrm>
            <a:off x="868680" y="53949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44" name="Text 41"/>
          <p:cNvSpPr txBox="1"/>
          <p:nvPr/>
        </p:nvSpPr>
        <p:spPr>
          <a:xfrm>
            <a:off x="1737360" y="5367528"/>
            <a:ext cx="2194560" cy="274320"/>
          </a:xfrm>
          <a:prstGeom prst="rect">
            <a:avLst/>
          </a:prstGeom>
          <a:noFill/>
          <a:ln/>
        </p:spPr>
        <p:txBody>
          <a:bodyPr wrap="square" lIns="0" tIns="0" rIns="0" bIns="0" rtlCol="0" anchor="t"/>
          <a:lstStyle/>
          <a:p>
            <a:pPr indent="0" marL="0">
              <a:buNone/>
            </a:pPr>
            <a:r>
              <a:rPr lang="en-US" sz="1200" dirty="0">
                <a:solidFill>
                  <a:srgbClr val="1B2438"/>
                </a:solidFill>
              </a:rPr>
              <a:t>Read readings or plans</a:t>
            </a:r>
            <a:endParaRPr lang="en-US" sz="1200" dirty="0"/>
          </a:p>
        </p:txBody>
      </p:sp>
      <p:sp>
        <p:nvSpPr>
          <p:cNvPr id="45" name="Shape 42"/>
          <p:cNvSpPr/>
          <p:nvPr/>
        </p:nvSpPr>
        <p:spPr>
          <a:xfrm>
            <a:off x="4343400" y="384048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6" name="Shape 43"/>
          <p:cNvSpPr/>
          <p:nvPr/>
        </p:nvSpPr>
        <p:spPr>
          <a:xfrm>
            <a:off x="4343400" y="3840480"/>
            <a:ext cx="3502152" cy="0"/>
          </a:xfrm>
          <a:prstGeom prst="line">
            <a:avLst/>
          </a:prstGeom>
          <a:noFill/>
          <a:ln w="38100">
            <a:solidFill>
              <a:srgbClr val="1E4FD8"/>
            </a:solidFill>
            <a:prstDash val="solid"/>
          </a:ln>
        </p:spPr>
      </p:sp>
      <p:sp>
        <p:nvSpPr>
          <p:cNvPr id="47" name="Text 44"/>
          <p:cNvSpPr txBox="1"/>
          <p:nvPr/>
        </p:nvSpPr>
        <p:spPr>
          <a:xfrm>
            <a:off x="4572000" y="402336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05</a:t>
            </a:r>
            <a:endParaRPr lang="en-US" sz="2200" dirty="0"/>
          </a:p>
        </p:txBody>
      </p:sp>
      <p:sp>
        <p:nvSpPr>
          <p:cNvPr id="48" name="Text 45"/>
          <p:cNvSpPr txBox="1"/>
          <p:nvPr/>
        </p:nvSpPr>
        <p:spPr>
          <a:xfrm>
            <a:off x="5212080" y="402336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Engagement</a:t>
            </a:r>
            <a:endParaRPr lang="en-US" sz="1600" dirty="0"/>
          </a:p>
        </p:txBody>
      </p:sp>
      <p:sp>
        <p:nvSpPr>
          <p:cNvPr id="49" name="Text 46"/>
          <p:cNvSpPr txBox="1"/>
          <p:nvPr/>
        </p:nvSpPr>
        <p:spPr>
          <a:xfrm>
            <a:off x="4572000" y="4617720"/>
            <a:ext cx="3017520" cy="320040"/>
          </a:xfrm>
          <a:prstGeom prst="rect">
            <a:avLst/>
          </a:prstGeom>
          <a:noFill/>
          <a:ln/>
        </p:spPr>
        <p:txBody>
          <a:bodyPr wrap="square" lIns="0" tIns="0" rIns="0" bIns="0" rtlCol="0" anchor="t"/>
          <a:lstStyle/>
          <a:p>
            <a:pPr indent="0" marL="0">
              <a:buNone/>
            </a:pPr>
            <a:r>
              <a:rPr lang="en-US" sz="1300" dirty="0">
                <a:solidFill>
                  <a:srgbClr val="5E6C84"/>
                </a:solidFill>
              </a:rPr>
              <a:t>Reminders in member's language</a:t>
            </a:r>
            <a:endParaRPr lang="en-US" sz="1300" dirty="0"/>
          </a:p>
        </p:txBody>
      </p:sp>
      <p:sp>
        <p:nvSpPr>
          <p:cNvPr id="50" name="Shape 47"/>
          <p:cNvSpPr/>
          <p:nvPr/>
        </p:nvSpPr>
        <p:spPr>
          <a:xfrm>
            <a:off x="4572000" y="4983480"/>
            <a:ext cx="3044952" cy="0"/>
          </a:xfrm>
          <a:prstGeom prst="line">
            <a:avLst/>
          </a:prstGeom>
          <a:noFill/>
          <a:ln w="9525">
            <a:solidFill>
              <a:srgbClr val="D5DEEE"/>
            </a:solidFill>
            <a:prstDash val="solid"/>
          </a:ln>
        </p:spPr>
      </p:sp>
      <p:sp>
        <p:nvSpPr>
          <p:cNvPr id="51" name="Text 48"/>
          <p:cNvSpPr txBox="1"/>
          <p:nvPr/>
        </p:nvSpPr>
        <p:spPr>
          <a:xfrm>
            <a:off x="4572000" y="510235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52" name="Text 49"/>
          <p:cNvSpPr txBox="1"/>
          <p:nvPr/>
        </p:nvSpPr>
        <p:spPr>
          <a:xfrm>
            <a:off x="5440680" y="5074920"/>
            <a:ext cx="2194560" cy="274320"/>
          </a:xfrm>
          <a:prstGeom prst="rect">
            <a:avLst/>
          </a:prstGeom>
          <a:noFill/>
          <a:ln/>
        </p:spPr>
        <p:txBody>
          <a:bodyPr wrap="square" lIns="0" tIns="0" rIns="0" bIns="0" rtlCol="0" anchor="t"/>
          <a:lstStyle/>
          <a:p>
            <a:pPr indent="0" marL="0">
              <a:buNone/>
            </a:pPr>
            <a:r>
              <a:rPr lang="en-US" sz="1200" dirty="0">
                <a:solidFill>
                  <a:srgbClr val="1B2438"/>
                </a:solidFill>
              </a:rPr>
              <a:t>Task and channel</a:t>
            </a:r>
            <a:endParaRPr lang="en-US" sz="1200" dirty="0"/>
          </a:p>
        </p:txBody>
      </p:sp>
      <p:sp>
        <p:nvSpPr>
          <p:cNvPr id="53" name="Text 50"/>
          <p:cNvSpPr txBox="1"/>
          <p:nvPr/>
        </p:nvSpPr>
        <p:spPr>
          <a:xfrm>
            <a:off x="4572000" y="53949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54" name="Text 51"/>
          <p:cNvSpPr txBox="1"/>
          <p:nvPr/>
        </p:nvSpPr>
        <p:spPr>
          <a:xfrm>
            <a:off x="5440680" y="5367528"/>
            <a:ext cx="2194560" cy="274320"/>
          </a:xfrm>
          <a:prstGeom prst="rect">
            <a:avLst/>
          </a:prstGeom>
          <a:noFill/>
          <a:ln/>
        </p:spPr>
        <p:txBody>
          <a:bodyPr wrap="square" lIns="0" tIns="0" rIns="0" bIns="0" rtlCol="0" anchor="t"/>
          <a:lstStyle/>
          <a:p>
            <a:pPr indent="0" marL="0">
              <a:buNone/>
            </a:pPr>
            <a:r>
              <a:rPr lang="en-US" sz="1200" dirty="0">
                <a:solidFill>
                  <a:srgbClr val="1B2438"/>
                </a:solidFill>
              </a:rPr>
              <a:t>Add clinical content</a:t>
            </a:r>
            <a:endParaRPr lang="en-US" sz="1200" dirty="0"/>
          </a:p>
        </p:txBody>
      </p:sp>
      <p:sp>
        <p:nvSpPr>
          <p:cNvPr id="55" name="Shape 52"/>
          <p:cNvSpPr/>
          <p:nvPr/>
        </p:nvSpPr>
        <p:spPr>
          <a:xfrm>
            <a:off x="8046720" y="3840480"/>
            <a:ext cx="3502152" cy="192024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6" name="Shape 53"/>
          <p:cNvSpPr/>
          <p:nvPr/>
        </p:nvSpPr>
        <p:spPr>
          <a:xfrm>
            <a:off x="8046720" y="3840480"/>
            <a:ext cx="3502152" cy="0"/>
          </a:xfrm>
          <a:prstGeom prst="line">
            <a:avLst/>
          </a:prstGeom>
          <a:noFill/>
          <a:ln w="38100">
            <a:solidFill>
              <a:srgbClr val="1E4FD8"/>
            </a:solidFill>
            <a:prstDash val="solid"/>
          </a:ln>
        </p:spPr>
      </p:sp>
      <p:sp>
        <p:nvSpPr>
          <p:cNvPr id="57" name="Text 54"/>
          <p:cNvSpPr txBox="1"/>
          <p:nvPr/>
        </p:nvSpPr>
        <p:spPr>
          <a:xfrm>
            <a:off x="8275320" y="402336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06</a:t>
            </a:r>
            <a:endParaRPr lang="en-US" sz="2200" dirty="0"/>
          </a:p>
        </p:txBody>
      </p:sp>
      <p:sp>
        <p:nvSpPr>
          <p:cNvPr id="58" name="Text 55"/>
          <p:cNvSpPr txBox="1"/>
          <p:nvPr/>
        </p:nvSpPr>
        <p:spPr>
          <a:xfrm>
            <a:off x="8915400" y="402336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Escalation</a:t>
            </a:r>
            <a:endParaRPr lang="en-US" sz="1600" dirty="0"/>
          </a:p>
        </p:txBody>
      </p:sp>
      <p:sp>
        <p:nvSpPr>
          <p:cNvPr id="59" name="Text 56"/>
          <p:cNvSpPr txBox="1"/>
          <p:nvPr/>
        </p:nvSpPr>
        <p:spPr>
          <a:xfrm>
            <a:off x="8275320" y="4617720"/>
            <a:ext cx="3017520" cy="320040"/>
          </a:xfrm>
          <a:prstGeom prst="rect">
            <a:avLst/>
          </a:prstGeom>
          <a:noFill/>
          <a:ln/>
        </p:spPr>
        <p:txBody>
          <a:bodyPr wrap="square" lIns="0" tIns="0" rIns="0" bIns="0" rtlCol="0" anchor="t"/>
          <a:lstStyle/>
          <a:p>
            <a:pPr indent="0" marL="0">
              <a:buNone/>
            </a:pPr>
            <a:r>
              <a:rPr lang="en-US" sz="1300" dirty="0">
                <a:solidFill>
                  <a:srgbClr val="5E6C84"/>
                </a:solidFill>
              </a:rPr>
              <a:t>Prepares staff hand-off</a:t>
            </a:r>
            <a:endParaRPr lang="en-US" sz="1300" dirty="0"/>
          </a:p>
        </p:txBody>
      </p:sp>
      <p:sp>
        <p:nvSpPr>
          <p:cNvPr id="60" name="Shape 57"/>
          <p:cNvSpPr/>
          <p:nvPr/>
        </p:nvSpPr>
        <p:spPr>
          <a:xfrm>
            <a:off x="8275320" y="4983480"/>
            <a:ext cx="3044952" cy="0"/>
          </a:xfrm>
          <a:prstGeom prst="line">
            <a:avLst/>
          </a:prstGeom>
          <a:noFill/>
          <a:ln w="9525">
            <a:solidFill>
              <a:srgbClr val="D5DEEE"/>
            </a:solidFill>
            <a:prstDash val="solid"/>
          </a:ln>
        </p:spPr>
      </p:sp>
      <p:sp>
        <p:nvSpPr>
          <p:cNvPr id="61" name="Text 58"/>
          <p:cNvSpPr txBox="1"/>
          <p:nvPr/>
        </p:nvSpPr>
        <p:spPr>
          <a:xfrm>
            <a:off x="8275320" y="510235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62" name="Text 59"/>
          <p:cNvSpPr txBox="1"/>
          <p:nvPr/>
        </p:nvSpPr>
        <p:spPr>
          <a:xfrm>
            <a:off x="9144000" y="5074920"/>
            <a:ext cx="2194560" cy="274320"/>
          </a:xfrm>
          <a:prstGeom prst="rect">
            <a:avLst/>
          </a:prstGeom>
          <a:noFill/>
          <a:ln/>
        </p:spPr>
        <p:txBody>
          <a:bodyPr wrap="square" lIns="0" tIns="0" rIns="0" bIns="0" rtlCol="0" anchor="t"/>
          <a:lstStyle/>
          <a:p>
            <a:pPr indent="0" marL="0">
              <a:buNone/>
            </a:pPr>
            <a:r>
              <a:rPr lang="en-US" sz="1200" dirty="0">
                <a:solidFill>
                  <a:srgbClr val="1B2438"/>
                </a:solidFill>
              </a:rPr>
              <a:t>Rule id and queue</a:t>
            </a:r>
            <a:endParaRPr lang="en-US" sz="1200" dirty="0"/>
          </a:p>
        </p:txBody>
      </p:sp>
      <p:sp>
        <p:nvSpPr>
          <p:cNvPr id="63" name="Text 60"/>
          <p:cNvSpPr txBox="1"/>
          <p:nvPr/>
        </p:nvSpPr>
        <p:spPr>
          <a:xfrm>
            <a:off x="8275320" y="53949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64" name="Text 61"/>
          <p:cNvSpPr txBox="1"/>
          <p:nvPr/>
        </p:nvSpPr>
        <p:spPr>
          <a:xfrm>
            <a:off x="9144000" y="5367528"/>
            <a:ext cx="2194560" cy="274320"/>
          </a:xfrm>
          <a:prstGeom prst="rect">
            <a:avLst/>
          </a:prstGeom>
          <a:noFill/>
          <a:ln/>
        </p:spPr>
        <p:txBody>
          <a:bodyPr wrap="square" lIns="0" tIns="0" rIns="0" bIns="0" rtlCol="0" anchor="t"/>
          <a:lstStyle/>
          <a:p>
            <a:pPr indent="0" marL="0">
              <a:buNone/>
            </a:pPr>
            <a:r>
              <a:rPr lang="en-US" sz="1200" dirty="0">
                <a:solidFill>
                  <a:srgbClr val="1B2438"/>
                </a:solidFill>
              </a:rPr>
              <a:t>Set urgency itself</a:t>
            </a:r>
            <a:endParaRPr lang="en-US" sz="1200" dirty="0"/>
          </a:p>
        </p:txBody>
      </p:sp>
      <p:sp>
        <p:nvSpPr>
          <p:cNvPr id="65" name="Text 62"/>
          <p:cNvSpPr txBox="1"/>
          <p:nvPr/>
        </p:nvSpPr>
        <p:spPr>
          <a:xfrm>
            <a:off x="640080" y="5943600"/>
            <a:ext cx="10058400" cy="274320"/>
          </a:xfrm>
          <a:prstGeom prst="rect">
            <a:avLst/>
          </a:prstGeom>
          <a:noFill/>
          <a:ln/>
        </p:spPr>
        <p:txBody>
          <a:bodyPr wrap="square" lIns="0" tIns="0" rIns="0" bIns="0" rtlCol="0" anchor="t"/>
          <a:lstStyle/>
          <a:p>
            <a:pPr indent="0" marL="0">
              <a:buNone/>
            </a:pPr>
            <a:r>
              <a:rPr lang="en-US" sz="1200" dirty="0">
                <a:solidFill>
                  <a:srgbClr val="5E6C84"/>
                </a:solidFill>
              </a:rPr>
              <a:t>All six are registered in Foundry as named, versioned agents.</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06  ·  REQUEST JOURNEY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Every request follows the same path, with defined exits</a:t>
            </a:r>
            <a:endParaRPr lang="en-US" sz="2800" dirty="0"/>
          </a:p>
        </p:txBody>
      </p:sp>
      <p:sp>
        <p:nvSpPr>
          <p:cNvPr id="5" name="Shape 2"/>
          <p:cNvSpPr/>
          <p:nvPr/>
        </p:nvSpPr>
        <p:spPr>
          <a:xfrm>
            <a:off x="1097280" y="2331720"/>
            <a:ext cx="9784080" cy="0"/>
          </a:xfrm>
          <a:prstGeom prst="line">
            <a:avLst/>
          </a:prstGeom>
          <a:noFill/>
          <a:ln w="28575">
            <a:solidFill>
              <a:srgbClr val="1E4FD8"/>
            </a:solidFill>
            <a:prstDash val="solid"/>
          </a:ln>
        </p:spPr>
      </p:sp>
      <p:sp>
        <p:nvSpPr>
          <p:cNvPr id="6" name="Shape 3"/>
          <p:cNvSpPr/>
          <p:nvPr/>
        </p:nvSpPr>
        <p:spPr>
          <a:xfrm>
            <a:off x="822960" y="2057400"/>
            <a:ext cx="548640" cy="548640"/>
          </a:xfrm>
          <a:prstGeom prst="ellipse">
            <a:avLst/>
          </a:prstGeom>
          <a:solidFill>
            <a:srgbClr val="1E4FD8"/>
          </a:solidFill>
          <a:ln w="12700">
            <a:solidFill>
              <a:srgbClr val="1E4FD8"/>
            </a:solidFill>
            <a:prstDash val="solid"/>
          </a:ln>
        </p:spPr>
      </p:sp>
      <p:sp>
        <p:nvSpPr>
          <p:cNvPr id="7" name="Text 4"/>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8" name="Text 5"/>
          <p:cNvSpPr txBox="1"/>
          <p:nvPr/>
        </p:nvSpPr>
        <p:spPr>
          <a:xfrm>
            <a:off x="36576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Consent</a:t>
            </a:r>
            <a:endParaRPr lang="en-US" sz="1200" dirty="0"/>
          </a:p>
        </p:txBody>
      </p:sp>
      <p:sp>
        <p:nvSpPr>
          <p:cNvPr id="9" name="Shape 6"/>
          <p:cNvSpPr/>
          <p:nvPr/>
        </p:nvSpPr>
        <p:spPr>
          <a:xfrm>
            <a:off x="2453335" y="2057400"/>
            <a:ext cx="548640" cy="548640"/>
          </a:xfrm>
          <a:prstGeom prst="ellipse">
            <a:avLst/>
          </a:prstGeom>
          <a:solidFill>
            <a:srgbClr val="1E4FD8"/>
          </a:solidFill>
          <a:ln w="12700">
            <a:solidFill>
              <a:srgbClr val="1E4FD8"/>
            </a:solidFill>
            <a:prstDash val="solid"/>
          </a:ln>
        </p:spPr>
      </p:sp>
      <p:sp>
        <p:nvSpPr>
          <p:cNvPr id="10" name="Text 7"/>
          <p:cNvSpPr txBox="1"/>
          <p:nvPr/>
        </p:nvSpPr>
        <p:spPr>
          <a:xfrm>
            <a:off x="2453335"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1" name="Text 8"/>
          <p:cNvSpPr txBox="1"/>
          <p:nvPr/>
        </p:nvSpPr>
        <p:spPr>
          <a:xfrm>
            <a:off x="1996135"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Safety screen</a:t>
            </a:r>
            <a:endParaRPr lang="en-US" sz="1200" dirty="0"/>
          </a:p>
        </p:txBody>
      </p:sp>
      <p:sp>
        <p:nvSpPr>
          <p:cNvPr id="12" name="Shape 9"/>
          <p:cNvSpPr/>
          <p:nvPr/>
        </p:nvSpPr>
        <p:spPr>
          <a:xfrm>
            <a:off x="4083710" y="2057400"/>
            <a:ext cx="548640" cy="548640"/>
          </a:xfrm>
          <a:prstGeom prst="ellipse">
            <a:avLst/>
          </a:prstGeom>
          <a:solidFill>
            <a:srgbClr val="1E4FD8"/>
          </a:solidFill>
          <a:ln w="12700">
            <a:solidFill>
              <a:srgbClr val="1E4FD8"/>
            </a:solidFill>
            <a:prstDash val="solid"/>
          </a:ln>
        </p:spPr>
      </p:sp>
      <p:sp>
        <p:nvSpPr>
          <p:cNvPr id="13" name="Text 10"/>
          <p:cNvSpPr txBox="1"/>
          <p:nvPr/>
        </p:nvSpPr>
        <p:spPr>
          <a:xfrm>
            <a:off x="408371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4" name="Text 11"/>
          <p:cNvSpPr txBox="1"/>
          <p:nvPr/>
        </p:nvSpPr>
        <p:spPr>
          <a:xfrm>
            <a:off x="362651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Route</a:t>
            </a:r>
            <a:endParaRPr lang="en-US" sz="1200" dirty="0"/>
          </a:p>
        </p:txBody>
      </p:sp>
      <p:sp>
        <p:nvSpPr>
          <p:cNvPr id="15" name="Shape 12"/>
          <p:cNvSpPr/>
          <p:nvPr/>
        </p:nvSpPr>
        <p:spPr>
          <a:xfrm>
            <a:off x="5714086" y="2057400"/>
            <a:ext cx="548640" cy="548640"/>
          </a:xfrm>
          <a:prstGeom prst="ellipse">
            <a:avLst/>
          </a:prstGeom>
          <a:solidFill>
            <a:srgbClr val="1E4FD8"/>
          </a:solidFill>
          <a:ln w="12700">
            <a:solidFill>
              <a:srgbClr val="1E4FD8"/>
            </a:solidFill>
            <a:prstDash val="solid"/>
          </a:ln>
        </p:spPr>
      </p:sp>
      <p:sp>
        <p:nvSpPr>
          <p:cNvPr id="16" name="Text 13"/>
          <p:cNvSpPr txBox="1"/>
          <p:nvPr/>
        </p:nvSpPr>
        <p:spPr>
          <a:xfrm>
            <a:off x="571408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17" name="Text 14"/>
          <p:cNvSpPr txBox="1"/>
          <p:nvPr/>
        </p:nvSpPr>
        <p:spPr>
          <a:xfrm>
            <a:off x="525688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Rules</a:t>
            </a:r>
            <a:endParaRPr lang="en-US" sz="1200" dirty="0"/>
          </a:p>
        </p:txBody>
      </p:sp>
      <p:sp>
        <p:nvSpPr>
          <p:cNvPr id="18" name="Shape 15"/>
          <p:cNvSpPr/>
          <p:nvPr/>
        </p:nvSpPr>
        <p:spPr>
          <a:xfrm>
            <a:off x="7344461" y="2057400"/>
            <a:ext cx="548640" cy="548640"/>
          </a:xfrm>
          <a:prstGeom prst="ellipse">
            <a:avLst/>
          </a:prstGeom>
          <a:solidFill>
            <a:srgbClr val="1E4FD8"/>
          </a:solidFill>
          <a:ln w="12700">
            <a:solidFill>
              <a:srgbClr val="1E4FD8"/>
            </a:solidFill>
            <a:prstDash val="solid"/>
          </a:ln>
        </p:spPr>
      </p:sp>
      <p:sp>
        <p:nvSpPr>
          <p:cNvPr id="19" name="Text 16"/>
          <p:cNvSpPr txBox="1"/>
          <p:nvPr/>
        </p:nvSpPr>
        <p:spPr>
          <a:xfrm>
            <a:off x="734446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20" name="Text 17"/>
          <p:cNvSpPr txBox="1"/>
          <p:nvPr/>
        </p:nvSpPr>
        <p:spPr>
          <a:xfrm>
            <a:off x="688726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Agent words it</a:t>
            </a:r>
            <a:endParaRPr lang="en-US" sz="1200" dirty="0"/>
          </a:p>
        </p:txBody>
      </p:sp>
      <p:sp>
        <p:nvSpPr>
          <p:cNvPr id="21" name="Shape 18"/>
          <p:cNvSpPr/>
          <p:nvPr/>
        </p:nvSpPr>
        <p:spPr>
          <a:xfrm>
            <a:off x="8974836" y="2057400"/>
            <a:ext cx="548640" cy="548640"/>
          </a:xfrm>
          <a:prstGeom prst="ellipse">
            <a:avLst/>
          </a:prstGeom>
          <a:solidFill>
            <a:srgbClr val="1E4FD8"/>
          </a:solidFill>
          <a:ln w="12700">
            <a:solidFill>
              <a:srgbClr val="1E4FD8"/>
            </a:solidFill>
            <a:prstDash val="solid"/>
          </a:ln>
        </p:spPr>
      </p:sp>
      <p:sp>
        <p:nvSpPr>
          <p:cNvPr id="22" name="Text 19"/>
          <p:cNvSpPr txBox="1"/>
          <p:nvPr/>
        </p:nvSpPr>
        <p:spPr>
          <a:xfrm>
            <a:off x="897483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sp>
        <p:nvSpPr>
          <p:cNvPr id="23" name="Text 20"/>
          <p:cNvSpPr txBox="1"/>
          <p:nvPr/>
        </p:nvSpPr>
        <p:spPr>
          <a:xfrm>
            <a:off x="851763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Output guard</a:t>
            </a:r>
            <a:endParaRPr lang="en-US" sz="1200" dirty="0"/>
          </a:p>
        </p:txBody>
      </p:sp>
      <p:sp>
        <p:nvSpPr>
          <p:cNvPr id="24" name="Shape 21"/>
          <p:cNvSpPr/>
          <p:nvPr/>
        </p:nvSpPr>
        <p:spPr>
          <a:xfrm>
            <a:off x="10605211" y="2057400"/>
            <a:ext cx="548640" cy="548640"/>
          </a:xfrm>
          <a:prstGeom prst="ellipse">
            <a:avLst/>
          </a:prstGeom>
          <a:solidFill>
            <a:srgbClr val="0A1F5C"/>
          </a:solidFill>
          <a:ln w="12700">
            <a:solidFill>
              <a:srgbClr val="0A1F5C"/>
            </a:solidFill>
            <a:prstDash val="solid"/>
          </a:ln>
        </p:spPr>
      </p:sp>
      <p:sp>
        <p:nvSpPr>
          <p:cNvPr id="25" name="Text 22"/>
          <p:cNvSpPr txBox="1"/>
          <p:nvPr/>
        </p:nvSpPr>
        <p:spPr>
          <a:xfrm>
            <a:off x="1060521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7</a:t>
            </a:r>
            <a:endParaRPr lang="en-US" sz="1700" dirty="0"/>
          </a:p>
        </p:txBody>
      </p:sp>
      <p:sp>
        <p:nvSpPr>
          <p:cNvPr id="26" name="Text 23"/>
          <p:cNvSpPr txBox="1"/>
          <p:nvPr/>
        </p:nvSpPr>
        <p:spPr>
          <a:xfrm>
            <a:off x="1014801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Answer or staff</a:t>
            </a:r>
            <a:endParaRPr lang="en-US" sz="1200" dirty="0"/>
          </a:p>
        </p:txBody>
      </p:sp>
      <p:sp>
        <p:nvSpPr>
          <p:cNvPr id="27" name="Shape 24"/>
          <p:cNvSpPr/>
          <p:nvPr/>
        </p:nvSpPr>
        <p:spPr>
          <a:xfrm>
            <a:off x="1097280" y="2606040"/>
            <a:ext cx="0" cy="548640"/>
          </a:xfrm>
          <a:prstGeom prst="line">
            <a:avLst/>
          </a:prstGeom>
          <a:noFill/>
          <a:ln w="19050">
            <a:solidFill>
              <a:srgbClr val="E5484D">
                <a:alpha val="70000"/>
              </a:srgbClr>
            </a:solidFill>
            <a:prstDash val="dash"/>
          </a:ln>
        </p:spPr>
      </p:sp>
      <p:sp>
        <p:nvSpPr>
          <p:cNvPr id="28" name="Shape 25"/>
          <p:cNvSpPr/>
          <p:nvPr/>
        </p:nvSpPr>
        <p:spPr>
          <a:xfrm>
            <a:off x="64008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9" name="Shape 26"/>
          <p:cNvSpPr/>
          <p:nvPr/>
        </p:nvSpPr>
        <p:spPr>
          <a:xfrm>
            <a:off x="640080" y="3154680"/>
            <a:ext cx="1371600" cy="64008"/>
          </a:xfrm>
          <a:prstGeom prst="rect">
            <a:avLst/>
          </a:prstGeom>
          <a:solidFill>
            <a:srgbClr val="E5484D"/>
          </a:solidFill>
          <a:ln w="12700">
            <a:solidFill>
              <a:srgbClr val="E5484D"/>
            </a:solidFill>
            <a:prstDash val="solid"/>
          </a:ln>
        </p:spPr>
      </p:sp>
      <p:sp>
        <p:nvSpPr>
          <p:cNvPr id="30" name="Text 27"/>
          <p:cNvSpPr txBox="1"/>
          <p:nvPr/>
        </p:nvSpPr>
        <p:spPr>
          <a:xfrm>
            <a:off x="749808" y="3310128"/>
            <a:ext cx="1188720" cy="274320"/>
          </a:xfrm>
          <a:prstGeom prst="rect">
            <a:avLst/>
          </a:prstGeom>
          <a:noFill/>
          <a:ln/>
        </p:spPr>
        <p:txBody>
          <a:bodyPr wrap="square" lIns="0" tIns="0" rIns="0" bIns="0" rtlCol="0" anchor="t"/>
          <a:lstStyle/>
          <a:p>
            <a:pPr indent="0" marL="0">
              <a:buNone/>
            </a:pPr>
            <a:r>
              <a:rPr lang="en-US" sz="1300" b="1" dirty="0">
                <a:solidFill>
                  <a:srgbClr val="E5484D"/>
                </a:solidFill>
              </a:rPr>
              <a:t>ER-501</a:t>
            </a:r>
            <a:endParaRPr lang="en-US" sz="1300" dirty="0"/>
          </a:p>
        </p:txBody>
      </p:sp>
      <p:sp>
        <p:nvSpPr>
          <p:cNvPr id="31" name="Text 28"/>
          <p:cNvSpPr txBox="1"/>
          <p:nvPr/>
        </p:nvSpPr>
        <p:spPr>
          <a:xfrm>
            <a:off x="74980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Consent not active</a:t>
            </a:r>
            <a:endParaRPr lang="en-US" sz="1050" dirty="0"/>
          </a:p>
        </p:txBody>
      </p:sp>
      <p:sp>
        <p:nvSpPr>
          <p:cNvPr id="32" name="Text 29"/>
          <p:cNvSpPr txBox="1"/>
          <p:nvPr/>
        </p:nvSpPr>
        <p:spPr>
          <a:xfrm>
            <a:off x="74980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Program staff</a:t>
            </a:r>
            <a:endParaRPr lang="en-US" sz="1000" dirty="0"/>
          </a:p>
        </p:txBody>
      </p:sp>
      <p:sp>
        <p:nvSpPr>
          <p:cNvPr id="33" name="Shape 30"/>
          <p:cNvSpPr/>
          <p:nvPr/>
        </p:nvSpPr>
        <p:spPr>
          <a:xfrm>
            <a:off x="3053730" y="2606040"/>
            <a:ext cx="0" cy="548640"/>
          </a:xfrm>
          <a:prstGeom prst="line">
            <a:avLst/>
          </a:prstGeom>
          <a:noFill/>
          <a:ln w="19050">
            <a:solidFill>
              <a:srgbClr val="1E4FD8">
                <a:alpha val="70000"/>
              </a:srgbClr>
            </a:solidFill>
            <a:prstDash val="dash"/>
          </a:ln>
        </p:spPr>
      </p:sp>
      <p:sp>
        <p:nvSpPr>
          <p:cNvPr id="34" name="Shape 31"/>
          <p:cNvSpPr/>
          <p:nvPr/>
        </p:nvSpPr>
        <p:spPr>
          <a:xfrm>
            <a:off x="236793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5" name="Shape 32"/>
          <p:cNvSpPr/>
          <p:nvPr/>
        </p:nvSpPr>
        <p:spPr>
          <a:xfrm>
            <a:off x="2367930" y="3154680"/>
            <a:ext cx="1371600" cy="64008"/>
          </a:xfrm>
          <a:prstGeom prst="rect">
            <a:avLst/>
          </a:prstGeom>
          <a:solidFill>
            <a:srgbClr val="1E4FD8"/>
          </a:solidFill>
          <a:ln w="12700">
            <a:solidFill>
              <a:srgbClr val="1E4FD8"/>
            </a:solidFill>
            <a:prstDash val="solid"/>
          </a:ln>
        </p:spPr>
      </p:sp>
      <p:sp>
        <p:nvSpPr>
          <p:cNvPr id="36" name="Text 33"/>
          <p:cNvSpPr txBox="1"/>
          <p:nvPr/>
        </p:nvSpPr>
        <p:spPr>
          <a:xfrm>
            <a:off x="2477658" y="3310128"/>
            <a:ext cx="1188720" cy="274320"/>
          </a:xfrm>
          <a:prstGeom prst="rect">
            <a:avLst/>
          </a:prstGeom>
          <a:noFill/>
          <a:ln/>
        </p:spPr>
        <p:txBody>
          <a:bodyPr wrap="square" lIns="0" tIns="0" rIns="0" bIns="0" rtlCol="0" anchor="t"/>
          <a:lstStyle/>
          <a:p>
            <a:pPr indent="0" marL="0">
              <a:buNone/>
            </a:pPr>
            <a:r>
              <a:rPr lang="en-US" sz="1300" b="1" dirty="0">
                <a:solidFill>
                  <a:srgbClr val="1E4FD8"/>
                </a:solidFill>
              </a:rPr>
              <a:t>ER-503</a:t>
            </a:r>
            <a:endParaRPr lang="en-US" sz="1300" dirty="0"/>
          </a:p>
        </p:txBody>
      </p:sp>
      <p:sp>
        <p:nvSpPr>
          <p:cNvPr id="37" name="Text 34"/>
          <p:cNvSpPr txBox="1"/>
          <p:nvPr/>
        </p:nvSpPr>
        <p:spPr>
          <a:xfrm>
            <a:off x="247765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Medicine change request</a:t>
            </a:r>
            <a:endParaRPr lang="en-US" sz="1050" dirty="0"/>
          </a:p>
        </p:txBody>
      </p:sp>
      <p:sp>
        <p:nvSpPr>
          <p:cNvPr id="38" name="Text 35"/>
          <p:cNvSpPr txBox="1"/>
          <p:nvPr/>
        </p:nvSpPr>
        <p:spPr>
          <a:xfrm>
            <a:off x="247765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Clinician</a:t>
            </a:r>
            <a:endParaRPr lang="en-US" sz="1000" dirty="0"/>
          </a:p>
        </p:txBody>
      </p:sp>
      <p:sp>
        <p:nvSpPr>
          <p:cNvPr id="39" name="Shape 36"/>
          <p:cNvSpPr/>
          <p:nvPr/>
        </p:nvSpPr>
        <p:spPr>
          <a:xfrm>
            <a:off x="5988406" y="2606040"/>
            <a:ext cx="0" cy="548640"/>
          </a:xfrm>
          <a:prstGeom prst="line">
            <a:avLst/>
          </a:prstGeom>
          <a:noFill/>
          <a:ln w="19050">
            <a:solidFill>
              <a:srgbClr val="F5A524">
                <a:alpha val="70000"/>
              </a:srgbClr>
            </a:solidFill>
            <a:prstDash val="dash"/>
          </a:ln>
        </p:spPr>
      </p:sp>
      <p:sp>
        <p:nvSpPr>
          <p:cNvPr id="40" name="Shape 37"/>
          <p:cNvSpPr/>
          <p:nvPr/>
        </p:nvSpPr>
        <p:spPr>
          <a:xfrm>
            <a:off x="530260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1" name="Shape 38"/>
          <p:cNvSpPr/>
          <p:nvPr/>
        </p:nvSpPr>
        <p:spPr>
          <a:xfrm>
            <a:off x="5302606" y="3154680"/>
            <a:ext cx="1371600" cy="64008"/>
          </a:xfrm>
          <a:prstGeom prst="rect">
            <a:avLst/>
          </a:prstGeom>
          <a:solidFill>
            <a:srgbClr val="F5A524"/>
          </a:solidFill>
          <a:ln w="12700">
            <a:solidFill>
              <a:srgbClr val="F5A524"/>
            </a:solidFill>
            <a:prstDash val="solid"/>
          </a:ln>
        </p:spPr>
      </p:sp>
      <p:sp>
        <p:nvSpPr>
          <p:cNvPr id="42" name="Text 39"/>
          <p:cNvSpPr txBox="1"/>
          <p:nvPr/>
        </p:nvSpPr>
        <p:spPr>
          <a:xfrm>
            <a:off x="5412334" y="3310128"/>
            <a:ext cx="1188720" cy="274320"/>
          </a:xfrm>
          <a:prstGeom prst="rect">
            <a:avLst/>
          </a:prstGeom>
          <a:noFill/>
          <a:ln/>
        </p:spPr>
        <p:txBody>
          <a:bodyPr wrap="square" lIns="0" tIns="0" rIns="0" bIns="0" rtlCol="0" anchor="t"/>
          <a:lstStyle/>
          <a:p>
            <a:pPr indent="0" marL="0">
              <a:buNone/>
            </a:pPr>
            <a:r>
              <a:rPr lang="en-US" sz="1300" b="1" dirty="0">
                <a:solidFill>
                  <a:srgbClr val="F5A524"/>
                </a:solidFill>
              </a:rPr>
              <a:t>ER-502</a:t>
            </a:r>
            <a:endParaRPr lang="en-US" sz="1300" dirty="0"/>
          </a:p>
        </p:txBody>
      </p:sp>
      <p:sp>
        <p:nvSpPr>
          <p:cNvPr id="43" name="Text 40"/>
          <p:cNvSpPr txBox="1"/>
          <p:nvPr/>
        </p:nvSpPr>
        <p:spPr>
          <a:xfrm>
            <a:off x="541233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Test value matched</a:t>
            </a:r>
            <a:endParaRPr lang="en-US" sz="1050" dirty="0"/>
          </a:p>
        </p:txBody>
      </p:sp>
      <p:sp>
        <p:nvSpPr>
          <p:cNvPr id="44" name="Text 41"/>
          <p:cNvSpPr txBox="1"/>
          <p:nvPr/>
        </p:nvSpPr>
        <p:spPr>
          <a:xfrm>
            <a:off x="541233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Urgent staff review</a:t>
            </a:r>
            <a:endParaRPr lang="en-US" sz="1000" dirty="0"/>
          </a:p>
        </p:txBody>
      </p:sp>
      <p:sp>
        <p:nvSpPr>
          <p:cNvPr id="45" name="Shape 42"/>
          <p:cNvSpPr/>
          <p:nvPr/>
        </p:nvSpPr>
        <p:spPr>
          <a:xfrm>
            <a:off x="7944856" y="2606040"/>
            <a:ext cx="0" cy="548640"/>
          </a:xfrm>
          <a:prstGeom prst="line">
            <a:avLst/>
          </a:prstGeom>
          <a:noFill/>
          <a:ln w="19050">
            <a:solidFill>
              <a:srgbClr val="12B5B0">
                <a:alpha val="70000"/>
              </a:srgbClr>
            </a:solidFill>
            <a:prstDash val="dash"/>
          </a:ln>
        </p:spPr>
      </p:sp>
      <p:sp>
        <p:nvSpPr>
          <p:cNvPr id="46" name="Shape 43"/>
          <p:cNvSpPr/>
          <p:nvPr/>
        </p:nvSpPr>
        <p:spPr>
          <a:xfrm>
            <a:off x="725905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7" name="Shape 44"/>
          <p:cNvSpPr/>
          <p:nvPr/>
        </p:nvSpPr>
        <p:spPr>
          <a:xfrm>
            <a:off x="7259056" y="3154680"/>
            <a:ext cx="1371600" cy="64008"/>
          </a:xfrm>
          <a:prstGeom prst="rect">
            <a:avLst/>
          </a:prstGeom>
          <a:solidFill>
            <a:srgbClr val="12B5B0"/>
          </a:solidFill>
          <a:ln w="12700">
            <a:solidFill>
              <a:srgbClr val="12B5B0"/>
            </a:solidFill>
            <a:prstDash val="solid"/>
          </a:ln>
        </p:spPr>
      </p:sp>
      <p:sp>
        <p:nvSpPr>
          <p:cNvPr id="48" name="Text 45"/>
          <p:cNvSpPr txBox="1"/>
          <p:nvPr/>
        </p:nvSpPr>
        <p:spPr>
          <a:xfrm>
            <a:off x="7368784" y="3310128"/>
            <a:ext cx="1188720" cy="274320"/>
          </a:xfrm>
          <a:prstGeom prst="rect">
            <a:avLst/>
          </a:prstGeom>
          <a:noFill/>
          <a:ln/>
        </p:spPr>
        <p:txBody>
          <a:bodyPr wrap="square" lIns="0" tIns="0" rIns="0" bIns="0" rtlCol="0" anchor="t"/>
          <a:lstStyle/>
          <a:p>
            <a:pPr indent="0" marL="0">
              <a:buNone/>
            </a:pPr>
            <a:r>
              <a:rPr lang="en-US" sz="1300" b="1" dirty="0">
                <a:solidFill>
                  <a:srgbClr val="12B5B0"/>
                </a:solidFill>
              </a:rPr>
              <a:t>ER-504</a:t>
            </a:r>
            <a:endParaRPr lang="en-US" sz="1300" dirty="0"/>
          </a:p>
        </p:txBody>
      </p:sp>
      <p:sp>
        <p:nvSpPr>
          <p:cNvPr id="49" name="Text 46"/>
          <p:cNvSpPr txBox="1"/>
          <p:nvPr/>
        </p:nvSpPr>
        <p:spPr>
          <a:xfrm>
            <a:off x="736878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Readings or versions conflict</a:t>
            </a:r>
            <a:endParaRPr lang="en-US" sz="1050" dirty="0"/>
          </a:p>
        </p:txBody>
      </p:sp>
      <p:sp>
        <p:nvSpPr>
          <p:cNvPr id="50" name="Text 47"/>
          <p:cNvSpPr txBox="1"/>
          <p:nvPr/>
        </p:nvSpPr>
        <p:spPr>
          <a:xfrm>
            <a:off x="736878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Human review</a:t>
            </a:r>
            <a:endParaRPr lang="en-US" sz="1000" dirty="0"/>
          </a:p>
        </p:txBody>
      </p:sp>
      <p:sp>
        <p:nvSpPr>
          <p:cNvPr id="51" name="Shape 48"/>
          <p:cNvSpPr/>
          <p:nvPr/>
        </p:nvSpPr>
        <p:spPr>
          <a:xfrm>
            <a:off x="9575231" y="2606040"/>
            <a:ext cx="0" cy="548640"/>
          </a:xfrm>
          <a:prstGeom prst="line">
            <a:avLst/>
          </a:prstGeom>
          <a:noFill/>
          <a:ln w="19050">
            <a:solidFill>
              <a:srgbClr val="5E6C84">
                <a:alpha val="70000"/>
              </a:srgbClr>
            </a:solidFill>
            <a:prstDash val="dash"/>
          </a:ln>
        </p:spPr>
      </p:sp>
      <p:sp>
        <p:nvSpPr>
          <p:cNvPr id="52" name="Shape 49"/>
          <p:cNvSpPr/>
          <p:nvPr/>
        </p:nvSpPr>
        <p:spPr>
          <a:xfrm>
            <a:off x="8889431"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3" name="Shape 50"/>
          <p:cNvSpPr/>
          <p:nvPr/>
        </p:nvSpPr>
        <p:spPr>
          <a:xfrm>
            <a:off x="8889431" y="3154680"/>
            <a:ext cx="1371600" cy="64008"/>
          </a:xfrm>
          <a:prstGeom prst="rect">
            <a:avLst/>
          </a:prstGeom>
          <a:solidFill>
            <a:srgbClr val="5E6C84"/>
          </a:solidFill>
          <a:ln w="12700">
            <a:solidFill>
              <a:srgbClr val="5E6C84"/>
            </a:solidFill>
            <a:prstDash val="solid"/>
          </a:ln>
        </p:spPr>
      </p:sp>
      <p:sp>
        <p:nvSpPr>
          <p:cNvPr id="54" name="Text 51"/>
          <p:cNvSpPr txBox="1"/>
          <p:nvPr/>
        </p:nvSpPr>
        <p:spPr>
          <a:xfrm>
            <a:off x="8999159" y="3310128"/>
            <a:ext cx="1188720" cy="274320"/>
          </a:xfrm>
          <a:prstGeom prst="rect">
            <a:avLst/>
          </a:prstGeom>
          <a:noFill/>
          <a:ln/>
        </p:spPr>
        <p:txBody>
          <a:bodyPr wrap="square" lIns="0" tIns="0" rIns="0" bIns="0" rtlCol="0" anchor="t"/>
          <a:lstStyle/>
          <a:p>
            <a:pPr indent="0" marL="0">
              <a:buNone/>
            </a:pPr>
            <a:r>
              <a:rPr lang="en-US" sz="1300" b="1" dirty="0">
                <a:solidFill>
                  <a:srgbClr val="5E6C84"/>
                </a:solidFill>
              </a:rPr>
              <a:t>GAP</a:t>
            </a:r>
            <a:endParaRPr lang="en-US" sz="1300" dirty="0"/>
          </a:p>
        </p:txBody>
      </p:sp>
      <p:sp>
        <p:nvSpPr>
          <p:cNvPr id="55" name="Text 52"/>
          <p:cNvSpPr txBox="1"/>
          <p:nvPr/>
        </p:nvSpPr>
        <p:spPr>
          <a:xfrm>
            <a:off x="8999159"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No approved article</a:t>
            </a:r>
            <a:endParaRPr lang="en-US" sz="1050" dirty="0"/>
          </a:p>
        </p:txBody>
      </p:sp>
      <p:sp>
        <p:nvSpPr>
          <p:cNvPr id="56" name="Text 53"/>
          <p:cNvSpPr txBox="1"/>
          <p:nvPr/>
        </p:nvSpPr>
        <p:spPr>
          <a:xfrm>
            <a:off x="8999159"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Staff follow-up</a:t>
            </a:r>
            <a:endParaRPr lang="en-US" sz="1000" dirty="0"/>
          </a:p>
        </p:txBody>
      </p:sp>
      <p:sp>
        <p:nvSpPr>
          <p:cNvPr id="57" name="Shape 54"/>
          <p:cNvSpPr/>
          <p:nvPr/>
        </p:nvSpPr>
        <p:spPr>
          <a:xfrm>
            <a:off x="640080" y="4892040"/>
            <a:ext cx="10908792" cy="1005840"/>
          </a:xfrm>
          <a:prstGeom prst="rect">
            <a:avLst/>
          </a:prstGeom>
          <a:solidFill>
            <a:srgbClr val="0A1F5C"/>
          </a:solidFill>
          <a:ln w="12700">
            <a:solidFill>
              <a:srgbClr val="0A1F5C"/>
            </a:solidFill>
            <a:prstDash val="solid"/>
          </a:ln>
        </p:spPr>
      </p:sp>
      <p:sp>
        <p:nvSpPr>
          <p:cNvPr id="58" name="Text 55"/>
          <p:cNvSpPr txBox="1"/>
          <p:nvPr/>
        </p:nvSpPr>
        <p:spPr>
          <a:xfrm>
            <a:off x="960120" y="4892040"/>
            <a:ext cx="10241280" cy="1005840"/>
          </a:xfrm>
          <a:prstGeom prst="rect">
            <a:avLst/>
          </a:prstGeom>
          <a:noFill/>
          <a:ln/>
        </p:spPr>
        <p:txBody>
          <a:bodyPr wrap="square" lIns="0" tIns="0" rIns="0" bIns="0" rtlCol="0" anchor="ctr"/>
          <a:lstStyle/>
          <a:p>
            <a:pPr indent="0" marL="0">
              <a:buNone/>
            </a:pPr>
            <a:r>
              <a:rPr lang="en-US" sz="1700" b="1" dirty="0">
                <a:solidFill>
                  <a:srgbClr val="FFFFFF"/>
                </a:solidFill>
              </a:rPr>
              <a:t>Consent comes first. The question text is never stored, and every step is written to the audit log.</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07  ·  SAFETY RULES AND HAND-OFFS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Four rules, enforced in code rather than in prompts</a:t>
            </a:r>
            <a:endParaRPr lang="en-US" sz="2800" dirty="0"/>
          </a:p>
        </p:txBody>
      </p:sp>
      <p:sp>
        <p:nvSpPr>
          <p:cNvPr id="5" name="Text 2"/>
          <p:cNvSpPr txBox="1"/>
          <p:nvPr/>
        </p:nvSpPr>
        <p:spPr>
          <a:xfrm>
            <a:off x="868680" y="1737360"/>
            <a:ext cx="1188720" cy="274320"/>
          </a:xfrm>
          <a:prstGeom prst="rect">
            <a:avLst/>
          </a:prstGeom>
          <a:noFill/>
          <a:ln/>
        </p:spPr>
        <p:txBody>
          <a:bodyPr wrap="square" lIns="0" tIns="0" rIns="0" bIns="0" rtlCol="0" anchor="t"/>
          <a:lstStyle/>
          <a:p>
            <a:pPr indent="0" marL="0">
              <a:buNone/>
            </a:pPr>
            <a:r>
              <a:rPr lang="en-US" sz="1000" b="1" spc="300" kern="0" dirty="0">
                <a:solidFill>
                  <a:srgbClr val="3CC3F0"/>
                </a:solidFill>
              </a:rPr>
              <a:t>RULE</a:t>
            </a:r>
            <a:endParaRPr lang="en-US" sz="1000" dirty="0"/>
          </a:p>
        </p:txBody>
      </p:sp>
      <p:sp>
        <p:nvSpPr>
          <p:cNvPr id="6" name="Text 3"/>
          <p:cNvSpPr txBox="1"/>
          <p:nvPr/>
        </p:nvSpPr>
        <p:spPr>
          <a:xfrm>
            <a:off x="2423160" y="1737360"/>
            <a:ext cx="310896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WHEN IT FIRES</a:t>
            </a:r>
            <a:endParaRPr lang="en-US" sz="1000" dirty="0"/>
          </a:p>
        </p:txBody>
      </p:sp>
      <p:sp>
        <p:nvSpPr>
          <p:cNvPr id="7" name="Text 4"/>
          <p:cNvSpPr txBox="1"/>
          <p:nvPr/>
        </p:nvSpPr>
        <p:spPr>
          <a:xfrm>
            <a:off x="5897880" y="1737360"/>
            <a:ext cx="338328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WHAT THE SYSTEM DOES</a:t>
            </a:r>
            <a:endParaRPr lang="en-US" sz="1000" dirty="0"/>
          </a:p>
        </p:txBody>
      </p:sp>
      <p:sp>
        <p:nvSpPr>
          <p:cNvPr id="8" name="Text 5"/>
          <p:cNvSpPr txBox="1"/>
          <p:nvPr/>
        </p:nvSpPr>
        <p:spPr>
          <a:xfrm>
            <a:off x="9646920" y="1737360"/>
            <a:ext cx="1856232" cy="274320"/>
          </a:xfrm>
          <a:prstGeom prst="rect">
            <a:avLst/>
          </a:prstGeom>
          <a:noFill/>
          <a:ln/>
        </p:spPr>
        <p:txBody>
          <a:bodyPr wrap="square" lIns="0" tIns="0" rIns="0" bIns="0" rtlCol="0" anchor="t"/>
          <a:lstStyle/>
          <a:p>
            <a:pPr indent="0" marL="0">
              <a:buNone/>
            </a:pPr>
            <a:r>
              <a:rPr lang="en-US" sz="1000" b="1" spc="300" kern="0" dirty="0">
                <a:solidFill>
                  <a:srgbClr val="3CC3F0"/>
                </a:solidFill>
              </a:rPr>
              <a:t>WHO IS TOLD</a:t>
            </a:r>
            <a:endParaRPr lang="en-US" sz="1000" dirty="0"/>
          </a:p>
        </p:txBody>
      </p:sp>
      <p:sp>
        <p:nvSpPr>
          <p:cNvPr id="9" name="Shape 6"/>
          <p:cNvSpPr/>
          <p:nvPr/>
        </p:nvSpPr>
        <p:spPr>
          <a:xfrm>
            <a:off x="640080" y="2103120"/>
            <a:ext cx="10908792" cy="768096"/>
          </a:xfrm>
          <a:prstGeom prst="rect">
            <a:avLst/>
          </a:prstGeom>
          <a:solidFill>
            <a:srgbClr val="FFFFFF">
              <a:alpha val="10000"/>
            </a:srgbClr>
          </a:solidFill>
          <a:ln w="9525">
            <a:solidFill>
              <a:srgbClr val="FFFFFF">
                <a:alpha val="28000"/>
              </a:srgbClr>
            </a:solidFill>
            <a:prstDash val="solid"/>
          </a:ln>
        </p:spPr>
      </p:sp>
      <p:sp>
        <p:nvSpPr>
          <p:cNvPr id="10" name="Shape 7"/>
          <p:cNvSpPr/>
          <p:nvPr/>
        </p:nvSpPr>
        <p:spPr>
          <a:xfrm>
            <a:off x="640080" y="2103120"/>
            <a:ext cx="73152" cy="768096"/>
          </a:xfrm>
          <a:prstGeom prst="rect">
            <a:avLst/>
          </a:prstGeom>
          <a:solidFill>
            <a:srgbClr val="E5484D"/>
          </a:solidFill>
          <a:ln w="12700">
            <a:solidFill>
              <a:srgbClr val="E5484D"/>
            </a:solidFill>
            <a:prstDash val="solid"/>
          </a:ln>
        </p:spPr>
      </p:sp>
      <p:sp>
        <p:nvSpPr>
          <p:cNvPr id="11" name="Text 8"/>
          <p:cNvSpPr txBox="1"/>
          <p:nvPr/>
        </p:nvSpPr>
        <p:spPr>
          <a:xfrm>
            <a:off x="868680" y="2103120"/>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ER-501</a:t>
            </a:r>
            <a:endParaRPr lang="en-US" sz="2000" dirty="0"/>
          </a:p>
        </p:txBody>
      </p:sp>
      <p:sp>
        <p:nvSpPr>
          <p:cNvPr id="12" name="Text 9"/>
          <p:cNvSpPr txBox="1"/>
          <p:nvPr/>
        </p:nvSpPr>
        <p:spPr>
          <a:xfrm>
            <a:off x="2423160" y="2103120"/>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Consent is not active</a:t>
            </a:r>
            <a:endParaRPr lang="en-US" sz="1300" dirty="0"/>
          </a:p>
        </p:txBody>
      </p:sp>
      <p:sp>
        <p:nvSpPr>
          <p:cNvPr id="13" name="Text 10"/>
          <p:cNvSpPr txBox="1"/>
          <p:nvPr/>
        </p:nvSpPr>
        <p:spPr>
          <a:xfrm>
            <a:off x="5897880" y="2103120"/>
            <a:ext cx="3337560" cy="768096"/>
          </a:xfrm>
          <a:prstGeom prst="rect">
            <a:avLst/>
          </a:prstGeom>
          <a:noFill/>
          <a:ln/>
        </p:spPr>
        <p:txBody>
          <a:bodyPr wrap="square" lIns="0" tIns="0" rIns="0" bIns="0" rtlCol="0" anchor="ctr"/>
          <a:lstStyle/>
          <a:p>
            <a:pPr indent="0" marL="0">
              <a:buNone/>
            </a:pPr>
            <a:r>
              <a:rPr lang="en-US" sz="1300" dirty="0">
                <a:solidFill>
                  <a:srgbClr val="FFFFFF"/>
                </a:solidFill>
              </a:rPr>
              <a:t>Stops. Reads no data.</a:t>
            </a:r>
            <a:endParaRPr lang="en-US" sz="1300" dirty="0"/>
          </a:p>
        </p:txBody>
      </p:sp>
      <p:sp>
        <p:nvSpPr>
          <p:cNvPr id="14" name="Text 11"/>
          <p:cNvSpPr txBox="1"/>
          <p:nvPr/>
        </p:nvSpPr>
        <p:spPr>
          <a:xfrm>
            <a:off x="9646920" y="2103120"/>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Program staff</a:t>
            </a:r>
            <a:endParaRPr lang="en-US" sz="1300" dirty="0"/>
          </a:p>
        </p:txBody>
      </p:sp>
      <p:sp>
        <p:nvSpPr>
          <p:cNvPr id="15" name="Shape 12"/>
          <p:cNvSpPr/>
          <p:nvPr/>
        </p:nvSpPr>
        <p:spPr>
          <a:xfrm>
            <a:off x="640080" y="2999232"/>
            <a:ext cx="10908792" cy="768096"/>
          </a:xfrm>
          <a:prstGeom prst="rect">
            <a:avLst/>
          </a:prstGeom>
          <a:solidFill>
            <a:srgbClr val="FFFFFF">
              <a:alpha val="10000"/>
            </a:srgbClr>
          </a:solidFill>
          <a:ln w="9525">
            <a:solidFill>
              <a:srgbClr val="FFFFFF">
                <a:alpha val="28000"/>
              </a:srgbClr>
            </a:solidFill>
            <a:prstDash val="solid"/>
          </a:ln>
        </p:spPr>
      </p:sp>
      <p:sp>
        <p:nvSpPr>
          <p:cNvPr id="16" name="Shape 13"/>
          <p:cNvSpPr/>
          <p:nvPr/>
        </p:nvSpPr>
        <p:spPr>
          <a:xfrm>
            <a:off x="640080" y="2999232"/>
            <a:ext cx="73152" cy="768096"/>
          </a:xfrm>
          <a:prstGeom prst="rect">
            <a:avLst/>
          </a:prstGeom>
          <a:solidFill>
            <a:srgbClr val="F5A524"/>
          </a:solidFill>
          <a:ln w="12700">
            <a:solidFill>
              <a:srgbClr val="F5A524"/>
            </a:solidFill>
            <a:prstDash val="solid"/>
          </a:ln>
        </p:spPr>
      </p:sp>
      <p:sp>
        <p:nvSpPr>
          <p:cNvPr id="17" name="Text 14"/>
          <p:cNvSpPr txBox="1"/>
          <p:nvPr/>
        </p:nvSpPr>
        <p:spPr>
          <a:xfrm>
            <a:off x="868680" y="2999232"/>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ER-502</a:t>
            </a:r>
            <a:endParaRPr lang="en-US" sz="2000" dirty="0"/>
          </a:p>
        </p:txBody>
      </p:sp>
      <p:sp>
        <p:nvSpPr>
          <p:cNvPr id="18" name="Text 15"/>
          <p:cNvSpPr txBox="1"/>
          <p:nvPr/>
        </p:nvSpPr>
        <p:spPr>
          <a:xfrm>
            <a:off x="2423160" y="2999232"/>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Reading matches a configured test value</a:t>
            </a:r>
            <a:endParaRPr lang="en-US" sz="1300" dirty="0"/>
          </a:p>
        </p:txBody>
      </p:sp>
      <p:sp>
        <p:nvSpPr>
          <p:cNvPr id="19" name="Text 16"/>
          <p:cNvSpPr txBox="1"/>
          <p:nvPr/>
        </p:nvSpPr>
        <p:spPr>
          <a:xfrm>
            <a:off x="5897880" y="2999232"/>
            <a:ext cx="3337560" cy="768096"/>
          </a:xfrm>
          <a:prstGeom prst="rect">
            <a:avLst/>
          </a:prstGeom>
          <a:noFill/>
          <a:ln/>
        </p:spPr>
        <p:txBody>
          <a:bodyPr wrap="square" lIns="0" tIns="0" rIns="0" bIns="0" rtlCol="0" anchor="ctr"/>
          <a:lstStyle/>
          <a:p>
            <a:pPr indent="0" marL="0">
              <a:buNone/>
            </a:pPr>
            <a:r>
              <a:rPr lang="en-US" sz="1300" dirty="0">
                <a:solidFill>
                  <a:srgbClr val="FFFFFF"/>
                </a:solidFill>
              </a:rPr>
              <a:t>Urgent record. No interpretation.</a:t>
            </a:r>
            <a:endParaRPr lang="en-US" sz="1300" dirty="0"/>
          </a:p>
        </p:txBody>
      </p:sp>
      <p:sp>
        <p:nvSpPr>
          <p:cNvPr id="20" name="Text 17"/>
          <p:cNvSpPr txBox="1"/>
          <p:nvPr/>
        </p:nvSpPr>
        <p:spPr>
          <a:xfrm>
            <a:off x="9646920" y="2999232"/>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urgent review</a:t>
            </a:r>
            <a:endParaRPr lang="en-US" sz="1300" dirty="0"/>
          </a:p>
        </p:txBody>
      </p:sp>
      <p:sp>
        <p:nvSpPr>
          <p:cNvPr id="21" name="Shape 18"/>
          <p:cNvSpPr/>
          <p:nvPr/>
        </p:nvSpPr>
        <p:spPr>
          <a:xfrm>
            <a:off x="640080" y="3895344"/>
            <a:ext cx="10908792" cy="768096"/>
          </a:xfrm>
          <a:prstGeom prst="rect">
            <a:avLst/>
          </a:prstGeom>
          <a:solidFill>
            <a:srgbClr val="FFFFFF">
              <a:alpha val="10000"/>
            </a:srgbClr>
          </a:solidFill>
          <a:ln w="9525">
            <a:solidFill>
              <a:srgbClr val="FFFFFF">
                <a:alpha val="28000"/>
              </a:srgbClr>
            </a:solidFill>
            <a:prstDash val="solid"/>
          </a:ln>
        </p:spPr>
      </p:sp>
      <p:sp>
        <p:nvSpPr>
          <p:cNvPr id="22" name="Shape 19"/>
          <p:cNvSpPr/>
          <p:nvPr/>
        </p:nvSpPr>
        <p:spPr>
          <a:xfrm>
            <a:off x="640080" y="3895344"/>
            <a:ext cx="73152" cy="768096"/>
          </a:xfrm>
          <a:prstGeom prst="rect">
            <a:avLst/>
          </a:prstGeom>
          <a:solidFill>
            <a:srgbClr val="3CC3F0"/>
          </a:solidFill>
          <a:ln w="12700">
            <a:solidFill>
              <a:srgbClr val="3CC3F0"/>
            </a:solidFill>
            <a:prstDash val="solid"/>
          </a:ln>
        </p:spPr>
      </p:sp>
      <p:sp>
        <p:nvSpPr>
          <p:cNvPr id="23" name="Text 20"/>
          <p:cNvSpPr txBox="1"/>
          <p:nvPr/>
        </p:nvSpPr>
        <p:spPr>
          <a:xfrm>
            <a:off x="868680" y="3895344"/>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ER-503</a:t>
            </a:r>
            <a:endParaRPr lang="en-US" sz="2000" dirty="0"/>
          </a:p>
        </p:txBody>
      </p:sp>
      <p:sp>
        <p:nvSpPr>
          <p:cNvPr id="24" name="Text 21"/>
          <p:cNvSpPr txBox="1"/>
          <p:nvPr/>
        </p:nvSpPr>
        <p:spPr>
          <a:xfrm>
            <a:off x="2423160" y="3895344"/>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Request to start, stop or change a medicine</a:t>
            </a:r>
            <a:endParaRPr lang="en-US" sz="1300" dirty="0"/>
          </a:p>
        </p:txBody>
      </p:sp>
      <p:sp>
        <p:nvSpPr>
          <p:cNvPr id="25" name="Text 22"/>
          <p:cNvSpPr txBox="1"/>
          <p:nvPr/>
        </p:nvSpPr>
        <p:spPr>
          <a:xfrm>
            <a:off x="5897880" y="3895344"/>
            <a:ext cx="3337560" cy="768096"/>
          </a:xfrm>
          <a:prstGeom prst="rect">
            <a:avLst/>
          </a:prstGeom>
          <a:noFill/>
          <a:ln/>
        </p:spPr>
        <p:txBody>
          <a:bodyPr wrap="square" lIns="0" tIns="0" rIns="0" bIns="0" rtlCol="0" anchor="ctr"/>
          <a:lstStyle/>
          <a:p>
            <a:pPr indent="0" marL="0">
              <a:buNone/>
            </a:pPr>
            <a:r>
              <a:rPr lang="en-US" sz="1300" dirty="0">
                <a:solidFill>
                  <a:srgbClr val="FFFFFF"/>
                </a:solidFill>
              </a:rPr>
              <a:t>Declines politely and refers.</a:t>
            </a:r>
            <a:endParaRPr lang="en-US" sz="1300" dirty="0"/>
          </a:p>
        </p:txBody>
      </p:sp>
      <p:sp>
        <p:nvSpPr>
          <p:cNvPr id="26" name="Text 23"/>
          <p:cNvSpPr txBox="1"/>
          <p:nvPr/>
        </p:nvSpPr>
        <p:spPr>
          <a:xfrm>
            <a:off x="9646920" y="3895344"/>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Qualified clinician</a:t>
            </a:r>
            <a:endParaRPr lang="en-US" sz="1300" dirty="0"/>
          </a:p>
        </p:txBody>
      </p:sp>
      <p:sp>
        <p:nvSpPr>
          <p:cNvPr id="27" name="Shape 24"/>
          <p:cNvSpPr/>
          <p:nvPr/>
        </p:nvSpPr>
        <p:spPr>
          <a:xfrm>
            <a:off x="640080" y="4791456"/>
            <a:ext cx="10908792" cy="768096"/>
          </a:xfrm>
          <a:prstGeom prst="rect">
            <a:avLst/>
          </a:prstGeom>
          <a:solidFill>
            <a:srgbClr val="FFFFFF">
              <a:alpha val="10000"/>
            </a:srgbClr>
          </a:solidFill>
          <a:ln w="9525">
            <a:solidFill>
              <a:srgbClr val="FFFFFF">
                <a:alpha val="28000"/>
              </a:srgbClr>
            </a:solidFill>
            <a:prstDash val="solid"/>
          </a:ln>
        </p:spPr>
      </p:sp>
      <p:sp>
        <p:nvSpPr>
          <p:cNvPr id="28" name="Shape 25"/>
          <p:cNvSpPr/>
          <p:nvPr/>
        </p:nvSpPr>
        <p:spPr>
          <a:xfrm>
            <a:off x="640080" y="4791456"/>
            <a:ext cx="73152" cy="768096"/>
          </a:xfrm>
          <a:prstGeom prst="rect">
            <a:avLst/>
          </a:prstGeom>
          <a:solidFill>
            <a:srgbClr val="12B5B0"/>
          </a:solidFill>
          <a:ln w="12700">
            <a:solidFill>
              <a:srgbClr val="12B5B0"/>
            </a:solidFill>
            <a:prstDash val="solid"/>
          </a:ln>
        </p:spPr>
      </p:sp>
      <p:sp>
        <p:nvSpPr>
          <p:cNvPr id="29" name="Text 26"/>
          <p:cNvSpPr txBox="1"/>
          <p:nvPr/>
        </p:nvSpPr>
        <p:spPr>
          <a:xfrm>
            <a:off x="868680" y="4791456"/>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ER-504</a:t>
            </a:r>
            <a:endParaRPr lang="en-US" sz="2000" dirty="0"/>
          </a:p>
        </p:txBody>
      </p:sp>
      <p:sp>
        <p:nvSpPr>
          <p:cNvPr id="30" name="Text 27"/>
          <p:cNvSpPr txBox="1"/>
          <p:nvPr/>
        </p:nvSpPr>
        <p:spPr>
          <a:xfrm>
            <a:off x="2423160" y="4791456"/>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Contradictory readings or source version</a:t>
            </a:r>
            <a:endParaRPr lang="en-US" sz="1300" dirty="0"/>
          </a:p>
        </p:txBody>
      </p:sp>
      <p:sp>
        <p:nvSpPr>
          <p:cNvPr id="31" name="Text 28"/>
          <p:cNvSpPr txBox="1"/>
          <p:nvPr/>
        </p:nvSpPr>
        <p:spPr>
          <a:xfrm>
            <a:off x="5897880" y="4791456"/>
            <a:ext cx="3337560" cy="768096"/>
          </a:xfrm>
          <a:prstGeom prst="rect">
            <a:avLst/>
          </a:prstGeom>
          <a:noFill/>
          <a:ln/>
        </p:spPr>
        <p:txBody>
          <a:bodyPr wrap="square" lIns="0" tIns="0" rIns="0" bIns="0" rtlCol="0" anchor="ctr"/>
          <a:lstStyle/>
          <a:p>
            <a:pPr indent="0" marL="0">
              <a:buNone/>
            </a:pPr>
            <a:r>
              <a:rPr lang="en-US" sz="1300" dirty="0">
                <a:solidFill>
                  <a:srgbClr val="FFFFFF"/>
                </a:solidFill>
              </a:rPr>
              <a:t>Marks uncertainty. No conclusion.</a:t>
            </a:r>
            <a:endParaRPr lang="en-US" sz="1300" dirty="0"/>
          </a:p>
        </p:txBody>
      </p:sp>
      <p:sp>
        <p:nvSpPr>
          <p:cNvPr id="32" name="Text 29"/>
          <p:cNvSpPr txBox="1"/>
          <p:nvPr/>
        </p:nvSpPr>
        <p:spPr>
          <a:xfrm>
            <a:off x="9646920" y="4791456"/>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human review</a:t>
            </a:r>
            <a:endParaRPr lang="en-US" sz="1300" dirty="0"/>
          </a:p>
        </p:txBody>
      </p:sp>
      <p:sp>
        <p:nvSpPr>
          <p:cNvPr id="33" name="Text 30"/>
          <p:cNvSpPr txBox="1"/>
          <p:nvPr/>
        </p:nvSpPr>
        <p:spPr>
          <a:xfrm>
            <a:off x="640080" y="5806440"/>
            <a:ext cx="10908792" cy="320040"/>
          </a:xfrm>
          <a:prstGeom prst="rect">
            <a:avLst/>
          </a:prstGeom>
          <a:noFill/>
          <a:ln/>
        </p:spPr>
        <p:txBody>
          <a:bodyPr wrap="square" lIns="0" tIns="0" rIns="0" bIns="0" rtlCol="0" anchor="t"/>
          <a:lstStyle/>
          <a:p>
            <a:pPr indent="0" marL="0">
              <a:buNone/>
            </a:pPr>
            <a:r>
              <a:rPr lang="en-US" sz="1200" dirty="0">
                <a:solidFill>
                  <a:srgbClr val="C9D8F2"/>
                </a:solidFill>
              </a:rPr>
              <a:t>No approved article: the gap is stated and staff follow up.  Thresholds are placeholders that clinicians own in production.</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08  ·  APPROVED KNOWLEDGE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Education answers come only from approved articles</a:t>
            </a:r>
            <a:endParaRPr lang="en-US" sz="2800" dirty="0"/>
          </a:p>
        </p:txBody>
      </p:sp>
      <p:sp>
        <p:nvSpPr>
          <p:cNvPr id="5" name="Text 2"/>
          <p:cNvSpPr txBox="1"/>
          <p:nvPr/>
        </p:nvSpPr>
        <p:spPr>
          <a:xfrm>
            <a:off x="640080" y="1737360"/>
            <a:ext cx="2743200" cy="274320"/>
          </a:xfrm>
          <a:prstGeom prst="rect">
            <a:avLst/>
          </a:prstGeom>
          <a:noFill/>
          <a:ln/>
        </p:spPr>
        <p:txBody>
          <a:bodyPr wrap="square" lIns="0" tIns="0" rIns="0" bIns="0" rtlCol="0" anchor="t"/>
          <a:lstStyle/>
          <a:p>
            <a:pPr indent="0" marL="0">
              <a:buNone/>
            </a:pPr>
            <a:r>
              <a:rPr lang="en-US" sz="1000" b="1" spc="300" kern="0" dirty="0">
                <a:solidFill>
                  <a:srgbClr val="1E4FD8"/>
                </a:solidFill>
              </a:rPr>
              <a:t>ARTICLE LIFECYCLE</a:t>
            </a:r>
            <a:endParaRPr lang="en-US" sz="1000" dirty="0"/>
          </a:p>
        </p:txBody>
      </p:sp>
      <p:sp>
        <p:nvSpPr>
          <p:cNvPr id="6" name="Shape 3"/>
          <p:cNvSpPr/>
          <p:nvPr/>
        </p:nvSpPr>
        <p:spPr>
          <a:xfrm>
            <a:off x="640080" y="2103120"/>
            <a:ext cx="1280160" cy="329184"/>
          </a:xfrm>
          <a:prstGeom prst="roundRect">
            <a:avLst>
              <a:gd name="adj" fmla="val 50000"/>
            </a:avLst>
          </a:prstGeom>
          <a:solidFill>
            <a:srgbClr val="5E6C84"/>
          </a:solidFill>
          <a:ln w="12700">
            <a:solidFill>
              <a:srgbClr val="5E6C84"/>
            </a:solidFill>
            <a:prstDash val="solid"/>
          </a:ln>
        </p:spPr>
      </p:sp>
      <p:sp>
        <p:nvSpPr>
          <p:cNvPr id="7" name="Text 4"/>
          <p:cNvSpPr txBox="1"/>
          <p:nvPr/>
        </p:nvSpPr>
        <p:spPr>
          <a:xfrm>
            <a:off x="64008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Draft</a:t>
            </a:r>
            <a:endParaRPr lang="en-US" sz="1100" dirty="0"/>
          </a:p>
        </p:txBody>
      </p:sp>
      <p:sp>
        <p:nvSpPr>
          <p:cNvPr id="8" name="Shape 5"/>
          <p:cNvSpPr/>
          <p:nvPr/>
        </p:nvSpPr>
        <p:spPr>
          <a:xfrm>
            <a:off x="2057400" y="2103120"/>
            <a:ext cx="1280160" cy="329184"/>
          </a:xfrm>
          <a:prstGeom prst="roundRect">
            <a:avLst>
              <a:gd name="adj" fmla="val 50000"/>
            </a:avLst>
          </a:prstGeom>
          <a:solidFill>
            <a:srgbClr val="22B573"/>
          </a:solidFill>
          <a:ln w="12700">
            <a:solidFill>
              <a:srgbClr val="22B573"/>
            </a:solidFill>
            <a:prstDash val="solid"/>
          </a:ln>
        </p:spPr>
      </p:sp>
      <p:sp>
        <p:nvSpPr>
          <p:cNvPr id="9" name="Text 6"/>
          <p:cNvSpPr txBox="1"/>
          <p:nvPr/>
        </p:nvSpPr>
        <p:spPr>
          <a:xfrm>
            <a:off x="205740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Approved</a:t>
            </a:r>
            <a:endParaRPr lang="en-US" sz="1100" dirty="0"/>
          </a:p>
        </p:txBody>
      </p:sp>
      <p:sp>
        <p:nvSpPr>
          <p:cNvPr id="10" name="Shape 7"/>
          <p:cNvSpPr/>
          <p:nvPr/>
        </p:nvSpPr>
        <p:spPr>
          <a:xfrm>
            <a:off x="3474720" y="2103120"/>
            <a:ext cx="1280160" cy="329184"/>
          </a:xfrm>
          <a:prstGeom prst="roundRect">
            <a:avLst>
              <a:gd name="adj" fmla="val 50000"/>
            </a:avLst>
          </a:prstGeom>
          <a:solidFill>
            <a:srgbClr val="E5484D"/>
          </a:solidFill>
          <a:ln w="12700">
            <a:solidFill>
              <a:srgbClr val="E5484D"/>
            </a:solidFill>
            <a:prstDash val="solid"/>
          </a:ln>
        </p:spPr>
      </p:sp>
      <p:sp>
        <p:nvSpPr>
          <p:cNvPr id="11" name="Text 8"/>
          <p:cNvSpPr txBox="1"/>
          <p:nvPr/>
        </p:nvSpPr>
        <p:spPr>
          <a:xfrm>
            <a:off x="347472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Retired</a:t>
            </a:r>
            <a:endParaRPr lang="en-US" sz="1100" dirty="0"/>
          </a:p>
        </p:txBody>
      </p:sp>
      <p:sp>
        <p:nvSpPr>
          <p:cNvPr id="12" name="Text 9"/>
          <p:cNvSpPr txBox="1"/>
          <p:nvPr/>
        </p:nvSpPr>
        <p:spPr>
          <a:xfrm>
            <a:off x="5486400" y="2103120"/>
            <a:ext cx="6035040" cy="329184"/>
          </a:xfrm>
          <a:prstGeom prst="rect">
            <a:avLst/>
          </a:prstGeom>
          <a:noFill/>
          <a:ln/>
        </p:spPr>
        <p:txBody>
          <a:bodyPr wrap="square" lIns="0" tIns="0" rIns="0" bIns="0" rtlCol="0" anchor="ctr"/>
          <a:lstStyle/>
          <a:p>
            <a:pPr indent="0" marL="0">
              <a:buNone/>
            </a:pPr>
            <a:r>
              <a:rPr lang="en-US" sz="1200" dirty="0">
                <a:solidFill>
                  <a:srgbClr val="5E6C84"/>
                </a:solidFill>
              </a:rPr>
              <a:t>Only Approved versions leave the authoring folder.</a:t>
            </a:r>
            <a:endParaRPr lang="en-US" sz="1200" dirty="0"/>
          </a:p>
        </p:txBody>
      </p:sp>
      <p:sp>
        <p:nvSpPr>
          <p:cNvPr id="13" name="Shape 10"/>
          <p:cNvSpPr/>
          <p:nvPr/>
        </p:nvSpPr>
        <p:spPr>
          <a:xfrm>
            <a:off x="64008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2743200"/>
            <a:ext cx="2514600" cy="0"/>
          </a:xfrm>
          <a:prstGeom prst="line">
            <a:avLst/>
          </a:prstGeom>
          <a:noFill/>
          <a:ln w="38100">
            <a:solidFill>
              <a:srgbClr val="1E4FD8"/>
            </a:solidFill>
            <a:prstDash val="solid"/>
          </a:ln>
        </p:spPr>
      </p:sp>
      <p:sp>
        <p:nvSpPr>
          <p:cNvPr id="15" name="Text 12"/>
          <p:cNvSpPr txBox="1"/>
          <p:nvPr/>
        </p:nvSpPr>
        <p:spPr>
          <a:xfrm>
            <a:off x="86868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01</a:t>
            </a:r>
            <a:endParaRPr lang="en-US" sz="1800" dirty="0"/>
          </a:p>
        </p:txBody>
      </p:sp>
      <p:sp>
        <p:nvSpPr>
          <p:cNvPr id="16" name="Text 13"/>
          <p:cNvSpPr txBox="1"/>
          <p:nvPr/>
        </p:nvSpPr>
        <p:spPr>
          <a:xfrm>
            <a:off x="86868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Blob Storage</a:t>
            </a:r>
            <a:endParaRPr lang="en-US" sz="1500" dirty="0"/>
          </a:p>
        </p:txBody>
      </p:sp>
      <p:sp>
        <p:nvSpPr>
          <p:cNvPr id="17" name="Text 14"/>
          <p:cNvSpPr txBox="1"/>
          <p:nvPr/>
        </p:nvSpPr>
        <p:spPr>
          <a:xfrm>
            <a:off x="86868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Approved versions only</a:t>
            </a:r>
            <a:endParaRPr lang="en-US" sz="1200" dirty="0"/>
          </a:p>
        </p:txBody>
      </p:sp>
      <p:sp>
        <p:nvSpPr>
          <p:cNvPr id="18" name="Shape 15"/>
          <p:cNvSpPr/>
          <p:nvPr/>
        </p:nvSpPr>
        <p:spPr>
          <a:xfrm>
            <a:off x="3154680" y="3456432"/>
            <a:ext cx="274320" cy="0"/>
          </a:xfrm>
          <a:prstGeom prst="line">
            <a:avLst/>
          </a:prstGeom>
          <a:noFill/>
          <a:ln w="22225">
            <a:solidFill>
              <a:srgbClr val="1E4FD8"/>
            </a:solidFill>
            <a:prstDash val="solid"/>
            <a:tailEnd type="triangle"/>
          </a:ln>
        </p:spPr>
      </p:sp>
      <p:sp>
        <p:nvSpPr>
          <p:cNvPr id="19" name="Shape 16"/>
          <p:cNvSpPr/>
          <p:nvPr/>
        </p:nvSpPr>
        <p:spPr>
          <a:xfrm>
            <a:off x="342900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3429000" y="2743200"/>
            <a:ext cx="2514600" cy="0"/>
          </a:xfrm>
          <a:prstGeom prst="line">
            <a:avLst/>
          </a:prstGeom>
          <a:noFill/>
          <a:ln w="38100">
            <a:solidFill>
              <a:srgbClr val="1E4FD8"/>
            </a:solidFill>
            <a:prstDash val="solid"/>
          </a:ln>
        </p:spPr>
      </p:sp>
      <p:sp>
        <p:nvSpPr>
          <p:cNvPr id="21" name="Text 18"/>
          <p:cNvSpPr txBox="1"/>
          <p:nvPr/>
        </p:nvSpPr>
        <p:spPr>
          <a:xfrm>
            <a:off x="365760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02</a:t>
            </a:r>
            <a:endParaRPr lang="en-US" sz="1800" dirty="0"/>
          </a:p>
        </p:txBody>
      </p:sp>
      <p:sp>
        <p:nvSpPr>
          <p:cNvPr id="22" name="Text 19"/>
          <p:cNvSpPr txBox="1"/>
          <p:nvPr/>
        </p:nvSpPr>
        <p:spPr>
          <a:xfrm>
            <a:off x="365760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AI Search index</a:t>
            </a:r>
            <a:endParaRPr lang="en-US" sz="1500" dirty="0"/>
          </a:p>
        </p:txBody>
      </p:sp>
      <p:sp>
        <p:nvSpPr>
          <p:cNvPr id="23" name="Text 20"/>
          <p:cNvSpPr txBox="1"/>
          <p:nvPr/>
        </p:nvSpPr>
        <p:spPr>
          <a:xfrm>
            <a:off x="365760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Embeddings + semantic ranking</a:t>
            </a:r>
            <a:endParaRPr lang="en-US" sz="1200" dirty="0"/>
          </a:p>
        </p:txBody>
      </p:sp>
      <p:sp>
        <p:nvSpPr>
          <p:cNvPr id="24" name="Shape 21"/>
          <p:cNvSpPr/>
          <p:nvPr/>
        </p:nvSpPr>
        <p:spPr>
          <a:xfrm>
            <a:off x="5943600" y="3456432"/>
            <a:ext cx="274320" cy="0"/>
          </a:xfrm>
          <a:prstGeom prst="line">
            <a:avLst/>
          </a:prstGeom>
          <a:noFill/>
          <a:ln w="22225">
            <a:solidFill>
              <a:srgbClr val="1E4FD8"/>
            </a:solidFill>
            <a:prstDash val="solid"/>
            <a:tailEnd type="triangle"/>
          </a:ln>
        </p:spPr>
      </p:sp>
      <p:sp>
        <p:nvSpPr>
          <p:cNvPr id="25" name="Shape 22"/>
          <p:cNvSpPr/>
          <p:nvPr/>
        </p:nvSpPr>
        <p:spPr>
          <a:xfrm>
            <a:off x="621792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6217920" y="2743200"/>
            <a:ext cx="2514600" cy="0"/>
          </a:xfrm>
          <a:prstGeom prst="line">
            <a:avLst/>
          </a:prstGeom>
          <a:noFill/>
          <a:ln w="38100">
            <a:solidFill>
              <a:srgbClr val="1E4FD8"/>
            </a:solidFill>
            <a:prstDash val="solid"/>
          </a:ln>
        </p:spPr>
      </p:sp>
      <p:sp>
        <p:nvSpPr>
          <p:cNvPr id="27" name="Text 24"/>
          <p:cNvSpPr txBox="1"/>
          <p:nvPr/>
        </p:nvSpPr>
        <p:spPr>
          <a:xfrm>
            <a:off x="644652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03</a:t>
            </a:r>
            <a:endParaRPr lang="en-US" sz="1800" dirty="0"/>
          </a:p>
        </p:txBody>
      </p:sp>
      <p:sp>
        <p:nvSpPr>
          <p:cNvPr id="28" name="Text 25"/>
          <p:cNvSpPr txBox="1"/>
          <p:nvPr/>
        </p:nvSpPr>
        <p:spPr>
          <a:xfrm>
            <a:off x="644652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Education agent</a:t>
            </a:r>
            <a:endParaRPr lang="en-US" sz="1500" dirty="0"/>
          </a:p>
        </p:txBody>
      </p:sp>
      <p:sp>
        <p:nvSpPr>
          <p:cNvPr id="29" name="Text 26"/>
          <p:cNvSpPr txBox="1"/>
          <p:nvPr/>
        </p:nvSpPr>
        <p:spPr>
          <a:xfrm>
            <a:off x="644652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Searches, answers with citations</a:t>
            </a:r>
            <a:endParaRPr lang="en-US" sz="1200" dirty="0"/>
          </a:p>
        </p:txBody>
      </p:sp>
      <p:sp>
        <p:nvSpPr>
          <p:cNvPr id="30" name="Shape 27"/>
          <p:cNvSpPr/>
          <p:nvPr/>
        </p:nvSpPr>
        <p:spPr>
          <a:xfrm>
            <a:off x="8732520" y="3456432"/>
            <a:ext cx="274320" cy="0"/>
          </a:xfrm>
          <a:prstGeom prst="line">
            <a:avLst/>
          </a:prstGeom>
          <a:noFill/>
          <a:ln w="22225">
            <a:solidFill>
              <a:srgbClr val="1E4FD8"/>
            </a:solidFill>
            <a:prstDash val="solid"/>
            <a:tailEnd type="triangle"/>
          </a:ln>
        </p:spPr>
      </p:sp>
      <p:sp>
        <p:nvSpPr>
          <p:cNvPr id="31" name="Shape 28"/>
          <p:cNvSpPr/>
          <p:nvPr/>
        </p:nvSpPr>
        <p:spPr>
          <a:xfrm>
            <a:off x="900684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2" name="Shape 29"/>
          <p:cNvSpPr/>
          <p:nvPr/>
        </p:nvSpPr>
        <p:spPr>
          <a:xfrm>
            <a:off x="9006840" y="2743200"/>
            <a:ext cx="2514600" cy="0"/>
          </a:xfrm>
          <a:prstGeom prst="line">
            <a:avLst/>
          </a:prstGeom>
          <a:noFill/>
          <a:ln w="38100">
            <a:solidFill>
              <a:srgbClr val="1E4FD8"/>
            </a:solidFill>
            <a:prstDash val="solid"/>
          </a:ln>
        </p:spPr>
      </p:sp>
      <p:sp>
        <p:nvSpPr>
          <p:cNvPr id="33" name="Text 30"/>
          <p:cNvSpPr txBox="1"/>
          <p:nvPr/>
        </p:nvSpPr>
        <p:spPr>
          <a:xfrm>
            <a:off x="923544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04</a:t>
            </a:r>
            <a:endParaRPr lang="en-US" sz="1800" dirty="0"/>
          </a:p>
        </p:txBody>
      </p:sp>
      <p:sp>
        <p:nvSpPr>
          <p:cNvPr id="34" name="Text 31"/>
          <p:cNvSpPr txBox="1"/>
          <p:nvPr/>
        </p:nvSpPr>
        <p:spPr>
          <a:xfrm>
            <a:off x="923544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Citation check</a:t>
            </a:r>
            <a:endParaRPr lang="en-US" sz="1500" dirty="0"/>
          </a:p>
        </p:txBody>
      </p:sp>
      <p:sp>
        <p:nvSpPr>
          <p:cNvPr id="35" name="Text 32"/>
          <p:cNvSpPr txBox="1"/>
          <p:nvPr/>
        </p:nvSpPr>
        <p:spPr>
          <a:xfrm>
            <a:off x="923544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Id, version and program verified in code</a:t>
            </a:r>
            <a:endParaRPr lang="en-US" sz="1200" dirty="0"/>
          </a:p>
        </p:txBody>
      </p:sp>
      <p:sp>
        <p:nvSpPr>
          <p:cNvPr id="36" name="Shape 33"/>
          <p:cNvSpPr/>
          <p:nvPr/>
        </p:nvSpPr>
        <p:spPr>
          <a:xfrm>
            <a:off x="640080" y="4526280"/>
            <a:ext cx="5349240" cy="1371600"/>
          </a:xfrm>
          <a:prstGeom prst="rect">
            <a:avLst/>
          </a:prstGeom>
          <a:solidFill>
            <a:srgbClr val="F1FAF5"/>
          </a:solidFill>
          <a:ln w="12700">
            <a:solidFill>
              <a:srgbClr val="22B573"/>
            </a:solidFill>
            <a:prstDash val="solid"/>
          </a:ln>
        </p:spPr>
      </p:sp>
      <p:sp>
        <p:nvSpPr>
          <p:cNvPr id="37" name="Text 34"/>
          <p:cNvSpPr txBox="1"/>
          <p:nvPr/>
        </p:nvSpPr>
        <p:spPr>
          <a:xfrm>
            <a:off x="914400" y="4663440"/>
            <a:ext cx="4572000" cy="320040"/>
          </a:xfrm>
          <a:prstGeom prst="rect">
            <a:avLst/>
          </a:prstGeom>
          <a:noFill/>
          <a:ln/>
        </p:spPr>
        <p:txBody>
          <a:bodyPr wrap="square" lIns="0" tIns="0" rIns="0" bIns="0" rtlCol="0" anchor="t"/>
          <a:lstStyle/>
          <a:p>
            <a:pPr indent="0" marL="0">
              <a:buNone/>
            </a:pPr>
            <a:r>
              <a:rPr lang="en-US" sz="1500" b="1" dirty="0">
                <a:solidFill>
                  <a:srgbClr val="22B573"/>
                </a:solidFill>
              </a:rPr>
              <a:t>Citation passes</a:t>
            </a:r>
            <a:endParaRPr lang="en-US" sz="1500" dirty="0"/>
          </a:p>
        </p:txBody>
      </p:sp>
      <p:sp>
        <p:nvSpPr>
          <p:cNvPr id="38" name="Text 35"/>
          <p:cNvSpPr txBox="1"/>
          <p:nvPr/>
        </p:nvSpPr>
        <p:spPr>
          <a:xfrm>
            <a:off x="914400"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member sees the answer with a Sources line (article id and version) and the educational-use notice.</a:t>
            </a:r>
            <a:endParaRPr lang="en-US" sz="1200" dirty="0"/>
          </a:p>
        </p:txBody>
      </p:sp>
      <p:sp>
        <p:nvSpPr>
          <p:cNvPr id="39" name="Shape 36"/>
          <p:cNvSpPr/>
          <p:nvPr/>
        </p:nvSpPr>
        <p:spPr>
          <a:xfrm>
            <a:off x="6199632" y="4526280"/>
            <a:ext cx="5349240" cy="1371600"/>
          </a:xfrm>
          <a:prstGeom prst="rect">
            <a:avLst/>
          </a:prstGeom>
          <a:solidFill>
            <a:srgbClr val="FEF6E7"/>
          </a:solidFill>
          <a:ln w="12700">
            <a:solidFill>
              <a:srgbClr val="F5A524"/>
            </a:solidFill>
            <a:prstDash val="solid"/>
          </a:ln>
        </p:spPr>
      </p:sp>
      <p:sp>
        <p:nvSpPr>
          <p:cNvPr id="40" name="Text 37"/>
          <p:cNvSpPr txBox="1"/>
          <p:nvPr/>
        </p:nvSpPr>
        <p:spPr>
          <a:xfrm>
            <a:off x="6473952" y="4663440"/>
            <a:ext cx="4572000" cy="320040"/>
          </a:xfrm>
          <a:prstGeom prst="rect">
            <a:avLst/>
          </a:prstGeom>
          <a:noFill/>
          <a:ln/>
        </p:spPr>
        <p:txBody>
          <a:bodyPr wrap="square" lIns="0" tIns="0" rIns="0" bIns="0" rtlCol="0" anchor="t"/>
          <a:lstStyle/>
          <a:p>
            <a:pPr indent="0" marL="0">
              <a:buNone/>
            </a:pPr>
            <a:r>
              <a:rPr lang="en-US" sz="1500" b="1" dirty="0">
                <a:solidFill>
                  <a:srgbClr val="B26A00"/>
                </a:solidFill>
              </a:rPr>
              <a:t>Any check fails</a:t>
            </a:r>
            <a:endParaRPr lang="en-US" sz="1500" dirty="0"/>
          </a:p>
        </p:txBody>
      </p:sp>
      <p:sp>
        <p:nvSpPr>
          <p:cNvPr id="41" name="Text 38"/>
          <p:cNvSpPr txBox="1"/>
          <p:nvPr/>
        </p:nvSpPr>
        <p:spPr>
          <a:xfrm>
            <a:off x="6473952"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answer is withheld, the gap is stated and staff follow up. Retired articles leave the index on the next sync.</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09  ·  AZURE SERVICES AND DATA</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What runs where, and the data behind the tests</a:t>
            </a:r>
            <a:endParaRPr lang="en-US" sz="2800" dirty="0"/>
          </a:p>
        </p:txBody>
      </p:sp>
      <p:sp>
        <p:nvSpPr>
          <p:cNvPr id="5" name="Shape 2"/>
          <p:cNvSpPr/>
          <p:nvPr/>
        </p:nvSpPr>
        <p:spPr>
          <a:xfrm>
            <a:off x="640080" y="17373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82296" cy="1188720"/>
          </a:xfrm>
          <a:prstGeom prst="rect">
            <a:avLst/>
          </a:prstGeom>
          <a:solidFill>
            <a:srgbClr val="1E4FD8"/>
          </a:solidFill>
          <a:ln w="12700">
            <a:solidFill>
              <a:srgbClr val="1E4FD8"/>
            </a:solidFill>
            <a:prstDash val="solid"/>
          </a:ln>
        </p:spPr>
      </p:sp>
      <p:sp>
        <p:nvSpPr>
          <p:cNvPr id="7" name="Text 4"/>
          <p:cNvSpPr txBox="1"/>
          <p:nvPr/>
        </p:nvSpPr>
        <p:spPr>
          <a:xfrm>
            <a:off x="1005840" y="19202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Microsoft Foundry</a:t>
            </a:r>
            <a:endParaRPr lang="en-US" sz="1700" dirty="0"/>
          </a:p>
        </p:txBody>
      </p:sp>
      <p:sp>
        <p:nvSpPr>
          <p:cNvPr id="8" name="Text 5"/>
          <p:cNvSpPr txBox="1"/>
          <p:nvPr/>
        </p:nvSpPr>
        <p:spPr>
          <a:xfrm>
            <a:off x="1005840" y="2359152"/>
            <a:ext cx="5120640" cy="457200"/>
          </a:xfrm>
          <a:prstGeom prst="rect">
            <a:avLst/>
          </a:prstGeom>
          <a:noFill/>
          <a:ln/>
        </p:spPr>
        <p:txBody>
          <a:bodyPr wrap="square" lIns="0" tIns="0" rIns="0" bIns="0" rtlCol="0" anchor="t"/>
          <a:lstStyle/>
          <a:p>
            <a:pPr indent="0" marL="0">
              <a:buNone/>
            </a:pPr>
            <a:r>
              <a:rPr lang="en-US" sz="1300" dirty="0">
                <a:solidFill>
                  <a:srgbClr val="5E6C84"/>
                </a:solidFill>
              </a:rPr>
              <a:t>Chat and embedding deployments, six registered agents</a:t>
            </a:r>
            <a:endParaRPr lang="en-US" sz="1300" dirty="0"/>
          </a:p>
        </p:txBody>
      </p:sp>
      <p:sp>
        <p:nvSpPr>
          <p:cNvPr id="9" name="Shape 6"/>
          <p:cNvSpPr/>
          <p:nvPr/>
        </p:nvSpPr>
        <p:spPr>
          <a:xfrm>
            <a:off x="640080" y="31089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0" name="Shape 7"/>
          <p:cNvSpPr/>
          <p:nvPr/>
        </p:nvSpPr>
        <p:spPr>
          <a:xfrm>
            <a:off x="640080" y="3108960"/>
            <a:ext cx="82296" cy="1188720"/>
          </a:xfrm>
          <a:prstGeom prst="rect">
            <a:avLst/>
          </a:prstGeom>
          <a:solidFill>
            <a:srgbClr val="12B5B0"/>
          </a:solidFill>
          <a:ln w="12700">
            <a:solidFill>
              <a:srgbClr val="12B5B0"/>
            </a:solidFill>
            <a:prstDash val="solid"/>
          </a:ln>
        </p:spPr>
      </p:sp>
      <p:sp>
        <p:nvSpPr>
          <p:cNvPr id="11" name="Text 8"/>
          <p:cNvSpPr txBox="1"/>
          <p:nvPr/>
        </p:nvSpPr>
        <p:spPr>
          <a:xfrm>
            <a:off x="1005840" y="32918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Blob Storage</a:t>
            </a:r>
            <a:endParaRPr lang="en-US" sz="1700" dirty="0"/>
          </a:p>
        </p:txBody>
      </p:sp>
      <p:sp>
        <p:nvSpPr>
          <p:cNvPr id="12" name="Text 9"/>
          <p:cNvSpPr txBox="1"/>
          <p:nvPr/>
        </p:nvSpPr>
        <p:spPr>
          <a:xfrm>
            <a:off x="1005840" y="3730752"/>
            <a:ext cx="5120640" cy="457200"/>
          </a:xfrm>
          <a:prstGeom prst="rect">
            <a:avLst/>
          </a:prstGeom>
          <a:noFill/>
          <a:ln/>
        </p:spPr>
        <p:txBody>
          <a:bodyPr wrap="square" lIns="0" tIns="0" rIns="0" bIns="0" rtlCol="0" anchor="t"/>
          <a:lstStyle/>
          <a:p>
            <a:pPr indent="0" marL="0">
              <a:buNone/>
            </a:pPr>
            <a:r>
              <a:rPr lang="en-US" sz="1300" dirty="0">
                <a:solidFill>
                  <a:srgbClr val="5E6C84"/>
                </a:solidFill>
              </a:rPr>
              <a:t>Programme data tables and approved articles</a:t>
            </a:r>
            <a:endParaRPr lang="en-US" sz="1300" dirty="0"/>
          </a:p>
        </p:txBody>
      </p:sp>
      <p:sp>
        <p:nvSpPr>
          <p:cNvPr id="13" name="Shape 10"/>
          <p:cNvSpPr/>
          <p:nvPr/>
        </p:nvSpPr>
        <p:spPr>
          <a:xfrm>
            <a:off x="640080" y="44805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4480560"/>
            <a:ext cx="82296" cy="1188720"/>
          </a:xfrm>
          <a:prstGeom prst="rect">
            <a:avLst/>
          </a:prstGeom>
          <a:solidFill>
            <a:srgbClr val="0A1F5C"/>
          </a:solidFill>
          <a:ln w="12700">
            <a:solidFill>
              <a:srgbClr val="0A1F5C"/>
            </a:solidFill>
            <a:prstDash val="solid"/>
          </a:ln>
        </p:spPr>
      </p:sp>
      <p:sp>
        <p:nvSpPr>
          <p:cNvPr id="15" name="Text 12"/>
          <p:cNvSpPr txBox="1"/>
          <p:nvPr/>
        </p:nvSpPr>
        <p:spPr>
          <a:xfrm>
            <a:off x="1005840" y="46634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Azure AI Search</a:t>
            </a:r>
            <a:endParaRPr lang="en-US" sz="1700" dirty="0"/>
          </a:p>
        </p:txBody>
      </p:sp>
      <p:sp>
        <p:nvSpPr>
          <p:cNvPr id="16" name="Text 13"/>
          <p:cNvSpPr txBox="1"/>
          <p:nvPr/>
        </p:nvSpPr>
        <p:spPr>
          <a:xfrm>
            <a:off x="1005840" y="5102352"/>
            <a:ext cx="5120640" cy="457200"/>
          </a:xfrm>
          <a:prstGeom prst="rect">
            <a:avLst/>
          </a:prstGeom>
          <a:noFill/>
          <a:ln/>
        </p:spPr>
        <p:txBody>
          <a:bodyPr wrap="square" lIns="0" tIns="0" rIns="0" bIns="0" rtlCol="0" anchor="t"/>
          <a:lstStyle/>
          <a:p>
            <a:pPr indent="0" marL="0">
              <a:buNone/>
            </a:pPr>
            <a:r>
              <a:rPr lang="en-US" sz="1300" dirty="0">
                <a:solidFill>
                  <a:srgbClr val="5E6C84"/>
                </a:solidFill>
              </a:rPr>
              <a:t>Education and care-plan guidance indexes</a:t>
            </a:r>
            <a:endParaRPr lang="en-US" sz="1300" dirty="0"/>
          </a:p>
        </p:txBody>
      </p:sp>
      <p:sp>
        <p:nvSpPr>
          <p:cNvPr id="17" name="Shape 14"/>
          <p:cNvSpPr/>
          <p:nvPr/>
        </p:nvSpPr>
        <p:spPr>
          <a:xfrm>
            <a:off x="6675120" y="1737360"/>
            <a:ext cx="4873752" cy="3931920"/>
          </a:xfrm>
          <a:prstGeom prst="rect">
            <a:avLst/>
          </a:prstGeom>
          <a:solidFill>
            <a:srgbClr val="0A1F5C"/>
          </a:solidFill>
          <a:ln w="12700">
            <a:solidFill>
              <a:srgbClr val="0A1F5C"/>
            </a:solidFill>
            <a:prstDash val="solid"/>
          </a:ln>
        </p:spPr>
      </p:sp>
      <p:sp>
        <p:nvSpPr>
          <p:cNvPr id="18" name="Text 15"/>
          <p:cNvSpPr txBox="1"/>
          <p:nvPr/>
        </p:nvSpPr>
        <p:spPr>
          <a:xfrm>
            <a:off x="6995160" y="1920240"/>
            <a:ext cx="4206240" cy="274320"/>
          </a:xfrm>
          <a:prstGeom prst="rect">
            <a:avLst/>
          </a:prstGeom>
          <a:noFill/>
          <a:ln/>
        </p:spPr>
        <p:txBody>
          <a:bodyPr wrap="square" lIns="0" tIns="0" rIns="0" bIns="0" rtlCol="0" anchor="t"/>
          <a:lstStyle/>
          <a:p>
            <a:pPr indent="0" marL="0">
              <a:buNone/>
            </a:pPr>
            <a:r>
              <a:rPr lang="en-US" sz="1000" b="1" spc="300" kern="0" dirty="0">
                <a:solidFill>
                  <a:srgbClr val="3CC3F0"/>
                </a:solidFill>
              </a:rPr>
              <a:t>SYNTHETIC DATA SET</a:t>
            </a:r>
            <a:endParaRPr lang="en-US" sz="1000" dirty="0"/>
          </a:p>
        </p:txBody>
      </p:sp>
      <p:sp>
        <p:nvSpPr>
          <p:cNvPr id="19" name="Text 16"/>
          <p:cNvSpPr txBox="1"/>
          <p:nvPr/>
        </p:nvSpPr>
        <p:spPr>
          <a:xfrm>
            <a:off x="699516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250</a:t>
            </a:r>
            <a:endParaRPr lang="en-US" sz="3600" dirty="0"/>
          </a:p>
        </p:txBody>
      </p:sp>
      <p:sp>
        <p:nvSpPr>
          <p:cNvPr id="20" name="Text 17"/>
          <p:cNvSpPr txBox="1"/>
          <p:nvPr/>
        </p:nvSpPr>
        <p:spPr>
          <a:xfrm>
            <a:off x="699516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members</a:t>
            </a:r>
            <a:endParaRPr lang="en-US" sz="1200" dirty="0"/>
          </a:p>
        </p:txBody>
      </p:sp>
      <p:sp>
        <p:nvSpPr>
          <p:cNvPr id="21" name="Text 18"/>
          <p:cNvSpPr txBox="1"/>
          <p:nvPr/>
        </p:nvSpPr>
        <p:spPr>
          <a:xfrm>
            <a:off x="918972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5,500+</a:t>
            </a:r>
            <a:endParaRPr lang="en-US" sz="3600" dirty="0"/>
          </a:p>
        </p:txBody>
      </p:sp>
      <p:sp>
        <p:nvSpPr>
          <p:cNvPr id="22" name="Text 19"/>
          <p:cNvSpPr txBox="1"/>
          <p:nvPr/>
        </p:nvSpPr>
        <p:spPr>
          <a:xfrm>
            <a:off x="918972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readings</a:t>
            </a:r>
            <a:endParaRPr lang="en-US" sz="1200" dirty="0"/>
          </a:p>
        </p:txBody>
      </p:sp>
      <p:sp>
        <p:nvSpPr>
          <p:cNvPr id="23" name="Text 20"/>
          <p:cNvSpPr txBox="1"/>
          <p:nvPr/>
        </p:nvSpPr>
        <p:spPr>
          <a:xfrm>
            <a:off x="699516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650</a:t>
            </a:r>
            <a:endParaRPr lang="en-US" sz="3600" dirty="0"/>
          </a:p>
        </p:txBody>
      </p:sp>
      <p:sp>
        <p:nvSpPr>
          <p:cNvPr id="24" name="Text 21"/>
          <p:cNvSpPr txBox="1"/>
          <p:nvPr/>
        </p:nvSpPr>
        <p:spPr>
          <a:xfrm>
            <a:off x="699516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care-plan tasks</a:t>
            </a:r>
            <a:endParaRPr lang="en-US" sz="1200" dirty="0"/>
          </a:p>
        </p:txBody>
      </p:sp>
      <p:sp>
        <p:nvSpPr>
          <p:cNvPr id="25" name="Text 22"/>
          <p:cNvSpPr txBox="1"/>
          <p:nvPr/>
        </p:nvSpPr>
        <p:spPr>
          <a:xfrm>
            <a:off x="918972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110</a:t>
            </a:r>
            <a:endParaRPr lang="en-US" sz="3600" dirty="0"/>
          </a:p>
        </p:txBody>
      </p:sp>
      <p:sp>
        <p:nvSpPr>
          <p:cNvPr id="26" name="Text 23"/>
          <p:cNvSpPr txBox="1"/>
          <p:nvPr/>
        </p:nvSpPr>
        <p:spPr>
          <a:xfrm>
            <a:off x="918972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knowledge articles</a:t>
            </a:r>
            <a:endParaRPr lang="en-US" sz="1200" dirty="0"/>
          </a:p>
        </p:txBody>
      </p:sp>
      <p:sp>
        <p:nvSpPr>
          <p:cNvPr id="27" name="Shape 24"/>
          <p:cNvSpPr/>
          <p:nvPr/>
        </p:nvSpPr>
        <p:spPr>
          <a:xfrm>
            <a:off x="6995160" y="4983480"/>
            <a:ext cx="4206240" cy="0"/>
          </a:xfrm>
          <a:prstGeom prst="line">
            <a:avLst/>
          </a:prstGeom>
          <a:noFill/>
          <a:ln w="9525">
            <a:solidFill>
              <a:srgbClr val="FFFFFF">
                <a:alpha val="30000"/>
              </a:srgbClr>
            </a:solidFill>
            <a:prstDash val="solid"/>
          </a:ln>
        </p:spPr>
      </p:sp>
      <p:sp>
        <p:nvSpPr>
          <p:cNvPr id="28" name="Text 25"/>
          <p:cNvSpPr txBox="1"/>
          <p:nvPr/>
        </p:nvSpPr>
        <p:spPr>
          <a:xfrm>
            <a:off x="6995160" y="5120640"/>
            <a:ext cx="4206240" cy="365760"/>
          </a:xfrm>
          <a:prstGeom prst="rect">
            <a:avLst/>
          </a:prstGeom>
          <a:noFill/>
          <a:ln/>
        </p:spPr>
        <p:txBody>
          <a:bodyPr wrap="square" lIns="0" tIns="0" rIns="0" bIns="0" rtlCol="0" anchor="t"/>
          <a:lstStyle/>
          <a:p>
            <a:pPr indent="0" marL="0">
              <a:buNone/>
            </a:pPr>
            <a:r>
              <a:rPr lang="en-US" sz="1300" b="1" dirty="0">
                <a:solidFill>
                  <a:srgbClr val="3CC3F0"/>
                </a:solidFill>
              </a:rPr>
              <a:t>100+ rows in each rule table</a:t>
            </a:r>
            <a:endParaRPr lang="en-US" sz="1300" dirty="0"/>
          </a:p>
        </p:txBody>
      </p:sp>
      <p:sp>
        <p:nvSpPr>
          <p:cNvPr id="29" name="Text 26"/>
          <p:cNvSpPr txBox="1"/>
          <p:nvPr/>
        </p:nvSpPr>
        <p:spPr>
          <a:xfrm>
            <a:off x="640080" y="5852160"/>
            <a:ext cx="10908792" cy="320040"/>
          </a:xfrm>
          <a:prstGeom prst="rect">
            <a:avLst/>
          </a:prstGeom>
          <a:noFill/>
          <a:ln/>
        </p:spPr>
        <p:txBody>
          <a:bodyPr wrap="square" lIns="0" tIns="0" rIns="0" bIns="0" rtlCol="0" anchor="t"/>
          <a:lstStyle/>
          <a:p>
            <a:pPr indent="0" marL="0">
              <a:buNone/>
            </a:pPr>
            <a:r>
              <a:rPr lang="en-US" sz="1200" dirty="0">
                <a:solidFill>
                  <a:srgbClr val="5E6C84"/>
                </a:solidFill>
              </a:rPr>
              <a:t>Azure identity with role-based access. Settings in environment variables, no secrets in code. Synthetic data only.</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10  ·  VALIDATION</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Every scenario passed on live Azure</a:t>
            </a:r>
            <a:endParaRPr lang="en-US" sz="2800" dirty="0"/>
          </a:p>
        </p:txBody>
      </p:sp>
      <p:sp>
        <p:nvSpPr>
          <p:cNvPr id="5" name="Shape 2"/>
          <p:cNvSpPr/>
          <p:nvPr/>
        </p:nvSpPr>
        <p:spPr>
          <a:xfrm>
            <a:off x="640080" y="1737360"/>
            <a:ext cx="3200400" cy="4297680"/>
          </a:xfrm>
          <a:prstGeom prst="rect">
            <a:avLst/>
          </a:prstGeom>
          <a:solidFill>
            <a:srgbClr val="FFFFFF">
              <a:alpha val="8000"/>
            </a:srgbClr>
          </a:solidFill>
          <a:ln w="9525">
            <a:solidFill>
              <a:srgbClr val="FFFFFF">
                <a:alpha val="28000"/>
              </a:srgbClr>
            </a:solidFill>
            <a:prstDash val="solid"/>
          </a:ln>
        </p:spPr>
      </p:sp>
      <p:sp>
        <p:nvSpPr>
          <p:cNvPr id="6" name="Text 3"/>
          <p:cNvSpPr txBox="1"/>
          <p:nvPr/>
        </p:nvSpPr>
        <p:spPr>
          <a:xfrm>
            <a:off x="640080" y="2103120"/>
            <a:ext cx="3200400" cy="1188720"/>
          </a:xfrm>
          <a:prstGeom prst="rect">
            <a:avLst/>
          </a:prstGeom>
          <a:noFill/>
          <a:ln/>
        </p:spPr>
        <p:txBody>
          <a:bodyPr wrap="square" lIns="0" tIns="0" rIns="0" bIns="0" rtlCol="0" anchor="t"/>
          <a:lstStyle/>
          <a:p>
            <a:pPr algn="ctr" indent="0" marL="0">
              <a:buNone/>
            </a:pPr>
            <a:r>
              <a:rPr lang="en-US" sz="6400" b="1" dirty="0">
                <a:solidFill>
                  <a:srgbClr val="FFFFFF"/>
                </a:solidFill>
              </a:rPr>
              <a:t>14/14</a:t>
            </a:r>
            <a:endParaRPr lang="en-US" sz="6400" dirty="0"/>
          </a:p>
        </p:txBody>
      </p:sp>
      <p:sp>
        <p:nvSpPr>
          <p:cNvPr id="7" name="Text 4"/>
          <p:cNvSpPr txBox="1"/>
          <p:nvPr/>
        </p:nvSpPr>
        <p:spPr>
          <a:xfrm>
            <a:off x="640080" y="3337560"/>
            <a:ext cx="3200400" cy="365760"/>
          </a:xfrm>
          <a:prstGeom prst="rect">
            <a:avLst/>
          </a:prstGeom>
          <a:noFill/>
          <a:ln/>
        </p:spPr>
        <p:txBody>
          <a:bodyPr wrap="square" lIns="0" tIns="0" rIns="0" bIns="0" rtlCol="0" anchor="t"/>
          <a:lstStyle/>
          <a:p>
            <a:pPr algn="ctr" indent="0" marL="0">
              <a:buNone/>
            </a:pPr>
            <a:r>
              <a:rPr lang="en-US" sz="1500" dirty="0">
                <a:solidFill>
                  <a:srgbClr val="C9D8F2"/>
                </a:solidFill>
              </a:rPr>
              <a:t>scenarios passed</a:t>
            </a:r>
            <a:endParaRPr lang="en-US" sz="1500" dirty="0"/>
          </a:p>
        </p:txBody>
      </p:sp>
      <p:sp>
        <p:nvSpPr>
          <p:cNvPr id="8" name="Shape 5"/>
          <p:cNvSpPr/>
          <p:nvPr/>
        </p:nvSpPr>
        <p:spPr>
          <a:xfrm>
            <a:off x="1188720" y="3977640"/>
            <a:ext cx="2103120" cy="0"/>
          </a:xfrm>
          <a:prstGeom prst="line">
            <a:avLst/>
          </a:prstGeom>
          <a:noFill/>
          <a:ln w="12700">
            <a:solidFill>
              <a:srgbClr val="3CC3F0"/>
            </a:solidFill>
            <a:prstDash val="solid"/>
          </a:ln>
        </p:spPr>
      </p:sp>
      <p:sp>
        <p:nvSpPr>
          <p:cNvPr id="9" name="Text 6"/>
          <p:cNvSpPr txBox="1"/>
          <p:nvPr/>
        </p:nvSpPr>
        <p:spPr>
          <a:xfrm>
            <a:off x="822960" y="4160520"/>
            <a:ext cx="3017520" cy="1371600"/>
          </a:xfrm>
          <a:prstGeom prst="rect">
            <a:avLst/>
          </a:prstGeom>
          <a:noFill/>
          <a:ln/>
        </p:spPr>
        <p:txBody>
          <a:bodyPr wrap="square" lIns="0" tIns="0" rIns="0" bIns="0" rtlCol="0" anchor="t"/>
          <a:lstStyle/>
          <a:p>
            <a:pPr algn="ctr" indent="0" marL="0">
              <a:lnSpc>
                <a:spcPct val="130000"/>
              </a:lnSpc>
              <a:buNone/>
            </a:pPr>
            <a:r>
              <a:rPr lang="en-US" sz="1200" dirty="0">
                <a:solidFill>
                  <a:srgbClr val="FFFFFF"/>
                </a:solidFill>
              </a:rPr>
              <a:t>Run on live Azure:</a:t>
            </a:r>
            <a:endParaRPr lang="en-US" sz="1200" dirty="0"/>
          </a:p>
          <a:p>
            <a:pPr algn="ctr" indent="0" marL="0">
              <a:lnSpc>
                <a:spcPct val="130000"/>
              </a:lnSpc>
              <a:buNone/>
            </a:pPr>
            <a:r>
              <a:rPr lang="en-US" sz="1200" dirty="0">
                <a:solidFill>
                  <a:srgbClr val="FFFFFF"/>
                </a:solidFill>
              </a:rPr>
              <a:t>Foundry agents</a:t>
            </a:r>
            <a:endParaRPr lang="en-US" sz="1200" dirty="0"/>
          </a:p>
          <a:p>
            <a:pPr algn="ctr" indent="0" marL="0">
              <a:lnSpc>
                <a:spcPct val="130000"/>
              </a:lnSpc>
              <a:buNone/>
            </a:pPr>
            <a:r>
              <a:rPr lang="en-US" sz="1200" dirty="0">
                <a:solidFill>
                  <a:srgbClr val="FFFFFF"/>
                </a:solidFill>
              </a:rPr>
              <a:t>AI Search</a:t>
            </a:r>
            <a:endParaRPr lang="en-US" sz="1200" dirty="0"/>
          </a:p>
          <a:p>
            <a:pPr algn="ctr" indent="0" marL="0">
              <a:lnSpc>
                <a:spcPct val="130000"/>
              </a:lnSpc>
              <a:buNone/>
            </a:pPr>
            <a:r>
              <a:rPr lang="en-US" sz="1200" dirty="0">
                <a:solidFill>
                  <a:srgbClr val="FFFFFF"/>
                </a:solidFill>
              </a:rPr>
              <a:t>Blob Storage</a:t>
            </a:r>
            <a:endParaRPr lang="en-US" sz="1200" dirty="0"/>
          </a:p>
        </p:txBody>
      </p:sp>
      <p:sp>
        <p:nvSpPr>
          <p:cNvPr id="10" name="Shape 7"/>
          <p:cNvSpPr/>
          <p:nvPr/>
        </p:nvSpPr>
        <p:spPr>
          <a:xfrm>
            <a:off x="4114800" y="1737360"/>
            <a:ext cx="3611880" cy="2057400"/>
          </a:xfrm>
          <a:prstGeom prst="rect">
            <a:avLst/>
          </a:prstGeom>
          <a:solidFill>
            <a:srgbClr val="FFFFFF">
              <a:alpha val="10000"/>
            </a:srgbClr>
          </a:solidFill>
          <a:ln w="9525">
            <a:solidFill>
              <a:srgbClr val="FFFFFF">
                <a:alpha val="28000"/>
              </a:srgbClr>
            </a:solidFill>
            <a:prstDash val="solid"/>
          </a:ln>
        </p:spPr>
      </p:sp>
      <p:sp>
        <p:nvSpPr>
          <p:cNvPr id="11" name="Shape 8"/>
          <p:cNvSpPr/>
          <p:nvPr/>
        </p:nvSpPr>
        <p:spPr>
          <a:xfrm>
            <a:off x="4114800" y="1737360"/>
            <a:ext cx="3611880" cy="0"/>
          </a:xfrm>
          <a:prstGeom prst="line">
            <a:avLst/>
          </a:prstGeom>
          <a:noFill/>
          <a:ln w="38100">
            <a:solidFill>
              <a:srgbClr val="3CC3F0"/>
            </a:solidFill>
            <a:prstDash val="solid"/>
          </a:ln>
        </p:spPr>
      </p:sp>
      <p:sp>
        <p:nvSpPr>
          <p:cNvPr id="12" name="Text 9"/>
          <p:cNvSpPr txBox="1"/>
          <p:nvPr/>
        </p:nvSpPr>
        <p:spPr>
          <a:xfrm>
            <a:off x="4343400" y="1920240"/>
            <a:ext cx="2377440" cy="274320"/>
          </a:xfrm>
          <a:prstGeom prst="rect">
            <a:avLst/>
          </a:prstGeom>
          <a:noFill/>
          <a:ln/>
        </p:spPr>
        <p:txBody>
          <a:bodyPr wrap="square" lIns="0" tIns="0" rIns="0" bIns="0" rtlCol="0" anchor="t"/>
          <a:lstStyle/>
          <a:p>
            <a:pPr indent="0" marL="0">
              <a:buNone/>
            </a:pPr>
            <a:r>
              <a:rPr lang="en-US" sz="1000" b="1" spc="200" kern="0" dirty="0">
                <a:solidFill>
                  <a:srgbClr val="3CC3F0"/>
                </a:solidFill>
              </a:rPr>
              <a:t>CONSENT &amp; SAFETY</a:t>
            </a:r>
            <a:endParaRPr lang="en-US" sz="1000" dirty="0"/>
          </a:p>
        </p:txBody>
      </p:sp>
      <p:sp>
        <p:nvSpPr>
          <p:cNvPr id="13" name="Shape 10"/>
          <p:cNvSpPr/>
          <p:nvPr/>
        </p:nvSpPr>
        <p:spPr>
          <a:xfrm>
            <a:off x="6858000" y="1901952"/>
            <a:ext cx="640080" cy="274320"/>
          </a:xfrm>
          <a:prstGeom prst="roundRect">
            <a:avLst>
              <a:gd name="adj" fmla="val 50000"/>
            </a:avLst>
          </a:prstGeom>
          <a:solidFill>
            <a:srgbClr val="22B573"/>
          </a:solidFill>
          <a:ln w="12700">
            <a:solidFill>
              <a:srgbClr val="22B573"/>
            </a:solidFill>
            <a:prstDash val="solid"/>
          </a:ln>
        </p:spPr>
      </p:sp>
      <p:sp>
        <p:nvSpPr>
          <p:cNvPr id="14" name="Text 11"/>
          <p:cNvSpPr txBox="1"/>
          <p:nvPr/>
        </p:nvSpPr>
        <p:spPr>
          <a:xfrm>
            <a:off x="685800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15" name="Text 12"/>
          <p:cNvSpPr txBox="1"/>
          <p:nvPr/>
        </p:nvSpPr>
        <p:spPr>
          <a:xfrm>
            <a:off x="434340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T2  Consent is expired</a:t>
            </a:r>
            <a:endParaRPr lang="en-US" sz="1200" dirty="0"/>
          </a:p>
        </p:txBody>
      </p:sp>
      <p:sp>
        <p:nvSpPr>
          <p:cNvPr id="16" name="Text 13"/>
          <p:cNvSpPr txBox="1"/>
          <p:nvPr/>
        </p:nvSpPr>
        <p:spPr>
          <a:xfrm>
            <a:off x="434340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T3  Medicine change request</a:t>
            </a:r>
            <a:endParaRPr lang="en-US" sz="1200" dirty="0"/>
          </a:p>
        </p:txBody>
      </p:sp>
      <p:sp>
        <p:nvSpPr>
          <p:cNvPr id="17" name="Text 14"/>
          <p:cNvSpPr txBox="1"/>
          <p:nvPr/>
        </p:nvSpPr>
        <p:spPr>
          <a:xfrm>
            <a:off x="434340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T11  Clinical interpretation</a:t>
            </a:r>
            <a:endParaRPr lang="en-US" sz="1200" dirty="0"/>
          </a:p>
        </p:txBody>
      </p:sp>
      <p:sp>
        <p:nvSpPr>
          <p:cNvPr id="18" name="Text 15"/>
          <p:cNvSpPr txBox="1"/>
          <p:nvPr/>
        </p:nvSpPr>
        <p:spPr>
          <a:xfrm>
            <a:off x="434340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T12  Prompt injection</a:t>
            </a:r>
            <a:endParaRPr lang="en-US" sz="1200" dirty="0"/>
          </a:p>
        </p:txBody>
      </p:sp>
      <p:sp>
        <p:nvSpPr>
          <p:cNvPr id="19" name="Shape 16"/>
          <p:cNvSpPr/>
          <p:nvPr/>
        </p:nvSpPr>
        <p:spPr>
          <a:xfrm>
            <a:off x="7863840" y="1737360"/>
            <a:ext cx="3611880" cy="2057400"/>
          </a:xfrm>
          <a:prstGeom prst="rect">
            <a:avLst/>
          </a:prstGeom>
          <a:solidFill>
            <a:srgbClr val="FFFFFF">
              <a:alpha val="10000"/>
            </a:srgbClr>
          </a:solidFill>
          <a:ln w="9525">
            <a:solidFill>
              <a:srgbClr val="FFFFFF">
                <a:alpha val="28000"/>
              </a:srgbClr>
            </a:solidFill>
            <a:prstDash val="solid"/>
          </a:ln>
        </p:spPr>
      </p:sp>
      <p:sp>
        <p:nvSpPr>
          <p:cNvPr id="20" name="Shape 17"/>
          <p:cNvSpPr/>
          <p:nvPr/>
        </p:nvSpPr>
        <p:spPr>
          <a:xfrm>
            <a:off x="7863840" y="1737360"/>
            <a:ext cx="3611880" cy="0"/>
          </a:xfrm>
          <a:prstGeom prst="line">
            <a:avLst/>
          </a:prstGeom>
          <a:noFill/>
          <a:ln w="38100">
            <a:solidFill>
              <a:srgbClr val="12B5B0"/>
            </a:solidFill>
            <a:prstDash val="solid"/>
          </a:ln>
        </p:spPr>
      </p:sp>
      <p:sp>
        <p:nvSpPr>
          <p:cNvPr id="21" name="Text 18"/>
          <p:cNvSpPr txBox="1"/>
          <p:nvPr/>
        </p:nvSpPr>
        <p:spPr>
          <a:xfrm>
            <a:off x="8092440" y="1920240"/>
            <a:ext cx="2377440" cy="274320"/>
          </a:xfrm>
          <a:prstGeom prst="rect">
            <a:avLst/>
          </a:prstGeom>
          <a:noFill/>
          <a:ln/>
        </p:spPr>
        <p:txBody>
          <a:bodyPr wrap="square" lIns="0" tIns="0" rIns="0" bIns="0" rtlCol="0" anchor="t"/>
          <a:lstStyle/>
          <a:p>
            <a:pPr indent="0" marL="0">
              <a:buNone/>
            </a:pPr>
            <a:r>
              <a:rPr lang="en-US" sz="1000" b="1" spc="200" kern="0" dirty="0">
                <a:solidFill>
                  <a:srgbClr val="12B5B0"/>
                </a:solidFill>
              </a:rPr>
              <a:t>DATA INTEGRITY</a:t>
            </a:r>
            <a:endParaRPr lang="en-US" sz="1000" dirty="0"/>
          </a:p>
        </p:txBody>
      </p:sp>
      <p:sp>
        <p:nvSpPr>
          <p:cNvPr id="22" name="Shape 19"/>
          <p:cNvSpPr/>
          <p:nvPr/>
        </p:nvSpPr>
        <p:spPr>
          <a:xfrm>
            <a:off x="10607040" y="1901952"/>
            <a:ext cx="640080" cy="274320"/>
          </a:xfrm>
          <a:prstGeom prst="roundRect">
            <a:avLst>
              <a:gd name="adj" fmla="val 50000"/>
            </a:avLst>
          </a:prstGeom>
          <a:solidFill>
            <a:srgbClr val="22B573"/>
          </a:solidFill>
          <a:ln w="12700">
            <a:solidFill>
              <a:srgbClr val="22B573"/>
            </a:solidFill>
            <a:prstDash val="solid"/>
          </a:ln>
        </p:spPr>
      </p:sp>
      <p:sp>
        <p:nvSpPr>
          <p:cNvPr id="23" name="Text 20"/>
          <p:cNvSpPr txBox="1"/>
          <p:nvPr/>
        </p:nvSpPr>
        <p:spPr>
          <a:xfrm>
            <a:off x="1060704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24" name="Text 21"/>
          <p:cNvSpPr txBox="1"/>
          <p:nvPr/>
        </p:nvSpPr>
        <p:spPr>
          <a:xfrm>
            <a:off x="809244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T4  Rule trigger</a:t>
            </a:r>
            <a:endParaRPr lang="en-US" sz="1200" dirty="0"/>
          </a:p>
        </p:txBody>
      </p:sp>
      <p:sp>
        <p:nvSpPr>
          <p:cNvPr id="25" name="Text 22"/>
          <p:cNvSpPr txBox="1"/>
          <p:nvPr/>
        </p:nvSpPr>
        <p:spPr>
          <a:xfrm>
            <a:off x="809244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T5  Missing readings</a:t>
            </a:r>
            <a:endParaRPr lang="en-US" sz="1200" dirty="0"/>
          </a:p>
        </p:txBody>
      </p:sp>
      <p:sp>
        <p:nvSpPr>
          <p:cNvPr id="26" name="Text 23"/>
          <p:cNvSpPr txBox="1"/>
          <p:nvPr/>
        </p:nvSpPr>
        <p:spPr>
          <a:xfrm>
            <a:off x="809244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T7  Correction supersedes</a:t>
            </a:r>
            <a:endParaRPr lang="en-US" sz="1200" dirty="0"/>
          </a:p>
        </p:txBody>
      </p:sp>
      <p:sp>
        <p:nvSpPr>
          <p:cNvPr id="27" name="Text 24"/>
          <p:cNvSpPr txBox="1"/>
          <p:nvPr/>
        </p:nvSpPr>
        <p:spPr>
          <a:xfrm>
            <a:off x="809244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T8  Contradictory readings</a:t>
            </a:r>
            <a:endParaRPr lang="en-US" sz="1200" dirty="0"/>
          </a:p>
        </p:txBody>
      </p:sp>
      <p:sp>
        <p:nvSpPr>
          <p:cNvPr id="28" name="Shape 25"/>
          <p:cNvSpPr/>
          <p:nvPr/>
        </p:nvSpPr>
        <p:spPr>
          <a:xfrm>
            <a:off x="4114800" y="3931920"/>
            <a:ext cx="3611880" cy="2057400"/>
          </a:xfrm>
          <a:prstGeom prst="rect">
            <a:avLst/>
          </a:prstGeom>
          <a:solidFill>
            <a:srgbClr val="FFFFFF">
              <a:alpha val="10000"/>
            </a:srgbClr>
          </a:solidFill>
          <a:ln w="9525">
            <a:solidFill>
              <a:srgbClr val="FFFFFF">
                <a:alpha val="28000"/>
              </a:srgbClr>
            </a:solidFill>
            <a:prstDash val="solid"/>
          </a:ln>
        </p:spPr>
      </p:sp>
      <p:sp>
        <p:nvSpPr>
          <p:cNvPr id="29" name="Shape 26"/>
          <p:cNvSpPr/>
          <p:nvPr/>
        </p:nvSpPr>
        <p:spPr>
          <a:xfrm>
            <a:off x="4114800" y="3931920"/>
            <a:ext cx="3611880" cy="0"/>
          </a:xfrm>
          <a:prstGeom prst="line">
            <a:avLst/>
          </a:prstGeom>
          <a:noFill/>
          <a:ln w="38100">
            <a:solidFill>
              <a:srgbClr val="F5A524"/>
            </a:solidFill>
            <a:prstDash val="solid"/>
          </a:ln>
        </p:spPr>
      </p:sp>
      <p:sp>
        <p:nvSpPr>
          <p:cNvPr id="30" name="Text 27"/>
          <p:cNvSpPr txBox="1"/>
          <p:nvPr/>
        </p:nvSpPr>
        <p:spPr>
          <a:xfrm>
            <a:off x="4343400" y="4114800"/>
            <a:ext cx="2377440" cy="274320"/>
          </a:xfrm>
          <a:prstGeom prst="rect">
            <a:avLst/>
          </a:prstGeom>
          <a:noFill/>
          <a:ln/>
        </p:spPr>
        <p:txBody>
          <a:bodyPr wrap="square" lIns="0" tIns="0" rIns="0" bIns="0" rtlCol="0" anchor="t"/>
          <a:lstStyle/>
          <a:p>
            <a:pPr indent="0" marL="0">
              <a:buNone/>
            </a:pPr>
            <a:r>
              <a:rPr lang="en-US" sz="1000" b="1" spc="200" kern="0" dirty="0">
                <a:solidFill>
                  <a:srgbClr val="F5A524"/>
                </a:solidFill>
              </a:rPr>
              <a:t>KNOWLEDGE</a:t>
            </a:r>
            <a:endParaRPr lang="en-US" sz="1000" dirty="0"/>
          </a:p>
        </p:txBody>
      </p:sp>
      <p:sp>
        <p:nvSpPr>
          <p:cNvPr id="31" name="Shape 28"/>
          <p:cNvSpPr/>
          <p:nvPr/>
        </p:nvSpPr>
        <p:spPr>
          <a:xfrm>
            <a:off x="6858000" y="4096512"/>
            <a:ext cx="640080" cy="274320"/>
          </a:xfrm>
          <a:prstGeom prst="roundRect">
            <a:avLst>
              <a:gd name="adj" fmla="val 50000"/>
            </a:avLst>
          </a:prstGeom>
          <a:solidFill>
            <a:srgbClr val="22B573"/>
          </a:solidFill>
          <a:ln w="12700">
            <a:solidFill>
              <a:srgbClr val="22B573"/>
            </a:solidFill>
            <a:prstDash val="solid"/>
          </a:ln>
        </p:spPr>
      </p:sp>
      <p:sp>
        <p:nvSpPr>
          <p:cNvPr id="32" name="Text 29"/>
          <p:cNvSpPr txBox="1"/>
          <p:nvPr/>
        </p:nvSpPr>
        <p:spPr>
          <a:xfrm>
            <a:off x="685800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33" name="Text 30"/>
          <p:cNvSpPr txBox="1"/>
          <p:nvPr/>
        </p:nvSpPr>
        <p:spPr>
          <a:xfrm>
            <a:off x="434340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  Approved education</a:t>
            </a:r>
            <a:endParaRPr lang="en-US" sz="1200" dirty="0"/>
          </a:p>
        </p:txBody>
      </p:sp>
      <p:sp>
        <p:nvSpPr>
          <p:cNvPr id="34" name="Text 31"/>
          <p:cNvSpPr txBox="1"/>
          <p:nvPr/>
        </p:nvSpPr>
        <p:spPr>
          <a:xfrm>
            <a:off x="434340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T6  No matching article</a:t>
            </a:r>
            <a:endParaRPr lang="en-US" sz="1200" dirty="0"/>
          </a:p>
        </p:txBody>
      </p:sp>
      <p:sp>
        <p:nvSpPr>
          <p:cNvPr id="35" name="Text 32"/>
          <p:cNvSpPr txBox="1"/>
          <p:nvPr/>
        </p:nvSpPr>
        <p:spPr>
          <a:xfrm>
            <a:off x="434340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T13  Different program</a:t>
            </a:r>
            <a:endParaRPr lang="en-US" sz="1200" dirty="0"/>
          </a:p>
        </p:txBody>
      </p:sp>
      <p:sp>
        <p:nvSpPr>
          <p:cNvPr id="36" name="Shape 33"/>
          <p:cNvSpPr/>
          <p:nvPr/>
        </p:nvSpPr>
        <p:spPr>
          <a:xfrm>
            <a:off x="7863840" y="3931920"/>
            <a:ext cx="3611880" cy="2057400"/>
          </a:xfrm>
          <a:prstGeom prst="rect">
            <a:avLst/>
          </a:prstGeom>
          <a:solidFill>
            <a:srgbClr val="FFFFFF">
              <a:alpha val="10000"/>
            </a:srgbClr>
          </a:solidFill>
          <a:ln w="9525">
            <a:solidFill>
              <a:srgbClr val="FFFFFF">
                <a:alpha val="28000"/>
              </a:srgbClr>
            </a:solidFill>
            <a:prstDash val="solid"/>
          </a:ln>
        </p:spPr>
      </p:sp>
      <p:sp>
        <p:nvSpPr>
          <p:cNvPr id="37" name="Shape 34"/>
          <p:cNvSpPr/>
          <p:nvPr/>
        </p:nvSpPr>
        <p:spPr>
          <a:xfrm>
            <a:off x="7863840" y="3931920"/>
            <a:ext cx="3611880" cy="0"/>
          </a:xfrm>
          <a:prstGeom prst="line">
            <a:avLst/>
          </a:prstGeom>
          <a:noFill/>
          <a:ln w="38100">
            <a:solidFill>
              <a:srgbClr val="E5484D"/>
            </a:solidFill>
            <a:prstDash val="solid"/>
          </a:ln>
        </p:spPr>
      </p:sp>
      <p:sp>
        <p:nvSpPr>
          <p:cNvPr id="38" name="Text 35"/>
          <p:cNvSpPr txBox="1"/>
          <p:nvPr/>
        </p:nvSpPr>
        <p:spPr>
          <a:xfrm>
            <a:off x="8092440" y="4114800"/>
            <a:ext cx="2377440" cy="274320"/>
          </a:xfrm>
          <a:prstGeom prst="rect">
            <a:avLst/>
          </a:prstGeom>
          <a:noFill/>
          <a:ln/>
        </p:spPr>
        <p:txBody>
          <a:bodyPr wrap="square" lIns="0" tIns="0" rIns="0" bIns="0" rtlCol="0" anchor="t"/>
          <a:lstStyle/>
          <a:p>
            <a:pPr indent="0" marL="0">
              <a:buNone/>
            </a:pPr>
            <a:r>
              <a:rPr lang="en-US" sz="1000" b="1" spc="200" kern="0" dirty="0">
                <a:solidFill>
                  <a:srgbClr val="E5484D"/>
                </a:solidFill>
              </a:rPr>
              <a:t>RESILIENCE</a:t>
            </a:r>
            <a:endParaRPr lang="en-US" sz="1000" dirty="0"/>
          </a:p>
        </p:txBody>
      </p:sp>
      <p:sp>
        <p:nvSpPr>
          <p:cNvPr id="39" name="Shape 36"/>
          <p:cNvSpPr/>
          <p:nvPr/>
        </p:nvSpPr>
        <p:spPr>
          <a:xfrm>
            <a:off x="10607040" y="4096512"/>
            <a:ext cx="640080" cy="274320"/>
          </a:xfrm>
          <a:prstGeom prst="roundRect">
            <a:avLst>
              <a:gd name="adj" fmla="val 50000"/>
            </a:avLst>
          </a:prstGeom>
          <a:solidFill>
            <a:srgbClr val="22B573"/>
          </a:solidFill>
          <a:ln w="12700">
            <a:solidFill>
              <a:srgbClr val="22B573"/>
            </a:solidFill>
            <a:prstDash val="solid"/>
          </a:ln>
        </p:spPr>
      </p:sp>
      <p:sp>
        <p:nvSpPr>
          <p:cNvPr id="40" name="Text 37"/>
          <p:cNvSpPr txBox="1"/>
          <p:nvPr/>
        </p:nvSpPr>
        <p:spPr>
          <a:xfrm>
            <a:off x="1060704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41" name="Text 38"/>
          <p:cNvSpPr txBox="1"/>
          <p:nvPr/>
        </p:nvSpPr>
        <p:spPr>
          <a:xfrm>
            <a:off x="809244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T9  Reminder in channel</a:t>
            </a:r>
            <a:endParaRPr lang="en-US" sz="1200" dirty="0"/>
          </a:p>
        </p:txBody>
      </p:sp>
      <p:sp>
        <p:nvSpPr>
          <p:cNvPr id="42" name="Text 39"/>
          <p:cNvSpPr txBox="1"/>
          <p:nvPr/>
        </p:nvSpPr>
        <p:spPr>
          <a:xfrm>
            <a:off x="809244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T10  Tool failure</a:t>
            </a:r>
            <a:endParaRPr lang="en-US" sz="1200" dirty="0"/>
          </a:p>
        </p:txBody>
      </p:sp>
      <p:sp>
        <p:nvSpPr>
          <p:cNvPr id="43" name="Text 40"/>
          <p:cNvSpPr txBox="1"/>
          <p:nvPr/>
        </p:nvSpPr>
        <p:spPr>
          <a:xfrm>
            <a:off x="809244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T14  Greeting, no request</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11  ·  ROADMAP</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From proof of concept to production</a:t>
            </a:r>
            <a:endParaRPr lang="en-US" sz="2800" dirty="0"/>
          </a:p>
        </p:txBody>
      </p:sp>
      <p:sp>
        <p:nvSpPr>
          <p:cNvPr id="5" name="Shape 2"/>
          <p:cNvSpPr/>
          <p:nvPr/>
        </p:nvSpPr>
        <p:spPr>
          <a:xfrm>
            <a:off x="640080" y="1737360"/>
            <a:ext cx="3611880" cy="777240"/>
          </a:xfrm>
          <a:prstGeom prst="homePlate">
            <a:avLst/>
          </a:prstGeom>
          <a:solidFill>
            <a:srgbClr val="F5A524"/>
          </a:solidFill>
          <a:ln w="12700">
            <a:solidFill>
              <a:srgbClr val="F5A524"/>
            </a:solidFill>
            <a:prstDash val="solid"/>
          </a:ln>
        </p:spPr>
      </p:sp>
      <p:sp>
        <p:nvSpPr>
          <p:cNvPr id="6" name="Text 3"/>
          <p:cNvSpPr txBox="1"/>
          <p:nvPr/>
        </p:nvSpPr>
        <p:spPr>
          <a:xfrm>
            <a:off x="91440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TODAY</a:t>
            </a:r>
            <a:endParaRPr lang="en-US" sz="1100" dirty="0"/>
          </a:p>
        </p:txBody>
      </p:sp>
      <p:sp>
        <p:nvSpPr>
          <p:cNvPr id="7" name="Text 4"/>
          <p:cNvSpPr txBox="1"/>
          <p:nvPr/>
        </p:nvSpPr>
        <p:spPr>
          <a:xfrm>
            <a:off x="91440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Proof of concept</a:t>
            </a:r>
            <a:endParaRPr lang="en-US" sz="1500" dirty="0"/>
          </a:p>
        </p:txBody>
      </p:sp>
      <p:sp>
        <p:nvSpPr>
          <p:cNvPr id="8" name="Shape 5"/>
          <p:cNvSpPr/>
          <p:nvPr/>
        </p:nvSpPr>
        <p:spPr>
          <a:xfrm>
            <a:off x="64008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9" name="Text 6"/>
          <p:cNvSpPr txBox="1"/>
          <p:nvPr/>
        </p:nvSpPr>
        <p:spPr>
          <a:xfrm>
            <a:off x="914400" y="292608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0" name="Text 7"/>
          <p:cNvSpPr txBox="1"/>
          <p:nvPr/>
        </p:nvSpPr>
        <p:spPr>
          <a:xfrm>
            <a:off x="123444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Synthetic data only</a:t>
            </a:r>
            <a:endParaRPr lang="en-US" sz="1300" dirty="0"/>
          </a:p>
        </p:txBody>
      </p:sp>
      <p:sp>
        <p:nvSpPr>
          <p:cNvPr id="11" name="Text 8"/>
          <p:cNvSpPr txBox="1"/>
          <p:nvPr/>
        </p:nvSpPr>
        <p:spPr>
          <a:xfrm>
            <a:off x="914400" y="342900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2" name="Text 9"/>
          <p:cNvSpPr txBox="1"/>
          <p:nvPr/>
        </p:nvSpPr>
        <p:spPr>
          <a:xfrm>
            <a:off x="123444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Placeholder rule thresholds</a:t>
            </a:r>
            <a:endParaRPr lang="en-US" sz="1300" dirty="0"/>
          </a:p>
        </p:txBody>
      </p:sp>
      <p:sp>
        <p:nvSpPr>
          <p:cNvPr id="13" name="Text 10"/>
          <p:cNvSpPr txBox="1"/>
          <p:nvPr/>
        </p:nvSpPr>
        <p:spPr>
          <a:xfrm>
            <a:off x="914400" y="393192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4" name="Text 11"/>
          <p:cNvSpPr txBox="1"/>
          <p:nvPr/>
        </p:nvSpPr>
        <p:spPr>
          <a:xfrm>
            <a:off x="123444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No sign-in yet</a:t>
            </a:r>
            <a:endParaRPr lang="en-US" sz="1300" dirty="0"/>
          </a:p>
        </p:txBody>
      </p:sp>
      <p:sp>
        <p:nvSpPr>
          <p:cNvPr id="15" name="Text 12"/>
          <p:cNvSpPr txBox="1"/>
          <p:nvPr/>
        </p:nvSpPr>
        <p:spPr>
          <a:xfrm>
            <a:off x="914400" y="443484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6" name="Text 13"/>
          <p:cNvSpPr txBox="1"/>
          <p:nvPr/>
        </p:nvSpPr>
        <p:spPr>
          <a:xfrm>
            <a:off x="1234440" y="4434840"/>
            <a:ext cx="2651760" cy="365760"/>
          </a:xfrm>
          <a:prstGeom prst="rect">
            <a:avLst/>
          </a:prstGeom>
          <a:noFill/>
          <a:ln/>
        </p:spPr>
        <p:txBody>
          <a:bodyPr wrap="square" lIns="0" tIns="0" rIns="0" bIns="0" rtlCol="0" anchor="ctr"/>
          <a:lstStyle/>
          <a:p>
            <a:pPr indent="0" marL="0">
              <a:buNone/>
            </a:pPr>
            <a:r>
              <a:rPr lang="en-US" sz="1300" dirty="0">
                <a:solidFill>
                  <a:srgbClr val="1B2438"/>
                </a:solidFill>
              </a:rPr>
              <a:t>File-based review queue</a:t>
            </a:r>
            <a:endParaRPr lang="en-US" sz="1300" dirty="0"/>
          </a:p>
        </p:txBody>
      </p:sp>
      <p:sp>
        <p:nvSpPr>
          <p:cNvPr id="17" name="Shape 14"/>
          <p:cNvSpPr/>
          <p:nvPr/>
        </p:nvSpPr>
        <p:spPr>
          <a:xfrm>
            <a:off x="4343400" y="1737360"/>
            <a:ext cx="3611880" cy="777240"/>
          </a:xfrm>
          <a:prstGeom prst="homePlate">
            <a:avLst/>
          </a:prstGeom>
          <a:solidFill>
            <a:srgbClr val="1E4FD8"/>
          </a:solidFill>
          <a:ln w="12700">
            <a:solidFill>
              <a:srgbClr val="1E4FD8"/>
            </a:solidFill>
            <a:prstDash val="solid"/>
          </a:ln>
        </p:spPr>
      </p:sp>
      <p:sp>
        <p:nvSpPr>
          <p:cNvPr id="18" name="Text 15"/>
          <p:cNvSpPr txBox="1"/>
          <p:nvPr/>
        </p:nvSpPr>
        <p:spPr>
          <a:xfrm>
            <a:off x="461772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PILOT</a:t>
            </a:r>
            <a:endParaRPr lang="en-US" sz="1100" dirty="0"/>
          </a:p>
        </p:txBody>
      </p:sp>
      <p:sp>
        <p:nvSpPr>
          <p:cNvPr id="19" name="Text 16"/>
          <p:cNvSpPr txBox="1"/>
          <p:nvPr/>
        </p:nvSpPr>
        <p:spPr>
          <a:xfrm>
            <a:off x="461772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Controlled real use</a:t>
            </a:r>
            <a:endParaRPr lang="en-US" sz="1500" dirty="0"/>
          </a:p>
        </p:txBody>
      </p:sp>
      <p:sp>
        <p:nvSpPr>
          <p:cNvPr id="20" name="Shape 17"/>
          <p:cNvSpPr/>
          <p:nvPr/>
        </p:nvSpPr>
        <p:spPr>
          <a:xfrm>
            <a:off x="434340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1" name="Text 18"/>
          <p:cNvSpPr txBox="1"/>
          <p:nvPr/>
        </p:nvSpPr>
        <p:spPr>
          <a:xfrm>
            <a:off x="4617720" y="292608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2" name="Text 19"/>
          <p:cNvSpPr txBox="1"/>
          <p:nvPr/>
        </p:nvSpPr>
        <p:spPr>
          <a:xfrm>
            <a:off x="493776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Authentication and roles</a:t>
            </a:r>
            <a:endParaRPr lang="en-US" sz="1300" dirty="0"/>
          </a:p>
        </p:txBody>
      </p:sp>
      <p:sp>
        <p:nvSpPr>
          <p:cNvPr id="23" name="Text 20"/>
          <p:cNvSpPr txBox="1"/>
          <p:nvPr/>
        </p:nvSpPr>
        <p:spPr>
          <a:xfrm>
            <a:off x="4617720" y="342900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4" name="Text 21"/>
          <p:cNvSpPr txBox="1"/>
          <p:nvPr/>
        </p:nvSpPr>
        <p:spPr>
          <a:xfrm>
            <a:off x="493776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Database or case-management system</a:t>
            </a:r>
            <a:endParaRPr lang="en-US" sz="1300" dirty="0"/>
          </a:p>
        </p:txBody>
      </p:sp>
      <p:sp>
        <p:nvSpPr>
          <p:cNvPr id="25" name="Text 22"/>
          <p:cNvSpPr txBox="1"/>
          <p:nvPr/>
        </p:nvSpPr>
        <p:spPr>
          <a:xfrm>
            <a:off x="4617720" y="393192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6" name="Text 23"/>
          <p:cNvSpPr txBox="1"/>
          <p:nvPr/>
        </p:nvSpPr>
        <p:spPr>
          <a:xfrm>
            <a:off x="493776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Clinician-owned rule values</a:t>
            </a:r>
            <a:endParaRPr lang="en-US" sz="1300" dirty="0"/>
          </a:p>
        </p:txBody>
      </p:sp>
      <p:sp>
        <p:nvSpPr>
          <p:cNvPr id="27" name="Shape 24"/>
          <p:cNvSpPr/>
          <p:nvPr/>
        </p:nvSpPr>
        <p:spPr>
          <a:xfrm>
            <a:off x="8046720" y="1737360"/>
            <a:ext cx="3611880" cy="777240"/>
          </a:xfrm>
          <a:prstGeom prst="homePlate">
            <a:avLst/>
          </a:prstGeom>
          <a:solidFill>
            <a:srgbClr val="0A1F5C"/>
          </a:solidFill>
          <a:ln w="12700">
            <a:solidFill>
              <a:srgbClr val="0A1F5C"/>
            </a:solidFill>
            <a:prstDash val="solid"/>
          </a:ln>
        </p:spPr>
      </p:sp>
      <p:sp>
        <p:nvSpPr>
          <p:cNvPr id="28" name="Text 25"/>
          <p:cNvSpPr txBox="1"/>
          <p:nvPr/>
        </p:nvSpPr>
        <p:spPr>
          <a:xfrm>
            <a:off x="832104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PRODUCTION</a:t>
            </a:r>
            <a:endParaRPr lang="en-US" sz="1100" dirty="0"/>
          </a:p>
        </p:txBody>
      </p:sp>
      <p:sp>
        <p:nvSpPr>
          <p:cNvPr id="29" name="Text 26"/>
          <p:cNvSpPr txBox="1"/>
          <p:nvPr/>
        </p:nvSpPr>
        <p:spPr>
          <a:xfrm>
            <a:off x="832104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Operated service</a:t>
            </a:r>
            <a:endParaRPr lang="en-US" sz="1500" dirty="0"/>
          </a:p>
        </p:txBody>
      </p:sp>
      <p:sp>
        <p:nvSpPr>
          <p:cNvPr id="30" name="Shape 27"/>
          <p:cNvSpPr/>
          <p:nvPr/>
        </p:nvSpPr>
        <p:spPr>
          <a:xfrm>
            <a:off x="804672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1" name="Text 28"/>
          <p:cNvSpPr txBox="1"/>
          <p:nvPr/>
        </p:nvSpPr>
        <p:spPr>
          <a:xfrm>
            <a:off x="8321040" y="292608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2" name="Text 29"/>
          <p:cNvSpPr txBox="1"/>
          <p:nvPr/>
        </p:nvSpPr>
        <p:spPr>
          <a:xfrm>
            <a:off x="864108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Article approval workflow</a:t>
            </a:r>
            <a:endParaRPr lang="en-US" sz="1300" dirty="0"/>
          </a:p>
        </p:txBody>
      </p:sp>
      <p:sp>
        <p:nvSpPr>
          <p:cNvPr id="33" name="Text 30"/>
          <p:cNvSpPr txBox="1"/>
          <p:nvPr/>
        </p:nvSpPr>
        <p:spPr>
          <a:xfrm>
            <a:off x="8321040" y="342900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4" name="Text 31"/>
          <p:cNvSpPr txBox="1"/>
          <p:nvPr/>
        </p:nvSpPr>
        <p:spPr>
          <a:xfrm>
            <a:off x="864108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Quality monitoring</a:t>
            </a:r>
            <a:endParaRPr lang="en-US" sz="1300" dirty="0"/>
          </a:p>
        </p:txBody>
      </p:sp>
      <p:sp>
        <p:nvSpPr>
          <p:cNvPr id="35" name="Text 32"/>
          <p:cNvSpPr txBox="1"/>
          <p:nvPr/>
        </p:nvSpPr>
        <p:spPr>
          <a:xfrm>
            <a:off x="8321040" y="393192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6" name="Text 33"/>
          <p:cNvSpPr txBox="1"/>
          <p:nvPr/>
        </p:nvSpPr>
        <p:spPr>
          <a:xfrm>
            <a:off x="864108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Native-speaker translation review</a:t>
            </a:r>
            <a:endParaRPr lang="en-US" sz="1300" dirty="0"/>
          </a:p>
        </p:txBody>
      </p:sp>
      <p:sp>
        <p:nvSpPr>
          <p:cNvPr id="37" name="Shape 34"/>
          <p:cNvSpPr/>
          <p:nvPr/>
        </p:nvSpPr>
        <p:spPr>
          <a:xfrm>
            <a:off x="640080" y="5257800"/>
            <a:ext cx="10908792" cy="777240"/>
          </a:xfrm>
          <a:prstGeom prst="rect">
            <a:avLst/>
          </a:prstGeom>
          <a:solidFill>
            <a:srgbClr val="0A1F5C"/>
          </a:solidFill>
          <a:ln w="12700">
            <a:solidFill>
              <a:srgbClr val="0A1F5C"/>
            </a:solidFill>
            <a:prstDash val="solid"/>
          </a:ln>
        </p:spPr>
      </p:sp>
      <p:sp>
        <p:nvSpPr>
          <p:cNvPr id="38" name="Text 35"/>
          <p:cNvSpPr txBox="1"/>
          <p:nvPr/>
        </p:nvSpPr>
        <p:spPr>
          <a:xfrm>
            <a:off x="960120" y="5257800"/>
            <a:ext cx="1737360" cy="777240"/>
          </a:xfrm>
          <a:prstGeom prst="rect">
            <a:avLst/>
          </a:prstGeom>
          <a:noFill/>
          <a:ln/>
        </p:spPr>
        <p:txBody>
          <a:bodyPr wrap="square" lIns="0" tIns="0" rIns="0" bIns="0" rtlCol="0" anchor="ctr"/>
          <a:lstStyle/>
          <a:p>
            <a:pPr indent="0" marL="0">
              <a:buNone/>
            </a:pPr>
            <a:r>
              <a:rPr lang="en-US" sz="1100" b="1" spc="300" kern="0" dirty="0">
                <a:solidFill>
                  <a:srgbClr val="3CC3F0"/>
                </a:solidFill>
              </a:rPr>
              <a:t>NEXT STEP</a:t>
            </a:r>
            <a:endParaRPr lang="en-US" sz="1100" dirty="0"/>
          </a:p>
        </p:txBody>
      </p:sp>
      <p:sp>
        <p:nvSpPr>
          <p:cNvPr id="39" name="Text 36"/>
          <p:cNvSpPr txBox="1"/>
          <p:nvPr/>
        </p:nvSpPr>
        <p:spPr>
          <a:xfrm>
            <a:off x="2743200" y="5257800"/>
            <a:ext cx="8595360" cy="777240"/>
          </a:xfrm>
          <a:prstGeom prst="rect">
            <a:avLst/>
          </a:prstGeom>
          <a:noFill/>
          <a:ln/>
        </p:spPr>
        <p:txBody>
          <a:bodyPr wrap="square" lIns="0" tIns="0" rIns="0" bIns="0" rtlCol="0" anchor="ctr"/>
          <a:lstStyle/>
          <a:p>
            <a:pPr indent="0" marL="0">
              <a:buNone/>
            </a:pPr>
            <a:r>
              <a:rPr lang="en-US" sz="1700" b="1" dirty="0">
                <a:solidFill>
                  <a:srgbClr val="FFFFFF"/>
                </a:solidFill>
              </a:rPr>
              <a:t>Agree a pilot scope and name a clinical owner for the rule values.</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675120" y="777240"/>
            <a:ext cx="5486400" cy="5486400"/>
          </a:xfrm>
          <a:prstGeom prst="ellipse">
            <a:avLst/>
          </a:prstGeom>
          <a:ln w="9525">
            <a:solidFill>
              <a:srgbClr val="FFFFFF">
                <a:alpha val="18000"/>
              </a:srgbClr>
            </a:solidFill>
            <a:prstDash val="dash"/>
          </a:ln>
        </p:spPr>
      </p:sp>
      <p:sp>
        <p:nvSpPr>
          <p:cNvPr id="6" name="Shape 2"/>
          <p:cNvSpPr/>
          <p:nvPr/>
        </p:nvSpPr>
        <p:spPr>
          <a:xfrm>
            <a:off x="7269480" y="1371600"/>
            <a:ext cx="4297680" cy="4297680"/>
          </a:xfrm>
          <a:prstGeom prst="ellipse">
            <a:avLst/>
          </a:prstGeom>
          <a:ln w="9525">
            <a:solidFill>
              <a:srgbClr val="FFFFFF">
                <a:alpha val="30000"/>
              </a:srgbClr>
            </a:solidFill>
            <a:prstDash val="solid"/>
          </a:ln>
        </p:spPr>
      </p:sp>
      <p:sp>
        <p:nvSpPr>
          <p:cNvPr id="7" name="Shape 3"/>
          <p:cNvSpPr/>
          <p:nvPr/>
        </p:nvSpPr>
        <p:spPr>
          <a:xfrm>
            <a:off x="7863840" y="1965960"/>
            <a:ext cx="3108960" cy="3108960"/>
          </a:xfrm>
          <a:prstGeom prst="ellipse">
            <a:avLst/>
          </a:prstGeom>
          <a:ln w="9525">
            <a:solidFill>
              <a:srgbClr val="FFFFFF">
                <a:alpha val="30000"/>
              </a:srgbClr>
            </a:solidFill>
            <a:prstDash val="solid"/>
          </a:ln>
        </p:spPr>
      </p:sp>
      <p:sp>
        <p:nvSpPr>
          <p:cNvPr id="8" name="Shape 4"/>
          <p:cNvSpPr/>
          <p:nvPr/>
        </p:nvSpPr>
        <p:spPr>
          <a:xfrm>
            <a:off x="8503920" y="2606040"/>
            <a:ext cx="1828800" cy="182880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65960"/>
            <a:ext cx="0" cy="1554480"/>
          </a:xfrm>
          <a:prstGeom prst="line">
            <a:avLst/>
          </a:prstGeom>
          <a:noFill/>
          <a:ln w="12700">
            <a:solidFill>
              <a:srgbClr val="FFFFFF">
                <a:alpha val="45000"/>
              </a:srgbClr>
            </a:solidFill>
            <a:prstDash val="solid"/>
          </a:ln>
        </p:spPr>
      </p:sp>
      <p:sp>
        <p:nvSpPr>
          <p:cNvPr id="10" name="Shape 6"/>
          <p:cNvSpPr/>
          <p:nvPr/>
        </p:nvSpPr>
        <p:spPr>
          <a:xfrm flipV="1">
            <a:off x="9418320" y="2743200"/>
            <a:ext cx="1346219" cy="777240"/>
          </a:xfrm>
          <a:prstGeom prst="line">
            <a:avLst/>
          </a:prstGeom>
          <a:noFill/>
          <a:ln w="12700">
            <a:solidFill>
              <a:srgbClr val="FFFFFF">
                <a:alpha val="45000"/>
              </a:srgbClr>
            </a:solidFill>
            <a:prstDash val="solid"/>
          </a:ln>
        </p:spPr>
      </p:sp>
      <p:sp>
        <p:nvSpPr>
          <p:cNvPr id="11" name="Shape 7"/>
          <p:cNvSpPr/>
          <p:nvPr/>
        </p:nvSpPr>
        <p:spPr>
          <a:xfrm>
            <a:off x="9418320" y="3520440"/>
            <a:ext cx="1346219" cy="777240"/>
          </a:xfrm>
          <a:prstGeom prst="line">
            <a:avLst/>
          </a:prstGeom>
          <a:noFill/>
          <a:ln w="12700">
            <a:solidFill>
              <a:srgbClr val="FFFFFF">
                <a:alpha val="45000"/>
              </a:srgbClr>
            </a:solidFill>
            <a:prstDash val="solid"/>
          </a:ln>
        </p:spPr>
      </p:sp>
      <p:sp>
        <p:nvSpPr>
          <p:cNvPr id="12" name="Shape 8"/>
          <p:cNvSpPr/>
          <p:nvPr/>
        </p:nvSpPr>
        <p:spPr>
          <a:xfrm>
            <a:off x="9418320" y="3520440"/>
            <a:ext cx="0" cy="1554480"/>
          </a:xfrm>
          <a:prstGeom prst="line">
            <a:avLst/>
          </a:prstGeom>
          <a:noFill/>
          <a:ln w="12700">
            <a:solidFill>
              <a:srgbClr val="FFFFFF">
                <a:alpha val="45000"/>
              </a:srgbClr>
            </a:solidFill>
            <a:prstDash val="solid"/>
          </a:ln>
        </p:spPr>
      </p:sp>
      <p:sp>
        <p:nvSpPr>
          <p:cNvPr id="13" name="Shape 9"/>
          <p:cNvSpPr/>
          <p:nvPr/>
        </p:nvSpPr>
        <p:spPr>
          <a:xfrm flipV="1">
            <a:off x="8072101" y="3520440"/>
            <a:ext cx="1346219" cy="777240"/>
          </a:xfrm>
          <a:prstGeom prst="line">
            <a:avLst/>
          </a:prstGeom>
          <a:noFill/>
          <a:ln w="12700">
            <a:solidFill>
              <a:srgbClr val="FFFFFF">
                <a:alpha val="45000"/>
              </a:srgbClr>
            </a:solidFill>
            <a:prstDash val="solid"/>
          </a:ln>
        </p:spPr>
      </p:sp>
      <p:sp>
        <p:nvSpPr>
          <p:cNvPr id="14" name="Shape 10"/>
          <p:cNvSpPr/>
          <p:nvPr/>
        </p:nvSpPr>
        <p:spPr>
          <a:xfrm>
            <a:off x="8072101" y="2743200"/>
            <a:ext cx="1346219" cy="777240"/>
          </a:xfrm>
          <a:prstGeom prst="line">
            <a:avLst/>
          </a:prstGeom>
          <a:noFill/>
          <a:ln w="12700">
            <a:solidFill>
              <a:srgbClr val="FFFFFF">
                <a:alpha val="45000"/>
              </a:srgbClr>
            </a:solidFill>
            <a:prstDash val="solid"/>
          </a:ln>
        </p:spPr>
      </p:sp>
      <p:sp>
        <p:nvSpPr>
          <p:cNvPr id="15" name="Shape 11"/>
          <p:cNvSpPr/>
          <p:nvPr/>
        </p:nvSpPr>
        <p:spPr>
          <a:xfrm>
            <a:off x="9418320" y="1965960"/>
            <a:ext cx="1346219" cy="777240"/>
          </a:xfrm>
          <a:prstGeom prst="line">
            <a:avLst/>
          </a:prstGeom>
          <a:noFill/>
          <a:ln w="9525">
            <a:solidFill>
              <a:srgbClr val="3CC3F0">
                <a:alpha val="30000"/>
              </a:srgbClr>
            </a:solidFill>
            <a:prstDash val="solid"/>
          </a:ln>
        </p:spPr>
      </p:sp>
      <p:sp>
        <p:nvSpPr>
          <p:cNvPr id="16" name="Shape 12"/>
          <p:cNvSpPr/>
          <p:nvPr/>
        </p:nvSpPr>
        <p:spPr>
          <a:xfrm>
            <a:off x="10764539" y="2743200"/>
            <a:ext cx="0" cy="1554480"/>
          </a:xfrm>
          <a:prstGeom prst="line">
            <a:avLst/>
          </a:prstGeom>
          <a:noFill/>
          <a:ln w="9525">
            <a:solidFill>
              <a:srgbClr val="3CC3F0">
                <a:alpha val="30000"/>
              </a:srgbClr>
            </a:solidFill>
            <a:prstDash val="solid"/>
          </a:ln>
        </p:spPr>
      </p:sp>
      <p:sp>
        <p:nvSpPr>
          <p:cNvPr id="17" name="Shape 13"/>
          <p:cNvSpPr/>
          <p:nvPr/>
        </p:nvSpPr>
        <p:spPr>
          <a:xfrm flipV="1">
            <a:off x="9418320" y="4297680"/>
            <a:ext cx="1346219" cy="777240"/>
          </a:xfrm>
          <a:prstGeom prst="line">
            <a:avLst/>
          </a:prstGeom>
          <a:noFill/>
          <a:ln w="9525">
            <a:solidFill>
              <a:srgbClr val="3CC3F0">
                <a:alpha val="30000"/>
              </a:srgbClr>
            </a:solidFill>
            <a:prstDash val="solid"/>
          </a:ln>
        </p:spPr>
      </p:sp>
      <p:sp>
        <p:nvSpPr>
          <p:cNvPr id="18" name="Shape 14"/>
          <p:cNvSpPr/>
          <p:nvPr/>
        </p:nvSpPr>
        <p:spPr>
          <a:xfrm>
            <a:off x="8072101" y="4297680"/>
            <a:ext cx="1346219" cy="777240"/>
          </a:xfrm>
          <a:prstGeom prst="line">
            <a:avLst/>
          </a:prstGeom>
          <a:noFill/>
          <a:ln w="9525">
            <a:solidFill>
              <a:srgbClr val="3CC3F0">
                <a:alpha val="30000"/>
              </a:srgbClr>
            </a:solidFill>
            <a:prstDash val="solid"/>
          </a:ln>
        </p:spPr>
      </p:sp>
      <p:sp>
        <p:nvSpPr>
          <p:cNvPr id="19" name="Shape 15"/>
          <p:cNvSpPr/>
          <p:nvPr/>
        </p:nvSpPr>
        <p:spPr>
          <a:xfrm flipV="1">
            <a:off x="8072101" y="2743200"/>
            <a:ext cx="0" cy="1554480"/>
          </a:xfrm>
          <a:prstGeom prst="line">
            <a:avLst/>
          </a:prstGeom>
          <a:noFill/>
          <a:ln w="9525">
            <a:solidFill>
              <a:srgbClr val="3CC3F0">
                <a:alpha val="30000"/>
              </a:srgbClr>
            </a:solidFill>
            <a:prstDash val="solid"/>
          </a:ln>
        </p:spPr>
      </p:sp>
      <p:sp>
        <p:nvSpPr>
          <p:cNvPr id="20" name="Shape 16"/>
          <p:cNvSpPr/>
          <p:nvPr/>
        </p:nvSpPr>
        <p:spPr>
          <a:xfrm flipV="1">
            <a:off x="8072101" y="1965960"/>
            <a:ext cx="1346219" cy="777240"/>
          </a:xfrm>
          <a:prstGeom prst="line">
            <a:avLst/>
          </a:prstGeom>
          <a:noFill/>
          <a:ln w="9525">
            <a:solidFill>
              <a:srgbClr val="3CC3F0">
                <a:alpha val="30000"/>
              </a:srgbClr>
            </a:solidFill>
            <a:prstDash val="solid"/>
          </a:ln>
        </p:spPr>
      </p:sp>
      <p:sp>
        <p:nvSpPr>
          <p:cNvPr id="21" name="Shape 17"/>
          <p:cNvSpPr/>
          <p:nvPr/>
        </p:nvSpPr>
        <p:spPr>
          <a:xfrm>
            <a:off x="8851392" y="2953512"/>
            <a:ext cx="1133856" cy="1133856"/>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34272" y="3136392"/>
            <a:ext cx="768096" cy="768096"/>
          </a:xfrm>
          <a:prstGeom prst="ellipse">
            <a:avLst/>
          </a:prstGeom>
          <a:solidFill>
            <a:srgbClr val="FFFFFF"/>
          </a:solidFill>
          <a:ln w="12700">
            <a:solidFill>
              <a:srgbClr val="FFFFFF"/>
            </a:solidFill>
            <a:prstDash val="solid"/>
          </a:ln>
        </p:spPr>
      </p:sp>
      <p:sp>
        <p:nvSpPr>
          <p:cNvPr id="23" name="Text 19"/>
          <p:cNvSpPr txBox="1"/>
          <p:nvPr/>
        </p:nvSpPr>
        <p:spPr>
          <a:xfrm>
            <a:off x="9034272" y="3136392"/>
            <a:ext cx="768096" cy="768096"/>
          </a:xfrm>
          <a:prstGeom prst="rect">
            <a:avLst/>
          </a:prstGeom>
          <a:noFill/>
          <a:ln/>
        </p:spPr>
        <p:txBody>
          <a:bodyPr wrap="square" lIns="0" tIns="0" rIns="0" bIns="0" rtlCol="0" anchor="ctr"/>
          <a:lstStyle/>
          <a:p>
            <a:pPr algn="ctr" indent="0" marL="0">
              <a:buNone/>
            </a:pPr>
            <a:r>
              <a:rPr lang="en-US" sz="900" b="1" dirty="0">
                <a:solidFill>
                  <a:srgbClr val="0A1F5C"/>
                </a:solidFill>
              </a:rPr>
              <a:t>CODE</a:t>
            </a:r>
            <a:endParaRPr lang="en-US" sz="900" dirty="0"/>
          </a:p>
          <a:p>
            <a:pPr algn="ctr" indent="0" marL="0">
              <a:buNone/>
            </a:pPr>
            <a:r>
              <a:rPr lang="en-US" sz="900" b="1" dirty="0">
                <a:solidFill>
                  <a:srgbClr val="0A1F5C"/>
                </a:solidFill>
              </a:rPr>
              <a:t>RULES</a:t>
            </a:r>
            <a:endParaRPr lang="en-US" sz="900" dirty="0"/>
          </a:p>
        </p:txBody>
      </p:sp>
      <p:sp>
        <p:nvSpPr>
          <p:cNvPr id="24" name="Shape 20"/>
          <p:cNvSpPr/>
          <p:nvPr/>
        </p:nvSpPr>
        <p:spPr>
          <a:xfrm>
            <a:off x="9144000" y="1691640"/>
            <a:ext cx="548640" cy="548640"/>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62872" y="1810512"/>
            <a:ext cx="310896" cy="310896"/>
          </a:xfrm>
          <a:prstGeom prst="ellipse">
            <a:avLst/>
          </a:prstGeom>
          <a:solidFill>
            <a:srgbClr val="FFFFFF"/>
          </a:solidFill>
          <a:ln w="12700">
            <a:solidFill>
              <a:srgbClr val="FFFFFF"/>
            </a:solidFill>
            <a:prstDash val="solid"/>
          </a:ln>
        </p:spPr>
      </p:sp>
      <p:sp>
        <p:nvSpPr>
          <p:cNvPr id="26" name="Shape 22"/>
          <p:cNvSpPr/>
          <p:nvPr/>
        </p:nvSpPr>
        <p:spPr>
          <a:xfrm>
            <a:off x="10490219" y="2468880"/>
            <a:ext cx="548640" cy="548640"/>
          </a:xfrm>
          <a:prstGeom prst="ellipse">
            <a:avLst/>
          </a:prstGeom>
          <a:solidFill>
            <a:srgbClr val="3CC3F0">
              <a:alpha val="25000"/>
            </a:srgbClr>
          </a:solidFill>
          <a:ln w="12700">
            <a:solidFill>
              <a:srgbClr val="3CC3F0">
                <a:alpha val="0"/>
              </a:srgbClr>
            </a:solidFill>
            <a:prstDash val="solid"/>
          </a:ln>
        </p:spPr>
      </p:sp>
      <p:sp>
        <p:nvSpPr>
          <p:cNvPr id="27" name="Shape 23"/>
          <p:cNvSpPr/>
          <p:nvPr/>
        </p:nvSpPr>
        <p:spPr>
          <a:xfrm>
            <a:off x="10609091" y="2587752"/>
            <a:ext cx="310896" cy="310896"/>
          </a:xfrm>
          <a:prstGeom prst="ellipse">
            <a:avLst/>
          </a:prstGeom>
          <a:solidFill>
            <a:srgbClr val="3CC3F0"/>
          </a:solidFill>
          <a:ln w="12700">
            <a:solidFill>
              <a:srgbClr val="3CC3F0"/>
            </a:solidFill>
            <a:prstDash val="solid"/>
          </a:ln>
        </p:spPr>
      </p:sp>
      <p:sp>
        <p:nvSpPr>
          <p:cNvPr id="28" name="Shape 24"/>
          <p:cNvSpPr/>
          <p:nvPr/>
        </p:nvSpPr>
        <p:spPr>
          <a:xfrm>
            <a:off x="10490219" y="4023360"/>
            <a:ext cx="548640" cy="548640"/>
          </a:xfrm>
          <a:prstGeom prst="ellipse">
            <a:avLst/>
          </a:prstGeom>
          <a:solidFill>
            <a:srgbClr val="3CC3F0">
              <a:alpha val="25000"/>
            </a:srgbClr>
          </a:solidFill>
          <a:ln w="12700">
            <a:solidFill>
              <a:srgbClr val="3CC3F0">
                <a:alpha val="0"/>
              </a:srgbClr>
            </a:solidFill>
            <a:prstDash val="solid"/>
          </a:ln>
        </p:spPr>
      </p:sp>
      <p:sp>
        <p:nvSpPr>
          <p:cNvPr id="29" name="Shape 25"/>
          <p:cNvSpPr/>
          <p:nvPr/>
        </p:nvSpPr>
        <p:spPr>
          <a:xfrm>
            <a:off x="10609091" y="4142232"/>
            <a:ext cx="310896" cy="310896"/>
          </a:xfrm>
          <a:prstGeom prst="ellipse">
            <a:avLst/>
          </a:prstGeom>
          <a:solidFill>
            <a:srgbClr val="3CC3F0"/>
          </a:solidFill>
          <a:ln w="12700">
            <a:solidFill>
              <a:srgbClr val="3CC3F0"/>
            </a:solidFill>
            <a:prstDash val="solid"/>
          </a:ln>
        </p:spPr>
      </p:sp>
      <p:sp>
        <p:nvSpPr>
          <p:cNvPr id="30" name="Shape 26"/>
          <p:cNvSpPr/>
          <p:nvPr/>
        </p:nvSpPr>
        <p:spPr>
          <a:xfrm>
            <a:off x="9144000" y="4800600"/>
            <a:ext cx="548640" cy="548640"/>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9262872" y="4919472"/>
            <a:ext cx="310896" cy="310896"/>
          </a:xfrm>
          <a:prstGeom prst="ellipse">
            <a:avLst/>
          </a:prstGeom>
          <a:solidFill>
            <a:srgbClr val="3CC3F0"/>
          </a:solidFill>
          <a:ln w="12700">
            <a:solidFill>
              <a:srgbClr val="3CC3F0"/>
            </a:solidFill>
            <a:prstDash val="solid"/>
          </a:ln>
        </p:spPr>
      </p:sp>
      <p:sp>
        <p:nvSpPr>
          <p:cNvPr id="32" name="Shape 28"/>
          <p:cNvSpPr/>
          <p:nvPr/>
        </p:nvSpPr>
        <p:spPr>
          <a:xfrm>
            <a:off x="7797781" y="4023360"/>
            <a:ext cx="548640" cy="548640"/>
          </a:xfrm>
          <a:prstGeom prst="ellipse">
            <a:avLst/>
          </a:prstGeom>
          <a:solidFill>
            <a:srgbClr val="3CC3F0">
              <a:alpha val="25000"/>
            </a:srgbClr>
          </a:solidFill>
          <a:ln w="12700">
            <a:solidFill>
              <a:srgbClr val="3CC3F0">
                <a:alpha val="0"/>
              </a:srgbClr>
            </a:solidFill>
            <a:prstDash val="solid"/>
          </a:ln>
        </p:spPr>
      </p:sp>
      <p:sp>
        <p:nvSpPr>
          <p:cNvPr id="33" name="Shape 29"/>
          <p:cNvSpPr/>
          <p:nvPr/>
        </p:nvSpPr>
        <p:spPr>
          <a:xfrm>
            <a:off x="7916653" y="4142232"/>
            <a:ext cx="310896" cy="310896"/>
          </a:xfrm>
          <a:prstGeom prst="ellipse">
            <a:avLst/>
          </a:prstGeom>
          <a:solidFill>
            <a:srgbClr val="3CC3F0"/>
          </a:solidFill>
          <a:ln w="12700">
            <a:solidFill>
              <a:srgbClr val="3CC3F0"/>
            </a:solidFill>
            <a:prstDash val="solid"/>
          </a:ln>
        </p:spPr>
      </p:sp>
      <p:sp>
        <p:nvSpPr>
          <p:cNvPr id="34" name="Shape 30"/>
          <p:cNvSpPr/>
          <p:nvPr/>
        </p:nvSpPr>
        <p:spPr>
          <a:xfrm>
            <a:off x="7797781" y="2468880"/>
            <a:ext cx="548640" cy="548640"/>
          </a:xfrm>
          <a:prstGeom prst="ellipse">
            <a:avLst/>
          </a:prstGeom>
          <a:solidFill>
            <a:srgbClr val="3CC3F0">
              <a:alpha val="25000"/>
            </a:srgbClr>
          </a:solidFill>
          <a:ln w="12700">
            <a:solidFill>
              <a:srgbClr val="3CC3F0">
                <a:alpha val="0"/>
              </a:srgbClr>
            </a:solidFill>
            <a:prstDash val="solid"/>
          </a:ln>
        </p:spPr>
      </p:sp>
      <p:sp>
        <p:nvSpPr>
          <p:cNvPr id="35" name="Shape 31"/>
          <p:cNvSpPr/>
          <p:nvPr/>
        </p:nvSpPr>
        <p:spPr>
          <a:xfrm>
            <a:off x="7916653" y="2587752"/>
            <a:ext cx="310896" cy="310896"/>
          </a:xfrm>
          <a:prstGeom prst="ellipse">
            <a:avLst/>
          </a:prstGeom>
          <a:solidFill>
            <a:srgbClr val="3CC3F0"/>
          </a:solidFill>
          <a:ln w="12700">
            <a:solidFill>
              <a:srgbClr val="3CC3F0"/>
            </a:solidFill>
            <a:prstDash val="solid"/>
          </a:ln>
        </p:spPr>
      </p:sp>
      <p:sp>
        <p:nvSpPr>
          <p:cNvPr id="36" name="Shape 32"/>
          <p:cNvSpPr/>
          <p:nvPr/>
        </p:nvSpPr>
        <p:spPr>
          <a:xfrm>
            <a:off x="11583122" y="1864709"/>
            <a:ext cx="164592" cy="164592"/>
          </a:xfrm>
          <a:prstGeom prst="ellipse">
            <a:avLst/>
          </a:prstGeom>
          <a:solidFill>
            <a:srgbClr val="FFFFFF">
              <a:alpha val="70000"/>
            </a:srgbClr>
          </a:solidFill>
          <a:ln w="12700">
            <a:solidFill>
              <a:srgbClr val="FFFFFF"/>
            </a:solidFill>
            <a:prstDash val="solid"/>
          </a:ln>
        </p:spPr>
      </p:sp>
      <p:sp>
        <p:nvSpPr>
          <p:cNvPr id="37" name="Shape 33"/>
          <p:cNvSpPr/>
          <p:nvPr/>
        </p:nvSpPr>
        <p:spPr>
          <a:xfrm>
            <a:off x="6960343" y="4809744"/>
            <a:ext cx="164592" cy="164592"/>
          </a:xfrm>
          <a:prstGeom prst="ellipse">
            <a:avLst/>
          </a:prstGeom>
          <a:solidFill>
            <a:srgbClr val="FFFFFF">
              <a:alpha val="70000"/>
            </a:srgbClr>
          </a:solidFill>
          <a:ln w="12700">
            <a:solidFill>
              <a:srgbClr val="FFFFFF"/>
            </a:solidFill>
            <a:prstDash val="solid"/>
          </a:ln>
        </p:spPr>
      </p:sp>
      <p:sp>
        <p:nvSpPr>
          <p:cNvPr id="38" name="Shape 34"/>
          <p:cNvSpPr/>
          <p:nvPr/>
        </p:nvSpPr>
        <p:spPr>
          <a:xfrm>
            <a:off x="7088926" y="1864709"/>
            <a:ext cx="164592" cy="164592"/>
          </a:xfrm>
          <a:prstGeom prst="ellipse">
            <a:avLst/>
          </a:prstGeom>
          <a:solidFill>
            <a:srgbClr val="FFFFFF">
              <a:alpha val="70000"/>
            </a:srgbClr>
          </a:solidFill>
          <a:ln w="12700">
            <a:solidFill>
              <a:srgbClr val="FFFFFF"/>
            </a:solidFill>
            <a:prstDash val="solid"/>
          </a:ln>
        </p:spPr>
      </p:sp>
      <p:sp>
        <p:nvSpPr>
          <p:cNvPr id="39" name="Text 35"/>
          <p:cNvSpPr txBox="1"/>
          <p:nvPr/>
        </p:nvSpPr>
        <p:spPr>
          <a:xfrm>
            <a:off x="731520" y="2468880"/>
            <a:ext cx="6400800" cy="1188720"/>
          </a:xfrm>
          <a:prstGeom prst="rect">
            <a:avLst/>
          </a:prstGeom>
          <a:noFill/>
          <a:ln/>
        </p:spPr>
        <p:txBody>
          <a:bodyPr wrap="square" lIns="0" tIns="0" rIns="0" bIns="0" rtlCol="0" anchor="t"/>
          <a:lstStyle/>
          <a:p>
            <a:pPr indent="0" marL="0">
              <a:buNone/>
            </a:pPr>
            <a:r>
              <a:rPr lang="en-US" sz="6000" b="1" dirty="0">
                <a:solidFill>
                  <a:srgbClr val="FFFFFF"/>
                </a:solidFill>
              </a:rPr>
              <a:t>Thank you</a:t>
            </a:r>
            <a:endParaRPr lang="en-US" sz="6000" dirty="0"/>
          </a:p>
        </p:txBody>
      </p:sp>
      <p:sp>
        <p:nvSpPr>
          <p:cNvPr id="40" name="Text 36"/>
          <p:cNvSpPr txBox="1"/>
          <p:nvPr/>
        </p:nvSpPr>
        <p:spPr>
          <a:xfrm>
            <a:off x="731520" y="3703320"/>
            <a:ext cx="6400800" cy="457200"/>
          </a:xfrm>
          <a:prstGeom prst="rect">
            <a:avLst/>
          </a:prstGeom>
          <a:noFill/>
          <a:ln/>
        </p:spPr>
        <p:txBody>
          <a:bodyPr wrap="square" lIns="0" tIns="0" rIns="0" bIns="0" rtlCol="0" anchor="t"/>
          <a:lstStyle/>
          <a:p>
            <a:pPr indent="0" marL="0">
              <a:buNone/>
            </a:pPr>
            <a:r>
              <a:rPr lang="en-US" sz="2200" dirty="0">
                <a:solidFill>
                  <a:srgbClr val="C9D8F2"/>
                </a:solidFill>
              </a:rPr>
              <a:t>Questions and discussion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dc:title>
  <dc:subject>PptxGenJS Presentation</dc:subject>
  <dc:creator>CitiusTech</dc:creator>
  <cp:lastModifiedBy>CitiusTech</cp:lastModifiedBy>
  <cp:revision>1</cp:revision>
  <dcterms:created xsi:type="dcterms:W3CDTF">2026-10-11T11:00:45Z</dcterms:created>
  <dcterms:modified xsi:type="dcterms:W3CDTF">2026-10-11T11:00:45Z</dcterms:modified>
</cp:coreProperties>
</file>