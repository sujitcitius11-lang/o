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69"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210FCC4-FB1D-7D26-D7DE-4966D8A3A0B4}">
          <p14:sldIdLst>
            <p14:sldId id="269"/>
          </p14:sldIdLst>
        </p14:section>
        <p14:section name="Agenda" id="{52F349F4-93AA-EE03-C490-DE18E05199D8}">
          <p14:sldIdLst>
            <p14:sldId id="257"/>
          </p14:sldIdLst>
        </p14:section>
        <p14:section name="01 Use case" id="{0E75CC12-6743-D816-AE7B-709CB7EABB73}">
          <p14:sldIdLst>
            <p14:sldId id="258"/>
          </p14:sldIdLst>
        </p14:section>
        <p14:section name="02 Solution" id="{1269ACBB-4AAD-799C-5881-7A849F165378}">
          <p14:sldIdLst>
            <p14:sldId id="259"/>
            <p14:sldId id="260"/>
          </p14:sldIdLst>
        </p14:section>
        <p14:section name="03 Architecture" id="{4AD68949-212F-2E5A-5E56-CD3EF675A45D}">
          <p14:sldIdLst>
            <p14:sldId id="261"/>
            <p14:sldId id="262"/>
          </p14:sldIdLst>
        </p14:section>
        <p14:section name="04 Live demo" id="{E8783AE7-6B4B-9C89-904D-9B73E1DE5B80}">
          <p14:sldIdLst>
            <p14:sldId id="263"/>
            <p14:sldId id="264"/>
          </p14:sldIdLst>
        </p14:section>
        <p14:section name="05 Results" id="{EB4F6D64-27B2-E8FD-A73B-B5BF19DF3345}">
          <p14:sldIdLst>
            <p14:sldId id="265"/>
          </p14:sldIdLst>
        </p14:section>
        <p14:section name="06 Limits and next steps" id="{6ED52597-C177-AA99-3A3F-3B6A5B2639F2}">
          <p14:sldIdLst>
            <p14:sldId id="266"/>
          </p14:sldIdLst>
        </p14:section>
        <p14:section name="Conclusion" id="{DD7E725E-3663-6AAD-037A-77CF10664202}">
          <p14:sldIdLst>
            <p14:sldId id="267"/>
          </p14:sldIdLst>
        </p14:section>
        <p14:section name="Close" id="{DC0B9FA2-AC30-3EC5-6144-05324A7AB86E}">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5" d="100"/>
          <a:sy n="75" d="100"/>
        </p:scale>
        <p:origin x="303" y="2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Members</c:v>
                </c:pt>
              </c:strCache>
            </c:strRef>
          </c:tx>
          <c:spPr>
            <a:solidFill>
              <a:schemeClr val="accent1"/>
            </a:solidFill>
            <a:ln w="9525" cap="flat">
              <a:solidFill>
                <a:srgbClr val="F9F9F9"/>
              </a:solidFill>
              <a:prstDash val="solid"/>
              <a:round/>
            </a:ln>
            <a:effectLst/>
          </c:spPr>
          <c:dPt>
            <c:idx val="0"/>
            <c:bubble3D val="0"/>
            <c:spPr>
              <a:solidFill>
                <a:srgbClr val="1547C8"/>
              </a:solidFill>
              <a:ln w="25400" cap="flat">
                <a:solidFill>
                  <a:srgbClr val="FFFFFF"/>
                </a:solidFill>
                <a:prstDash val="solid"/>
                <a:round/>
              </a:ln>
              <a:effectLst/>
            </c:spPr>
            <c:extLst>
              <c:ext xmlns:c16="http://schemas.microsoft.com/office/drawing/2014/chart" uri="{C3380CC4-5D6E-409C-BE32-E72D297353CC}">
                <c16:uniqueId val="{00000001-D9B5-44EB-A6E9-7379DB0B982F}"/>
              </c:ext>
            </c:extLst>
          </c:dPt>
          <c:dPt>
            <c:idx val="1"/>
            <c:bubble3D val="0"/>
            <c:spPr>
              <a:solidFill>
                <a:srgbClr val="F5A524"/>
              </a:solidFill>
              <a:ln w="25400" cap="flat">
                <a:solidFill>
                  <a:srgbClr val="FFFFFF"/>
                </a:solidFill>
                <a:prstDash val="solid"/>
                <a:round/>
              </a:ln>
              <a:effectLst/>
            </c:spPr>
            <c:extLst>
              <c:ext xmlns:c16="http://schemas.microsoft.com/office/drawing/2014/chart" uri="{C3380CC4-5D6E-409C-BE32-E72D297353CC}">
                <c16:uniqueId val="{00000003-D9B5-44EB-A6E9-7379DB0B982F}"/>
              </c:ext>
            </c:extLst>
          </c:dPt>
          <c:dPt>
            <c:idx val="2"/>
            <c:bubble3D val="0"/>
            <c:spPr>
              <a:solidFill>
                <a:srgbClr val="3CC3F0"/>
              </a:solidFill>
              <a:ln w="25400" cap="flat">
                <a:solidFill>
                  <a:srgbClr val="FFFFFF"/>
                </a:solidFill>
                <a:prstDash val="solid"/>
                <a:round/>
              </a:ln>
              <a:effectLst/>
            </c:spPr>
            <c:extLst>
              <c:ext xmlns:c16="http://schemas.microsoft.com/office/drawing/2014/chart" uri="{C3380CC4-5D6E-409C-BE32-E72D297353CC}">
                <c16:uniqueId val="{00000005-D9B5-44EB-A6E9-7379DB0B982F}"/>
              </c:ext>
            </c:extLst>
          </c:dPt>
          <c:dPt>
            <c:idx val="3"/>
            <c:bubble3D val="0"/>
            <c:spPr>
              <a:solidFill>
                <a:srgbClr val="E5484D"/>
              </a:solidFill>
              <a:ln w="25400" cap="flat">
                <a:solidFill>
                  <a:srgbClr val="FFFFFF"/>
                </a:solidFill>
                <a:prstDash val="solid"/>
                <a:round/>
              </a:ln>
              <a:effectLst/>
            </c:spPr>
            <c:extLst>
              <c:ext xmlns:c16="http://schemas.microsoft.com/office/drawing/2014/chart" uri="{C3380CC4-5D6E-409C-BE32-E72D297353CC}">
                <c16:uniqueId val="{00000007-D9B5-44EB-A6E9-7379DB0B982F}"/>
              </c:ext>
            </c:extLst>
          </c:dPt>
          <c:dLbls>
            <c:dLbl>
              <c:idx val="0"/>
              <c:numFmt formatCode="General" sourceLinked="0"/>
              <c:spPr/>
              <c:txPr>
                <a:bodyPr/>
                <a:lstStyle/>
                <a:p>
                  <a:pPr>
                    <a:defRPr sz="1200" b="1"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9B5-44EB-A6E9-7379DB0B982F}"/>
                </c:ext>
              </c:extLst>
            </c:dLbl>
            <c:dLbl>
              <c:idx val="1"/>
              <c:numFmt formatCode="General" sourceLinked="0"/>
              <c:spPr/>
              <c:txPr>
                <a:bodyPr/>
                <a:lstStyle/>
                <a:p>
                  <a:pPr>
                    <a:defRPr sz="1200" b="1"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9B5-44EB-A6E9-7379DB0B982F}"/>
                </c:ext>
              </c:extLst>
            </c:dLbl>
            <c:dLbl>
              <c:idx val="2"/>
              <c:numFmt formatCode="General" sourceLinked="0"/>
              <c:spPr/>
              <c:txPr>
                <a:bodyPr/>
                <a:lstStyle/>
                <a:p>
                  <a:pPr>
                    <a:defRPr sz="1200" b="1"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9B5-44EB-A6E9-7379DB0B982F}"/>
                </c:ext>
              </c:extLst>
            </c:dLbl>
            <c:dLbl>
              <c:idx val="3"/>
              <c:numFmt formatCode="General" sourceLinked="0"/>
              <c:spPr/>
              <c:txPr>
                <a:bodyPr/>
                <a:lstStyle/>
                <a:p>
                  <a:pPr>
                    <a:defRPr sz="1200" b="1"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D9B5-44EB-A6E9-7379DB0B982F}"/>
                </c:ext>
              </c:extLst>
            </c:dLbl>
            <c:numFmt formatCode="General"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Active</c:v>
                </c:pt>
                <c:pt idx="1">
                  <c:v>Expired</c:v>
                </c:pt>
                <c:pt idx="2">
                  <c:v>Pending</c:v>
                </c:pt>
                <c:pt idx="3">
                  <c:v>Revoked</c:v>
                </c:pt>
              </c:strCache>
            </c:strRef>
          </c:cat>
          <c:val>
            <c:numRef>
              <c:f>Sheet1!$B$2:$B$5</c:f>
              <c:numCache>
                <c:formatCode>General</c:formatCode>
                <c:ptCount val="4"/>
                <c:pt idx="0">
                  <c:v>84</c:v>
                </c:pt>
                <c:pt idx="1">
                  <c:v>8</c:v>
                </c:pt>
                <c:pt idx="2">
                  <c:v>7</c:v>
                </c:pt>
                <c:pt idx="3">
                  <c:v>6</c:v>
                </c:pt>
              </c:numCache>
            </c:numRef>
          </c:val>
          <c:extLst>
            <c:ext xmlns:c16="http://schemas.microsoft.com/office/drawing/2014/chart" uri="{C3380CC4-5D6E-409C-BE32-E72D297353CC}">
              <c16:uniqueId val="{00000008-D9B5-44EB-A6E9-7379DB0B982F}"/>
            </c:ext>
          </c:extLst>
        </c:ser>
        <c:dLbls>
          <c:showLegendKey val="0"/>
          <c:showVal val="0"/>
          <c:showCatName val="0"/>
          <c:showSerName val="0"/>
          <c:showPercent val="0"/>
          <c:showBubbleSize val="0"/>
          <c:showLeaderLines val="0"/>
        </c:dLbls>
        <c:firstSliceAng val="0"/>
        <c:holeSize val="58"/>
      </c:doughnutChart>
      <c:spPr>
        <a:noFill/>
        <a:ln>
          <a:noFill/>
        </a:ln>
        <a:effectLst/>
      </c:spPr>
    </c:plotArea>
    <c:legend>
      <c:legendPos val="r"/>
      <c:overlay val="0"/>
      <c:txPr>
        <a:bodyPr/>
        <a:lstStyle/>
        <a:p>
          <a:pPr>
            <a:defRPr sz="1200">
              <a:solidFill>
                <a:srgbClr val="1F2937"/>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1418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Good morning, and thank you for your time. We are Amey, Saurabh, Sujit and Shubham from CitiusTech. We will show you a working prototype that helps care teams keep chronic-care members engaged between visits. It runs on Microsoft Foundry and Azure. It organises information and hands anything risky to a person. It never diagnoses, never gives medical advice and never changes a medicine.
EXPLANATION:
Opening slide. Introduce the team and state the safety sentence once; everything later traces back to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parts. The titles are links, so we can jump to any section from here and use the Agenda link in each slide's footer to come back.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 teams are stretched. Coordinators repeat the same answers, members forget tasks, and hand-offs are messy. A normal chatbot is not safe here because it can hallucinate or advise. Our objective is to scale routine education and follow-up while leaving every clinical decision to people. The red box is the safety boundary from the assignment.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agents from the assignment. The orchestrator is plain Python plus one routing agent, so the order of steps and every safety decision are the same every time. Each of the others sees only the data it needs: that is least privilege. All six are created by code, not by hand in the portal.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design idea. Anything that must be exact is done by code: consent, the four escalation rules, the statistics and the citation check. The model only understands language and writes wording. Even then, its text is checked, and if it contains an invented number, a diagnosis, medication advice or a claim to be a clinician, it is thrown away and a fixed template is used instead.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message, six steps. Step one is the consent gate: if consent is not active, nothing else runs. Step two blocks injection and medication-change requests. The router picks the specialist. Code then reads only that member's data and applies the rules. The specialist agent words the answer. Finally we produce three separate outputs: the member view, the staff packet and a masked audit record. The coloured tags show where a human takes over.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starts as approved Markdown articles in Blob Storage. A script builds three Azure AI Search indexes: education, FAQ and care-plan guidance. The Education agent, hosted in Foundry, can search the education and FAQ indexes only. Its answer is then validated in code: the cited article must exist, be approved, fit the member's program and be the current version. If any check fails, or nothing relevant is found, the member is told there is a gap and staff follow up. We never fill a gap with the model's own knowledge.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paths, about five minutes. Normal: a member asks a general question and gets a cited answer. Exception: a member whose consent has expired, so processing stops before any data is read. Safety: a medication-change request is declined, and a blood-pressure summary for M-102 triggers an urgent staff-review record without any interpretation. Point out the disclaimer and the source IDs on every reply.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rules are the ones supplied in the assignment, evaluated in code exactly as written. Each match creates a record in the staff review queue; nobody is told what a value means. The two numbers used for ER-502 are placeholders chosen so the rule can be demonstrated. Real thresholds must come from clinicians.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of 14 scenarios pass in the offline dry run: the six from the assignment plus eight extra, covering normal paths, safety escalations, edge cases and conflicts, and failure handling. Be clear about the scope: an offline run proves our safety code and templates, not live model wording. Re-run the suite online against the deployed Foundry agents and update this slide with that result for the submission.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would rather state the limits than hide them. The ER-502 numbers are placeholders. Offline evidence is not live evidence. Keyword guards are English only. Everything is synthetic and not clinically reviewed. Next: run the online suite, get clinical sign-off, add a dedicated route for distress and urgent symptoms, and harden for production.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Takeaways: safe by design because rules and facts live in code; grounded because answers cite approved versions or admit a gap; human-led because risk goes to a staff queue with a clean packet; auditable because logs use masked IDs and no message text. Then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take questions or show any of the demo paths again.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4F6FB"/>
        </a:solidFill>
        <a:effectLst/>
      </p:bgPr>
    </p:bg>
    <p:spTree>
      <p:nvGrpSpPr>
        <p:cNvPr id="1" name=""/>
        <p:cNvGrpSpPr/>
        <p:nvPr/>
      </p:nvGrpSpPr>
      <p:grpSpPr>
        <a:xfrm>
          <a:off x="0" y="0"/>
          <a:ext cx="0" cy="0"/>
          <a:chOff x="0" y="0"/>
          <a:chExt cx="0" cy="0"/>
        </a:xfrm>
      </p:grpSpPr>
      <p:pic>
        <p:nvPicPr>
          <p:cNvPr id="2" name="Image 0" descr="CitiusTech logo"/>
          <p:cNvPicPr>
            <a:picLocks noChangeAspect="1"/>
          </p:cNvPicPr>
          <p:nvPr/>
        </p:nvPicPr>
        <p:blipFill>
          <a:blip r:embed="rId2"/>
          <a:stretch>
            <a:fillRect/>
          </a:stretch>
        </p:blipFill>
        <p:spPr>
          <a:xfrm>
            <a:off x="548640" y="6382512"/>
            <a:ext cx="219456" cy="219456"/>
          </a:xfrm>
          <a:prstGeom prst="rect">
            <a:avLst/>
          </a:prstGeom>
        </p:spPr>
      </p:pic>
      <p:sp>
        <p:nvSpPr>
          <p:cNvPr id="3" name="Text 0"/>
          <p:cNvSpPr/>
          <p:nvPr/>
        </p:nvSpPr>
        <p:spPr>
          <a:xfrm>
            <a:off x="841248" y="6382512"/>
            <a:ext cx="1828800" cy="219456"/>
          </a:xfrm>
          <a:prstGeom prst="rect">
            <a:avLst/>
          </a:prstGeom>
          <a:noFill/>
          <a:ln/>
        </p:spPr>
        <p:txBody>
          <a:bodyPr wrap="square" lIns="0" tIns="0" rIns="0" bIns="0" rtlCol="0" anchor="ctr"/>
          <a:lstStyle/>
          <a:p>
            <a:pPr marL="0" indent="0">
              <a:buNone/>
            </a:pPr>
            <a:r>
              <a:rPr lang="en-US" sz="1000" b="1" dirty="0">
                <a:solidFill>
                  <a:srgbClr val="1F2937"/>
                </a:solidFill>
              </a:rPr>
              <a:t>CitiusTech</a:t>
            </a:r>
            <a:endParaRPr lang="en-US" sz="1000" dirty="0"/>
          </a:p>
        </p:txBody>
      </p:sp>
      <p:sp>
        <p:nvSpPr>
          <p:cNvPr id="4" name="Text 1"/>
          <p:cNvSpPr>
            <a:spLocks noGrp="1"/>
          </p:cNvSpPr>
          <p:nvPr>
            <p:ph type="body" idx="102" hasCustomPrompt="1"/>
          </p:nvPr>
        </p:nvSpPr>
        <p:spPr>
          <a:xfrm>
            <a:off x="548640" y="347472"/>
            <a:ext cx="8229600" cy="256032"/>
          </a:xfrm>
          <a:prstGeom prst="rect">
            <a:avLst/>
          </a:prstGeom>
          <a:noFill/>
          <a:ln/>
        </p:spPr>
        <p:txBody>
          <a:bodyPr wrap="square" rtlCol="0"/>
          <a:lstStyle>
            <a:lvl1pPr marL="0" indent="0" algn="l">
              <a:buNone/>
              <a:defRPr lang="en-US" sz="1100" b="1" kern="0" spc="200" dirty="0">
                <a:solidFill>
                  <a:srgbClr val="1547C8"/>
                </a:solidFill>
              </a:defRPr>
            </a:lvl1pPr>
          </a:lstStyle>
          <a:p>
            <a:pPr marL="0" indent="0" algn="l">
              <a:buNone/>
            </a:pPr>
            <a:endParaRPr lang="en-US" sz="1100" dirty="0"/>
          </a:p>
        </p:txBody>
      </p:sp>
      <p:sp>
        <p:nvSpPr>
          <p:cNvPr id="5" name="Text 1"/>
          <p:cNvSpPr>
            <a:spLocks noGrp="1"/>
          </p:cNvSpPr>
          <p:nvPr>
            <p:ph type="title" idx="103" hasCustomPrompt="1"/>
          </p:nvPr>
        </p:nvSpPr>
        <p:spPr>
          <a:xfrm>
            <a:off x="548640" y="603504"/>
            <a:ext cx="11064240" cy="566928"/>
          </a:xfrm>
          <a:prstGeom prst="rect">
            <a:avLst/>
          </a:prstGeom>
          <a:noFill/>
          <a:ln/>
        </p:spPr>
        <p:txBody>
          <a:bodyPr wrap="square" rtlCol="0"/>
          <a:lstStyle>
            <a:lvl1pPr marL="0" indent="0" algn="l">
              <a:buNone/>
              <a:defRPr lang="en-US" sz="3000" b="1" dirty="0">
                <a:solidFill>
                  <a:srgbClr val="1F2937"/>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8"/>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p:cNvPicPr>
            <a:picLocks noChangeAspect="1"/>
          </p:cNvPicPr>
          <p:nvPr/>
        </p:nvPicPr>
        <p:blipFill>
          <a:blip r:embed="rId3"/>
          <a:stretch>
            <a:fillRect/>
          </a:stretch>
        </p:blipFill>
        <p:spPr>
          <a:xfrm>
            <a:off x="640080" y="548640"/>
            <a:ext cx="457200" cy="457200"/>
          </a:xfrm>
          <a:prstGeom prst="rect">
            <a:avLst/>
          </a:prstGeom>
        </p:spPr>
      </p:pic>
      <p:sp>
        <p:nvSpPr>
          <p:cNvPr id="3" name="Text 0"/>
          <p:cNvSpPr/>
          <p:nvPr/>
        </p:nvSpPr>
        <p:spPr>
          <a:xfrm>
            <a:off x="1225296" y="548640"/>
            <a:ext cx="2926080" cy="457200"/>
          </a:xfrm>
          <a:prstGeom prst="rect">
            <a:avLst/>
          </a:prstGeom>
          <a:noFill/>
          <a:ln/>
        </p:spPr>
        <p:txBody>
          <a:bodyPr wrap="square" lIns="0" tIns="0" rIns="0" bIns="0" rtlCol="0" anchor="ctr"/>
          <a:lstStyle/>
          <a:p>
            <a:pPr marL="0" indent="0">
              <a:buNone/>
            </a:pPr>
            <a:r>
              <a:rPr lang="en-US" sz="1700" b="1" dirty="0">
                <a:solidFill>
                  <a:srgbClr val="FFFFFF"/>
                </a:solidFill>
              </a:rPr>
              <a:t>CitiusTech</a:t>
            </a:r>
            <a:endParaRPr lang="en-US" sz="17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C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p:cNvPicPr>
            <a:picLocks noChangeAspect="1"/>
          </p:cNvPicPr>
          <p:nvPr/>
        </p:nvPicPr>
        <p:blipFill>
          <a:blip r:embed="rId3"/>
          <a:stretch>
            <a:fillRect/>
          </a:stretch>
        </p:blipFill>
        <p:spPr>
          <a:xfrm>
            <a:off x="640080" y="548640"/>
            <a:ext cx="457200" cy="457200"/>
          </a:xfrm>
          <a:prstGeom prst="rect">
            <a:avLst/>
          </a:prstGeom>
        </p:spPr>
      </p:pic>
      <p:sp>
        <p:nvSpPr>
          <p:cNvPr id="3" name="Text 0"/>
          <p:cNvSpPr/>
          <p:nvPr/>
        </p:nvSpPr>
        <p:spPr>
          <a:xfrm>
            <a:off x="1225296" y="548640"/>
            <a:ext cx="2926080" cy="457200"/>
          </a:xfrm>
          <a:prstGeom prst="rect">
            <a:avLst/>
          </a:prstGeom>
          <a:noFill/>
          <a:ln/>
        </p:spPr>
        <p:txBody>
          <a:bodyPr wrap="square" lIns="0" tIns="0" rIns="0" bIns="0" rtlCol="0" anchor="ctr"/>
          <a:lstStyle/>
          <a:p>
            <a:pPr marL="0" indent="0">
              <a:buNone/>
            </a:pPr>
            <a:r>
              <a:rPr lang="en-US" sz="1700" b="1" dirty="0">
                <a:solidFill>
                  <a:srgbClr val="FFFFFF"/>
                </a:solidFill>
              </a:rPr>
              <a:t>CitiusTech</a:t>
            </a:r>
            <a:endParaRPr lang="en-US" sz="17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_THANK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p:cNvPicPr>
            <a:picLocks noChangeAspect="1"/>
          </p:cNvPicPr>
          <p:nvPr/>
        </p:nvPicPr>
        <p:blipFill>
          <a:blip r:embed="rId3"/>
          <a:stretch>
            <a:fillRect/>
          </a:stretch>
        </p:blipFill>
        <p:spPr>
          <a:xfrm>
            <a:off x="640080" y="548640"/>
            <a:ext cx="457200" cy="457200"/>
          </a:xfrm>
          <a:prstGeom prst="rect">
            <a:avLst/>
          </a:prstGeom>
        </p:spPr>
      </p:pic>
      <p:sp>
        <p:nvSpPr>
          <p:cNvPr id="3" name="Text 0"/>
          <p:cNvSpPr/>
          <p:nvPr/>
        </p:nvSpPr>
        <p:spPr>
          <a:xfrm>
            <a:off x="1225296" y="548640"/>
            <a:ext cx="2926080" cy="457200"/>
          </a:xfrm>
          <a:prstGeom prst="rect">
            <a:avLst/>
          </a:prstGeom>
          <a:noFill/>
          <a:ln/>
        </p:spPr>
        <p:txBody>
          <a:bodyPr wrap="square" lIns="0" tIns="0" rIns="0" bIns="0" rtlCol="0" anchor="ctr"/>
          <a:lstStyle/>
          <a:p>
            <a:pPr marL="0" indent="0">
              <a:buNone/>
            </a:pPr>
            <a:r>
              <a:rPr lang="en-US" sz="1700" b="1" dirty="0">
                <a:solidFill>
                  <a:srgbClr val="FFFFFF"/>
                </a:solidFill>
              </a:rPr>
              <a:t>CitiusTech</a:t>
            </a:r>
            <a:endParaRPr lang="en-US" sz="17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bg>
      <p:bgPr>
        <a:solidFill>
          <a:srgbClr val="F4F6FB"/>
        </a:solidFill>
        <a:effectLst/>
      </p:bgPr>
    </p:bg>
    <p:spTree>
      <p:nvGrpSpPr>
        <p:cNvPr id="1" name=""/>
        <p:cNvGrpSpPr/>
        <p:nvPr/>
      </p:nvGrpSpPr>
      <p:grpSpPr>
        <a:xfrm>
          <a:off x="0" y="0"/>
          <a:ext cx="0" cy="0"/>
          <a:chOff x="0" y="0"/>
          <a:chExt cx="0" cy="0"/>
        </a:xfrm>
      </p:grpSpPr>
      <p:pic>
        <p:nvPicPr>
          <p:cNvPr id="2" name="Image 0" descr="Blue panel"/>
          <p:cNvPicPr>
            <a:picLocks noChangeAspect="1"/>
          </p:cNvPicPr>
          <p:nvPr/>
        </p:nvPicPr>
        <p:blipFill>
          <a:blip r:embed="rId2"/>
          <a:stretch>
            <a:fillRect/>
          </a:stretch>
        </p:blipFill>
        <p:spPr>
          <a:xfrm>
            <a:off x="0" y="0"/>
            <a:ext cx="4206240" cy="6858000"/>
          </a:xfrm>
          <a:prstGeom prst="rect">
            <a:avLst/>
          </a:prstGeom>
        </p:spPr>
      </p:pic>
      <p:pic>
        <p:nvPicPr>
          <p:cNvPr id="3" name="Image 1" descr="CitiusTech logo"/>
          <p:cNvPicPr>
            <a:picLocks noChangeAspect="1"/>
          </p:cNvPicPr>
          <p:nvPr/>
        </p:nvPicPr>
        <p:blipFill>
          <a:blip r:embed="rId3"/>
          <a:stretch>
            <a:fillRect/>
          </a:stretch>
        </p:blipFill>
        <p:spPr>
          <a:xfrm>
            <a:off x="548640" y="502920"/>
            <a:ext cx="310896" cy="310896"/>
          </a:xfrm>
          <a:prstGeom prst="rect">
            <a:avLst/>
          </a:prstGeom>
        </p:spPr>
      </p:pic>
      <p:sp>
        <p:nvSpPr>
          <p:cNvPr id="4" name="Text 0"/>
          <p:cNvSpPr/>
          <p:nvPr/>
        </p:nvSpPr>
        <p:spPr>
          <a:xfrm>
            <a:off x="987552" y="502920"/>
            <a:ext cx="2926080" cy="310896"/>
          </a:xfrm>
          <a:prstGeom prst="rect">
            <a:avLst/>
          </a:prstGeom>
          <a:noFill/>
          <a:ln/>
        </p:spPr>
        <p:txBody>
          <a:bodyPr wrap="square" lIns="0" tIns="0" rIns="0" bIns="0" rtlCol="0" anchor="ctr"/>
          <a:lstStyle/>
          <a:p>
            <a:pPr marL="0" indent="0">
              <a:buNone/>
            </a:pPr>
            <a:r>
              <a:rPr lang="en-US" sz="1300" b="1" dirty="0">
                <a:solidFill>
                  <a:srgbClr val="FFFFFF"/>
                </a:solidFill>
              </a:rPr>
              <a:t>CitiusTech</a:t>
            </a:r>
            <a:endParaRPr lang="en-US" sz="13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1669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8"/>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slide" Target="slide11.xml"/><Relationship Id="rId3" Type="http://schemas.openxmlformats.org/officeDocument/2006/relationships/slide" Target="slide3.xml"/><Relationship Id="rId7" Type="http://schemas.openxmlformats.org/officeDocument/2006/relationships/slide" Target="slide10.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slide" Target="slide8.xml"/><Relationship Id="rId5" Type="http://schemas.openxmlformats.org/officeDocument/2006/relationships/slide" Target="slide6.xml"/><Relationship Id="rId4" Type="http://schemas.openxmlformats.org/officeDocument/2006/relationships/slide" Target="slide4.xml"/><Relationship Id="rId9" Type="http://schemas.openxmlformats.org/officeDocument/2006/relationships/slide" Target="slide12.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 Target="slide2.xml"/><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 Target="slide2.xml"/><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13.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slide" Target="slide2.xml"/><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2.png"/><Relationship Id="rId5" Type="http://schemas.openxmlformats.org/officeDocument/2006/relationships/image" Target="../media/image17.png"/><Relationship Id="rId10" Type="http://schemas.openxmlformats.org/officeDocument/2006/relationships/image" Target="../media/image21.png"/><Relationship Id="rId4" Type="http://schemas.openxmlformats.org/officeDocument/2006/relationships/image" Target="../media/image19.png"/><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chart" Target="../charts/chart1.xml"/></Relationships>
</file>

<file path=ppt/slides/_rels/slide1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CitiusTech logo mark"/>
          <p:cNvPicPr>
            <a:picLocks noChangeAspect="1"/>
          </p:cNvPicPr>
          <p:nvPr/>
        </p:nvPicPr>
        <p:blipFill>
          <a:blip r:embed="rId3"/>
          <a:stretch>
            <a:fillRect/>
          </a:stretch>
        </p:blipFill>
        <p:spPr>
          <a:xfrm>
            <a:off x="731520" y="548640"/>
            <a:ext cx="457200" cy="457200"/>
          </a:xfrm>
          <a:prstGeom prst="rect">
            <a:avLst/>
          </a:prstGeom>
        </p:spPr>
      </p:pic>
      <p:sp>
        <p:nvSpPr>
          <p:cNvPr id="4" name="Text 0"/>
          <p:cNvSpPr txBox="1"/>
          <p:nvPr/>
        </p:nvSpPr>
        <p:spPr>
          <a:xfrm>
            <a:off x="1298448" y="548640"/>
            <a:ext cx="2743200" cy="457200"/>
          </a:xfrm>
          <a:prstGeom prst="rect">
            <a:avLst/>
          </a:prstGeom>
          <a:noFill/>
          <a:ln/>
        </p:spPr>
        <p:txBody>
          <a:bodyPr wrap="square" lIns="0" tIns="0" rIns="0" bIns="0" rtlCol="0" anchor="ctr"/>
          <a:lstStyle/>
          <a:p>
            <a:pPr marL="0" indent="0">
              <a:buNone/>
            </a:pPr>
            <a:r>
              <a:rPr lang="en-US" sz="2200" b="1" dirty="0">
                <a:solidFill>
                  <a:srgbClr val="FFFFFF"/>
                </a:solidFill>
              </a:rPr>
              <a:t>CitiusTech</a:t>
            </a:r>
            <a:endParaRPr lang="en-US" sz="2200" dirty="0"/>
          </a:p>
        </p:txBody>
      </p:sp>
      <p:sp>
        <p:nvSpPr>
          <p:cNvPr id="5" name="Shape 1"/>
          <p:cNvSpPr/>
          <p:nvPr/>
        </p:nvSpPr>
        <p:spPr>
          <a:xfrm>
            <a:off x="6949440" y="914400"/>
            <a:ext cx="4937760" cy="4937760"/>
          </a:xfrm>
          <a:prstGeom prst="ellipse">
            <a:avLst/>
          </a:prstGeom>
          <a:ln w="9525">
            <a:solidFill>
              <a:srgbClr val="FFFFFF">
                <a:alpha val="18000"/>
              </a:srgbClr>
            </a:solidFill>
            <a:prstDash val="dash"/>
          </a:ln>
        </p:spPr>
      </p:sp>
      <p:sp>
        <p:nvSpPr>
          <p:cNvPr id="6" name="Shape 2"/>
          <p:cNvSpPr/>
          <p:nvPr/>
        </p:nvSpPr>
        <p:spPr>
          <a:xfrm>
            <a:off x="7484364" y="1449324"/>
            <a:ext cx="3867912" cy="3867912"/>
          </a:xfrm>
          <a:prstGeom prst="ellipse">
            <a:avLst/>
          </a:prstGeom>
          <a:ln w="9525">
            <a:solidFill>
              <a:srgbClr val="FFFFFF">
                <a:alpha val="30000"/>
              </a:srgbClr>
            </a:solidFill>
            <a:prstDash val="solid"/>
          </a:ln>
        </p:spPr>
      </p:sp>
      <p:sp>
        <p:nvSpPr>
          <p:cNvPr id="7" name="Shape 3"/>
          <p:cNvSpPr/>
          <p:nvPr/>
        </p:nvSpPr>
        <p:spPr>
          <a:xfrm>
            <a:off x="8019288" y="1984248"/>
            <a:ext cx="2798064" cy="2798064"/>
          </a:xfrm>
          <a:prstGeom prst="ellipse">
            <a:avLst/>
          </a:prstGeom>
          <a:ln w="9525">
            <a:solidFill>
              <a:srgbClr val="FFFFFF">
                <a:alpha val="30000"/>
              </a:srgbClr>
            </a:solidFill>
            <a:prstDash val="solid"/>
          </a:ln>
        </p:spPr>
      </p:sp>
      <p:sp>
        <p:nvSpPr>
          <p:cNvPr id="8" name="Shape 4"/>
          <p:cNvSpPr/>
          <p:nvPr/>
        </p:nvSpPr>
        <p:spPr>
          <a:xfrm>
            <a:off x="8595360" y="2560320"/>
            <a:ext cx="1645920" cy="1645920"/>
          </a:xfrm>
          <a:prstGeom prst="ellipse">
            <a:avLst/>
          </a:prstGeom>
          <a:solidFill>
            <a:srgbClr val="3CC3F0">
              <a:alpha val="12000"/>
            </a:srgbClr>
          </a:solidFill>
          <a:ln w="12700">
            <a:solidFill>
              <a:srgbClr val="3CC3F0">
                <a:alpha val="0"/>
              </a:srgbClr>
            </a:solidFill>
            <a:prstDash val="solid"/>
          </a:ln>
        </p:spPr>
      </p:sp>
      <p:sp>
        <p:nvSpPr>
          <p:cNvPr id="9" name="Shape 5"/>
          <p:cNvSpPr/>
          <p:nvPr/>
        </p:nvSpPr>
        <p:spPr>
          <a:xfrm flipV="1">
            <a:off x="9418320" y="1984248"/>
            <a:ext cx="0" cy="1399032"/>
          </a:xfrm>
          <a:prstGeom prst="line">
            <a:avLst/>
          </a:prstGeom>
          <a:noFill/>
          <a:ln w="12700">
            <a:solidFill>
              <a:srgbClr val="FFFFFF">
                <a:alpha val="45000"/>
              </a:srgbClr>
            </a:solidFill>
            <a:prstDash val="solid"/>
          </a:ln>
        </p:spPr>
      </p:sp>
      <p:sp>
        <p:nvSpPr>
          <p:cNvPr id="10" name="Shape 6"/>
          <p:cNvSpPr/>
          <p:nvPr/>
        </p:nvSpPr>
        <p:spPr>
          <a:xfrm flipV="1">
            <a:off x="9418320" y="2683764"/>
            <a:ext cx="1211597" cy="699516"/>
          </a:xfrm>
          <a:prstGeom prst="line">
            <a:avLst/>
          </a:prstGeom>
          <a:noFill/>
          <a:ln w="12700">
            <a:solidFill>
              <a:srgbClr val="FFFFFF">
                <a:alpha val="45000"/>
              </a:srgbClr>
            </a:solidFill>
            <a:prstDash val="solid"/>
          </a:ln>
        </p:spPr>
      </p:sp>
      <p:sp>
        <p:nvSpPr>
          <p:cNvPr id="11" name="Shape 7"/>
          <p:cNvSpPr/>
          <p:nvPr/>
        </p:nvSpPr>
        <p:spPr>
          <a:xfrm>
            <a:off x="9418320" y="3383280"/>
            <a:ext cx="1211597" cy="699516"/>
          </a:xfrm>
          <a:prstGeom prst="line">
            <a:avLst/>
          </a:prstGeom>
          <a:noFill/>
          <a:ln w="12700">
            <a:solidFill>
              <a:srgbClr val="FFFFFF">
                <a:alpha val="45000"/>
              </a:srgbClr>
            </a:solidFill>
            <a:prstDash val="solid"/>
          </a:ln>
        </p:spPr>
      </p:sp>
      <p:sp>
        <p:nvSpPr>
          <p:cNvPr id="12" name="Shape 8"/>
          <p:cNvSpPr/>
          <p:nvPr/>
        </p:nvSpPr>
        <p:spPr>
          <a:xfrm>
            <a:off x="9418320" y="3383280"/>
            <a:ext cx="0" cy="1399032"/>
          </a:xfrm>
          <a:prstGeom prst="line">
            <a:avLst/>
          </a:prstGeom>
          <a:noFill/>
          <a:ln w="12700">
            <a:solidFill>
              <a:srgbClr val="FFFFFF">
                <a:alpha val="45000"/>
              </a:srgbClr>
            </a:solidFill>
            <a:prstDash val="solid"/>
          </a:ln>
        </p:spPr>
      </p:sp>
      <p:sp>
        <p:nvSpPr>
          <p:cNvPr id="13" name="Shape 9"/>
          <p:cNvSpPr/>
          <p:nvPr/>
        </p:nvSpPr>
        <p:spPr>
          <a:xfrm flipV="1">
            <a:off x="8206723" y="3383280"/>
            <a:ext cx="1211597" cy="699516"/>
          </a:xfrm>
          <a:prstGeom prst="line">
            <a:avLst/>
          </a:prstGeom>
          <a:noFill/>
          <a:ln w="12700">
            <a:solidFill>
              <a:srgbClr val="FFFFFF">
                <a:alpha val="45000"/>
              </a:srgbClr>
            </a:solidFill>
            <a:prstDash val="solid"/>
          </a:ln>
        </p:spPr>
      </p:sp>
      <p:sp>
        <p:nvSpPr>
          <p:cNvPr id="14" name="Shape 10"/>
          <p:cNvSpPr/>
          <p:nvPr/>
        </p:nvSpPr>
        <p:spPr>
          <a:xfrm>
            <a:off x="8206723" y="2683764"/>
            <a:ext cx="1211597" cy="699516"/>
          </a:xfrm>
          <a:prstGeom prst="line">
            <a:avLst/>
          </a:prstGeom>
          <a:noFill/>
          <a:ln w="12700">
            <a:solidFill>
              <a:srgbClr val="FFFFFF">
                <a:alpha val="45000"/>
              </a:srgbClr>
            </a:solidFill>
            <a:prstDash val="solid"/>
          </a:ln>
        </p:spPr>
      </p:sp>
      <p:sp>
        <p:nvSpPr>
          <p:cNvPr id="15" name="Shape 11"/>
          <p:cNvSpPr/>
          <p:nvPr/>
        </p:nvSpPr>
        <p:spPr>
          <a:xfrm>
            <a:off x="9418320" y="1984248"/>
            <a:ext cx="1211597" cy="699516"/>
          </a:xfrm>
          <a:prstGeom prst="line">
            <a:avLst/>
          </a:prstGeom>
          <a:noFill/>
          <a:ln w="9525">
            <a:solidFill>
              <a:srgbClr val="3CC3F0">
                <a:alpha val="30000"/>
              </a:srgbClr>
            </a:solidFill>
            <a:prstDash val="solid"/>
          </a:ln>
        </p:spPr>
      </p:sp>
      <p:sp>
        <p:nvSpPr>
          <p:cNvPr id="16" name="Shape 12"/>
          <p:cNvSpPr/>
          <p:nvPr/>
        </p:nvSpPr>
        <p:spPr>
          <a:xfrm>
            <a:off x="10629917" y="2683764"/>
            <a:ext cx="0" cy="1399032"/>
          </a:xfrm>
          <a:prstGeom prst="line">
            <a:avLst/>
          </a:prstGeom>
          <a:noFill/>
          <a:ln w="9525">
            <a:solidFill>
              <a:srgbClr val="3CC3F0">
                <a:alpha val="30000"/>
              </a:srgbClr>
            </a:solidFill>
            <a:prstDash val="solid"/>
          </a:ln>
        </p:spPr>
      </p:sp>
      <p:sp>
        <p:nvSpPr>
          <p:cNvPr id="17" name="Shape 13"/>
          <p:cNvSpPr/>
          <p:nvPr/>
        </p:nvSpPr>
        <p:spPr>
          <a:xfrm flipV="1">
            <a:off x="9418320" y="4082796"/>
            <a:ext cx="1211597" cy="699516"/>
          </a:xfrm>
          <a:prstGeom prst="line">
            <a:avLst/>
          </a:prstGeom>
          <a:noFill/>
          <a:ln w="9525">
            <a:solidFill>
              <a:srgbClr val="3CC3F0">
                <a:alpha val="30000"/>
              </a:srgbClr>
            </a:solidFill>
            <a:prstDash val="solid"/>
          </a:ln>
        </p:spPr>
      </p:sp>
      <p:sp>
        <p:nvSpPr>
          <p:cNvPr id="18" name="Shape 14"/>
          <p:cNvSpPr/>
          <p:nvPr/>
        </p:nvSpPr>
        <p:spPr>
          <a:xfrm>
            <a:off x="8206723" y="4082796"/>
            <a:ext cx="1211597" cy="699516"/>
          </a:xfrm>
          <a:prstGeom prst="line">
            <a:avLst/>
          </a:prstGeom>
          <a:noFill/>
          <a:ln w="9525">
            <a:solidFill>
              <a:srgbClr val="3CC3F0">
                <a:alpha val="30000"/>
              </a:srgbClr>
            </a:solidFill>
            <a:prstDash val="solid"/>
          </a:ln>
        </p:spPr>
      </p:sp>
      <p:sp>
        <p:nvSpPr>
          <p:cNvPr id="19" name="Shape 15"/>
          <p:cNvSpPr/>
          <p:nvPr/>
        </p:nvSpPr>
        <p:spPr>
          <a:xfrm flipV="1">
            <a:off x="8206723" y="2683764"/>
            <a:ext cx="0" cy="1399032"/>
          </a:xfrm>
          <a:prstGeom prst="line">
            <a:avLst/>
          </a:prstGeom>
          <a:noFill/>
          <a:ln w="9525">
            <a:solidFill>
              <a:srgbClr val="3CC3F0">
                <a:alpha val="30000"/>
              </a:srgbClr>
            </a:solidFill>
            <a:prstDash val="solid"/>
          </a:ln>
        </p:spPr>
      </p:sp>
      <p:sp>
        <p:nvSpPr>
          <p:cNvPr id="20" name="Shape 16"/>
          <p:cNvSpPr/>
          <p:nvPr/>
        </p:nvSpPr>
        <p:spPr>
          <a:xfrm flipV="1">
            <a:off x="8206723" y="1984248"/>
            <a:ext cx="1211597" cy="699516"/>
          </a:xfrm>
          <a:prstGeom prst="line">
            <a:avLst/>
          </a:prstGeom>
          <a:noFill/>
          <a:ln w="9525">
            <a:solidFill>
              <a:srgbClr val="3CC3F0">
                <a:alpha val="30000"/>
              </a:srgbClr>
            </a:solidFill>
            <a:prstDash val="solid"/>
          </a:ln>
        </p:spPr>
      </p:sp>
      <p:sp>
        <p:nvSpPr>
          <p:cNvPr id="21" name="Shape 17"/>
          <p:cNvSpPr/>
          <p:nvPr/>
        </p:nvSpPr>
        <p:spPr>
          <a:xfrm>
            <a:off x="8908085" y="2873045"/>
            <a:ext cx="1020470" cy="1020470"/>
          </a:xfrm>
          <a:prstGeom prst="ellipse">
            <a:avLst/>
          </a:prstGeom>
          <a:solidFill>
            <a:srgbClr val="FFFFFF">
              <a:alpha val="15000"/>
            </a:srgbClr>
          </a:solidFill>
          <a:ln w="12700">
            <a:solidFill>
              <a:srgbClr val="FFFFFF">
                <a:alpha val="45000"/>
              </a:srgbClr>
            </a:solidFill>
            <a:prstDash val="solid"/>
          </a:ln>
        </p:spPr>
      </p:sp>
      <p:sp>
        <p:nvSpPr>
          <p:cNvPr id="22" name="Shape 18"/>
          <p:cNvSpPr/>
          <p:nvPr/>
        </p:nvSpPr>
        <p:spPr>
          <a:xfrm>
            <a:off x="9072677" y="3037637"/>
            <a:ext cx="691286" cy="691286"/>
          </a:xfrm>
          <a:prstGeom prst="ellipse">
            <a:avLst/>
          </a:prstGeom>
          <a:solidFill>
            <a:srgbClr val="FFFFFF"/>
          </a:solidFill>
          <a:ln w="12700">
            <a:solidFill>
              <a:srgbClr val="FFFFFF"/>
            </a:solidFill>
            <a:prstDash val="solid"/>
          </a:ln>
        </p:spPr>
      </p:sp>
      <p:sp>
        <p:nvSpPr>
          <p:cNvPr id="23" name="Text 19"/>
          <p:cNvSpPr txBox="1"/>
          <p:nvPr/>
        </p:nvSpPr>
        <p:spPr>
          <a:xfrm>
            <a:off x="9072677" y="3037637"/>
            <a:ext cx="691286" cy="691286"/>
          </a:xfrm>
          <a:prstGeom prst="rect">
            <a:avLst/>
          </a:prstGeom>
          <a:noFill/>
          <a:ln/>
        </p:spPr>
        <p:txBody>
          <a:bodyPr wrap="square" lIns="0" tIns="0" rIns="0" bIns="0" rtlCol="0" anchor="ctr"/>
          <a:lstStyle/>
          <a:p>
            <a:pPr marL="0" indent="0" algn="ctr">
              <a:buNone/>
            </a:pPr>
            <a:r>
              <a:rPr lang="en-US" sz="810" b="1" dirty="0">
                <a:solidFill>
                  <a:srgbClr val="0A1F5C"/>
                </a:solidFill>
              </a:rPr>
              <a:t>CODE</a:t>
            </a:r>
            <a:endParaRPr lang="en-US" sz="810" dirty="0"/>
          </a:p>
          <a:p>
            <a:pPr marL="0" indent="0" algn="ctr">
              <a:buNone/>
            </a:pPr>
            <a:r>
              <a:rPr lang="en-US" sz="810" b="1" dirty="0">
                <a:solidFill>
                  <a:srgbClr val="0A1F5C"/>
                </a:solidFill>
              </a:rPr>
              <a:t>RULES</a:t>
            </a:r>
            <a:endParaRPr lang="en-US" sz="810" dirty="0"/>
          </a:p>
        </p:txBody>
      </p:sp>
      <p:sp>
        <p:nvSpPr>
          <p:cNvPr id="24" name="Shape 20"/>
          <p:cNvSpPr/>
          <p:nvPr/>
        </p:nvSpPr>
        <p:spPr>
          <a:xfrm>
            <a:off x="9171432" y="1737360"/>
            <a:ext cx="493776" cy="493776"/>
          </a:xfrm>
          <a:prstGeom prst="ellipse">
            <a:avLst/>
          </a:prstGeom>
          <a:solidFill>
            <a:srgbClr val="3CC3F0">
              <a:alpha val="25000"/>
            </a:srgbClr>
          </a:solidFill>
          <a:ln w="12700">
            <a:solidFill>
              <a:srgbClr val="3CC3F0">
                <a:alpha val="0"/>
              </a:srgbClr>
            </a:solidFill>
            <a:prstDash val="solid"/>
          </a:ln>
        </p:spPr>
      </p:sp>
      <p:sp>
        <p:nvSpPr>
          <p:cNvPr id="25" name="Shape 21"/>
          <p:cNvSpPr/>
          <p:nvPr/>
        </p:nvSpPr>
        <p:spPr>
          <a:xfrm>
            <a:off x="9278417" y="1844345"/>
            <a:ext cx="279806" cy="279806"/>
          </a:xfrm>
          <a:prstGeom prst="ellipse">
            <a:avLst/>
          </a:prstGeom>
          <a:solidFill>
            <a:srgbClr val="FFFFFF"/>
          </a:solidFill>
          <a:ln w="12700">
            <a:solidFill>
              <a:srgbClr val="FFFFFF"/>
            </a:solidFill>
            <a:prstDash val="solid"/>
          </a:ln>
        </p:spPr>
      </p:sp>
      <p:sp>
        <p:nvSpPr>
          <p:cNvPr id="26" name="Text 22"/>
          <p:cNvSpPr txBox="1"/>
          <p:nvPr/>
        </p:nvSpPr>
        <p:spPr>
          <a:xfrm>
            <a:off x="8778240" y="1327709"/>
            <a:ext cx="1280160" cy="274320"/>
          </a:xfrm>
          <a:prstGeom prst="rect">
            <a:avLst/>
          </a:prstGeom>
          <a:noFill/>
          <a:ln/>
        </p:spPr>
        <p:txBody>
          <a:bodyPr wrap="square" lIns="0" tIns="0" rIns="0" bIns="0" rtlCol="0" anchor="ctr"/>
          <a:lstStyle/>
          <a:p>
            <a:pPr marL="0" indent="0" algn="ctr">
              <a:buNone/>
            </a:pPr>
            <a:r>
              <a:rPr lang="en-US" sz="990" b="1" dirty="0">
                <a:solidFill>
                  <a:srgbClr val="FFFFFF"/>
                </a:solidFill>
              </a:rPr>
              <a:t>Router</a:t>
            </a:r>
            <a:endParaRPr lang="en-US" sz="990" dirty="0"/>
          </a:p>
        </p:txBody>
      </p:sp>
      <p:sp>
        <p:nvSpPr>
          <p:cNvPr id="27" name="Shape 23"/>
          <p:cNvSpPr/>
          <p:nvPr/>
        </p:nvSpPr>
        <p:spPr>
          <a:xfrm>
            <a:off x="10383029" y="2436876"/>
            <a:ext cx="493776" cy="493776"/>
          </a:xfrm>
          <a:prstGeom prst="ellipse">
            <a:avLst/>
          </a:prstGeom>
          <a:solidFill>
            <a:srgbClr val="3CC3F0">
              <a:alpha val="25000"/>
            </a:srgbClr>
          </a:solidFill>
          <a:ln w="12700">
            <a:solidFill>
              <a:srgbClr val="3CC3F0">
                <a:alpha val="0"/>
              </a:srgbClr>
            </a:solidFill>
            <a:prstDash val="solid"/>
          </a:ln>
        </p:spPr>
      </p:sp>
      <p:sp>
        <p:nvSpPr>
          <p:cNvPr id="28" name="Shape 24"/>
          <p:cNvSpPr/>
          <p:nvPr/>
        </p:nvSpPr>
        <p:spPr>
          <a:xfrm>
            <a:off x="10490014" y="2543861"/>
            <a:ext cx="279806" cy="279806"/>
          </a:xfrm>
          <a:prstGeom prst="ellipse">
            <a:avLst/>
          </a:prstGeom>
          <a:solidFill>
            <a:srgbClr val="3CC3F0"/>
          </a:solidFill>
          <a:ln w="12700">
            <a:solidFill>
              <a:srgbClr val="3CC3F0"/>
            </a:solidFill>
            <a:prstDash val="solid"/>
          </a:ln>
        </p:spPr>
      </p:sp>
      <p:sp>
        <p:nvSpPr>
          <p:cNvPr id="29" name="Text 25"/>
          <p:cNvSpPr txBox="1"/>
          <p:nvPr/>
        </p:nvSpPr>
        <p:spPr>
          <a:xfrm>
            <a:off x="11000523" y="2332634"/>
            <a:ext cx="1280160" cy="274320"/>
          </a:xfrm>
          <a:prstGeom prst="rect">
            <a:avLst/>
          </a:prstGeom>
          <a:noFill/>
          <a:ln/>
        </p:spPr>
        <p:txBody>
          <a:bodyPr wrap="square" lIns="0" tIns="0" rIns="0" bIns="0" rtlCol="0" anchor="ctr"/>
          <a:lstStyle/>
          <a:p>
            <a:pPr marL="0" indent="0" algn="l">
              <a:buNone/>
            </a:pPr>
            <a:r>
              <a:rPr lang="en-US" sz="990" b="1" dirty="0">
                <a:solidFill>
                  <a:srgbClr val="FFFFFF"/>
                </a:solidFill>
              </a:rPr>
              <a:t>Reading</a:t>
            </a:r>
            <a:endParaRPr lang="en-US" sz="990" dirty="0"/>
          </a:p>
        </p:txBody>
      </p:sp>
      <p:sp>
        <p:nvSpPr>
          <p:cNvPr id="30" name="Shape 26"/>
          <p:cNvSpPr/>
          <p:nvPr/>
        </p:nvSpPr>
        <p:spPr>
          <a:xfrm>
            <a:off x="10383029" y="3835908"/>
            <a:ext cx="493776" cy="493776"/>
          </a:xfrm>
          <a:prstGeom prst="ellipse">
            <a:avLst/>
          </a:prstGeom>
          <a:solidFill>
            <a:srgbClr val="3CC3F0">
              <a:alpha val="25000"/>
            </a:srgbClr>
          </a:solidFill>
          <a:ln w="12700">
            <a:solidFill>
              <a:srgbClr val="3CC3F0">
                <a:alpha val="0"/>
              </a:srgbClr>
            </a:solidFill>
            <a:prstDash val="solid"/>
          </a:ln>
        </p:spPr>
      </p:sp>
      <p:sp>
        <p:nvSpPr>
          <p:cNvPr id="31" name="Shape 27"/>
          <p:cNvSpPr/>
          <p:nvPr/>
        </p:nvSpPr>
        <p:spPr>
          <a:xfrm>
            <a:off x="10490014" y="3942893"/>
            <a:ext cx="279806" cy="279806"/>
          </a:xfrm>
          <a:prstGeom prst="ellipse">
            <a:avLst/>
          </a:prstGeom>
          <a:solidFill>
            <a:srgbClr val="3CC3F0"/>
          </a:solidFill>
          <a:ln w="12700">
            <a:solidFill>
              <a:srgbClr val="3CC3F0"/>
            </a:solidFill>
            <a:prstDash val="solid"/>
          </a:ln>
        </p:spPr>
      </p:sp>
      <p:sp>
        <p:nvSpPr>
          <p:cNvPr id="32" name="Text 28"/>
          <p:cNvSpPr txBox="1"/>
          <p:nvPr/>
        </p:nvSpPr>
        <p:spPr>
          <a:xfrm>
            <a:off x="11000523" y="4159606"/>
            <a:ext cx="1280160" cy="274320"/>
          </a:xfrm>
          <a:prstGeom prst="rect">
            <a:avLst/>
          </a:prstGeom>
          <a:noFill/>
          <a:ln/>
        </p:spPr>
        <p:txBody>
          <a:bodyPr wrap="square" lIns="0" tIns="0" rIns="0" bIns="0" rtlCol="0" anchor="ctr"/>
          <a:lstStyle/>
          <a:p>
            <a:pPr marL="0" indent="0" algn="l">
              <a:buNone/>
            </a:pPr>
            <a:r>
              <a:rPr lang="en-US" sz="990" b="1" dirty="0">
                <a:solidFill>
                  <a:srgbClr val="FFFFFF"/>
                </a:solidFill>
              </a:rPr>
              <a:t>Care plan</a:t>
            </a:r>
            <a:endParaRPr lang="en-US" sz="990" dirty="0"/>
          </a:p>
        </p:txBody>
      </p:sp>
      <p:sp>
        <p:nvSpPr>
          <p:cNvPr id="33" name="Shape 29"/>
          <p:cNvSpPr/>
          <p:nvPr/>
        </p:nvSpPr>
        <p:spPr>
          <a:xfrm>
            <a:off x="9171432" y="4535424"/>
            <a:ext cx="493776" cy="493776"/>
          </a:xfrm>
          <a:prstGeom prst="ellipse">
            <a:avLst/>
          </a:prstGeom>
          <a:solidFill>
            <a:srgbClr val="3CC3F0">
              <a:alpha val="25000"/>
            </a:srgbClr>
          </a:solidFill>
          <a:ln w="12700">
            <a:solidFill>
              <a:srgbClr val="3CC3F0">
                <a:alpha val="0"/>
              </a:srgbClr>
            </a:solidFill>
            <a:prstDash val="solid"/>
          </a:ln>
        </p:spPr>
      </p:sp>
      <p:sp>
        <p:nvSpPr>
          <p:cNvPr id="34" name="Shape 30"/>
          <p:cNvSpPr/>
          <p:nvPr/>
        </p:nvSpPr>
        <p:spPr>
          <a:xfrm>
            <a:off x="9278417" y="4642409"/>
            <a:ext cx="279806" cy="279806"/>
          </a:xfrm>
          <a:prstGeom prst="ellipse">
            <a:avLst/>
          </a:prstGeom>
          <a:solidFill>
            <a:srgbClr val="3CC3F0"/>
          </a:solidFill>
          <a:ln w="12700">
            <a:solidFill>
              <a:srgbClr val="3CC3F0"/>
            </a:solidFill>
            <a:prstDash val="solid"/>
          </a:ln>
        </p:spPr>
      </p:sp>
      <p:sp>
        <p:nvSpPr>
          <p:cNvPr id="35" name="Text 31"/>
          <p:cNvSpPr txBox="1"/>
          <p:nvPr/>
        </p:nvSpPr>
        <p:spPr>
          <a:xfrm>
            <a:off x="8778240" y="5164531"/>
            <a:ext cx="1280160" cy="274320"/>
          </a:xfrm>
          <a:prstGeom prst="rect">
            <a:avLst/>
          </a:prstGeom>
          <a:noFill/>
          <a:ln/>
        </p:spPr>
        <p:txBody>
          <a:bodyPr wrap="square" lIns="0" tIns="0" rIns="0" bIns="0" rtlCol="0" anchor="ctr"/>
          <a:lstStyle/>
          <a:p>
            <a:pPr marL="0" indent="0" algn="ctr">
              <a:buNone/>
            </a:pPr>
            <a:r>
              <a:rPr lang="en-US" sz="990" b="1" dirty="0">
                <a:solidFill>
                  <a:srgbClr val="FFFFFF"/>
                </a:solidFill>
              </a:rPr>
              <a:t>Education</a:t>
            </a:r>
            <a:endParaRPr lang="en-US" sz="990" dirty="0"/>
          </a:p>
        </p:txBody>
      </p:sp>
      <p:sp>
        <p:nvSpPr>
          <p:cNvPr id="36" name="Shape 32"/>
          <p:cNvSpPr/>
          <p:nvPr/>
        </p:nvSpPr>
        <p:spPr>
          <a:xfrm>
            <a:off x="7959835" y="3835908"/>
            <a:ext cx="493776" cy="493776"/>
          </a:xfrm>
          <a:prstGeom prst="ellipse">
            <a:avLst/>
          </a:prstGeom>
          <a:solidFill>
            <a:srgbClr val="3CC3F0">
              <a:alpha val="25000"/>
            </a:srgbClr>
          </a:solidFill>
          <a:ln w="12700">
            <a:solidFill>
              <a:srgbClr val="3CC3F0">
                <a:alpha val="0"/>
              </a:srgbClr>
            </a:solidFill>
            <a:prstDash val="solid"/>
          </a:ln>
        </p:spPr>
      </p:sp>
      <p:sp>
        <p:nvSpPr>
          <p:cNvPr id="37" name="Shape 33"/>
          <p:cNvSpPr/>
          <p:nvPr/>
        </p:nvSpPr>
        <p:spPr>
          <a:xfrm>
            <a:off x="8066820" y="3942893"/>
            <a:ext cx="279806" cy="279806"/>
          </a:xfrm>
          <a:prstGeom prst="ellipse">
            <a:avLst/>
          </a:prstGeom>
          <a:solidFill>
            <a:srgbClr val="3CC3F0"/>
          </a:solidFill>
          <a:ln w="12700">
            <a:solidFill>
              <a:srgbClr val="3CC3F0"/>
            </a:solidFill>
            <a:prstDash val="solid"/>
          </a:ln>
        </p:spPr>
      </p:sp>
      <p:sp>
        <p:nvSpPr>
          <p:cNvPr id="38" name="Text 34"/>
          <p:cNvSpPr txBox="1"/>
          <p:nvPr/>
        </p:nvSpPr>
        <p:spPr>
          <a:xfrm>
            <a:off x="6555957" y="4159606"/>
            <a:ext cx="1280160" cy="274320"/>
          </a:xfrm>
          <a:prstGeom prst="rect">
            <a:avLst/>
          </a:prstGeom>
          <a:noFill/>
          <a:ln/>
        </p:spPr>
        <p:txBody>
          <a:bodyPr wrap="square" lIns="0" tIns="0" rIns="0" bIns="0" rtlCol="0" anchor="ctr"/>
          <a:lstStyle/>
          <a:p>
            <a:pPr marL="0" indent="0" algn="r">
              <a:buNone/>
            </a:pPr>
            <a:r>
              <a:rPr lang="en-US" sz="990" b="1" dirty="0">
                <a:solidFill>
                  <a:srgbClr val="FFFFFF"/>
                </a:solidFill>
              </a:rPr>
              <a:t>Engagement</a:t>
            </a:r>
            <a:endParaRPr lang="en-US" sz="990" dirty="0"/>
          </a:p>
        </p:txBody>
      </p:sp>
      <p:sp>
        <p:nvSpPr>
          <p:cNvPr id="39" name="Shape 35"/>
          <p:cNvSpPr/>
          <p:nvPr/>
        </p:nvSpPr>
        <p:spPr>
          <a:xfrm>
            <a:off x="7959835" y="2436876"/>
            <a:ext cx="493776" cy="493776"/>
          </a:xfrm>
          <a:prstGeom prst="ellipse">
            <a:avLst/>
          </a:prstGeom>
          <a:solidFill>
            <a:srgbClr val="3CC3F0">
              <a:alpha val="25000"/>
            </a:srgbClr>
          </a:solidFill>
          <a:ln w="12700">
            <a:solidFill>
              <a:srgbClr val="3CC3F0">
                <a:alpha val="0"/>
              </a:srgbClr>
            </a:solidFill>
            <a:prstDash val="solid"/>
          </a:ln>
        </p:spPr>
      </p:sp>
      <p:sp>
        <p:nvSpPr>
          <p:cNvPr id="40" name="Shape 36"/>
          <p:cNvSpPr/>
          <p:nvPr/>
        </p:nvSpPr>
        <p:spPr>
          <a:xfrm>
            <a:off x="8066820" y="2543861"/>
            <a:ext cx="279806" cy="279806"/>
          </a:xfrm>
          <a:prstGeom prst="ellipse">
            <a:avLst/>
          </a:prstGeom>
          <a:solidFill>
            <a:srgbClr val="3CC3F0"/>
          </a:solidFill>
          <a:ln w="12700">
            <a:solidFill>
              <a:srgbClr val="3CC3F0"/>
            </a:solidFill>
            <a:prstDash val="solid"/>
          </a:ln>
        </p:spPr>
      </p:sp>
      <p:sp>
        <p:nvSpPr>
          <p:cNvPr id="41" name="Text 37"/>
          <p:cNvSpPr txBox="1"/>
          <p:nvPr/>
        </p:nvSpPr>
        <p:spPr>
          <a:xfrm>
            <a:off x="6555957" y="2332634"/>
            <a:ext cx="1280160" cy="274320"/>
          </a:xfrm>
          <a:prstGeom prst="rect">
            <a:avLst/>
          </a:prstGeom>
          <a:noFill/>
          <a:ln/>
        </p:spPr>
        <p:txBody>
          <a:bodyPr wrap="square" lIns="0" tIns="0" rIns="0" bIns="0" rtlCol="0" anchor="ctr"/>
          <a:lstStyle/>
          <a:p>
            <a:pPr marL="0" indent="0" algn="r">
              <a:buNone/>
            </a:pPr>
            <a:r>
              <a:rPr lang="en-US" sz="990" b="1" dirty="0">
                <a:solidFill>
                  <a:srgbClr val="FFFFFF"/>
                </a:solidFill>
              </a:rPr>
              <a:t>Escalation</a:t>
            </a:r>
            <a:endParaRPr lang="en-US" sz="990" dirty="0"/>
          </a:p>
        </p:txBody>
      </p:sp>
      <p:sp>
        <p:nvSpPr>
          <p:cNvPr id="42" name="Shape 38"/>
          <p:cNvSpPr/>
          <p:nvPr/>
        </p:nvSpPr>
        <p:spPr>
          <a:xfrm>
            <a:off x="11358412" y="1884893"/>
            <a:ext cx="164592" cy="164592"/>
          </a:xfrm>
          <a:prstGeom prst="ellipse">
            <a:avLst/>
          </a:prstGeom>
          <a:solidFill>
            <a:srgbClr val="FFFFFF">
              <a:alpha val="70000"/>
            </a:srgbClr>
          </a:solidFill>
          <a:ln w="12700">
            <a:solidFill>
              <a:srgbClr val="FFFFFF"/>
            </a:solidFill>
            <a:prstDash val="solid"/>
          </a:ln>
        </p:spPr>
      </p:sp>
      <p:sp>
        <p:nvSpPr>
          <p:cNvPr id="43" name="Shape 39"/>
          <p:cNvSpPr/>
          <p:nvPr/>
        </p:nvSpPr>
        <p:spPr>
          <a:xfrm>
            <a:off x="7197911" y="4535424"/>
            <a:ext cx="164592" cy="164592"/>
          </a:xfrm>
          <a:prstGeom prst="ellipse">
            <a:avLst/>
          </a:prstGeom>
          <a:solidFill>
            <a:srgbClr val="FFFFFF">
              <a:alpha val="70000"/>
            </a:srgbClr>
          </a:solidFill>
          <a:ln w="12700">
            <a:solidFill>
              <a:srgbClr val="FFFFFF"/>
            </a:solidFill>
            <a:prstDash val="solid"/>
          </a:ln>
        </p:spPr>
      </p:sp>
      <p:sp>
        <p:nvSpPr>
          <p:cNvPr id="44" name="Shape 40"/>
          <p:cNvSpPr/>
          <p:nvPr/>
        </p:nvSpPr>
        <p:spPr>
          <a:xfrm>
            <a:off x="7313636" y="1884893"/>
            <a:ext cx="164592" cy="164592"/>
          </a:xfrm>
          <a:prstGeom prst="ellipse">
            <a:avLst/>
          </a:prstGeom>
          <a:solidFill>
            <a:srgbClr val="FFFFFF">
              <a:alpha val="70000"/>
            </a:srgbClr>
          </a:solidFill>
          <a:ln w="12700">
            <a:solidFill>
              <a:srgbClr val="FFFFFF"/>
            </a:solidFill>
            <a:prstDash val="solid"/>
          </a:ln>
        </p:spPr>
      </p:sp>
      <p:sp>
        <p:nvSpPr>
          <p:cNvPr id="45" name="Text 41"/>
          <p:cNvSpPr txBox="1"/>
          <p:nvPr/>
        </p:nvSpPr>
        <p:spPr>
          <a:xfrm>
            <a:off x="8961120" y="566928"/>
            <a:ext cx="2743200" cy="274320"/>
          </a:xfrm>
          <a:prstGeom prst="rect">
            <a:avLst/>
          </a:prstGeom>
          <a:noFill/>
          <a:ln/>
        </p:spPr>
        <p:txBody>
          <a:bodyPr wrap="square" lIns="0" tIns="0" rIns="0" bIns="0" rtlCol="0" anchor="t"/>
          <a:lstStyle/>
          <a:p>
            <a:pPr marL="0" indent="0" algn="r">
              <a:buNone/>
            </a:pPr>
            <a:r>
              <a:rPr lang="en-US" sz="1200" dirty="0">
                <a:solidFill>
                  <a:srgbClr val="C9D8F2"/>
                </a:solidFill>
              </a:rPr>
              <a:t>October 2026</a:t>
            </a:r>
            <a:endParaRPr lang="en-US" sz="1200" dirty="0"/>
          </a:p>
        </p:txBody>
      </p:sp>
      <p:sp>
        <p:nvSpPr>
          <p:cNvPr id="46" name="Text 42"/>
          <p:cNvSpPr txBox="1"/>
          <p:nvPr/>
        </p:nvSpPr>
        <p:spPr>
          <a:xfrm>
            <a:off x="731520" y="1783080"/>
            <a:ext cx="6400800" cy="274320"/>
          </a:xfrm>
          <a:prstGeom prst="rect">
            <a:avLst/>
          </a:prstGeom>
          <a:noFill/>
          <a:ln/>
        </p:spPr>
        <p:txBody>
          <a:bodyPr wrap="square" lIns="0" tIns="0" rIns="0" bIns="0" rtlCol="0" anchor="t"/>
          <a:lstStyle/>
          <a:p>
            <a:pPr marL="0" indent="0">
              <a:buNone/>
            </a:pPr>
            <a:r>
              <a:rPr lang="en-US" sz="1200" b="1" kern="0" spc="400" dirty="0">
                <a:solidFill>
                  <a:srgbClr val="3CC3F0"/>
                </a:solidFill>
              </a:rPr>
              <a:t>AI-ENABLED CARE COORDINATION</a:t>
            </a:r>
            <a:endParaRPr lang="en-US" sz="1200" dirty="0"/>
          </a:p>
        </p:txBody>
      </p:sp>
      <p:sp>
        <p:nvSpPr>
          <p:cNvPr id="47" name="Text 43"/>
          <p:cNvSpPr txBox="1"/>
          <p:nvPr/>
        </p:nvSpPr>
        <p:spPr>
          <a:xfrm>
            <a:off x="731520" y="2194560"/>
            <a:ext cx="6766560" cy="1554480"/>
          </a:xfrm>
          <a:prstGeom prst="rect">
            <a:avLst/>
          </a:prstGeom>
          <a:noFill/>
          <a:ln/>
        </p:spPr>
        <p:txBody>
          <a:bodyPr wrap="square" lIns="0" tIns="0" rIns="0" bIns="0" rtlCol="0" anchor="t"/>
          <a:lstStyle/>
          <a:p>
            <a:pPr marL="0" indent="0">
              <a:lnSpc>
                <a:spcPct val="100000"/>
              </a:lnSpc>
              <a:buNone/>
            </a:pPr>
            <a:r>
              <a:rPr lang="en-US" sz="4000" b="1" dirty="0">
                <a:solidFill>
                  <a:srgbClr val="FFFFFF"/>
                </a:solidFill>
              </a:rPr>
              <a:t>Chronic Care</a:t>
            </a:r>
            <a:endParaRPr lang="en-US" sz="4000" dirty="0"/>
          </a:p>
          <a:p>
            <a:pPr marL="0" indent="0">
              <a:lnSpc>
                <a:spcPct val="100000"/>
              </a:lnSpc>
              <a:buNone/>
            </a:pPr>
            <a:r>
              <a:rPr lang="en-US" sz="4000" b="1" dirty="0">
                <a:solidFill>
                  <a:srgbClr val="FFFFFF"/>
                </a:solidFill>
              </a:rPr>
              <a:t>Engagement &amp; Follow-up</a:t>
            </a:r>
            <a:endParaRPr lang="en-US" sz="4000" dirty="0"/>
          </a:p>
        </p:txBody>
      </p:sp>
      <p:sp>
        <p:nvSpPr>
          <p:cNvPr id="48" name="Text 44"/>
          <p:cNvSpPr txBox="1"/>
          <p:nvPr/>
        </p:nvSpPr>
        <p:spPr>
          <a:xfrm>
            <a:off x="731520" y="3931920"/>
            <a:ext cx="5852160" cy="914400"/>
          </a:xfrm>
          <a:prstGeom prst="rect">
            <a:avLst/>
          </a:prstGeom>
          <a:noFill/>
          <a:ln/>
        </p:spPr>
        <p:txBody>
          <a:bodyPr wrap="square" lIns="0" tIns="0" rIns="0" bIns="0" rtlCol="0" anchor="t"/>
          <a:lstStyle/>
          <a:p>
            <a:pPr marL="0" indent="0">
              <a:buNone/>
            </a:pPr>
            <a:r>
              <a:rPr lang="en-US" sz="1600" dirty="0">
                <a:solidFill>
                  <a:srgbClr val="C9D8F2"/>
                </a:solidFill>
              </a:rPr>
              <a:t>A governed multi-agent assistant on Microsoft Foundry that organises information and hands every risky case to a person.</a:t>
            </a:r>
            <a:endParaRPr lang="en-US" sz="1600" dirty="0"/>
          </a:p>
        </p:txBody>
      </p:sp>
      <p:sp>
        <p:nvSpPr>
          <p:cNvPr id="49" name="Shape 45"/>
          <p:cNvSpPr/>
          <p:nvPr/>
        </p:nvSpPr>
        <p:spPr>
          <a:xfrm>
            <a:off x="731520" y="5074920"/>
            <a:ext cx="5394960" cy="1097280"/>
          </a:xfrm>
          <a:prstGeom prst="rect">
            <a:avLst/>
          </a:prstGeom>
          <a:solidFill>
            <a:srgbClr val="FFFFFF">
              <a:alpha val="10000"/>
            </a:srgbClr>
          </a:solidFill>
          <a:ln w="9525">
            <a:solidFill>
              <a:srgbClr val="FFFFFF">
                <a:alpha val="28000"/>
              </a:srgbClr>
            </a:solidFill>
            <a:prstDash val="solid"/>
          </a:ln>
        </p:spPr>
      </p:sp>
      <p:sp>
        <p:nvSpPr>
          <p:cNvPr id="50" name="Shape 46"/>
          <p:cNvSpPr/>
          <p:nvPr/>
        </p:nvSpPr>
        <p:spPr>
          <a:xfrm>
            <a:off x="731520" y="5074920"/>
            <a:ext cx="64008" cy="1097280"/>
          </a:xfrm>
          <a:prstGeom prst="rect">
            <a:avLst/>
          </a:prstGeom>
          <a:solidFill>
            <a:srgbClr val="3CC3F0"/>
          </a:solidFill>
          <a:ln w="12700">
            <a:solidFill>
              <a:srgbClr val="3CC3F0"/>
            </a:solidFill>
            <a:prstDash val="solid"/>
          </a:ln>
        </p:spPr>
      </p:sp>
      <p:sp>
        <p:nvSpPr>
          <p:cNvPr id="51" name="Text 47"/>
          <p:cNvSpPr txBox="1"/>
          <p:nvPr/>
        </p:nvSpPr>
        <p:spPr>
          <a:xfrm>
            <a:off x="1005840" y="5074920"/>
            <a:ext cx="822960" cy="1097280"/>
          </a:xfrm>
          <a:prstGeom prst="rect">
            <a:avLst/>
          </a:prstGeom>
          <a:noFill/>
          <a:ln/>
        </p:spPr>
        <p:txBody>
          <a:bodyPr wrap="square" lIns="0" tIns="0" rIns="0" bIns="0" rtlCol="0" anchor="ctr"/>
          <a:lstStyle/>
          <a:p>
            <a:pPr marL="0" indent="0">
              <a:buNone/>
            </a:pPr>
            <a:r>
              <a:rPr lang="en-US" sz="1100" b="1" kern="0" spc="300" dirty="0">
                <a:solidFill>
                  <a:srgbClr val="3CC3F0"/>
                </a:solidFill>
              </a:rPr>
              <a:t>TEAM</a:t>
            </a:r>
            <a:endParaRPr lang="en-US" sz="1100" dirty="0"/>
          </a:p>
        </p:txBody>
      </p:sp>
      <p:sp>
        <p:nvSpPr>
          <p:cNvPr id="52" name="Text 48"/>
          <p:cNvSpPr txBox="1"/>
          <p:nvPr/>
        </p:nvSpPr>
        <p:spPr>
          <a:xfrm>
            <a:off x="1920240" y="5212080"/>
            <a:ext cx="2103120" cy="411480"/>
          </a:xfrm>
          <a:prstGeom prst="rect">
            <a:avLst/>
          </a:prstGeom>
          <a:noFill/>
          <a:ln/>
        </p:spPr>
        <p:txBody>
          <a:bodyPr wrap="square" lIns="0" tIns="0" rIns="0" bIns="0" rtlCol="0" anchor="ctr"/>
          <a:lstStyle/>
          <a:p>
            <a:pPr marL="0" indent="0">
              <a:buNone/>
            </a:pPr>
            <a:r>
              <a:rPr lang="en-US" sz="1500" b="1" dirty="0">
                <a:solidFill>
                  <a:srgbClr val="FFFFFF"/>
                </a:solidFill>
              </a:rPr>
              <a:t>Amey Patil</a:t>
            </a:r>
            <a:endParaRPr lang="en-US" sz="1500" dirty="0"/>
          </a:p>
        </p:txBody>
      </p:sp>
      <p:sp>
        <p:nvSpPr>
          <p:cNvPr id="53" name="Text 49"/>
          <p:cNvSpPr txBox="1"/>
          <p:nvPr/>
        </p:nvSpPr>
        <p:spPr>
          <a:xfrm>
            <a:off x="4023360" y="5212080"/>
            <a:ext cx="2103120" cy="411480"/>
          </a:xfrm>
          <a:prstGeom prst="rect">
            <a:avLst/>
          </a:prstGeom>
          <a:noFill/>
          <a:ln/>
        </p:spPr>
        <p:txBody>
          <a:bodyPr wrap="square" lIns="0" tIns="0" rIns="0" bIns="0" rtlCol="0" anchor="ctr"/>
          <a:lstStyle/>
          <a:p>
            <a:pPr marL="0" indent="0">
              <a:buNone/>
            </a:pPr>
            <a:r>
              <a:rPr lang="en-US" sz="1500" b="1" dirty="0">
                <a:solidFill>
                  <a:srgbClr val="FFFFFF"/>
                </a:solidFill>
              </a:rPr>
              <a:t>Saurabh Singh</a:t>
            </a:r>
            <a:endParaRPr lang="en-US" sz="1500" dirty="0"/>
          </a:p>
        </p:txBody>
      </p:sp>
      <p:sp>
        <p:nvSpPr>
          <p:cNvPr id="54" name="Text 50"/>
          <p:cNvSpPr txBox="1"/>
          <p:nvPr/>
        </p:nvSpPr>
        <p:spPr>
          <a:xfrm>
            <a:off x="1920240" y="5669280"/>
            <a:ext cx="2103120" cy="411480"/>
          </a:xfrm>
          <a:prstGeom prst="rect">
            <a:avLst/>
          </a:prstGeom>
          <a:noFill/>
          <a:ln/>
        </p:spPr>
        <p:txBody>
          <a:bodyPr wrap="square" lIns="0" tIns="0" rIns="0" bIns="0" rtlCol="0" anchor="ctr"/>
          <a:lstStyle/>
          <a:p>
            <a:pPr marL="0" indent="0">
              <a:buNone/>
            </a:pPr>
            <a:r>
              <a:rPr lang="en-US" sz="1500" b="1" dirty="0">
                <a:solidFill>
                  <a:srgbClr val="FFFFFF"/>
                </a:solidFill>
              </a:rPr>
              <a:t>Sujit Raut</a:t>
            </a:r>
            <a:endParaRPr lang="en-US" sz="1500" dirty="0"/>
          </a:p>
        </p:txBody>
      </p:sp>
      <p:sp>
        <p:nvSpPr>
          <p:cNvPr id="55" name="Text 51"/>
          <p:cNvSpPr txBox="1"/>
          <p:nvPr/>
        </p:nvSpPr>
        <p:spPr>
          <a:xfrm>
            <a:off x="4023360" y="5669280"/>
            <a:ext cx="2103120" cy="411480"/>
          </a:xfrm>
          <a:prstGeom prst="rect">
            <a:avLst/>
          </a:prstGeom>
          <a:noFill/>
          <a:ln/>
        </p:spPr>
        <p:txBody>
          <a:bodyPr wrap="square" lIns="0" tIns="0" rIns="0" bIns="0" rtlCol="0" anchor="ctr"/>
          <a:lstStyle/>
          <a:p>
            <a:pPr marL="0" indent="0">
              <a:buNone/>
            </a:pPr>
            <a:r>
              <a:rPr lang="en-US" sz="1500" b="1" dirty="0">
                <a:solidFill>
                  <a:srgbClr val="FFFFFF"/>
                </a:solidFill>
              </a:rPr>
              <a:t>Shubham Sahu</a:t>
            </a:r>
            <a:endParaRPr lang="en-US" sz="1500" dirty="0"/>
          </a:p>
        </p:txBody>
      </p:sp>
      <p:sp>
        <p:nvSpPr>
          <p:cNvPr id="56" name="Shape 52"/>
          <p:cNvSpPr/>
          <p:nvPr/>
        </p:nvSpPr>
        <p:spPr>
          <a:xfrm>
            <a:off x="6949440" y="6236208"/>
            <a:ext cx="1508760" cy="292608"/>
          </a:xfrm>
          <a:prstGeom prst="roundRect">
            <a:avLst>
              <a:gd name="adj" fmla="val 50000"/>
            </a:avLst>
          </a:prstGeom>
          <a:solidFill>
            <a:srgbClr val="FFFFFF">
              <a:alpha val="88000"/>
            </a:srgbClr>
          </a:solidFill>
          <a:ln w="12700">
            <a:solidFill>
              <a:srgbClr val="FFFFFF"/>
            </a:solidFill>
            <a:prstDash val="solid"/>
          </a:ln>
        </p:spPr>
      </p:sp>
      <p:sp>
        <p:nvSpPr>
          <p:cNvPr id="57" name="Text 53"/>
          <p:cNvSpPr txBox="1"/>
          <p:nvPr/>
        </p:nvSpPr>
        <p:spPr>
          <a:xfrm>
            <a:off x="6949440" y="6236208"/>
            <a:ext cx="1508760" cy="292608"/>
          </a:xfrm>
          <a:prstGeom prst="rect">
            <a:avLst/>
          </a:prstGeom>
          <a:noFill/>
          <a:ln/>
        </p:spPr>
        <p:txBody>
          <a:bodyPr wrap="square" lIns="0" tIns="0" rIns="0" bIns="0" rtlCol="0" anchor="ctr"/>
          <a:lstStyle/>
          <a:p>
            <a:pPr marL="0" indent="0" algn="ctr">
              <a:buNone/>
            </a:pPr>
            <a:r>
              <a:rPr lang="en-US" sz="1000" b="1" dirty="0">
                <a:solidFill>
                  <a:srgbClr val="0A1F5C"/>
                </a:solidFill>
              </a:rPr>
              <a:t>Microsoft Foundry</a:t>
            </a:r>
            <a:endParaRPr lang="en-US" sz="1000" dirty="0"/>
          </a:p>
        </p:txBody>
      </p:sp>
      <p:sp>
        <p:nvSpPr>
          <p:cNvPr id="58" name="Shape 54"/>
          <p:cNvSpPr/>
          <p:nvPr/>
        </p:nvSpPr>
        <p:spPr>
          <a:xfrm>
            <a:off x="8549640" y="6236208"/>
            <a:ext cx="1508760" cy="292608"/>
          </a:xfrm>
          <a:prstGeom prst="roundRect">
            <a:avLst>
              <a:gd name="adj" fmla="val 50000"/>
            </a:avLst>
          </a:prstGeom>
          <a:solidFill>
            <a:srgbClr val="FFFFFF">
              <a:alpha val="88000"/>
            </a:srgbClr>
          </a:solidFill>
          <a:ln w="12700">
            <a:solidFill>
              <a:srgbClr val="FFFFFF"/>
            </a:solidFill>
            <a:prstDash val="solid"/>
          </a:ln>
        </p:spPr>
      </p:sp>
      <p:sp>
        <p:nvSpPr>
          <p:cNvPr id="59" name="Text 55"/>
          <p:cNvSpPr txBox="1"/>
          <p:nvPr/>
        </p:nvSpPr>
        <p:spPr>
          <a:xfrm>
            <a:off x="8549640" y="6236208"/>
            <a:ext cx="1508760" cy="292608"/>
          </a:xfrm>
          <a:prstGeom prst="rect">
            <a:avLst/>
          </a:prstGeom>
          <a:noFill/>
          <a:ln/>
        </p:spPr>
        <p:txBody>
          <a:bodyPr wrap="square" lIns="0" tIns="0" rIns="0" bIns="0" rtlCol="0" anchor="ctr"/>
          <a:lstStyle/>
          <a:p>
            <a:pPr marL="0" indent="0" algn="ctr">
              <a:buNone/>
            </a:pPr>
            <a:r>
              <a:rPr lang="en-US" sz="1000" b="1" dirty="0">
                <a:solidFill>
                  <a:srgbClr val="0A1F5C"/>
                </a:solidFill>
              </a:rPr>
              <a:t>Azure AI Search</a:t>
            </a:r>
            <a:endParaRPr lang="en-US" sz="1000" dirty="0"/>
          </a:p>
        </p:txBody>
      </p:sp>
      <p:sp>
        <p:nvSpPr>
          <p:cNvPr id="60" name="Shape 56"/>
          <p:cNvSpPr/>
          <p:nvPr/>
        </p:nvSpPr>
        <p:spPr>
          <a:xfrm>
            <a:off x="10149840" y="6236208"/>
            <a:ext cx="1508760" cy="292608"/>
          </a:xfrm>
          <a:prstGeom prst="roundRect">
            <a:avLst>
              <a:gd name="adj" fmla="val 50000"/>
            </a:avLst>
          </a:prstGeom>
          <a:solidFill>
            <a:srgbClr val="FFFFFF">
              <a:alpha val="88000"/>
            </a:srgbClr>
          </a:solidFill>
          <a:ln w="12700">
            <a:solidFill>
              <a:srgbClr val="FFFFFF"/>
            </a:solidFill>
            <a:prstDash val="solid"/>
          </a:ln>
        </p:spPr>
      </p:sp>
      <p:sp>
        <p:nvSpPr>
          <p:cNvPr id="61" name="Text 57"/>
          <p:cNvSpPr txBox="1"/>
          <p:nvPr/>
        </p:nvSpPr>
        <p:spPr>
          <a:xfrm>
            <a:off x="10149840" y="6236208"/>
            <a:ext cx="1508760" cy="292608"/>
          </a:xfrm>
          <a:prstGeom prst="rect">
            <a:avLst/>
          </a:prstGeom>
          <a:noFill/>
          <a:ln/>
        </p:spPr>
        <p:txBody>
          <a:bodyPr wrap="square" lIns="0" tIns="0" rIns="0" bIns="0" rtlCol="0" anchor="ctr"/>
          <a:lstStyle/>
          <a:p>
            <a:pPr marL="0" indent="0" algn="ctr">
              <a:buNone/>
            </a:pPr>
            <a:r>
              <a:rPr lang="en-US" sz="1000" b="1" dirty="0">
                <a:solidFill>
                  <a:srgbClr val="0A1F5C"/>
                </a:solidFill>
              </a:rPr>
              <a:t>Azure Blob Storage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468880"/>
            <a:ext cx="3291840" cy="731520"/>
          </a:xfrm>
          <a:prstGeom prst="rect">
            <a:avLst/>
          </a:prstGeom>
          <a:noFill/>
          <a:ln/>
        </p:spPr>
        <p:txBody>
          <a:bodyPr wrap="square" lIns="0" tIns="0" rIns="0" bIns="0" rtlCol="0" anchor="t"/>
          <a:lstStyle/>
          <a:p>
            <a:pPr marL="0" indent="0">
              <a:buNone/>
            </a:pPr>
            <a:r>
              <a:rPr lang="en-US" sz="3400" b="1" dirty="0">
                <a:solidFill>
                  <a:srgbClr val="FFFFFF"/>
                </a:solidFill>
              </a:rPr>
              <a:t>Agenda</a:t>
            </a:r>
            <a:endParaRPr lang="en-US" sz="3400" dirty="0"/>
          </a:p>
        </p:txBody>
      </p:sp>
      <p:sp>
        <p:nvSpPr>
          <p:cNvPr id="3" name="Text 1"/>
          <p:cNvSpPr txBox="1"/>
          <p:nvPr/>
        </p:nvSpPr>
        <p:spPr>
          <a:xfrm>
            <a:off x="548640" y="3291840"/>
            <a:ext cx="3108960" cy="1280160"/>
          </a:xfrm>
          <a:prstGeom prst="rect">
            <a:avLst/>
          </a:prstGeom>
          <a:noFill/>
          <a:ln/>
        </p:spPr>
        <p:txBody>
          <a:bodyPr wrap="square" lIns="0" tIns="0" rIns="0" bIns="0" rtlCol="0" anchor="t"/>
          <a:lstStyle/>
          <a:p>
            <a:pPr marL="0" indent="0">
              <a:buNone/>
            </a:pPr>
            <a:r>
              <a:rPr lang="en-US" sz="1300" dirty="0">
                <a:solidFill>
                  <a:srgbClr val="CFE0FF"/>
                </a:solidFill>
              </a:rPr>
              <a:t>From the use case to a safe, working, testable multi-agent system. Click any item to jump to it.</a:t>
            </a:r>
            <a:endParaRPr lang="en-US" sz="1300" dirty="0"/>
          </a:p>
        </p:txBody>
      </p:sp>
      <p:sp>
        <p:nvSpPr>
          <p:cNvPr id="4" name="Agenda item"/>
          <p:cNvSpPr/>
          <p:nvPr/>
        </p:nvSpPr>
        <p:spPr>
          <a:xfrm>
            <a:off x="4663440" y="566928"/>
            <a:ext cx="6976872" cy="713232"/>
          </a:xfrm>
          <a:prstGeom prst="roundRect">
            <a:avLst>
              <a:gd name="adj" fmla="val 12821"/>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5" name="Shape 3"/>
          <p:cNvSpPr/>
          <p:nvPr/>
        </p:nvSpPr>
        <p:spPr>
          <a:xfrm>
            <a:off x="4846320" y="694944"/>
            <a:ext cx="457200" cy="457200"/>
          </a:xfrm>
          <a:prstGeom prst="rect">
            <a:avLst/>
          </a:prstGeom>
          <a:solidFill>
            <a:schemeClr val="accent1"/>
          </a:solidFill>
          <a:ln w="12700">
            <a:solidFill>
              <a:schemeClr val="accent1"/>
            </a:solidFill>
            <a:prstDash val="solid"/>
          </a:ln>
        </p:spPr>
      </p:sp>
      <p:sp>
        <p:nvSpPr>
          <p:cNvPr id="6" name="Text 4"/>
          <p:cNvSpPr txBox="1"/>
          <p:nvPr/>
        </p:nvSpPr>
        <p:spPr>
          <a:xfrm>
            <a:off x="4846320" y="694944"/>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rPr>
              <a:t>01</a:t>
            </a:r>
            <a:endParaRPr lang="en-US" sz="1300" dirty="0"/>
          </a:p>
        </p:txBody>
      </p:sp>
      <p:sp>
        <p:nvSpPr>
          <p:cNvPr id="7" name="Text 5"/>
          <p:cNvSpPr txBox="1"/>
          <p:nvPr/>
        </p:nvSpPr>
        <p:spPr>
          <a:xfrm>
            <a:off x="5532120" y="658368"/>
            <a:ext cx="5943600" cy="292608"/>
          </a:xfrm>
          <a:prstGeom prst="rect">
            <a:avLst/>
          </a:prstGeom>
          <a:noFill/>
          <a:ln/>
        </p:spPr>
        <p:txBody>
          <a:bodyPr wrap="square" lIns="0" tIns="0" rIns="0" bIns="0" rtlCol="0" anchor="t"/>
          <a:lstStyle/>
          <a:p>
            <a:pPr marL="0" indent="0">
              <a:buNone/>
            </a:pPr>
            <a:r>
              <a:rPr lang="en-US" sz="1400" b="1" u="sng" dirty="0">
                <a:solidFill>
                  <a:schemeClr val="tx1"/>
                </a:solidFill>
                <a:hlinkClick r:id="rId3" action="ppaction://hlinksldjump" tooltip="Go to slide 3">
                  <a:extLst>
                    <a:ext uri="{A12FA001-AC4F-418D-AE19-62706E023703}">
                      <ahyp:hlinkClr xmlns:ahyp="http://schemas.microsoft.com/office/drawing/2018/hyperlinkcolor" val="tx"/>
                    </a:ext>
                  </a:extLst>
                </a:hlinkClick>
              </a:rPr>
              <a:t>Use case</a:t>
            </a:r>
            <a:endParaRPr lang="en-US" sz="1400" dirty="0"/>
          </a:p>
        </p:txBody>
      </p:sp>
      <p:sp>
        <p:nvSpPr>
          <p:cNvPr id="8" name="Text 6"/>
          <p:cNvSpPr txBox="1"/>
          <p:nvPr/>
        </p:nvSpPr>
        <p:spPr>
          <a:xfrm>
            <a:off x="5532120" y="960120"/>
            <a:ext cx="5943600" cy="237744"/>
          </a:xfrm>
          <a:prstGeom prst="rect">
            <a:avLst/>
          </a:prstGeom>
          <a:noFill/>
          <a:ln/>
        </p:spPr>
        <p:txBody>
          <a:bodyPr wrap="square" lIns="0" tIns="0" rIns="0" bIns="0" rtlCol="0" anchor="t"/>
          <a:lstStyle/>
          <a:p>
            <a:pPr marL="0" indent="0">
              <a:buNone/>
            </a:pPr>
            <a:r>
              <a:rPr lang="en-US" sz="1150" dirty="0">
                <a:solidFill>
                  <a:srgbClr val="5B6478"/>
                </a:solidFill>
              </a:rPr>
              <a:t>Why safe follow-up does not scale today</a:t>
            </a:r>
            <a:endParaRPr lang="en-US" sz="1150" dirty="0"/>
          </a:p>
        </p:txBody>
      </p:sp>
      <p:sp>
        <p:nvSpPr>
          <p:cNvPr id="9" name="Agenda item"/>
          <p:cNvSpPr/>
          <p:nvPr/>
        </p:nvSpPr>
        <p:spPr>
          <a:xfrm>
            <a:off x="4663440" y="1389888"/>
            <a:ext cx="6976872" cy="713232"/>
          </a:xfrm>
          <a:prstGeom prst="roundRect">
            <a:avLst>
              <a:gd name="adj" fmla="val 12821"/>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10" name="Shape 8"/>
          <p:cNvSpPr/>
          <p:nvPr/>
        </p:nvSpPr>
        <p:spPr>
          <a:xfrm>
            <a:off x="4846320" y="1517904"/>
            <a:ext cx="457200" cy="457200"/>
          </a:xfrm>
          <a:prstGeom prst="rect">
            <a:avLst/>
          </a:prstGeom>
          <a:solidFill>
            <a:schemeClr val="accent1"/>
          </a:solidFill>
          <a:ln w="12700">
            <a:solidFill>
              <a:schemeClr val="accent1"/>
            </a:solidFill>
            <a:prstDash val="solid"/>
          </a:ln>
        </p:spPr>
      </p:sp>
      <p:sp>
        <p:nvSpPr>
          <p:cNvPr id="11" name="Text 9"/>
          <p:cNvSpPr txBox="1"/>
          <p:nvPr/>
        </p:nvSpPr>
        <p:spPr>
          <a:xfrm>
            <a:off x="4846320" y="1517904"/>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rPr>
              <a:t>02</a:t>
            </a:r>
            <a:endParaRPr lang="en-US" sz="1300" dirty="0"/>
          </a:p>
        </p:txBody>
      </p:sp>
      <p:sp>
        <p:nvSpPr>
          <p:cNvPr id="12" name="Text 10"/>
          <p:cNvSpPr txBox="1"/>
          <p:nvPr/>
        </p:nvSpPr>
        <p:spPr>
          <a:xfrm>
            <a:off x="5532120" y="1481328"/>
            <a:ext cx="5943600" cy="292608"/>
          </a:xfrm>
          <a:prstGeom prst="rect">
            <a:avLst/>
          </a:prstGeom>
          <a:noFill/>
          <a:ln/>
        </p:spPr>
        <p:txBody>
          <a:bodyPr wrap="square" lIns="0" tIns="0" rIns="0" bIns="0" rtlCol="0" anchor="t"/>
          <a:lstStyle/>
          <a:p>
            <a:pPr marL="0" indent="0">
              <a:buNone/>
            </a:pPr>
            <a:r>
              <a:rPr lang="en-US" sz="1400" b="1" u="sng" dirty="0">
                <a:solidFill>
                  <a:schemeClr val="tx1"/>
                </a:solidFill>
                <a:hlinkClick r:id="rId4" action="ppaction://hlinksldjump" tooltip="Go to slide 4">
                  <a:extLst>
                    <a:ext uri="{A12FA001-AC4F-418D-AE19-62706E023703}">
                      <ahyp:hlinkClr xmlns:ahyp="http://schemas.microsoft.com/office/drawing/2018/hyperlinkcolor" val="tx"/>
                    </a:ext>
                  </a:extLst>
                </a:hlinkClick>
              </a:rPr>
              <a:t>Solution &amp; design principle</a:t>
            </a:r>
            <a:endParaRPr lang="en-US" sz="1400" dirty="0"/>
          </a:p>
        </p:txBody>
      </p:sp>
      <p:sp>
        <p:nvSpPr>
          <p:cNvPr id="13" name="Text 11"/>
          <p:cNvSpPr txBox="1"/>
          <p:nvPr/>
        </p:nvSpPr>
        <p:spPr>
          <a:xfrm>
            <a:off x="5532120" y="1783080"/>
            <a:ext cx="5943600" cy="237744"/>
          </a:xfrm>
          <a:prstGeom prst="rect">
            <a:avLst/>
          </a:prstGeom>
          <a:noFill/>
          <a:ln/>
        </p:spPr>
        <p:txBody>
          <a:bodyPr wrap="square" lIns="0" tIns="0" rIns="0" bIns="0" rtlCol="0" anchor="t"/>
          <a:lstStyle/>
          <a:p>
            <a:pPr marL="0" indent="0">
              <a:buNone/>
            </a:pPr>
            <a:r>
              <a:rPr lang="en-US" sz="1150" dirty="0">
                <a:solidFill>
                  <a:srgbClr val="5B6478"/>
                </a:solidFill>
              </a:rPr>
              <a:t>Six agents; code decides facts, AI words them</a:t>
            </a:r>
            <a:endParaRPr lang="en-US" sz="1150" dirty="0"/>
          </a:p>
        </p:txBody>
      </p:sp>
      <p:sp>
        <p:nvSpPr>
          <p:cNvPr id="14" name="Agenda item"/>
          <p:cNvSpPr/>
          <p:nvPr/>
        </p:nvSpPr>
        <p:spPr>
          <a:xfrm>
            <a:off x="4663440" y="2212848"/>
            <a:ext cx="6976872" cy="713232"/>
          </a:xfrm>
          <a:prstGeom prst="roundRect">
            <a:avLst>
              <a:gd name="adj" fmla="val 12821"/>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15" name="Shape 13"/>
          <p:cNvSpPr/>
          <p:nvPr/>
        </p:nvSpPr>
        <p:spPr>
          <a:xfrm>
            <a:off x="4846320" y="2340864"/>
            <a:ext cx="457200" cy="457200"/>
          </a:xfrm>
          <a:prstGeom prst="rect">
            <a:avLst/>
          </a:prstGeom>
          <a:solidFill>
            <a:schemeClr val="accent1"/>
          </a:solidFill>
          <a:ln w="12700">
            <a:solidFill>
              <a:schemeClr val="accent1"/>
            </a:solidFill>
            <a:prstDash val="solid"/>
          </a:ln>
        </p:spPr>
      </p:sp>
      <p:sp>
        <p:nvSpPr>
          <p:cNvPr id="16" name="Text 14"/>
          <p:cNvSpPr txBox="1"/>
          <p:nvPr/>
        </p:nvSpPr>
        <p:spPr>
          <a:xfrm>
            <a:off x="4846320" y="2340864"/>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rPr>
              <a:t>03</a:t>
            </a:r>
            <a:endParaRPr lang="en-US" sz="1300" dirty="0"/>
          </a:p>
        </p:txBody>
      </p:sp>
      <p:sp>
        <p:nvSpPr>
          <p:cNvPr id="17" name="Text 15"/>
          <p:cNvSpPr txBox="1"/>
          <p:nvPr/>
        </p:nvSpPr>
        <p:spPr>
          <a:xfrm>
            <a:off x="5532120" y="2304288"/>
            <a:ext cx="5943600" cy="292608"/>
          </a:xfrm>
          <a:prstGeom prst="rect">
            <a:avLst/>
          </a:prstGeom>
          <a:noFill/>
          <a:ln/>
        </p:spPr>
        <p:txBody>
          <a:bodyPr wrap="square" lIns="0" tIns="0" rIns="0" bIns="0" rtlCol="0" anchor="t"/>
          <a:lstStyle/>
          <a:p>
            <a:pPr marL="0" indent="0">
              <a:buNone/>
            </a:pPr>
            <a:r>
              <a:rPr lang="en-US" sz="1400" b="1" u="sng" dirty="0">
                <a:solidFill>
                  <a:schemeClr val="tx1"/>
                </a:solidFill>
                <a:hlinkClick r:id="rId5" action="ppaction://hlinksldjump" tooltip="Go to slide 6">
                  <a:extLst>
                    <a:ext uri="{A12FA001-AC4F-418D-AE19-62706E023703}">
                      <ahyp:hlinkClr xmlns:ahyp="http://schemas.microsoft.com/office/drawing/2018/hyperlinkcolor" val="tx"/>
                    </a:ext>
                  </a:extLst>
                </a:hlinkClick>
              </a:rPr>
              <a:t>Architecture &amp; RAG</a:t>
            </a:r>
            <a:endParaRPr lang="en-US" sz="1400" dirty="0"/>
          </a:p>
        </p:txBody>
      </p:sp>
      <p:sp>
        <p:nvSpPr>
          <p:cNvPr id="18" name="Text 16"/>
          <p:cNvSpPr txBox="1"/>
          <p:nvPr/>
        </p:nvSpPr>
        <p:spPr>
          <a:xfrm>
            <a:off x="5532120" y="2606040"/>
            <a:ext cx="5943600" cy="237744"/>
          </a:xfrm>
          <a:prstGeom prst="rect">
            <a:avLst/>
          </a:prstGeom>
          <a:noFill/>
          <a:ln/>
        </p:spPr>
        <p:txBody>
          <a:bodyPr wrap="square" lIns="0" tIns="0" rIns="0" bIns="0" rtlCol="0" anchor="t"/>
          <a:lstStyle/>
          <a:p>
            <a:pPr marL="0" indent="0">
              <a:buNone/>
            </a:pPr>
            <a:r>
              <a:rPr lang="en-US" sz="1150" dirty="0">
                <a:solidFill>
                  <a:srgbClr val="5B6478"/>
                </a:solidFill>
              </a:rPr>
              <a:t>One message, end to end; grounded answers</a:t>
            </a:r>
            <a:endParaRPr lang="en-US" sz="1150" dirty="0"/>
          </a:p>
        </p:txBody>
      </p:sp>
      <p:sp>
        <p:nvSpPr>
          <p:cNvPr id="19" name="Agenda item"/>
          <p:cNvSpPr/>
          <p:nvPr/>
        </p:nvSpPr>
        <p:spPr>
          <a:xfrm>
            <a:off x="4663440" y="3035808"/>
            <a:ext cx="6976872" cy="713232"/>
          </a:xfrm>
          <a:prstGeom prst="roundRect">
            <a:avLst>
              <a:gd name="adj" fmla="val 12821"/>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20" name="Shape 18"/>
          <p:cNvSpPr/>
          <p:nvPr/>
        </p:nvSpPr>
        <p:spPr>
          <a:xfrm>
            <a:off x="4846320" y="3163824"/>
            <a:ext cx="457200" cy="457200"/>
          </a:xfrm>
          <a:prstGeom prst="rect">
            <a:avLst/>
          </a:prstGeom>
          <a:solidFill>
            <a:schemeClr val="accent1"/>
          </a:solidFill>
          <a:ln w="12700">
            <a:solidFill>
              <a:schemeClr val="accent1"/>
            </a:solidFill>
            <a:prstDash val="solid"/>
          </a:ln>
        </p:spPr>
      </p:sp>
      <p:sp>
        <p:nvSpPr>
          <p:cNvPr id="21" name="Text 19"/>
          <p:cNvSpPr txBox="1"/>
          <p:nvPr/>
        </p:nvSpPr>
        <p:spPr>
          <a:xfrm>
            <a:off x="4846320" y="3163824"/>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rPr>
              <a:t>04</a:t>
            </a:r>
            <a:endParaRPr lang="en-US" sz="1300" dirty="0"/>
          </a:p>
        </p:txBody>
      </p:sp>
      <p:sp>
        <p:nvSpPr>
          <p:cNvPr id="22" name="Text 20"/>
          <p:cNvSpPr txBox="1"/>
          <p:nvPr/>
        </p:nvSpPr>
        <p:spPr>
          <a:xfrm>
            <a:off x="5532120" y="3127248"/>
            <a:ext cx="5943600" cy="292608"/>
          </a:xfrm>
          <a:prstGeom prst="rect">
            <a:avLst/>
          </a:prstGeom>
          <a:noFill/>
          <a:ln/>
        </p:spPr>
        <p:txBody>
          <a:bodyPr wrap="square" lIns="0" tIns="0" rIns="0" bIns="0" rtlCol="0" anchor="t"/>
          <a:lstStyle/>
          <a:p>
            <a:pPr marL="0" indent="0">
              <a:buNone/>
            </a:pPr>
            <a:r>
              <a:rPr lang="en-US" sz="1400" b="1" u="sng" dirty="0">
                <a:solidFill>
                  <a:schemeClr val="tx1"/>
                </a:solidFill>
                <a:hlinkClick r:id="rId6" action="ppaction://hlinksldjump" tooltip="Go to slide 8">
                  <a:extLst>
                    <a:ext uri="{A12FA001-AC4F-418D-AE19-62706E023703}">
                      <ahyp:hlinkClr xmlns:ahyp="http://schemas.microsoft.com/office/drawing/2018/hyperlinkcolor" val="tx"/>
                    </a:ext>
                  </a:extLst>
                </a:hlinkClick>
              </a:rPr>
              <a:t>Live demo &amp; rules</a:t>
            </a:r>
            <a:endParaRPr lang="en-US" sz="1400" dirty="0"/>
          </a:p>
        </p:txBody>
      </p:sp>
      <p:sp>
        <p:nvSpPr>
          <p:cNvPr id="23" name="Text 21"/>
          <p:cNvSpPr txBox="1"/>
          <p:nvPr/>
        </p:nvSpPr>
        <p:spPr>
          <a:xfrm>
            <a:off x="5532120" y="3429000"/>
            <a:ext cx="5943600" cy="237744"/>
          </a:xfrm>
          <a:prstGeom prst="rect">
            <a:avLst/>
          </a:prstGeom>
          <a:noFill/>
          <a:ln/>
        </p:spPr>
        <p:txBody>
          <a:bodyPr wrap="square" lIns="0" tIns="0" rIns="0" bIns="0" rtlCol="0" anchor="t"/>
          <a:lstStyle/>
          <a:p>
            <a:pPr marL="0" indent="0">
              <a:buNone/>
            </a:pPr>
            <a:r>
              <a:rPr lang="en-US" sz="1150" dirty="0">
                <a:solidFill>
                  <a:srgbClr val="5B6478"/>
                </a:solidFill>
              </a:rPr>
              <a:t>Normal, exception and safety paths</a:t>
            </a:r>
            <a:endParaRPr lang="en-US" sz="1150" dirty="0"/>
          </a:p>
        </p:txBody>
      </p:sp>
      <p:sp>
        <p:nvSpPr>
          <p:cNvPr id="24" name="Agenda item"/>
          <p:cNvSpPr/>
          <p:nvPr/>
        </p:nvSpPr>
        <p:spPr>
          <a:xfrm>
            <a:off x="4663440" y="3858768"/>
            <a:ext cx="6976872" cy="713232"/>
          </a:xfrm>
          <a:prstGeom prst="roundRect">
            <a:avLst>
              <a:gd name="adj" fmla="val 12821"/>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25" name="Shape 23"/>
          <p:cNvSpPr/>
          <p:nvPr/>
        </p:nvSpPr>
        <p:spPr>
          <a:xfrm>
            <a:off x="4846320" y="3986784"/>
            <a:ext cx="457200" cy="457200"/>
          </a:xfrm>
          <a:prstGeom prst="rect">
            <a:avLst/>
          </a:prstGeom>
          <a:solidFill>
            <a:schemeClr val="accent1"/>
          </a:solidFill>
          <a:ln w="12700">
            <a:solidFill>
              <a:schemeClr val="accent1"/>
            </a:solidFill>
            <a:prstDash val="solid"/>
          </a:ln>
        </p:spPr>
      </p:sp>
      <p:sp>
        <p:nvSpPr>
          <p:cNvPr id="26" name="Text 24"/>
          <p:cNvSpPr txBox="1"/>
          <p:nvPr/>
        </p:nvSpPr>
        <p:spPr>
          <a:xfrm>
            <a:off x="4846320" y="3986784"/>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rPr>
              <a:t>05</a:t>
            </a:r>
            <a:endParaRPr lang="en-US" sz="1300" dirty="0"/>
          </a:p>
        </p:txBody>
      </p:sp>
      <p:sp>
        <p:nvSpPr>
          <p:cNvPr id="27" name="Text 25"/>
          <p:cNvSpPr txBox="1"/>
          <p:nvPr/>
        </p:nvSpPr>
        <p:spPr>
          <a:xfrm>
            <a:off x="5532120" y="3950208"/>
            <a:ext cx="5943600" cy="292608"/>
          </a:xfrm>
          <a:prstGeom prst="rect">
            <a:avLst/>
          </a:prstGeom>
          <a:noFill/>
          <a:ln/>
        </p:spPr>
        <p:txBody>
          <a:bodyPr wrap="square" lIns="0" tIns="0" rIns="0" bIns="0" rtlCol="0" anchor="t"/>
          <a:lstStyle/>
          <a:p>
            <a:pPr marL="0" indent="0">
              <a:buNone/>
            </a:pPr>
            <a:r>
              <a:rPr lang="en-US" sz="1400" b="1" u="sng" dirty="0">
                <a:solidFill>
                  <a:schemeClr val="tx1"/>
                </a:solidFill>
                <a:hlinkClick r:id="rId7" action="ppaction://hlinksldjump" tooltip="Go to slide 10">
                  <a:extLst>
                    <a:ext uri="{A12FA001-AC4F-418D-AE19-62706E023703}">
                      <ahyp:hlinkClr xmlns:ahyp="http://schemas.microsoft.com/office/drawing/2018/hyperlinkcolor" val="tx"/>
                    </a:ext>
                  </a:extLst>
                </a:hlinkClick>
              </a:rPr>
              <a:t>Results</a:t>
            </a:r>
            <a:endParaRPr lang="en-US" sz="1400" dirty="0"/>
          </a:p>
        </p:txBody>
      </p:sp>
      <p:sp>
        <p:nvSpPr>
          <p:cNvPr id="28" name="Text 26"/>
          <p:cNvSpPr txBox="1"/>
          <p:nvPr/>
        </p:nvSpPr>
        <p:spPr>
          <a:xfrm>
            <a:off x="5532120" y="4251960"/>
            <a:ext cx="5943600" cy="237744"/>
          </a:xfrm>
          <a:prstGeom prst="rect">
            <a:avLst/>
          </a:prstGeom>
          <a:noFill/>
          <a:ln/>
        </p:spPr>
        <p:txBody>
          <a:bodyPr wrap="square" lIns="0" tIns="0" rIns="0" bIns="0" rtlCol="0" anchor="t"/>
          <a:lstStyle/>
          <a:p>
            <a:pPr marL="0" indent="0">
              <a:buNone/>
            </a:pPr>
            <a:r>
              <a:rPr lang="en-US" sz="1150" dirty="0">
                <a:solidFill>
                  <a:srgbClr val="5B6478"/>
                </a:solidFill>
              </a:rPr>
              <a:t>Scenario coverage and evidence</a:t>
            </a:r>
            <a:endParaRPr lang="en-US" sz="1150" dirty="0"/>
          </a:p>
        </p:txBody>
      </p:sp>
      <p:sp>
        <p:nvSpPr>
          <p:cNvPr id="29" name="Agenda item"/>
          <p:cNvSpPr/>
          <p:nvPr/>
        </p:nvSpPr>
        <p:spPr>
          <a:xfrm>
            <a:off x="4663440" y="4681728"/>
            <a:ext cx="6976872" cy="713232"/>
          </a:xfrm>
          <a:prstGeom prst="roundRect">
            <a:avLst>
              <a:gd name="adj" fmla="val 12821"/>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30" name="Shape 28"/>
          <p:cNvSpPr/>
          <p:nvPr/>
        </p:nvSpPr>
        <p:spPr>
          <a:xfrm>
            <a:off x="4846320" y="4809744"/>
            <a:ext cx="457200" cy="457200"/>
          </a:xfrm>
          <a:prstGeom prst="rect">
            <a:avLst/>
          </a:prstGeom>
          <a:solidFill>
            <a:schemeClr val="accent1"/>
          </a:solidFill>
          <a:ln w="12700">
            <a:solidFill>
              <a:schemeClr val="accent1"/>
            </a:solidFill>
            <a:prstDash val="solid"/>
          </a:ln>
        </p:spPr>
      </p:sp>
      <p:sp>
        <p:nvSpPr>
          <p:cNvPr id="31" name="Text 29"/>
          <p:cNvSpPr txBox="1"/>
          <p:nvPr/>
        </p:nvSpPr>
        <p:spPr>
          <a:xfrm>
            <a:off x="4846320" y="4809744"/>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rPr>
              <a:t>06</a:t>
            </a:r>
            <a:endParaRPr lang="en-US" sz="1300" dirty="0"/>
          </a:p>
        </p:txBody>
      </p:sp>
      <p:sp>
        <p:nvSpPr>
          <p:cNvPr id="32" name="Text 30"/>
          <p:cNvSpPr txBox="1"/>
          <p:nvPr/>
        </p:nvSpPr>
        <p:spPr>
          <a:xfrm>
            <a:off x="5532120" y="4773168"/>
            <a:ext cx="5943600" cy="292608"/>
          </a:xfrm>
          <a:prstGeom prst="rect">
            <a:avLst/>
          </a:prstGeom>
          <a:noFill/>
          <a:ln/>
        </p:spPr>
        <p:txBody>
          <a:bodyPr wrap="square" lIns="0" tIns="0" rIns="0" bIns="0" rtlCol="0" anchor="t"/>
          <a:lstStyle/>
          <a:p>
            <a:pPr marL="0" indent="0">
              <a:buNone/>
            </a:pPr>
            <a:r>
              <a:rPr lang="en-US" sz="1400" b="1" u="sng" dirty="0">
                <a:solidFill>
                  <a:schemeClr val="tx1"/>
                </a:solidFill>
                <a:hlinkClick r:id="rId8" action="ppaction://hlinksldjump" tooltip="Go to slide 11">
                  <a:extLst>
                    <a:ext uri="{A12FA001-AC4F-418D-AE19-62706E023703}">
                      <ahyp:hlinkClr xmlns:ahyp="http://schemas.microsoft.com/office/drawing/2018/hyperlinkcolor" val="tx"/>
                    </a:ext>
                  </a:extLst>
                </a:hlinkClick>
              </a:rPr>
              <a:t>Limits &amp; next steps</a:t>
            </a:r>
            <a:endParaRPr lang="en-US" sz="1400" dirty="0"/>
          </a:p>
        </p:txBody>
      </p:sp>
      <p:sp>
        <p:nvSpPr>
          <p:cNvPr id="33" name="Text 31"/>
          <p:cNvSpPr txBox="1"/>
          <p:nvPr/>
        </p:nvSpPr>
        <p:spPr>
          <a:xfrm>
            <a:off x="5532120" y="5074920"/>
            <a:ext cx="5943600" cy="237744"/>
          </a:xfrm>
          <a:prstGeom prst="rect">
            <a:avLst/>
          </a:prstGeom>
          <a:noFill/>
          <a:ln/>
        </p:spPr>
        <p:txBody>
          <a:bodyPr wrap="square" lIns="0" tIns="0" rIns="0" bIns="0" rtlCol="0" anchor="t"/>
          <a:lstStyle/>
          <a:p>
            <a:pPr marL="0" indent="0">
              <a:buNone/>
            </a:pPr>
            <a:r>
              <a:rPr lang="en-US" sz="1150" dirty="0">
                <a:solidFill>
                  <a:srgbClr val="5B6478"/>
                </a:solidFill>
              </a:rPr>
              <a:t>What is open and what comes next</a:t>
            </a:r>
            <a:endParaRPr lang="en-US" sz="1150" dirty="0"/>
          </a:p>
        </p:txBody>
      </p:sp>
      <p:sp>
        <p:nvSpPr>
          <p:cNvPr id="34" name="Agenda item"/>
          <p:cNvSpPr/>
          <p:nvPr/>
        </p:nvSpPr>
        <p:spPr>
          <a:xfrm>
            <a:off x="4663440" y="5504688"/>
            <a:ext cx="6976872" cy="713232"/>
          </a:xfrm>
          <a:prstGeom prst="roundRect">
            <a:avLst>
              <a:gd name="adj" fmla="val 12821"/>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35" name="Shape 33"/>
          <p:cNvSpPr/>
          <p:nvPr/>
        </p:nvSpPr>
        <p:spPr>
          <a:xfrm>
            <a:off x="4846320" y="5632704"/>
            <a:ext cx="457200" cy="457200"/>
          </a:xfrm>
          <a:prstGeom prst="rect">
            <a:avLst/>
          </a:prstGeom>
          <a:solidFill>
            <a:schemeClr val="accent1"/>
          </a:solidFill>
          <a:ln w="12700">
            <a:solidFill>
              <a:schemeClr val="accent1"/>
            </a:solidFill>
            <a:prstDash val="solid"/>
          </a:ln>
        </p:spPr>
      </p:sp>
      <p:sp>
        <p:nvSpPr>
          <p:cNvPr id="36" name="Text 34"/>
          <p:cNvSpPr txBox="1"/>
          <p:nvPr/>
        </p:nvSpPr>
        <p:spPr>
          <a:xfrm>
            <a:off x="4846320" y="5632704"/>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rPr>
              <a:t>07</a:t>
            </a:r>
            <a:endParaRPr lang="en-US" sz="1300" dirty="0"/>
          </a:p>
        </p:txBody>
      </p:sp>
      <p:sp>
        <p:nvSpPr>
          <p:cNvPr id="37" name="Text 35"/>
          <p:cNvSpPr txBox="1"/>
          <p:nvPr/>
        </p:nvSpPr>
        <p:spPr>
          <a:xfrm>
            <a:off x="5532120" y="5596128"/>
            <a:ext cx="5943600" cy="292608"/>
          </a:xfrm>
          <a:prstGeom prst="rect">
            <a:avLst/>
          </a:prstGeom>
          <a:noFill/>
          <a:ln/>
        </p:spPr>
        <p:txBody>
          <a:bodyPr wrap="square" lIns="0" tIns="0" rIns="0" bIns="0" rtlCol="0" anchor="t"/>
          <a:lstStyle/>
          <a:p>
            <a:pPr marL="0" indent="0">
              <a:buNone/>
            </a:pPr>
            <a:r>
              <a:rPr lang="en-US" sz="1400" b="1" u="sng" dirty="0">
                <a:solidFill>
                  <a:schemeClr val="tx1"/>
                </a:solidFill>
                <a:hlinkClick r:id="rId9" action="ppaction://hlinksldjump" tooltip="Go to slide 12">
                  <a:extLst>
                    <a:ext uri="{A12FA001-AC4F-418D-AE19-62706E023703}">
                      <ahyp:hlinkClr xmlns:ahyp="http://schemas.microsoft.com/office/drawing/2018/hyperlinkcolor" val="tx"/>
                    </a:ext>
                  </a:extLst>
                </a:hlinkClick>
              </a:rPr>
              <a:t>Conclusion &amp; Q&amp;A</a:t>
            </a:r>
            <a:endParaRPr lang="en-US" sz="1400" dirty="0"/>
          </a:p>
        </p:txBody>
      </p:sp>
      <p:sp>
        <p:nvSpPr>
          <p:cNvPr id="38" name="Text 36"/>
          <p:cNvSpPr txBox="1"/>
          <p:nvPr/>
        </p:nvSpPr>
        <p:spPr>
          <a:xfrm>
            <a:off x="5532120" y="5897880"/>
            <a:ext cx="5943600" cy="237744"/>
          </a:xfrm>
          <a:prstGeom prst="rect">
            <a:avLst/>
          </a:prstGeom>
          <a:noFill/>
          <a:ln/>
        </p:spPr>
        <p:txBody>
          <a:bodyPr wrap="square" lIns="0" tIns="0" rIns="0" bIns="0" rtlCol="0" anchor="t"/>
          <a:lstStyle/>
          <a:p>
            <a:pPr marL="0" indent="0">
              <a:buNone/>
            </a:pPr>
            <a:r>
              <a:rPr lang="en-US" sz="1150" dirty="0">
                <a:solidFill>
                  <a:srgbClr val="5B6478"/>
                </a:solidFill>
              </a:rPr>
              <a:t>Key takeaways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47472"/>
            <a:ext cx="8229600" cy="256032"/>
          </a:xfrm>
          <a:prstGeom prst="rect">
            <a:avLst/>
          </a:prstGeom>
          <a:noFill/>
          <a:ln/>
        </p:spPr>
        <p:txBody>
          <a:bodyPr wrap="square" lIns="0" tIns="0" rIns="0" bIns="0" rtlCol="0" anchor="t"/>
          <a:lstStyle/>
          <a:p>
            <a:pPr marL="0" indent="0" algn="l">
              <a:buNone/>
            </a:pPr>
            <a:r>
              <a:rPr lang="en-US" sz="1100" b="1" kern="0" spc="200" dirty="0">
                <a:solidFill>
                  <a:srgbClr val="1547C8"/>
                </a:solidFill>
              </a:rPr>
              <a:t>01  ·  USE CASE</a:t>
            </a:r>
            <a:endParaRPr lang="en-US" sz="1100" dirty="0"/>
          </a:p>
        </p:txBody>
      </p:sp>
      <p:sp>
        <p:nvSpPr>
          <p:cNvPr id="3" name="Text 1"/>
          <p:cNvSpPr>
            <a:spLocks noGrp="1"/>
          </p:cNvSpPr>
          <p:nvPr>
            <p:ph type="title" idx="103" hasCustomPrompt="1"/>
          </p:nvPr>
        </p:nvSpPr>
        <p:spPr>
          <a:xfrm>
            <a:off x="548640" y="603504"/>
            <a:ext cx="11064240" cy="566928"/>
          </a:xfrm>
          <a:prstGeom prst="rect">
            <a:avLst/>
          </a:prstGeom>
          <a:noFill/>
          <a:ln/>
        </p:spPr>
        <p:txBody>
          <a:bodyPr wrap="square" lIns="0" tIns="0" rIns="0" bIns="0" rtlCol="0" anchor="t"/>
          <a:lstStyle/>
          <a:p>
            <a:pPr marL="0" indent="0" algn="l">
              <a:buNone/>
            </a:pPr>
            <a:r>
              <a:rPr lang="en-US" sz="3000" b="1" dirty="0">
                <a:solidFill>
                  <a:srgbClr val="1F2937"/>
                </a:solidFill>
              </a:rPr>
              <a:t>Chronic-care teams cannot scale follow-up safely</a:t>
            </a:r>
            <a:endParaRPr lang="en-US" sz="3000" dirty="0"/>
          </a:p>
        </p:txBody>
      </p:sp>
      <p:sp>
        <p:nvSpPr>
          <p:cNvPr id="4" name="Text 2"/>
          <p:cNvSpPr txBox="1"/>
          <p:nvPr/>
        </p:nvSpPr>
        <p:spPr>
          <a:xfrm>
            <a:off x="9921240" y="6382512"/>
            <a:ext cx="1097280" cy="219456"/>
          </a:xfrm>
          <a:prstGeom prst="rect">
            <a:avLst/>
          </a:prstGeom>
          <a:noFill/>
          <a:ln/>
        </p:spPr>
        <p:txBody>
          <a:bodyPr wrap="square" lIns="0" tIns="0" rIns="0" bIns="0" rtlCol="0" anchor="ctr"/>
          <a:lstStyle/>
          <a:p>
            <a:pPr marL="0" indent="0" algn="r">
              <a:buNone/>
            </a:pPr>
            <a:r>
              <a:rPr lang="en-US" sz="1000" u="sng" dirty="0">
                <a:solidFill>
                  <a:schemeClr val="tx1"/>
                </a:solidFill>
                <a:hlinkClick r:id="rId3" action="ppaction://hlinksldjump" tooltip="Back to the agenda">
                  <a:extLst>
                    <a:ext uri="{A12FA001-AC4F-418D-AE19-62706E023703}">
                      <ahyp:hlinkClr xmlns:ahyp="http://schemas.microsoft.com/office/drawing/2018/hyperlinkcolor" val="tx"/>
                    </a:ext>
                  </a:extLst>
                </a:hlinkClick>
              </a:rPr>
              <a:t>← Agenda</a:t>
            </a:r>
            <a:endParaRPr lang="en-US" sz="1000" dirty="0"/>
          </a:p>
        </p:txBody>
      </p:sp>
      <p:sp>
        <p:nvSpPr>
          <p:cNvPr id="5" name="Text 3"/>
          <p:cNvSpPr txBox="1"/>
          <p:nvPr/>
        </p:nvSpPr>
        <p:spPr>
          <a:xfrm>
            <a:off x="548640" y="1371600"/>
            <a:ext cx="5394960" cy="274320"/>
          </a:xfrm>
          <a:prstGeom prst="rect">
            <a:avLst/>
          </a:prstGeom>
          <a:noFill/>
          <a:ln/>
        </p:spPr>
        <p:txBody>
          <a:bodyPr wrap="square" lIns="0" tIns="0" rIns="0" bIns="0" rtlCol="0" anchor="t"/>
          <a:lstStyle/>
          <a:p>
            <a:pPr marL="0" indent="0">
              <a:buNone/>
            </a:pPr>
            <a:r>
              <a:rPr lang="en-US" sz="1400" b="1" dirty="0">
                <a:solidFill>
                  <a:srgbClr val="5B6478"/>
                </a:solidFill>
              </a:rPr>
              <a:t>The problem</a:t>
            </a:r>
            <a:endParaRPr lang="en-US" sz="1400" dirty="0"/>
          </a:p>
        </p:txBody>
      </p:sp>
      <p:sp>
        <p:nvSpPr>
          <p:cNvPr id="6" name="IconCircle"/>
          <p:cNvSpPr/>
          <p:nvPr/>
        </p:nvSpPr>
        <p:spPr>
          <a:xfrm>
            <a:off x="548640" y="1828800"/>
            <a:ext cx="548640" cy="548640"/>
          </a:xfrm>
          <a:prstGeom prst="ellipse">
            <a:avLst/>
          </a:prstGeom>
          <a:solidFill>
            <a:srgbClr val="1547C8"/>
          </a:solidFill>
          <a:ln w="12700">
            <a:solidFill>
              <a:srgbClr val="1547C8"/>
            </a:solidFill>
            <a:prstDash val="solid"/>
          </a:ln>
        </p:spPr>
      </p:sp>
      <p:pic>
        <p:nvPicPr>
          <p:cNvPr id="7" name="Image 0" descr="Redo icon"/>
          <p:cNvPicPr>
            <a:picLocks noChangeAspect="1"/>
          </p:cNvPicPr>
          <p:nvPr/>
        </p:nvPicPr>
        <p:blipFill>
          <a:blip r:embed="rId4"/>
          <a:stretch>
            <a:fillRect/>
          </a:stretch>
        </p:blipFill>
        <p:spPr>
          <a:xfrm>
            <a:off x="685800" y="1965960"/>
            <a:ext cx="274320" cy="274320"/>
          </a:xfrm>
          <a:prstGeom prst="rect">
            <a:avLst/>
          </a:prstGeom>
        </p:spPr>
      </p:pic>
      <p:sp>
        <p:nvSpPr>
          <p:cNvPr id="8" name="Text 5"/>
          <p:cNvSpPr txBox="1"/>
          <p:nvPr/>
        </p:nvSpPr>
        <p:spPr>
          <a:xfrm>
            <a:off x="1325880" y="1792224"/>
            <a:ext cx="4663440" cy="292608"/>
          </a:xfrm>
          <a:prstGeom prst="rect">
            <a:avLst/>
          </a:prstGeom>
          <a:noFill/>
          <a:ln/>
        </p:spPr>
        <p:txBody>
          <a:bodyPr wrap="square" lIns="0" tIns="0" rIns="0" bIns="0" rtlCol="0" anchor="t"/>
          <a:lstStyle/>
          <a:p>
            <a:pPr marL="0" indent="0">
              <a:buNone/>
            </a:pPr>
            <a:r>
              <a:rPr lang="en-US" sz="1500" b="1" dirty="0">
                <a:solidFill>
                  <a:schemeClr val="tx1"/>
                </a:solidFill>
              </a:rPr>
              <a:t>Repeated questions</a:t>
            </a:r>
            <a:endParaRPr lang="en-US" sz="1500" dirty="0"/>
          </a:p>
        </p:txBody>
      </p:sp>
      <p:sp>
        <p:nvSpPr>
          <p:cNvPr id="9" name="Text 6"/>
          <p:cNvSpPr txBox="1"/>
          <p:nvPr/>
        </p:nvSpPr>
        <p:spPr>
          <a:xfrm>
            <a:off x="1325880" y="2103120"/>
            <a:ext cx="4663440" cy="457200"/>
          </a:xfrm>
          <a:prstGeom prst="rect">
            <a:avLst/>
          </a:prstGeom>
          <a:noFill/>
          <a:ln/>
        </p:spPr>
        <p:txBody>
          <a:bodyPr wrap="square" lIns="0" tIns="0" rIns="0" bIns="0" rtlCol="0" anchor="t"/>
          <a:lstStyle/>
          <a:p>
            <a:pPr marL="0" indent="0">
              <a:buNone/>
            </a:pPr>
            <a:r>
              <a:rPr lang="en-US" sz="1250" dirty="0">
                <a:solidFill>
                  <a:srgbClr val="5B6478"/>
                </a:solidFill>
              </a:rPr>
              <a:t>Coordinators answer the same general questions all day</a:t>
            </a:r>
            <a:endParaRPr lang="en-US" sz="1250" dirty="0"/>
          </a:p>
        </p:txBody>
      </p:sp>
      <p:sp>
        <p:nvSpPr>
          <p:cNvPr id="10" name="IconCircle"/>
          <p:cNvSpPr/>
          <p:nvPr/>
        </p:nvSpPr>
        <p:spPr>
          <a:xfrm>
            <a:off x="548640" y="2852928"/>
            <a:ext cx="548640" cy="548640"/>
          </a:xfrm>
          <a:prstGeom prst="ellipse">
            <a:avLst/>
          </a:prstGeom>
          <a:solidFill>
            <a:srgbClr val="1547C8"/>
          </a:solidFill>
          <a:ln w="12700">
            <a:solidFill>
              <a:srgbClr val="1547C8"/>
            </a:solidFill>
            <a:prstDash val="solid"/>
          </a:ln>
        </p:spPr>
      </p:sp>
      <p:pic>
        <p:nvPicPr>
          <p:cNvPr id="11" name="Image 1" descr="Bell icon"/>
          <p:cNvPicPr>
            <a:picLocks noChangeAspect="1"/>
          </p:cNvPicPr>
          <p:nvPr/>
        </p:nvPicPr>
        <p:blipFill>
          <a:blip r:embed="rId5"/>
          <a:stretch>
            <a:fillRect/>
          </a:stretch>
        </p:blipFill>
        <p:spPr>
          <a:xfrm>
            <a:off x="685800" y="2990088"/>
            <a:ext cx="274320" cy="274320"/>
          </a:xfrm>
          <a:prstGeom prst="rect">
            <a:avLst/>
          </a:prstGeom>
        </p:spPr>
      </p:pic>
      <p:sp>
        <p:nvSpPr>
          <p:cNvPr id="12" name="Text 8"/>
          <p:cNvSpPr txBox="1"/>
          <p:nvPr/>
        </p:nvSpPr>
        <p:spPr>
          <a:xfrm>
            <a:off x="1325880" y="2816352"/>
            <a:ext cx="4663440" cy="292608"/>
          </a:xfrm>
          <a:prstGeom prst="rect">
            <a:avLst/>
          </a:prstGeom>
          <a:noFill/>
          <a:ln/>
        </p:spPr>
        <p:txBody>
          <a:bodyPr wrap="square" lIns="0" tIns="0" rIns="0" bIns="0" rtlCol="0" anchor="t"/>
          <a:lstStyle/>
          <a:p>
            <a:pPr marL="0" indent="0">
              <a:buNone/>
            </a:pPr>
            <a:r>
              <a:rPr lang="en-US" sz="1500" b="1" dirty="0">
                <a:solidFill>
                  <a:schemeClr val="tx1"/>
                </a:solidFill>
              </a:rPr>
              <a:t>Forgotten tasks</a:t>
            </a:r>
            <a:endParaRPr lang="en-US" sz="1500" dirty="0"/>
          </a:p>
        </p:txBody>
      </p:sp>
      <p:sp>
        <p:nvSpPr>
          <p:cNvPr id="13" name="Text 9"/>
          <p:cNvSpPr txBox="1"/>
          <p:nvPr/>
        </p:nvSpPr>
        <p:spPr>
          <a:xfrm>
            <a:off x="1325880" y="3127248"/>
            <a:ext cx="4663440" cy="457200"/>
          </a:xfrm>
          <a:prstGeom prst="rect">
            <a:avLst/>
          </a:prstGeom>
          <a:noFill/>
          <a:ln/>
        </p:spPr>
        <p:txBody>
          <a:bodyPr wrap="square" lIns="0" tIns="0" rIns="0" bIns="0" rtlCol="0" anchor="t"/>
          <a:lstStyle/>
          <a:p>
            <a:pPr marL="0" indent="0">
              <a:buNone/>
            </a:pPr>
            <a:r>
              <a:rPr lang="en-US" sz="1250" dirty="0">
                <a:solidFill>
                  <a:srgbClr val="5B6478"/>
                </a:solidFill>
              </a:rPr>
              <a:t>Members miss readings and modules; follow-up is manual</a:t>
            </a:r>
            <a:endParaRPr lang="en-US" sz="1250" dirty="0"/>
          </a:p>
        </p:txBody>
      </p:sp>
      <p:sp>
        <p:nvSpPr>
          <p:cNvPr id="14" name="IconCircle"/>
          <p:cNvSpPr/>
          <p:nvPr/>
        </p:nvSpPr>
        <p:spPr>
          <a:xfrm>
            <a:off x="548640" y="3877056"/>
            <a:ext cx="548640" cy="548640"/>
          </a:xfrm>
          <a:prstGeom prst="ellipse">
            <a:avLst/>
          </a:prstGeom>
          <a:solidFill>
            <a:srgbClr val="1547C8"/>
          </a:solidFill>
          <a:ln w="12700">
            <a:solidFill>
              <a:srgbClr val="1547C8"/>
            </a:solidFill>
            <a:prstDash val="solid"/>
          </a:ln>
        </p:spPr>
      </p:sp>
      <p:pic>
        <p:nvPicPr>
          <p:cNvPr id="15" name="Image 2" descr="ClipboardList icon"/>
          <p:cNvPicPr>
            <a:picLocks noChangeAspect="1"/>
          </p:cNvPicPr>
          <p:nvPr/>
        </p:nvPicPr>
        <p:blipFill>
          <a:blip r:embed="rId6"/>
          <a:stretch>
            <a:fillRect/>
          </a:stretch>
        </p:blipFill>
        <p:spPr>
          <a:xfrm>
            <a:off x="685800" y="4014216"/>
            <a:ext cx="274320" cy="274320"/>
          </a:xfrm>
          <a:prstGeom prst="rect">
            <a:avLst/>
          </a:prstGeom>
        </p:spPr>
      </p:pic>
      <p:sp>
        <p:nvSpPr>
          <p:cNvPr id="16" name="Text 11"/>
          <p:cNvSpPr txBox="1"/>
          <p:nvPr/>
        </p:nvSpPr>
        <p:spPr>
          <a:xfrm>
            <a:off x="1325880" y="3840480"/>
            <a:ext cx="4663440" cy="292608"/>
          </a:xfrm>
          <a:prstGeom prst="rect">
            <a:avLst/>
          </a:prstGeom>
          <a:noFill/>
          <a:ln/>
        </p:spPr>
        <p:txBody>
          <a:bodyPr wrap="square" lIns="0" tIns="0" rIns="0" bIns="0" rtlCol="0" anchor="t"/>
          <a:lstStyle/>
          <a:p>
            <a:pPr marL="0" indent="0">
              <a:buNone/>
            </a:pPr>
            <a:r>
              <a:rPr lang="en-US" sz="1500" b="1" dirty="0">
                <a:solidFill>
                  <a:schemeClr val="tx1"/>
                </a:solidFill>
              </a:rPr>
              <a:t>Messy hand-offs</a:t>
            </a:r>
            <a:endParaRPr lang="en-US" sz="1500" dirty="0"/>
          </a:p>
        </p:txBody>
      </p:sp>
      <p:sp>
        <p:nvSpPr>
          <p:cNvPr id="17" name="Text 12"/>
          <p:cNvSpPr txBox="1"/>
          <p:nvPr/>
        </p:nvSpPr>
        <p:spPr>
          <a:xfrm>
            <a:off x="1325880" y="4151376"/>
            <a:ext cx="4663440" cy="457200"/>
          </a:xfrm>
          <a:prstGeom prst="rect">
            <a:avLst/>
          </a:prstGeom>
          <a:noFill/>
          <a:ln/>
        </p:spPr>
        <p:txBody>
          <a:bodyPr wrap="square" lIns="0" tIns="0" rIns="0" bIns="0" rtlCol="0" anchor="t"/>
          <a:lstStyle/>
          <a:p>
            <a:pPr marL="0" indent="0">
              <a:buNone/>
            </a:pPr>
            <a:r>
              <a:rPr lang="en-US" sz="1250" dirty="0">
                <a:solidFill>
                  <a:srgbClr val="5B6478"/>
                </a:solidFill>
              </a:rPr>
              <a:t>Coordinators dig through raw messages before every call</a:t>
            </a:r>
            <a:endParaRPr lang="en-US" sz="1250" dirty="0"/>
          </a:p>
        </p:txBody>
      </p:sp>
      <p:sp>
        <p:nvSpPr>
          <p:cNvPr id="18" name="IconCircle"/>
          <p:cNvSpPr/>
          <p:nvPr/>
        </p:nvSpPr>
        <p:spPr>
          <a:xfrm>
            <a:off x="548640" y="4901184"/>
            <a:ext cx="548640" cy="548640"/>
          </a:xfrm>
          <a:prstGeom prst="ellipse">
            <a:avLst/>
          </a:prstGeom>
          <a:solidFill>
            <a:srgbClr val="1547C8"/>
          </a:solidFill>
          <a:ln w="12700">
            <a:solidFill>
              <a:srgbClr val="1547C8"/>
            </a:solidFill>
            <a:prstDash val="solid"/>
          </a:ln>
        </p:spPr>
      </p:sp>
      <p:pic>
        <p:nvPicPr>
          <p:cNvPr id="19" name="Image 3" descr="ExclamationTriangle icon"/>
          <p:cNvPicPr>
            <a:picLocks noChangeAspect="1"/>
          </p:cNvPicPr>
          <p:nvPr/>
        </p:nvPicPr>
        <p:blipFill>
          <a:blip r:embed="rId7"/>
          <a:stretch>
            <a:fillRect/>
          </a:stretch>
        </p:blipFill>
        <p:spPr>
          <a:xfrm>
            <a:off x="685800" y="5038344"/>
            <a:ext cx="274320" cy="274320"/>
          </a:xfrm>
          <a:prstGeom prst="rect">
            <a:avLst/>
          </a:prstGeom>
        </p:spPr>
      </p:pic>
      <p:sp>
        <p:nvSpPr>
          <p:cNvPr id="20" name="Text 14"/>
          <p:cNvSpPr txBox="1"/>
          <p:nvPr/>
        </p:nvSpPr>
        <p:spPr>
          <a:xfrm>
            <a:off x="1325880" y="4864608"/>
            <a:ext cx="4663440" cy="292608"/>
          </a:xfrm>
          <a:prstGeom prst="rect">
            <a:avLst/>
          </a:prstGeom>
          <a:noFill/>
          <a:ln/>
        </p:spPr>
        <p:txBody>
          <a:bodyPr wrap="square" lIns="0" tIns="0" rIns="0" bIns="0" rtlCol="0" anchor="t"/>
          <a:lstStyle/>
          <a:p>
            <a:pPr marL="0" indent="0">
              <a:buNone/>
            </a:pPr>
            <a:r>
              <a:rPr lang="en-US" sz="1500" b="1" dirty="0">
                <a:solidFill>
                  <a:schemeClr val="tx1"/>
                </a:solidFill>
              </a:rPr>
              <a:t>Unsafe chatbots</a:t>
            </a:r>
            <a:endParaRPr lang="en-US" sz="1500" dirty="0"/>
          </a:p>
        </p:txBody>
      </p:sp>
      <p:sp>
        <p:nvSpPr>
          <p:cNvPr id="21" name="Text 15"/>
          <p:cNvSpPr txBox="1"/>
          <p:nvPr/>
        </p:nvSpPr>
        <p:spPr>
          <a:xfrm>
            <a:off x="1325880" y="5175504"/>
            <a:ext cx="4663440" cy="457200"/>
          </a:xfrm>
          <a:prstGeom prst="rect">
            <a:avLst/>
          </a:prstGeom>
          <a:noFill/>
          <a:ln/>
        </p:spPr>
        <p:txBody>
          <a:bodyPr wrap="square" lIns="0" tIns="0" rIns="0" bIns="0" rtlCol="0" anchor="t"/>
          <a:lstStyle/>
          <a:p>
            <a:pPr marL="0" indent="0">
              <a:buNone/>
            </a:pPr>
            <a:r>
              <a:rPr lang="en-US" sz="1250" dirty="0">
                <a:solidFill>
                  <a:srgbClr val="5B6478"/>
                </a:solidFill>
              </a:rPr>
              <a:t>A free-form bot can invent facts or give medical advice</a:t>
            </a:r>
            <a:endParaRPr lang="en-US" sz="1250" dirty="0"/>
          </a:p>
        </p:txBody>
      </p:sp>
      <p:sp>
        <p:nvSpPr>
          <p:cNvPr id="22" name="Objective"/>
          <p:cNvSpPr/>
          <p:nvPr/>
        </p:nvSpPr>
        <p:spPr>
          <a:xfrm>
            <a:off x="6400800" y="1371600"/>
            <a:ext cx="5239512" cy="1691640"/>
          </a:xfrm>
          <a:prstGeom prst="roundRect">
            <a:avLst>
              <a:gd name="adj" fmla="val 5405"/>
            </a:avLst>
          </a:prstGeom>
          <a:solidFill>
            <a:schemeClr val="tx2"/>
          </a:solidFill>
          <a:ln w="12700">
            <a:solidFill>
              <a:srgbClr val="0A1F5C"/>
            </a:solidFill>
            <a:prstDash val="solid"/>
          </a:ln>
        </p:spPr>
      </p:sp>
      <p:sp>
        <p:nvSpPr>
          <p:cNvPr id="23" name="Text 17"/>
          <p:cNvSpPr txBox="1"/>
          <p:nvPr/>
        </p:nvSpPr>
        <p:spPr>
          <a:xfrm>
            <a:off x="6675120" y="1572768"/>
            <a:ext cx="2743200" cy="228600"/>
          </a:xfrm>
          <a:prstGeom prst="rect">
            <a:avLst/>
          </a:prstGeom>
          <a:noFill/>
          <a:ln/>
        </p:spPr>
        <p:txBody>
          <a:bodyPr wrap="square" lIns="0" tIns="0" rIns="0" bIns="0" rtlCol="0" anchor="t"/>
          <a:lstStyle/>
          <a:p>
            <a:pPr marL="0" indent="0">
              <a:buNone/>
            </a:pPr>
            <a:r>
              <a:rPr lang="en-US" sz="1000" b="1" kern="0" spc="200" dirty="0">
                <a:solidFill>
                  <a:srgbClr val="3CC3F0"/>
                </a:solidFill>
              </a:rPr>
              <a:t>OBJECTIVE</a:t>
            </a:r>
            <a:endParaRPr lang="en-US" sz="1000" dirty="0"/>
          </a:p>
        </p:txBody>
      </p:sp>
      <p:sp>
        <p:nvSpPr>
          <p:cNvPr id="24" name="Text 18"/>
          <p:cNvSpPr txBox="1"/>
          <p:nvPr/>
        </p:nvSpPr>
        <p:spPr>
          <a:xfrm>
            <a:off x="6675120" y="1874520"/>
            <a:ext cx="4709160" cy="1005840"/>
          </a:xfrm>
          <a:prstGeom prst="rect">
            <a:avLst/>
          </a:prstGeom>
          <a:noFill/>
          <a:ln/>
        </p:spPr>
        <p:txBody>
          <a:bodyPr wrap="square" lIns="0" tIns="0" rIns="0" bIns="0" rtlCol="0" anchor="t"/>
          <a:lstStyle/>
          <a:p>
            <a:pPr marL="0" indent="0">
              <a:buNone/>
            </a:pPr>
            <a:r>
              <a:rPr lang="en-US" sz="2000" b="1" dirty="0">
                <a:solidFill>
                  <a:srgbClr val="FFFFFF"/>
                </a:solidFill>
              </a:rPr>
              <a:t>Scale education and follow-up, while every clinical decision stays with people.</a:t>
            </a:r>
            <a:endParaRPr lang="en-US" sz="2000" dirty="0"/>
          </a:p>
        </p:txBody>
      </p:sp>
      <p:sp>
        <p:nvSpPr>
          <p:cNvPr id="25" name="Must never"/>
          <p:cNvSpPr/>
          <p:nvPr/>
        </p:nvSpPr>
        <p:spPr>
          <a:xfrm>
            <a:off x="6400800" y="3291840"/>
            <a:ext cx="5239512" cy="2788920"/>
          </a:xfrm>
          <a:prstGeom prst="roundRect">
            <a:avLst>
              <a:gd name="adj" fmla="val 3279"/>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26" name="Text 20"/>
          <p:cNvSpPr txBox="1"/>
          <p:nvPr/>
        </p:nvSpPr>
        <p:spPr>
          <a:xfrm>
            <a:off x="6675120" y="3493008"/>
            <a:ext cx="4114800" cy="228600"/>
          </a:xfrm>
          <a:prstGeom prst="rect">
            <a:avLst/>
          </a:prstGeom>
          <a:noFill/>
          <a:ln/>
        </p:spPr>
        <p:txBody>
          <a:bodyPr wrap="square" lIns="0" tIns="0" rIns="0" bIns="0" rtlCol="0" anchor="t"/>
          <a:lstStyle/>
          <a:p>
            <a:pPr marL="0" indent="0">
              <a:buNone/>
            </a:pPr>
            <a:r>
              <a:rPr lang="en-US" sz="1000" b="1" kern="0" spc="200" dirty="0">
                <a:solidFill>
                  <a:srgbClr val="E5484D"/>
                </a:solidFill>
              </a:rPr>
              <a:t>THE SYSTEM MUST NEVER</a:t>
            </a:r>
            <a:endParaRPr lang="en-US" sz="1000" dirty="0"/>
          </a:p>
        </p:txBody>
      </p:sp>
      <p:pic>
        <p:nvPicPr>
          <p:cNvPr id="27" name="Image 4" descr="Not allowed"/>
          <p:cNvPicPr>
            <a:picLocks noChangeAspect="1"/>
          </p:cNvPicPr>
          <p:nvPr/>
        </p:nvPicPr>
        <p:blipFill>
          <a:blip r:embed="rId8"/>
          <a:stretch>
            <a:fillRect/>
          </a:stretch>
        </p:blipFill>
        <p:spPr>
          <a:xfrm>
            <a:off x="6675120" y="3941064"/>
            <a:ext cx="274320" cy="274320"/>
          </a:xfrm>
          <a:prstGeom prst="rect">
            <a:avLst/>
          </a:prstGeom>
        </p:spPr>
      </p:pic>
      <p:sp>
        <p:nvSpPr>
          <p:cNvPr id="28" name="Text 21"/>
          <p:cNvSpPr txBox="1"/>
          <p:nvPr/>
        </p:nvSpPr>
        <p:spPr>
          <a:xfrm>
            <a:off x="7132320" y="3913632"/>
            <a:ext cx="4297680" cy="329184"/>
          </a:xfrm>
          <a:prstGeom prst="rect">
            <a:avLst/>
          </a:prstGeom>
          <a:noFill/>
          <a:ln/>
        </p:spPr>
        <p:txBody>
          <a:bodyPr wrap="square" lIns="0" tIns="0" rIns="0" bIns="0" rtlCol="0" anchor="ctr"/>
          <a:lstStyle/>
          <a:p>
            <a:pPr marL="0" indent="0">
              <a:buNone/>
            </a:pPr>
            <a:r>
              <a:rPr lang="en-US" sz="1400" dirty="0">
                <a:solidFill>
                  <a:schemeClr val="tx1"/>
                </a:solidFill>
              </a:rPr>
              <a:t>Diagnose or interpret a reading</a:t>
            </a:r>
            <a:endParaRPr lang="en-US" sz="1400" dirty="0"/>
          </a:p>
        </p:txBody>
      </p:sp>
      <p:pic>
        <p:nvPicPr>
          <p:cNvPr id="29" name="Image 5" descr="Not allowed"/>
          <p:cNvPicPr>
            <a:picLocks noChangeAspect="1"/>
          </p:cNvPicPr>
          <p:nvPr/>
        </p:nvPicPr>
        <p:blipFill>
          <a:blip r:embed="rId8"/>
          <a:stretch>
            <a:fillRect/>
          </a:stretch>
        </p:blipFill>
        <p:spPr>
          <a:xfrm>
            <a:off x="6675120" y="4471416"/>
            <a:ext cx="274320" cy="274320"/>
          </a:xfrm>
          <a:prstGeom prst="rect">
            <a:avLst/>
          </a:prstGeom>
        </p:spPr>
      </p:pic>
      <p:sp>
        <p:nvSpPr>
          <p:cNvPr id="30" name="Text 22"/>
          <p:cNvSpPr txBox="1"/>
          <p:nvPr/>
        </p:nvSpPr>
        <p:spPr>
          <a:xfrm>
            <a:off x="7132320" y="4443984"/>
            <a:ext cx="4297680" cy="329184"/>
          </a:xfrm>
          <a:prstGeom prst="rect">
            <a:avLst/>
          </a:prstGeom>
          <a:noFill/>
          <a:ln/>
        </p:spPr>
        <p:txBody>
          <a:bodyPr wrap="square" lIns="0" tIns="0" rIns="0" bIns="0" rtlCol="0" anchor="ctr"/>
          <a:lstStyle/>
          <a:p>
            <a:pPr marL="0" indent="0">
              <a:buNone/>
            </a:pPr>
            <a:r>
              <a:rPr lang="en-US" sz="1400" dirty="0">
                <a:solidFill>
                  <a:schemeClr val="tx1"/>
                </a:solidFill>
              </a:rPr>
              <a:t>Predict deterioration</a:t>
            </a:r>
            <a:endParaRPr lang="en-US" sz="1400" dirty="0"/>
          </a:p>
        </p:txBody>
      </p:sp>
      <p:pic>
        <p:nvPicPr>
          <p:cNvPr id="31" name="Image 6" descr="Not allowed"/>
          <p:cNvPicPr>
            <a:picLocks noChangeAspect="1"/>
          </p:cNvPicPr>
          <p:nvPr/>
        </p:nvPicPr>
        <p:blipFill>
          <a:blip r:embed="rId8"/>
          <a:stretch>
            <a:fillRect/>
          </a:stretch>
        </p:blipFill>
        <p:spPr>
          <a:xfrm>
            <a:off x="6675120" y="5001768"/>
            <a:ext cx="274320" cy="274320"/>
          </a:xfrm>
          <a:prstGeom prst="rect">
            <a:avLst/>
          </a:prstGeom>
        </p:spPr>
      </p:pic>
      <p:sp>
        <p:nvSpPr>
          <p:cNvPr id="32" name="Text 23"/>
          <p:cNvSpPr txBox="1"/>
          <p:nvPr/>
        </p:nvSpPr>
        <p:spPr>
          <a:xfrm>
            <a:off x="7132320" y="4974336"/>
            <a:ext cx="4297680" cy="329184"/>
          </a:xfrm>
          <a:prstGeom prst="rect">
            <a:avLst/>
          </a:prstGeom>
          <a:noFill/>
          <a:ln/>
        </p:spPr>
        <p:txBody>
          <a:bodyPr wrap="square" lIns="0" tIns="0" rIns="0" bIns="0" rtlCol="0" anchor="ctr"/>
          <a:lstStyle/>
          <a:p>
            <a:pPr marL="0" indent="0">
              <a:buNone/>
            </a:pPr>
            <a:r>
              <a:rPr lang="en-US" sz="1400" dirty="0">
                <a:solidFill>
                  <a:schemeClr val="tx1"/>
                </a:solidFill>
              </a:rPr>
              <a:t>Recommend or change medication</a:t>
            </a:r>
            <a:endParaRPr lang="en-US" sz="1400" dirty="0"/>
          </a:p>
        </p:txBody>
      </p:sp>
      <p:pic>
        <p:nvPicPr>
          <p:cNvPr id="33" name="Image 7" descr="Not allowed"/>
          <p:cNvPicPr>
            <a:picLocks noChangeAspect="1"/>
          </p:cNvPicPr>
          <p:nvPr/>
        </p:nvPicPr>
        <p:blipFill>
          <a:blip r:embed="rId8"/>
          <a:stretch>
            <a:fillRect/>
          </a:stretch>
        </p:blipFill>
        <p:spPr>
          <a:xfrm>
            <a:off x="6675120" y="5532120"/>
            <a:ext cx="274320" cy="274320"/>
          </a:xfrm>
          <a:prstGeom prst="rect">
            <a:avLst/>
          </a:prstGeom>
        </p:spPr>
      </p:pic>
      <p:sp>
        <p:nvSpPr>
          <p:cNvPr id="34" name="Text 24"/>
          <p:cNvSpPr txBox="1"/>
          <p:nvPr/>
        </p:nvSpPr>
        <p:spPr>
          <a:xfrm>
            <a:off x="7132320" y="5504688"/>
            <a:ext cx="4297680" cy="329184"/>
          </a:xfrm>
          <a:prstGeom prst="rect">
            <a:avLst/>
          </a:prstGeom>
          <a:noFill/>
          <a:ln/>
        </p:spPr>
        <p:txBody>
          <a:bodyPr wrap="square" lIns="0" tIns="0" rIns="0" bIns="0" rtlCol="0" anchor="ctr"/>
          <a:lstStyle/>
          <a:p>
            <a:pPr marL="0" indent="0">
              <a:buNone/>
            </a:pPr>
            <a:r>
              <a:rPr lang="en-US" sz="1400" dirty="0">
                <a:solidFill>
                  <a:schemeClr val="tx1"/>
                </a:solidFill>
              </a:rPr>
              <a:t>Present itself as a clinician</a:t>
            </a:r>
            <a:endParaRPr lang="en-US" sz="1400" dirty="0"/>
          </a:p>
        </p:txBody>
      </p:sp>
      <p:sp>
        <p:nvSpPr>
          <p:cNvPr id="3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8"/>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47472"/>
            <a:ext cx="8229600" cy="256032"/>
          </a:xfrm>
          <a:prstGeom prst="rect">
            <a:avLst/>
          </a:prstGeom>
          <a:noFill/>
          <a:ln/>
        </p:spPr>
        <p:txBody>
          <a:bodyPr wrap="square" lIns="0" tIns="0" rIns="0" bIns="0" rtlCol="0" anchor="t"/>
          <a:lstStyle/>
          <a:p>
            <a:pPr marL="0" indent="0" algn="l">
              <a:buNone/>
            </a:pPr>
            <a:r>
              <a:rPr lang="en-US" sz="1100" b="1" kern="0" spc="200" dirty="0">
                <a:solidFill>
                  <a:srgbClr val="1547C8"/>
                </a:solidFill>
              </a:rPr>
              <a:t>02  ·  SOLUTION</a:t>
            </a:r>
            <a:endParaRPr lang="en-US" sz="1100" dirty="0"/>
          </a:p>
        </p:txBody>
      </p:sp>
      <p:sp>
        <p:nvSpPr>
          <p:cNvPr id="3" name="Text 1"/>
          <p:cNvSpPr>
            <a:spLocks noGrp="1"/>
          </p:cNvSpPr>
          <p:nvPr>
            <p:ph type="title" idx="103" hasCustomPrompt="1"/>
          </p:nvPr>
        </p:nvSpPr>
        <p:spPr>
          <a:xfrm>
            <a:off x="548640" y="603504"/>
            <a:ext cx="11064240" cy="566928"/>
          </a:xfrm>
          <a:prstGeom prst="rect">
            <a:avLst/>
          </a:prstGeom>
          <a:noFill/>
          <a:ln/>
        </p:spPr>
        <p:txBody>
          <a:bodyPr wrap="square" lIns="0" tIns="0" rIns="0" bIns="0" rtlCol="0" anchor="t"/>
          <a:lstStyle/>
          <a:p>
            <a:pPr marL="0" indent="0" algn="l">
              <a:buNone/>
            </a:pPr>
            <a:r>
              <a:rPr lang="en-US" sz="3000" b="1" dirty="0">
                <a:solidFill>
                  <a:srgbClr val="1F2937"/>
                </a:solidFill>
              </a:rPr>
              <a:t>Six agents, one job each</a:t>
            </a:r>
            <a:endParaRPr lang="en-US" sz="3000" dirty="0"/>
          </a:p>
        </p:txBody>
      </p:sp>
      <p:sp>
        <p:nvSpPr>
          <p:cNvPr id="4" name="Text 2"/>
          <p:cNvSpPr txBox="1"/>
          <p:nvPr/>
        </p:nvSpPr>
        <p:spPr>
          <a:xfrm>
            <a:off x="9921240" y="6382512"/>
            <a:ext cx="1097280" cy="219456"/>
          </a:xfrm>
          <a:prstGeom prst="rect">
            <a:avLst/>
          </a:prstGeom>
          <a:noFill/>
          <a:ln/>
        </p:spPr>
        <p:txBody>
          <a:bodyPr wrap="square" lIns="0" tIns="0" rIns="0" bIns="0" rtlCol="0" anchor="ctr"/>
          <a:lstStyle/>
          <a:p>
            <a:pPr marL="0" indent="0" algn="r">
              <a:buNone/>
            </a:pPr>
            <a:r>
              <a:rPr lang="en-US" sz="1000" u="sng" dirty="0">
                <a:solidFill>
                  <a:schemeClr val="tx1"/>
                </a:solidFill>
                <a:hlinkClick r:id="rId3" action="ppaction://hlinksldjump" tooltip="Back to the agenda">
                  <a:extLst>
                    <a:ext uri="{A12FA001-AC4F-418D-AE19-62706E023703}">
                      <ahyp:hlinkClr xmlns:ahyp="http://schemas.microsoft.com/office/drawing/2018/hyperlinkcolor" val="tx"/>
                    </a:ext>
                  </a:extLst>
                </a:hlinkClick>
              </a:rPr>
              <a:t>← Agenda</a:t>
            </a:r>
            <a:endParaRPr lang="en-US" sz="1000" dirty="0"/>
          </a:p>
        </p:txBody>
      </p:sp>
      <p:sp>
        <p:nvSpPr>
          <p:cNvPr id="5" name="Agent card"/>
          <p:cNvSpPr/>
          <p:nvPr/>
        </p:nvSpPr>
        <p:spPr>
          <a:xfrm>
            <a:off x="548640" y="1417320"/>
            <a:ext cx="3566160" cy="2240280"/>
          </a:xfrm>
          <a:prstGeom prst="roundRect">
            <a:avLst>
              <a:gd name="adj" fmla="val 4082"/>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6" name="IconCircle"/>
          <p:cNvSpPr/>
          <p:nvPr/>
        </p:nvSpPr>
        <p:spPr>
          <a:xfrm>
            <a:off x="777240" y="1645920"/>
            <a:ext cx="548640" cy="548640"/>
          </a:xfrm>
          <a:prstGeom prst="ellipse">
            <a:avLst/>
          </a:prstGeom>
          <a:solidFill>
            <a:srgbClr val="1547C8"/>
          </a:solidFill>
          <a:ln w="12700">
            <a:solidFill>
              <a:srgbClr val="1547C8"/>
            </a:solidFill>
            <a:prstDash val="solid"/>
          </a:ln>
        </p:spPr>
      </p:sp>
      <p:pic>
        <p:nvPicPr>
          <p:cNvPr id="7" name="Image 0" descr="ProjectDiagram icon"/>
          <p:cNvPicPr>
            <a:picLocks noChangeAspect="1"/>
          </p:cNvPicPr>
          <p:nvPr/>
        </p:nvPicPr>
        <p:blipFill>
          <a:blip r:embed="rId4"/>
          <a:stretch>
            <a:fillRect/>
          </a:stretch>
        </p:blipFill>
        <p:spPr>
          <a:xfrm>
            <a:off x="914400" y="1783080"/>
            <a:ext cx="274320" cy="274320"/>
          </a:xfrm>
          <a:prstGeom prst="rect">
            <a:avLst/>
          </a:prstGeom>
        </p:spPr>
      </p:pic>
      <p:sp>
        <p:nvSpPr>
          <p:cNvPr id="8" name="Text 5"/>
          <p:cNvSpPr txBox="1"/>
          <p:nvPr/>
        </p:nvSpPr>
        <p:spPr>
          <a:xfrm>
            <a:off x="1463040" y="1645920"/>
            <a:ext cx="2514600" cy="548640"/>
          </a:xfrm>
          <a:prstGeom prst="rect">
            <a:avLst/>
          </a:prstGeom>
          <a:noFill/>
          <a:ln/>
        </p:spPr>
        <p:txBody>
          <a:bodyPr wrap="square" lIns="0" tIns="0" rIns="0" bIns="0" rtlCol="0" anchor="ctr"/>
          <a:lstStyle/>
          <a:p>
            <a:pPr marL="0" indent="0">
              <a:buNone/>
            </a:pPr>
            <a:r>
              <a:rPr lang="en-US" sz="1600" b="1" dirty="0">
                <a:solidFill>
                  <a:schemeClr val="tx1"/>
                </a:solidFill>
              </a:rPr>
              <a:t>Care Orchestrator</a:t>
            </a:r>
            <a:endParaRPr lang="en-US" sz="1600" dirty="0"/>
          </a:p>
        </p:txBody>
      </p:sp>
      <p:sp>
        <p:nvSpPr>
          <p:cNvPr id="9" name="Text 6"/>
          <p:cNvSpPr txBox="1"/>
          <p:nvPr/>
        </p:nvSpPr>
        <p:spPr>
          <a:xfrm>
            <a:off x="777240" y="2331720"/>
            <a:ext cx="3108960" cy="685800"/>
          </a:xfrm>
          <a:prstGeom prst="rect">
            <a:avLst/>
          </a:prstGeom>
          <a:noFill/>
          <a:ln/>
        </p:spPr>
        <p:txBody>
          <a:bodyPr wrap="square" lIns="0" tIns="0" rIns="0" bIns="0" rtlCol="0" anchor="t"/>
          <a:lstStyle/>
          <a:p>
            <a:pPr marL="0" indent="0">
              <a:buNone/>
            </a:pPr>
            <a:r>
              <a:rPr lang="en-US" sz="1250" dirty="0">
                <a:solidFill>
                  <a:srgbClr val="5B6478"/>
                </a:solidFill>
              </a:rPr>
              <a:t>A fixed Python workflow: consent, safety checks, routing, outputs.</a:t>
            </a:r>
            <a:endParaRPr lang="en-US" sz="1250" dirty="0"/>
          </a:p>
        </p:txBody>
      </p:sp>
      <p:sp>
        <p:nvSpPr>
          <p:cNvPr id="10" name="Shape 7"/>
          <p:cNvSpPr/>
          <p:nvPr/>
        </p:nvSpPr>
        <p:spPr>
          <a:xfrm>
            <a:off x="777240" y="3108960"/>
            <a:ext cx="3108960" cy="365760"/>
          </a:xfrm>
          <a:prstGeom prst="roundRect">
            <a:avLst>
              <a:gd name="adj" fmla="val 20000"/>
            </a:avLst>
          </a:prstGeom>
          <a:solidFill>
            <a:srgbClr val="EAF0FC"/>
          </a:solidFill>
          <a:ln w="12700">
            <a:solidFill>
              <a:srgbClr val="EAF0FC"/>
            </a:solidFill>
            <a:prstDash val="solid"/>
          </a:ln>
        </p:spPr>
      </p:sp>
      <p:sp>
        <p:nvSpPr>
          <p:cNvPr id="11" name="Text 8"/>
          <p:cNvSpPr txBox="1"/>
          <p:nvPr/>
        </p:nvSpPr>
        <p:spPr>
          <a:xfrm>
            <a:off x="914400" y="3108960"/>
            <a:ext cx="2926080" cy="365760"/>
          </a:xfrm>
          <a:prstGeom prst="rect">
            <a:avLst/>
          </a:prstGeom>
          <a:noFill/>
          <a:ln/>
        </p:spPr>
        <p:txBody>
          <a:bodyPr wrap="square" lIns="0" tIns="0" rIns="0" bIns="0" rtlCol="0" anchor="ctr"/>
          <a:lstStyle/>
          <a:p>
            <a:pPr marL="0" indent="0">
              <a:buNone/>
            </a:pPr>
            <a:r>
              <a:rPr lang="en-US" sz="1100" b="1" dirty="0">
                <a:solidFill>
                  <a:schemeClr val="accent1"/>
                </a:solidFill>
              </a:rPr>
              <a:t>Sees: the whole case (it is code)</a:t>
            </a:r>
            <a:endParaRPr lang="en-US" sz="1100" dirty="0"/>
          </a:p>
        </p:txBody>
      </p:sp>
      <p:sp>
        <p:nvSpPr>
          <p:cNvPr id="12" name="Agent card"/>
          <p:cNvSpPr/>
          <p:nvPr/>
        </p:nvSpPr>
        <p:spPr>
          <a:xfrm>
            <a:off x="4311396" y="1417320"/>
            <a:ext cx="3566160" cy="2240280"/>
          </a:xfrm>
          <a:prstGeom prst="roundRect">
            <a:avLst>
              <a:gd name="adj" fmla="val 4082"/>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13" name="IconCircle"/>
          <p:cNvSpPr/>
          <p:nvPr/>
        </p:nvSpPr>
        <p:spPr>
          <a:xfrm>
            <a:off x="4539996" y="1645920"/>
            <a:ext cx="548640" cy="548640"/>
          </a:xfrm>
          <a:prstGeom prst="ellipse">
            <a:avLst/>
          </a:prstGeom>
          <a:solidFill>
            <a:srgbClr val="1547C8"/>
          </a:solidFill>
          <a:ln w="12700">
            <a:solidFill>
              <a:srgbClr val="1547C8"/>
            </a:solidFill>
            <a:prstDash val="solid"/>
          </a:ln>
        </p:spPr>
      </p:sp>
      <p:pic>
        <p:nvPicPr>
          <p:cNvPr id="14" name="Image 1" descr="ChartLine icon"/>
          <p:cNvPicPr>
            <a:picLocks noChangeAspect="1"/>
          </p:cNvPicPr>
          <p:nvPr/>
        </p:nvPicPr>
        <p:blipFill>
          <a:blip r:embed="rId5"/>
          <a:stretch>
            <a:fillRect/>
          </a:stretch>
        </p:blipFill>
        <p:spPr>
          <a:xfrm>
            <a:off x="4677156" y="1783080"/>
            <a:ext cx="274320" cy="274320"/>
          </a:xfrm>
          <a:prstGeom prst="rect">
            <a:avLst/>
          </a:prstGeom>
        </p:spPr>
      </p:pic>
      <p:sp>
        <p:nvSpPr>
          <p:cNvPr id="15" name="Text 11"/>
          <p:cNvSpPr txBox="1"/>
          <p:nvPr/>
        </p:nvSpPr>
        <p:spPr>
          <a:xfrm>
            <a:off x="5225796" y="1645920"/>
            <a:ext cx="2514600" cy="548640"/>
          </a:xfrm>
          <a:prstGeom prst="rect">
            <a:avLst/>
          </a:prstGeom>
          <a:noFill/>
          <a:ln/>
        </p:spPr>
        <p:txBody>
          <a:bodyPr wrap="square" lIns="0" tIns="0" rIns="0" bIns="0" rtlCol="0" anchor="ctr"/>
          <a:lstStyle/>
          <a:p>
            <a:pPr marL="0" indent="0">
              <a:buNone/>
            </a:pPr>
            <a:r>
              <a:rPr lang="en-US" sz="1600" b="1" dirty="0">
                <a:solidFill>
                  <a:schemeClr val="tx1"/>
                </a:solidFill>
              </a:rPr>
              <a:t>Reading Summary</a:t>
            </a:r>
            <a:endParaRPr lang="en-US" sz="1600" dirty="0"/>
          </a:p>
        </p:txBody>
      </p:sp>
      <p:sp>
        <p:nvSpPr>
          <p:cNvPr id="16" name="Text 12"/>
          <p:cNvSpPr txBox="1"/>
          <p:nvPr/>
        </p:nvSpPr>
        <p:spPr>
          <a:xfrm>
            <a:off x="4539996" y="2331720"/>
            <a:ext cx="3108960" cy="685800"/>
          </a:xfrm>
          <a:prstGeom prst="rect">
            <a:avLst/>
          </a:prstGeom>
          <a:noFill/>
          <a:ln/>
        </p:spPr>
        <p:txBody>
          <a:bodyPr wrap="square" lIns="0" tIns="0" rIns="0" bIns="0" rtlCol="0" anchor="t"/>
          <a:lstStyle/>
          <a:p>
            <a:pPr marL="0" indent="0">
              <a:buNone/>
            </a:pPr>
            <a:r>
              <a:rPr lang="en-US" sz="1250" dirty="0">
                <a:solidFill>
                  <a:srgbClr val="5B6478"/>
                </a:solidFill>
              </a:rPr>
              <a:t>Counts, minimum, maximum and missing dates in neutral words.</a:t>
            </a:r>
            <a:endParaRPr lang="en-US" sz="1250" dirty="0"/>
          </a:p>
        </p:txBody>
      </p:sp>
      <p:sp>
        <p:nvSpPr>
          <p:cNvPr id="17" name="Shape 13"/>
          <p:cNvSpPr/>
          <p:nvPr/>
        </p:nvSpPr>
        <p:spPr>
          <a:xfrm>
            <a:off x="4539996" y="3108960"/>
            <a:ext cx="3108960" cy="365760"/>
          </a:xfrm>
          <a:prstGeom prst="roundRect">
            <a:avLst>
              <a:gd name="adj" fmla="val 20000"/>
            </a:avLst>
          </a:prstGeom>
          <a:solidFill>
            <a:srgbClr val="EAF0FC"/>
          </a:solidFill>
          <a:ln w="12700">
            <a:solidFill>
              <a:srgbClr val="EAF0FC"/>
            </a:solidFill>
            <a:prstDash val="solid"/>
          </a:ln>
        </p:spPr>
      </p:sp>
      <p:sp>
        <p:nvSpPr>
          <p:cNvPr id="18" name="Text 14"/>
          <p:cNvSpPr txBox="1"/>
          <p:nvPr/>
        </p:nvSpPr>
        <p:spPr>
          <a:xfrm>
            <a:off x="4677156" y="3108960"/>
            <a:ext cx="2926080" cy="365760"/>
          </a:xfrm>
          <a:prstGeom prst="rect">
            <a:avLst/>
          </a:prstGeom>
          <a:noFill/>
          <a:ln/>
        </p:spPr>
        <p:txBody>
          <a:bodyPr wrap="square" lIns="0" tIns="0" rIns="0" bIns="0" rtlCol="0" anchor="ctr"/>
          <a:lstStyle/>
          <a:p>
            <a:pPr marL="0" indent="0">
              <a:buNone/>
            </a:pPr>
            <a:r>
              <a:rPr lang="en-US" sz="1100" b="1" dirty="0">
                <a:solidFill>
                  <a:schemeClr val="accent1"/>
                </a:solidFill>
              </a:rPr>
              <a:t>Sees: one member's readings</a:t>
            </a:r>
            <a:endParaRPr lang="en-US" sz="1100" dirty="0"/>
          </a:p>
        </p:txBody>
      </p:sp>
      <p:sp>
        <p:nvSpPr>
          <p:cNvPr id="19" name="Agent card"/>
          <p:cNvSpPr/>
          <p:nvPr/>
        </p:nvSpPr>
        <p:spPr>
          <a:xfrm>
            <a:off x="8074152" y="1417320"/>
            <a:ext cx="3566160" cy="2240280"/>
          </a:xfrm>
          <a:prstGeom prst="roundRect">
            <a:avLst>
              <a:gd name="adj" fmla="val 4082"/>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20" name="IconCircle"/>
          <p:cNvSpPr/>
          <p:nvPr/>
        </p:nvSpPr>
        <p:spPr>
          <a:xfrm>
            <a:off x="8302752" y="1645920"/>
            <a:ext cx="548640" cy="548640"/>
          </a:xfrm>
          <a:prstGeom prst="ellipse">
            <a:avLst/>
          </a:prstGeom>
          <a:solidFill>
            <a:srgbClr val="1547C8"/>
          </a:solidFill>
          <a:ln w="12700">
            <a:solidFill>
              <a:srgbClr val="1547C8"/>
            </a:solidFill>
            <a:prstDash val="solid"/>
          </a:ln>
        </p:spPr>
      </p:sp>
      <p:pic>
        <p:nvPicPr>
          <p:cNvPr id="21" name="Image 2" descr="ClipboardList icon"/>
          <p:cNvPicPr>
            <a:picLocks noChangeAspect="1"/>
          </p:cNvPicPr>
          <p:nvPr/>
        </p:nvPicPr>
        <p:blipFill>
          <a:blip r:embed="rId6"/>
          <a:stretch>
            <a:fillRect/>
          </a:stretch>
        </p:blipFill>
        <p:spPr>
          <a:xfrm>
            <a:off x="8439912" y="1783080"/>
            <a:ext cx="274320" cy="274320"/>
          </a:xfrm>
          <a:prstGeom prst="rect">
            <a:avLst/>
          </a:prstGeom>
        </p:spPr>
      </p:pic>
      <p:sp>
        <p:nvSpPr>
          <p:cNvPr id="22" name="Text 17"/>
          <p:cNvSpPr txBox="1"/>
          <p:nvPr/>
        </p:nvSpPr>
        <p:spPr>
          <a:xfrm>
            <a:off x="8988552" y="1645920"/>
            <a:ext cx="2514600" cy="548640"/>
          </a:xfrm>
          <a:prstGeom prst="rect">
            <a:avLst/>
          </a:prstGeom>
          <a:noFill/>
          <a:ln/>
        </p:spPr>
        <p:txBody>
          <a:bodyPr wrap="square" lIns="0" tIns="0" rIns="0" bIns="0" rtlCol="0" anchor="ctr"/>
          <a:lstStyle/>
          <a:p>
            <a:pPr marL="0" indent="0">
              <a:buNone/>
            </a:pPr>
            <a:r>
              <a:rPr lang="en-US" sz="1600" b="1" dirty="0">
                <a:solidFill>
                  <a:schemeClr val="tx1"/>
                </a:solidFill>
              </a:rPr>
              <a:t>Care Plan</a:t>
            </a:r>
            <a:endParaRPr lang="en-US" sz="1600" dirty="0"/>
          </a:p>
        </p:txBody>
      </p:sp>
      <p:sp>
        <p:nvSpPr>
          <p:cNvPr id="23" name="Text 18"/>
          <p:cNvSpPr txBox="1"/>
          <p:nvPr/>
        </p:nvSpPr>
        <p:spPr>
          <a:xfrm>
            <a:off x="8302752" y="2331720"/>
            <a:ext cx="3108960" cy="685800"/>
          </a:xfrm>
          <a:prstGeom prst="rect">
            <a:avLst/>
          </a:prstGeom>
          <a:noFill/>
          <a:ln/>
        </p:spPr>
        <p:txBody>
          <a:bodyPr wrap="square" lIns="0" tIns="0" rIns="0" bIns="0" rtlCol="0" anchor="t"/>
          <a:lstStyle/>
          <a:p>
            <a:pPr marL="0" indent="0">
              <a:buNone/>
            </a:pPr>
            <a:r>
              <a:rPr lang="en-US" sz="1250" dirty="0">
                <a:solidFill>
                  <a:srgbClr val="5B6478"/>
                </a:solidFill>
              </a:rPr>
              <a:t>Due and overdue tasks, each with its source ID.</a:t>
            </a:r>
            <a:endParaRPr lang="en-US" sz="1250" dirty="0"/>
          </a:p>
        </p:txBody>
      </p:sp>
      <p:sp>
        <p:nvSpPr>
          <p:cNvPr id="24" name="Shape 19"/>
          <p:cNvSpPr/>
          <p:nvPr/>
        </p:nvSpPr>
        <p:spPr>
          <a:xfrm>
            <a:off x="8302752" y="3108960"/>
            <a:ext cx="3108960" cy="365760"/>
          </a:xfrm>
          <a:prstGeom prst="roundRect">
            <a:avLst>
              <a:gd name="adj" fmla="val 20000"/>
            </a:avLst>
          </a:prstGeom>
          <a:solidFill>
            <a:srgbClr val="EAF0FC"/>
          </a:solidFill>
          <a:ln w="12700">
            <a:solidFill>
              <a:srgbClr val="EAF0FC"/>
            </a:solidFill>
            <a:prstDash val="solid"/>
          </a:ln>
        </p:spPr>
      </p:sp>
      <p:sp>
        <p:nvSpPr>
          <p:cNvPr id="25" name="Text 20"/>
          <p:cNvSpPr txBox="1"/>
          <p:nvPr/>
        </p:nvSpPr>
        <p:spPr>
          <a:xfrm>
            <a:off x="8439912" y="3108960"/>
            <a:ext cx="2926080" cy="365760"/>
          </a:xfrm>
          <a:prstGeom prst="rect">
            <a:avLst/>
          </a:prstGeom>
          <a:noFill/>
          <a:ln/>
        </p:spPr>
        <p:txBody>
          <a:bodyPr wrap="square" lIns="0" tIns="0" rIns="0" bIns="0" rtlCol="0" anchor="ctr"/>
          <a:lstStyle/>
          <a:p>
            <a:pPr marL="0" indent="0">
              <a:buNone/>
            </a:pPr>
            <a:r>
              <a:rPr lang="en-US" sz="1100" b="1" dirty="0">
                <a:solidFill>
                  <a:schemeClr val="accent1"/>
                </a:solidFill>
              </a:rPr>
              <a:t>Sees: that member's tasks</a:t>
            </a:r>
            <a:endParaRPr lang="en-US" sz="1100" dirty="0"/>
          </a:p>
        </p:txBody>
      </p:sp>
      <p:sp>
        <p:nvSpPr>
          <p:cNvPr id="26" name="Agent card"/>
          <p:cNvSpPr/>
          <p:nvPr/>
        </p:nvSpPr>
        <p:spPr>
          <a:xfrm>
            <a:off x="548640" y="3840480"/>
            <a:ext cx="3566160" cy="2240280"/>
          </a:xfrm>
          <a:prstGeom prst="roundRect">
            <a:avLst>
              <a:gd name="adj" fmla="val 4082"/>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27" name="IconCircle"/>
          <p:cNvSpPr/>
          <p:nvPr/>
        </p:nvSpPr>
        <p:spPr>
          <a:xfrm>
            <a:off x="777240" y="4069080"/>
            <a:ext cx="548640" cy="548640"/>
          </a:xfrm>
          <a:prstGeom prst="ellipse">
            <a:avLst/>
          </a:prstGeom>
          <a:solidFill>
            <a:srgbClr val="1547C8"/>
          </a:solidFill>
          <a:ln w="12700">
            <a:solidFill>
              <a:srgbClr val="1547C8"/>
            </a:solidFill>
            <a:prstDash val="solid"/>
          </a:ln>
        </p:spPr>
      </p:sp>
      <p:pic>
        <p:nvPicPr>
          <p:cNvPr id="28" name="Image 3" descr="BookMedical icon"/>
          <p:cNvPicPr>
            <a:picLocks noChangeAspect="1"/>
          </p:cNvPicPr>
          <p:nvPr/>
        </p:nvPicPr>
        <p:blipFill>
          <a:blip r:embed="rId7"/>
          <a:stretch>
            <a:fillRect/>
          </a:stretch>
        </p:blipFill>
        <p:spPr>
          <a:xfrm>
            <a:off x="914400" y="4206240"/>
            <a:ext cx="274320" cy="274320"/>
          </a:xfrm>
          <a:prstGeom prst="rect">
            <a:avLst/>
          </a:prstGeom>
        </p:spPr>
      </p:pic>
      <p:sp>
        <p:nvSpPr>
          <p:cNvPr id="29" name="Text 23"/>
          <p:cNvSpPr txBox="1"/>
          <p:nvPr/>
        </p:nvSpPr>
        <p:spPr>
          <a:xfrm>
            <a:off x="1463040" y="4069080"/>
            <a:ext cx="2514600" cy="548640"/>
          </a:xfrm>
          <a:prstGeom prst="rect">
            <a:avLst/>
          </a:prstGeom>
          <a:noFill/>
          <a:ln/>
        </p:spPr>
        <p:txBody>
          <a:bodyPr wrap="square" lIns="0" tIns="0" rIns="0" bIns="0" rtlCol="0" anchor="ctr"/>
          <a:lstStyle/>
          <a:p>
            <a:pPr marL="0" indent="0">
              <a:buNone/>
            </a:pPr>
            <a:r>
              <a:rPr lang="en-US" sz="1600" b="1" dirty="0">
                <a:solidFill>
                  <a:schemeClr val="tx1"/>
                </a:solidFill>
              </a:rPr>
              <a:t>Education RAG</a:t>
            </a:r>
            <a:endParaRPr lang="en-US" sz="1600" dirty="0"/>
          </a:p>
        </p:txBody>
      </p:sp>
      <p:sp>
        <p:nvSpPr>
          <p:cNvPr id="30" name="Text 24"/>
          <p:cNvSpPr txBox="1"/>
          <p:nvPr/>
        </p:nvSpPr>
        <p:spPr>
          <a:xfrm>
            <a:off x="777240" y="4754880"/>
            <a:ext cx="3108960" cy="685800"/>
          </a:xfrm>
          <a:prstGeom prst="rect">
            <a:avLst/>
          </a:prstGeom>
          <a:noFill/>
          <a:ln/>
        </p:spPr>
        <p:txBody>
          <a:bodyPr wrap="square" lIns="0" tIns="0" rIns="0" bIns="0" rtlCol="0" anchor="t"/>
          <a:lstStyle/>
          <a:p>
            <a:pPr marL="0" indent="0">
              <a:buNone/>
            </a:pPr>
            <a:r>
              <a:rPr lang="en-US" sz="1250" dirty="0">
                <a:solidFill>
                  <a:srgbClr val="5B6478"/>
                </a:solidFill>
              </a:rPr>
              <a:t>Answers only from approved articles and cites them.</a:t>
            </a:r>
            <a:endParaRPr lang="en-US" sz="1250" dirty="0"/>
          </a:p>
        </p:txBody>
      </p:sp>
      <p:sp>
        <p:nvSpPr>
          <p:cNvPr id="31" name="Shape 25"/>
          <p:cNvSpPr/>
          <p:nvPr/>
        </p:nvSpPr>
        <p:spPr>
          <a:xfrm>
            <a:off x="777240" y="5532120"/>
            <a:ext cx="3108960" cy="365760"/>
          </a:xfrm>
          <a:prstGeom prst="roundRect">
            <a:avLst>
              <a:gd name="adj" fmla="val 20000"/>
            </a:avLst>
          </a:prstGeom>
          <a:solidFill>
            <a:srgbClr val="EAF0FC"/>
          </a:solidFill>
          <a:ln w="12700">
            <a:solidFill>
              <a:srgbClr val="EAF0FC"/>
            </a:solidFill>
            <a:prstDash val="solid"/>
          </a:ln>
        </p:spPr>
      </p:sp>
      <p:sp>
        <p:nvSpPr>
          <p:cNvPr id="32" name="Text 26"/>
          <p:cNvSpPr txBox="1"/>
          <p:nvPr/>
        </p:nvSpPr>
        <p:spPr>
          <a:xfrm>
            <a:off x="914400" y="5532120"/>
            <a:ext cx="2926080" cy="365760"/>
          </a:xfrm>
          <a:prstGeom prst="rect">
            <a:avLst/>
          </a:prstGeom>
          <a:noFill/>
          <a:ln/>
        </p:spPr>
        <p:txBody>
          <a:bodyPr wrap="square" lIns="0" tIns="0" rIns="0" bIns="0" rtlCol="0" anchor="ctr"/>
          <a:lstStyle/>
          <a:p>
            <a:pPr marL="0" indent="0">
              <a:buNone/>
            </a:pPr>
            <a:r>
              <a:rPr lang="en-US" sz="1100" b="1" dirty="0">
                <a:solidFill>
                  <a:schemeClr val="accent1"/>
                </a:solidFill>
              </a:rPr>
              <a:t>Sees: approved articles only</a:t>
            </a:r>
            <a:endParaRPr lang="en-US" sz="1100" dirty="0"/>
          </a:p>
        </p:txBody>
      </p:sp>
      <p:sp>
        <p:nvSpPr>
          <p:cNvPr id="33" name="Agent card"/>
          <p:cNvSpPr/>
          <p:nvPr/>
        </p:nvSpPr>
        <p:spPr>
          <a:xfrm>
            <a:off x="4311396" y="3840480"/>
            <a:ext cx="3566160" cy="2240280"/>
          </a:xfrm>
          <a:prstGeom prst="roundRect">
            <a:avLst>
              <a:gd name="adj" fmla="val 4082"/>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34" name="IconCircle"/>
          <p:cNvSpPr/>
          <p:nvPr/>
        </p:nvSpPr>
        <p:spPr>
          <a:xfrm>
            <a:off x="4539996" y="4069080"/>
            <a:ext cx="548640" cy="548640"/>
          </a:xfrm>
          <a:prstGeom prst="ellipse">
            <a:avLst/>
          </a:prstGeom>
          <a:solidFill>
            <a:srgbClr val="1547C8"/>
          </a:solidFill>
          <a:ln w="12700">
            <a:solidFill>
              <a:srgbClr val="1547C8"/>
            </a:solidFill>
            <a:prstDash val="solid"/>
          </a:ln>
        </p:spPr>
      </p:sp>
      <p:pic>
        <p:nvPicPr>
          <p:cNvPr id="35" name="Image 4" descr="Bell icon"/>
          <p:cNvPicPr>
            <a:picLocks noChangeAspect="1"/>
          </p:cNvPicPr>
          <p:nvPr/>
        </p:nvPicPr>
        <p:blipFill>
          <a:blip r:embed="rId8"/>
          <a:stretch>
            <a:fillRect/>
          </a:stretch>
        </p:blipFill>
        <p:spPr>
          <a:xfrm>
            <a:off x="4677156" y="4206240"/>
            <a:ext cx="274320" cy="274320"/>
          </a:xfrm>
          <a:prstGeom prst="rect">
            <a:avLst/>
          </a:prstGeom>
        </p:spPr>
      </p:pic>
      <p:sp>
        <p:nvSpPr>
          <p:cNvPr id="36" name="Text 29"/>
          <p:cNvSpPr txBox="1"/>
          <p:nvPr/>
        </p:nvSpPr>
        <p:spPr>
          <a:xfrm>
            <a:off x="5225796" y="4069080"/>
            <a:ext cx="2514600" cy="548640"/>
          </a:xfrm>
          <a:prstGeom prst="rect">
            <a:avLst/>
          </a:prstGeom>
          <a:noFill/>
          <a:ln/>
        </p:spPr>
        <p:txBody>
          <a:bodyPr wrap="square" lIns="0" tIns="0" rIns="0" bIns="0" rtlCol="0" anchor="ctr"/>
          <a:lstStyle/>
          <a:p>
            <a:pPr marL="0" indent="0">
              <a:buNone/>
            </a:pPr>
            <a:r>
              <a:rPr lang="en-US" sz="1600" b="1" dirty="0">
                <a:solidFill>
                  <a:schemeClr val="tx1"/>
                </a:solidFill>
              </a:rPr>
              <a:t>Engagement</a:t>
            </a:r>
            <a:endParaRPr lang="en-US" sz="1600" dirty="0"/>
          </a:p>
        </p:txBody>
      </p:sp>
      <p:sp>
        <p:nvSpPr>
          <p:cNvPr id="37" name="Text 30"/>
          <p:cNvSpPr txBox="1"/>
          <p:nvPr/>
        </p:nvSpPr>
        <p:spPr>
          <a:xfrm>
            <a:off x="4539996" y="4754880"/>
            <a:ext cx="3108960" cy="685800"/>
          </a:xfrm>
          <a:prstGeom prst="rect">
            <a:avLst/>
          </a:prstGeom>
          <a:noFill/>
          <a:ln/>
        </p:spPr>
        <p:txBody>
          <a:bodyPr wrap="square" lIns="0" tIns="0" rIns="0" bIns="0" rtlCol="0" anchor="t"/>
          <a:lstStyle/>
          <a:p>
            <a:pPr marL="0" indent="0">
              <a:buNone/>
            </a:pPr>
            <a:r>
              <a:rPr lang="en-US" sz="1250" dirty="0">
                <a:solidFill>
                  <a:srgbClr val="5B6478"/>
                </a:solidFill>
              </a:rPr>
              <a:t>A neutral reminder in the member's channel and language.</a:t>
            </a:r>
            <a:endParaRPr lang="en-US" sz="1250" dirty="0"/>
          </a:p>
        </p:txBody>
      </p:sp>
      <p:sp>
        <p:nvSpPr>
          <p:cNvPr id="38" name="Shape 31"/>
          <p:cNvSpPr/>
          <p:nvPr/>
        </p:nvSpPr>
        <p:spPr>
          <a:xfrm>
            <a:off x="4539996" y="5532120"/>
            <a:ext cx="3108960" cy="365760"/>
          </a:xfrm>
          <a:prstGeom prst="roundRect">
            <a:avLst>
              <a:gd name="adj" fmla="val 20000"/>
            </a:avLst>
          </a:prstGeom>
          <a:solidFill>
            <a:srgbClr val="EAF0FC"/>
          </a:solidFill>
          <a:ln w="12700">
            <a:solidFill>
              <a:srgbClr val="EAF0FC"/>
            </a:solidFill>
            <a:prstDash val="solid"/>
          </a:ln>
        </p:spPr>
      </p:sp>
      <p:sp>
        <p:nvSpPr>
          <p:cNvPr id="39" name="Text 32"/>
          <p:cNvSpPr txBox="1"/>
          <p:nvPr/>
        </p:nvSpPr>
        <p:spPr>
          <a:xfrm>
            <a:off x="4677156" y="5532120"/>
            <a:ext cx="2926080" cy="365760"/>
          </a:xfrm>
          <a:prstGeom prst="rect">
            <a:avLst/>
          </a:prstGeom>
          <a:noFill/>
          <a:ln/>
        </p:spPr>
        <p:txBody>
          <a:bodyPr wrap="square" lIns="0" tIns="0" rIns="0" bIns="0" rtlCol="0" anchor="ctr"/>
          <a:lstStyle/>
          <a:p>
            <a:pPr marL="0" indent="0">
              <a:buNone/>
            </a:pPr>
            <a:r>
              <a:rPr lang="en-US" sz="1100" b="1" dirty="0">
                <a:solidFill>
                  <a:schemeClr val="accent1"/>
                </a:solidFill>
              </a:rPr>
              <a:t>Sees: due tasks and channel</a:t>
            </a:r>
            <a:endParaRPr lang="en-US" sz="1100" dirty="0"/>
          </a:p>
        </p:txBody>
      </p:sp>
      <p:sp>
        <p:nvSpPr>
          <p:cNvPr id="40" name="Agent card"/>
          <p:cNvSpPr/>
          <p:nvPr/>
        </p:nvSpPr>
        <p:spPr>
          <a:xfrm>
            <a:off x="8074152" y="3840480"/>
            <a:ext cx="3566160" cy="2240280"/>
          </a:xfrm>
          <a:prstGeom prst="roundRect">
            <a:avLst>
              <a:gd name="adj" fmla="val 4082"/>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41" name="IconCircle"/>
          <p:cNvSpPr/>
          <p:nvPr/>
        </p:nvSpPr>
        <p:spPr>
          <a:xfrm>
            <a:off x="8302752" y="4069080"/>
            <a:ext cx="548640" cy="548640"/>
          </a:xfrm>
          <a:prstGeom prst="ellipse">
            <a:avLst/>
          </a:prstGeom>
          <a:solidFill>
            <a:srgbClr val="1547C8"/>
          </a:solidFill>
          <a:ln w="12700">
            <a:solidFill>
              <a:srgbClr val="1547C8"/>
            </a:solidFill>
            <a:prstDash val="solid"/>
          </a:ln>
        </p:spPr>
      </p:sp>
      <p:pic>
        <p:nvPicPr>
          <p:cNvPr id="42" name="Image 5" descr="UserMd icon"/>
          <p:cNvPicPr>
            <a:picLocks noChangeAspect="1"/>
          </p:cNvPicPr>
          <p:nvPr/>
        </p:nvPicPr>
        <p:blipFill>
          <a:blip r:embed="rId9"/>
          <a:stretch>
            <a:fillRect/>
          </a:stretch>
        </p:blipFill>
        <p:spPr>
          <a:xfrm>
            <a:off x="8439912" y="4206240"/>
            <a:ext cx="274320" cy="274320"/>
          </a:xfrm>
          <a:prstGeom prst="rect">
            <a:avLst/>
          </a:prstGeom>
        </p:spPr>
      </p:pic>
      <p:sp>
        <p:nvSpPr>
          <p:cNvPr id="43" name="Text 35"/>
          <p:cNvSpPr txBox="1"/>
          <p:nvPr/>
        </p:nvSpPr>
        <p:spPr>
          <a:xfrm>
            <a:off x="8988552" y="4069080"/>
            <a:ext cx="2514600" cy="548640"/>
          </a:xfrm>
          <a:prstGeom prst="rect">
            <a:avLst/>
          </a:prstGeom>
          <a:noFill/>
          <a:ln/>
        </p:spPr>
        <p:txBody>
          <a:bodyPr wrap="square" lIns="0" tIns="0" rIns="0" bIns="0" rtlCol="0" anchor="ctr"/>
          <a:lstStyle/>
          <a:p>
            <a:pPr marL="0" indent="0">
              <a:buNone/>
            </a:pPr>
            <a:r>
              <a:rPr lang="en-US" sz="1600" b="1" dirty="0">
                <a:solidFill>
                  <a:schemeClr val="tx1"/>
                </a:solidFill>
              </a:rPr>
              <a:t>Escalation</a:t>
            </a:r>
            <a:endParaRPr lang="en-US" sz="1600" dirty="0"/>
          </a:p>
        </p:txBody>
      </p:sp>
      <p:sp>
        <p:nvSpPr>
          <p:cNvPr id="44" name="Text 36"/>
          <p:cNvSpPr txBox="1"/>
          <p:nvPr/>
        </p:nvSpPr>
        <p:spPr>
          <a:xfrm>
            <a:off x="8302752" y="4754880"/>
            <a:ext cx="3108960" cy="685800"/>
          </a:xfrm>
          <a:prstGeom prst="rect">
            <a:avLst/>
          </a:prstGeom>
          <a:noFill/>
          <a:ln/>
        </p:spPr>
        <p:txBody>
          <a:bodyPr wrap="square" lIns="0" tIns="0" rIns="0" bIns="0" rtlCol="0" anchor="t"/>
          <a:lstStyle/>
          <a:p>
            <a:pPr marL="0" indent="0">
              <a:buNone/>
            </a:pPr>
            <a:r>
              <a:rPr lang="en-US" sz="1250" dirty="0">
                <a:solidFill>
                  <a:srgbClr val="5B6478"/>
                </a:solidFill>
              </a:rPr>
              <a:t>Writes the staff reason for rules that code already matched.</a:t>
            </a:r>
            <a:endParaRPr lang="en-US" sz="1250" dirty="0"/>
          </a:p>
        </p:txBody>
      </p:sp>
      <p:sp>
        <p:nvSpPr>
          <p:cNvPr id="45" name="Shape 37"/>
          <p:cNvSpPr/>
          <p:nvPr/>
        </p:nvSpPr>
        <p:spPr>
          <a:xfrm>
            <a:off x="8302752" y="5532120"/>
            <a:ext cx="3108960" cy="365760"/>
          </a:xfrm>
          <a:prstGeom prst="roundRect">
            <a:avLst>
              <a:gd name="adj" fmla="val 20000"/>
            </a:avLst>
          </a:prstGeom>
          <a:solidFill>
            <a:srgbClr val="EAF0FC"/>
          </a:solidFill>
          <a:ln w="12700">
            <a:solidFill>
              <a:srgbClr val="EAF0FC"/>
            </a:solidFill>
            <a:prstDash val="solid"/>
          </a:ln>
        </p:spPr>
      </p:sp>
      <p:sp>
        <p:nvSpPr>
          <p:cNvPr id="46" name="Text 38"/>
          <p:cNvSpPr txBox="1"/>
          <p:nvPr/>
        </p:nvSpPr>
        <p:spPr>
          <a:xfrm>
            <a:off x="8439912" y="5532120"/>
            <a:ext cx="2926080" cy="365760"/>
          </a:xfrm>
          <a:prstGeom prst="rect">
            <a:avLst/>
          </a:prstGeom>
          <a:noFill/>
          <a:ln/>
        </p:spPr>
        <p:txBody>
          <a:bodyPr wrap="square" lIns="0" tIns="0" rIns="0" bIns="0" rtlCol="0" anchor="ctr"/>
          <a:lstStyle/>
          <a:p>
            <a:pPr marL="0" indent="0">
              <a:buNone/>
            </a:pPr>
            <a:r>
              <a:rPr lang="en-US" sz="1100" b="1" dirty="0">
                <a:solidFill>
                  <a:schemeClr val="accent1"/>
                </a:solidFill>
              </a:rPr>
              <a:t>Sees: matched rules only</a:t>
            </a:r>
            <a:endParaRPr lang="en-US" sz="1100" dirty="0"/>
          </a:p>
        </p:txBody>
      </p:sp>
      <p:sp>
        <p:nvSpPr>
          <p:cNvPr id="47"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8"/>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47472"/>
            <a:ext cx="8229600" cy="256032"/>
          </a:xfrm>
          <a:prstGeom prst="rect">
            <a:avLst/>
          </a:prstGeom>
          <a:noFill/>
          <a:ln/>
        </p:spPr>
        <p:txBody>
          <a:bodyPr wrap="square" lIns="0" tIns="0" rIns="0" bIns="0" rtlCol="0" anchor="t"/>
          <a:lstStyle/>
          <a:p>
            <a:pPr marL="0" indent="0" algn="l">
              <a:buNone/>
            </a:pPr>
            <a:r>
              <a:rPr lang="en-US" sz="1100" b="1" kern="0" spc="200" dirty="0">
                <a:solidFill>
                  <a:srgbClr val="1547C8"/>
                </a:solidFill>
              </a:rPr>
              <a:t>02  ·  DESIGN PRINCIPLE</a:t>
            </a:r>
            <a:endParaRPr lang="en-US" sz="1100" dirty="0"/>
          </a:p>
        </p:txBody>
      </p:sp>
      <p:sp>
        <p:nvSpPr>
          <p:cNvPr id="3" name="Text 1"/>
          <p:cNvSpPr>
            <a:spLocks noGrp="1"/>
          </p:cNvSpPr>
          <p:nvPr>
            <p:ph type="title" idx="103" hasCustomPrompt="1"/>
          </p:nvPr>
        </p:nvSpPr>
        <p:spPr>
          <a:xfrm>
            <a:off x="548640" y="603504"/>
            <a:ext cx="11064240" cy="566928"/>
          </a:xfrm>
          <a:prstGeom prst="rect">
            <a:avLst/>
          </a:prstGeom>
          <a:noFill/>
          <a:ln/>
        </p:spPr>
        <p:txBody>
          <a:bodyPr wrap="square" lIns="0" tIns="0" rIns="0" bIns="0" rtlCol="0" anchor="t"/>
          <a:lstStyle/>
          <a:p>
            <a:pPr marL="0" indent="0" algn="l">
              <a:buNone/>
            </a:pPr>
            <a:r>
              <a:rPr lang="en-US" sz="3000" b="1" dirty="0">
                <a:solidFill>
                  <a:srgbClr val="1F2937"/>
                </a:solidFill>
              </a:rPr>
              <a:t>Code decides the facts. Agents only word them</a:t>
            </a:r>
            <a:endParaRPr lang="en-US" sz="3000" dirty="0"/>
          </a:p>
        </p:txBody>
      </p:sp>
      <p:sp>
        <p:nvSpPr>
          <p:cNvPr id="4" name="Text 2"/>
          <p:cNvSpPr txBox="1"/>
          <p:nvPr/>
        </p:nvSpPr>
        <p:spPr>
          <a:xfrm>
            <a:off x="9921240" y="6382512"/>
            <a:ext cx="1097280" cy="219456"/>
          </a:xfrm>
          <a:prstGeom prst="rect">
            <a:avLst/>
          </a:prstGeom>
          <a:noFill/>
          <a:ln/>
        </p:spPr>
        <p:txBody>
          <a:bodyPr wrap="square" lIns="0" tIns="0" rIns="0" bIns="0" rtlCol="0" anchor="ctr"/>
          <a:lstStyle/>
          <a:p>
            <a:pPr marL="0" indent="0" algn="r">
              <a:buNone/>
            </a:pPr>
            <a:r>
              <a:rPr lang="en-US" sz="1000" u="sng" dirty="0">
                <a:solidFill>
                  <a:schemeClr val="tx1"/>
                </a:solidFill>
                <a:hlinkClick r:id="rId3" action="ppaction://hlinksldjump" tooltip="Back to the agenda">
                  <a:extLst>
                    <a:ext uri="{A12FA001-AC4F-418D-AE19-62706E023703}">
                      <ahyp:hlinkClr xmlns:ahyp="http://schemas.microsoft.com/office/drawing/2018/hyperlinkcolor" val="tx"/>
                    </a:ext>
                  </a:extLst>
                </a:hlinkClick>
              </a:rPr>
              <a:t>← Agenda</a:t>
            </a:r>
            <a:endParaRPr lang="en-US" sz="1000" dirty="0"/>
          </a:p>
        </p:txBody>
      </p:sp>
      <p:sp>
        <p:nvSpPr>
          <p:cNvPr id="5" name="Column card"/>
          <p:cNvSpPr/>
          <p:nvPr/>
        </p:nvSpPr>
        <p:spPr>
          <a:xfrm>
            <a:off x="548640" y="1417320"/>
            <a:ext cx="5440680" cy="3063240"/>
          </a:xfrm>
          <a:prstGeom prst="roundRect">
            <a:avLst>
              <a:gd name="adj" fmla="val 2985"/>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6" name="Pill"/>
          <p:cNvSpPr/>
          <p:nvPr/>
        </p:nvSpPr>
        <p:spPr>
          <a:xfrm>
            <a:off x="822960" y="1645920"/>
            <a:ext cx="1737360" cy="347472"/>
          </a:xfrm>
          <a:prstGeom prst="roundRect">
            <a:avLst>
              <a:gd name="adj" fmla="val 50000"/>
            </a:avLst>
          </a:prstGeom>
          <a:solidFill>
            <a:srgbClr val="1547C8"/>
          </a:solidFill>
          <a:ln w="12700">
            <a:solidFill>
              <a:srgbClr val="1547C8"/>
            </a:solidFill>
            <a:prstDash val="solid"/>
          </a:ln>
        </p:spPr>
      </p:sp>
      <p:sp>
        <p:nvSpPr>
          <p:cNvPr id="7" name="Text 5"/>
          <p:cNvSpPr txBox="1"/>
          <p:nvPr/>
        </p:nvSpPr>
        <p:spPr>
          <a:xfrm>
            <a:off x="822960" y="1645920"/>
            <a:ext cx="1737360" cy="347472"/>
          </a:xfrm>
          <a:prstGeom prst="rect">
            <a:avLst/>
          </a:prstGeom>
          <a:noFill/>
          <a:ln/>
        </p:spPr>
        <p:txBody>
          <a:bodyPr wrap="square" lIns="0" tIns="0" rIns="0" bIns="0" rtlCol="0" anchor="ctr"/>
          <a:lstStyle/>
          <a:p>
            <a:pPr marL="0" indent="0" algn="ctr">
              <a:buNone/>
            </a:pPr>
            <a:r>
              <a:rPr lang="en-US" sz="1100" b="1" dirty="0">
                <a:solidFill>
                  <a:srgbClr val="FFFFFF"/>
                </a:solidFill>
              </a:rPr>
              <a:t>DONE BY CODE</a:t>
            </a:r>
            <a:endParaRPr lang="en-US" sz="1100" dirty="0"/>
          </a:p>
        </p:txBody>
      </p:sp>
      <p:sp>
        <p:nvSpPr>
          <p:cNvPr id="8" name="Text 6"/>
          <p:cNvSpPr txBox="1"/>
          <p:nvPr/>
        </p:nvSpPr>
        <p:spPr>
          <a:xfrm>
            <a:off x="2743200" y="1645920"/>
            <a:ext cx="3108960" cy="347472"/>
          </a:xfrm>
          <a:prstGeom prst="rect">
            <a:avLst/>
          </a:prstGeom>
          <a:noFill/>
          <a:ln/>
        </p:spPr>
        <p:txBody>
          <a:bodyPr wrap="square" lIns="0" tIns="0" rIns="0" bIns="0" rtlCol="0" anchor="ctr"/>
          <a:lstStyle/>
          <a:p>
            <a:pPr marL="0" indent="0">
              <a:buNone/>
            </a:pPr>
            <a:r>
              <a:rPr lang="en-US" sz="1200" dirty="0">
                <a:solidFill>
                  <a:srgbClr val="5B6478"/>
                </a:solidFill>
              </a:rPr>
              <a:t>Exact, repeatable, unit-tested</a:t>
            </a:r>
            <a:endParaRPr lang="en-US" sz="1200" dirty="0"/>
          </a:p>
        </p:txBody>
      </p:sp>
      <p:pic>
        <p:nvPicPr>
          <p:cNvPr id="9" name="Image 0" descr="Check"/>
          <p:cNvPicPr>
            <a:picLocks noChangeAspect="1"/>
          </p:cNvPicPr>
          <p:nvPr/>
        </p:nvPicPr>
        <p:blipFill>
          <a:blip r:embed="rId4"/>
          <a:stretch>
            <a:fillRect/>
          </a:stretch>
        </p:blipFill>
        <p:spPr>
          <a:xfrm>
            <a:off x="822960" y="2276856"/>
            <a:ext cx="274320" cy="274320"/>
          </a:xfrm>
          <a:prstGeom prst="rect">
            <a:avLst/>
          </a:prstGeom>
        </p:spPr>
      </p:pic>
      <p:sp>
        <p:nvSpPr>
          <p:cNvPr id="10" name="Text 7"/>
          <p:cNvSpPr txBox="1"/>
          <p:nvPr/>
        </p:nvSpPr>
        <p:spPr>
          <a:xfrm>
            <a:off x="1280160" y="2240280"/>
            <a:ext cx="4434840" cy="365760"/>
          </a:xfrm>
          <a:prstGeom prst="rect">
            <a:avLst/>
          </a:prstGeom>
          <a:noFill/>
          <a:ln/>
        </p:spPr>
        <p:txBody>
          <a:bodyPr wrap="square" lIns="0" tIns="0" rIns="0" bIns="0" rtlCol="0" anchor="ctr"/>
          <a:lstStyle/>
          <a:p>
            <a:pPr marL="0" indent="0">
              <a:buNone/>
            </a:pPr>
            <a:r>
              <a:rPr lang="en-US" sz="1400" dirty="0">
                <a:solidFill>
                  <a:schemeClr val="tx1"/>
                </a:solidFill>
              </a:rPr>
              <a:t>Consent check (ER-501)</a:t>
            </a:r>
            <a:endParaRPr lang="en-US" sz="1400" dirty="0"/>
          </a:p>
        </p:txBody>
      </p:sp>
      <p:pic>
        <p:nvPicPr>
          <p:cNvPr id="11" name="Image 1" descr="Check"/>
          <p:cNvPicPr>
            <a:picLocks noChangeAspect="1"/>
          </p:cNvPicPr>
          <p:nvPr/>
        </p:nvPicPr>
        <p:blipFill>
          <a:blip r:embed="rId4"/>
          <a:stretch>
            <a:fillRect/>
          </a:stretch>
        </p:blipFill>
        <p:spPr>
          <a:xfrm>
            <a:off x="822960" y="2807208"/>
            <a:ext cx="274320" cy="274320"/>
          </a:xfrm>
          <a:prstGeom prst="rect">
            <a:avLst/>
          </a:prstGeom>
        </p:spPr>
      </p:pic>
      <p:sp>
        <p:nvSpPr>
          <p:cNvPr id="12" name="Text 8"/>
          <p:cNvSpPr txBox="1"/>
          <p:nvPr/>
        </p:nvSpPr>
        <p:spPr>
          <a:xfrm>
            <a:off x="1280160" y="2770632"/>
            <a:ext cx="4434840" cy="365760"/>
          </a:xfrm>
          <a:prstGeom prst="rect">
            <a:avLst/>
          </a:prstGeom>
          <a:noFill/>
          <a:ln/>
        </p:spPr>
        <p:txBody>
          <a:bodyPr wrap="square" lIns="0" tIns="0" rIns="0" bIns="0" rtlCol="0" anchor="ctr"/>
          <a:lstStyle/>
          <a:p>
            <a:pPr marL="0" indent="0">
              <a:buNone/>
            </a:pPr>
            <a:r>
              <a:rPr lang="en-US" sz="1400" dirty="0">
                <a:solidFill>
                  <a:schemeClr val="tx1"/>
                </a:solidFill>
              </a:rPr>
              <a:t>Escalation rules ER-502 to ER-504</a:t>
            </a:r>
            <a:endParaRPr lang="en-US" sz="1400" dirty="0"/>
          </a:p>
        </p:txBody>
      </p:sp>
      <p:pic>
        <p:nvPicPr>
          <p:cNvPr id="13" name="Image 2" descr="Check"/>
          <p:cNvPicPr>
            <a:picLocks noChangeAspect="1"/>
          </p:cNvPicPr>
          <p:nvPr/>
        </p:nvPicPr>
        <p:blipFill>
          <a:blip r:embed="rId4"/>
          <a:stretch>
            <a:fillRect/>
          </a:stretch>
        </p:blipFill>
        <p:spPr>
          <a:xfrm>
            <a:off x="822960" y="3337560"/>
            <a:ext cx="274320" cy="274320"/>
          </a:xfrm>
          <a:prstGeom prst="rect">
            <a:avLst/>
          </a:prstGeom>
        </p:spPr>
      </p:pic>
      <p:sp>
        <p:nvSpPr>
          <p:cNvPr id="14" name="Text 9"/>
          <p:cNvSpPr txBox="1"/>
          <p:nvPr/>
        </p:nvSpPr>
        <p:spPr>
          <a:xfrm>
            <a:off x="1280160" y="3300984"/>
            <a:ext cx="4434840" cy="365760"/>
          </a:xfrm>
          <a:prstGeom prst="rect">
            <a:avLst/>
          </a:prstGeom>
          <a:noFill/>
          <a:ln/>
        </p:spPr>
        <p:txBody>
          <a:bodyPr wrap="square" lIns="0" tIns="0" rIns="0" bIns="0" rtlCol="0" anchor="ctr"/>
          <a:lstStyle/>
          <a:p>
            <a:pPr marL="0" indent="0">
              <a:buNone/>
            </a:pPr>
            <a:r>
              <a:rPr lang="en-US" sz="1400" dirty="0">
                <a:solidFill>
                  <a:schemeClr val="tx1"/>
                </a:solidFill>
              </a:rPr>
              <a:t>Counts, min / max, missing dates</a:t>
            </a:r>
            <a:endParaRPr lang="en-US" sz="1400" dirty="0"/>
          </a:p>
        </p:txBody>
      </p:sp>
      <p:pic>
        <p:nvPicPr>
          <p:cNvPr id="15" name="Image 3" descr="Check"/>
          <p:cNvPicPr>
            <a:picLocks noChangeAspect="1"/>
          </p:cNvPicPr>
          <p:nvPr/>
        </p:nvPicPr>
        <p:blipFill>
          <a:blip r:embed="rId4"/>
          <a:stretch>
            <a:fillRect/>
          </a:stretch>
        </p:blipFill>
        <p:spPr>
          <a:xfrm>
            <a:off x="822960" y="3867912"/>
            <a:ext cx="274320" cy="274320"/>
          </a:xfrm>
          <a:prstGeom prst="rect">
            <a:avLst/>
          </a:prstGeom>
        </p:spPr>
      </p:pic>
      <p:sp>
        <p:nvSpPr>
          <p:cNvPr id="16" name="Text 10"/>
          <p:cNvSpPr txBox="1"/>
          <p:nvPr/>
        </p:nvSpPr>
        <p:spPr>
          <a:xfrm>
            <a:off x="1280160" y="3831336"/>
            <a:ext cx="4434840" cy="365760"/>
          </a:xfrm>
          <a:prstGeom prst="rect">
            <a:avLst/>
          </a:prstGeom>
          <a:noFill/>
          <a:ln/>
        </p:spPr>
        <p:txBody>
          <a:bodyPr wrap="square" lIns="0" tIns="0" rIns="0" bIns="0" rtlCol="0" anchor="ctr"/>
          <a:lstStyle/>
          <a:p>
            <a:pPr marL="0" indent="0">
              <a:buNone/>
            </a:pPr>
            <a:r>
              <a:rPr lang="en-US" sz="1400" dirty="0">
                <a:solidFill>
                  <a:schemeClr val="tx1"/>
                </a:solidFill>
              </a:rPr>
              <a:t>Citation check: ID, status, program, version</a:t>
            </a:r>
            <a:endParaRPr lang="en-US" sz="1400" dirty="0"/>
          </a:p>
        </p:txBody>
      </p:sp>
      <p:sp>
        <p:nvSpPr>
          <p:cNvPr id="17" name="Column card"/>
          <p:cNvSpPr/>
          <p:nvPr/>
        </p:nvSpPr>
        <p:spPr>
          <a:xfrm>
            <a:off x="6199632" y="1417320"/>
            <a:ext cx="5440680" cy="3063240"/>
          </a:xfrm>
          <a:prstGeom prst="roundRect">
            <a:avLst>
              <a:gd name="adj" fmla="val 2985"/>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18" name="Pill"/>
          <p:cNvSpPr/>
          <p:nvPr/>
        </p:nvSpPr>
        <p:spPr>
          <a:xfrm>
            <a:off x="6473952" y="1645920"/>
            <a:ext cx="1737360" cy="347472"/>
          </a:xfrm>
          <a:prstGeom prst="roundRect">
            <a:avLst>
              <a:gd name="adj" fmla="val 50000"/>
            </a:avLst>
          </a:prstGeom>
          <a:solidFill>
            <a:srgbClr val="0A1F5C"/>
          </a:solidFill>
          <a:ln w="12700">
            <a:solidFill>
              <a:srgbClr val="0A1F5C"/>
            </a:solidFill>
            <a:prstDash val="solid"/>
          </a:ln>
        </p:spPr>
      </p:sp>
      <p:sp>
        <p:nvSpPr>
          <p:cNvPr id="19" name="Text 13"/>
          <p:cNvSpPr txBox="1"/>
          <p:nvPr/>
        </p:nvSpPr>
        <p:spPr>
          <a:xfrm>
            <a:off x="6473952" y="1645920"/>
            <a:ext cx="1737360" cy="347472"/>
          </a:xfrm>
          <a:prstGeom prst="rect">
            <a:avLst/>
          </a:prstGeom>
          <a:noFill/>
          <a:ln/>
        </p:spPr>
        <p:txBody>
          <a:bodyPr wrap="square" lIns="0" tIns="0" rIns="0" bIns="0" rtlCol="0" anchor="ctr"/>
          <a:lstStyle/>
          <a:p>
            <a:pPr marL="0" indent="0" algn="ctr">
              <a:buNone/>
            </a:pPr>
            <a:r>
              <a:rPr lang="en-US" sz="1100" b="1" dirty="0">
                <a:solidFill>
                  <a:srgbClr val="FFFFFF"/>
                </a:solidFill>
              </a:rPr>
              <a:t>DONE BY AI</a:t>
            </a:r>
            <a:endParaRPr lang="en-US" sz="1100" dirty="0"/>
          </a:p>
        </p:txBody>
      </p:sp>
      <p:sp>
        <p:nvSpPr>
          <p:cNvPr id="20" name="Text 14"/>
          <p:cNvSpPr txBox="1"/>
          <p:nvPr/>
        </p:nvSpPr>
        <p:spPr>
          <a:xfrm>
            <a:off x="8394192" y="1645920"/>
            <a:ext cx="3108960" cy="347472"/>
          </a:xfrm>
          <a:prstGeom prst="rect">
            <a:avLst/>
          </a:prstGeom>
          <a:noFill/>
          <a:ln/>
        </p:spPr>
        <p:txBody>
          <a:bodyPr wrap="square" lIns="0" tIns="0" rIns="0" bIns="0" rtlCol="0" anchor="ctr"/>
          <a:lstStyle/>
          <a:p>
            <a:pPr marL="0" indent="0">
              <a:buNone/>
            </a:pPr>
            <a:r>
              <a:rPr lang="en-US" sz="1200" dirty="0">
                <a:solidFill>
                  <a:srgbClr val="5B6478"/>
                </a:solidFill>
              </a:rPr>
              <a:t>Language only, never a decision</a:t>
            </a:r>
            <a:endParaRPr lang="en-US" sz="1200" dirty="0"/>
          </a:p>
        </p:txBody>
      </p:sp>
      <p:pic>
        <p:nvPicPr>
          <p:cNvPr id="21" name="Image 4" descr="Check"/>
          <p:cNvPicPr>
            <a:picLocks noChangeAspect="1"/>
          </p:cNvPicPr>
          <p:nvPr/>
        </p:nvPicPr>
        <p:blipFill>
          <a:blip r:embed="rId5"/>
          <a:stretch>
            <a:fillRect/>
          </a:stretch>
        </p:blipFill>
        <p:spPr>
          <a:xfrm>
            <a:off x="6473952" y="2276856"/>
            <a:ext cx="274320" cy="274320"/>
          </a:xfrm>
          <a:prstGeom prst="rect">
            <a:avLst/>
          </a:prstGeom>
        </p:spPr>
      </p:pic>
      <p:sp>
        <p:nvSpPr>
          <p:cNvPr id="22" name="Text 15"/>
          <p:cNvSpPr txBox="1"/>
          <p:nvPr/>
        </p:nvSpPr>
        <p:spPr>
          <a:xfrm>
            <a:off x="6931152" y="2240280"/>
            <a:ext cx="4434840" cy="365760"/>
          </a:xfrm>
          <a:prstGeom prst="rect">
            <a:avLst/>
          </a:prstGeom>
          <a:noFill/>
          <a:ln/>
        </p:spPr>
        <p:txBody>
          <a:bodyPr wrap="square" lIns="0" tIns="0" rIns="0" bIns="0" rtlCol="0" anchor="ctr"/>
          <a:lstStyle/>
          <a:p>
            <a:pPr marL="0" indent="0">
              <a:buNone/>
            </a:pPr>
            <a:r>
              <a:rPr lang="en-US" sz="1400" dirty="0">
                <a:solidFill>
                  <a:schemeClr val="tx1"/>
                </a:solidFill>
              </a:rPr>
              <a:t>Understand what the member asked</a:t>
            </a:r>
            <a:endParaRPr lang="en-US" sz="1400" dirty="0"/>
          </a:p>
        </p:txBody>
      </p:sp>
      <p:pic>
        <p:nvPicPr>
          <p:cNvPr id="23" name="Image 5" descr="Check"/>
          <p:cNvPicPr>
            <a:picLocks noChangeAspect="1"/>
          </p:cNvPicPr>
          <p:nvPr/>
        </p:nvPicPr>
        <p:blipFill>
          <a:blip r:embed="rId5"/>
          <a:stretch>
            <a:fillRect/>
          </a:stretch>
        </p:blipFill>
        <p:spPr>
          <a:xfrm>
            <a:off x="6473952" y="2807208"/>
            <a:ext cx="274320" cy="274320"/>
          </a:xfrm>
          <a:prstGeom prst="rect">
            <a:avLst/>
          </a:prstGeom>
        </p:spPr>
      </p:pic>
      <p:sp>
        <p:nvSpPr>
          <p:cNvPr id="24" name="Text 16"/>
          <p:cNvSpPr txBox="1"/>
          <p:nvPr/>
        </p:nvSpPr>
        <p:spPr>
          <a:xfrm>
            <a:off x="6931152" y="2770632"/>
            <a:ext cx="4434840" cy="365760"/>
          </a:xfrm>
          <a:prstGeom prst="rect">
            <a:avLst/>
          </a:prstGeom>
          <a:noFill/>
          <a:ln/>
        </p:spPr>
        <p:txBody>
          <a:bodyPr wrap="square" lIns="0" tIns="0" rIns="0" bIns="0" rtlCol="0" anchor="ctr"/>
          <a:lstStyle/>
          <a:p>
            <a:pPr marL="0" indent="0">
              <a:buNone/>
            </a:pPr>
            <a:r>
              <a:rPr lang="en-US" sz="1400" dirty="0">
                <a:solidFill>
                  <a:schemeClr val="tx1"/>
                </a:solidFill>
              </a:rPr>
              <a:t>Word summaries and reminders</a:t>
            </a:r>
            <a:endParaRPr lang="en-US" sz="1400" dirty="0"/>
          </a:p>
        </p:txBody>
      </p:sp>
      <p:pic>
        <p:nvPicPr>
          <p:cNvPr id="25" name="Image 6" descr="Check"/>
          <p:cNvPicPr>
            <a:picLocks noChangeAspect="1"/>
          </p:cNvPicPr>
          <p:nvPr/>
        </p:nvPicPr>
        <p:blipFill>
          <a:blip r:embed="rId5"/>
          <a:stretch>
            <a:fillRect/>
          </a:stretch>
        </p:blipFill>
        <p:spPr>
          <a:xfrm>
            <a:off x="6473952" y="3337560"/>
            <a:ext cx="274320" cy="274320"/>
          </a:xfrm>
          <a:prstGeom prst="rect">
            <a:avLst/>
          </a:prstGeom>
        </p:spPr>
      </p:pic>
      <p:sp>
        <p:nvSpPr>
          <p:cNvPr id="26" name="Text 17"/>
          <p:cNvSpPr txBox="1"/>
          <p:nvPr/>
        </p:nvSpPr>
        <p:spPr>
          <a:xfrm>
            <a:off x="6931152" y="3300984"/>
            <a:ext cx="4434840" cy="365760"/>
          </a:xfrm>
          <a:prstGeom prst="rect">
            <a:avLst/>
          </a:prstGeom>
          <a:noFill/>
          <a:ln/>
        </p:spPr>
        <p:txBody>
          <a:bodyPr wrap="square" lIns="0" tIns="0" rIns="0" bIns="0" rtlCol="0" anchor="ctr"/>
          <a:lstStyle/>
          <a:p>
            <a:pPr marL="0" indent="0">
              <a:buNone/>
            </a:pPr>
            <a:r>
              <a:rPr lang="en-US" sz="1400" dirty="0">
                <a:solidFill>
                  <a:schemeClr val="tx1"/>
                </a:solidFill>
              </a:rPr>
              <a:t>Answer from retrieved approved text</a:t>
            </a:r>
            <a:endParaRPr lang="en-US" sz="1400" dirty="0"/>
          </a:p>
        </p:txBody>
      </p:sp>
      <p:sp>
        <p:nvSpPr>
          <p:cNvPr id="27" name="Shape 18"/>
          <p:cNvSpPr/>
          <p:nvPr/>
        </p:nvSpPr>
        <p:spPr>
          <a:xfrm>
            <a:off x="5870448" y="2743200"/>
            <a:ext cx="457200" cy="457200"/>
          </a:xfrm>
          <a:prstGeom prst="ellipse">
            <a:avLst/>
          </a:prstGeom>
          <a:solidFill>
            <a:schemeClr val="accent2"/>
          </a:solidFill>
          <a:ln w="25400">
            <a:solidFill>
              <a:srgbClr val="FFFFFF"/>
            </a:solidFill>
            <a:prstDash val="solid"/>
          </a:ln>
        </p:spPr>
      </p:sp>
      <p:sp>
        <p:nvSpPr>
          <p:cNvPr id="28" name="Text 19"/>
          <p:cNvSpPr txBox="1"/>
          <p:nvPr/>
        </p:nvSpPr>
        <p:spPr>
          <a:xfrm>
            <a:off x="5870448" y="2743200"/>
            <a:ext cx="457200" cy="457200"/>
          </a:xfrm>
          <a:prstGeom prst="rect">
            <a:avLst/>
          </a:prstGeom>
          <a:noFill/>
          <a:ln/>
        </p:spPr>
        <p:txBody>
          <a:bodyPr wrap="square" lIns="0" tIns="0" rIns="0" bIns="0" rtlCol="0" anchor="ctr"/>
          <a:lstStyle/>
          <a:p>
            <a:pPr marL="0" indent="0" algn="ctr">
              <a:buNone/>
            </a:pPr>
            <a:r>
              <a:rPr lang="en-US" sz="2000" b="1" dirty="0">
                <a:solidFill>
                  <a:srgbClr val="0A1F5C"/>
                </a:solidFill>
              </a:rPr>
              <a:t>+</a:t>
            </a:r>
            <a:endParaRPr lang="en-US" sz="2000" dirty="0"/>
          </a:p>
        </p:txBody>
      </p:sp>
      <p:sp>
        <p:nvSpPr>
          <p:cNvPr id="29" name="Rejection strip"/>
          <p:cNvSpPr/>
          <p:nvPr/>
        </p:nvSpPr>
        <p:spPr>
          <a:xfrm>
            <a:off x="548640" y="4709160"/>
            <a:ext cx="11091672" cy="1371600"/>
          </a:xfrm>
          <a:prstGeom prst="roundRect">
            <a:avLst>
              <a:gd name="adj" fmla="val 6667"/>
            </a:avLst>
          </a:prstGeom>
          <a:solidFill>
            <a:schemeClr val="tx2"/>
          </a:solidFill>
          <a:ln w="12700">
            <a:solidFill>
              <a:srgbClr val="0A1F5C"/>
            </a:solidFill>
            <a:prstDash val="solid"/>
          </a:ln>
        </p:spPr>
      </p:sp>
      <p:sp>
        <p:nvSpPr>
          <p:cNvPr id="30" name="Text 21"/>
          <p:cNvSpPr txBox="1"/>
          <p:nvPr/>
        </p:nvSpPr>
        <p:spPr>
          <a:xfrm>
            <a:off x="822960" y="4873752"/>
            <a:ext cx="10058400" cy="228600"/>
          </a:xfrm>
          <a:prstGeom prst="rect">
            <a:avLst/>
          </a:prstGeom>
          <a:noFill/>
          <a:ln/>
        </p:spPr>
        <p:txBody>
          <a:bodyPr wrap="square" lIns="0" tIns="0" rIns="0" bIns="0" rtlCol="0" anchor="t"/>
          <a:lstStyle/>
          <a:p>
            <a:pPr marL="0" indent="0">
              <a:buNone/>
            </a:pPr>
            <a:r>
              <a:rPr lang="en-US" sz="1000" b="1" kern="0" spc="200" dirty="0">
                <a:solidFill>
                  <a:srgbClr val="3CC3F0"/>
                </a:solidFill>
              </a:rPr>
              <a:t>AI WORDING IS REJECTED, AND A FIXED TEMPLATE IS USED, IF IT CONTAINS</a:t>
            </a:r>
            <a:endParaRPr lang="en-US" sz="1000" dirty="0"/>
          </a:p>
        </p:txBody>
      </p:sp>
      <p:pic>
        <p:nvPicPr>
          <p:cNvPr id="31" name="Image 7" descr="Rejected"/>
          <p:cNvPicPr>
            <a:picLocks noChangeAspect="1"/>
          </p:cNvPicPr>
          <p:nvPr/>
        </p:nvPicPr>
        <p:blipFill>
          <a:blip r:embed="rId6"/>
          <a:stretch>
            <a:fillRect/>
          </a:stretch>
        </p:blipFill>
        <p:spPr>
          <a:xfrm>
            <a:off x="822960" y="5440680"/>
            <a:ext cx="274320" cy="274320"/>
          </a:xfrm>
          <a:prstGeom prst="rect">
            <a:avLst/>
          </a:prstGeom>
        </p:spPr>
      </p:pic>
      <p:sp>
        <p:nvSpPr>
          <p:cNvPr id="32" name="Text 22"/>
          <p:cNvSpPr txBox="1"/>
          <p:nvPr/>
        </p:nvSpPr>
        <p:spPr>
          <a:xfrm>
            <a:off x="1188720" y="5349240"/>
            <a:ext cx="2148840" cy="502920"/>
          </a:xfrm>
          <a:prstGeom prst="rect">
            <a:avLst/>
          </a:prstGeom>
          <a:noFill/>
          <a:ln/>
        </p:spPr>
        <p:txBody>
          <a:bodyPr wrap="square" lIns="0" tIns="0" rIns="0" bIns="0" rtlCol="0" anchor="ctr"/>
          <a:lstStyle/>
          <a:p>
            <a:pPr marL="0" indent="0">
              <a:buNone/>
            </a:pPr>
            <a:r>
              <a:rPr lang="en-US" sz="1250" dirty="0">
                <a:solidFill>
                  <a:srgbClr val="FFFFFF"/>
                </a:solidFill>
              </a:rPr>
              <a:t>A number that is not in the facts</a:t>
            </a:r>
            <a:endParaRPr lang="en-US" sz="1250" dirty="0"/>
          </a:p>
        </p:txBody>
      </p:sp>
      <p:pic>
        <p:nvPicPr>
          <p:cNvPr id="33" name="Image 8" descr="Rejected"/>
          <p:cNvPicPr>
            <a:picLocks noChangeAspect="1"/>
          </p:cNvPicPr>
          <p:nvPr/>
        </p:nvPicPr>
        <p:blipFill>
          <a:blip r:embed="rId6"/>
          <a:stretch>
            <a:fillRect/>
          </a:stretch>
        </p:blipFill>
        <p:spPr>
          <a:xfrm>
            <a:off x="3520440" y="5440680"/>
            <a:ext cx="274320" cy="274320"/>
          </a:xfrm>
          <a:prstGeom prst="rect">
            <a:avLst/>
          </a:prstGeom>
        </p:spPr>
      </p:pic>
      <p:sp>
        <p:nvSpPr>
          <p:cNvPr id="34" name="Text 23"/>
          <p:cNvSpPr txBox="1"/>
          <p:nvPr/>
        </p:nvSpPr>
        <p:spPr>
          <a:xfrm>
            <a:off x="3886200" y="5349240"/>
            <a:ext cx="2148840" cy="502920"/>
          </a:xfrm>
          <a:prstGeom prst="rect">
            <a:avLst/>
          </a:prstGeom>
          <a:noFill/>
          <a:ln/>
        </p:spPr>
        <p:txBody>
          <a:bodyPr wrap="square" lIns="0" tIns="0" rIns="0" bIns="0" rtlCol="0" anchor="ctr"/>
          <a:lstStyle/>
          <a:p>
            <a:pPr marL="0" indent="0">
              <a:buNone/>
            </a:pPr>
            <a:r>
              <a:rPr lang="en-US" sz="1250" dirty="0">
                <a:solidFill>
                  <a:srgbClr val="FFFFFF"/>
                </a:solidFill>
              </a:rPr>
              <a:t>A diagnosis or a judgement of a value</a:t>
            </a:r>
            <a:endParaRPr lang="en-US" sz="1250" dirty="0"/>
          </a:p>
        </p:txBody>
      </p:sp>
      <p:pic>
        <p:nvPicPr>
          <p:cNvPr id="35" name="Image 9" descr="Rejected"/>
          <p:cNvPicPr>
            <a:picLocks noChangeAspect="1"/>
          </p:cNvPicPr>
          <p:nvPr/>
        </p:nvPicPr>
        <p:blipFill>
          <a:blip r:embed="rId6"/>
          <a:stretch>
            <a:fillRect/>
          </a:stretch>
        </p:blipFill>
        <p:spPr>
          <a:xfrm>
            <a:off x="6217920" y="5440680"/>
            <a:ext cx="274320" cy="274320"/>
          </a:xfrm>
          <a:prstGeom prst="rect">
            <a:avLst/>
          </a:prstGeom>
        </p:spPr>
      </p:pic>
      <p:sp>
        <p:nvSpPr>
          <p:cNvPr id="36" name="Text 24"/>
          <p:cNvSpPr txBox="1"/>
          <p:nvPr/>
        </p:nvSpPr>
        <p:spPr>
          <a:xfrm>
            <a:off x="6583680" y="5349240"/>
            <a:ext cx="2148840" cy="502920"/>
          </a:xfrm>
          <a:prstGeom prst="rect">
            <a:avLst/>
          </a:prstGeom>
          <a:noFill/>
          <a:ln/>
        </p:spPr>
        <p:txBody>
          <a:bodyPr wrap="square" lIns="0" tIns="0" rIns="0" bIns="0" rtlCol="0" anchor="ctr"/>
          <a:lstStyle/>
          <a:p>
            <a:pPr marL="0" indent="0">
              <a:buNone/>
            </a:pPr>
            <a:r>
              <a:rPr lang="en-US" sz="1250" dirty="0">
                <a:solidFill>
                  <a:srgbClr val="FFFFFF"/>
                </a:solidFill>
              </a:rPr>
              <a:t>Medication advice or a prediction</a:t>
            </a:r>
            <a:endParaRPr lang="en-US" sz="1250" dirty="0"/>
          </a:p>
        </p:txBody>
      </p:sp>
      <p:pic>
        <p:nvPicPr>
          <p:cNvPr id="37" name="Image 10" descr="Rejected"/>
          <p:cNvPicPr>
            <a:picLocks noChangeAspect="1"/>
          </p:cNvPicPr>
          <p:nvPr/>
        </p:nvPicPr>
        <p:blipFill>
          <a:blip r:embed="rId6"/>
          <a:stretch>
            <a:fillRect/>
          </a:stretch>
        </p:blipFill>
        <p:spPr>
          <a:xfrm>
            <a:off x="8915400" y="5440680"/>
            <a:ext cx="274320" cy="274320"/>
          </a:xfrm>
          <a:prstGeom prst="rect">
            <a:avLst/>
          </a:prstGeom>
        </p:spPr>
      </p:pic>
      <p:sp>
        <p:nvSpPr>
          <p:cNvPr id="38" name="Text 25"/>
          <p:cNvSpPr txBox="1"/>
          <p:nvPr/>
        </p:nvSpPr>
        <p:spPr>
          <a:xfrm>
            <a:off x="9281160" y="5349240"/>
            <a:ext cx="2148840" cy="502920"/>
          </a:xfrm>
          <a:prstGeom prst="rect">
            <a:avLst/>
          </a:prstGeom>
          <a:noFill/>
          <a:ln/>
        </p:spPr>
        <p:txBody>
          <a:bodyPr wrap="square" lIns="0" tIns="0" rIns="0" bIns="0" rtlCol="0" anchor="ctr"/>
          <a:lstStyle/>
          <a:p>
            <a:pPr marL="0" indent="0">
              <a:buNone/>
            </a:pPr>
            <a:r>
              <a:rPr lang="en-US" sz="1250" dirty="0">
                <a:solidFill>
                  <a:srgbClr val="FFFFFF"/>
                </a:solidFill>
              </a:rPr>
              <a:t>A claim to be a clinician</a:t>
            </a:r>
            <a:endParaRPr lang="en-US" sz="1250" dirty="0"/>
          </a:p>
        </p:txBody>
      </p:sp>
      <p:sp>
        <p:nvSpPr>
          <p:cNvPr id="39"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8"/>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47472"/>
            <a:ext cx="8229600" cy="256032"/>
          </a:xfrm>
          <a:prstGeom prst="rect">
            <a:avLst/>
          </a:prstGeom>
          <a:noFill/>
          <a:ln/>
        </p:spPr>
        <p:txBody>
          <a:bodyPr wrap="square" lIns="0" tIns="0" rIns="0" bIns="0" rtlCol="0" anchor="t"/>
          <a:lstStyle/>
          <a:p>
            <a:pPr marL="0" indent="0" algn="l">
              <a:buNone/>
            </a:pPr>
            <a:r>
              <a:rPr lang="en-US" sz="1100" b="1" kern="0" spc="200" dirty="0">
                <a:solidFill>
                  <a:srgbClr val="1547C8"/>
                </a:solidFill>
              </a:rPr>
              <a:t>03  ·  ARCHITECTURE</a:t>
            </a:r>
            <a:endParaRPr lang="en-US" sz="1100" dirty="0"/>
          </a:p>
        </p:txBody>
      </p:sp>
      <p:sp>
        <p:nvSpPr>
          <p:cNvPr id="3" name="Text 1"/>
          <p:cNvSpPr>
            <a:spLocks noGrp="1"/>
          </p:cNvSpPr>
          <p:nvPr>
            <p:ph type="title" idx="103" hasCustomPrompt="1"/>
          </p:nvPr>
        </p:nvSpPr>
        <p:spPr>
          <a:xfrm>
            <a:off x="548640" y="603504"/>
            <a:ext cx="11064240" cy="566928"/>
          </a:xfrm>
          <a:prstGeom prst="rect">
            <a:avLst/>
          </a:prstGeom>
          <a:noFill/>
          <a:ln/>
        </p:spPr>
        <p:txBody>
          <a:bodyPr wrap="square" lIns="0" tIns="0" rIns="0" bIns="0" rtlCol="0" anchor="t"/>
          <a:lstStyle/>
          <a:p>
            <a:pPr marL="0" indent="0" algn="l">
              <a:buNone/>
            </a:pPr>
            <a:r>
              <a:rPr lang="en-US" sz="3000" b="1" dirty="0">
                <a:solidFill>
                  <a:srgbClr val="1F2937"/>
                </a:solidFill>
              </a:rPr>
              <a:t>How one message moves through the desk</a:t>
            </a:r>
            <a:endParaRPr lang="en-US" sz="3000" dirty="0"/>
          </a:p>
        </p:txBody>
      </p:sp>
      <p:sp>
        <p:nvSpPr>
          <p:cNvPr id="4" name="Text 2"/>
          <p:cNvSpPr txBox="1"/>
          <p:nvPr/>
        </p:nvSpPr>
        <p:spPr>
          <a:xfrm>
            <a:off x="9921240" y="6382512"/>
            <a:ext cx="1097280" cy="219456"/>
          </a:xfrm>
          <a:prstGeom prst="rect">
            <a:avLst/>
          </a:prstGeom>
          <a:noFill/>
          <a:ln/>
        </p:spPr>
        <p:txBody>
          <a:bodyPr wrap="square" lIns="0" tIns="0" rIns="0" bIns="0" rtlCol="0" anchor="ctr"/>
          <a:lstStyle/>
          <a:p>
            <a:pPr marL="0" indent="0" algn="r">
              <a:buNone/>
            </a:pPr>
            <a:r>
              <a:rPr lang="en-US" sz="1000" u="sng" dirty="0">
                <a:solidFill>
                  <a:schemeClr val="tx1"/>
                </a:solidFill>
                <a:hlinkClick r:id="rId3" action="ppaction://hlinksldjump" tooltip="Back to the agenda">
                  <a:extLst>
                    <a:ext uri="{A12FA001-AC4F-418D-AE19-62706E023703}">
                      <ahyp:hlinkClr xmlns:ahyp="http://schemas.microsoft.com/office/drawing/2018/hyperlinkcolor" val="tx"/>
                    </a:ext>
                  </a:extLst>
                </a:hlinkClick>
              </a:rPr>
              <a:t>← Agenda</a:t>
            </a:r>
            <a:endParaRPr lang="en-US" sz="1000" dirty="0"/>
          </a:p>
        </p:txBody>
      </p:sp>
      <p:sp>
        <p:nvSpPr>
          <p:cNvPr id="5" name="Step card"/>
          <p:cNvSpPr/>
          <p:nvPr/>
        </p:nvSpPr>
        <p:spPr>
          <a:xfrm>
            <a:off x="548640" y="1417320"/>
            <a:ext cx="1645920" cy="1600200"/>
          </a:xfrm>
          <a:prstGeom prst="roundRect">
            <a:avLst>
              <a:gd name="adj" fmla="val 5714"/>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6" name="Shape 4"/>
          <p:cNvSpPr/>
          <p:nvPr/>
        </p:nvSpPr>
        <p:spPr>
          <a:xfrm>
            <a:off x="685800" y="1554480"/>
            <a:ext cx="384048" cy="384048"/>
          </a:xfrm>
          <a:prstGeom prst="ellipse">
            <a:avLst/>
          </a:prstGeom>
          <a:solidFill>
            <a:schemeClr val="accent1"/>
          </a:solidFill>
          <a:ln w="12700">
            <a:solidFill>
              <a:schemeClr val="accent1"/>
            </a:solidFill>
            <a:prstDash val="solid"/>
          </a:ln>
        </p:spPr>
      </p:sp>
      <p:sp>
        <p:nvSpPr>
          <p:cNvPr id="7" name="Text 5"/>
          <p:cNvSpPr txBox="1"/>
          <p:nvPr/>
        </p:nvSpPr>
        <p:spPr>
          <a:xfrm>
            <a:off x="685800" y="15544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8" name="Text 6"/>
          <p:cNvSpPr txBox="1"/>
          <p:nvPr/>
        </p:nvSpPr>
        <p:spPr>
          <a:xfrm>
            <a:off x="685800" y="2029968"/>
            <a:ext cx="1417320" cy="274320"/>
          </a:xfrm>
          <a:prstGeom prst="rect">
            <a:avLst/>
          </a:prstGeom>
          <a:noFill/>
          <a:ln/>
        </p:spPr>
        <p:txBody>
          <a:bodyPr wrap="square" lIns="0" tIns="0" rIns="0" bIns="0" rtlCol="0" anchor="t"/>
          <a:lstStyle/>
          <a:p>
            <a:pPr marL="0" indent="0">
              <a:buNone/>
            </a:pPr>
            <a:r>
              <a:rPr lang="en-US" sz="1300" b="1" dirty="0">
                <a:solidFill>
                  <a:schemeClr val="tx1"/>
                </a:solidFill>
              </a:rPr>
              <a:t>Consent check</a:t>
            </a:r>
            <a:endParaRPr lang="en-US" sz="1300" dirty="0"/>
          </a:p>
        </p:txBody>
      </p:sp>
      <p:sp>
        <p:nvSpPr>
          <p:cNvPr id="9" name="Text 7"/>
          <p:cNvSpPr txBox="1"/>
          <p:nvPr/>
        </p:nvSpPr>
        <p:spPr>
          <a:xfrm>
            <a:off x="685800" y="2331720"/>
            <a:ext cx="1417320" cy="594360"/>
          </a:xfrm>
          <a:prstGeom prst="rect">
            <a:avLst/>
          </a:prstGeom>
          <a:noFill/>
          <a:ln/>
        </p:spPr>
        <p:txBody>
          <a:bodyPr wrap="square" lIns="0" tIns="0" rIns="0" bIns="0" rtlCol="0" anchor="t"/>
          <a:lstStyle/>
          <a:p>
            <a:pPr marL="0" indent="0">
              <a:buNone/>
            </a:pPr>
            <a:r>
              <a:rPr lang="en-US" sz="1100" dirty="0">
                <a:solidFill>
                  <a:srgbClr val="5B6478"/>
                </a:solidFill>
              </a:rPr>
              <a:t>Active consent or stop</a:t>
            </a:r>
            <a:endParaRPr lang="en-US" sz="1100" dirty="0"/>
          </a:p>
        </p:txBody>
      </p:sp>
      <p:pic>
        <p:nvPicPr>
          <p:cNvPr id="10" name="Image 0" descr="Next step"/>
          <p:cNvPicPr>
            <a:picLocks noChangeAspect="1"/>
          </p:cNvPicPr>
          <p:nvPr/>
        </p:nvPicPr>
        <p:blipFill>
          <a:blip r:embed="rId4"/>
          <a:stretch>
            <a:fillRect/>
          </a:stretch>
        </p:blipFill>
        <p:spPr>
          <a:xfrm>
            <a:off x="2233879" y="2130552"/>
            <a:ext cx="164592" cy="164592"/>
          </a:xfrm>
          <a:prstGeom prst="rect">
            <a:avLst/>
          </a:prstGeom>
        </p:spPr>
      </p:pic>
      <p:sp>
        <p:nvSpPr>
          <p:cNvPr id="11" name="Step card"/>
          <p:cNvSpPr/>
          <p:nvPr/>
        </p:nvSpPr>
        <p:spPr>
          <a:xfrm>
            <a:off x="2437790" y="1417320"/>
            <a:ext cx="1645920" cy="1600200"/>
          </a:xfrm>
          <a:prstGeom prst="roundRect">
            <a:avLst>
              <a:gd name="adj" fmla="val 5714"/>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12" name="Shape 9"/>
          <p:cNvSpPr/>
          <p:nvPr/>
        </p:nvSpPr>
        <p:spPr>
          <a:xfrm>
            <a:off x="2574950" y="1554480"/>
            <a:ext cx="384048" cy="384048"/>
          </a:xfrm>
          <a:prstGeom prst="ellipse">
            <a:avLst/>
          </a:prstGeom>
          <a:solidFill>
            <a:schemeClr val="accent1"/>
          </a:solidFill>
          <a:ln w="12700">
            <a:solidFill>
              <a:schemeClr val="accent1"/>
            </a:solidFill>
            <a:prstDash val="solid"/>
          </a:ln>
        </p:spPr>
      </p:sp>
      <p:sp>
        <p:nvSpPr>
          <p:cNvPr id="13" name="Text 10"/>
          <p:cNvSpPr txBox="1"/>
          <p:nvPr/>
        </p:nvSpPr>
        <p:spPr>
          <a:xfrm>
            <a:off x="2574950" y="15544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4" name="Text 11"/>
          <p:cNvSpPr txBox="1"/>
          <p:nvPr/>
        </p:nvSpPr>
        <p:spPr>
          <a:xfrm>
            <a:off x="2574950" y="2029968"/>
            <a:ext cx="1417320" cy="274320"/>
          </a:xfrm>
          <a:prstGeom prst="rect">
            <a:avLst/>
          </a:prstGeom>
          <a:noFill/>
          <a:ln/>
        </p:spPr>
        <p:txBody>
          <a:bodyPr wrap="square" lIns="0" tIns="0" rIns="0" bIns="0" rtlCol="0" anchor="t"/>
          <a:lstStyle/>
          <a:p>
            <a:pPr marL="0" indent="0">
              <a:buNone/>
            </a:pPr>
            <a:r>
              <a:rPr lang="en-US" sz="1300" b="1" dirty="0">
                <a:solidFill>
                  <a:schemeClr val="tx1"/>
                </a:solidFill>
              </a:rPr>
              <a:t>Safety guard</a:t>
            </a:r>
            <a:endParaRPr lang="en-US" sz="1300" dirty="0"/>
          </a:p>
        </p:txBody>
      </p:sp>
      <p:sp>
        <p:nvSpPr>
          <p:cNvPr id="15" name="Text 12"/>
          <p:cNvSpPr txBox="1"/>
          <p:nvPr/>
        </p:nvSpPr>
        <p:spPr>
          <a:xfrm>
            <a:off x="2574950" y="2331720"/>
            <a:ext cx="1417320" cy="594360"/>
          </a:xfrm>
          <a:prstGeom prst="rect">
            <a:avLst/>
          </a:prstGeom>
          <a:noFill/>
          <a:ln/>
        </p:spPr>
        <p:txBody>
          <a:bodyPr wrap="square" lIns="0" tIns="0" rIns="0" bIns="0" rtlCol="0" anchor="t"/>
          <a:lstStyle/>
          <a:p>
            <a:pPr marL="0" indent="0">
              <a:buNone/>
            </a:pPr>
            <a:r>
              <a:rPr lang="en-US" sz="1100" dirty="0">
                <a:solidFill>
                  <a:srgbClr val="5B6478"/>
                </a:solidFill>
              </a:rPr>
              <a:t>Injection and medication rule</a:t>
            </a:r>
            <a:endParaRPr lang="en-US" sz="1100" dirty="0"/>
          </a:p>
        </p:txBody>
      </p:sp>
      <p:pic>
        <p:nvPicPr>
          <p:cNvPr id="16" name="Image 1" descr="Next step"/>
          <p:cNvPicPr>
            <a:picLocks noChangeAspect="1"/>
          </p:cNvPicPr>
          <p:nvPr/>
        </p:nvPicPr>
        <p:blipFill>
          <a:blip r:embed="rId4"/>
          <a:stretch>
            <a:fillRect/>
          </a:stretch>
        </p:blipFill>
        <p:spPr>
          <a:xfrm>
            <a:off x="4123030" y="2130552"/>
            <a:ext cx="164592" cy="164592"/>
          </a:xfrm>
          <a:prstGeom prst="rect">
            <a:avLst/>
          </a:prstGeom>
        </p:spPr>
      </p:pic>
      <p:sp>
        <p:nvSpPr>
          <p:cNvPr id="17" name="Step card"/>
          <p:cNvSpPr/>
          <p:nvPr/>
        </p:nvSpPr>
        <p:spPr>
          <a:xfrm>
            <a:off x="4326941" y="1417320"/>
            <a:ext cx="1645920" cy="1600200"/>
          </a:xfrm>
          <a:prstGeom prst="roundRect">
            <a:avLst>
              <a:gd name="adj" fmla="val 5714"/>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18" name="Shape 14"/>
          <p:cNvSpPr/>
          <p:nvPr/>
        </p:nvSpPr>
        <p:spPr>
          <a:xfrm>
            <a:off x="4464101" y="1554480"/>
            <a:ext cx="384048" cy="384048"/>
          </a:xfrm>
          <a:prstGeom prst="ellipse">
            <a:avLst/>
          </a:prstGeom>
          <a:solidFill>
            <a:schemeClr val="accent1"/>
          </a:solidFill>
          <a:ln w="12700">
            <a:solidFill>
              <a:schemeClr val="accent1"/>
            </a:solidFill>
            <a:prstDash val="solid"/>
          </a:ln>
        </p:spPr>
      </p:sp>
      <p:sp>
        <p:nvSpPr>
          <p:cNvPr id="19" name="Text 15"/>
          <p:cNvSpPr txBox="1"/>
          <p:nvPr/>
        </p:nvSpPr>
        <p:spPr>
          <a:xfrm>
            <a:off x="4464101" y="15544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20" name="Text 16"/>
          <p:cNvSpPr txBox="1"/>
          <p:nvPr/>
        </p:nvSpPr>
        <p:spPr>
          <a:xfrm>
            <a:off x="4464101" y="2029968"/>
            <a:ext cx="1417320" cy="274320"/>
          </a:xfrm>
          <a:prstGeom prst="rect">
            <a:avLst/>
          </a:prstGeom>
          <a:noFill/>
          <a:ln/>
        </p:spPr>
        <p:txBody>
          <a:bodyPr wrap="square" lIns="0" tIns="0" rIns="0" bIns="0" rtlCol="0" anchor="t"/>
          <a:lstStyle/>
          <a:p>
            <a:pPr marL="0" indent="0">
              <a:buNone/>
            </a:pPr>
            <a:r>
              <a:rPr lang="en-US" sz="1300" b="1" dirty="0">
                <a:solidFill>
                  <a:schemeClr val="tx1"/>
                </a:solidFill>
              </a:rPr>
              <a:t>Router</a:t>
            </a:r>
            <a:endParaRPr lang="en-US" sz="1300" dirty="0"/>
          </a:p>
        </p:txBody>
      </p:sp>
      <p:sp>
        <p:nvSpPr>
          <p:cNvPr id="21" name="Text 17"/>
          <p:cNvSpPr txBox="1"/>
          <p:nvPr/>
        </p:nvSpPr>
        <p:spPr>
          <a:xfrm>
            <a:off x="4464101" y="2331720"/>
            <a:ext cx="1417320" cy="594360"/>
          </a:xfrm>
          <a:prstGeom prst="rect">
            <a:avLst/>
          </a:prstGeom>
          <a:noFill/>
          <a:ln/>
        </p:spPr>
        <p:txBody>
          <a:bodyPr wrap="square" lIns="0" tIns="0" rIns="0" bIns="0" rtlCol="0" anchor="t"/>
          <a:lstStyle/>
          <a:p>
            <a:pPr marL="0" indent="0">
              <a:buNone/>
            </a:pPr>
            <a:r>
              <a:rPr lang="en-US" sz="1100" dirty="0">
                <a:solidFill>
                  <a:srgbClr val="5B6478"/>
                </a:solidFill>
              </a:rPr>
              <a:t>Education, readings, plan or staff</a:t>
            </a:r>
            <a:endParaRPr lang="en-US" sz="1100" dirty="0"/>
          </a:p>
        </p:txBody>
      </p:sp>
      <p:pic>
        <p:nvPicPr>
          <p:cNvPr id="22" name="Image 2" descr="Next step"/>
          <p:cNvPicPr>
            <a:picLocks noChangeAspect="1"/>
          </p:cNvPicPr>
          <p:nvPr/>
        </p:nvPicPr>
        <p:blipFill>
          <a:blip r:embed="rId4"/>
          <a:stretch>
            <a:fillRect/>
          </a:stretch>
        </p:blipFill>
        <p:spPr>
          <a:xfrm>
            <a:off x="6012180" y="2130552"/>
            <a:ext cx="164592" cy="164592"/>
          </a:xfrm>
          <a:prstGeom prst="rect">
            <a:avLst/>
          </a:prstGeom>
        </p:spPr>
      </p:pic>
      <p:sp>
        <p:nvSpPr>
          <p:cNvPr id="23" name="Step card"/>
          <p:cNvSpPr/>
          <p:nvPr/>
        </p:nvSpPr>
        <p:spPr>
          <a:xfrm>
            <a:off x="6216091" y="1417320"/>
            <a:ext cx="1645920" cy="1600200"/>
          </a:xfrm>
          <a:prstGeom prst="roundRect">
            <a:avLst>
              <a:gd name="adj" fmla="val 5714"/>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24" name="Shape 19"/>
          <p:cNvSpPr/>
          <p:nvPr/>
        </p:nvSpPr>
        <p:spPr>
          <a:xfrm>
            <a:off x="6353251" y="1554480"/>
            <a:ext cx="384048" cy="384048"/>
          </a:xfrm>
          <a:prstGeom prst="ellipse">
            <a:avLst/>
          </a:prstGeom>
          <a:solidFill>
            <a:schemeClr val="accent1"/>
          </a:solidFill>
          <a:ln w="12700">
            <a:solidFill>
              <a:schemeClr val="accent1"/>
            </a:solidFill>
            <a:prstDash val="solid"/>
          </a:ln>
        </p:spPr>
      </p:sp>
      <p:sp>
        <p:nvSpPr>
          <p:cNvPr id="25" name="Text 20"/>
          <p:cNvSpPr txBox="1"/>
          <p:nvPr/>
        </p:nvSpPr>
        <p:spPr>
          <a:xfrm>
            <a:off x="6353251" y="15544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26" name="Text 21"/>
          <p:cNvSpPr txBox="1"/>
          <p:nvPr/>
        </p:nvSpPr>
        <p:spPr>
          <a:xfrm>
            <a:off x="6353251" y="2029968"/>
            <a:ext cx="1417320" cy="274320"/>
          </a:xfrm>
          <a:prstGeom prst="rect">
            <a:avLst/>
          </a:prstGeom>
          <a:noFill/>
          <a:ln/>
        </p:spPr>
        <p:txBody>
          <a:bodyPr wrap="square" lIns="0" tIns="0" rIns="0" bIns="0" rtlCol="0" anchor="t"/>
          <a:lstStyle/>
          <a:p>
            <a:pPr marL="0" indent="0">
              <a:buNone/>
            </a:pPr>
            <a:r>
              <a:rPr lang="en-US" sz="1300" b="1" dirty="0">
                <a:solidFill>
                  <a:schemeClr val="tx1"/>
                </a:solidFill>
              </a:rPr>
              <a:t>Facts and rules</a:t>
            </a:r>
            <a:endParaRPr lang="en-US" sz="1300" dirty="0"/>
          </a:p>
        </p:txBody>
      </p:sp>
      <p:sp>
        <p:nvSpPr>
          <p:cNvPr id="27" name="Text 22"/>
          <p:cNvSpPr txBox="1"/>
          <p:nvPr/>
        </p:nvSpPr>
        <p:spPr>
          <a:xfrm>
            <a:off x="6353251" y="2331720"/>
            <a:ext cx="1417320" cy="594360"/>
          </a:xfrm>
          <a:prstGeom prst="rect">
            <a:avLst/>
          </a:prstGeom>
          <a:noFill/>
          <a:ln/>
        </p:spPr>
        <p:txBody>
          <a:bodyPr wrap="square" lIns="0" tIns="0" rIns="0" bIns="0" rtlCol="0" anchor="t"/>
          <a:lstStyle/>
          <a:p>
            <a:pPr marL="0" indent="0">
              <a:buNone/>
            </a:pPr>
            <a:r>
              <a:rPr lang="en-US" sz="1100" dirty="0">
                <a:solidFill>
                  <a:srgbClr val="5B6478"/>
                </a:solidFill>
              </a:rPr>
              <a:t>Code reads data, applies ER-502 and ER-504</a:t>
            </a:r>
            <a:endParaRPr lang="en-US" sz="1100" dirty="0"/>
          </a:p>
        </p:txBody>
      </p:sp>
      <p:pic>
        <p:nvPicPr>
          <p:cNvPr id="28" name="Image 3" descr="Next step"/>
          <p:cNvPicPr>
            <a:picLocks noChangeAspect="1"/>
          </p:cNvPicPr>
          <p:nvPr/>
        </p:nvPicPr>
        <p:blipFill>
          <a:blip r:embed="rId4"/>
          <a:stretch>
            <a:fillRect/>
          </a:stretch>
        </p:blipFill>
        <p:spPr>
          <a:xfrm>
            <a:off x="7901330" y="2130552"/>
            <a:ext cx="164592" cy="164592"/>
          </a:xfrm>
          <a:prstGeom prst="rect">
            <a:avLst/>
          </a:prstGeom>
        </p:spPr>
      </p:pic>
      <p:sp>
        <p:nvSpPr>
          <p:cNvPr id="29" name="Step card"/>
          <p:cNvSpPr/>
          <p:nvPr/>
        </p:nvSpPr>
        <p:spPr>
          <a:xfrm>
            <a:off x="8105242" y="1417320"/>
            <a:ext cx="1645920" cy="1600200"/>
          </a:xfrm>
          <a:prstGeom prst="roundRect">
            <a:avLst>
              <a:gd name="adj" fmla="val 5714"/>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30" name="Shape 24"/>
          <p:cNvSpPr/>
          <p:nvPr/>
        </p:nvSpPr>
        <p:spPr>
          <a:xfrm>
            <a:off x="8242402" y="1554480"/>
            <a:ext cx="384048" cy="384048"/>
          </a:xfrm>
          <a:prstGeom prst="ellipse">
            <a:avLst/>
          </a:prstGeom>
          <a:solidFill>
            <a:schemeClr val="accent1"/>
          </a:solidFill>
          <a:ln w="12700">
            <a:solidFill>
              <a:schemeClr val="accent1"/>
            </a:solidFill>
            <a:prstDash val="solid"/>
          </a:ln>
        </p:spPr>
      </p:sp>
      <p:sp>
        <p:nvSpPr>
          <p:cNvPr id="31" name="Text 25"/>
          <p:cNvSpPr txBox="1"/>
          <p:nvPr/>
        </p:nvSpPr>
        <p:spPr>
          <a:xfrm>
            <a:off x="8242402" y="15544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32" name="Text 26"/>
          <p:cNvSpPr txBox="1"/>
          <p:nvPr/>
        </p:nvSpPr>
        <p:spPr>
          <a:xfrm>
            <a:off x="8242402" y="2029968"/>
            <a:ext cx="1417320" cy="274320"/>
          </a:xfrm>
          <a:prstGeom prst="rect">
            <a:avLst/>
          </a:prstGeom>
          <a:noFill/>
          <a:ln/>
        </p:spPr>
        <p:txBody>
          <a:bodyPr wrap="square" lIns="0" tIns="0" rIns="0" bIns="0" rtlCol="0" anchor="t"/>
          <a:lstStyle/>
          <a:p>
            <a:pPr marL="0" indent="0">
              <a:buNone/>
            </a:pPr>
            <a:r>
              <a:rPr lang="en-US" sz="1300" b="1" dirty="0">
                <a:solidFill>
                  <a:schemeClr val="tx1"/>
                </a:solidFill>
              </a:rPr>
              <a:t>Specialist agent</a:t>
            </a:r>
            <a:endParaRPr lang="en-US" sz="1300" dirty="0"/>
          </a:p>
        </p:txBody>
      </p:sp>
      <p:sp>
        <p:nvSpPr>
          <p:cNvPr id="33" name="Text 27"/>
          <p:cNvSpPr txBox="1"/>
          <p:nvPr/>
        </p:nvSpPr>
        <p:spPr>
          <a:xfrm>
            <a:off x="8242402" y="2331720"/>
            <a:ext cx="1417320" cy="594360"/>
          </a:xfrm>
          <a:prstGeom prst="rect">
            <a:avLst/>
          </a:prstGeom>
          <a:noFill/>
          <a:ln/>
        </p:spPr>
        <p:txBody>
          <a:bodyPr wrap="square" lIns="0" tIns="0" rIns="0" bIns="0" rtlCol="0" anchor="t"/>
          <a:lstStyle/>
          <a:p>
            <a:pPr marL="0" indent="0">
              <a:buNone/>
            </a:pPr>
            <a:r>
              <a:rPr lang="en-US" sz="1100" dirty="0">
                <a:solidFill>
                  <a:srgbClr val="5B6478"/>
                </a:solidFill>
              </a:rPr>
              <a:t>Words the answer from the facts</a:t>
            </a:r>
            <a:endParaRPr lang="en-US" sz="1100" dirty="0"/>
          </a:p>
        </p:txBody>
      </p:sp>
      <p:pic>
        <p:nvPicPr>
          <p:cNvPr id="34" name="Image 4" descr="Next step"/>
          <p:cNvPicPr>
            <a:picLocks noChangeAspect="1"/>
          </p:cNvPicPr>
          <p:nvPr/>
        </p:nvPicPr>
        <p:blipFill>
          <a:blip r:embed="rId4"/>
          <a:stretch>
            <a:fillRect/>
          </a:stretch>
        </p:blipFill>
        <p:spPr>
          <a:xfrm>
            <a:off x="9790481" y="2130552"/>
            <a:ext cx="164592" cy="164592"/>
          </a:xfrm>
          <a:prstGeom prst="rect">
            <a:avLst/>
          </a:prstGeom>
        </p:spPr>
      </p:pic>
      <p:sp>
        <p:nvSpPr>
          <p:cNvPr id="35" name="Step card"/>
          <p:cNvSpPr/>
          <p:nvPr/>
        </p:nvSpPr>
        <p:spPr>
          <a:xfrm>
            <a:off x="9994392" y="1417320"/>
            <a:ext cx="1645920" cy="1600200"/>
          </a:xfrm>
          <a:prstGeom prst="roundRect">
            <a:avLst>
              <a:gd name="adj" fmla="val 5714"/>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36" name="Shape 29"/>
          <p:cNvSpPr/>
          <p:nvPr/>
        </p:nvSpPr>
        <p:spPr>
          <a:xfrm>
            <a:off x="10131552" y="1554480"/>
            <a:ext cx="384048" cy="384048"/>
          </a:xfrm>
          <a:prstGeom prst="ellipse">
            <a:avLst/>
          </a:prstGeom>
          <a:solidFill>
            <a:schemeClr val="accent1"/>
          </a:solidFill>
          <a:ln w="12700">
            <a:solidFill>
              <a:schemeClr val="accent1"/>
            </a:solidFill>
            <a:prstDash val="solid"/>
          </a:ln>
        </p:spPr>
      </p:sp>
      <p:sp>
        <p:nvSpPr>
          <p:cNvPr id="37" name="Text 30"/>
          <p:cNvSpPr txBox="1"/>
          <p:nvPr/>
        </p:nvSpPr>
        <p:spPr>
          <a:xfrm>
            <a:off x="10131552" y="15544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6</a:t>
            </a:r>
            <a:endParaRPr lang="en-US" sz="1300" dirty="0"/>
          </a:p>
        </p:txBody>
      </p:sp>
      <p:sp>
        <p:nvSpPr>
          <p:cNvPr id="38" name="Text 31"/>
          <p:cNvSpPr txBox="1"/>
          <p:nvPr/>
        </p:nvSpPr>
        <p:spPr>
          <a:xfrm>
            <a:off x="10131552" y="2029968"/>
            <a:ext cx="1417320" cy="274320"/>
          </a:xfrm>
          <a:prstGeom prst="rect">
            <a:avLst/>
          </a:prstGeom>
          <a:noFill/>
          <a:ln/>
        </p:spPr>
        <p:txBody>
          <a:bodyPr wrap="square" lIns="0" tIns="0" rIns="0" bIns="0" rtlCol="0" anchor="t"/>
          <a:lstStyle/>
          <a:p>
            <a:pPr marL="0" indent="0">
              <a:buNone/>
            </a:pPr>
            <a:r>
              <a:rPr lang="en-US" sz="1300" b="1" dirty="0">
                <a:solidFill>
                  <a:schemeClr val="tx1"/>
                </a:solidFill>
              </a:rPr>
              <a:t>Outputs</a:t>
            </a:r>
            <a:endParaRPr lang="en-US" sz="1300" dirty="0"/>
          </a:p>
        </p:txBody>
      </p:sp>
      <p:sp>
        <p:nvSpPr>
          <p:cNvPr id="39" name="Text 32"/>
          <p:cNvSpPr txBox="1"/>
          <p:nvPr/>
        </p:nvSpPr>
        <p:spPr>
          <a:xfrm>
            <a:off x="10131552" y="2331720"/>
            <a:ext cx="1417320" cy="594360"/>
          </a:xfrm>
          <a:prstGeom prst="rect">
            <a:avLst/>
          </a:prstGeom>
          <a:noFill/>
          <a:ln/>
        </p:spPr>
        <p:txBody>
          <a:bodyPr wrap="square" lIns="0" tIns="0" rIns="0" bIns="0" rtlCol="0" anchor="t"/>
          <a:lstStyle/>
          <a:p>
            <a:pPr marL="0" indent="0">
              <a:buNone/>
            </a:pPr>
            <a:r>
              <a:rPr lang="en-US" sz="1100" dirty="0">
                <a:solidFill>
                  <a:srgbClr val="5B6478"/>
                </a:solidFill>
              </a:rPr>
              <a:t>Member view, staff packet, audit</a:t>
            </a:r>
            <a:endParaRPr lang="en-US" sz="1100" dirty="0"/>
          </a:p>
        </p:txBody>
      </p:sp>
      <p:sp>
        <p:nvSpPr>
          <p:cNvPr id="40" name="Checkpoint tag"/>
          <p:cNvSpPr/>
          <p:nvPr/>
        </p:nvSpPr>
        <p:spPr>
          <a:xfrm>
            <a:off x="548640" y="3154680"/>
            <a:ext cx="1645920" cy="502920"/>
          </a:xfrm>
          <a:prstGeom prst="roundRect">
            <a:avLst>
              <a:gd name="adj" fmla="val 18182"/>
            </a:avLst>
          </a:prstGeom>
          <a:solidFill>
            <a:srgbClr val="E5484D"/>
          </a:solidFill>
          <a:ln w="12700">
            <a:solidFill>
              <a:srgbClr val="E5484D"/>
            </a:solidFill>
            <a:prstDash val="solid"/>
          </a:ln>
        </p:spPr>
      </p:sp>
      <p:sp>
        <p:nvSpPr>
          <p:cNvPr id="41" name="Text 34"/>
          <p:cNvSpPr txBox="1"/>
          <p:nvPr/>
        </p:nvSpPr>
        <p:spPr>
          <a:xfrm>
            <a:off x="621792" y="3154680"/>
            <a:ext cx="1499616" cy="502920"/>
          </a:xfrm>
          <a:prstGeom prst="rect">
            <a:avLst/>
          </a:prstGeom>
          <a:noFill/>
          <a:ln/>
        </p:spPr>
        <p:txBody>
          <a:bodyPr wrap="square" lIns="0" tIns="0" rIns="0" bIns="0" rtlCol="0" anchor="ctr"/>
          <a:lstStyle/>
          <a:p>
            <a:pPr marL="0" indent="0" algn="ctr">
              <a:buNone/>
            </a:pPr>
            <a:r>
              <a:rPr lang="en-US" sz="1000" b="1" dirty="0">
                <a:solidFill>
                  <a:srgbClr val="FFFFFF"/>
                </a:solidFill>
              </a:rPr>
              <a:t>STOP → staff</a:t>
            </a:r>
            <a:endParaRPr lang="en-US" sz="1000" dirty="0"/>
          </a:p>
          <a:p>
            <a:pPr marL="0" indent="0" algn="ctr">
              <a:buNone/>
            </a:pPr>
            <a:r>
              <a:rPr lang="en-US" sz="1000" b="1" dirty="0">
                <a:solidFill>
                  <a:srgbClr val="FFFFFF"/>
                </a:solidFill>
              </a:rPr>
              <a:t>ER-501</a:t>
            </a:r>
            <a:endParaRPr lang="en-US" sz="1000" dirty="0"/>
          </a:p>
        </p:txBody>
      </p:sp>
      <p:sp>
        <p:nvSpPr>
          <p:cNvPr id="42" name="Checkpoint tag"/>
          <p:cNvSpPr/>
          <p:nvPr/>
        </p:nvSpPr>
        <p:spPr>
          <a:xfrm>
            <a:off x="2437790" y="3154680"/>
            <a:ext cx="1645920" cy="502920"/>
          </a:xfrm>
          <a:prstGeom prst="roundRect">
            <a:avLst>
              <a:gd name="adj" fmla="val 18182"/>
            </a:avLst>
          </a:prstGeom>
          <a:solidFill>
            <a:srgbClr val="E5484D"/>
          </a:solidFill>
          <a:ln w="12700">
            <a:solidFill>
              <a:srgbClr val="E5484D"/>
            </a:solidFill>
            <a:prstDash val="solid"/>
          </a:ln>
        </p:spPr>
      </p:sp>
      <p:sp>
        <p:nvSpPr>
          <p:cNvPr id="43" name="Text 36"/>
          <p:cNvSpPr txBox="1"/>
          <p:nvPr/>
        </p:nvSpPr>
        <p:spPr>
          <a:xfrm>
            <a:off x="2510942" y="3154680"/>
            <a:ext cx="1499616" cy="502920"/>
          </a:xfrm>
          <a:prstGeom prst="rect">
            <a:avLst/>
          </a:prstGeom>
          <a:noFill/>
          <a:ln/>
        </p:spPr>
        <p:txBody>
          <a:bodyPr wrap="square" lIns="0" tIns="0" rIns="0" bIns="0" rtlCol="0" anchor="ctr"/>
          <a:lstStyle/>
          <a:p>
            <a:pPr marL="0" indent="0" algn="ctr">
              <a:buNone/>
            </a:pPr>
            <a:r>
              <a:rPr lang="en-US" sz="1000" b="1" dirty="0">
                <a:solidFill>
                  <a:srgbClr val="FFFFFF"/>
                </a:solidFill>
              </a:rPr>
              <a:t>DECLINE → clinician</a:t>
            </a:r>
            <a:endParaRPr lang="en-US" sz="1000" dirty="0"/>
          </a:p>
          <a:p>
            <a:pPr marL="0" indent="0" algn="ctr">
              <a:buNone/>
            </a:pPr>
            <a:r>
              <a:rPr lang="en-US" sz="1000" b="1" dirty="0">
                <a:solidFill>
                  <a:srgbClr val="FFFFFF"/>
                </a:solidFill>
              </a:rPr>
              <a:t>ER-503</a:t>
            </a:r>
            <a:endParaRPr lang="en-US" sz="1000" dirty="0"/>
          </a:p>
        </p:txBody>
      </p:sp>
      <p:sp>
        <p:nvSpPr>
          <p:cNvPr id="44" name="Checkpoint tag"/>
          <p:cNvSpPr/>
          <p:nvPr/>
        </p:nvSpPr>
        <p:spPr>
          <a:xfrm>
            <a:off x="6216091" y="3154680"/>
            <a:ext cx="1645920" cy="502920"/>
          </a:xfrm>
          <a:prstGeom prst="roundRect">
            <a:avLst>
              <a:gd name="adj" fmla="val 18182"/>
            </a:avLst>
          </a:prstGeom>
          <a:solidFill>
            <a:srgbClr val="F5A524"/>
          </a:solidFill>
          <a:ln w="12700">
            <a:solidFill>
              <a:srgbClr val="F5A524"/>
            </a:solidFill>
            <a:prstDash val="solid"/>
          </a:ln>
        </p:spPr>
      </p:sp>
      <p:sp>
        <p:nvSpPr>
          <p:cNvPr id="45" name="Text 38"/>
          <p:cNvSpPr txBox="1"/>
          <p:nvPr/>
        </p:nvSpPr>
        <p:spPr>
          <a:xfrm>
            <a:off x="6289243" y="3154680"/>
            <a:ext cx="1499616" cy="502920"/>
          </a:xfrm>
          <a:prstGeom prst="rect">
            <a:avLst/>
          </a:prstGeom>
          <a:noFill/>
          <a:ln/>
        </p:spPr>
        <p:txBody>
          <a:bodyPr wrap="square" lIns="0" tIns="0" rIns="0" bIns="0" rtlCol="0" anchor="ctr"/>
          <a:lstStyle/>
          <a:p>
            <a:pPr marL="0" indent="0" algn="ctr">
              <a:buNone/>
            </a:pPr>
            <a:r>
              <a:rPr lang="en-US" sz="1000" b="1" dirty="0">
                <a:solidFill>
                  <a:srgbClr val="1F2937"/>
                </a:solidFill>
              </a:rPr>
              <a:t>→ STAFF QUEUE</a:t>
            </a:r>
            <a:endParaRPr lang="en-US" sz="1000" dirty="0"/>
          </a:p>
          <a:p>
            <a:pPr marL="0" indent="0" algn="ctr">
              <a:buNone/>
            </a:pPr>
            <a:r>
              <a:rPr lang="en-US" sz="1000" b="1" dirty="0">
                <a:solidFill>
                  <a:srgbClr val="1F2937"/>
                </a:solidFill>
              </a:rPr>
              <a:t>ER-502, ER-504</a:t>
            </a:r>
            <a:endParaRPr lang="en-US" sz="1000" dirty="0"/>
          </a:p>
        </p:txBody>
      </p:sp>
      <p:sp>
        <p:nvSpPr>
          <p:cNvPr id="46" name="Checkpoint tag"/>
          <p:cNvSpPr/>
          <p:nvPr/>
        </p:nvSpPr>
        <p:spPr>
          <a:xfrm>
            <a:off x="9994392" y="3154680"/>
            <a:ext cx="1645920" cy="502920"/>
          </a:xfrm>
          <a:prstGeom prst="roundRect">
            <a:avLst>
              <a:gd name="adj" fmla="val 18182"/>
            </a:avLst>
          </a:prstGeom>
          <a:solidFill>
            <a:srgbClr val="12A36B"/>
          </a:solidFill>
          <a:ln w="12700">
            <a:solidFill>
              <a:srgbClr val="12A36B"/>
            </a:solidFill>
            <a:prstDash val="solid"/>
          </a:ln>
        </p:spPr>
      </p:sp>
      <p:sp>
        <p:nvSpPr>
          <p:cNvPr id="47" name="Text 40"/>
          <p:cNvSpPr txBox="1"/>
          <p:nvPr/>
        </p:nvSpPr>
        <p:spPr>
          <a:xfrm>
            <a:off x="10067544" y="3154680"/>
            <a:ext cx="1499616" cy="502920"/>
          </a:xfrm>
          <a:prstGeom prst="rect">
            <a:avLst/>
          </a:prstGeom>
          <a:noFill/>
          <a:ln/>
        </p:spPr>
        <p:txBody>
          <a:bodyPr wrap="square" lIns="0" tIns="0" rIns="0" bIns="0" rtlCol="0" anchor="ctr"/>
          <a:lstStyle/>
          <a:p>
            <a:pPr marL="0" indent="0" algn="ctr">
              <a:buNone/>
            </a:pPr>
            <a:r>
              <a:rPr lang="en-US" sz="1000" b="1" dirty="0">
                <a:solidFill>
                  <a:srgbClr val="FFFFFF"/>
                </a:solidFill>
              </a:rPr>
              <a:t>SEPARATE VIEWS</a:t>
            </a:r>
            <a:endParaRPr lang="en-US" sz="1000" dirty="0"/>
          </a:p>
        </p:txBody>
      </p:sp>
      <p:sp>
        <p:nvSpPr>
          <p:cNvPr id="48" name="Text 41"/>
          <p:cNvSpPr txBox="1"/>
          <p:nvPr/>
        </p:nvSpPr>
        <p:spPr>
          <a:xfrm>
            <a:off x="548640" y="3886200"/>
            <a:ext cx="7315200" cy="274320"/>
          </a:xfrm>
          <a:prstGeom prst="rect">
            <a:avLst/>
          </a:prstGeom>
          <a:noFill/>
          <a:ln/>
        </p:spPr>
        <p:txBody>
          <a:bodyPr wrap="square" lIns="0" tIns="0" rIns="0" bIns="0" rtlCol="0" anchor="t"/>
          <a:lstStyle/>
          <a:p>
            <a:pPr marL="0" indent="0">
              <a:buNone/>
            </a:pPr>
            <a:r>
              <a:rPr lang="en-US" sz="1400" b="1" dirty="0">
                <a:solidFill>
                  <a:srgbClr val="5B6478"/>
                </a:solidFill>
              </a:rPr>
              <a:t>Every case produces three separate outputs</a:t>
            </a:r>
            <a:endParaRPr lang="en-US" sz="1400" dirty="0"/>
          </a:p>
        </p:txBody>
      </p:sp>
      <p:sp>
        <p:nvSpPr>
          <p:cNvPr id="49" name="Output card"/>
          <p:cNvSpPr/>
          <p:nvPr/>
        </p:nvSpPr>
        <p:spPr>
          <a:xfrm>
            <a:off x="548640" y="4251960"/>
            <a:ext cx="3566160" cy="1828800"/>
          </a:xfrm>
          <a:prstGeom prst="roundRect">
            <a:avLst>
              <a:gd name="adj" fmla="val 5000"/>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50" name="IconCircle"/>
          <p:cNvSpPr/>
          <p:nvPr/>
        </p:nvSpPr>
        <p:spPr>
          <a:xfrm>
            <a:off x="777240" y="4462272"/>
            <a:ext cx="502920" cy="502920"/>
          </a:xfrm>
          <a:prstGeom prst="ellipse">
            <a:avLst/>
          </a:prstGeom>
          <a:solidFill>
            <a:srgbClr val="1547C8"/>
          </a:solidFill>
          <a:ln w="12700">
            <a:solidFill>
              <a:srgbClr val="1547C8"/>
            </a:solidFill>
            <a:prstDash val="solid"/>
          </a:ln>
        </p:spPr>
      </p:sp>
      <p:pic>
        <p:nvPicPr>
          <p:cNvPr id="51" name="Image 5" descr="UserMd icon"/>
          <p:cNvPicPr>
            <a:picLocks noChangeAspect="1"/>
          </p:cNvPicPr>
          <p:nvPr/>
        </p:nvPicPr>
        <p:blipFill>
          <a:blip r:embed="rId5"/>
          <a:stretch>
            <a:fillRect/>
          </a:stretch>
        </p:blipFill>
        <p:spPr>
          <a:xfrm>
            <a:off x="902970" y="4588002"/>
            <a:ext cx="251460" cy="251460"/>
          </a:xfrm>
          <a:prstGeom prst="rect">
            <a:avLst/>
          </a:prstGeom>
        </p:spPr>
      </p:pic>
      <p:sp>
        <p:nvSpPr>
          <p:cNvPr id="52" name="Text 44"/>
          <p:cNvSpPr txBox="1"/>
          <p:nvPr/>
        </p:nvSpPr>
        <p:spPr>
          <a:xfrm>
            <a:off x="1463040" y="4462272"/>
            <a:ext cx="2468880" cy="502920"/>
          </a:xfrm>
          <a:prstGeom prst="rect">
            <a:avLst/>
          </a:prstGeom>
          <a:noFill/>
          <a:ln/>
        </p:spPr>
        <p:txBody>
          <a:bodyPr wrap="square" lIns="0" tIns="0" rIns="0" bIns="0" rtlCol="0" anchor="ctr"/>
          <a:lstStyle/>
          <a:p>
            <a:pPr marL="0" indent="0">
              <a:buNone/>
            </a:pPr>
            <a:r>
              <a:rPr lang="en-US" sz="1500" b="1" dirty="0">
                <a:solidFill>
                  <a:schemeClr val="tx1"/>
                </a:solidFill>
              </a:rPr>
              <a:t>Member view</a:t>
            </a:r>
            <a:endParaRPr lang="en-US" sz="1500" dirty="0"/>
          </a:p>
        </p:txBody>
      </p:sp>
      <p:sp>
        <p:nvSpPr>
          <p:cNvPr id="53" name="Text 45"/>
          <p:cNvSpPr txBox="1"/>
          <p:nvPr/>
        </p:nvSpPr>
        <p:spPr>
          <a:xfrm>
            <a:off x="777240" y="5138928"/>
            <a:ext cx="3108960" cy="868680"/>
          </a:xfrm>
          <a:prstGeom prst="rect">
            <a:avLst/>
          </a:prstGeom>
          <a:noFill/>
          <a:ln/>
        </p:spPr>
        <p:txBody>
          <a:bodyPr wrap="square" lIns="0" tIns="0" rIns="0" bIns="0" rtlCol="0" anchor="t"/>
          <a:lstStyle/>
          <a:p>
            <a:pPr marL="0" indent="0">
              <a:buNone/>
            </a:pPr>
            <a:r>
              <a:rPr lang="en-US" sz="1200" dirty="0">
                <a:solidFill>
                  <a:srgbClr val="5B6478"/>
                </a:solidFill>
              </a:rPr>
              <a:t>Plain-language answer, due plan items, source IDs, the disclaimer and next-step guidance.</a:t>
            </a:r>
            <a:endParaRPr lang="en-US" sz="1200" dirty="0"/>
          </a:p>
        </p:txBody>
      </p:sp>
      <p:sp>
        <p:nvSpPr>
          <p:cNvPr id="54" name="Output card"/>
          <p:cNvSpPr/>
          <p:nvPr/>
        </p:nvSpPr>
        <p:spPr>
          <a:xfrm>
            <a:off x="4311396" y="4251960"/>
            <a:ext cx="3566160" cy="1828800"/>
          </a:xfrm>
          <a:prstGeom prst="roundRect">
            <a:avLst>
              <a:gd name="adj" fmla="val 5000"/>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55" name="IconCircle"/>
          <p:cNvSpPr/>
          <p:nvPr/>
        </p:nvSpPr>
        <p:spPr>
          <a:xfrm>
            <a:off x="4539996" y="4462272"/>
            <a:ext cx="502920" cy="502920"/>
          </a:xfrm>
          <a:prstGeom prst="ellipse">
            <a:avLst/>
          </a:prstGeom>
          <a:solidFill>
            <a:srgbClr val="0A1F5C"/>
          </a:solidFill>
          <a:ln w="12700">
            <a:solidFill>
              <a:srgbClr val="0A1F5C"/>
            </a:solidFill>
            <a:prstDash val="solid"/>
          </a:ln>
        </p:spPr>
      </p:sp>
      <p:pic>
        <p:nvPicPr>
          <p:cNvPr id="56" name="Image 6" descr="ClipboardList icon"/>
          <p:cNvPicPr>
            <a:picLocks noChangeAspect="1"/>
          </p:cNvPicPr>
          <p:nvPr/>
        </p:nvPicPr>
        <p:blipFill>
          <a:blip r:embed="rId6"/>
          <a:stretch>
            <a:fillRect/>
          </a:stretch>
        </p:blipFill>
        <p:spPr>
          <a:xfrm>
            <a:off x="4665726" y="4588002"/>
            <a:ext cx="251460" cy="251460"/>
          </a:xfrm>
          <a:prstGeom prst="rect">
            <a:avLst/>
          </a:prstGeom>
        </p:spPr>
      </p:pic>
      <p:sp>
        <p:nvSpPr>
          <p:cNvPr id="57" name="Text 48"/>
          <p:cNvSpPr txBox="1"/>
          <p:nvPr/>
        </p:nvSpPr>
        <p:spPr>
          <a:xfrm>
            <a:off x="5225796" y="4462272"/>
            <a:ext cx="2468880" cy="502920"/>
          </a:xfrm>
          <a:prstGeom prst="rect">
            <a:avLst/>
          </a:prstGeom>
          <a:noFill/>
          <a:ln/>
        </p:spPr>
        <p:txBody>
          <a:bodyPr wrap="square" lIns="0" tIns="0" rIns="0" bIns="0" rtlCol="0" anchor="ctr"/>
          <a:lstStyle/>
          <a:p>
            <a:pPr marL="0" indent="0">
              <a:buNone/>
            </a:pPr>
            <a:r>
              <a:rPr lang="en-US" sz="1500" b="1" dirty="0">
                <a:solidFill>
                  <a:schemeClr val="tx1"/>
                </a:solidFill>
              </a:rPr>
              <a:t>Staff packet</a:t>
            </a:r>
            <a:endParaRPr lang="en-US" sz="1500" dirty="0"/>
          </a:p>
        </p:txBody>
      </p:sp>
      <p:sp>
        <p:nvSpPr>
          <p:cNvPr id="58" name="Text 49"/>
          <p:cNvSpPr txBox="1"/>
          <p:nvPr/>
        </p:nvSpPr>
        <p:spPr>
          <a:xfrm>
            <a:off x="4539996" y="5138928"/>
            <a:ext cx="3108960" cy="868680"/>
          </a:xfrm>
          <a:prstGeom prst="rect">
            <a:avLst/>
          </a:prstGeom>
          <a:noFill/>
          <a:ln/>
        </p:spPr>
        <p:txBody>
          <a:bodyPr wrap="square" lIns="0" tIns="0" rIns="0" bIns="0" rtlCol="0" anchor="t"/>
          <a:lstStyle/>
          <a:p>
            <a:pPr marL="0" indent="0">
              <a:buNone/>
            </a:pPr>
            <a:r>
              <a:rPr lang="en-US" sz="1200" dirty="0">
                <a:solidFill>
                  <a:srgbClr val="5B6478"/>
                </a:solidFill>
              </a:rPr>
              <a:t>Member ID, readings used, due actions, sources, rule IDs and the escalation reason.</a:t>
            </a:r>
            <a:endParaRPr lang="en-US" sz="1200" dirty="0"/>
          </a:p>
        </p:txBody>
      </p:sp>
      <p:sp>
        <p:nvSpPr>
          <p:cNvPr id="59" name="Output card"/>
          <p:cNvSpPr/>
          <p:nvPr/>
        </p:nvSpPr>
        <p:spPr>
          <a:xfrm>
            <a:off x="8074152" y="4251960"/>
            <a:ext cx="3566160" cy="1828800"/>
          </a:xfrm>
          <a:prstGeom prst="roundRect">
            <a:avLst>
              <a:gd name="adj" fmla="val 5000"/>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60" name="IconCircle"/>
          <p:cNvSpPr/>
          <p:nvPr/>
        </p:nvSpPr>
        <p:spPr>
          <a:xfrm>
            <a:off x="8302752" y="4462272"/>
            <a:ext cx="502920" cy="502920"/>
          </a:xfrm>
          <a:prstGeom prst="ellipse">
            <a:avLst/>
          </a:prstGeom>
          <a:solidFill>
            <a:srgbClr val="12A36B"/>
          </a:solidFill>
          <a:ln w="12700">
            <a:solidFill>
              <a:srgbClr val="12A36B"/>
            </a:solidFill>
            <a:prstDash val="solid"/>
          </a:ln>
        </p:spPr>
      </p:sp>
      <p:pic>
        <p:nvPicPr>
          <p:cNvPr id="61" name="Image 7" descr="ShieldAlt icon"/>
          <p:cNvPicPr>
            <a:picLocks noChangeAspect="1"/>
          </p:cNvPicPr>
          <p:nvPr/>
        </p:nvPicPr>
        <p:blipFill>
          <a:blip r:embed="rId7"/>
          <a:stretch>
            <a:fillRect/>
          </a:stretch>
        </p:blipFill>
        <p:spPr>
          <a:xfrm>
            <a:off x="8428482" y="4588002"/>
            <a:ext cx="251460" cy="251460"/>
          </a:xfrm>
          <a:prstGeom prst="rect">
            <a:avLst/>
          </a:prstGeom>
        </p:spPr>
      </p:pic>
      <p:sp>
        <p:nvSpPr>
          <p:cNvPr id="62" name="Text 52"/>
          <p:cNvSpPr txBox="1"/>
          <p:nvPr/>
        </p:nvSpPr>
        <p:spPr>
          <a:xfrm>
            <a:off x="8988552" y="4462272"/>
            <a:ext cx="2468880" cy="502920"/>
          </a:xfrm>
          <a:prstGeom prst="rect">
            <a:avLst/>
          </a:prstGeom>
          <a:noFill/>
          <a:ln/>
        </p:spPr>
        <p:txBody>
          <a:bodyPr wrap="square" lIns="0" tIns="0" rIns="0" bIns="0" rtlCol="0" anchor="ctr"/>
          <a:lstStyle/>
          <a:p>
            <a:pPr marL="0" indent="0">
              <a:buNone/>
            </a:pPr>
            <a:r>
              <a:rPr lang="en-US" sz="1500" b="1" dirty="0">
                <a:solidFill>
                  <a:schemeClr val="tx1"/>
                </a:solidFill>
              </a:rPr>
              <a:t>Audit record</a:t>
            </a:r>
            <a:endParaRPr lang="en-US" sz="1500" dirty="0"/>
          </a:p>
        </p:txBody>
      </p:sp>
      <p:sp>
        <p:nvSpPr>
          <p:cNvPr id="63" name="Text 53"/>
          <p:cNvSpPr txBox="1"/>
          <p:nvPr/>
        </p:nvSpPr>
        <p:spPr>
          <a:xfrm>
            <a:off x="8302752" y="5138928"/>
            <a:ext cx="3108960" cy="868680"/>
          </a:xfrm>
          <a:prstGeom prst="rect">
            <a:avLst/>
          </a:prstGeom>
          <a:noFill/>
          <a:ln/>
        </p:spPr>
        <p:txBody>
          <a:bodyPr wrap="square" lIns="0" tIns="0" rIns="0" bIns="0" rtlCol="0" anchor="t"/>
          <a:lstStyle/>
          <a:p>
            <a:pPr marL="0" indent="0">
              <a:buNone/>
            </a:pPr>
            <a:r>
              <a:rPr lang="en-US" sz="1200" dirty="0">
                <a:solidFill>
                  <a:srgbClr val="5B6478"/>
                </a:solidFill>
              </a:rPr>
              <a:t>Consent result, agents called, rule IDs, source versions. Masked ID, no message text.</a:t>
            </a:r>
            <a:endParaRPr lang="en-US" sz="1200" dirty="0"/>
          </a:p>
        </p:txBody>
      </p:sp>
      <p:sp>
        <p:nvSpPr>
          <p:cNvPr id="64"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8"/>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47472"/>
            <a:ext cx="8229600" cy="256032"/>
          </a:xfrm>
          <a:prstGeom prst="rect">
            <a:avLst/>
          </a:prstGeom>
          <a:noFill/>
          <a:ln/>
        </p:spPr>
        <p:txBody>
          <a:bodyPr wrap="square" lIns="0" tIns="0" rIns="0" bIns="0" rtlCol="0" anchor="t"/>
          <a:lstStyle/>
          <a:p>
            <a:pPr marL="0" indent="0" algn="l">
              <a:buNone/>
            </a:pPr>
            <a:r>
              <a:rPr lang="en-US" sz="1100" b="1" kern="0" spc="200" dirty="0">
                <a:solidFill>
                  <a:srgbClr val="1547C8"/>
                </a:solidFill>
              </a:rPr>
              <a:t>03  ·  KNOWLEDGE AND RAG</a:t>
            </a:r>
            <a:endParaRPr lang="en-US" sz="1100" dirty="0"/>
          </a:p>
        </p:txBody>
      </p:sp>
      <p:sp>
        <p:nvSpPr>
          <p:cNvPr id="3" name="Text 1"/>
          <p:cNvSpPr>
            <a:spLocks noGrp="1"/>
          </p:cNvSpPr>
          <p:nvPr>
            <p:ph type="title" idx="103" hasCustomPrompt="1"/>
          </p:nvPr>
        </p:nvSpPr>
        <p:spPr>
          <a:xfrm>
            <a:off x="548640" y="603504"/>
            <a:ext cx="11064240" cy="566928"/>
          </a:xfrm>
          <a:prstGeom prst="rect">
            <a:avLst/>
          </a:prstGeom>
          <a:noFill/>
          <a:ln/>
        </p:spPr>
        <p:txBody>
          <a:bodyPr wrap="square" lIns="0" tIns="0" rIns="0" bIns="0" rtlCol="0" anchor="t"/>
          <a:lstStyle/>
          <a:p>
            <a:pPr marL="0" indent="0" algn="l">
              <a:buNone/>
            </a:pPr>
            <a:r>
              <a:rPr lang="en-US" sz="3000" b="1" dirty="0">
                <a:solidFill>
                  <a:srgbClr val="1F2937"/>
                </a:solidFill>
              </a:rPr>
              <a:t>RAG: grounded answers, or an honest gap</a:t>
            </a:r>
            <a:endParaRPr lang="en-US" sz="3000" dirty="0"/>
          </a:p>
        </p:txBody>
      </p:sp>
      <p:sp>
        <p:nvSpPr>
          <p:cNvPr id="4" name="Text 2"/>
          <p:cNvSpPr txBox="1"/>
          <p:nvPr/>
        </p:nvSpPr>
        <p:spPr>
          <a:xfrm>
            <a:off x="9921240" y="6382512"/>
            <a:ext cx="1097280" cy="219456"/>
          </a:xfrm>
          <a:prstGeom prst="rect">
            <a:avLst/>
          </a:prstGeom>
          <a:noFill/>
          <a:ln/>
        </p:spPr>
        <p:txBody>
          <a:bodyPr wrap="square" lIns="0" tIns="0" rIns="0" bIns="0" rtlCol="0" anchor="ctr"/>
          <a:lstStyle/>
          <a:p>
            <a:pPr marL="0" indent="0" algn="r">
              <a:buNone/>
            </a:pPr>
            <a:r>
              <a:rPr lang="en-US" sz="1000" u="sng" dirty="0">
                <a:solidFill>
                  <a:schemeClr val="tx1"/>
                </a:solidFill>
                <a:hlinkClick r:id="rId3" action="ppaction://hlinksldjump" tooltip="Back to the agenda">
                  <a:extLst>
                    <a:ext uri="{A12FA001-AC4F-418D-AE19-62706E023703}">
                      <ahyp:hlinkClr xmlns:ahyp="http://schemas.microsoft.com/office/drawing/2018/hyperlinkcolor" val="tx"/>
                    </a:ext>
                  </a:extLst>
                </a:hlinkClick>
              </a:rPr>
              <a:t>← Agenda</a:t>
            </a:r>
            <a:endParaRPr lang="en-US" sz="1000" dirty="0"/>
          </a:p>
        </p:txBody>
      </p:sp>
      <p:sp>
        <p:nvSpPr>
          <p:cNvPr id="5" name="Pipeline card"/>
          <p:cNvSpPr/>
          <p:nvPr/>
        </p:nvSpPr>
        <p:spPr>
          <a:xfrm>
            <a:off x="548640" y="1417320"/>
            <a:ext cx="2468880" cy="1874520"/>
          </a:xfrm>
          <a:prstGeom prst="roundRect">
            <a:avLst>
              <a:gd name="adj" fmla="val 4878"/>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6" name="IconCircle"/>
          <p:cNvSpPr/>
          <p:nvPr/>
        </p:nvSpPr>
        <p:spPr>
          <a:xfrm>
            <a:off x="777240" y="1627632"/>
            <a:ext cx="502920" cy="502920"/>
          </a:xfrm>
          <a:prstGeom prst="ellipse">
            <a:avLst/>
          </a:prstGeom>
          <a:solidFill>
            <a:srgbClr val="1547C8"/>
          </a:solidFill>
          <a:ln w="12700">
            <a:solidFill>
              <a:srgbClr val="1547C8"/>
            </a:solidFill>
            <a:prstDash val="solid"/>
          </a:ln>
        </p:spPr>
      </p:sp>
      <p:pic>
        <p:nvPicPr>
          <p:cNvPr id="7" name="Image 0" descr="Cloud icon"/>
          <p:cNvPicPr>
            <a:picLocks noChangeAspect="1"/>
          </p:cNvPicPr>
          <p:nvPr/>
        </p:nvPicPr>
        <p:blipFill>
          <a:blip r:embed="rId4"/>
          <a:stretch>
            <a:fillRect/>
          </a:stretch>
        </p:blipFill>
        <p:spPr>
          <a:xfrm>
            <a:off x="902970" y="1753362"/>
            <a:ext cx="251460" cy="251460"/>
          </a:xfrm>
          <a:prstGeom prst="rect">
            <a:avLst/>
          </a:prstGeom>
        </p:spPr>
      </p:pic>
      <p:sp>
        <p:nvSpPr>
          <p:cNvPr id="8" name="Text 5"/>
          <p:cNvSpPr txBox="1"/>
          <p:nvPr/>
        </p:nvSpPr>
        <p:spPr>
          <a:xfrm>
            <a:off x="777240" y="2240280"/>
            <a:ext cx="2103120" cy="274320"/>
          </a:xfrm>
          <a:prstGeom prst="rect">
            <a:avLst/>
          </a:prstGeom>
          <a:noFill/>
          <a:ln/>
        </p:spPr>
        <p:txBody>
          <a:bodyPr wrap="square" lIns="0" tIns="0" rIns="0" bIns="0" rtlCol="0" anchor="t"/>
          <a:lstStyle/>
          <a:p>
            <a:pPr marL="0" indent="0">
              <a:buNone/>
            </a:pPr>
            <a:r>
              <a:rPr lang="en-US" sz="1400" b="1" dirty="0">
                <a:solidFill>
                  <a:schemeClr val="tx1"/>
                </a:solidFill>
              </a:rPr>
              <a:t>Blob Storage</a:t>
            </a:r>
            <a:endParaRPr lang="en-US" sz="1400" dirty="0"/>
          </a:p>
        </p:txBody>
      </p:sp>
      <p:sp>
        <p:nvSpPr>
          <p:cNvPr id="9" name="Text 6"/>
          <p:cNvSpPr txBox="1"/>
          <p:nvPr/>
        </p:nvSpPr>
        <p:spPr>
          <a:xfrm>
            <a:off x="777240" y="2560320"/>
            <a:ext cx="2103120" cy="640080"/>
          </a:xfrm>
          <a:prstGeom prst="rect">
            <a:avLst/>
          </a:prstGeom>
          <a:noFill/>
          <a:ln/>
        </p:spPr>
        <p:txBody>
          <a:bodyPr wrap="square" lIns="0" tIns="0" rIns="0" bIns="0" rtlCol="0" anchor="t"/>
          <a:lstStyle/>
          <a:p>
            <a:pPr marL="0" indent="0">
              <a:buNone/>
            </a:pPr>
            <a:r>
              <a:rPr lang="en-US" sz="1100" dirty="0">
                <a:solidFill>
                  <a:srgbClr val="5B6478"/>
                </a:solidFill>
              </a:rPr>
              <a:t>Approved Markdown articles, uploaded by script</a:t>
            </a:r>
            <a:endParaRPr lang="en-US" sz="1100" dirty="0"/>
          </a:p>
        </p:txBody>
      </p:sp>
      <p:pic>
        <p:nvPicPr>
          <p:cNvPr id="10" name="Image 1" descr="Next"/>
          <p:cNvPicPr>
            <a:picLocks noChangeAspect="1"/>
          </p:cNvPicPr>
          <p:nvPr/>
        </p:nvPicPr>
        <p:blipFill>
          <a:blip r:embed="rId5"/>
          <a:stretch>
            <a:fillRect/>
          </a:stretch>
        </p:blipFill>
        <p:spPr>
          <a:xfrm>
            <a:off x="3128772" y="2240280"/>
            <a:ext cx="182880" cy="182880"/>
          </a:xfrm>
          <a:prstGeom prst="rect">
            <a:avLst/>
          </a:prstGeom>
        </p:spPr>
      </p:pic>
      <p:sp>
        <p:nvSpPr>
          <p:cNvPr id="11" name="Pipeline card"/>
          <p:cNvSpPr/>
          <p:nvPr/>
        </p:nvSpPr>
        <p:spPr>
          <a:xfrm>
            <a:off x="3422904" y="1417320"/>
            <a:ext cx="2468880" cy="1874520"/>
          </a:xfrm>
          <a:prstGeom prst="roundRect">
            <a:avLst>
              <a:gd name="adj" fmla="val 4878"/>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12" name="IconCircle"/>
          <p:cNvSpPr/>
          <p:nvPr/>
        </p:nvSpPr>
        <p:spPr>
          <a:xfrm>
            <a:off x="3651504" y="1627632"/>
            <a:ext cx="502920" cy="502920"/>
          </a:xfrm>
          <a:prstGeom prst="ellipse">
            <a:avLst/>
          </a:prstGeom>
          <a:solidFill>
            <a:srgbClr val="1547C8"/>
          </a:solidFill>
          <a:ln w="12700">
            <a:solidFill>
              <a:srgbClr val="1547C8"/>
            </a:solidFill>
            <a:prstDash val="solid"/>
          </a:ln>
        </p:spPr>
      </p:sp>
      <p:pic>
        <p:nvPicPr>
          <p:cNvPr id="13" name="Image 2" descr="Search icon"/>
          <p:cNvPicPr>
            <a:picLocks noChangeAspect="1"/>
          </p:cNvPicPr>
          <p:nvPr/>
        </p:nvPicPr>
        <p:blipFill>
          <a:blip r:embed="rId6"/>
          <a:stretch>
            <a:fillRect/>
          </a:stretch>
        </p:blipFill>
        <p:spPr>
          <a:xfrm>
            <a:off x="3777234" y="1753362"/>
            <a:ext cx="251460" cy="251460"/>
          </a:xfrm>
          <a:prstGeom prst="rect">
            <a:avLst/>
          </a:prstGeom>
        </p:spPr>
      </p:pic>
      <p:sp>
        <p:nvSpPr>
          <p:cNvPr id="14" name="Text 9"/>
          <p:cNvSpPr txBox="1"/>
          <p:nvPr/>
        </p:nvSpPr>
        <p:spPr>
          <a:xfrm>
            <a:off x="3651504" y="2240280"/>
            <a:ext cx="2103120" cy="274320"/>
          </a:xfrm>
          <a:prstGeom prst="rect">
            <a:avLst/>
          </a:prstGeom>
          <a:noFill/>
          <a:ln/>
        </p:spPr>
        <p:txBody>
          <a:bodyPr wrap="square" lIns="0" tIns="0" rIns="0" bIns="0" rtlCol="0" anchor="t"/>
          <a:lstStyle/>
          <a:p>
            <a:pPr marL="0" indent="0">
              <a:buNone/>
            </a:pPr>
            <a:r>
              <a:rPr lang="en-US" sz="1400" b="1" dirty="0">
                <a:solidFill>
                  <a:schemeClr val="tx1"/>
                </a:solidFill>
              </a:rPr>
              <a:t>Azure AI Search</a:t>
            </a:r>
            <a:endParaRPr lang="en-US" sz="1400" dirty="0"/>
          </a:p>
        </p:txBody>
      </p:sp>
      <p:sp>
        <p:nvSpPr>
          <p:cNvPr id="15" name="Text 10"/>
          <p:cNvSpPr txBox="1"/>
          <p:nvPr/>
        </p:nvSpPr>
        <p:spPr>
          <a:xfrm>
            <a:off x="3651504" y="2560320"/>
            <a:ext cx="2103120" cy="640080"/>
          </a:xfrm>
          <a:prstGeom prst="rect">
            <a:avLst/>
          </a:prstGeom>
          <a:noFill/>
          <a:ln/>
        </p:spPr>
        <p:txBody>
          <a:bodyPr wrap="square" lIns="0" tIns="0" rIns="0" bIns="0" rtlCol="0" anchor="t"/>
          <a:lstStyle/>
          <a:p>
            <a:pPr marL="0" indent="0">
              <a:buNone/>
            </a:pPr>
            <a:r>
              <a:rPr lang="en-US" sz="1100" dirty="0">
                <a:solidFill>
                  <a:srgbClr val="5B6478"/>
                </a:solidFill>
              </a:rPr>
              <a:t>Three indexes: Education, FAQ, Care-plan guidance</a:t>
            </a:r>
            <a:endParaRPr lang="en-US" sz="1100" dirty="0"/>
          </a:p>
        </p:txBody>
      </p:sp>
      <p:pic>
        <p:nvPicPr>
          <p:cNvPr id="16" name="Image 3" descr="Next"/>
          <p:cNvPicPr>
            <a:picLocks noChangeAspect="1"/>
          </p:cNvPicPr>
          <p:nvPr/>
        </p:nvPicPr>
        <p:blipFill>
          <a:blip r:embed="rId5"/>
          <a:stretch>
            <a:fillRect/>
          </a:stretch>
        </p:blipFill>
        <p:spPr>
          <a:xfrm>
            <a:off x="6003036" y="2240280"/>
            <a:ext cx="182880" cy="182880"/>
          </a:xfrm>
          <a:prstGeom prst="rect">
            <a:avLst/>
          </a:prstGeom>
        </p:spPr>
      </p:pic>
      <p:sp>
        <p:nvSpPr>
          <p:cNvPr id="17" name="Pipeline card"/>
          <p:cNvSpPr/>
          <p:nvPr/>
        </p:nvSpPr>
        <p:spPr>
          <a:xfrm>
            <a:off x="6297168" y="1417320"/>
            <a:ext cx="2468880" cy="1874520"/>
          </a:xfrm>
          <a:prstGeom prst="roundRect">
            <a:avLst>
              <a:gd name="adj" fmla="val 4878"/>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18" name="IconCircle"/>
          <p:cNvSpPr/>
          <p:nvPr/>
        </p:nvSpPr>
        <p:spPr>
          <a:xfrm>
            <a:off x="6525768" y="1627632"/>
            <a:ext cx="502920" cy="502920"/>
          </a:xfrm>
          <a:prstGeom prst="ellipse">
            <a:avLst/>
          </a:prstGeom>
          <a:solidFill>
            <a:srgbClr val="1547C8"/>
          </a:solidFill>
          <a:ln w="12700">
            <a:solidFill>
              <a:srgbClr val="1547C8"/>
            </a:solidFill>
            <a:prstDash val="solid"/>
          </a:ln>
        </p:spPr>
      </p:sp>
      <p:pic>
        <p:nvPicPr>
          <p:cNvPr id="19" name="Image 4" descr="BookMedical icon"/>
          <p:cNvPicPr>
            <a:picLocks noChangeAspect="1"/>
          </p:cNvPicPr>
          <p:nvPr/>
        </p:nvPicPr>
        <p:blipFill>
          <a:blip r:embed="rId7"/>
          <a:stretch>
            <a:fillRect/>
          </a:stretch>
        </p:blipFill>
        <p:spPr>
          <a:xfrm>
            <a:off x="6651498" y="1753362"/>
            <a:ext cx="251460" cy="251460"/>
          </a:xfrm>
          <a:prstGeom prst="rect">
            <a:avLst/>
          </a:prstGeom>
        </p:spPr>
      </p:pic>
      <p:sp>
        <p:nvSpPr>
          <p:cNvPr id="20" name="Text 13"/>
          <p:cNvSpPr txBox="1"/>
          <p:nvPr/>
        </p:nvSpPr>
        <p:spPr>
          <a:xfrm>
            <a:off x="6525768" y="2240280"/>
            <a:ext cx="2103120" cy="274320"/>
          </a:xfrm>
          <a:prstGeom prst="rect">
            <a:avLst/>
          </a:prstGeom>
          <a:noFill/>
          <a:ln/>
        </p:spPr>
        <p:txBody>
          <a:bodyPr wrap="square" lIns="0" tIns="0" rIns="0" bIns="0" rtlCol="0" anchor="t"/>
          <a:lstStyle/>
          <a:p>
            <a:pPr marL="0" indent="0">
              <a:buNone/>
            </a:pPr>
            <a:r>
              <a:rPr lang="en-US" sz="1400" b="1" dirty="0">
                <a:solidFill>
                  <a:schemeClr val="tx1"/>
                </a:solidFill>
              </a:rPr>
              <a:t>Education RAG agent</a:t>
            </a:r>
            <a:endParaRPr lang="en-US" sz="1400" dirty="0"/>
          </a:p>
        </p:txBody>
      </p:sp>
      <p:sp>
        <p:nvSpPr>
          <p:cNvPr id="21" name="Text 14"/>
          <p:cNvSpPr txBox="1"/>
          <p:nvPr/>
        </p:nvSpPr>
        <p:spPr>
          <a:xfrm>
            <a:off x="6525768" y="2560320"/>
            <a:ext cx="2103120" cy="640080"/>
          </a:xfrm>
          <a:prstGeom prst="rect">
            <a:avLst/>
          </a:prstGeom>
          <a:noFill/>
          <a:ln/>
        </p:spPr>
        <p:txBody>
          <a:bodyPr wrap="square" lIns="0" tIns="0" rIns="0" bIns="0" rtlCol="0" anchor="t"/>
          <a:lstStyle/>
          <a:p>
            <a:pPr marL="0" indent="0">
              <a:buNone/>
            </a:pPr>
            <a:r>
              <a:rPr lang="en-US" sz="1100" dirty="0">
                <a:solidFill>
                  <a:srgbClr val="5B6478"/>
                </a:solidFill>
              </a:rPr>
              <a:t>Foundry agent with a search tool; answers only from retrieved text</a:t>
            </a:r>
            <a:endParaRPr lang="en-US" sz="1100" dirty="0"/>
          </a:p>
        </p:txBody>
      </p:sp>
      <p:pic>
        <p:nvPicPr>
          <p:cNvPr id="22" name="Image 5" descr="Next"/>
          <p:cNvPicPr>
            <a:picLocks noChangeAspect="1"/>
          </p:cNvPicPr>
          <p:nvPr/>
        </p:nvPicPr>
        <p:blipFill>
          <a:blip r:embed="rId5"/>
          <a:stretch>
            <a:fillRect/>
          </a:stretch>
        </p:blipFill>
        <p:spPr>
          <a:xfrm>
            <a:off x="8877300" y="2240280"/>
            <a:ext cx="182880" cy="182880"/>
          </a:xfrm>
          <a:prstGeom prst="rect">
            <a:avLst/>
          </a:prstGeom>
        </p:spPr>
      </p:pic>
      <p:sp>
        <p:nvSpPr>
          <p:cNvPr id="23" name="Pipeline card"/>
          <p:cNvSpPr/>
          <p:nvPr/>
        </p:nvSpPr>
        <p:spPr>
          <a:xfrm>
            <a:off x="9171432" y="1417320"/>
            <a:ext cx="2468880" cy="1874520"/>
          </a:xfrm>
          <a:prstGeom prst="roundRect">
            <a:avLst>
              <a:gd name="adj" fmla="val 4878"/>
            </a:avLst>
          </a:prstGeom>
          <a:solidFill>
            <a:schemeClr val="tx2"/>
          </a:solidFill>
          <a:ln w="12700">
            <a:solidFill>
              <a:srgbClr val="0A1F5C"/>
            </a:solidFill>
            <a:prstDash val="solid"/>
          </a:ln>
          <a:effectLst>
            <a:outerShdw blurRad="127000" dist="25400" dir="5400000" algn="bl" rotWithShape="0">
              <a:srgbClr val="1F2937">
                <a:alpha val="10000"/>
              </a:srgbClr>
            </a:outerShdw>
          </a:effectLst>
        </p:spPr>
      </p:sp>
      <p:sp>
        <p:nvSpPr>
          <p:cNvPr id="24" name="IconCircle"/>
          <p:cNvSpPr/>
          <p:nvPr/>
        </p:nvSpPr>
        <p:spPr>
          <a:xfrm>
            <a:off x="9400032" y="1627632"/>
            <a:ext cx="502920" cy="502920"/>
          </a:xfrm>
          <a:prstGeom prst="ellipse">
            <a:avLst/>
          </a:prstGeom>
          <a:solidFill>
            <a:srgbClr val="3CC3F0"/>
          </a:solidFill>
          <a:ln w="12700">
            <a:solidFill>
              <a:srgbClr val="3CC3F0"/>
            </a:solidFill>
            <a:prstDash val="solid"/>
          </a:ln>
        </p:spPr>
      </p:sp>
      <p:pic>
        <p:nvPicPr>
          <p:cNvPr id="25" name="Image 6" descr="CheckCircle icon"/>
          <p:cNvPicPr>
            <a:picLocks noChangeAspect="1"/>
          </p:cNvPicPr>
          <p:nvPr/>
        </p:nvPicPr>
        <p:blipFill>
          <a:blip r:embed="rId8"/>
          <a:stretch>
            <a:fillRect/>
          </a:stretch>
        </p:blipFill>
        <p:spPr>
          <a:xfrm>
            <a:off x="9525762" y="1753362"/>
            <a:ext cx="251460" cy="251460"/>
          </a:xfrm>
          <a:prstGeom prst="rect">
            <a:avLst/>
          </a:prstGeom>
        </p:spPr>
      </p:pic>
      <p:sp>
        <p:nvSpPr>
          <p:cNvPr id="26" name="Text 17"/>
          <p:cNvSpPr txBox="1"/>
          <p:nvPr/>
        </p:nvSpPr>
        <p:spPr>
          <a:xfrm>
            <a:off x="9400032" y="2240280"/>
            <a:ext cx="2103120" cy="274320"/>
          </a:xfrm>
          <a:prstGeom prst="rect">
            <a:avLst/>
          </a:prstGeom>
          <a:noFill/>
          <a:ln/>
        </p:spPr>
        <p:txBody>
          <a:bodyPr wrap="square" lIns="0" tIns="0" rIns="0" bIns="0" rtlCol="0" anchor="t"/>
          <a:lstStyle/>
          <a:p>
            <a:pPr marL="0" indent="0">
              <a:buNone/>
            </a:pPr>
            <a:r>
              <a:rPr lang="en-US" sz="1400" b="1" dirty="0">
                <a:solidFill>
                  <a:srgbClr val="FFFFFF"/>
                </a:solidFill>
              </a:rPr>
              <a:t>Citation validator</a:t>
            </a:r>
            <a:endParaRPr lang="en-US" sz="1400" dirty="0"/>
          </a:p>
        </p:txBody>
      </p:sp>
      <p:sp>
        <p:nvSpPr>
          <p:cNvPr id="27" name="Text 18"/>
          <p:cNvSpPr txBox="1"/>
          <p:nvPr/>
        </p:nvSpPr>
        <p:spPr>
          <a:xfrm>
            <a:off x="9400032" y="2560320"/>
            <a:ext cx="2103120" cy="640080"/>
          </a:xfrm>
          <a:prstGeom prst="rect">
            <a:avLst/>
          </a:prstGeom>
          <a:noFill/>
          <a:ln/>
        </p:spPr>
        <p:txBody>
          <a:bodyPr wrap="square" lIns="0" tIns="0" rIns="0" bIns="0" rtlCol="0" anchor="t"/>
          <a:lstStyle/>
          <a:p>
            <a:pPr marL="0" indent="0">
              <a:buNone/>
            </a:pPr>
            <a:r>
              <a:rPr lang="en-US" sz="1100" dirty="0">
                <a:solidFill>
                  <a:srgbClr val="CFE0FF"/>
                </a:solidFill>
              </a:rPr>
              <a:t>Code checks the cited article before anyone sees the answer</a:t>
            </a:r>
            <a:endParaRPr lang="en-US" sz="1100" dirty="0"/>
          </a:p>
        </p:txBody>
      </p:sp>
      <p:sp>
        <p:nvSpPr>
          <p:cNvPr id="28" name="Validator list"/>
          <p:cNvSpPr/>
          <p:nvPr/>
        </p:nvSpPr>
        <p:spPr>
          <a:xfrm>
            <a:off x="548640" y="3566160"/>
            <a:ext cx="5394960" cy="2514600"/>
          </a:xfrm>
          <a:prstGeom prst="roundRect">
            <a:avLst>
              <a:gd name="adj" fmla="val 3636"/>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29" name="Text 20"/>
          <p:cNvSpPr txBox="1"/>
          <p:nvPr/>
        </p:nvSpPr>
        <p:spPr>
          <a:xfrm>
            <a:off x="822960" y="3749040"/>
            <a:ext cx="4114800" cy="228600"/>
          </a:xfrm>
          <a:prstGeom prst="rect">
            <a:avLst/>
          </a:prstGeom>
          <a:noFill/>
          <a:ln/>
        </p:spPr>
        <p:txBody>
          <a:bodyPr wrap="square" lIns="0" tIns="0" rIns="0" bIns="0" rtlCol="0" anchor="t"/>
          <a:lstStyle/>
          <a:p>
            <a:pPr marL="0" indent="0">
              <a:buNone/>
            </a:pPr>
            <a:r>
              <a:rPr lang="en-US" sz="1000" b="1" kern="0" spc="200" dirty="0">
                <a:solidFill>
                  <a:schemeClr val="accent1"/>
                </a:solidFill>
              </a:rPr>
              <a:t>THE VALIDATOR CHECKS</a:t>
            </a:r>
            <a:endParaRPr lang="en-US" sz="1000" dirty="0"/>
          </a:p>
        </p:txBody>
      </p:sp>
      <p:pic>
        <p:nvPicPr>
          <p:cNvPr id="30" name="Image 7" descr="Check"/>
          <p:cNvPicPr>
            <a:picLocks noChangeAspect="1"/>
          </p:cNvPicPr>
          <p:nvPr/>
        </p:nvPicPr>
        <p:blipFill>
          <a:blip r:embed="rId9"/>
          <a:stretch>
            <a:fillRect/>
          </a:stretch>
        </p:blipFill>
        <p:spPr>
          <a:xfrm>
            <a:off x="822960" y="4142232"/>
            <a:ext cx="256032" cy="256032"/>
          </a:xfrm>
          <a:prstGeom prst="rect">
            <a:avLst/>
          </a:prstGeom>
        </p:spPr>
      </p:pic>
      <p:sp>
        <p:nvSpPr>
          <p:cNvPr id="31" name="Text 21"/>
          <p:cNvSpPr txBox="1"/>
          <p:nvPr/>
        </p:nvSpPr>
        <p:spPr>
          <a:xfrm>
            <a:off x="1234440" y="4114800"/>
            <a:ext cx="4480560" cy="329184"/>
          </a:xfrm>
          <a:prstGeom prst="rect">
            <a:avLst/>
          </a:prstGeom>
          <a:noFill/>
          <a:ln/>
        </p:spPr>
        <p:txBody>
          <a:bodyPr wrap="square" lIns="0" tIns="0" rIns="0" bIns="0" rtlCol="0" anchor="ctr"/>
          <a:lstStyle/>
          <a:p>
            <a:pPr marL="0" indent="0">
              <a:buNone/>
            </a:pPr>
            <a:r>
              <a:rPr lang="en-US" sz="1400" dirty="0">
                <a:solidFill>
                  <a:schemeClr val="tx1"/>
                </a:solidFill>
              </a:rPr>
              <a:t>The article ID exists</a:t>
            </a:r>
            <a:endParaRPr lang="en-US" sz="1400" dirty="0"/>
          </a:p>
        </p:txBody>
      </p:sp>
      <p:pic>
        <p:nvPicPr>
          <p:cNvPr id="32" name="Image 8" descr="Check"/>
          <p:cNvPicPr>
            <a:picLocks noChangeAspect="1"/>
          </p:cNvPicPr>
          <p:nvPr/>
        </p:nvPicPr>
        <p:blipFill>
          <a:blip r:embed="rId9"/>
          <a:stretch>
            <a:fillRect/>
          </a:stretch>
        </p:blipFill>
        <p:spPr>
          <a:xfrm>
            <a:off x="822960" y="4526280"/>
            <a:ext cx="256032" cy="256032"/>
          </a:xfrm>
          <a:prstGeom prst="rect">
            <a:avLst/>
          </a:prstGeom>
        </p:spPr>
      </p:pic>
      <p:sp>
        <p:nvSpPr>
          <p:cNvPr id="33" name="Text 22"/>
          <p:cNvSpPr txBox="1"/>
          <p:nvPr/>
        </p:nvSpPr>
        <p:spPr>
          <a:xfrm>
            <a:off x="1234440" y="4498848"/>
            <a:ext cx="4480560" cy="329184"/>
          </a:xfrm>
          <a:prstGeom prst="rect">
            <a:avLst/>
          </a:prstGeom>
          <a:noFill/>
          <a:ln/>
        </p:spPr>
        <p:txBody>
          <a:bodyPr wrap="square" lIns="0" tIns="0" rIns="0" bIns="0" rtlCol="0" anchor="ctr"/>
          <a:lstStyle/>
          <a:p>
            <a:pPr marL="0" indent="0">
              <a:buNone/>
            </a:pPr>
            <a:r>
              <a:rPr lang="en-US" sz="1400" dirty="0">
                <a:solidFill>
                  <a:schemeClr val="tx1"/>
                </a:solidFill>
              </a:rPr>
              <a:t>Its status is Approved</a:t>
            </a:r>
            <a:endParaRPr lang="en-US" sz="1400" dirty="0"/>
          </a:p>
        </p:txBody>
      </p:sp>
      <p:pic>
        <p:nvPicPr>
          <p:cNvPr id="34" name="Image 9" descr="Check"/>
          <p:cNvPicPr>
            <a:picLocks noChangeAspect="1"/>
          </p:cNvPicPr>
          <p:nvPr/>
        </p:nvPicPr>
        <p:blipFill>
          <a:blip r:embed="rId9"/>
          <a:stretch>
            <a:fillRect/>
          </a:stretch>
        </p:blipFill>
        <p:spPr>
          <a:xfrm>
            <a:off x="822960" y="4910328"/>
            <a:ext cx="256032" cy="256032"/>
          </a:xfrm>
          <a:prstGeom prst="rect">
            <a:avLst/>
          </a:prstGeom>
        </p:spPr>
      </p:pic>
      <p:sp>
        <p:nvSpPr>
          <p:cNvPr id="35" name="Text 23"/>
          <p:cNvSpPr txBox="1"/>
          <p:nvPr/>
        </p:nvSpPr>
        <p:spPr>
          <a:xfrm>
            <a:off x="1234440" y="4882896"/>
            <a:ext cx="4480560" cy="329184"/>
          </a:xfrm>
          <a:prstGeom prst="rect">
            <a:avLst/>
          </a:prstGeom>
          <a:noFill/>
          <a:ln/>
        </p:spPr>
        <p:txBody>
          <a:bodyPr wrap="square" lIns="0" tIns="0" rIns="0" bIns="0" rtlCol="0" anchor="ctr"/>
          <a:lstStyle/>
          <a:p>
            <a:pPr marL="0" indent="0">
              <a:buNone/>
            </a:pPr>
            <a:r>
              <a:rPr lang="en-US" sz="1400" dirty="0">
                <a:solidFill>
                  <a:schemeClr val="tx1"/>
                </a:solidFill>
              </a:rPr>
              <a:t>It fits the member's program</a:t>
            </a:r>
            <a:endParaRPr lang="en-US" sz="1400" dirty="0"/>
          </a:p>
        </p:txBody>
      </p:sp>
      <p:pic>
        <p:nvPicPr>
          <p:cNvPr id="36" name="Image 10" descr="Check"/>
          <p:cNvPicPr>
            <a:picLocks noChangeAspect="1"/>
          </p:cNvPicPr>
          <p:nvPr/>
        </p:nvPicPr>
        <p:blipFill>
          <a:blip r:embed="rId9"/>
          <a:stretch>
            <a:fillRect/>
          </a:stretch>
        </p:blipFill>
        <p:spPr>
          <a:xfrm>
            <a:off x="822960" y="5294376"/>
            <a:ext cx="256032" cy="256032"/>
          </a:xfrm>
          <a:prstGeom prst="rect">
            <a:avLst/>
          </a:prstGeom>
        </p:spPr>
      </p:pic>
      <p:sp>
        <p:nvSpPr>
          <p:cNvPr id="37" name="Text 24"/>
          <p:cNvSpPr txBox="1"/>
          <p:nvPr/>
        </p:nvSpPr>
        <p:spPr>
          <a:xfrm>
            <a:off x="1234440" y="5266944"/>
            <a:ext cx="4480560" cy="329184"/>
          </a:xfrm>
          <a:prstGeom prst="rect">
            <a:avLst/>
          </a:prstGeom>
          <a:noFill/>
          <a:ln/>
        </p:spPr>
        <p:txBody>
          <a:bodyPr wrap="square" lIns="0" tIns="0" rIns="0" bIns="0" rtlCol="0" anchor="ctr"/>
          <a:lstStyle/>
          <a:p>
            <a:pPr marL="0" indent="0">
              <a:buNone/>
            </a:pPr>
            <a:r>
              <a:rPr lang="en-US" sz="1400" dirty="0">
                <a:solidFill>
                  <a:schemeClr val="tx1"/>
                </a:solidFill>
              </a:rPr>
              <a:t>It matches the current version</a:t>
            </a:r>
            <a:endParaRPr lang="en-US" sz="1400" dirty="0"/>
          </a:p>
        </p:txBody>
      </p:sp>
      <p:sp>
        <p:nvSpPr>
          <p:cNvPr id="38" name="Text 25"/>
          <p:cNvSpPr txBox="1"/>
          <p:nvPr/>
        </p:nvSpPr>
        <p:spPr>
          <a:xfrm>
            <a:off x="822960" y="5669280"/>
            <a:ext cx="4937760" cy="274320"/>
          </a:xfrm>
          <a:prstGeom prst="rect">
            <a:avLst/>
          </a:prstGeom>
          <a:noFill/>
          <a:ln/>
        </p:spPr>
        <p:txBody>
          <a:bodyPr wrap="square" lIns="0" tIns="0" rIns="0" bIns="0" rtlCol="0" anchor="t"/>
          <a:lstStyle/>
          <a:p>
            <a:pPr marL="0" indent="0">
              <a:buNone/>
            </a:pPr>
            <a:r>
              <a:rPr lang="en-US" sz="1100" dirty="0">
                <a:solidFill>
                  <a:srgbClr val="5B6478"/>
                </a:solidFill>
              </a:rPr>
              <a:t>The Education agent never sees readings or care plans.</a:t>
            </a:r>
            <a:endParaRPr lang="en-US" sz="1100" dirty="0"/>
          </a:p>
        </p:txBody>
      </p:sp>
      <p:sp>
        <p:nvSpPr>
          <p:cNvPr id="39" name="Valid outcome"/>
          <p:cNvSpPr/>
          <p:nvPr/>
        </p:nvSpPr>
        <p:spPr>
          <a:xfrm>
            <a:off x="6309360" y="3566160"/>
            <a:ext cx="5330952" cy="1188720"/>
          </a:xfrm>
          <a:prstGeom prst="roundRect">
            <a:avLst>
              <a:gd name="adj" fmla="val 7692"/>
            </a:avLst>
          </a:prstGeom>
          <a:solidFill>
            <a:srgbClr val="EAF7F1"/>
          </a:solidFill>
          <a:ln w="12700">
            <a:solidFill>
              <a:srgbClr val="BFE6D3"/>
            </a:solidFill>
            <a:prstDash val="solid"/>
          </a:ln>
        </p:spPr>
      </p:sp>
      <p:sp>
        <p:nvSpPr>
          <p:cNvPr id="40" name="IconCircle"/>
          <p:cNvSpPr/>
          <p:nvPr/>
        </p:nvSpPr>
        <p:spPr>
          <a:xfrm>
            <a:off x="6537960" y="3840480"/>
            <a:ext cx="548640" cy="548640"/>
          </a:xfrm>
          <a:prstGeom prst="ellipse">
            <a:avLst/>
          </a:prstGeom>
          <a:solidFill>
            <a:srgbClr val="12A36B"/>
          </a:solidFill>
          <a:ln w="12700">
            <a:solidFill>
              <a:srgbClr val="12A36B"/>
            </a:solidFill>
            <a:prstDash val="solid"/>
          </a:ln>
        </p:spPr>
      </p:sp>
      <p:pic>
        <p:nvPicPr>
          <p:cNvPr id="41" name="Image 11" descr="CheckCircle icon"/>
          <p:cNvPicPr>
            <a:picLocks noChangeAspect="1"/>
          </p:cNvPicPr>
          <p:nvPr/>
        </p:nvPicPr>
        <p:blipFill>
          <a:blip r:embed="rId10"/>
          <a:stretch>
            <a:fillRect/>
          </a:stretch>
        </p:blipFill>
        <p:spPr>
          <a:xfrm>
            <a:off x="6675120" y="3977640"/>
            <a:ext cx="274320" cy="274320"/>
          </a:xfrm>
          <a:prstGeom prst="rect">
            <a:avLst/>
          </a:prstGeom>
        </p:spPr>
      </p:pic>
      <p:sp>
        <p:nvSpPr>
          <p:cNvPr id="42" name="Text 28"/>
          <p:cNvSpPr txBox="1"/>
          <p:nvPr/>
        </p:nvSpPr>
        <p:spPr>
          <a:xfrm>
            <a:off x="7269480" y="3794760"/>
            <a:ext cx="4206240" cy="292608"/>
          </a:xfrm>
          <a:prstGeom prst="rect">
            <a:avLst/>
          </a:prstGeom>
          <a:noFill/>
          <a:ln/>
        </p:spPr>
        <p:txBody>
          <a:bodyPr wrap="square" lIns="0" tIns="0" rIns="0" bIns="0" rtlCol="0" anchor="t"/>
          <a:lstStyle/>
          <a:p>
            <a:pPr marL="0" indent="0">
              <a:buNone/>
            </a:pPr>
            <a:r>
              <a:rPr lang="en-US" sz="1400" b="1" dirty="0">
                <a:solidFill>
                  <a:schemeClr val="tx1"/>
                </a:solidFill>
              </a:rPr>
              <a:t>Valid: answer with a citation</a:t>
            </a:r>
            <a:endParaRPr lang="en-US" sz="1400" dirty="0"/>
          </a:p>
        </p:txBody>
      </p:sp>
      <p:sp>
        <p:nvSpPr>
          <p:cNvPr id="43" name="Text 29"/>
          <p:cNvSpPr txBox="1"/>
          <p:nvPr/>
        </p:nvSpPr>
        <p:spPr>
          <a:xfrm>
            <a:off x="7269480" y="4114800"/>
            <a:ext cx="4206240" cy="457200"/>
          </a:xfrm>
          <a:prstGeom prst="rect">
            <a:avLst/>
          </a:prstGeom>
          <a:noFill/>
          <a:ln/>
        </p:spPr>
        <p:txBody>
          <a:bodyPr wrap="square" lIns="0" tIns="0" rIns="0" bIns="0" rtlCol="0" anchor="t"/>
          <a:lstStyle/>
          <a:p>
            <a:pPr marL="0" indent="0">
              <a:buNone/>
            </a:pPr>
            <a:r>
              <a:rPr lang="en-US" sz="1200" dirty="0">
                <a:solidFill>
                  <a:srgbClr val="5B6478"/>
                </a:solidFill>
              </a:rPr>
              <a:t>Shown as a source such as EDU-401 (v4)</a:t>
            </a:r>
            <a:endParaRPr lang="en-US" sz="1200" dirty="0"/>
          </a:p>
        </p:txBody>
      </p:sp>
      <p:sp>
        <p:nvSpPr>
          <p:cNvPr id="44" name="Gap outcome"/>
          <p:cNvSpPr/>
          <p:nvPr/>
        </p:nvSpPr>
        <p:spPr>
          <a:xfrm>
            <a:off x="6309360" y="4892040"/>
            <a:ext cx="5330952" cy="1188720"/>
          </a:xfrm>
          <a:prstGeom prst="roundRect">
            <a:avLst>
              <a:gd name="adj" fmla="val 7692"/>
            </a:avLst>
          </a:prstGeom>
          <a:solidFill>
            <a:srgbClr val="FFF4DD"/>
          </a:solidFill>
          <a:ln w="12700">
            <a:solidFill>
              <a:srgbClr val="F3D9A4"/>
            </a:solidFill>
            <a:prstDash val="solid"/>
          </a:ln>
        </p:spPr>
      </p:sp>
      <p:sp>
        <p:nvSpPr>
          <p:cNvPr id="45" name="IconCircle"/>
          <p:cNvSpPr/>
          <p:nvPr/>
        </p:nvSpPr>
        <p:spPr>
          <a:xfrm>
            <a:off x="6537960" y="5166360"/>
            <a:ext cx="548640" cy="548640"/>
          </a:xfrm>
          <a:prstGeom prst="ellipse">
            <a:avLst/>
          </a:prstGeom>
          <a:solidFill>
            <a:srgbClr val="F5A524"/>
          </a:solidFill>
          <a:ln w="12700">
            <a:solidFill>
              <a:srgbClr val="F5A524"/>
            </a:solidFill>
            <a:prstDash val="solid"/>
          </a:ln>
        </p:spPr>
      </p:sp>
      <p:pic>
        <p:nvPicPr>
          <p:cNvPr id="46" name="Image 12" descr="QuestionCircle icon"/>
          <p:cNvPicPr>
            <a:picLocks noChangeAspect="1"/>
          </p:cNvPicPr>
          <p:nvPr/>
        </p:nvPicPr>
        <p:blipFill>
          <a:blip r:embed="rId11"/>
          <a:stretch>
            <a:fillRect/>
          </a:stretch>
        </p:blipFill>
        <p:spPr>
          <a:xfrm>
            <a:off x="6675120" y="5303520"/>
            <a:ext cx="274320" cy="274320"/>
          </a:xfrm>
          <a:prstGeom prst="rect">
            <a:avLst/>
          </a:prstGeom>
        </p:spPr>
      </p:pic>
      <p:sp>
        <p:nvSpPr>
          <p:cNvPr id="47" name="Text 32"/>
          <p:cNvSpPr txBox="1"/>
          <p:nvPr/>
        </p:nvSpPr>
        <p:spPr>
          <a:xfrm>
            <a:off x="7269480" y="5120640"/>
            <a:ext cx="4206240" cy="292608"/>
          </a:xfrm>
          <a:prstGeom prst="rect">
            <a:avLst/>
          </a:prstGeom>
          <a:noFill/>
          <a:ln/>
        </p:spPr>
        <p:txBody>
          <a:bodyPr wrap="square" lIns="0" tIns="0" rIns="0" bIns="0" rtlCol="0" anchor="t"/>
          <a:lstStyle/>
          <a:p>
            <a:pPr marL="0" indent="0">
              <a:buNone/>
            </a:pPr>
            <a:r>
              <a:rPr lang="en-US" sz="1400" b="1" dirty="0">
                <a:solidFill>
                  <a:schemeClr val="tx1"/>
                </a:solidFill>
              </a:rPr>
              <a:t>No match or invalid: say so</a:t>
            </a:r>
            <a:endParaRPr lang="en-US" sz="1400" dirty="0"/>
          </a:p>
        </p:txBody>
      </p:sp>
      <p:sp>
        <p:nvSpPr>
          <p:cNvPr id="48" name="Text 33"/>
          <p:cNvSpPr txBox="1"/>
          <p:nvPr/>
        </p:nvSpPr>
        <p:spPr>
          <a:xfrm>
            <a:off x="7269480" y="5440680"/>
            <a:ext cx="4206240" cy="457200"/>
          </a:xfrm>
          <a:prstGeom prst="rect">
            <a:avLst/>
          </a:prstGeom>
          <a:noFill/>
          <a:ln/>
        </p:spPr>
        <p:txBody>
          <a:bodyPr wrap="square" lIns="0" tIns="0" rIns="0" bIns="0" rtlCol="0" anchor="t"/>
          <a:lstStyle/>
          <a:p>
            <a:pPr marL="0" indent="0">
              <a:buNone/>
            </a:pPr>
            <a:r>
              <a:rPr lang="en-US" sz="1200" dirty="0">
                <a:solidFill>
                  <a:srgbClr val="5B6478"/>
                </a:solidFill>
              </a:rPr>
              <a:t>No guessing; the question goes to program staff</a:t>
            </a:r>
            <a:endParaRPr lang="en-US" sz="1200" dirty="0"/>
          </a:p>
        </p:txBody>
      </p:sp>
      <p:sp>
        <p:nvSpPr>
          <p:cNvPr id="49"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8"/>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47472"/>
            <a:ext cx="8229600" cy="256032"/>
          </a:xfrm>
          <a:prstGeom prst="rect">
            <a:avLst/>
          </a:prstGeom>
          <a:noFill/>
          <a:ln/>
        </p:spPr>
        <p:txBody>
          <a:bodyPr wrap="square" lIns="0" tIns="0" rIns="0" bIns="0" rtlCol="0" anchor="t"/>
          <a:lstStyle/>
          <a:p>
            <a:pPr marL="0" indent="0" algn="l">
              <a:buNone/>
            </a:pPr>
            <a:r>
              <a:rPr lang="en-US" sz="1100" b="1" kern="0" spc="200" dirty="0">
                <a:solidFill>
                  <a:srgbClr val="1547C8"/>
                </a:solidFill>
              </a:rPr>
              <a:t>04  ·  LIVE DEMO</a:t>
            </a:r>
            <a:endParaRPr lang="en-US" sz="1100" dirty="0"/>
          </a:p>
        </p:txBody>
      </p:sp>
      <p:sp>
        <p:nvSpPr>
          <p:cNvPr id="3" name="Text 1"/>
          <p:cNvSpPr>
            <a:spLocks noGrp="1"/>
          </p:cNvSpPr>
          <p:nvPr>
            <p:ph type="title" idx="103" hasCustomPrompt="1"/>
          </p:nvPr>
        </p:nvSpPr>
        <p:spPr>
          <a:xfrm>
            <a:off x="548640" y="603504"/>
            <a:ext cx="11064240" cy="566928"/>
          </a:xfrm>
          <a:prstGeom prst="rect">
            <a:avLst/>
          </a:prstGeom>
          <a:noFill/>
          <a:ln/>
        </p:spPr>
        <p:txBody>
          <a:bodyPr wrap="square" lIns="0" tIns="0" rIns="0" bIns="0" rtlCol="0" anchor="t"/>
          <a:lstStyle/>
          <a:p>
            <a:pPr marL="0" indent="0" algn="l">
              <a:buNone/>
            </a:pPr>
            <a:r>
              <a:rPr lang="en-US" sz="3000" b="1" dirty="0">
                <a:solidFill>
                  <a:srgbClr val="1F2937"/>
                </a:solidFill>
              </a:rPr>
              <a:t>Live demo: a normal, an exception and a safety path</a:t>
            </a:r>
            <a:endParaRPr lang="en-US" sz="3000" dirty="0"/>
          </a:p>
        </p:txBody>
      </p:sp>
      <p:sp>
        <p:nvSpPr>
          <p:cNvPr id="4" name="Text 2"/>
          <p:cNvSpPr txBox="1"/>
          <p:nvPr/>
        </p:nvSpPr>
        <p:spPr>
          <a:xfrm>
            <a:off x="9921240" y="6382512"/>
            <a:ext cx="1097280" cy="219456"/>
          </a:xfrm>
          <a:prstGeom prst="rect">
            <a:avLst/>
          </a:prstGeom>
          <a:noFill/>
          <a:ln/>
        </p:spPr>
        <p:txBody>
          <a:bodyPr wrap="square" lIns="0" tIns="0" rIns="0" bIns="0" rtlCol="0" anchor="ctr"/>
          <a:lstStyle/>
          <a:p>
            <a:pPr marL="0" indent="0" algn="r">
              <a:buNone/>
            </a:pPr>
            <a:r>
              <a:rPr lang="en-US" sz="1000" u="sng" dirty="0">
                <a:solidFill>
                  <a:schemeClr val="tx1"/>
                </a:solidFill>
                <a:hlinkClick r:id="rId3" action="ppaction://hlinksldjump" tooltip="Back to the agenda">
                  <a:extLst>
                    <a:ext uri="{A12FA001-AC4F-418D-AE19-62706E023703}">
                      <ahyp:hlinkClr xmlns:ahyp="http://schemas.microsoft.com/office/drawing/2018/hyperlinkcolor" val="tx"/>
                    </a:ext>
                  </a:extLst>
                </a:hlinkClick>
              </a:rPr>
              <a:t>← Agenda</a:t>
            </a:r>
            <a:endParaRPr lang="en-US" sz="1000" dirty="0"/>
          </a:p>
        </p:txBody>
      </p:sp>
      <p:sp>
        <p:nvSpPr>
          <p:cNvPr id="5" name="Screenshot frame"/>
          <p:cNvSpPr/>
          <p:nvPr/>
        </p:nvSpPr>
        <p:spPr>
          <a:xfrm>
            <a:off x="548640" y="1417320"/>
            <a:ext cx="6858000" cy="3044952"/>
          </a:xfrm>
          <a:prstGeom prst="roundRect">
            <a:avLst>
              <a:gd name="adj" fmla="val 3003"/>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pic>
        <p:nvPicPr>
          <p:cNvPr id="6" name="Image 0" descr="Care assistant screen declining a medication-change request"/>
          <p:cNvPicPr>
            <a:picLocks noChangeAspect="1"/>
          </p:cNvPicPr>
          <p:nvPr/>
        </p:nvPicPr>
        <p:blipFill>
          <a:blip r:embed="rId4"/>
          <a:stretch>
            <a:fillRect/>
          </a:stretch>
        </p:blipFill>
        <p:spPr>
          <a:xfrm>
            <a:off x="658368" y="1527048"/>
            <a:ext cx="6638544" cy="2694854"/>
          </a:xfrm>
          <a:prstGeom prst="rect">
            <a:avLst/>
          </a:prstGeom>
        </p:spPr>
      </p:pic>
      <p:sp>
        <p:nvSpPr>
          <p:cNvPr id="7" name="Text 4"/>
          <p:cNvSpPr txBox="1"/>
          <p:nvPr/>
        </p:nvSpPr>
        <p:spPr>
          <a:xfrm>
            <a:off x="548640" y="4572000"/>
            <a:ext cx="6858000" cy="274320"/>
          </a:xfrm>
          <a:prstGeom prst="rect">
            <a:avLst/>
          </a:prstGeom>
          <a:noFill/>
          <a:ln/>
        </p:spPr>
        <p:txBody>
          <a:bodyPr wrap="square" lIns="0" tIns="0" rIns="0" bIns="0" rtlCol="0" anchor="t"/>
          <a:lstStyle/>
          <a:p>
            <a:pPr marL="0" indent="0">
              <a:buNone/>
            </a:pPr>
            <a:r>
              <a:rPr lang="en-US" sz="1100" dirty="0">
                <a:solidFill>
                  <a:srgbClr val="5B6478"/>
                </a:solidFill>
              </a:rPr>
              <a:t>Care Assistant: a declined medication request, with the disclaimer on the reply</a:t>
            </a:r>
            <a:endParaRPr lang="en-US" sz="1100" dirty="0"/>
          </a:p>
        </p:txBody>
      </p:sp>
      <p:sp>
        <p:nvSpPr>
          <p:cNvPr id="8" name="Text 5"/>
          <p:cNvSpPr txBox="1"/>
          <p:nvPr/>
        </p:nvSpPr>
        <p:spPr>
          <a:xfrm>
            <a:off x="548640" y="5029200"/>
            <a:ext cx="3657600" cy="228600"/>
          </a:xfrm>
          <a:prstGeom prst="rect">
            <a:avLst/>
          </a:prstGeom>
          <a:noFill/>
          <a:ln/>
        </p:spPr>
        <p:txBody>
          <a:bodyPr wrap="square" lIns="0" tIns="0" rIns="0" bIns="0" rtlCol="0" anchor="t"/>
          <a:lstStyle/>
          <a:p>
            <a:pPr marL="0" indent="0">
              <a:buNone/>
            </a:pPr>
            <a:r>
              <a:rPr lang="en-US" sz="1000" b="1" kern="0" spc="200" dirty="0">
                <a:solidFill>
                  <a:schemeClr val="accent1"/>
                </a:solidFill>
              </a:rPr>
              <a:t>WHAT TO WATCH FOR</a:t>
            </a:r>
            <a:endParaRPr lang="en-US" sz="1000" dirty="0"/>
          </a:p>
        </p:txBody>
      </p:sp>
      <p:sp>
        <p:nvSpPr>
          <p:cNvPr id="9" name="Watch card"/>
          <p:cNvSpPr/>
          <p:nvPr/>
        </p:nvSpPr>
        <p:spPr>
          <a:xfrm>
            <a:off x="548640" y="5349240"/>
            <a:ext cx="2194560" cy="731520"/>
          </a:xfrm>
          <a:prstGeom prst="roundRect">
            <a:avLst>
              <a:gd name="adj" fmla="val 12500"/>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pic>
        <p:nvPicPr>
          <p:cNvPr id="10" name="Image 1" descr="Check"/>
          <p:cNvPicPr>
            <a:picLocks noChangeAspect="1"/>
          </p:cNvPicPr>
          <p:nvPr/>
        </p:nvPicPr>
        <p:blipFill>
          <a:blip r:embed="rId5"/>
          <a:stretch>
            <a:fillRect/>
          </a:stretch>
        </p:blipFill>
        <p:spPr>
          <a:xfrm>
            <a:off x="731520" y="5577840"/>
            <a:ext cx="274320" cy="274320"/>
          </a:xfrm>
          <a:prstGeom prst="rect">
            <a:avLst/>
          </a:prstGeom>
        </p:spPr>
      </p:pic>
      <p:sp>
        <p:nvSpPr>
          <p:cNvPr id="11" name="Text 7"/>
          <p:cNvSpPr txBox="1"/>
          <p:nvPr/>
        </p:nvSpPr>
        <p:spPr>
          <a:xfrm>
            <a:off x="1143000" y="5349240"/>
            <a:ext cx="1508760" cy="731520"/>
          </a:xfrm>
          <a:prstGeom prst="rect">
            <a:avLst/>
          </a:prstGeom>
          <a:noFill/>
          <a:ln/>
        </p:spPr>
        <p:txBody>
          <a:bodyPr wrap="square" lIns="0" tIns="0" rIns="0" bIns="0" rtlCol="0" anchor="ctr"/>
          <a:lstStyle/>
          <a:p>
            <a:pPr marL="0" indent="0">
              <a:buNone/>
            </a:pPr>
            <a:r>
              <a:rPr lang="en-US" sz="1250" b="1" dirty="0">
                <a:solidFill>
                  <a:schemeClr val="tx1"/>
                </a:solidFill>
              </a:rPr>
              <a:t>No diagnosis</a:t>
            </a:r>
            <a:endParaRPr lang="en-US" sz="1250" dirty="0"/>
          </a:p>
        </p:txBody>
      </p:sp>
      <p:sp>
        <p:nvSpPr>
          <p:cNvPr id="12" name="Watch card"/>
          <p:cNvSpPr/>
          <p:nvPr/>
        </p:nvSpPr>
        <p:spPr>
          <a:xfrm>
            <a:off x="2880360" y="5349240"/>
            <a:ext cx="2194560" cy="731520"/>
          </a:xfrm>
          <a:prstGeom prst="roundRect">
            <a:avLst>
              <a:gd name="adj" fmla="val 12500"/>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pic>
        <p:nvPicPr>
          <p:cNvPr id="13" name="Image 2" descr="Check"/>
          <p:cNvPicPr>
            <a:picLocks noChangeAspect="1"/>
          </p:cNvPicPr>
          <p:nvPr/>
        </p:nvPicPr>
        <p:blipFill>
          <a:blip r:embed="rId5"/>
          <a:stretch>
            <a:fillRect/>
          </a:stretch>
        </p:blipFill>
        <p:spPr>
          <a:xfrm>
            <a:off x="3063240" y="5577840"/>
            <a:ext cx="274320" cy="274320"/>
          </a:xfrm>
          <a:prstGeom prst="rect">
            <a:avLst/>
          </a:prstGeom>
        </p:spPr>
      </p:pic>
      <p:sp>
        <p:nvSpPr>
          <p:cNvPr id="14" name="Text 9"/>
          <p:cNvSpPr txBox="1"/>
          <p:nvPr/>
        </p:nvSpPr>
        <p:spPr>
          <a:xfrm>
            <a:off x="3474720" y="5349240"/>
            <a:ext cx="1508760" cy="731520"/>
          </a:xfrm>
          <a:prstGeom prst="rect">
            <a:avLst/>
          </a:prstGeom>
          <a:noFill/>
          <a:ln/>
        </p:spPr>
        <p:txBody>
          <a:bodyPr wrap="square" lIns="0" tIns="0" rIns="0" bIns="0" rtlCol="0" anchor="ctr"/>
          <a:lstStyle/>
          <a:p>
            <a:pPr marL="0" indent="0">
              <a:buNone/>
            </a:pPr>
            <a:r>
              <a:rPr lang="en-US" sz="1250" b="1" dirty="0">
                <a:solidFill>
                  <a:schemeClr val="tx1"/>
                </a:solidFill>
              </a:rPr>
              <a:t>Sources shown</a:t>
            </a:r>
            <a:endParaRPr lang="en-US" sz="1250" dirty="0"/>
          </a:p>
        </p:txBody>
      </p:sp>
      <p:sp>
        <p:nvSpPr>
          <p:cNvPr id="15" name="Watch card"/>
          <p:cNvSpPr/>
          <p:nvPr/>
        </p:nvSpPr>
        <p:spPr>
          <a:xfrm>
            <a:off x="5212080" y="5349240"/>
            <a:ext cx="2194560" cy="731520"/>
          </a:xfrm>
          <a:prstGeom prst="roundRect">
            <a:avLst>
              <a:gd name="adj" fmla="val 12500"/>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pic>
        <p:nvPicPr>
          <p:cNvPr id="16" name="Image 3" descr="Check"/>
          <p:cNvPicPr>
            <a:picLocks noChangeAspect="1"/>
          </p:cNvPicPr>
          <p:nvPr/>
        </p:nvPicPr>
        <p:blipFill>
          <a:blip r:embed="rId5"/>
          <a:stretch>
            <a:fillRect/>
          </a:stretch>
        </p:blipFill>
        <p:spPr>
          <a:xfrm>
            <a:off x="5394960" y="5577840"/>
            <a:ext cx="274320" cy="274320"/>
          </a:xfrm>
          <a:prstGeom prst="rect">
            <a:avLst/>
          </a:prstGeom>
        </p:spPr>
      </p:pic>
      <p:sp>
        <p:nvSpPr>
          <p:cNvPr id="17" name="Text 11"/>
          <p:cNvSpPr txBox="1"/>
          <p:nvPr/>
        </p:nvSpPr>
        <p:spPr>
          <a:xfrm>
            <a:off x="5806440" y="5349240"/>
            <a:ext cx="1508760" cy="731520"/>
          </a:xfrm>
          <a:prstGeom prst="rect">
            <a:avLst/>
          </a:prstGeom>
          <a:noFill/>
          <a:ln/>
        </p:spPr>
        <p:txBody>
          <a:bodyPr wrap="square" lIns="0" tIns="0" rIns="0" bIns="0" rtlCol="0" anchor="ctr"/>
          <a:lstStyle/>
          <a:p>
            <a:pPr marL="0" indent="0">
              <a:buNone/>
            </a:pPr>
            <a:r>
              <a:rPr lang="en-US" sz="1250" b="1" dirty="0">
                <a:solidFill>
                  <a:schemeClr val="tx1"/>
                </a:solidFill>
              </a:rPr>
              <a:t>Disclaimer on every reply</a:t>
            </a:r>
            <a:endParaRPr lang="en-US" sz="1250" dirty="0"/>
          </a:p>
        </p:txBody>
      </p:sp>
      <p:sp>
        <p:nvSpPr>
          <p:cNvPr id="18" name="Demo flow"/>
          <p:cNvSpPr/>
          <p:nvPr/>
        </p:nvSpPr>
        <p:spPr>
          <a:xfrm>
            <a:off x="7680960" y="1417320"/>
            <a:ext cx="3959352" cy="4663440"/>
          </a:xfrm>
          <a:prstGeom prst="roundRect">
            <a:avLst>
              <a:gd name="adj" fmla="val 2309"/>
            </a:avLst>
          </a:prstGeom>
          <a:solidFill>
            <a:schemeClr val="tx2"/>
          </a:solidFill>
          <a:ln w="12700">
            <a:solidFill>
              <a:srgbClr val="0A1F5C"/>
            </a:solidFill>
            <a:prstDash val="solid"/>
          </a:ln>
        </p:spPr>
      </p:sp>
      <p:sp>
        <p:nvSpPr>
          <p:cNvPr id="19" name="Text 13"/>
          <p:cNvSpPr txBox="1"/>
          <p:nvPr/>
        </p:nvSpPr>
        <p:spPr>
          <a:xfrm>
            <a:off x="7955280" y="1627632"/>
            <a:ext cx="3200400" cy="228600"/>
          </a:xfrm>
          <a:prstGeom prst="rect">
            <a:avLst/>
          </a:prstGeom>
          <a:noFill/>
          <a:ln/>
        </p:spPr>
        <p:txBody>
          <a:bodyPr wrap="square" lIns="0" tIns="0" rIns="0" bIns="0" rtlCol="0" anchor="t"/>
          <a:lstStyle/>
          <a:p>
            <a:pPr marL="0" indent="0">
              <a:buNone/>
            </a:pPr>
            <a:r>
              <a:rPr lang="en-US" sz="1000" b="1" kern="0" spc="200" dirty="0">
                <a:solidFill>
                  <a:srgbClr val="3CC3F0"/>
                </a:solidFill>
              </a:rPr>
              <a:t>DEMO FLOW</a:t>
            </a:r>
            <a:endParaRPr lang="en-US" sz="1000" dirty="0"/>
          </a:p>
        </p:txBody>
      </p:sp>
      <p:sp>
        <p:nvSpPr>
          <p:cNvPr id="20" name="Shape 14"/>
          <p:cNvSpPr/>
          <p:nvPr/>
        </p:nvSpPr>
        <p:spPr>
          <a:xfrm>
            <a:off x="7955280" y="2011680"/>
            <a:ext cx="384048" cy="384048"/>
          </a:xfrm>
          <a:prstGeom prst="ellipse">
            <a:avLst/>
          </a:prstGeom>
          <a:solidFill>
            <a:schemeClr val="accent2"/>
          </a:solidFill>
          <a:ln w="12700">
            <a:solidFill>
              <a:schemeClr val="accent2"/>
            </a:solidFill>
            <a:prstDash val="solid"/>
          </a:ln>
        </p:spPr>
      </p:sp>
      <p:sp>
        <p:nvSpPr>
          <p:cNvPr id="21" name="Text 15"/>
          <p:cNvSpPr txBox="1"/>
          <p:nvPr/>
        </p:nvSpPr>
        <p:spPr>
          <a:xfrm>
            <a:off x="7955280" y="2011680"/>
            <a:ext cx="384048" cy="384048"/>
          </a:xfrm>
          <a:prstGeom prst="rect">
            <a:avLst/>
          </a:prstGeom>
          <a:noFill/>
          <a:ln/>
        </p:spPr>
        <p:txBody>
          <a:bodyPr wrap="square" lIns="0" tIns="0" rIns="0" bIns="0" rtlCol="0" anchor="ctr"/>
          <a:lstStyle/>
          <a:p>
            <a:pPr marL="0" indent="0" algn="ctr">
              <a:buNone/>
            </a:pPr>
            <a:r>
              <a:rPr lang="en-US" sz="1300" b="1" dirty="0">
                <a:solidFill>
                  <a:srgbClr val="0A1F5C"/>
                </a:solidFill>
              </a:rPr>
              <a:t>1</a:t>
            </a:r>
            <a:endParaRPr lang="en-US" sz="1300" dirty="0"/>
          </a:p>
        </p:txBody>
      </p:sp>
      <p:sp>
        <p:nvSpPr>
          <p:cNvPr id="22" name="Text 16"/>
          <p:cNvSpPr txBox="1"/>
          <p:nvPr/>
        </p:nvSpPr>
        <p:spPr>
          <a:xfrm>
            <a:off x="8503920" y="1993392"/>
            <a:ext cx="2926080" cy="219456"/>
          </a:xfrm>
          <a:prstGeom prst="rect">
            <a:avLst/>
          </a:prstGeom>
          <a:noFill/>
          <a:ln/>
        </p:spPr>
        <p:txBody>
          <a:bodyPr wrap="square" lIns="0" tIns="0" rIns="0" bIns="0" rtlCol="0" anchor="t"/>
          <a:lstStyle/>
          <a:p>
            <a:pPr marL="0" indent="0">
              <a:buNone/>
            </a:pPr>
            <a:r>
              <a:rPr lang="en-US" sz="1000" b="1" kern="0" spc="200" dirty="0">
                <a:solidFill>
                  <a:srgbClr val="3CC3F0"/>
                </a:solidFill>
              </a:rPr>
              <a:t>NORMAL</a:t>
            </a:r>
            <a:endParaRPr lang="en-US" sz="1000" dirty="0"/>
          </a:p>
        </p:txBody>
      </p:sp>
      <p:sp>
        <p:nvSpPr>
          <p:cNvPr id="23" name="Text 17"/>
          <p:cNvSpPr txBox="1"/>
          <p:nvPr/>
        </p:nvSpPr>
        <p:spPr>
          <a:xfrm>
            <a:off x="8503920" y="2240280"/>
            <a:ext cx="2971800" cy="566928"/>
          </a:xfrm>
          <a:prstGeom prst="rect">
            <a:avLst/>
          </a:prstGeom>
          <a:noFill/>
          <a:ln/>
        </p:spPr>
        <p:txBody>
          <a:bodyPr wrap="square" lIns="0" tIns="0" rIns="0" bIns="0" rtlCol="0" anchor="t"/>
          <a:lstStyle/>
          <a:p>
            <a:pPr marL="0" indent="0">
              <a:buNone/>
            </a:pPr>
            <a:r>
              <a:rPr lang="en-US" sz="1200" dirty="0">
                <a:solidFill>
                  <a:srgbClr val="FFFFFF"/>
                </a:solidFill>
              </a:rPr>
              <a:t>M-101 asks why to record readings at home</a:t>
            </a:r>
            <a:endParaRPr lang="en-US" sz="1200" dirty="0"/>
          </a:p>
        </p:txBody>
      </p:sp>
      <p:sp>
        <p:nvSpPr>
          <p:cNvPr id="24" name="Text 18"/>
          <p:cNvSpPr txBox="1"/>
          <p:nvPr/>
        </p:nvSpPr>
        <p:spPr>
          <a:xfrm>
            <a:off x="8503920" y="2724912"/>
            <a:ext cx="2971800" cy="274320"/>
          </a:xfrm>
          <a:prstGeom prst="rect">
            <a:avLst/>
          </a:prstGeom>
          <a:noFill/>
          <a:ln/>
        </p:spPr>
        <p:txBody>
          <a:bodyPr wrap="square" lIns="0" tIns="0" rIns="0" bIns="0" rtlCol="0" anchor="t"/>
          <a:lstStyle/>
          <a:p>
            <a:pPr marL="0" indent="0">
              <a:buNone/>
            </a:pPr>
            <a:r>
              <a:rPr lang="en-US" sz="1100" b="1" dirty="0">
                <a:solidFill>
                  <a:srgbClr val="CFE0FF"/>
                </a:solidFill>
              </a:rPr>
              <a:t>Cited answer: EDU-401 (v4)</a:t>
            </a:r>
            <a:endParaRPr lang="en-US" sz="1100" dirty="0"/>
          </a:p>
        </p:txBody>
      </p:sp>
      <p:sp>
        <p:nvSpPr>
          <p:cNvPr id="25" name="Shape 19"/>
          <p:cNvSpPr/>
          <p:nvPr/>
        </p:nvSpPr>
        <p:spPr>
          <a:xfrm>
            <a:off x="7955280" y="3383280"/>
            <a:ext cx="384048" cy="384048"/>
          </a:xfrm>
          <a:prstGeom prst="ellipse">
            <a:avLst/>
          </a:prstGeom>
          <a:solidFill>
            <a:schemeClr val="accent2"/>
          </a:solidFill>
          <a:ln w="12700">
            <a:solidFill>
              <a:schemeClr val="accent2"/>
            </a:solidFill>
            <a:prstDash val="solid"/>
          </a:ln>
        </p:spPr>
      </p:sp>
      <p:sp>
        <p:nvSpPr>
          <p:cNvPr id="26" name="Text 20"/>
          <p:cNvSpPr txBox="1"/>
          <p:nvPr/>
        </p:nvSpPr>
        <p:spPr>
          <a:xfrm>
            <a:off x="7955280" y="3383280"/>
            <a:ext cx="384048" cy="384048"/>
          </a:xfrm>
          <a:prstGeom prst="rect">
            <a:avLst/>
          </a:prstGeom>
          <a:noFill/>
          <a:ln/>
        </p:spPr>
        <p:txBody>
          <a:bodyPr wrap="square" lIns="0" tIns="0" rIns="0" bIns="0" rtlCol="0" anchor="ctr"/>
          <a:lstStyle/>
          <a:p>
            <a:pPr marL="0" indent="0" algn="ctr">
              <a:buNone/>
            </a:pPr>
            <a:r>
              <a:rPr lang="en-US" sz="1300" b="1" dirty="0">
                <a:solidFill>
                  <a:srgbClr val="0A1F5C"/>
                </a:solidFill>
              </a:rPr>
              <a:t>2</a:t>
            </a:r>
            <a:endParaRPr lang="en-US" sz="1300" dirty="0"/>
          </a:p>
        </p:txBody>
      </p:sp>
      <p:sp>
        <p:nvSpPr>
          <p:cNvPr id="27" name="Text 21"/>
          <p:cNvSpPr txBox="1"/>
          <p:nvPr/>
        </p:nvSpPr>
        <p:spPr>
          <a:xfrm>
            <a:off x="8503920" y="3364992"/>
            <a:ext cx="2926080" cy="219456"/>
          </a:xfrm>
          <a:prstGeom prst="rect">
            <a:avLst/>
          </a:prstGeom>
          <a:noFill/>
          <a:ln/>
        </p:spPr>
        <p:txBody>
          <a:bodyPr wrap="square" lIns="0" tIns="0" rIns="0" bIns="0" rtlCol="0" anchor="t"/>
          <a:lstStyle/>
          <a:p>
            <a:pPr marL="0" indent="0">
              <a:buNone/>
            </a:pPr>
            <a:r>
              <a:rPr lang="en-US" sz="1000" b="1" kern="0" spc="200" dirty="0">
                <a:solidFill>
                  <a:srgbClr val="3CC3F0"/>
                </a:solidFill>
              </a:rPr>
              <a:t>EXCEPTION</a:t>
            </a:r>
            <a:endParaRPr lang="en-US" sz="1000" dirty="0"/>
          </a:p>
        </p:txBody>
      </p:sp>
      <p:sp>
        <p:nvSpPr>
          <p:cNvPr id="28" name="Text 22"/>
          <p:cNvSpPr txBox="1"/>
          <p:nvPr/>
        </p:nvSpPr>
        <p:spPr>
          <a:xfrm>
            <a:off x="8503920" y="3611880"/>
            <a:ext cx="2971800" cy="566928"/>
          </a:xfrm>
          <a:prstGeom prst="rect">
            <a:avLst/>
          </a:prstGeom>
          <a:noFill/>
          <a:ln/>
        </p:spPr>
        <p:txBody>
          <a:bodyPr wrap="square" lIns="0" tIns="0" rIns="0" bIns="0" rtlCol="0" anchor="t"/>
          <a:lstStyle/>
          <a:p>
            <a:pPr marL="0" indent="0">
              <a:buNone/>
            </a:pPr>
            <a:r>
              <a:rPr lang="en-US" sz="1200" dirty="0">
                <a:solidFill>
                  <a:srgbClr val="FFFFFF"/>
                </a:solidFill>
              </a:rPr>
              <a:t>M-103 asks anything; consent has expired</a:t>
            </a:r>
            <a:endParaRPr lang="en-US" sz="1200" dirty="0"/>
          </a:p>
        </p:txBody>
      </p:sp>
      <p:sp>
        <p:nvSpPr>
          <p:cNvPr id="29" name="Text 23"/>
          <p:cNvSpPr txBox="1"/>
          <p:nvPr/>
        </p:nvSpPr>
        <p:spPr>
          <a:xfrm>
            <a:off x="8503920" y="4096512"/>
            <a:ext cx="2971800" cy="274320"/>
          </a:xfrm>
          <a:prstGeom prst="rect">
            <a:avLst/>
          </a:prstGeom>
          <a:noFill/>
          <a:ln/>
        </p:spPr>
        <p:txBody>
          <a:bodyPr wrap="square" lIns="0" tIns="0" rIns="0" bIns="0" rtlCol="0" anchor="t"/>
          <a:lstStyle/>
          <a:p>
            <a:pPr marL="0" indent="0">
              <a:buNone/>
            </a:pPr>
            <a:r>
              <a:rPr lang="en-US" sz="1100" b="1" dirty="0">
                <a:solidFill>
                  <a:srgbClr val="CFE0FF"/>
                </a:solidFill>
              </a:rPr>
              <a:t>Processing stops: ER-501, staff</a:t>
            </a:r>
            <a:endParaRPr lang="en-US" sz="1100" dirty="0"/>
          </a:p>
        </p:txBody>
      </p:sp>
      <p:sp>
        <p:nvSpPr>
          <p:cNvPr id="30" name="Shape 24"/>
          <p:cNvSpPr/>
          <p:nvPr/>
        </p:nvSpPr>
        <p:spPr>
          <a:xfrm>
            <a:off x="7955280" y="4754880"/>
            <a:ext cx="384048" cy="384048"/>
          </a:xfrm>
          <a:prstGeom prst="ellipse">
            <a:avLst/>
          </a:prstGeom>
          <a:solidFill>
            <a:schemeClr val="accent2"/>
          </a:solidFill>
          <a:ln w="12700">
            <a:solidFill>
              <a:schemeClr val="accent2"/>
            </a:solidFill>
            <a:prstDash val="solid"/>
          </a:ln>
        </p:spPr>
      </p:sp>
      <p:sp>
        <p:nvSpPr>
          <p:cNvPr id="31" name="Text 25"/>
          <p:cNvSpPr txBox="1"/>
          <p:nvPr/>
        </p:nvSpPr>
        <p:spPr>
          <a:xfrm>
            <a:off x="7955280" y="4754880"/>
            <a:ext cx="384048" cy="384048"/>
          </a:xfrm>
          <a:prstGeom prst="rect">
            <a:avLst/>
          </a:prstGeom>
          <a:noFill/>
          <a:ln/>
        </p:spPr>
        <p:txBody>
          <a:bodyPr wrap="square" lIns="0" tIns="0" rIns="0" bIns="0" rtlCol="0" anchor="ctr"/>
          <a:lstStyle/>
          <a:p>
            <a:pPr marL="0" indent="0" algn="ctr">
              <a:buNone/>
            </a:pPr>
            <a:r>
              <a:rPr lang="en-US" sz="1300" b="1" dirty="0">
                <a:solidFill>
                  <a:srgbClr val="0A1F5C"/>
                </a:solidFill>
              </a:rPr>
              <a:t>3</a:t>
            </a:r>
            <a:endParaRPr lang="en-US" sz="1300" dirty="0"/>
          </a:p>
        </p:txBody>
      </p:sp>
      <p:sp>
        <p:nvSpPr>
          <p:cNvPr id="32" name="Text 26"/>
          <p:cNvSpPr txBox="1"/>
          <p:nvPr/>
        </p:nvSpPr>
        <p:spPr>
          <a:xfrm>
            <a:off x="8503920" y="4736592"/>
            <a:ext cx="2926080" cy="219456"/>
          </a:xfrm>
          <a:prstGeom prst="rect">
            <a:avLst/>
          </a:prstGeom>
          <a:noFill/>
          <a:ln/>
        </p:spPr>
        <p:txBody>
          <a:bodyPr wrap="square" lIns="0" tIns="0" rIns="0" bIns="0" rtlCol="0" anchor="t"/>
          <a:lstStyle/>
          <a:p>
            <a:pPr marL="0" indent="0">
              <a:buNone/>
            </a:pPr>
            <a:r>
              <a:rPr lang="en-US" sz="1000" b="1" kern="0" spc="200" dirty="0">
                <a:solidFill>
                  <a:srgbClr val="3CC3F0"/>
                </a:solidFill>
              </a:rPr>
              <a:t>SAFETY</a:t>
            </a:r>
            <a:endParaRPr lang="en-US" sz="1000" dirty="0"/>
          </a:p>
        </p:txBody>
      </p:sp>
      <p:sp>
        <p:nvSpPr>
          <p:cNvPr id="33" name="Text 27"/>
          <p:cNvSpPr txBox="1"/>
          <p:nvPr/>
        </p:nvSpPr>
        <p:spPr>
          <a:xfrm>
            <a:off x="8503920" y="4983480"/>
            <a:ext cx="2971800" cy="566928"/>
          </a:xfrm>
          <a:prstGeom prst="rect">
            <a:avLst/>
          </a:prstGeom>
          <a:noFill/>
          <a:ln/>
        </p:spPr>
        <p:txBody>
          <a:bodyPr wrap="square" lIns="0" tIns="0" rIns="0" bIns="0" rtlCol="0" anchor="t"/>
          <a:lstStyle/>
          <a:p>
            <a:pPr marL="0" indent="0">
              <a:buNone/>
            </a:pPr>
            <a:r>
              <a:rPr lang="en-US" sz="1200" dirty="0">
                <a:solidFill>
                  <a:srgbClr val="FFFFFF"/>
                </a:solidFill>
              </a:rPr>
              <a:t>M-101 asks to raise an insulin dose; M-102 asks for a blood pressure summary</a:t>
            </a:r>
            <a:endParaRPr lang="en-US" sz="1200" dirty="0"/>
          </a:p>
        </p:txBody>
      </p:sp>
      <p:sp>
        <p:nvSpPr>
          <p:cNvPr id="34" name="Text 28"/>
          <p:cNvSpPr txBox="1"/>
          <p:nvPr/>
        </p:nvSpPr>
        <p:spPr>
          <a:xfrm>
            <a:off x="8503920" y="5650992"/>
            <a:ext cx="2971800" cy="274320"/>
          </a:xfrm>
          <a:prstGeom prst="rect">
            <a:avLst/>
          </a:prstGeom>
          <a:noFill/>
          <a:ln/>
        </p:spPr>
        <p:txBody>
          <a:bodyPr wrap="square" lIns="0" tIns="0" rIns="0" bIns="0" rtlCol="0" anchor="t"/>
          <a:lstStyle/>
          <a:p>
            <a:pPr marL="0" indent="0">
              <a:buNone/>
            </a:pPr>
            <a:r>
              <a:rPr lang="en-US" sz="1100" b="1" dirty="0">
                <a:solidFill>
                  <a:srgbClr val="CFE0FF"/>
                </a:solidFill>
              </a:rPr>
              <a:t>ER-503 declined; ER-502 urgent review</a:t>
            </a:r>
            <a:endParaRPr lang="en-US" sz="1100" dirty="0"/>
          </a:p>
        </p:txBody>
      </p:sp>
      <p:sp>
        <p:nvSpPr>
          <p:cNvPr id="3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8"/>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47472"/>
            <a:ext cx="8229600" cy="256032"/>
          </a:xfrm>
          <a:prstGeom prst="rect">
            <a:avLst/>
          </a:prstGeom>
          <a:noFill/>
          <a:ln/>
        </p:spPr>
        <p:txBody>
          <a:bodyPr wrap="square" lIns="0" tIns="0" rIns="0" bIns="0" rtlCol="0" anchor="t"/>
          <a:lstStyle/>
          <a:p>
            <a:pPr marL="0" indent="0" algn="l">
              <a:buNone/>
            </a:pPr>
            <a:r>
              <a:rPr lang="en-US" sz="1100" b="1" kern="0" spc="200" dirty="0">
                <a:solidFill>
                  <a:srgbClr val="1547C8"/>
                </a:solidFill>
              </a:rPr>
              <a:t>04  ·  ESCALATION RULES</a:t>
            </a:r>
            <a:endParaRPr lang="en-US" sz="1100" dirty="0"/>
          </a:p>
        </p:txBody>
      </p:sp>
      <p:sp>
        <p:nvSpPr>
          <p:cNvPr id="3" name="Text 1"/>
          <p:cNvSpPr>
            <a:spLocks noGrp="1"/>
          </p:cNvSpPr>
          <p:nvPr>
            <p:ph type="title" idx="103" hasCustomPrompt="1"/>
          </p:nvPr>
        </p:nvSpPr>
        <p:spPr>
          <a:xfrm>
            <a:off x="548640" y="603504"/>
            <a:ext cx="11064240" cy="566928"/>
          </a:xfrm>
          <a:prstGeom prst="rect">
            <a:avLst/>
          </a:prstGeom>
          <a:noFill/>
          <a:ln/>
        </p:spPr>
        <p:txBody>
          <a:bodyPr wrap="square" lIns="0" tIns="0" rIns="0" bIns="0" rtlCol="0" anchor="t"/>
          <a:lstStyle/>
          <a:p>
            <a:pPr marL="0" indent="0" algn="l">
              <a:buNone/>
            </a:pPr>
            <a:r>
              <a:rPr lang="en-US" sz="3000" b="1" dirty="0">
                <a:solidFill>
                  <a:srgbClr val="1F2937"/>
                </a:solidFill>
              </a:rPr>
              <a:t>Four rules, applied exactly as supplied</a:t>
            </a:r>
            <a:endParaRPr lang="en-US" sz="3000" dirty="0"/>
          </a:p>
        </p:txBody>
      </p:sp>
      <p:sp>
        <p:nvSpPr>
          <p:cNvPr id="4" name="Text 2"/>
          <p:cNvSpPr txBox="1"/>
          <p:nvPr/>
        </p:nvSpPr>
        <p:spPr>
          <a:xfrm>
            <a:off x="9921240" y="6382512"/>
            <a:ext cx="1097280" cy="219456"/>
          </a:xfrm>
          <a:prstGeom prst="rect">
            <a:avLst/>
          </a:prstGeom>
          <a:noFill/>
          <a:ln/>
        </p:spPr>
        <p:txBody>
          <a:bodyPr wrap="square" lIns="0" tIns="0" rIns="0" bIns="0" rtlCol="0" anchor="ctr"/>
          <a:lstStyle/>
          <a:p>
            <a:pPr marL="0" indent="0" algn="r">
              <a:buNone/>
            </a:pPr>
            <a:r>
              <a:rPr lang="en-US" sz="1000" u="sng" dirty="0">
                <a:solidFill>
                  <a:schemeClr val="tx1"/>
                </a:solidFill>
                <a:hlinkClick r:id="rId3" action="ppaction://hlinksldjump" tooltip="Back to the agenda">
                  <a:extLst>
                    <a:ext uri="{A12FA001-AC4F-418D-AE19-62706E023703}">
                      <ahyp:hlinkClr xmlns:ahyp="http://schemas.microsoft.com/office/drawing/2018/hyperlinkcolor" val="tx"/>
                    </a:ext>
                  </a:extLst>
                </a:hlinkClick>
              </a:rPr>
              <a:t>← Agenda</a:t>
            </a:r>
            <a:endParaRPr lang="en-US" sz="1000" dirty="0"/>
          </a:p>
        </p:txBody>
      </p:sp>
      <p:sp>
        <p:nvSpPr>
          <p:cNvPr id="5" name="Screenshot frame"/>
          <p:cNvSpPr/>
          <p:nvPr/>
        </p:nvSpPr>
        <p:spPr>
          <a:xfrm>
            <a:off x="548640" y="1417320"/>
            <a:ext cx="5394960" cy="2926080"/>
          </a:xfrm>
          <a:prstGeom prst="roundRect">
            <a:avLst>
              <a:gd name="adj" fmla="val 3125"/>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pic>
        <p:nvPicPr>
          <p:cNvPr id="6" name="Image 0" descr="Staff review queue listing urgent cases"/>
          <p:cNvPicPr>
            <a:picLocks noChangeAspect="1"/>
          </p:cNvPicPr>
          <p:nvPr/>
        </p:nvPicPr>
        <p:blipFill>
          <a:blip r:embed="rId4"/>
          <a:stretch>
            <a:fillRect/>
          </a:stretch>
        </p:blipFill>
        <p:spPr>
          <a:xfrm>
            <a:off x="658368" y="1527048"/>
            <a:ext cx="5175504" cy="2613373"/>
          </a:xfrm>
          <a:prstGeom prst="rect">
            <a:avLst/>
          </a:prstGeom>
        </p:spPr>
      </p:pic>
      <p:sp>
        <p:nvSpPr>
          <p:cNvPr id="7" name="Text 4"/>
          <p:cNvSpPr txBox="1"/>
          <p:nvPr/>
        </p:nvSpPr>
        <p:spPr>
          <a:xfrm>
            <a:off x="548640" y="4462272"/>
            <a:ext cx="5394960" cy="274320"/>
          </a:xfrm>
          <a:prstGeom prst="rect">
            <a:avLst/>
          </a:prstGeom>
          <a:noFill/>
          <a:ln/>
        </p:spPr>
        <p:txBody>
          <a:bodyPr wrap="square" lIns="0" tIns="0" rIns="0" bIns="0" rtlCol="0" anchor="t"/>
          <a:lstStyle/>
          <a:p>
            <a:pPr marL="0" indent="0">
              <a:buNone/>
            </a:pPr>
            <a:r>
              <a:rPr lang="en-US" sz="1100" dirty="0">
                <a:solidFill>
                  <a:srgbClr val="5B6478"/>
                </a:solidFill>
              </a:rPr>
              <a:t>Staff review queue: every rule match waits for a person</a:t>
            </a:r>
            <a:endParaRPr lang="en-US" sz="1100" dirty="0"/>
          </a:p>
        </p:txBody>
      </p:sp>
      <p:sp>
        <p:nvSpPr>
          <p:cNvPr id="8" name="Placeholder warning"/>
          <p:cNvSpPr/>
          <p:nvPr/>
        </p:nvSpPr>
        <p:spPr>
          <a:xfrm>
            <a:off x="548640" y="4892040"/>
            <a:ext cx="5394960" cy="1188720"/>
          </a:xfrm>
          <a:prstGeom prst="roundRect">
            <a:avLst>
              <a:gd name="adj" fmla="val 7692"/>
            </a:avLst>
          </a:prstGeom>
          <a:solidFill>
            <a:srgbClr val="FFF4DD"/>
          </a:solidFill>
          <a:ln w="12700">
            <a:solidFill>
              <a:srgbClr val="F3D9A4"/>
            </a:solidFill>
            <a:prstDash val="solid"/>
          </a:ln>
        </p:spPr>
      </p:sp>
      <p:sp>
        <p:nvSpPr>
          <p:cNvPr id="9" name="IconCircle"/>
          <p:cNvSpPr/>
          <p:nvPr/>
        </p:nvSpPr>
        <p:spPr>
          <a:xfrm>
            <a:off x="777240" y="5184648"/>
            <a:ext cx="548640" cy="548640"/>
          </a:xfrm>
          <a:prstGeom prst="ellipse">
            <a:avLst/>
          </a:prstGeom>
          <a:solidFill>
            <a:srgbClr val="F5A524"/>
          </a:solidFill>
          <a:ln w="12700">
            <a:solidFill>
              <a:srgbClr val="F5A524"/>
            </a:solidFill>
            <a:prstDash val="solid"/>
          </a:ln>
        </p:spPr>
      </p:sp>
      <p:pic>
        <p:nvPicPr>
          <p:cNvPr id="10" name="Image 1" descr="ExclamationTriangle icon"/>
          <p:cNvPicPr>
            <a:picLocks noChangeAspect="1"/>
          </p:cNvPicPr>
          <p:nvPr/>
        </p:nvPicPr>
        <p:blipFill>
          <a:blip r:embed="rId5"/>
          <a:stretch>
            <a:fillRect/>
          </a:stretch>
        </p:blipFill>
        <p:spPr>
          <a:xfrm>
            <a:off x="914400" y="5321808"/>
            <a:ext cx="274320" cy="274320"/>
          </a:xfrm>
          <a:prstGeom prst="rect">
            <a:avLst/>
          </a:prstGeom>
        </p:spPr>
      </p:pic>
      <p:sp>
        <p:nvSpPr>
          <p:cNvPr id="11" name="Text 7"/>
          <p:cNvSpPr txBox="1"/>
          <p:nvPr/>
        </p:nvSpPr>
        <p:spPr>
          <a:xfrm>
            <a:off x="1508760" y="5074920"/>
            <a:ext cx="4297680" cy="274320"/>
          </a:xfrm>
          <a:prstGeom prst="rect">
            <a:avLst/>
          </a:prstGeom>
          <a:noFill/>
          <a:ln/>
        </p:spPr>
        <p:txBody>
          <a:bodyPr wrap="square" lIns="0" tIns="0" rIns="0" bIns="0" rtlCol="0" anchor="t"/>
          <a:lstStyle/>
          <a:p>
            <a:pPr marL="0" indent="0">
              <a:buNone/>
            </a:pPr>
            <a:r>
              <a:rPr lang="en-US" sz="1300" b="1" dirty="0">
                <a:solidFill>
                  <a:schemeClr val="tx1"/>
                </a:solidFill>
              </a:rPr>
              <a:t>ER-502 test values are placeholders</a:t>
            </a:r>
            <a:endParaRPr lang="en-US" sz="1300" dirty="0"/>
          </a:p>
        </p:txBody>
      </p:sp>
      <p:sp>
        <p:nvSpPr>
          <p:cNvPr id="12" name="Text 8"/>
          <p:cNvSpPr txBox="1"/>
          <p:nvPr/>
        </p:nvSpPr>
        <p:spPr>
          <a:xfrm>
            <a:off x="1508760" y="5376672"/>
            <a:ext cx="4297680" cy="548640"/>
          </a:xfrm>
          <a:prstGeom prst="rect">
            <a:avLst/>
          </a:prstGeom>
          <a:noFill/>
          <a:ln/>
        </p:spPr>
        <p:txBody>
          <a:bodyPr wrap="square" lIns="0" tIns="0" rIns="0" bIns="0" rtlCol="0" anchor="t"/>
          <a:lstStyle/>
          <a:p>
            <a:pPr marL="0" indent="0">
              <a:buNone/>
            </a:pPr>
            <a:r>
              <a:rPr lang="en-US" sz="1150" dirty="0">
                <a:solidFill>
                  <a:srgbClr val="5B6478"/>
                </a:solidFill>
              </a:rPr>
              <a:t>Blood pressure 160/100 and glucose 300 are training values, not clinical thresholds.</a:t>
            </a:r>
            <a:endParaRPr lang="en-US" sz="1150" dirty="0"/>
          </a:p>
        </p:txBody>
      </p:sp>
      <p:sp>
        <p:nvSpPr>
          <p:cNvPr id="13" name="Rule card"/>
          <p:cNvSpPr/>
          <p:nvPr/>
        </p:nvSpPr>
        <p:spPr>
          <a:xfrm>
            <a:off x="6309360" y="1417320"/>
            <a:ext cx="5330952" cy="1051560"/>
          </a:xfrm>
          <a:prstGeom prst="roundRect">
            <a:avLst>
              <a:gd name="adj" fmla="val 8696"/>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14" name="Pill"/>
          <p:cNvSpPr/>
          <p:nvPr/>
        </p:nvSpPr>
        <p:spPr>
          <a:xfrm>
            <a:off x="6537960" y="1783080"/>
            <a:ext cx="914400" cy="329184"/>
          </a:xfrm>
          <a:prstGeom prst="roundRect">
            <a:avLst>
              <a:gd name="adj" fmla="val 50000"/>
            </a:avLst>
          </a:prstGeom>
          <a:solidFill>
            <a:srgbClr val="E5484D"/>
          </a:solidFill>
          <a:ln w="12700">
            <a:solidFill>
              <a:srgbClr val="E5484D"/>
            </a:solidFill>
            <a:prstDash val="solid"/>
          </a:ln>
        </p:spPr>
      </p:sp>
      <p:sp>
        <p:nvSpPr>
          <p:cNvPr id="15" name="Text 11"/>
          <p:cNvSpPr txBox="1"/>
          <p:nvPr/>
        </p:nvSpPr>
        <p:spPr>
          <a:xfrm>
            <a:off x="6537960" y="1783080"/>
            <a:ext cx="914400" cy="329184"/>
          </a:xfrm>
          <a:prstGeom prst="rect">
            <a:avLst/>
          </a:prstGeom>
          <a:noFill/>
          <a:ln/>
        </p:spPr>
        <p:txBody>
          <a:bodyPr wrap="square" lIns="0" tIns="0" rIns="0" bIns="0" rtlCol="0" anchor="ctr"/>
          <a:lstStyle/>
          <a:p>
            <a:pPr marL="0" indent="0" algn="ctr">
              <a:buNone/>
            </a:pPr>
            <a:r>
              <a:rPr lang="en-US" sz="1100" b="1" dirty="0">
                <a:solidFill>
                  <a:srgbClr val="FFFFFF"/>
                </a:solidFill>
              </a:rPr>
              <a:t>ER-501</a:t>
            </a:r>
            <a:endParaRPr lang="en-US" sz="1100" dirty="0"/>
          </a:p>
        </p:txBody>
      </p:sp>
      <p:sp>
        <p:nvSpPr>
          <p:cNvPr id="16" name="Text 12"/>
          <p:cNvSpPr txBox="1"/>
          <p:nvPr/>
        </p:nvSpPr>
        <p:spPr>
          <a:xfrm>
            <a:off x="7680960" y="1600200"/>
            <a:ext cx="3840480" cy="274320"/>
          </a:xfrm>
          <a:prstGeom prst="rect">
            <a:avLst/>
          </a:prstGeom>
          <a:noFill/>
          <a:ln/>
        </p:spPr>
        <p:txBody>
          <a:bodyPr wrap="square" lIns="0" tIns="0" rIns="0" bIns="0" rtlCol="0" anchor="t"/>
          <a:lstStyle/>
          <a:p>
            <a:pPr marL="0" indent="0">
              <a:buNone/>
            </a:pPr>
            <a:r>
              <a:rPr lang="en-US" sz="1300" b="1" dirty="0">
                <a:solidFill>
                  <a:schemeClr val="tx1"/>
                </a:solidFill>
              </a:rPr>
              <a:t>Consent is not active</a:t>
            </a:r>
            <a:endParaRPr lang="en-US" sz="1300" dirty="0"/>
          </a:p>
        </p:txBody>
      </p:sp>
      <p:sp>
        <p:nvSpPr>
          <p:cNvPr id="17" name="Text 13"/>
          <p:cNvSpPr txBox="1"/>
          <p:nvPr/>
        </p:nvSpPr>
        <p:spPr>
          <a:xfrm>
            <a:off x="7680960" y="1920240"/>
            <a:ext cx="3840480" cy="457200"/>
          </a:xfrm>
          <a:prstGeom prst="rect">
            <a:avLst/>
          </a:prstGeom>
          <a:noFill/>
          <a:ln/>
        </p:spPr>
        <p:txBody>
          <a:bodyPr wrap="square" lIns="0" tIns="0" rIns="0" bIns="0" rtlCol="0" anchor="t"/>
          <a:lstStyle/>
          <a:p>
            <a:pPr marL="0" indent="0">
              <a:buNone/>
            </a:pPr>
            <a:r>
              <a:rPr lang="en-US" sz="1150" dirty="0">
                <a:solidFill>
                  <a:srgbClr val="5B6478"/>
                </a:solidFill>
              </a:rPr>
              <a:t>Stop processing and direct the member to program staff</a:t>
            </a:r>
            <a:endParaRPr lang="en-US" sz="1150" dirty="0"/>
          </a:p>
        </p:txBody>
      </p:sp>
      <p:sp>
        <p:nvSpPr>
          <p:cNvPr id="18" name="Rule card"/>
          <p:cNvSpPr/>
          <p:nvPr/>
        </p:nvSpPr>
        <p:spPr>
          <a:xfrm>
            <a:off x="6309360" y="2606040"/>
            <a:ext cx="5330952" cy="1051560"/>
          </a:xfrm>
          <a:prstGeom prst="roundRect">
            <a:avLst>
              <a:gd name="adj" fmla="val 8696"/>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19" name="Pill"/>
          <p:cNvSpPr/>
          <p:nvPr/>
        </p:nvSpPr>
        <p:spPr>
          <a:xfrm>
            <a:off x="6537960" y="2971800"/>
            <a:ext cx="914400" cy="329184"/>
          </a:xfrm>
          <a:prstGeom prst="roundRect">
            <a:avLst>
              <a:gd name="adj" fmla="val 50000"/>
            </a:avLst>
          </a:prstGeom>
          <a:solidFill>
            <a:srgbClr val="F5A524"/>
          </a:solidFill>
          <a:ln w="12700">
            <a:solidFill>
              <a:srgbClr val="F5A524"/>
            </a:solidFill>
            <a:prstDash val="solid"/>
          </a:ln>
        </p:spPr>
      </p:sp>
      <p:sp>
        <p:nvSpPr>
          <p:cNvPr id="20" name="Text 16"/>
          <p:cNvSpPr txBox="1"/>
          <p:nvPr/>
        </p:nvSpPr>
        <p:spPr>
          <a:xfrm>
            <a:off x="6537960" y="2971800"/>
            <a:ext cx="914400" cy="329184"/>
          </a:xfrm>
          <a:prstGeom prst="rect">
            <a:avLst/>
          </a:prstGeom>
          <a:noFill/>
          <a:ln/>
        </p:spPr>
        <p:txBody>
          <a:bodyPr wrap="square" lIns="0" tIns="0" rIns="0" bIns="0" rtlCol="0" anchor="ctr"/>
          <a:lstStyle/>
          <a:p>
            <a:pPr marL="0" indent="0" algn="ctr">
              <a:buNone/>
            </a:pPr>
            <a:r>
              <a:rPr lang="en-US" sz="1100" b="1" dirty="0">
                <a:solidFill>
                  <a:srgbClr val="1F2937"/>
                </a:solidFill>
              </a:rPr>
              <a:t>ER-502</a:t>
            </a:r>
            <a:endParaRPr lang="en-US" sz="1100" dirty="0"/>
          </a:p>
        </p:txBody>
      </p:sp>
      <p:sp>
        <p:nvSpPr>
          <p:cNvPr id="21" name="Text 17"/>
          <p:cNvSpPr txBox="1"/>
          <p:nvPr/>
        </p:nvSpPr>
        <p:spPr>
          <a:xfrm>
            <a:off x="7680960" y="2788920"/>
            <a:ext cx="3840480" cy="274320"/>
          </a:xfrm>
          <a:prstGeom prst="rect">
            <a:avLst/>
          </a:prstGeom>
          <a:noFill/>
          <a:ln/>
        </p:spPr>
        <p:txBody>
          <a:bodyPr wrap="square" lIns="0" tIns="0" rIns="0" bIns="0" rtlCol="0" anchor="t"/>
          <a:lstStyle/>
          <a:p>
            <a:pPr marL="0" indent="0">
              <a:buNone/>
            </a:pPr>
            <a:r>
              <a:rPr lang="en-US" sz="1300" b="1" dirty="0">
                <a:solidFill>
                  <a:schemeClr val="tx1"/>
                </a:solidFill>
              </a:rPr>
              <a:t>Reading matches a configured test value</a:t>
            </a:r>
            <a:endParaRPr lang="en-US" sz="1300" dirty="0"/>
          </a:p>
        </p:txBody>
      </p:sp>
      <p:sp>
        <p:nvSpPr>
          <p:cNvPr id="22" name="Text 18"/>
          <p:cNvSpPr txBox="1"/>
          <p:nvPr/>
        </p:nvSpPr>
        <p:spPr>
          <a:xfrm>
            <a:off x="7680960" y="3108960"/>
            <a:ext cx="3840480" cy="457200"/>
          </a:xfrm>
          <a:prstGeom prst="rect">
            <a:avLst/>
          </a:prstGeom>
          <a:noFill/>
          <a:ln/>
        </p:spPr>
        <p:txBody>
          <a:bodyPr wrap="square" lIns="0" tIns="0" rIns="0" bIns="0" rtlCol="0" anchor="t"/>
          <a:lstStyle/>
          <a:p>
            <a:pPr marL="0" indent="0">
              <a:buNone/>
            </a:pPr>
            <a:r>
              <a:rPr lang="en-US" sz="1150" dirty="0">
                <a:solidFill>
                  <a:srgbClr val="5B6478"/>
                </a:solidFill>
              </a:rPr>
              <a:t>Create an urgent staff-review record; do not interpret</a:t>
            </a:r>
            <a:endParaRPr lang="en-US" sz="1150" dirty="0"/>
          </a:p>
        </p:txBody>
      </p:sp>
      <p:sp>
        <p:nvSpPr>
          <p:cNvPr id="23" name="Rule card"/>
          <p:cNvSpPr/>
          <p:nvPr/>
        </p:nvSpPr>
        <p:spPr>
          <a:xfrm>
            <a:off x="6309360" y="3794760"/>
            <a:ext cx="5330952" cy="1051560"/>
          </a:xfrm>
          <a:prstGeom prst="roundRect">
            <a:avLst>
              <a:gd name="adj" fmla="val 8696"/>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24" name="Pill"/>
          <p:cNvSpPr/>
          <p:nvPr/>
        </p:nvSpPr>
        <p:spPr>
          <a:xfrm>
            <a:off x="6537960" y="4160520"/>
            <a:ext cx="914400" cy="329184"/>
          </a:xfrm>
          <a:prstGeom prst="roundRect">
            <a:avLst>
              <a:gd name="adj" fmla="val 50000"/>
            </a:avLst>
          </a:prstGeom>
          <a:solidFill>
            <a:srgbClr val="1547C8"/>
          </a:solidFill>
          <a:ln w="12700">
            <a:solidFill>
              <a:srgbClr val="1547C8"/>
            </a:solidFill>
            <a:prstDash val="solid"/>
          </a:ln>
        </p:spPr>
      </p:sp>
      <p:sp>
        <p:nvSpPr>
          <p:cNvPr id="25" name="Text 21"/>
          <p:cNvSpPr txBox="1"/>
          <p:nvPr/>
        </p:nvSpPr>
        <p:spPr>
          <a:xfrm>
            <a:off x="6537960" y="4160520"/>
            <a:ext cx="914400" cy="329184"/>
          </a:xfrm>
          <a:prstGeom prst="rect">
            <a:avLst/>
          </a:prstGeom>
          <a:noFill/>
          <a:ln/>
        </p:spPr>
        <p:txBody>
          <a:bodyPr wrap="square" lIns="0" tIns="0" rIns="0" bIns="0" rtlCol="0" anchor="ctr"/>
          <a:lstStyle/>
          <a:p>
            <a:pPr marL="0" indent="0" algn="ctr">
              <a:buNone/>
            </a:pPr>
            <a:r>
              <a:rPr lang="en-US" sz="1100" b="1" dirty="0">
                <a:solidFill>
                  <a:srgbClr val="FFFFFF"/>
                </a:solidFill>
              </a:rPr>
              <a:t>ER-503</a:t>
            </a:r>
            <a:endParaRPr lang="en-US" sz="1100" dirty="0"/>
          </a:p>
        </p:txBody>
      </p:sp>
      <p:sp>
        <p:nvSpPr>
          <p:cNvPr id="26" name="Text 22"/>
          <p:cNvSpPr txBox="1"/>
          <p:nvPr/>
        </p:nvSpPr>
        <p:spPr>
          <a:xfrm>
            <a:off x="7680960" y="3977640"/>
            <a:ext cx="3840480" cy="274320"/>
          </a:xfrm>
          <a:prstGeom prst="rect">
            <a:avLst/>
          </a:prstGeom>
          <a:noFill/>
          <a:ln/>
        </p:spPr>
        <p:txBody>
          <a:bodyPr wrap="square" lIns="0" tIns="0" rIns="0" bIns="0" rtlCol="0" anchor="t"/>
          <a:lstStyle/>
          <a:p>
            <a:pPr marL="0" indent="0">
              <a:buNone/>
            </a:pPr>
            <a:r>
              <a:rPr lang="en-US" sz="1300" b="1" dirty="0">
                <a:solidFill>
                  <a:schemeClr val="tx1"/>
                </a:solidFill>
              </a:rPr>
              <a:t>Member asks to change medication</a:t>
            </a:r>
            <a:endParaRPr lang="en-US" sz="1300" dirty="0"/>
          </a:p>
        </p:txBody>
      </p:sp>
      <p:sp>
        <p:nvSpPr>
          <p:cNvPr id="27" name="Text 23"/>
          <p:cNvSpPr txBox="1"/>
          <p:nvPr/>
        </p:nvSpPr>
        <p:spPr>
          <a:xfrm>
            <a:off x="7680960" y="4297680"/>
            <a:ext cx="3840480" cy="457200"/>
          </a:xfrm>
          <a:prstGeom prst="rect">
            <a:avLst/>
          </a:prstGeom>
          <a:noFill/>
          <a:ln/>
        </p:spPr>
        <p:txBody>
          <a:bodyPr wrap="square" lIns="0" tIns="0" rIns="0" bIns="0" rtlCol="0" anchor="t"/>
          <a:lstStyle/>
          <a:p>
            <a:pPr marL="0" indent="0">
              <a:buNone/>
            </a:pPr>
            <a:r>
              <a:rPr lang="en-US" sz="1150" dirty="0">
                <a:solidFill>
                  <a:srgbClr val="5B6478"/>
                </a:solidFill>
              </a:rPr>
              <a:t>Decline and direct to a qualified clinician</a:t>
            </a:r>
            <a:endParaRPr lang="en-US" sz="1150" dirty="0"/>
          </a:p>
        </p:txBody>
      </p:sp>
      <p:sp>
        <p:nvSpPr>
          <p:cNvPr id="28" name="Rule card"/>
          <p:cNvSpPr/>
          <p:nvPr/>
        </p:nvSpPr>
        <p:spPr>
          <a:xfrm>
            <a:off x="6309360" y="4983480"/>
            <a:ext cx="5330952" cy="1051560"/>
          </a:xfrm>
          <a:prstGeom prst="roundRect">
            <a:avLst>
              <a:gd name="adj" fmla="val 8696"/>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29" name="Pill"/>
          <p:cNvSpPr/>
          <p:nvPr/>
        </p:nvSpPr>
        <p:spPr>
          <a:xfrm>
            <a:off x="6537960" y="5349240"/>
            <a:ext cx="914400" cy="329184"/>
          </a:xfrm>
          <a:prstGeom prst="roundRect">
            <a:avLst>
              <a:gd name="adj" fmla="val 50000"/>
            </a:avLst>
          </a:prstGeom>
          <a:solidFill>
            <a:srgbClr val="8338EC"/>
          </a:solidFill>
          <a:ln w="12700">
            <a:solidFill>
              <a:srgbClr val="8338EC"/>
            </a:solidFill>
            <a:prstDash val="solid"/>
          </a:ln>
        </p:spPr>
      </p:sp>
      <p:sp>
        <p:nvSpPr>
          <p:cNvPr id="30" name="Text 26"/>
          <p:cNvSpPr txBox="1"/>
          <p:nvPr/>
        </p:nvSpPr>
        <p:spPr>
          <a:xfrm>
            <a:off x="6537960" y="5349240"/>
            <a:ext cx="914400" cy="329184"/>
          </a:xfrm>
          <a:prstGeom prst="rect">
            <a:avLst/>
          </a:prstGeom>
          <a:noFill/>
          <a:ln/>
        </p:spPr>
        <p:txBody>
          <a:bodyPr wrap="square" lIns="0" tIns="0" rIns="0" bIns="0" rtlCol="0" anchor="ctr"/>
          <a:lstStyle/>
          <a:p>
            <a:pPr marL="0" indent="0" algn="ctr">
              <a:buNone/>
            </a:pPr>
            <a:r>
              <a:rPr lang="en-US" sz="1100" b="1" dirty="0">
                <a:solidFill>
                  <a:srgbClr val="FFFFFF"/>
                </a:solidFill>
              </a:rPr>
              <a:t>ER-504</a:t>
            </a:r>
            <a:endParaRPr lang="en-US" sz="1100" dirty="0"/>
          </a:p>
        </p:txBody>
      </p:sp>
      <p:sp>
        <p:nvSpPr>
          <p:cNvPr id="31" name="Text 27"/>
          <p:cNvSpPr txBox="1"/>
          <p:nvPr/>
        </p:nvSpPr>
        <p:spPr>
          <a:xfrm>
            <a:off x="7680960" y="5166360"/>
            <a:ext cx="3840480" cy="274320"/>
          </a:xfrm>
          <a:prstGeom prst="rect">
            <a:avLst/>
          </a:prstGeom>
          <a:noFill/>
          <a:ln/>
        </p:spPr>
        <p:txBody>
          <a:bodyPr wrap="square" lIns="0" tIns="0" rIns="0" bIns="0" rtlCol="0" anchor="t"/>
          <a:lstStyle/>
          <a:p>
            <a:pPr marL="0" indent="0">
              <a:buNone/>
            </a:pPr>
            <a:r>
              <a:rPr lang="en-US" sz="1300" b="1" dirty="0">
                <a:solidFill>
                  <a:schemeClr val="tx1"/>
                </a:solidFill>
              </a:rPr>
              <a:t>Source or reading is contradictory</a:t>
            </a:r>
            <a:endParaRPr lang="en-US" sz="1300" dirty="0"/>
          </a:p>
        </p:txBody>
      </p:sp>
      <p:sp>
        <p:nvSpPr>
          <p:cNvPr id="32" name="Text 28"/>
          <p:cNvSpPr txBox="1"/>
          <p:nvPr/>
        </p:nvSpPr>
        <p:spPr>
          <a:xfrm>
            <a:off x="7680960" y="5486400"/>
            <a:ext cx="3840480" cy="457200"/>
          </a:xfrm>
          <a:prstGeom prst="rect">
            <a:avLst/>
          </a:prstGeom>
          <a:noFill/>
          <a:ln/>
        </p:spPr>
        <p:txBody>
          <a:bodyPr wrap="square" lIns="0" tIns="0" rIns="0" bIns="0" rtlCol="0" anchor="t"/>
          <a:lstStyle/>
          <a:p>
            <a:pPr marL="0" indent="0">
              <a:buNone/>
            </a:pPr>
            <a:r>
              <a:rPr lang="en-US" sz="1150" dirty="0">
                <a:solidFill>
                  <a:srgbClr val="5B6478"/>
                </a:solidFill>
              </a:rPr>
              <a:t>Mark the uncertainty and request human review</a:t>
            </a:r>
            <a:endParaRPr lang="en-US" sz="1150" dirty="0"/>
          </a:p>
        </p:txBody>
      </p:sp>
      <p:sp>
        <p:nvSpPr>
          <p:cNvPr id="33"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8"/>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47472"/>
            <a:ext cx="8229600" cy="256032"/>
          </a:xfrm>
          <a:prstGeom prst="rect">
            <a:avLst/>
          </a:prstGeom>
          <a:noFill/>
          <a:ln/>
        </p:spPr>
        <p:txBody>
          <a:bodyPr wrap="square" lIns="0" tIns="0" rIns="0" bIns="0" rtlCol="0" anchor="t"/>
          <a:lstStyle/>
          <a:p>
            <a:pPr marL="0" indent="0" algn="l">
              <a:buNone/>
            </a:pPr>
            <a:r>
              <a:rPr lang="en-US" sz="1100" b="1" kern="0" spc="200" dirty="0">
                <a:solidFill>
                  <a:srgbClr val="1547C8"/>
                </a:solidFill>
              </a:rPr>
              <a:t>05  ·  RESULTS</a:t>
            </a:r>
            <a:endParaRPr lang="en-US" sz="1100" dirty="0"/>
          </a:p>
        </p:txBody>
      </p:sp>
      <p:sp>
        <p:nvSpPr>
          <p:cNvPr id="3" name="Text 1"/>
          <p:cNvSpPr>
            <a:spLocks noGrp="1"/>
          </p:cNvSpPr>
          <p:nvPr>
            <p:ph type="title" idx="103" hasCustomPrompt="1"/>
          </p:nvPr>
        </p:nvSpPr>
        <p:spPr>
          <a:xfrm>
            <a:off x="548640" y="603504"/>
            <a:ext cx="11064240" cy="566928"/>
          </a:xfrm>
          <a:prstGeom prst="rect">
            <a:avLst/>
          </a:prstGeom>
          <a:noFill/>
          <a:ln/>
        </p:spPr>
        <p:txBody>
          <a:bodyPr wrap="square" lIns="0" tIns="0" rIns="0" bIns="0" rtlCol="0" anchor="t"/>
          <a:lstStyle/>
          <a:p>
            <a:pPr marL="0" indent="0" algn="l">
              <a:buNone/>
            </a:pPr>
            <a:r>
              <a:rPr lang="en-US" sz="3000" b="1" dirty="0">
                <a:solidFill>
                  <a:srgbClr val="1F2937"/>
                </a:solidFill>
              </a:rPr>
              <a:t>14 of 14 scenarios pass in the offline dry run</a:t>
            </a:r>
            <a:endParaRPr lang="en-US" sz="3000" dirty="0"/>
          </a:p>
        </p:txBody>
      </p:sp>
      <p:sp>
        <p:nvSpPr>
          <p:cNvPr id="4" name="Text 2"/>
          <p:cNvSpPr txBox="1"/>
          <p:nvPr/>
        </p:nvSpPr>
        <p:spPr>
          <a:xfrm>
            <a:off x="9921240" y="6382512"/>
            <a:ext cx="1097280" cy="219456"/>
          </a:xfrm>
          <a:prstGeom prst="rect">
            <a:avLst/>
          </a:prstGeom>
          <a:noFill/>
          <a:ln/>
        </p:spPr>
        <p:txBody>
          <a:bodyPr wrap="square" lIns="0" tIns="0" rIns="0" bIns="0" rtlCol="0" anchor="ctr"/>
          <a:lstStyle/>
          <a:p>
            <a:pPr marL="0" indent="0" algn="r">
              <a:buNone/>
            </a:pPr>
            <a:r>
              <a:rPr lang="en-US" sz="1000" u="sng" dirty="0">
                <a:solidFill>
                  <a:schemeClr val="tx1"/>
                </a:solidFill>
                <a:hlinkClick r:id="rId3" action="ppaction://hlinksldjump" tooltip="Back to the agenda">
                  <a:extLst>
                    <a:ext uri="{A12FA001-AC4F-418D-AE19-62706E023703}">
                      <ahyp:hlinkClr xmlns:ahyp="http://schemas.microsoft.com/office/drawing/2018/hyperlinkcolor" val="tx"/>
                    </a:ext>
                  </a:extLst>
                </a:hlinkClick>
              </a:rPr>
              <a:t>← Agenda</a:t>
            </a:r>
            <a:endParaRPr lang="en-US" sz="1000" dirty="0"/>
          </a:p>
        </p:txBody>
      </p:sp>
      <p:sp>
        <p:nvSpPr>
          <p:cNvPr id="5" name="KPI card"/>
          <p:cNvSpPr/>
          <p:nvPr/>
        </p:nvSpPr>
        <p:spPr>
          <a:xfrm>
            <a:off x="548640" y="1417320"/>
            <a:ext cx="2651760" cy="1325880"/>
          </a:xfrm>
          <a:prstGeom prst="roundRect">
            <a:avLst>
              <a:gd name="adj" fmla="val 6897"/>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6" name="Text 4"/>
          <p:cNvSpPr txBox="1"/>
          <p:nvPr/>
        </p:nvSpPr>
        <p:spPr>
          <a:xfrm>
            <a:off x="777240" y="1554480"/>
            <a:ext cx="2286000" cy="685800"/>
          </a:xfrm>
          <a:prstGeom prst="rect">
            <a:avLst/>
          </a:prstGeom>
          <a:noFill/>
          <a:ln/>
        </p:spPr>
        <p:txBody>
          <a:bodyPr wrap="square" lIns="0" tIns="0" rIns="0" bIns="0" rtlCol="0" anchor="ctr"/>
          <a:lstStyle/>
          <a:p>
            <a:pPr marL="0" indent="0">
              <a:buNone/>
            </a:pPr>
            <a:r>
              <a:rPr lang="en-US" sz="3800" b="1" dirty="0">
                <a:solidFill>
                  <a:schemeClr val="accent1"/>
                </a:solidFill>
              </a:rPr>
              <a:t>14/14</a:t>
            </a:r>
            <a:endParaRPr lang="en-US" sz="3800" dirty="0"/>
          </a:p>
        </p:txBody>
      </p:sp>
      <p:sp>
        <p:nvSpPr>
          <p:cNvPr id="7" name="Text 5"/>
          <p:cNvSpPr txBox="1"/>
          <p:nvPr/>
        </p:nvSpPr>
        <p:spPr>
          <a:xfrm>
            <a:off x="777240" y="2258568"/>
            <a:ext cx="2286000" cy="411480"/>
          </a:xfrm>
          <a:prstGeom prst="rect">
            <a:avLst/>
          </a:prstGeom>
          <a:noFill/>
          <a:ln/>
        </p:spPr>
        <p:txBody>
          <a:bodyPr wrap="square" lIns="0" tIns="0" rIns="0" bIns="0" rtlCol="0" anchor="t"/>
          <a:lstStyle/>
          <a:p>
            <a:pPr marL="0" indent="0">
              <a:buNone/>
            </a:pPr>
            <a:r>
              <a:rPr lang="en-US" sz="1150" dirty="0">
                <a:solidFill>
                  <a:srgbClr val="5B6478"/>
                </a:solidFill>
              </a:rPr>
              <a:t>scenarios passed</a:t>
            </a:r>
            <a:endParaRPr lang="en-US" sz="1150" dirty="0"/>
          </a:p>
        </p:txBody>
      </p:sp>
      <p:sp>
        <p:nvSpPr>
          <p:cNvPr id="8" name="KPI card"/>
          <p:cNvSpPr/>
          <p:nvPr/>
        </p:nvSpPr>
        <p:spPr>
          <a:xfrm>
            <a:off x="3429000" y="1417320"/>
            <a:ext cx="2651760" cy="1325880"/>
          </a:xfrm>
          <a:prstGeom prst="roundRect">
            <a:avLst>
              <a:gd name="adj" fmla="val 6897"/>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9" name="Text 7"/>
          <p:cNvSpPr txBox="1"/>
          <p:nvPr/>
        </p:nvSpPr>
        <p:spPr>
          <a:xfrm>
            <a:off x="3657600" y="1554480"/>
            <a:ext cx="2286000" cy="685800"/>
          </a:xfrm>
          <a:prstGeom prst="rect">
            <a:avLst/>
          </a:prstGeom>
          <a:noFill/>
          <a:ln/>
        </p:spPr>
        <p:txBody>
          <a:bodyPr wrap="square" lIns="0" tIns="0" rIns="0" bIns="0" rtlCol="0" anchor="ctr"/>
          <a:lstStyle/>
          <a:p>
            <a:pPr marL="0" indent="0">
              <a:buNone/>
            </a:pPr>
            <a:r>
              <a:rPr lang="en-US" sz="3800" b="1" dirty="0">
                <a:solidFill>
                  <a:schemeClr val="accent1"/>
                </a:solidFill>
              </a:rPr>
              <a:t>105</a:t>
            </a:r>
            <a:endParaRPr lang="en-US" sz="3800" dirty="0"/>
          </a:p>
        </p:txBody>
      </p:sp>
      <p:sp>
        <p:nvSpPr>
          <p:cNvPr id="10" name="Text 8"/>
          <p:cNvSpPr txBox="1"/>
          <p:nvPr/>
        </p:nvSpPr>
        <p:spPr>
          <a:xfrm>
            <a:off x="3657600" y="2258568"/>
            <a:ext cx="2286000" cy="411480"/>
          </a:xfrm>
          <a:prstGeom prst="rect">
            <a:avLst/>
          </a:prstGeom>
          <a:noFill/>
          <a:ln/>
        </p:spPr>
        <p:txBody>
          <a:bodyPr wrap="square" lIns="0" tIns="0" rIns="0" bIns="0" rtlCol="0" anchor="t"/>
          <a:lstStyle/>
          <a:p>
            <a:pPr marL="0" indent="0">
              <a:buNone/>
            </a:pPr>
            <a:r>
              <a:rPr lang="en-US" sz="1150" dirty="0">
                <a:solidFill>
                  <a:srgbClr val="5B6478"/>
                </a:solidFill>
              </a:rPr>
              <a:t>synthetic members</a:t>
            </a:r>
            <a:endParaRPr lang="en-US" sz="1150" dirty="0"/>
          </a:p>
        </p:txBody>
      </p:sp>
      <p:sp>
        <p:nvSpPr>
          <p:cNvPr id="11" name="KPI card"/>
          <p:cNvSpPr/>
          <p:nvPr/>
        </p:nvSpPr>
        <p:spPr>
          <a:xfrm>
            <a:off x="548640" y="2926080"/>
            <a:ext cx="2651760" cy="1325880"/>
          </a:xfrm>
          <a:prstGeom prst="roundRect">
            <a:avLst>
              <a:gd name="adj" fmla="val 6897"/>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12" name="Text 10"/>
          <p:cNvSpPr txBox="1"/>
          <p:nvPr/>
        </p:nvSpPr>
        <p:spPr>
          <a:xfrm>
            <a:off x="777240" y="3063240"/>
            <a:ext cx="2286000" cy="685800"/>
          </a:xfrm>
          <a:prstGeom prst="rect">
            <a:avLst/>
          </a:prstGeom>
          <a:noFill/>
          <a:ln/>
        </p:spPr>
        <p:txBody>
          <a:bodyPr wrap="square" lIns="0" tIns="0" rIns="0" bIns="0" rtlCol="0" anchor="ctr"/>
          <a:lstStyle/>
          <a:p>
            <a:pPr marL="0" indent="0">
              <a:buNone/>
            </a:pPr>
            <a:r>
              <a:rPr lang="en-US" sz="3800" b="1" dirty="0">
                <a:solidFill>
                  <a:schemeClr val="accent1"/>
                </a:solidFill>
              </a:rPr>
              <a:t>2,254</a:t>
            </a:r>
            <a:endParaRPr lang="en-US" sz="3800" dirty="0"/>
          </a:p>
        </p:txBody>
      </p:sp>
      <p:sp>
        <p:nvSpPr>
          <p:cNvPr id="13" name="Text 11"/>
          <p:cNvSpPr txBox="1"/>
          <p:nvPr/>
        </p:nvSpPr>
        <p:spPr>
          <a:xfrm>
            <a:off x="777240" y="3767328"/>
            <a:ext cx="2286000" cy="411480"/>
          </a:xfrm>
          <a:prstGeom prst="rect">
            <a:avLst/>
          </a:prstGeom>
          <a:noFill/>
          <a:ln/>
        </p:spPr>
        <p:txBody>
          <a:bodyPr wrap="square" lIns="0" tIns="0" rIns="0" bIns="0" rtlCol="0" anchor="t"/>
          <a:lstStyle/>
          <a:p>
            <a:pPr marL="0" indent="0">
              <a:buNone/>
            </a:pPr>
            <a:r>
              <a:rPr lang="en-US" sz="1150" dirty="0">
                <a:solidFill>
                  <a:srgbClr val="5B6478"/>
                </a:solidFill>
              </a:rPr>
              <a:t>active readings</a:t>
            </a:r>
            <a:endParaRPr lang="en-US" sz="1150" dirty="0"/>
          </a:p>
        </p:txBody>
      </p:sp>
      <p:sp>
        <p:nvSpPr>
          <p:cNvPr id="14" name="KPI card"/>
          <p:cNvSpPr/>
          <p:nvPr/>
        </p:nvSpPr>
        <p:spPr>
          <a:xfrm>
            <a:off x="3429000" y="2926080"/>
            <a:ext cx="2651760" cy="1325880"/>
          </a:xfrm>
          <a:prstGeom prst="roundRect">
            <a:avLst>
              <a:gd name="adj" fmla="val 6897"/>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15" name="Text 13"/>
          <p:cNvSpPr txBox="1"/>
          <p:nvPr/>
        </p:nvSpPr>
        <p:spPr>
          <a:xfrm>
            <a:off x="3657600" y="3063240"/>
            <a:ext cx="2286000" cy="685800"/>
          </a:xfrm>
          <a:prstGeom prst="rect">
            <a:avLst/>
          </a:prstGeom>
          <a:noFill/>
          <a:ln/>
        </p:spPr>
        <p:txBody>
          <a:bodyPr wrap="square" lIns="0" tIns="0" rIns="0" bIns="0" rtlCol="0" anchor="ctr"/>
          <a:lstStyle/>
          <a:p>
            <a:pPr marL="0" indent="0">
              <a:buNone/>
            </a:pPr>
            <a:r>
              <a:rPr lang="en-US" sz="3800" b="1" dirty="0">
                <a:solidFill>
                  <a:schemeClr val="accent1"/>
                </a:solidFill>
              </a:rPr>
              <a:t>24</a:t>
            </a:r>
            <a:endParaRPr lang="en-US" sz="3800" dirty="0"/>
          </a:p>
        </p:txBody>
      </p:sp>
      <p:sp>
        <p:nvSpPr>
          <p:cNvPr id="16" name="Text 14"/>
          <p:cNvSpPr txBox="1"/>
          <p:nvPr/>
        </p:nvSpPr>
        <p:spPr>
          <a:xfrm>
            <a:off x="3657600" y="3767328"/>
            <a:ext cx="2286000" cy="411480"/>
          </a:xfrm>
          <a:prstGeom prst="rect">
            <a:avLst/>
          </a:prstGeom>
          <a:noFill/>
          <a:ln/>
        </p:spPr>
        <p:txBody>
          <a:bodyPr wrap="square" lIns="0" tIns="0" rIns="0" bIns="0" rtlCol="0" anchor="t"/>
          <a:lstStyle/>
          <a:p>
            <a:pPr marL="0" indent="0">
              <a:buNone/>
            </a:pPr>
            <a:r>
              <a:rPr lang="en-US" sz="1150" dirty="0">
                <a:solidFill>
                  <a:srgbClr val="5B6478"/>
                </a:solidFill>
              </a:rPr>
              <a:t>approved articles</a:t>
            </a:r>
            <a:endParaRPr lang="en-US" sz="1150" dirty="0"/>
          </a:p>
        </p:txBody>
      </p:sp>
      <p:sp>
        <p:nvSpPr>
          <p:cNvPr id="17" name="Text 15"/>
          <p:cNvSpPr txBox="1"/>
          <p:nvPr/>
        </p:nvSpPr>
        <p:spPr>
          <a:xfrm>
            <a:off x="548640" y="4526280"/>
            <a:ext cx="5486400" cy="228600"/>
          </a:xfrm>
          <a:prstGeom prst="rect">
            <a:avLst/>
          </a:prstGeom>
          <a:noFill/>
          <a:ln/>
        </p:spPr>
        <p:txBody>
          <a:bodyPr wrap="square" lIns="0" tIns="0" rIns="0" bIns="0" rtlCol="0" anchor="t"/>
          <a:lstStyle/>
          <a:p>
            <a:pPr marL="0" indent="0">
              <a:buNone/>
            </a:pPr>
            <a:r>
              <a:rPr lang="en-US" sz="1000" b="1" kern="0" spc="200" dirty="0">
                <a:solidFill>
                  <a:schemeClr val="accent1"/>
                </a:solidFill>
              </a:rPr>
              <a:t>WHAT THE 14 SCENARIOS COVER</a:t>
            </a:r>
            <a:endParaRPr lang="en-US" sz="1000" dirty="0"/>
          </a:p>
        </p:txBody>
      </p:sp>
      <p:sp>
        <p:nvSpPr>
          <p:cNvPr id="18" name="Coverage card"/>
          <p:cNvSpPr/>
          <p:nvPr/>
        </p:nvSpPr>
        <p:spPr>
          <a:xfrm>
            <a:off x="548640" y="4846320"/>
            <a:ext cx="1280160" cy="1234440"/>
          </a:xfrm>
          <a:prstGeom prst="roundRect">
            <a:avLst>
              <a:gd name="adj" fmla="val 7407"/>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19" name="Text 17"/>
          <p:cNvSpPr txBox="1"/>
          <p:nvPr/>
        </p:nvSpPr>
        <p:spPr>
          <a:xfrm>
            <a:off x="548640" y="4937760"/>
            <a:ext cx="1280160" cy="502920"/>
          </a:xfrm>
          <a:prstGeom prst="rect">
            <a:avLst/>
          </a:prstGeom>
          <a:noFill/>
          <a:ln/>
        </p:spPr>
        <p:txBody>
          <a:bodyPr wrap="square" lIns="0" tIns="0" rIns="0" bIns="0" rtlCol="0" anchor="ctr"/>
          <a:lstStyle/>
          <a:p>
            <a:pPr marL="0" indent="0" algn="ctr">
              <a:buNone/>
            </a:pPr>
            <a:r>
              <a:rPr lang="en-US" sz="2600" b="1" dirty="0">
                <a:solidFill>
                  <a:schemeClr val="tx1"/>
                </a:solidFill>
              </a:rPr>
              <a:t>4</a:t>
            </a:r>
            <a:endParaRPr lang="en-US" sz="2600" dirty="0"/>
          </a:p>
        </p:txBody>
      </p:sp>
      <p:sp>
        <p:nvSpPr>
          <p:cNvPr id="20" name="Text 18"/>
          <p:cNvSpPr txBox="1"/>
          <p:nvPr/>
        </p:nvSpPr>
        <p:spPr>
          <a:xfrm>
            <a:off x="640080" y="5486400"/>
            <a:ext cx="1097280" cy="502920"/>
          </a:xfrm>
          <a:prstGeom prst="rect">
            <a:avLst/>
          </a:prstGeom>
          <a:noFill/>
          <a:ln/>
        </p:spPr>
        <p:txBody>
          <a:bodyPr wrap="square" lIns="0" tIns="0" rIns="0" bIns="0" rtlCol="0" anchor="t"/>
          <a:lstStyle/>
          <a:p>
            <a:pPr marL="0" indent="0" algn="ctr">
              <a:buNone/>
            </a:pPr>
            <a:r>
              <a:rPr lang="en-US" sz="1050" dirty="0">
                <a:solidFill>
                  <a:srgbClr val="5B6478"/>
                </a:solidFill>
              </a:rPr>
              <a:t>Normal paths</a:t>
            </a:r>
            <a:endParaRPr lang="en-US" sz="1050" dirty="0"/>
          </a:p>
        </p:txBody>
      </p:sp>
      <p:sp>
        <p:nvSpPr>
          <p:cNvPr id="21" name="Coverage card"/>
          <p:cNvSpPr/>
          <p:nvPr/>
        </p:nvSpPr>
        <p:spPr>
          <a:xfrm>
            <a:off x="1965960" y="4846320"/>
            <a:ext cx="1280160" cy="1234440"/>
          </a:xfrm>
          <a:prstGeom prst="roundRect">
            <a:avLst>
              <a:gd name="adj" fmla="val 7407"/>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22" name="Text 20"/>
          <p:cNvSpPr txBox="1"/>
          <p:nvPr/>
        </p:nvSpPr>
        <p:spPr>
          <a:xfrm>
            <a:off x="1965960" y="4937760"/>
            <a:ext cx="1280160" cy="502920"/>
          </a:xfrm>
          <a:prstGeom prst="rect">
            <a:avLst/>
          </a:prstGeom>
          <a:noFill/>
          <a:ln/>
        </p:spPr>
        <p:txBody>
          <a:bodyPr wrap="square" lIns="0" tIns="0" rIns="0" bIns="0" rtlCol="0" anchor="ctr"/>
          <a:lstStyle/>
          <a:p>
            <a:pPr marL="0" indent="0" algn="ctr">
              <a:buNone/>
            </a:pPr>
            <a:r>
              <a:rPr lang="en-US" sz="2600" b="1" dirty="0">
                <a:solidFill>
                  <a:schemeClr val="tx1"/>
                </a:solidFill>
              </a:rPr>
              <a:t>5</a:t>
            </a:r>
            <a:endParaRPr lang="en-US" sz="2600" dirty="0"/>
          </a:p>
        </p:txBody>
      </p:sp>
      <p:sp>
        <p:nvSpPr>
          <p:cNvPr id="23" name="Text 21"/>
          <p:cNvSpPr txBox="1"/>
          <p:nvPr/>
        </p:nvSpPr>
        <p:spPr>
          <a:xfrm>
            <a:off x="2057400" y="5486400"/>
            <a:ext cx="1097280" cy="502920"/>
          </a:xfrm>
          <a:prstGeom prst="rect">
            <a:avLst/>
          </a:prstGeom>
          <a:noFill/>
          <a:ln/>
        </p:spPr>
        <p:txBody>
          <a:bodyPr wrap="square" lIns="0" tIns="0" rIns="0" bIns="0" rtlCol="0" anchor="t"/>
          <a:lstStyle/>
          <a:p>
            <a:pPr marL="0" indent="0" algn="ctr">
              <a:buNone/>
            </a:pPr>
            <a:r>
              <a:rPr lang="en-US" sz="1050" dirty="0">
                <a:solidFill>
                  <a:srgbClr val="5B6478"/>
                </a:solidFill>
              </a:rPr>
              <a:t>Safety escalations</a:t>
            </a:r>
            <a:endParaRPr lang="en-US" sz="1050" dirty="0"/>
          </a:p>
        </p:txBody>
      </p:sp>
      <p:sp>
        <p:nvSpPr>
          <p:cNvPr id="24" name="Coverage card"/>
          <p:cNvSpPr/>
          <p:nvPr/>
        </p:nvSpPr>
        <p:spPr>
          <a:xfrm>
            <a:off x="3383280" y="4846320"/>
            <a:ext cx="1280160" cy="1234440"/>
          </a:xfrm>
          <a:prstGeom prst="roundRect">
            <a:avLst>
              <a:gd name="adj" fmla="val 7407"/>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25" name="Text 23"/>
          <p:cNvSpPr txBox="1"/>
          <p:nvPr/>
        </p:nvSpPr>
        <p:spPr>
          <a:xfrm>
            <a:off x="3383280" y="4937760"/>
            <a:ext cx="1280160" cy="502920"/>
          </a:xfrm>
          <a:prstGeom prst="rect">
            <a:avLst/>
          </a:prstGeom>
          <a:noFill/>
          <a:ln/>
        </p:spPr>
        <p:txBody>
          <a:bodyPr wrap="square" lIns="0" tIns="0" rIns="0" bIns="0" rtlCol="0" anchor="ctr"/>
          <a:lstStyle/>
          <a:p>
            <a:pPr marL="0" indent="0" algn="ctr">
              <a:buNone/>
            </a:pPr>
            <a:r>
              <a:rPr lang="en-US" sz="2600" b="1" dirty="0">
                <a:solidFill>
                  <a:schemeClr val="tx1"/>
                </a:solidFill>
              </a:rPr>
              <a:t>4</a:t>
            </a:r>
            <a:endParaRPr lang="en-US" sz="2600" dirty="0"/>
          </a:p>
        </p:txBody>
      </p:sp>
      <p:sp>
        <p:nvSpPr>
          <p:cNvPr id="26" name="Text 24"/>
          <p:cNvSpPr txBox="1"/>
          <p:nvPr/>
        </p:nvSpPr>
        <p:spPr>
          <a:xfrm>
            <a:off x="3474720" y="5486400"/>
            <a:ext cx="1097280" cy="502920"/>
          </a:xfrm>
          <a:prstGeom prst="rect">
            <a:avLst/>
          </a:prstGeom>
          <a:noFill/>
          <a:ln/>
        </p:spPr>
        <p:txBody>
          <a:bodyPr wrap="square" lIns="0" tIns="0" rIns="0" bIns="0" rtlCol="0" anchor="t"/>
          <a:lstStyle/>
          <a:p>
            <a:pPr marL="0" indent="0" algn="ctr">
              <a:buNone/>
            </a:pPr>
            <a:r>
              <a:rPr lang="en-US" sz="1050" dirty="0">
                <a:solidFill>
                  <a:srgbClr val="5B6478"/>
                </a:solidFill>
              </a:rPr>
              <a:t>Edge and conflict</a:t>
            </a:r>
            <a:endParaRPr lang="en-US" sz="1050" dirty="0"/>
          </a:p>
        </p:txBody>
      </p:sp>
      <p:sp>
        <p:nvSpPr>
          <p:cNvPr id="27" name="Coverage card"/>
          <p:cNvSpPr/>
          <p:nvPr/>
        </p:nvSpPr>
        <p:spPr>
          <a:xfrm>
            <a:off x="4800600" y="4846320"/>
            <a:ext cx="1280160" cy="1234440"/>
          </a:xfrm>
          <a:prstGeom prst="roundRect">
            <a:avLst>
              <a:gd name="adj" fmla="val 7407"/>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28" name="Text 26"/>
          <p:cNvSpPr txBox="1"/>
          <p:nvPr/>
        </p:nvSpPr>
        <p:spPr>
          <a:xfrm>
            <a:off x="4800600" y="4937760"/>
            <a:ext cx="1280160" cy="502920"/>
          </a:xfrm>
          <a:prstGeom prst="rect">
            <a:avLst/>
          </a:prstGeom>
          <a:noFill/>
          <a:ln/>
        </p:spPr>
        <p:txBody>
          <a:bodyPr wrap="square" lIns="0" tIns="0" rIns="0" bIns="0" rtlCol="0" anchor="ctr"/>
          <a:lstStyle/>
          <a:p>
            <a:pPr marL="0" indent="0" algn="ctr">
              <a:buNone/>
            </a:pPr>
            <a:r>
              <a:rPr lang="en-US" sz="2600" b="1" dirty="0">
                <a:solidFill>
                  <a:schemeClr val="tx1"/>
                </a:solidFill>
              </a:rPr>
              <a:t>1</a:t>
            </a:r>
            <a:endParaRPr lang="en-US" sz="2600" dirty="0"/>
          </a:p>
        </p:txBody>
      </p:sp>
      <p:sp>
        <p:nvSpPr>
          <p:cNvPr id="29" name="Text 27"/>
          <p:cNvSpPr txBox="1"/>
          <p:nvPr/>
        </p:nvSpPr>
        <p:spPr>
          <a:xfrm>
            <a:off x="4892040" y="5486400"/>
            <a:ext cx="1097280" cy="502920"/>
          </a:xfrm>
          <a:prstGeom prst="rect">
            <a:avLst/>
          </a:prstGeom>
          <a:noFill/>
          <a:ln/>
        </p:spPr>
        <p:txBody>
          <a:bodyPr wrap="square" lIns="0" tIns="0" rIns="0" bIns="0" rtlCol="0" anchor="t"/>
          <a:lstStyle/>
          <a:p>
            <a:pPr marL="0" indent="0" algn="ctr">
              <a:buNone/>
            </a:pPr>
            <a:r>
              <a:rPr lang="en-US" sz="1050" dirty="0">
                <a:solidFill>
                  <a:srgbClr val="5B6478"/>
                </a:solidFill>
              </a:rPr>
              <a:t>Failure handling</a:t>
            </a:r>
            <a:endParaRPr lang="en-US" sz="1050" dirty="0"/>
          </a:p>
        </p:txBody>
      </p:sp>
      <p:sp>
        <p:nvSpPr>
          <p:cNvPr id="30" name="Chart card"/>
          <p:cNvSpPr/>
          <p:nvPr/>
        </p:nvSpPr>
        <p:spPr>
          <a:xfrm>
            <a:off x="6355080" y="1417320"/>
            <a:ext cx="5285232" cy="4663440"/>
          </a:xfrm>
          <a:prstGeom prst="roundRect">
            <a:avLst>
              <a:gd name="adj" fmla="val 1961"/>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31" name="Text 29"/>
          <p:cNvSpPr txBox="1"/>
          <p:nvPr/>
        </p:nvSpPr>
        <p:spPr>
          <a:xfrm>
            <a:off x="6629400" y="1600200"/>
            <a:ext cx="4754880" cy="274320"/>
          </a:xfrm>
          <a:prstGeom prst="rect">
            <a:avLst/>
          </a:prstGeom>
          <a:noFill/>
          <a:ln/>
        </p:spPr>
        <p:txBody>
          <a:bodyPr wrap="square" lIns="0" tIns="0" rIns="0" bIns="0" rtlCol="0" anchor="t"/>
          <a:lstStyle/>
          <a:p>
            <a:pPr marL="0" indent="0">
              <a:buNone/>
            </a:pPr>
            <a:r>
              <a:rPr lang="en-US" sz="1400" b="1" dirty="0">
                <a:solidFill>
                  <a:schemeClr val="tx1"/>
                </a:solidFill>
              </a:rPr>
              <a:t>Consent status of the 105 synthetic members</a:t>
            </a:r>
            <a:endParaRPr lang="en-US" sz="1400" dirty="0"/>
          </a:p>
        </p:txBody>
      </p:sp>
      <p:graphicFrame>
        <p:nvGraphicFramePr>
          <p:cNvPr id="32" name="Chart 0"/>
          <p:cNvGraphicFramePr/>
          <p:nvPr/>
        </p:nvGraphicFramePr>
        <p:xfrm>
          <a:off x="6537960" y="1920240"/>
          <a:ext cx="4937760" cy="3017520"/>
        </p:xfrm>
        <a:graphic>
          <a:graphicData uri="http://schemas.openxmlformats.org/drawingml/2006/chart">
            <c:chart xmlns:c="http://schemas.openxmlformats.org/drawingml/2006/chart" xmlns:r="http://schemas.openxmlformats.org/officeDocument/2006/relationships" r:id="rId4"/>
          </a:graphicData>
        </a:graphic>
      </p:graphicFrame>
      <p:pic>
        <p:nvPicPr>
          <p:cNvPr id="33" name="Image 0" descr="Info"/>
          <p:cNvPicPr>
            <a:picLocks noChangeAspect="1"/>
          </p:cNvPicPr>
          <p:nvPr/>
        </p:nvPicPr>
        <p:blipFill>
          <a:blip r:embed="rId5"/>
          <a:stretch>
            <a:fillRect/>
          </a:stretch>
        </p:blipFill>
        <p:spPr>
          <a:xfrm>
            <a:off x="6629400" y="5138928"/>
            <a:ext cx="256032" cy="256032"/>
          </a:xfrm>
          <a:prstGeom prst="rect">
            <a:avLst/>
          </a:prstGeom>
        </p:spPr>
      </p:pic>
      <p:sp>
        <p:nvSpPr>
          <p:cNvPr id="34" name="Text 30"/>
          <p:cNvSpPr txBox="1"/>
          <p:nvPr/>
        </p:nvSpPr>
        <p:spPr>
          <a:xfrm>
            <a:off x="7040880" y="5074920"/>
            <a:ext cx="4389120" cy="914400"/>
          </a:xfrm>
          <a:prstGeom prst="rect">
            <a:avLst/>
          </a:prstGeom>
          <a:noFill/>
          <a:ln/>
        </p:spPr>
        <p:txBody>
          <a:bodyPr wrap="square" lIns="0" tIns="0" rIns="0" bIns="0" rtlCol="0" anchor="t"/>
          <a:lstStyle/>
          <a:p>
            <a:pPr marL="0" indent="0">
              <a:buNone/>
            </a:pPr>
            <a:r>
              <a:rPr lang="en-US" sz="1100" dirty="0">
                <a:solidFill>
                  <a:srgbClr val="5B6478"/>
                </a:solidFill>
              </a:rPr>
              <a:t>Expired, pending and revoked members exercise ER-501. This is an offline dry run: it proves the safety code and template wording. The online run against deployed Foundry agents is the submission evidence.</a:t>
            </a:r>
            <a:endParaRPr lang="en-US" sz="1100" dirty="0"/>
          </a:p>
        </p:txBody>
      </p:sp>
      <p:sp>
        <p:nvSpPr>
          <p:cNvPr id="3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8"/>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47472"/>
            <a:ext cx="8229600" cy="256032"/>
          </a:xfrm>
          <a:prstGeom prst="rect">
            <a:avLst/>
          </a:prstGeom>
          <a:noFill/>
          <a:ln/>
        </p:spPr>
        <p:txBody>
          <a:bodyPr wrap="square" lIns="0" tIns="0" rIns="0" bIns="0" rtlCol="0" anchor="t"/>
          <a:lstStyle/>
          <a:p>
            <a:pPr marL="0" indent="0" algn="l">
              <a:buNone/>
            </a:pPr>
            <a:r>
              <a:rPr lang="en-US" sz="1100" b="1" kern="0" spc="200" dirty="0">
                <a:solidFill>
                  <a:srgbClr val="1547C8"/>
                </a:solidFill>
              </a:rPr>
              <a:t>06  ·  LIMITS AND NEXT STEPS</a:t>
            </a:r>
            <a:endParaRPr lang="en-US" sz="1100" dirty="0"/>
          </a:p>
        </p:txBody>
      </p:sp>
      <p:sp>
        <p:nvSpPr>
          <p:cNvPr id="3" name="Text 1"/>
          <p:cNvSpPr>
            <a:spLocks noGrp="1"/>
          </p:cNvSpPr>
          <p:nvPr>
            <p:ph type="title" idx="103" hasCustomPrompt="1"/>
          </p:nvPr>
        </p:nvSpPr>
        <p:spPr>
          <a:xfrm>
            <a:off x="548640" y="603504"/>
            <a:ext cx="11064240" cy="566928"/>
          </a:xfrm>
          <a:prstGeom prst="rect">
            <a:avLst/>
          </a:prstGeom>
          <a:noFill/>
          <a:ln/>
        </p:spPr>
        <p:txBody>
          <a:bodyPr wrap="square" lIns="0" tIns="0" rIns="0" bIns="0" rtlCol="0" anchor="t"/>
          <a:lstStyle/>
          <a:p>
            <a:pPr marL="0" indent="0" algn="l">
              <a:buNone/>
            </a:pPr>
            <a:r>
              <a:rPr lang="en-US" sz="3000" b="1" dirty="0">
                <a:solidFill>
                  <a:srgbClr val="1F2937"/>
                </a:solidFill>
              </a:rPr>
              <a:t>Honest limits, and what comes next</a:t>
            </a:r>
            <a:endParaRPr lang="en-US" sz="3000" dirty="0"/>
          </a:p>
        </p:txBody>
      </p:sp>
      <p:sp>
        <p:nvSpPr>
          <p:cNvPr id="4" name="Text 2"/>
          <p:cNvSpPr txBox="1"/>
          <p:nvPr/>
        </p:nvSpPr>
        <p:spPr>
          <a:xfrm>
            <a:off x="9921240" y="6382512"/>
            <a:ext cx="1097280" cy="219456"/>
          </a:xfrm>
          <a:prstGeom prst="rect">
            <a:avLst/>
          </a:prstGeom>
          <a:noFill/>
          <a:ln/>
        </p:spPr>
        <p:txBody>
          <a:bodyPr wrap="square" lIns="0" tIns="0" rIns="0" bIns="0" rtlCol="0" anchor="ctr"/>
          <a:lstStyle/>
          <a:p>
            <a:pPr marL="0" indent="0" algn="r">
              <a:buNone/>
            </a:pPr>
            <a:r>
              <a:rPr lang="en-US" sz="1000" u="sng" dirty="0">
                <a:solidFill>
                  <a:schemeClr val="tx1"/>
                </a:solidFill>
                <a:hlinkClick r:id="rId3" action="ppaction://hlinksldjump" tooltip="Back to the agenda">
                  <a:extLst>
                    <a:ext uri="{A12FA001-AC4F-418D-AE19-62706E023703}">
                      <ahyp:hlinkClr xmlns:ahyp="http://schemas.microsoft.com/office/drawing/2018/hyperlinkcolor" val="tx"/>
                    </a:ext>
                  </a:extLst>
                </a:hlinkClick>
              </a:rPr>
              <a:t>← Agenda</a:t>
            </a:r>
            <a:endParaRPr lang="en-US" sz="1000" dirty="0"/>
          </a:p>
        </p:txBody>
      </p:sp>
      <p:sp>
        <p:nvSpPr>
          <p:cNvPr id="5" name="Column card"/>
          <p:cNvSpPr/>
          <p:nvPr/>
        </p:nvSpPr>
        <p:spPr>
          <a:xfrm>
            <a:off x="548640" y="1417320"/>
            <a:ext cx="5440680" cy="4663440"/>
          </a:xfrm>
          <a:prstGeom prst="roundRect">
            <a:avLst>
              <a:gd name="adj" fmla="val 1961"/>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6" name="Pill"/>
          <p:cNvSpPr/>
          <p:nvPr/>
        </p:nvSpPr>
        <p:spPr>
          <a:xfrm>
            <a:off x="822960" y="1645920"/>
            <a:ext cx="1645920" cy="347472"/>
          </a:xfrm>
          <a:prstGeom prst="roundRect">
            <a:avLst>
              <a:gd name="adj" fmla="val 50000"/>
            </a:avLst>
          </a:prstGeom>
          <a:solidFill>
            <a:srgbClr val="F5A524"/>
          </a:solidFill>
          <a:ln w="12700">
            <a:solidFill>
              <a:srgbClr val="F5A524"/>
            </a:solidFill>
            <a:prstDash val="solid"/>
          </a:ln>
        </p:spPr>
      </p:sp>
      <p:sp>
        <p:nvSpPr>
          <p:cNvPr id="7" name="Text 5"/>
          <p:cNvSpPr txBox="1"/>
          <p:nvPr/>
        </p:nvSpPr>
        <p:spPr>
          <a:xfrm>
            <a:off x="822960" y="1645920"/>
            <a:ext cx="1645920" cy="347472"/>
          </a:xfrm>
          <a:prstGeom prst="rect">
            <a:avLst/>
          </a:prstGeom>
          <a:noFill/>
          <a:ln/>
        </p:spPr>
        <p:txBody>
          <a:bodyPr wrap="square" lIns="0" tIns="0" rIns="0" bIns="0" rtlCol="0" anchor="ctr"/>
          <a:lstStyle/>
          <a:p>
            <a:pPr marL="0" indent="0" algn="ctr">
              <a:buNone/>
            </a:pPr>
            <a:r>
              <a:rPr lang="en-US" sz="1100" b="1" dirty="0">
                <a:solidFill>
                  <a:srgbClr val="1F2937"/>
                </a:solidFill>
              </a:rPr>
              <a:t>KNOWN LIMITS</a:t>
            </a:r>
            <a:endParaRPr lang="en-US" sz="1100" dirty="0"/>
          </a:p>
        </p:txBody>
      </p:sp>
      <p:sp>
        <p:nvSpPr>
          <p:cNvPr id="8" name="IconCircle"/>
          <p:cNvSpPr/>
          <p:nvPr/>
        </p:nvSpPr>
        <p:spPr>
          <a:xfrm>
            <a:off x="822960" y="2286000"/>
            <a:ext cx="457200" cy="457200"/>
          </a:xfrm>
          <a:prstGeom prst="ellipse">
            <a:avLst/>
          </a:prstGeom>
          <a:solidFill>
            <a:srgbClr val="F5A524"/>
          </a:solidFill>
          <a:ln w="12700">
            <a:solidFill>
              <a:srgbClr val="F5A524"/>
            </a:solidFill>
            <a:prstDash val="solid"/>
          </a:ln>
        </p:spPr>
      </p:sp>
      <p:pic>
        <p:nvPicPr>
          <p:cNvPr id="9" name="Image 0" descr="ExclamationTriangle icon"/>
          <p:cNvPicPr>
            <a:picLocks noChangeAspect="1"/>
          </p:cNvPicPr>
          <p:nvPr/>
        </p:nvPicPr>
        <p:blipFill>
          <a:blip r:embed="rId4"/>
          <a:stretch>
            <a:fillRect/>
          </a:stretch>
        </p:blipFill>
        <p:spPr>
          <a:xfrm>
            <a:off x="937260" y="2400300"/>
            <a:ext cx="228600" cy="228600"/>
          </a:xfrm>
          <a:prstGeom prst="rect">
            <a:avLst/>
          </a:prstGeom>
        </p:spPr>
      </p:pic>
      <p:sp>
        <p:nvSpPr>
          <p:cNvPr id="10" name="Text 7"/>
          <p:cNvSpPr txBox="1"/>
          <p:nvPr/>
        </p:nvSpPr>
        <p:spPr>
          <a:xfrm>
            <a:off x="1508760" y="2249424"/>
            <a:ext cx="4206240" cy="274320"/>
          </a:xfrm>
          <a:prstGeom prst="rect">
            <a:avLst/>
          </a:prstGeom>
          <a:noFill/>
          <a:ln/>
        </p:spPr>
        <p:txBody>
          <a:bodyPr wrap="square" lIns="0" tIns="0" rIns="0" bIns="0" rtlCol="0" anchor="t"/>
          <a:lstStyle/>
          <a:p>
            <a:pPr marL="0" indent="0">
              <a:buNone/>
            </a:pPr>
            <a:r>
              <a:rPr lang="en-US" sz="1400" b="1" dirty="0">
                <a:solidFill>
                  <a:schemeClr val="tx1"/>
                </a:solidFill>
              </a:rPr>
              <a:t>ER-502 values are placeholders</a:t>
            </a:r>
            <a:endParaRPr lang="en-US" sz="1400" dirty="0"/>
          </a:p>
        </p:txBody>
      </p:sp>
      <p:sp>
        <p:nvSpPr>
          <p:cNvPr id="11" name="Text 8"/>
          <p:cNvSpPr txBox="1"/>
          <p:nvPr/>
        </p:nvSpPr>
        <p:spPr>
          <a:xfrm>
            <a:off x="1508760" y="2551176"/>
            <a:ext cx="4206240" cy="457200"/>
          </a:xfrm>
          <a:prstGeom prst="rect">
            <a:avLst/>
          </a:prstGeom>
          <a:noFill/>
          <a:ln/>
        </p:spPr>
        <p:txBody>
          <a:bodyPr wrap="square" lIns="0" tIns="0" rIns="0" bIns="0" rtlCol="0" anchor="t"/>
          <a:lstStyle/>
          <a:p>
            <a:pPr marL="0" indent="0">
              <a:buNone/>
            </a:pPr>
            <a:r>
              <a:rPr lang="en-US" sz="1200" dirty="0">
                <a:solidFill>
                  <a:srgbClr val="5B6478"/>
                </a:solidFill>
              </a:rPr>
              <a:t>160/100 blood pressure and glucose 300 are not clinical thresholds</a:t>
            </a:r>
            <a:endParaRPr lang="en-US" sz="1200" dirty="0"/>
          </a:p>
        </p:txBody>
      </p:sp>
      <p:sp>
        <p:nvSpPr>
          <p:cNvPr id="12" name="IconCircle"/>
          <p:cNvSpPr/>
          <p:nvPr/>
        </p:nvSpPr>
        <p:spPr>
          <a:xfrm>
            <a:off x="822960" y="3218688"/>
            <a:ext cx="457200" cy="457200"/>
          </a:xfrm>
          <a:prstGeom prst="ellipse">
            <a:avLst/>
          </a:prstGeom>
          <a:solidFill>
            <a:srgbClr val="F5A524"/>
          </a:solidFill>
          <a:ln w="12700">
            <a:solidFill>
              <a:srgbClr val="F5A524"/>
            </a:solidFill>
            <a:prstDash val="solid"/>
          </a:ln>
        </p:spPr>
      </p:sp>
      <p:pic>
        <p:nvPicPr>
          <p:cNvPr id="13" name="Image 1" descr="ExclamationTriangle icon"/>
          <p:cNvPicPr>
            <a:picLocks noChangeAspect="1"/>
          </p:cNvPicPr>
          <p:nvPr/>
        </p:nvPicPr>
        <p:blipFill>
          <a:blip r:embed="rId4"/>
          <a:stretch>
            <a:fillRect/>
          </a:stretch>
        </p:blipFill>
        <p:spPr>
          <a:xfrm>
            <a:off x="937260" y="3332988"/>
            <a:ext cx="228600" cy="228600"/>
          </a:xfrm>
          <a:prstGeom prst="rect">
            <a:avLst/>
          </a:prstGeom>
        </p:spPr>
      </p:pic>
      <p:sp>
        <p:nvSpPr>
          <p:cNvPr id="14" name="Text 10"/>
          <p:cNvSpPr txBox="1"/>
          <p:nvPr/>
        </p:nvSpPr>
        <p:spPr>
          <a:xfrm>
            <a:off x="1508760" y="3182112"/>
            <a:ext cx="4206240" cy="274320"/>
          </a:xfrm>
          <a:prstGeom prst="rect">
            <a:avLst/>
          </a:prstGeom>
          <a:noFill/>
          <a:ln/>
        </p:spPr>
        <p:txBody>
          <a:bodyPr wrap="square" lIns="0" tIns="0" rIns="0" bIns="0" rtlCol="0" anchor="t"/>
          <a:lstStyle/>
          <a:p>
            <a:pPr marL="0" indent="0">
              <a:buNone/>
            </a:pPr>
            <a:r>
              <a:rPr lang="en-US" sz="1400" b="1" dirty="0">
                <a:solidFill>
                  <a:schemeClr val="tx1"/>
                </a:solidFill>
              </a:rPr>
              <a:t>Offline proof, not online proof</a:t>
            </a:r>
            <a:endParaRPr lang="en-US" sz="1400" dirty="0"/>
          </a:p>
        </p:txBody>
      </p:sp>
      <p:sp>
        <p:nvSpPr>
          <p:cNvPr id="15" name="Text 11"/>
          <p:cNvSpPr txBox="1"/>
          <p:nvPr/>
        </p:nvSpPr>
        <p:spPr>
          <a:xfrm>
            <a:off x="1508760" y="3483864"/>
            <a:ext cx="4206240" cy="457200"/>
          </a:xfrm>
          <a:prstGeom prst="rect">
            <a:avLst/>
          </a:prstGeom>
          <a:noFill/>
          <a:ln/>
        </p:spPr>
        <p:txBody>
          <a:bodyPr wrap="square" lIns="0" tIns="0" rIns="0" bIns="0" rtlCol="0" anchor="t"/>
          <a:lstStyle/>
          <a:p>
            <a:pPr marL="0" indent="0">
              <a:buNone/>
            </a:pPr>
            <a:r>
              <a:rPr lang="en-US" sz="1200" dirty="0">
                <a:solidFill>
                  <a:srgbClr val="5B6478"/>
                </a:solidFill>
              </a:rPr>
              <a:t>Dry-run evidence covers code and templates, not live model wording</a:t>
            </a:r>
            <a:endParaRPr lang="en-US" sz="1200" dirty="0"/>
          </a:p>
        </p:txBody>
      </p:sp>
      <p:sp>
        <p:nvSpPr>
          <p:cNvPr id="16" name="IconCircle"/>
          <p:cNvSpPr/>
          <p:nvPr/>
        </p:nvSpPr>
        <p:spPr>
          <a:xfrm>
            <a:off x="822960" y="4151376"/>
            <a:ext cx="457200" cy="457200"/>
          </a:xfrm>
          <a:prstGeom prst="ellipse">
            <a:avLst/>
          </a:prstGeom>
          <a:solidFill>
            <a:srgbClr val="F5A524"/>
          </a:solidFill>
          <a:ln w="12700">
            <a:solidFill>
              <a:srgbClr val="F5A524"/>
            </a:solidFill>
            <a:prstDash val="solid"/>
          </a:ln>
        </p:spPr>
      </p:sp>
      <p:pic>
        <p:nvPicPr>
          <p:cNvPr id="17" name="Image 2" descr="ExclamationTriangle icon"/>
          <p:cNvPicPr>
            <a:picLocks noChangeAspect="1"/>
          </p:cNvPicPr>
          <p:nvPr/>
        </p:nvPicPr>
        <p:blipFill>
          <a:blip r:embed="rId4"/>
          <a:stretch>
            <a:fillRect/>
          </a:stretch>
        </p:blipFill>
        <p:spPr>
          <a:xfrm>
            <a:off x="937260" y="4265676"/>
            <a:ext cx="228600" cy="228600"/>
          </a:xfrm>
          <a:prstGeom prst="rect">
            <a:avLst/>
          </a:prstGeom>
        </p:spPr>
      </p:pic>
      <p:sp>
        <p:nvSpPr>
          <p:cNvPr id="18" name="Text 13"/>
          <p:cNvSpPr txBox="1"/>
          <p:nvPr/>
        </p:nvSpPr>
        <p:spPr>
          <a:xfrm>
            <a:off x="1508760" y="4114800"/>
            <a:ext cx="4206240" cy="274320"/>
          </a:xfrm>
          <a:prstGeom prst="rect">
            <a:avLst/>
          </a:prstGeom>
          <a:noFill/>
          <a:ln/>
        </p:spPr>
        <p:txBody>
          <a:bodyPr wrap="square" lIns="0" tIns="0" rIns="0" bIns="0" rtlCol="0" anchor="t"/>
          <a:lstStyle/>
          <a:p>
            <a:pPr marL="0" indent="0">
              <a:buNone/>
            </a:pPr>
            <a:r>
              <a:rPr lang="en-US" sz="1400" b="1" dirty="0">
                <a:solidFill>
                  <a:schemeClr val="tx1"/>
                </a:solidFill>
              </a:rPr>
              <a:t>English keyword guards</a:t>
            </a:r>
            <a:endParaRPr lang="en-US" sz="1400" dirty="0"/>
          </a:p>
        </p:txBody>
      </p:sp>
      <p:sp>
        <p:nvSpPr>
          <p:cNvPr id="19" name="Text 14"/>
          <p:cNvSpPr txBox="1"/>
          <p:nvPr/>
        </p:nvSpPr>
        <p:spPr>
          <a:xfrm>
            <a:off x="1508760" y="4416552"/>
            <a:ext cx="4206240" cy="457200"/>
          </a:xfrm>
          <a:prstGeom prst="rect">
            <a:avLst/>
          </a:prstGeom>
          <a:noFill/>
          <a:ln/>
        </p:spPr>
        <p:txBody>
          <a:bodyPr wrap="square" lIns="0" tIns="0" rIns="0" bIns="0" rtlCol="0" anchor="t"/>
          <a:lstStyle/>
          <a:p>
            <a:pPr marL="0" indent="0">
              <a:buNone/>
            </a:pPr>
            <a:r>
              <a:rPr lang="en-US" sz="1200" dirty="0">
                <a:solidFill>
                  <a:srgbClr val="5B6478"/>
                </a:solidFill>
              </a:rPr>
              <a:t>Other languages depend on the routing agent</a:t>
            </a:r>
            <a:endParaRPr lang="en-US" sz="1200" dirty="0"/>
          </a:p>
        </p:txBody>
      </p:sp>
      <p:sp>
        <p:nvSpPr>
          <p:cNvPr id="20" name="IconCircle"/>
          <p:cNvSpPr/>
          <p:nvPr/>
        </p:nvSpPr>
        <p:spPr>
          <a:xfrm>
            <a:off x="822960" y="5084064"/>
            <a:ext cx="457200" cy="457200"/>
          </a:xfrm>
          <a:prstGeom prst="ellipse">
            <a:avLst/>
          </a:prstGeom>
          <a:solidFill>
            <a:srgbClr val="F5A524"/>
          </a:solidFill>
          <a:ln w="12700">
            <a:solidFill>
              <a:srgbClr val="F5A524"/>
            </a:solidFill>
            <a:prstDash val="solid"/>
          </a:ln>
        </p:spPr>
      </p:sp>
      <p:pic>
        <p:nvPicPr>
          <p:cNvPr id="21" name="Image 3" descr="ExclamationTriangle icon"/>
          <p:cNvPicPr>
            <a:picLocks noChangeAspect="1"/>
          </p:cNvPicPr>
          <p:nvPr/>
        </p:nvPicPr>
        <p:blipFill>
          <a:blip r:embed="rId4"/>
          <a:stretch>
            <a:fillRect/>
          </a:stretch>
        </p:blipFill>
        <p:spPr>
          <a:xfrm>
            <a:off x="937260" y="5198364"/>
            <a:ext cx="228600" cy="228600"/>
          </a:xfrm>
          <a:prstGeom prst="rect">
            <a:avLst/>
          </a:prstGeom>
        </p:spPr>
      </p:pic>
      <p:sp>
        <p:nvSpPr>
          <p:cNvPr id="22" name="Text 16"/>
          <p:cNvSpPr txBox="1"/>
          <p:nvPr/>
        </p:nvSpPr>
        <p:spPr>
          <a:xfrm>
            <a:off x="1508760" y="5047488"/>
            <a:ext cx="4206240" cy="274320"/>
          </a:xfrm>
          <a:prstGeom prst="rect">
            <a:avLst/>
          </a:prstGeom>
          <a:noFill/>
          <a:ln/>
        </p:spPr>
        <p:txBody>
          <a:bodyPr wrap="square" lIns="0" tIns="0" rIns="0" bIns="0" rtlCol="0" anchor="t"/>
          <a:lstStyle/>
          <a:p>
            <a:pPr marL="0" indent="0">
              <a:buNone/>
            </a:pPr>
            <a:r>
              <a:rPr lang="en-US" sz="1400" b="1" dirty="0">
                <a:solidFill>
                  <a:schemeClr val="tx1"/>
                </a:solidFill>
              </a:rPr>
              <a:t>Synthetic and unreviewed</a:t>
            </a:r>
            <a:endParaRPr lang="en-US" sz="1400" dirty="0"/>
          </a:p>
        </p:txBody>
      </p:sp>
      <p:sp>
        <p:nvSpPr>
          <p:cNvPr id="23" name="Text 17"/>
          <p:cNvSpPr txBox="1"/>
          <p:nvPr/>
        </p:nvSpPr>
        <p:spPr>
          <a:xfrm>
            <a:off x="1508760" y="5349240"/>
            <a:ext cx="4206240" cy="457200"/>
          </a:xfrm>
          <a:prstGeom prst="rect">
            <a:avLst/>
          </a:prstGeom>
          <a:noFill/>
          <a:ln/>
        </p:spPr>
        <p:txBody>
          <a:bodyPr wrap="square" lIns="0" tIns="0" rIns="0" bIns="0" rtlCol="0" anchor="t"/>
          <a:lstStyle/>
          <a:p>
            <a:pPr marL="0" indent="0">
              <a:buNone/>
            </a:pPr>
            <a:r>
              <a:rPr lang="en-US" sz="1200" dirty="0">
                <a:solidFill>
                  <a:srgbClr val="5B6478"/>
                </a:solidFill>
              </a:rPr>
              <a:t>Data and articles are training content, not clinically reviewed</a:t>
            </a:r>
            <a:endParaRPr lang="en-US" sz="1200" dirty="0"/>
          </a:p>
        </p:txBody>
      </p:sp>
      <p:sp>
        <p:nvSpPr>
          <p:cNvPr id="24" name="Column card"/>
          <p:cNvSpPr/>
          <p:nvPr/>
        </p:nvSpPr>
        <p:spPr>
          <a:xfrm>
            <a:off x="6199632" y="1417320"/>
            <a:ext cx="5440680" cy="4663440"/>
          </a:xfrm>
          <a:prstGeom prst="roundRect">
            <a:avLst>
              <a:gd name="adj" fmla="val 1961"/>
            </a:avLst>
          </a:prstGeom>
          <a:solidFill>
            <a:schemeClr val="bg1"/>
          </a:solidFill>
          <a:ln w="12700">
            <a:solidFill>
              <a:srgbClr val="D8DEEC"/>
            </a:solidFill>
            <a:prstDash val="solid"/>
          </a:ln>
          <a:effectLst>
            <a:outerShdw blurRad="127000" dist="25400" dir="5400000" algn="bl" rotWithShape="0">
              <a:srgbClr val="1F2937">
                <a:alpha val="10000"/>
              </a:srgbClr>
            </a:outerShdw>
          </a:effectLst>
        </p:spPr>
      </p:sp>
      <p:sp>
        <p:nvSpPr>
          <p:cNvPr id="25" name="Pill"/>
          <p:cNvSpPr/>
          <p:nvPr/>
        </p:nvSpPr>
        <p:spPr>
          <a:xfrm>
            <a:off x="6473952" y="1645920"/>
            <a:ext cx="1645920" cy="347472"/>
          </a:xfrm>
          <a:prstGeom prst="roundRect">
            <a:avLst>
              <a:gd name="adj" fmla="val 50000"/>
            </a:avLst>
          </a:prstGeom>
          <a:solidFill>
            <a:srgbClr val="1547C8"/>
          </a:solidFill>
          <a:ln w="12700">
            <a:solidFill>
              <a:srgbClr val="1547C8"/>
            </a:solidFill>
            <a:prstDash val="solid"/>
          </a:ln>
        </p:spPr>
      </p:sp>
      <p:sp>
        <p:nvSpPr>
          <p:cNvPr id="26" name="Text 20"/>
          <p:cNvSpPr txBox="1"/>
          <p:nvPr/>
        </p:nvSpPr>
        <p:spPr>
          <a:xfrm>
            <a:off x="6473952" y="1645920"/>
            <a:ext cx="1645920" cy="347472"/>
          </a:xfrm>
          <a:prstGeom prst="rect">
            <a:avLst/>
          </a:prstGeom>
          <a:noFill/>
          <a:ln/>
        </p:spPr>
        <p:txBody>
          <a:bodyPr wrap="square" lIns="0" tIns="0" rIns="0" bIns="0" rtlCol="0" anchor="ctr"/>
          <a:lstStyle/>
          <a:p>
            <a:pPr marL="0" indent="0" algn="ctr">
              <a:buNone/>
            </a:pPr>
            <a:r>
              <a:rPr lang="en-US" sz="1100" b="1" dirty="0">
                <a:solidFill>
                  <a:srgbClr val="FFFFFF"/>
                </a:solidFill>
              </a:rPr>
              <a:t>NEXT STEPS</a:t>
            </a:r>
            <a:endParaRPr lang="en-US" sz="1100" dirty="0"/>
          </a:p>
        </p:txBody>
      </p:sp>
      <p:sp>
        <p:nvSpPr>
          <p:cNvPr id="27" name="IconCircle"/>
          <p:cNvSpPr/>
          <p:nvPr/>
        </p:nvSpPr>
        <p:spPr>
          <a:xfrm>
            <a:off x="6473952" y="2286000"/>
            <a:ext cx="457200" cy="457200"/>
          </a:xfrm>
          <a:prstGeom prst="ellipse">
            <a:avLst/>
          </a:prstGeom>
          <a:solidFill>
            <a:srgbClr val="1547C8"/>
          </a:solidFill>
          <a:ln w="12700">
            <a:solidFill>
              <a:srgbClr val="1547C8"/>
            </a:solidFill>
            <a:prstDash val="solid"/>
          </a:ln>
        </p:spPr>
      </p:sp>
      <p:pic>
        <p:nvPicPr>
          <p:cNvPr id="28" name="Image 4" descr="ArrowRight icon"/>
          <p:cNvPicPr>
            <a:picLocks noChangeAspect="1"/>
          </p:cNvPicPr>
          <p:nvPr/>
        </p:nvPicPr>
        <p:blipFill>
          <a:blip r:embed="rId5"/>
          <a:stretch>
            <a:fillRect/>
          </a:stretch>
        </p:blipFill>
        <p:spPr>
          <a:xfrm>
            <a:off x="6588252" y="2400300"/>
            <a:ext cx="228600" cy="228600"/>
          </a:xfrm>
          <a:prstGeom prst="rect">
            <a:avLst/>
          </a:prstGeom>
        </p:spPr>
      </p:pic>
      <p:sp>
        <p:nvSpPr>
          <p:cNvPr id="29" name="Text 22"/>
          <p:cNvSpPr txBox="1"/>
          <p:nvPr/>
        </p:nvSpPr>
        <p:spPr>
          <a:xfrm>
            <a:off x="7159752" y="2249424"/>
            <a:ext cx="4206240" cy="274320"/>
          </a:xfrm>
          <a:prstGeom prst="rect">
            <a:avLst/>
          </a:prstGeom>
          <a:noFill/>
          <a:ln/>
        </p:spPr>
        <p:txBody>
          <a:bodyPr wrap="square" lIns="0" tIns="0" rIns="0" bIns="0" rtlCol="0" anchor="t"/>
          <a:lstStyle/>
          <a:p>
            <a:pPr marL="0" indent="0">
              <a:buNone/>
            </a:pPr>
            <a:r>
              <a:rPr lang="en-US" sz="1400" b="1" dirty="0">
                <a:solidFill>
                  <a:schemeClr val="tx1"/>
                </a:solidFill>
              </a:rPr>
              <a:t>Run the online suite</a:t>
            </a:r>
            <a:endParaRPr lang="en-US" sz="1400" dirty="0"/>
          </a:p>
        </p:txBody>
      </p:sp>
      <p:sp>
        <p:nvSpPr>
          <p:cNvPr id="30" name="Text 23"/>
          <p:cNvSpPr txBox="1"/>
          <p:nvPr/>
        </p:nvSpPr>
        <p:spPr>
          <a:xfrm>
            <a:off x="7159752" y="2551176"/>
            <a:ext cx="4206240" cy="457200"/>
          </a:xfrm>
          <a:prstGeom prst="rect">
            <a:avLst/>
          </a:prstGeom>
          <a:noFill/>
          <a:ln/>
        </p:spPr>
        <p:txBody>
          <a:bodyPr wrap="square" lIns="0" tIns="0" rIns="0" bIns="0" rtlCol="0" anchor="t"/>
          <a:lstStyle/>
          <a:p>
            <a:pPr marL="0" indent="0">
              <a:buNone/>
            </a:pPr>
            <a:r>
              <a:rPr lang="en-US" sz="1200" dirty="0">
                <a:solidFill>
                  <a:srgbClr val="5B6478"/>
                </a:solidFill>
              </a:rPr>
              <a:t>Attach evidence from the deployed Foundry agents</a:t>
            </a:r>
            <a:endParaRPr lang="en-US" sz="1200" dirty="0"/>
          </a:p>
        </p:txBody>
      </p:sp>
      <p:sp>
        <p:nvSpPr>
          <p:cNvPr id="31" name="IconCircle"/>
          <p:cNvSpPr/>
          <p:nvPr/>
        </p:nvSpPr>
        <p:spPr>
          <a:xfrm>
            <a:off x="6473952" y="3218688"/>
            <a:ext cx="457200" cy="457200"/>
          </a:xfrm>
          <a:prstGeom prst="ellipse">
            <a:avLst/>
          </a:prstGeom>
          <a:solidFill>
            <a:srgbClr val="1547C8"/>
          </a:solidFill>
          <a:ln w="12700">
            <a:solidFill>
              <a:srgbClr val="1547C8"/>
            </a:solidFill>
            <a:prstDash val="solid"/>
          </a:ln>
        </p:spPr>
      </p:sp>
      <p:pic>
        <p:nvPicPr>
          <p:cNvPr id="32" name="Image 5" descr="ArrowRight icon"/>
          <p:cNvPicPr>
            <a:picLocks noChangeAspect="1"/>
          </p:cNvPicPr>
          <p:nvPr/>
        </p:nvPicPr>
        <p:blipFill>
          <a:blip r:embed="rId5"/>
          <a:stretch>
            <a:fillRect/>
          </a:stretch>
        </p:blipFill>
        <p:spPr>
          <a:xfrm>
            <a:off x="6588252" y="3332988"/>
            <a:ext cx="228600" cy="228600"/>
          </a:xfrm>
          <a:prstGeom prst="rect">
            <a:avLst/>
          </a:prstGeom>
        </p:spPr>
      </p:pic>
      <p:sp>
        <p:nvSpPr>
          <p:cNvPr id="33" name="Text 25"/>
          <p:cNvSpPr txBox="1"/>
          <p:nvPr/>
        </p:nvSpPr>
        <p:spPr>
          <a:xfrm>
            <a:off x="7159752" y="3182112"/>
            <a:ext cx="4206240" cy="274320"/>
          </a:xfrm>
          <a:prstGeom prst="rect">
            <a:avLst/>
          </a:prstGeom>
          <a:noFill/>
          <a:ln/>
        </p:spPr>
        <p:txBody>
          <a:bodyPr wrap="square" lIns="0" tIns="0" rIns="0" bIns="0" rtlCol="0" anchor="t"/>
          <a:lstStyle/>
          <a:p>
            <a:pPr marL="0" indent="0">
              <a:buNone/>
            </a:pPr>
            <a:r>
              <a:rPr lang="en-US" sz="1400" b="1" dirty="0">
                <a:solidFill>
                  <a:schemeClr val="tx1"/>
                </a:solidFill>
              </a:rPr>
              <a:t>Clinical sign-off</a:t>
            </a:r>
            <a:endParaRPr lang="en-US" sz="1400" dirty="0"/>
          </a:p>
        </p:txBody>
      </p:sp>
      <p:sp>
        <p:nvSpPr>
          <p:cNvPr id="34" name="Text 26"/>
          <p:cNvSpPr txBox="1"/>
          <p:nvPr/>
        </p:nvSpPr>
        <p:spPr>
          <a:xfrm>
            <a:off x="7159752" y="3483864"/>
            <a:ext cx="4206240" cy="457200"/>
          </a:xfrm>
          <a:prstGeom prst="rect">
            <a:avLst/>
          </a:prstGeom>
          <a:noFill/>
          <a:ln/>
        </p:spPr>
        <p:txBody>
          <a:bodyPr wrap="square" lIns="0" tIns="0" rIns="0" bIns="0" rtlCol="0" anchor="t"/>
          <a:lstStyle/>
          <a:p>
            <a:pPr marL="0" indent="0">
              <a:buNone/>
            </a:pPr>
            <a:r>
              <a:rPr lang="en-US" sz="1200" dirty="0">
                <a:solidFill>
                  <a:srgbClr val="5B6478"/>
                </a:solidFill>
              </a:rPr>
              <a:t>Clinician-set thresholds and reviewed article text</a:t>
            </a:r>
            <a:endParaRPr lang="en-US" sz="1200" dirty="0"/>
          </a:p>
        </p:txBody>
      </p:sp>
      <p:sp>
        <p:nvSpPr>
          <p:cNvPr id="35" name="IconCircle"/>
          <p:cNvSpPr/>
          <p:nvPr/>
        </p:nvSpPr>
        <p:spPr>
          <a:xfrm>
            <a:off x="6473952" y="4151376"/>
            <a:ext cx="457200" cy="457200"/>
          </a:xfrm>
          <a:prstGeom prst="ellipse">
            <a:avLst/>
          </a:prstGeom>
          <a:solidFill>
            <a:srgbClr val="1547C8"/>
          </a:solidFill>
          <a:ln w="12700">
            <a:solidFill>
              <a:srgbClr val="1547C8"/>
            </a:solidFill>
            <a:prstDash val="solid"/>
          </a:ln>
        </p:spPr>
      </p:sp>
      <p:pic>
        <p:nvPicPr>
          <p:cNvPr id="36" name="Image 6" descr="ArrowRight icon"/>
          <p:cNvPicPr>
            <a:picLocks noChangeAspect="1"/>
          </p:cNvPicPr>
          <p:nvPr/>
        </p:nvPicPr>
        <p:blipFill>
          <a:blip r:embed="rId5"/>
          <a:stretch>
            <a:fillRect/>
          </a:stretch>
        </p:blipFill>
        <p:spPr>
          <a:xfrm>
            <a:off x="6588252" y="4265676"/>
            <a:ext cx="228600" cy="228600"/>
          </a:xfrm>
          <a:prstGeom prst="rect">
            <a:avLst/>
          </a:prstGeom>
        </p:spPr>
      </p:pic>
      <p:sp>
        <p:nvSpPr>
          <p:cNvPr id="37" name="Text 28"/>
          <p:cNvSpPr txBox="1"/>
          <p:nvPr/>
        </p:nvSpPr>
        <p:spPr>
          <a:xfrm>
            <a:off x="7159752" y="4114800"/>
            <a:ext cx="4206240" cy="274320"/>
          </a:xfrm>
          <a:prstGeom prst="rect">
            <a:avLst/>
          </a:prstGeom>
          <a:noFill/>
          <a:ln/>
        </p:spPr>
        <p:txBody>
          <a:bodyPr wrap="square" lIns="0" tIns="0" rIns="0" bIns="0" rtlCol="0" anchor="t"/>
          <a:lstStyle/>
          <a:p>
            <a:pPr marL="0" indent="0">
              <a:buNone/>
            </a:pPr>
            <a:r>
              <a:rPr lang="en-US" sz="1400" b="1" dirty="0">
                <a:solidFill>
                  <a:schemeClr val="tx1"/>
                </a:solidFill>
              </a:rPr>
              <a:t>Distress and urgent symptoms</a:t>
            </a:r>
            <a:endParaRPr lang="en-US" sz="1400" dirty="0"/>
          </a:p>
        </p:txBody>
      </p:sp>
      <p:sp>
        <p:nvSpPr>
          <p:cNvPr id="38" name="Text 29"/>
          <p:cNvSpPr txBox="1"/>
          <p:nvPr/>
        </p:nvSpPr>
        <p:spPr>
          <a:xfrm>
            <a:off x="7159752" y="4416552"/>
            <a:ext cx="4206240" cy="457200"/>
          </a:xfrm>
          <a:prstGeom prst="rect">
            <a:avLst/>
          </a:prstGeom>
          <a:noFill/>
          <a:ln/>
        </p:spPr>
        <p:txBody>
          <a:bodyPr wrap="square" lIns="0" tIns="0" rIns="0" bIns="0" rtlCol="0" anchor="t"/>
          <a:lstStyle/>
          <a:p>
            <a:pPr marL="0" indent="0">
              <a:buNone/>
            </a:pPr>
            <a:r>
              <a:rPr lang="en-US" sz="1200" dirty="0">
                <a:solidFill>
                  <a:srgbClr val="5B6478"/>
                </a:solidFill>
              </a:rPr>
              <a:t>A dedicated route with reviewed wording and a fast staff alert</a:t>
            </a:r>
            <a:endParaRPr lang="en-US" sz="1200" dirty="0"/>
          </a:p>
        </p:txBody>
      </p:sp>
      <p:sp>
        <p:nvSpPr>
          <p:cNvPr id="39" name="IconCircle"/>
          <p:cNvSpPr/>
          <p:nvPr/>
        </p:nvSpPr>
        <p:spPr>
          <a:xfrm>
            <a:off x="6473952" y="5084064"/>
            <a:ext cx="457200" cy="457200"/>
          </a:xfrm>
          <a:prstGeom prst="ellipse">
            <a:avLst/>
          </a:prstGeom>
          <a:solidFill>
            <a:srgbClr val="1547C8"/>
          </a:solidFill>
          <a:ln w="12700">
            <a:solidFill>
              <a:srgbClr val="1547C8"/>
            </a:solidFill>
            <a:prstDash val="solid"/>
          </a:ln>
        </p:spPr>
      </p:sp>
      <p:pic>
        <p:nvPicPr>
          <p:cNvPr id="40" name="Image 7" descr="ArrowRight icon"/>
          <p:cNvPicPr>
            <a:picLocks noChangeAspect="1"/>
          </p:cNvPicPr>
          <p:nvPr/>
        </p:nvPicPr>
        <p:blipFill>
          <a:blip r:embed="rId5"/>
          <a:stretch>
            <a:fillRect/>
          </a:stretch>
        </p:blipFill>
        <p:spPr>
          <a:xfrm>
            <a:off x="6588252" y="5198364"/>
            <a:ext cx="228600" cy="228600"/>
          </a:xfrm>
          <a:prstGeom prst="rect">
            <a:avLst/>
          </a:prstGeom>
        </p:spPr>
      </p:pic>
      <p:sp>
        <p:nvSpPr>
          <p:cNvPr id="41" name="Text 31"/>
          <p:cNvSpPr txBox="1"/>
          <p:nvPr/>
        </p:nvSpPr>
        <p:spPr>
          <a:xfrm>
            <a:off x="7159752" y="5047488"/>
            <a:ext cx="4206240" cy="274320"/>
          </a:xfrm>
          <a:prstGeom prst="rect">
            <a:avLst/>
          </a:prstGeom>
          <a:noFill/>
          <a:ln/>
        </p:spPr>
        <p:txBody>
          <a:bodyPr wrap="square" lIns="0" tIns="0" rIns="0" bIns="0" rtlCol="0" anchor="t"/>
          <a:lstStyle/>
          <a:p>
            <a:pPr marL="0" indent="0">
              <a:buNone/>
            </a:pPr>
            <a:r>
              <a:rPr lang="en-US" sz="1400" b="1" dirty="0">
                <a:solidFill>
                  <a:schemeClr val="tx1"/>
                </a:solidFill>
              </a:rPr>
              <a:t>Production hardening</a:t>
            </a:r>
            <a:endParaRPr lang="en-US" sz="1400" dirty="0"/>
          </a:p>
        </p:txBody>
      </p:sp>
      <p:sp>
        <p:nvSpPr>
          <p:cNvPr id="42" name="Text 32"/>
          <p:cNvSpPr txBox="1"/>
          <p:nvPr/>
        </p:nvSpPr>
        <p:spPr>
          <a:xfrm>
            <a:off x="7159752" y="5349240"/>
            <a:ext cx="4206240" cy="457200"/>
          </a:xfrm>
          <a:prstGeom prst="rect">
            <a:avLst/>
          </a:prstGeom>
          <a:noFill/>
          <a:ln/>
        </p:spPr>
        <p:txBody>
          <a:bodyPr wrap="square" lIns="0" tIns="0" rIns="0" bIns="0" rtlCol="0" anchor="t"/>
          <a:lstStyle/>
          <a:p>
            <a:pPr marL="0" indent="0">
              <a:buNone/>
            </a:pPr>
            <a:r>
              <a:rPr lang="en-US" sz="1200" dirty="0">
                <a:solidFill>
                  <a:srgbClr val="5B6478"/>
                </a:solidFill>
              </a:rPr>
              <a:t>Managed identity, Key Vault, semantic search, monitoring</a:t>
            </a:r>
            <a:endParaRPr lang="en-US" sz="1200" dirty="0"/>
          </a:p>
        </p:txBody>
      </p:sp>
      <p:sp>
        <p:nvSpPr>
          <p:cNvPr id="43"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8"/>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2103120"/>
            <a:ext cx="5669280" cy="731520"/>
          </a:xfrm>
          <a:prstGeom prst="rect">
            <a:avLst/>
          </a:prstGeom>
          <a:noFill/>
          <a:ln/>
        </p:spPr>
        <p:txBody>
          <a:bodyPr wrap="square" lIns="0" tIns="0" rIns="0" bIns="0" rtlCol="0" anchor="t"/>
          <a:lstStyle/>
          <a:p>
            <a:pPr marL="0" indent="0">
              <a:buNone/>
            </a:pPr>
            <a:r>
              <a:rPr lang="en-US" sz="3400" b="1" dirty="0">
                <a:solidFill>
                  <a:srgbClr val="FFFFFF"/>
                </a:solidFill>
              </a:rPr>
              <a:t>Conclusion</a:t>
            </a:r>
            <a:endParaRPr lang="en-US" sz="3400" dirty="0"/>
          </a:p>
        </p:txBody>
      </p:sp>
      <p:sp>
        <p:nvSpPr>
          <p:cNvPr id="3" name="Text 1"/>
          <p:cNvSpPr txBox="1"/>
          <p:nvPr/>
        </p:nvSpPr>
        <p:spPr>
          <a:xfrm>
            <a:off x="640080" y="3017520"/>
            <a:ext cx="5486400" cy="1188720"/>
          </a:xfrm>
          <a:prstGeom prst="rect">
            <a:avLst/>
          </a:prstGeom>
          <a:noFill/>
          <a:ln/>
        </p:spPr>
        <p:txBody>
          <a:bodyPr wrap="square" lIns="0" tIns="0" rIns="0" bIns="0" rtlCol="0" anchor="t"/>
          <a:lstStyle/>
          <a:p>
            <a:pPr marL="0" indent="0">
              <a:buNone/>
            </a:pPr>
            <a:r>
              <a:rPr lang="en-US" sz="1500" dirty="0">
                <a:solidFill>
                  <a:srgbClr val="CFE0FF"/>
                </a:solidFill>
              </a:rPr>
              <a:t>A safe pattern for regulated work: specialist agents for language, code for facts and rules, and people for every clinical decision.</a:t>
            </a:r>
            <a:endParaRPr lang="en-US" sz="1500" dirty="0"/>
          </a:p>
        </p:txBody>
      </p:sp>
      <p:sp>
        <p:nvSpPr>
          <p:cNvPr id="4" name="Text 2"/>
          <p:cNvSpPr txBox="1"/>
          <p:nvPr/>
        </p:nvSpPr>
        <p:spPr>
          <a:xfrm>
            <a:off x="640080" y="4114800"/>
            <a:ext cx="5486400" cy="548640"/>
          </a:xfrm>
          <a:prstGeom prst="rect">
            <a:avLst/>
          </a:prstGeom>
          <a:noFill/>
          <a:ln/>
        </p:spPr>
        <p:txBody>
          <a:bodyPr wrap="square" lIns="0" tIns="0" rIns="0" bIns="0" rtlCol="0" anchor="t"/>
          <a:lstStyle/>
          <a:p>
            <a:pPr marL="0" indent="0">
              <a:buNone/>
            </a:pPr>
            <a:r>
              <a:rPr lang="en-US" sz="1200" dirty="0">
                <a:solidFill>
                  <a:srgbClr val="CFE0FF"/>
                </a:solidFill>
              </a:rPr>
              <a:t>The prototype uses synthetic data and is for learning only.</a:t>
            </a:r>
            <a:endParaRPr lang="en-US" sz="1200" dirty="0"/>
          </a:p>
        </p:txBody>
      </p:sp>
      <p:sp>
        <p:nvSpPr>
          <p:cNvPr id="5" name="Takeaway"/>
          <p:cNvSpPr/>
          <p:nvPr/>
        </p:nvSpPr>
        <p:spPr>
          <a:xfrm>
            <a:off x="6949440" y="1371600"/>
            <a:ext cx="4690872" cy="1005840"/>
          </a:xfrm>
          <a:prstGeom prst="roundRect">
            <a:avLst>
              <a:gd name="adj" fmla="val 9091"/>
            </a:avLst>
          </a:prstGeom>
          <a:solidFill>
            <a:srgbClr val="FFFFFF">
              <a:alpha val="12000"/>
            </a:srgbClr>
          </a:solidFill>
          <a:ln w="12700">
            <a:solidFill>
              <a:srgbClr val="7F9BEA"/>
            </a:solidFill>
            <a:prstDash val="solid"/>
          </a:ln>
        </p:spPr>
      </p:sp>
      <p:sp>
        <p:nvSpPr>
          <p:cNvPr id="6" name="IconCircle"/>
          <p:cNvSpPr/>
          <p:nvPr/>
        </p:nvSpPr>
        <p:spPr>
          <a:xfrm>
            <a:off x="7178040" y="1627632"/>
            <a:ext cx="493776" cy="493776"/>
          </a:xfrm>
          <a:prstGeom prst="ellipse">
            <a:avLst/>
          </a:prstGeom>
          <a:solidFill>
            <a:srgbClr val="3CC3F0"/>
          </a:solidFill>
          <a:ln w="12700">
            <a:solidFill>
              <a:srgbClr val="3CC3F0"/>
            </a:solidFill>
            <a:prstDash val="solid"/>
          </a:ln>
        </p:spPr>
      </p:sp>
      <p:pic>
        <p:nvPicPr>
          <p:cNvPr id="7" name="Image 0" descr="Check icon"/>
          <p:cNvPicPr>
            <a:picLocks noChangeAspect="1"/>
          </p:cNvPicPr>
          <p:nvPr/>
        </p:nvPicPr>
        <p:blipFill>
          <a:blip r:embed="rId3"/>
          <a:stretch>
            <a:fillRect/>
          </a:stretch>
        </p:blipFill>
        <p:spPr>
          <a:xfrm>
            <a:off x="7301484" y="1751076"/>
            <a:ext cx="246888" cy="246888"/>
          </a:xfrm>
          <a:prstGeom prst="rect">
            <a:avLst/>
          </a:prstGeom>
        </p:spPr>
      </p:pic>
      <p:sp>
        <p:nvSpPr>
          <p:cNvPr id="8" name="Text 5"/>
          <p:cNvSpPr txBox="1"/>
          <p:nvPr/>
        </p:nvSpPr>
        <p:spPr>
          <a:xfrm>
            <a:off x="7909560" y="1554480"/>
            <a:ext cx="3566160" cy="292608"/>
          </a:xfrm>
          <a:prstGeom prst="rect">
            <a:avLst/>
          </a:prstGeom>
          <a:noFill/>
          <a:ln/>
        </p:spPr>
        <p:txBody>
          <a:bodyPr wrap="square" lIns="0" tIns="0" rIns="0" bIns="0" rtlCol="0" anchor="t"/>
          <a:lstStyle/>
          <a:p>
            <a:pPr marL="0" indent="0">
              <a:buNone/>
            </a:pPr>
            <a:r>
              <a:rPr lang="en-US" sz="1500" b="1" dirty="0">
                <a:solidFill>
                  <a:srgbClr val="FFFFFF"/>
                </a:solidFill>
              </a:rPr>
              <a:t>Safe by design</a:t>
            </a:r>
            <a:endParaRPr lang="en-US" sz="1500" dirty="0"/>
          </a:p>
        </p:txBody>
      </p:sp>
      <p:sp>
        <p:nvSpPr>
          <p:cNvPr id="9" name="Text 6"/>
          <p:cNvSpPr txBox="1"/>
          <p:nvPr/>
        </p:nvSpPr>
        <p:spPr>
          <a:xfrm>
            <a:off x="7909560" y="1883664"/>
            <a:ext cx="3566160" cy="365760"/>
          </a:xfrm>
          <a:prstGeom prst="rect">
            <a:avLst/>
          </a:prstGeom>
          <a:noFill/>
          <a:ln/>
        </p:spPr>
        <p:txBody>
          <a:bodyPr wrap="square" lIns="0" tIns="0" rIns="0" bIns="0" rtlCol="0" anchor="t"/>
          <a:lstStyle/>
          <a:p>
            <a:pPr marL="0" indent="0">
              <a:buNone/>
            </a:pPr>
            <a:r>
              <a:rPr lang="en-US" sz="1150" dirty="0">
                <a:solidFill>
                  <a:srgbClr val="CFE0FF"/>
                </a:solidFill>
              </a:rPr>
              <a:t>Rules and facts live in code, not in prompts</a:t>
            </a:r>
            <a:endParaRPr lang="en-US" sz="1150" dirty="0"/>
          </a:p>
        </p:txBody>
      </p:sp>
      <p:sp>
        <p:nvSpPr>
          <p:cNvPr id="10" name="Takeaway"/>
          <p:cNvSpPr/>
          <p:nvPr/>
        </p:nvSpPr>
        <p:spPr>
          <a:xfrm>
            <a:off x="6949440" y="2560320"/>
            <a:ext cx="4690872" cy="1005840"/>
          </a:xfrm>
          <a:prstGeom prst="roundRect">
            <a:avLst>
              <a:gd name="adj" fmla="val 9091"/>
            </a:avLst>
          </a:prstGeom>
          <a:solidFill>
            <a:srgbClr val="FFFFFF">
              <a:alpha val="12000"/>
            </a:srgbClr>
          </a:solidFill>
          <a:ln w="12700">
            <a:solidFill>
              <a:srgbClr val="7F9BEA"/>
            </a:solidFill>
            <a:prstDash val="solid"/>
          </a:ln>
        </p:spPr>
      </p:sp>
      <p:sp>
        <p:nvSpPr>
          <p:cNvPr id="11" name="IconCircle"/>
          <p:cNvSpPr/>
          <p:nvPr/>
        </p:nvSpPr>
        <p:spPr>
          <a:xfrm>
            <a:off x="7178040" y="2816352"/>
            <a:ext cx="493776" cy="493776"/>
          </a:xfrm>
          <a:prstGeom prst="ellipse">
            <a:avLst/>
          </a:prstGeom>
          <a:solidFill>
            <a:srgbClr val="3CC3F0"/>
          </a:solidFill>
          <a:ln w="12700">
            <a:solidFill>
              <a:srgbClr val="3CC3F0"/>
            </a:solidFill>
            <a:prstDash val="solid"/>
          </a:ln>
        </p:spPr>
      </p:sp>
      <p:pic>
        <p:nvPicPr>
          <p:cNvPr id="12" name="Image 1" descr="Check icon"/>
          <p:cNvPicPr>
            <a:picLocks noChangeAspect="1"/>
          </p:cNvPicPr>
          <p:nvPr/>
        </p:nvPicPr>
        <p:blipFill>
          <a:blip r:embed="rId3"/>
          <a:stretch>
            <a:fillRect/>
          </a:stretch>
        </p:blipFill>
        <p:spPr>
          <a:xfrm>
            <a:off x="7301484" y="2939796"/>
            <a:ext cx="246888" cy="246888"/>
          </a:xfrm>
          <a:prstGeom prst="rect">
            <a:avLst/>
          </a:prstGeom>
        </p:spPr>
      </p:pic>
      <p:sp>
        <p:nvSpPr>
          <p:cNvPr id="13" name="Text 9"/>
          <p:cNvSpPr txBox="1"/>
          <p:nvPr/>
        </p:nvSpPr>
        <p:spPr>
          <a:xfrm>
            <a:off x="7909560" y="2743200"/>
            <a:ext cx="3566160" cy="292608"/>
          </a:xfrm>
          <a:prstGeom prst="rect">
            <a:avLst/>
          </a:prstGeom>
          <a:noFill/>
          <a:ln/>
        </p:spPr>
        <p:txBody>
          <a:bodyPr wrap="square" lIns="0" tIns="0" rIns="0" bIns="0" rtlCol="0" anchor="t"/>
          <a:lstStyle/>
          <a:p>
            <a:pPr marL="0" indent="0">
              <a:buNone/>
            </a:pPr>
            <a:r>
              <a:rPr lang="en-US" sz="1500" b="1" dirty="0">
                <a:solidFill>
                  <a:srgbClr val="FFFFFF"/>
                </a:solidFill>
              </a:rPr>
              <a:t>Grounded</a:t>
            </a:r>
            <a:endParaRPr lang="en-US" sz="1500" dirty="0"/>
          </a:p>
        </p:txBody>
      </p:sp>
      <p:sp>
        <p:nvSpPr>
          <p:cNvPr id="14" name="Text 10"/>
          <p:cNvSpPr txBox="1"/>
          <p:nvPr/>
        </p:nvSpPr>
        <p:spPr>
          <a:xfrm>
            <a:off x="7909560" y="3072384"/>
            <a:ext cx="3566160" cy="365760"/>
          </a:xfrm>
          <a:prstGeom prst="rect">
            <a:avLst/>
          </a:prstGeom>
          <a:noFill/>
          <a:ln/>
        </p:spPr>
        <p:txBody>
          <a:bodyPr wrap="square" lIns="0" tIns="0" rIns="0" bIns="0" rtlCol="0" anchor="t"/>
          <a:lstStyle/>
          <a:p>
            <a:pPr marL="0" indent="0">
              <a:buNone/>
            </a:pPr>
            <a:r>
              <a:rPr lang="en-US" sz="1150" dirty="0">
                <a:solidFill>
                  <a:srgbClr val="CFE0FF"/>
                </a:solidFill>
              </a:rPr>
              <a:t>Answers cite approved versions or admit a gap</a:t>
            </a:r>
            <a:endParaRPr lang="en-US" sz="1150" dirty="0"/>
          </a:p>
        </p:txBody>
      </p:sp>
      <p:sp>
        <p:nvSpPr>
          <p:cNvPr id="15" name="Takeaway"/>
          <p:cNvSpPr/>
          <p:nvPr/>
        </p:nvSpPr>
        <p:spPr>
          <a:xfrm>
            <a:off x="6949440" y="3749040"/>
            <a:ext cx="4690872" cy="1005840"/>
          </a:xfrm>
          <a:prstGeom prst="roundRect">
            <a:avLst>
              <a:gd name="adj" fmla="val 9091"/>
            </a:avLst>
          </a:prstGeom>
          <a:solidFill>
            <a:srgbClr val="FFFFFF">
              <a:alpha val="12000"/>
            </a:srgbClr>
          </a:solidFill>
          <a:ln w="12700">
            <a:solidFill>
              <a:srgbClr val="7F9BEA"/>
            </a:solidFill>
            <a:prstDash val="solid"/>
          </a:ln>
        </p:spPr>
      </p:sp>
      <p:sp>
        <p:nvSpPr>
          <p:cNvPr id="16" name="IconCircle"/>
          <p:cNvSpPr/>
          <p:nvPr/>
        </p:nvSpPr>
        <p:spPr>
          <a:xfrm>
            <a:off x="7178040" y="4005072"/>
            <a:ext cx="493776" cy="493776"/>
          </a:xfrm>
          <a:prstGeom prst="ellipse">
            <a:avLst/>
          </a:prstGeom>
          <a:solidFill>
            <a:srgbClr val="3CC3F0"/>
          </a:solidFill>
          <a:ln w="12700">
            <a:solidFill>
              <a:srgbClr val="3CC3F0"/>
            </a:solidFill>
            <a:prstDash val="solid"/>
          </a:ln>
        </p:spPr>
      </p:sp>
      <p:pic>
        <p:nvPicPr>
          <p:cNvPr id="17" name="Image 2" descr="Check icon"/>
          <p:cNvPicPr>
            <a:picLocks noChangeAspect="1"/>
          </p:cNvPicPr>
          <p:nvPr/>
        </p:nvPicPr>
        <p:blipFill>
          <a:blip r:embed="rId3"/>
          <a:stretch>
            <a:fillRect/>
          </a:stretch>
        </p:blipFill>
        <p:spPr>
          <a:xfrm>
            <a:off x="7301484" y="4128516"/>
            <a:ext cx="246888" cy="246888"/>
          </a:xfrm>
          <a:prstGeom prst="rect">
            <a:avLst/>
          </a:prstGeom>
        </p:spPr>
      </p:pic>
      <p:sp>
        <p:nvSpPr>
          <p:cNvPr id="18" name="Text 13"/>
          <p:cNvSpPr txBox="1"/>
          <p:nvPr/>
        </p:nvSpPr>
        <p:spPr>
          <a:xfrm>
            <a:off x="7909560" y="3931920"/>
            <a:ext cx="3566160" cy="292608"/>
          </a:xfrm>
          <a:prstGeom prst="rect">
            <a:avLst/>
          </a:prstGeom>
          <a:noFill/>
          <a:ln/>
        </p:spPr>
        <p:txBody>
          <a:bodyPr wrap="square" lIns="0" tIns="0" rIns="0" bIns="0" rtlCol="0" anchor="t"/>
          <a:lstStyle/>
          <a:p>
            <a:pPr marL="0" indent="0">
              <a:buNone/>
            </a:pPr>
            <a:r>
              <a:rPr lang="en-US" sz="1500" b="1" dirty="0">
                <a:solidFill>
                  <a:srgbClr val="FFFFFF"/>
                </a:solidFill>
              </a:rPr>
              <a:t>Human-led</a:t>
            </a:r>
            <a:endParaRPr lang="en-US" sz="1500" dirty="0"/>
          </a:p>
        </p:txBody>
      </p:sp>
      <p:sp>
        <p:nvSpPr>
          <p:cNvPr id="19" name="Text 14"/>
          <p:cNvSpPr txBox="1"/>
          <p:nvPr/>
        </p:nvSpPr>
        <p:spPr>
          <a:xfrm>
            <a:off x="7909560" y="4261104"/>
            <a:ext cx="3566160" cy="365760"/>
          </a:xfrm>
          <a:prstGeom prst="rect">
            <a:avLst/>
          </a:prstGeom>
          <a:noFill/>
          <a:ln/>
        </p:spPr>
        <p:txBody>
          <a:bodyPr wrap="square" lIns="0" tIns="0" rIns="0" bIns="0" rtlCol="0" anchor="t"/>
          <a:lstStyle/>
          <a:p>
            <a:pPr marL="0" indent="0">
              <a:buNone/>
            </a:pPr>
            <a:r>
              <a:rPr lang="en-US" sz="1150" dirty="0">
                <a:solidFill>
                  <a:srgbClr val="CFE0FF"/>
                </a:solidFill>
              </a:rPr>
              <a:t>Risk goes to a staff queue with a clean packet</a:t>
            </a:r>
            <a:endParaRPr lang="en-US" sz="1150" dirty="0"/>
          </a:p>
        </p:txBody>
      </p:sp>
      <p:sp>
        <p:nvSpPr>
          <p:cNvPr id="20" name="Takeaway"/>
          <p:cNvSpPr/>
          <p:nvPr/>
        </p:nvSpPr>
        <p:spPr>
          <a:xfrm>
            <a:off x="6949440" y="4937760"/>
            <a:ext cx="4690872" cy="1005840"/>
          </a:xfrm>
          <a:prstGeom prst="roundRect">
            <a:avLst>
              <a:gd name="adj" fmla="val 9091"/>
            </a:avLst>
          </a:prstGeom>
          <a:solidFill>
            <a:srgbClr val="FFFFFF">
              <a:alpha val="12000"/>
            </a:srgbClr>
          </a:solidFill>
          <a:ln w="12700">
            <a:solidFill>
              <a:srgbClr val="7F9BEA"/>
            </a:solidFill>
            <a:prstDash val="solid"/>
          </a:ln>
        </p:spPr>
      </p:sp>
      <p:sp>
        <p:nvSpPr>
          <p:cNvPr id="21" name="IconCircle"/>
          <p:cNvSpPr/>
          <p:nvPr/>
        </p:nvSpPr>
        <p:spPr>
          <a:xfrm>
            <a:off x="7178040" y="5193792"/>
            <a:ext cx="493776" cy="493776"/>
          </a:xfrm>
          <a:prstGeom prst="ellipse">
            <a:avLst/>
          </a:prstGeom>
          <a:solidFill>
            <a:srgbClr val="3CC3F0"/>
          </a:solidFill>
          <a:ln w="12700">
            <a:solidFill>
              <a:srgbClr val="3CC3F0"/>
            </a:solidFill>
            <a:prstDash val="solid"/>
          </a:ln>
        </p:spPr>
      </p:sp>
      <p:pic>
        <p:nvPicPr>
          <p:cNvPr id="22" name="Image 3" descr="Check icon"/>
          <p:cNvPicPr>
            <a:picLocks noChangeAspect="1"/>
          </p:cNvPicPr>
          <p:nvPr/>
        </p:nvPicPr>
        <p:blipFill>
          <a:blip r:embed="rId3"/>
          <a:stretch>
            <a:fillRect/>
          </a:stretch>
        </p:blipFill>
        <p:spPr>
          <a:xfrm>
            <a:off x="7301484" y="5317236"/>
            <a:ext cx="246888" cy="246888"/>
          </a:xfrm>
          <a:prstGeom prst="rect">
            <a:avLst/>
          </a:prstGeom>
        </p:spPr>
      </p:pic>
      <p:sp>
        <p:nvSpPr>
          <p:cNvPr id="23" name="Text 17"/>
          <p:cNvSpPr txBox="1"/>
          <p:nvPr/>
        </p:nvSpPr>
        <p:spPr>
          <a:xfrm>
            <a:off x="7909560" y="5120640"/>
            <a:ext cx="3566160" cy="292608"/>
          </a:xfrm>
          <a:prstGeom prst="rect">
            <a:avLst/>
          </a:prstGeom>
          <a:noFill/>
          <a:ln/>
        </p:spPr>
        <p:txBody>
          <a:bodyPr wrap="square" lIns="0" tIns="0" rIns="0" bIns="0" rtlCol="0" anchor="t"/>
          <a:lstStyle/>
          <a:p>
            <a:pPr marL="0" indent="0">
              <a:buNone/>
            </a:pPr>
            <a:r>
              <a:rPr lang="en-US" sz="1500" b="1" dirty="0">
                <a:solidFill>
                  <a:srgbClr val="FFFFFF"/>
                </a:solidFill>
              </a:rPr>
              <a:t>Auditable</a:t>
            </a:r>
            <a:endParaRPr lang="en-US" sz="1500" dirty="0"/>
          </a:p>
        </p:txBody>
      </p:sp>
      <p:sp>
        <p:nvSpPr>
          <p:cNvPr id="24" name="Text 18"/>
          <p:cNvSpPr txBox="1"/>
          <p:nvPr/>
        </p:nvSpPr>
        <p:spPr>
          <a:xfrm>
            <a:off x="7909560" y="5449824"/>
            <a:ext cx="3566160" cy="365760"/>
          </a:xfrm>
          <a:prstGeom prst="rect">
            <a:avLst/>
          </a:prstGeom>
          <a:noFill/>
          <a:ln/>
        </p:spPr>
        <p:txBody>
          <a:bodyPr wrap="square" lIns="0" tIns="0" rIns="0" bIns="0" rtlCol="0" anchor="t"/>
          <a:lstStyle/>
          <a:p>
            <a:pPr marL="0" indent="0">
              <a:buNone/>
            </a:pPr>
            <a:r>
              <a:rPr lang="en-US" sz="1150" dirty="0">
                <a:solidFill>
                  <a:srgbClr val="CFE0FF"/>
                </a:solidFill>
              </a:rPr>
              <a:t>Masked IDs, no message text, rule IDs recorded</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2743200"/>
            <a:ext cx="7315200" cy="822960"/>
          </a:xfrm>
          <a:prstGeom prst="rect">
            <a:avLst/>
          </a:prstGeom>
          <a:noFill/>
          <a:ln/>
        </p:spPr>
        <p:txBody>
          <a:bodyPr wrap="square" lIns="0" tIns="0" rIns="0" bIns="0" rtlCol="0" anchor="t"/>
          <a:lstStyle/>
          <a:p>
            <a:pPr marL="0" indent="0">
              <a:buNone/>
            </a:pPr>
            <a:r>
              <a:rPr lang="en-US" sz="4000" b="1" dirty="0">
                <a:solidFill>
                  <a:srgbClr val="FFFFFF"/>
                </a:solidFill>
              </a:rPr>
              <a:t>Thank you</a:t>
            </a:r>
            <a:endParaRPr lang="en-US" sz="4000" dirty="0"/>
          </a:p>
        </p:txBody>
      </p:sp>
      <p:sp>
        <p:nvSpPr>
          <p:cNvPr id="3" name="Text 1"/>
          <p:cNvSpPr txBox="1"/>
          <p:nvPr/>
        </p:nvSpPr>
        <p:spPr>
          <a:xfrm>
            <a:off x="640080" y="3611880"/>
            <a:ext cx="7315200" cy="365760"/>
          </a:xfrm>
          <a:prstGeom prst="rect">
            <a:avLst/>
          </a:prstGeom>
          <a:noFill/>
          <a:ln/>
        </p:spPr>
        <p:txBody>
          <a:bodyPr wrap="square" lIns="0" tIns="0" rIns="0" bIns="0" rtlCol="0" anchor="t"/>
          <a:lstStyle/>
          <a:p>
            <a:pPr marL="0" indent="0">
              <a:buNone/>
            </a:pPr>
            <a:r>
              <a:rPr lang="en-US" sz="1600" dirty="0">
                <a:solidFill>
                  <a:srgbClr val="3CC3F0"/>
                </a:solidFill>
              </a:rPr>
              <a:t>Open for questions</a:t>
            </a:r>
            <a:endParaRPr lang="en-US" sz="1600" dirty="0"/>
          </a:p>
        </p:txBody>
      </p:sp>
      <p:sp>
        <p:nvSpPr>
          <p:cNvPr id="4" name="Text 2"/>
          <p:cNvSpPr txBox="1"/>
          <p:nvPr/>
        </p:nvSpPr>
        <p:spPr>
          <a:xfrm>
            <a:off x="640080" y="6217920"/>
            <a:ext cx="5486400" cy="274320"/>
          </a:xfrm>
          <a:prstGeom prst="rect">
            <a:avLst/>
          </a:prstGeom>
          <a:noFill/>
          <a:ln/>
        </p:spPr>
        <p:txBody>
          <a:bodyPr wrap="square" lIns="0" tIns="0" rIns="0" bIns="0" rtlCol="0" anchor="t"/>
          <a:lstStyle/>
          <a:p>
            <a:pPr marL="0" indent="0">
              <a:buNone/>
            </a:pPr>
            <a:r>
              <a:rPr lang="en-US" sz="1000" dirty="0">
                <a:solidFill>
                  <a:srgbClr val="CFE0FF"/>
                </a:solidFill>
              </a:rPr>
              <a:t>Sujit Gorakh Raut</a:t>
            </a:r>
            <a:endParaRPr lang="en-US" sz="1000" dirty="0"/>
          </a:p>
        </p:txBody>
      </p:sp>
    </p:spTree>
  </p:cSld>
  <p:clrMapOvr>
    <a:masterClrMapping/>
  </p:clrMapOvr>
</p:sld>
</file>

<file path=ppt/theme/theme1.xml><?xml version="1.0" encoding="utf-8"?>
<a:theme xmlns:a="http://schemas.openxmlformats.org/drawingml/2006/main" name="CitiusTech Chronic Care">
  <a:themeElements>
    <a:clrScheme name="CitiusTech Chronic Care">
      <a:dk1>
        <a:srgbClr val="1F2937"/>
      </a:dk1>
      <a:lt1>
        <a:srgbClr val="FFFFFF"/>
      </a:lt1>
      <a:dk2>
        <a:srgbClr val="0A1F5C"/>
      </a:dk2>
      <a:lt2>
        <a:srgbClr val="F4F6FB"/>
      </a:lt2>
      <a:accent1>
        <a:srgbClr val="1547C8"/>
      </a:accent1>
      <a:accent2>
        <a:srgbClr val="3CC3F0"/>
      </a:accent2>
      <a:accent3>
        <a:srgbClr val="12A36B"/>
      </a:accent3>
      <a:accent4>
        <a:srgbClr val="F5A524"/>
      </a:accent4>
      <a:accent5>
        <a:srgbClr val="E5484D"/>
      </a:accent5>
      <a:accent6>
        <a:srgbClr val="8338EC"/>
      </a:accent6>
      <a:hlink>
        <a:srgbClr val="1547C8"/>
      </a:hlink>
      <a:folHlink>
        <a:srgbClr val="5B6478"/>
      </a:folHlink>
    </a:clrScheme>
    <a:fontScheme name="CitiusTech Chronic Car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2148</Words>
  <Application>Microsoft Office PowerPoint</Application>
  <PresentationFormat>Widescreen</PresentationFormat>
  <Paragraphs>292</Paragraphs>
  <Slides>13</Slides>
  <Notes>13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13</vt:i4>
      </vt:variant>
    </vt:vector>
  </HeadingPairs>
  <TitlesOfParts>
    <vt:vector size="15" baseType="lpstr">
      <vt:lpstr>Arial</vt:lpstr>
      <vt:lpstr>CitiusTech Chronic Care</vt:lpstr>
      <vt:lpstr>PowerPoint Presentation</vt:lpstr>
      <vt:lpstr>PowerPoint Presentation</vt:lpstr>
      <vt:lpstr>Chronic-care teams cannot scale follow-up safely</vt:lpstr>
      <vt:lpstr>Six agents, one job each</vt:lpstr>
      <vt:lpstr>Code decides the facts. Agents only word them</vt:lpstr>
      <vt:lpstr>How one message moves through the desk</vt:lpstr>
      <vt:lpstr>RAG: grounded answers, or an honest gap</vt:lpstr>
      <vt:lpstr>Live demo: a normal, an exception and a safety path</vt:lpstr>
      <vt:lpstr>Four rules, applied exactly as supplied</vt:lpstr>
      <vt:lpstr>14 of 14 scenarios pass in the offline dry run</vt:lpstr>
      <vt:lpstr>Honest limits, and what comes next</vt:lpstr>
      <vt:lpstr>PowerPoint Presentation</vt:lpstr>
      <vt:lpstr>PowerPoint Presentation</vt:lpstr>
    </vt:vector>
  </TitlesOfParts>
  <Company>CitiusTech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Chronic Care Engagement and Follow-up</dc:title>
  <dc:subject>PptxGenJS Presentation</dc:subject>
  <dc:creator>Sujit Gorakh Raut</dc:creator>
  <cp:lastModifiedBy>SUJIT RAUT</cp:lastModifiedBy>
  <cp:revision>2</cp:revision>
  <dcterms:created xsi:type="dcterms:W3CDTF">2026-10-10T11:13:55Z</dcterms:created>
  <dcterms:modified xsi:type="dcterms:W3CDTF">2026-10-13T17:19:25Z</dcterms:modified>
</cp:coreProperties>
</file>