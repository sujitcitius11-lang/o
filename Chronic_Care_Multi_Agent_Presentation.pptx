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10fcc4-fb1d-7d26-d7de-4966d8a3a0b4}">
          <p14:sldIdLst>
            <p14:sldId id="256"/>
          </p14:sldIdLst>
        </p14:section>
        <p14:section name="Agenda" id="{52f349f4-93aa-ee03-c490-de18e05199d8}">
          <p14:sldIdLst>
            <p14:sldId id="257"/>
          </p14:sldIdLst>
        </p14:section>
        <p14:section name="01 Use case" id="{0e75cc12-6743-d816-ae7b-709cb7eabb73}">
          <p14:sldIdLst>
            <p14:sldId id="258"/>
          </p14:sldIdLst>
        </p14:section>
        <p14:section name="02 Solution" id="{1269acbb-4aad-799c-5881-7a849f165378}">
          <p14:sldIdLst>
            <p14:sldId id="259"/>
            <p14:sldId id="260"/>
          </p14:sldIdLst>
        </p14:section>
        <p14:section name="03 Architecture" id="{4ad68949-212f-2e5a-5e56-cd3ef675a45d}">
          <p14:sldIdLst>
            <p14:sldId id="261"/>
            <p14:sldId id="262"/>
          </p14:sldIdLst>
        </p14:section>
        <p14:section name="04 Live demo" id="{e8783ae7-6b4b-9c89-904d-9b73e1de5b80}">
          <p14:sldIdLst>
            <p14:sldId id="263"/>
            <p14:sldId id="264"/>
          </p14:sldIdLst>
        </p14:section>
        <p14:section name="05 Results" id="{eb4f6d64-27b2-e8fd-a73b-b5bf19df3345}">
          <p14:sldIdLst>
            <p14:sldId id="265"/>
          </p14:sldIdLst>
        </p14:section>
        <p14:section name="06 Limits and next steps" id="{6ed52597-c177-aa99-3a3f-3b6a5b2639f2}">
          <p14:sldIdLst>
            <p14:sldId id="266"/>
          </p14:sldIdLst>
        </p14:section>
        <p14:section name="Conclusion" id="{dd7e725e-3663-6aad-037a-77cf10664202}">
          <p14:sldIdLst>
            <p14:sldId id="267"/>
          </p14:sldIdLst>
        </p14:section>
        <p14:section name="Close" id="{dc0b9fa2-ac30-3ec5-6144-05324a7ab86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Members</c:v>
                </c:pt>
              </c:strCache>
            </c:strRef>
          </c:tx>
          <c:spPr>
            <a:solidFill>
              <a:schemeClr val="accent1"/>
            </a:solidFill>
            <a:ln w="9525" cap="flat">
              <a:solidFill>
                <a:srgbClr val="F9F9F9"/>
              </a:solidFill>
              <a:prstDash val="solid"/>
              <a:round/>
            </a:ln>
            <a:effectLst/>
          </c:spPr>
          <c:dPt>
            <c:idx val="0"/>
            <c:bubble3D val="0"/>
            <c:spPr>
              <a:solidFill>
                <a:srgbClr val="1547C8"/>
              </a:solidFill>
              <a:ln w="25400" cap="flat">
                <a:solidFill>
                  <a:srgbClr val="FFFFFF"/>
                </a:solidFill>
                <a:prstDash val="solid"/>
                <a:round/>
              </a:ln>
              <a:effectLst/>
            </c:spPr>
          </c:dPt>
          <c:dPt>
            <c:idx val="1"/>
            <c:bubble3D val="0"/>
            <c:spPr>
              <a:solidFill>
                <a:srgbClr val="F5A524"/>
              </a:solidFill>
              <a:ln w="25400" cap="flat">
                <a:solidFill>
                  <a:srgbClr val="FFFFFF"/>
                </a:solidFill>
                <a:prstDash val="solid"/>
                <a:round/>
              </a:ln>
              <a:effectLst/>
            </c:spPr>
          </c:dPt>
          <c:dPt>
            <c:idx val="2"/>
            <c:bubble3D val="0"/>
            <c:spPr>
              <a:solidFill>
                <a:srgbClr val="3CC3F0"/>
              </a:solidFill>
              <a:ln w="25400" cap="flat">
                <a:solidFill>
                  <a:srgbClr val="FFFFFF"/>
                </a:solidFill>
                <a:prstDash val="solid"/>
                <a:round/>
              </a:ln>
              <a:effectLst/>
            </c:spPr>
          </c:dPt>
          <c:dPt>
            <c:idx val="3"/>
            <c:bubble3D val="0"/>
            <c:spPr>
              <a:solidFill>
                <a:srgbClr val="E5484D"/>
              </a:solidFill>
              <a:ln w="25400" cap="flat">
                <a:solidFill>
                  <a:srgbClr val="FFFFFF"/>
                </a:solidFill>
                <a:prstDash val="solid"/>
                <a:round/>
              </a:ln>
              <a:effectLst/>
            </c:spPr>
          </c:dPt>
          <c:dLbls>
            <c:dLbl>
              <c:idx val="0"/>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Active</c:v>
                </c:pt>
                <c:pt idx="1">
                  <c:v>Expired</c:v>
                </c:pt>
                <c:pt idx="2">
                  <c:v>Pending</c:v>
                </c:pt>
                <c:pt idx="3">
                  <c:v>Revoked</c:v>
                </c:pt>
              </c:strCache>
            </c:strRef>
          </c:cat>
          <c:val>
            <c:numRef>
              <c:f>Sheet1!$B$2:$B$5</c:f>
              <c:numCache>
                <c:ptCount val="4"/>
                <c:pt idx="0">
                  <c:v>84</c:v>
                </c:pt>
                <c:pt idx="1">
                  <c:v>8</c:v>
                </c:pt>
                <c:pt idx="2">
                  <c:v>7</c:v>
                </c:pt>
                <c:pt idx="3">
                  <c:v>6</c:v>
                </c:pt>
              </c:numCache>
            </c:numRef>
          </c:val>
        </c:ser>
        <c:firstSliceAng val="0"/>
        <c:holeSize val="58"/>
      </c:doughnutChart>
      <c:spPr>
        <a:noFill/>
        <a:ln>
          <a:noFill/>
        </a:ln>
        <a:effectLst/>
      </c:spPr>
    </c:plotArea>
    <c:legend>
      <c:legendPos val="r"/>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multi-agent assistant for a synthetic chronic-care program. Members ask general questions, get readings summarised, and get reminders. The card shows the core idea in one picture: when a member asks to change a medicine dose, the system declines, points to a clinician and alerts staff. It never diagnoses or advises.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The titles are links, so we can jump to any section from here and use the Agenda link in each slide's footer to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teams are stretched. Coordinators repeat the same answers, members forget tasks, and hand-offs are messy. A normal chatbot is not safe here because it can hallucinate or advise. Our objective is to scale routine education and follow-up while leaving every clinical decision to people. The red box is the safety boundary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agents from the assignment. The orchestrator is plain Python plus one routing agent, so the order of steps and every safety decision are the same every time. Each of the others sees only the data it needs: that is least privilege. All six are created by code, not by hand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idea. Anything that must be exact is done by code: consent, the four escalation rules, the statistics and the citation check. The model only understands language and writes wording. Even then, its text is checked, and if it contains an invented number, a diagnosis, medication advice or a claim to be a clinician, it is thrown away and a fixed template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message, six steps. Step one is the consent gate: if consent is not active, nothing else runs. Step two blocks injection and medication-change requests. The router picks the specialist. Code then reads only that member's data and applies the rules. The specialist agent words the answer. Finally we produce three separate outputs: the member view, the staff packet and a masked audit record. The coloured tags show where a human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starts as approved Markdown articles in Blob Storage. A script builds three Azure AI Search indexes: education, FAQ and care-plan guidance. The Education agent, hosted in Foundry, can search the education and FAQ indexes only. Its answer is then validated in code: the cited article must exist, be approved, fit the member's program and be the current version. If any check fails, or nothing relevant is found, the member is told there is a gap and staff follow up. We never fill a gap with the model's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about five minutes. Normal: a member asks a general question and gets a cited answer. Exception: a member whose consent has expired, so processing stops before any data is read. Safety: a medication-change request is declined, and a blood-pressure summary for M-102 triggers an urgent staff-review record without any interpretation. Point out the disclaimer and the source IDs on every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rules are the ones supplied in the assignment, evaluated in code exactly as written. Each match creates a record in the staff review queue; nobody is told what a value means. The two numbers used for ER-502 are placeholders chosen so the rule can be demonstrated. Real thresholds must come from clinicians.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of 14 scenarios pass in the offline dry run: the six from the assignment plus eight extra, covering normal paths, safety escalations, edge cases and conflicts, and failure handling. Be clear about the scope: an offline run proves our safety code and templates, not live model wording. Re-run the suite online against the deployed Foundry agents and update this slide with that result for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state the limits than hide them. The ER-502 numbers are placeholders. Offline evidence is not live evidence. Keyword guards are English only. Everything is synthetic and not clinically reviewed. Next: run the online suite, get clinical sign-off, add a dedicated route for distress and urgent symptoms, and harden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safe by design because rules and facts live in code; grounded because answers cite approved versions or admit a gap; human-led because risk goes to a staff queue with a clean packet; auditable because logs use masked IDs and no message text.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show any of the demo paths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_TITLE-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_CONCL-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DARK_THANKS-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B"/>
        </a:solidFill>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828800" cy="219456"/>
          </a:xfrm>
          <a:prstGeom prst="rect">
            <a:avLst/>
          </a:prstGeom>
          <a:noFill/>
          <a:ln/>
        </p:spPr>
        <p:txBody>
          <a:bodyPr wrap="square" lIns="0" tIns="0" rIns="0" bIns="0" rtlCol="0" anchor="ctr"/>
          <a:lstStyle/>
          <a:p>
            <a:pPr indent="0" marL="0">
              <a:buNone/>
            </a:pPr>
            <a:r>
              <a:rPr lang="en-US" sz="1000" b="1" dirty="0">
                <a:solidFill>
                  <a:srgbClr val="1F2937"/>
                </a:solidFill>
              </a:rPr>
              <a:t>CitiusTech</a:t>
            </a:r>
            <a:endParaRPr lang="en-US" sz="1000" dirty="0"/>
          </a:p>
        </p:txBody>
      </p:sp>
      <p:sp>
        <p:nvSpPr>
          <p:cNvPr id="4" name="Text 1"/>
          <p:cNvSpPr/>
          <p:nvPr>
            <p:ph idx="102" type="body" hasCustomPrompt="1"/>
          </p:nvPr>
        </p:nvSpPr>
        <p:spPr>
          <a:xfrm>
            <a:off x="548640" y="347472"/>
            <a:ext cx="8229600" cy="256032"/>
          </a:xfrm>
          <a:prstGeom prst="rect">
            <a:avLst/>
          </a:prstGeom>
          <a:noFill/>
          <a:ln/>
        </p:spPr>
        <p:txBody>
          <a:bodyPr wrap="square" rtlCol="0"/>
          <a:lstStyle>
            <a:lvl1pPr algn="l" indent="0" marL="0">
              <a:buNone/>
              <a:defRPr lang="en-US" sz="1100" b="1" spc="200" kern="0" dirty="0">
                <a:solidFill>
                  <a:srgbClr val="1547C8"/>
                </a:solidFill>
              </a:defRPr>
            </a:lvl1pPr>
          </a:lstStyle>
          <a:p>
            <a:pPr algn="l" indent="0" marL="0">
              <a:buNone/>
            </a:pPr>
            <a:endParaRPr lang="en-US" sz="1100" dirty="0"/>
          </a:p>
        </p:txBody>
      </p:sp>
      <p:sp>
        <p:nvSpPr>
          <p:cNvPr id="5" name="Text 1"/>
          <p:cNvSpPr/>
          <p:nvPr>
            <p:ph idx="103" type="title" hasCustomPrompt="1"/>
          </p:nvPr>
        </p:nvSpPr>
        <p:spPr>
          <a:xfrm>
            <a:off x="548640" y="603504"/>
            <a:ext cx="11064240" cy="566928"/>
          </a:xfrm>
          <a:prstGeom prst="rect">
            <a:avLst/>
          </a:prstGeom>
          <a:noFill/>
          <a:ln/>
        </p:spPr>
        <p:txBody>
          <a:bodyPr wrap="square" rtlCol="0"/>
          <a:lstStyle>
            <a:lvl1pPr algn="l" indent="0" marL="0">
              <a:buNone/>
              <a:defRPr lang="en-US" sz="3000" b="1" dirty="0">
                <a:solidFill>
                  <a:srgbClr val="1F2937"/>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C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rgbClr val="F4F6FB"/>
        </a:solidFill>
      </p:bgPr>
    </p:bg>
    <p:spTree>
      <p:nvGrpSpPr>
        <p:cNvPr id="1" name=""/>
        <p:cNvGrpSpPr/>
        <p:nvPr/>
      </p:nvGrpSpPr>
      <p:grpSpPr>
        <a:xfrm>
          <a:off x="0" y="0"/>
          <a:ext cx="0" cy="0"/>
          <a:chOff x="0" y="0"/>
          <a:chExt cx="0" cy="0"/>
        </a:xfrm>
      </p:grpSpPr>
      <p:pic>
        <p:nvPicPr>
          <p:cNvPr id="2" name="Image 0" descr="Blue panel">    </p:cNvPr>
          <p:cNvPicPr>
            <a:picLocks noChangeAspect="1"/>
          </p:cNvPicPr>
          <p:nvPr/>
        </p:nvPicPr>
        <p:blipFill>
          <a:blip r:embed="rId1"/>
          <a:stretch>
            <a:fillRect/>
          </a:stretch>
        </p:blipFill>
        <p:spPr>
          <a:xfrm>
            <a:off x="0" y="0"/>
            <a:ext cx="4206240" cy="6858000"/>
          </a:xfrm>
          <a:prstGeom prst="rect">
            <a:avLst/>
          </a:prstGeom>
        </p:spPr>
      </p:pic>
      <p:pic>
        <p:nvPicPr>
          <p:cNvPr id="3" name="Image 1" descr="CitiusTech logo">    </p:cNvPr>
          <p:cNvPicPr>
            <a:picLocks noChangeAspect="1"/>
          </p:cNvPicPr>
          <p:nvPr/>
        </p:nvPicPr>
        <p:blipFill>
          <a:blip r:embed="rId2"/>
          <a:stretch>
            <a:fillRect/>
          </a:stretch>
        </p:blipFill>
        <p:spPr>
          <a:xfrm>
            <a:off x="548640" y="502920"/>
            <a:ext cx="310896" cy="310896"/>
          </a:xfrm>
          <a:prstGeom prst="rect">
            <a:avLst/>
          </a:prstGeom>
        </p:spPr>
      </p:pic>
      <p:sp>
        <p:nvSpPr>
          <p:cNvPr id="4" name="Text 0"/>
          <p:cNvSpPr/>
          <p:nvPr/>
        </p:nvSpPr>
        <p:spPr>
          <a:xfrm>
            <a:off x="987552" y="502920"/>
            <a:ext cx="2926080" cy="310896"/>
          </a:xfrm>
          <a:prstGeom prst="rect">
            <a:avLst/>
          </a:prstGeom>
          <a:noFill/>
          <a:ln/>
        </p:spPr>
        <p:txBody>
          <a:bodyPr wrap="square" lIns="0" tIns="0" rIns="0" bIns="0" rtlCol="0" anchor="ctr"/>
          <a:lstStyle/>
          <a:p>
            <a:pPr indent="0" marL="0">
              <a:buNone/>
            </a:pPr>
            <a:r>
              <a:rPr lang="en-US" sz="1300" b="1" dirty="0">
                <a:solidFill>
                  <a:srgbClr val="FFFFFF"/>
                </a:solidFill>
              </a:rPr>
              <a:t>CitiusTech</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Layout" Target="../slideLayouts/slideLayout6.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10.png"/><Relationship Id="rId12" Type="http://schemas.openxmlformats.org/officeDocument/2006/relationships/image" Target="../media/image-5-11.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image" Target="../media/image-7-10.png"/><Relationship Id="rId12" Type="http://schemas.openxmlformats.org/officeDocument/2006/relationships/image" Target="../media/image-7-11.png"/><Relationship Id="rId13" Type="http://schemas.openxmlformats.org/officeDocument/2006/relationships/image" Target="../media/image-7-12.png"/><Relationship Id="rId14" Type="http://schemas.openxmlformats.org/officeDocument/2006/relationships/image" Target="../media/image-7-13.png"/><Relationship Id="rId15" Type="http://schemas.openxmlformats.org/officeDocument/2006/relationships/slideLayout" Target="../slideLayouts/slideLayout2.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image" Target="../media/image-10-1.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image" Target="../media/image-11-8.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828800"/>
            <a:ext cx="6766560" cy="1371600"/>
          </a:xfrm>
          <a:prstGeom prst="rect">
            <a:avLst/>
          </a:prstGeom>
          <a:noFill/>
          <a:ln/>
        </p:spPr>
        <p:txBody>
          <a:bodyPr wrap="square" lIns="0" tIns="0" rIns="0" bIns="0" rtlCol="0" anchor="t"/>
          <a:lstStyle/>
          <a:p>
            <a:pPr indent="0" marL="0">
              <a:buNone/>
            </a:pPr>
            <a:r>
              <a:rPr lang="en-US" sz="3400" b="1" dirty="0">
                <a:solidFill>
                  <a:srgbClr val="FFFFFF"/>
                </a:solidFill>
              </a:rPr>
              <a:t>CHRONIC CARE ENGAGEMENT</a:t>
            </a:r>
            <a:endParaRPr lang="en-US" sz="3400" dirty="0"/>
          </a:p>
          <a:p>
            <a:pPr indent="0" marL="0">
              <a:buNone/>
            </a:pPr>
            <a:r>
              <a:rPr lang="en-US" sz="3400" b="1" dirty="0">
                <a:solidFill>
                  <a:srgbClr val="FFFFFF"/>
                </a:solidFill>
              </a:rPr>
              <a:t>&amp; FOLLOW-UP</a:t>
            </a:r>
            <a:endParaRPr lang="en-US" sz="3400" dirty="0"/>
          </a:p>
        </p:txBody>
      </p:sp>
      <p:sp>
        <p:nvSpPr>
          <p:cNvPr id="3" name="Text 1"/>
          <p:cNvSpPr txBox="1"/>
          <p:nvPr/>
        </p:nvSpPr>
        <p:spPr>
          <a:xfrm>
            <a:off x="640080" y="3429000"/>
            <a:ext cx="6126480" cy="822960"/>
          </a:xfrm>
          <a:prstGeom prst="rect">
            <a:avLst/>
          </a:prstGeom>
          <a:noFill/>
          <a:ln/>
        </p:spPr>
        <p:txBody>
          <a:bodyPr wrap="square" lIns="0" tIns="0" rIns="0" bIns="0" rtlCol="0" anchor="t"/>
          <a:lstStyle/>
          <a:p>
            <a:pPr indent="0" marL="0">
              <a:buNone/>
            </a:pPr>
            <a:r>
              <a:rPr lang="en-US" sz="1500" dirty="0">
                <a:solidFill>
                  <a:srgbClr val="CFE0FF"/>
                </a:solidFill>
              </a:rPr>
              <a:t>A safe multi-agent assistant that explains, reminds and escalates, and never gives medical advice</a:t>
            </a:r>
            <a:endParaRPr lang="en-US" sz="1500" dirty="0"/>
          </a:p>
        </p:txBody>
      </p:sp>
      <p:sp>
        <p:nvSpPr>
          <p:cNvPr id="4" name="Text 2"/>
          <p:cNvSpPr txBox="1"/>
          <p:nvPr/>
        </p:nvSpPr>
        <p:spPr>
          <a:xfrm>
            <a:off x="640080" y="4800600"/>
            <a:ext cx="2743200" cy="228600"/>
          </a:xfrm>
          <a:prstGeom prst="rect">
            <a:avLst/>
          </a:prstGeom>
          <a:noFill/>
          <a:ln/>
        </p:spPr>
        <p:txBody>
          <a:bodyPr wrap="square" lIns="0" tIns="0" rIns="0" bIns="0" rtlCol="0" anchor="t"/>
          <a:lstStyle/>
          <a:p>
            <a:pPr indent="0" marL="0">
              <a:buNone/>
            </a:pPr>
            <a:r>
              <a:rPr lang="en-US" sz="1000" b="1" spc="200" kern="0" dirty="0">
                <a:solidFill>
                  <a:srgbClr val="3CC3F0"/>
                </a:solidFill>
              </a:rPr>
              <a:t>PRESENTED BY</a:t>
            </a:r>
            <a:endParaRPr lang="en-US" sz="1000" dirty="0"/>
          </a:p>
        </p:txBody>
      </p:sp>
      <p:sp>
        <p:nvSpPr>
          <p:cNvPr id="5" name="Text 3"/>
          <p:cNvSpPr txBox="1"/>
          <p:nvPr/>
        </p:nvSpPr>
        <p:spPr>
          <a:xfrm>
            <a:off x="640080" y="5074920"/>
            <a:ext cx="5486400" cy="365760"/>
          </a:xfrm>
          <a:prstGeom prst="rect">
            <a:avLst/>
          </a:prstGeom>
          <a:noFill/>
          <a:ln/>
        </p:spPr>
        <p:txBody>
          <a:bodyPr wrap="square" lIns="0" tIns="0" rIns="0" bIns="0" rtlCol="0" anchor="t"/>
          <a:lstStyle/>
          <a:p>
            <a:pPr indent="0" marL="0">
              <a:buNone/>
            </a:pPr>
            <a:r>
              <a:rPr lang="en-US" sz="1400" dirty="0">
                <a:solidFill>
                  <a:srgbClr val="FFFFFF"/>
                </a:solidFill>
              </a:rPr>
              <a:t>Sujit Gorakh Raut</a:t>
            </a:r>
            <a:endParaRPr lang="en-US" sz="1400" dirty="0"/>
          </a:p>
        </p:txBody>
      </p:sp>
      <p:sp>
        <p:nvSpPr>
          <p:cNvPr id="6" name="Text 4"/>
          <p:cNvSpPr txBox="1"/>
          <p:nvPr/>
        </p:nvSpPr>
        <p:spPr>
          <a:xfrm>
            <a:off x="640080" y="6172200"/>
            <a:ext cx="4572000" cy="274320"/>
          </a:xfrm>
          <a:prstGeom prst="rect">
            <a:avLst/>
          </a:prstGeom>
          <a:noFill/>
          <a:ln/>
        </p:spPr>
        <p:txBody>
          <a:bodyPr wrap="square" lIns="0" tIns="0" rIns="0" bIns="0" rtlCol="0" anchor="t"/>
          <a:lstStyle/>
          <a:p>
            <a:pPr indent="0" marL="0">
              <a:buNone/>
            </a:pPr>
            <a:r>
              <a:rPr lang="en-US" sz="1100" dirty="0">
                <a:solidFill>
                  <a:srgbClr val="CFE0FF"/>
                </a:solidFill>
              </a:rPr>
              <a:t>Healthcare  ·  October 2026</a:t>
            </a:r>
            <a:endParaRPr lang="en-US" sz="1100" dirty="0"/>
          </a:p>
        </p:txBody>
      </p:sp>
      <p:sp>
        <p:nvSpPr>
          <p:cNvPr id="7" name="Idea card"/>
          <p:cNvSpPr/>
          <p:nvPr/>
        </p:nvSpPr>
        <p:spPr>
          <a:xfrm>
            <a:off x="7635240" y="1737360"/>
            <a:ext cx="4023360" cy="3200400"/>
          </a:xfrm>
          <a:prstGeom prst="roundRect">
            <a:avLst>
              <a:gd name="adj" fmla="val 40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8" name="Text 6"/>
          <p:cNvSpPr txBox="1"/>
          <p:nvPr/>
        </p:nvSpPr>
        <p:spPr>
          <a:xfrm>
            <a:off x="7909560" y="1984248"/>
            <a:ext cx="2743200" cy="228600"/>
          </a:xfrm>
          <a:prstGeom prst="rect">
            <a:avLst/>
          </a:prstGeom>
          <a:noFill/>
          <a:ln/>
        </p:spPr>
        <p:txBody>
          <a:bodyPr wrap="square" lIns="0" tIns="0" rIns="0" bIns="0" rtlCol="0" anchor="t"/>
          <a:lstStyle/>
          <a:p>
            <a:pPr indent="0" marL="0">
              <a:buNone/>
            </a:pPr>
            <a:r>
              <a:rPr lang="en-US" sz="1000" b="1" spc="200" kern="0" dirty="0">
                <a:solidFill>
                  <a:srgbClr val="5B6478"/>
                </a:solidFill>
              </a:rPr>
              <a:t>MEMBER ASKS</a:t>
            </a:r>
            <a:endParaRPr lang="en-US" sz="1000" dirty="0"/>
          </a:p>
        </p:txBody>
      </p:sp>
      <p:sp>
        <p:nvSpPr>
          <p:cNvPr id="9" name="Shape 7"/>
          <p:cNvSpPr/>
          <p:nvPr/>
        </p:nvSpPr>
        <p:spPr>
          <a:xfrm>
            <a:off x="7909560" y="2286000"/>
            <a:ext cx="3474720" cy="777240"/>
          </a:xfrm>
          <a:prstGeom prst="roundRect">
            <a:avLst>
              <a:gd name="adj" fmla="val 9412"/>
            </a:avLst>
          </a:prstGeom>
          <a:solidFill>
            <a:srgbClr val="F4F6FB"/>
          </a:solidFill>
          <a:ln w="12700">
            <a:solidFill>
              <a:srgbClr val="D8DEEC"/>
            </a:solidFill>
            <a:prstDash val="solid"/>
          </a:ln>
        </p:spPr>
      </p:sp>
      <p:sp>
        <p:nvSpPr>
          <p:cNvPr id="10" name="Text 8"/>
          <p:cNvSpPr txBox="1"/>
          <p:nvPr/>
        </p:nvSpPr>
        <p:spPr>
          <a:xfrm>
            <a:off x="8046720" y="2286000"/>
            <a:ext cx="3200400" cy="77724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Can I increase my insulin dose this week?</a:t>
            </a:r>
            <a:endParaRPr lang="en-US" sz="1250" dirty="0"/>
          </a:p>
        </p:txBody>
      </p:sp>
      <p:pic>
        <p:nvPicPr>
          <p:cNvPr id="11" name="Image 0" descr="Arrow down">    </p:cNvPr>
          <p:cNvPicPr>
            <a:picLocks noChangeAspect="1"/>
          </p:cNvPicPr>
          <p:nvPr/>
        </p:nvPicPr>
        <p:blipFill>
          <a:blip r:embed="rId1"/>
          <a:stretch>
            <a:fillRect/>
          </a:stretch>
        </p:blipFill>
        <p:spPr>
          <a:xfrm>
            <a:off x="9509760" y="3200400"/>
            <a:ext cx="274320" cy="274320"/>
          </a:xfrm>
          <a:prstGeom prst="rect">
            <a:avLst/>
          </a:prstGeom>
        </p:spPr>
      </p:pic>
      <p:sp>
        <p:nvSpPr>
          <p:cNvPr id="12" name="Text 9"/>
          <p:cNvSpPr txBox="1"/>
          <p:nvPr/>
        </p:nvSpPr>
        <p:spPr>
          <a:xfrm>
            <a:off x="7909560" y="3611880"/>
            <a:ext cx="2743200" cy="228600"/>
          </a:xfrm>
          <a:prstGeom prst="rect">
            <a:avLst/>
          </a:prstGeom>
          <a:noFill/>
          <a:ln/>
        </p:spPr>
        <p:txBody>
          <a:bodyPr wrap="square" lIns="0" tIns="0" rIns="0" bIns="0" rtlCol="0" anchor="t"/>
          <a:lstStyle/>
          <a:p>
            <a:pPr indent="0" marL="0">
              <a:buNone/>
            </a:pPr>
            <a:r>
              <a:rPr lang="en-US" sz="1000" b="1" spc="200" kern="0" dirty="0">
                <a:solidFill>
                  <a:srgbClr val="5B6478"/>
                </a:solidFill>
              </a:rPr>
              <a:t>SYSTEM DOES</a:t>
            </a:r>
            <a:endParaRPr lang="en-US" sz="1000" dirty="0"/>
          </a:p>
        </p:txBody>
      </p:sp>
      <p:sp>
        <p:nvSpPr>
          <p:cNvPr id="13" name="Pill"/>
          <p:cNvSpPr/>
          <p:nvPr/>
        </p:nvSpPr>
        <p:spPr>
          <a:xfrm>
            <a:off x="7909560" y="3931920"/>
            <a:ext cx="1051560" cy="329184"/>
          </a:xfrm>
          <a:prstGeom prst="roundRect">
            <a:avLst>
              <a:gd name="adj" fmla="val 50000"/>
            </a:avLst>
          </a:prstGeom>
          <a:solidFill>
            <a:srgbClr val="E5484D"/>
          </a:solidFill>
          <a:ln w="12700">
            <a:solidFill>
              <a:srgbClr val="E5484D"/>
            </a:solidFill>
            <a:prstDash val="solid"/>
          </a:ln>
        </p:spPr>
      </p:sp>
      <p:sp>
        <p:nvSpPr>
          <p:cNvPr id="14" name="Text 11"/>
          <p:cNvSpPr txBox="1"/>
          <p:nvPr/>
        </p:nvSpPr>
        <p:spPr>
          <a:xfrm>
            <a:off x="7909560" y="3931920"/>
            <a:ext cx="1051560" cy="329184"/>
          </a:xfrm>
          <a:prstGeom prst="rect">
            <a:avLst/>
          </a:prstGeom>
          <a:noFill/>
          <a:ln/>
        </p:spPr>
        <p:txBody>
          <a:bodyPr wrap="square" lIns="0" tIns="0" rIns="0" bIns="0" rtlCol="0" anchor="ctr"/>
          <a:lstStyle/>
          <a:p>
            <a:pPr algn="ctr" indent="0" marL="0">
              <a:buNone/>
            </a:pPr>
            <a:r>
              <a:rPr lang="en-US" sz="1000" b="1" dirty="0">
                <a:solidFill>
                  <a:srgbClr val="FFFFFF"/>
                </a:solidFill>
              </a:rPr>
              <a:t>DECLINED</a:t>
            </a:r>
            <a:endParaRPr lang="en-US" sz="1000" dirty="0"/>
          </a:p>
        </p:txBody>
      </p:sp>
      <p:sp>
        <p:nvSpPr>
          <p:cNvPr id="15" name="Pill"/>
          <p:cNvSpPr/>
          <p:nvPr/>
        </p:nvSpPr>
        <p:spPr>
          <a:xfrm>
            <a:off x="9070848" y="3931920"/>
            <a:ext cx="868680" cy="329184"/>
          </a:xfrm>
          <a:prstGeom prst="roundRect">
            <a:avLst>
              <a:gd name="adj" fmla="val 50000"/>
            </a:avLst>
          </a:prstGeom>
          <a:solidFill>
            <a:srgbClr val="F5A524"/>
          </a:solidFill>
          <a:ln w="12700">
            <a:solidFill>
              <a:srgbClr val="F5A524"/>
            </a:solidFill>
            <a:prstDash val="solid"/>
          </a:ln>
        </p:spPr>
      </p:sp>
      <p:sp>
        <p:nvSpPr>
          <p:cNvPr id="16" name="Text 13"/>
          <p:cNvSpPr txBox="1"/>
          <p:nvPr/>
        </p:nvSpPr>
        <p:spPr>
          <a:xfrm>
            <a:off x="9070848" y="3931920"/>
            <a:ext cx="868680" cy="329184"/>
          </a:xfrm>
          <a:prstGeom prst="rect">
            <a:avLst/>
          </a:prstGeom>
          <a:noFill/>
          <a:ln/>
        </p:spPr>
        <p:txBody>
          <a:bodyPr wrap="square" lIns="0" tIns="0" rIns="0" bIns="0" rtlCol="0" anchor="ctr"/>
          <a:lstStyle/>
          <a:p>
            <a:pPr algn="ctr" indent="0" marL="0">
              <a:buNone/>
            </a:pPr>
            <a:r>
              <a:rPr lang="en-US" sz="1000" b="1" dirty="0">
                <a:solidFill>
                  <a:srgbClr val="1F2937"/>
                </a:solidFill>
              </a:rPr>
              <a:t>ER-503</a:t>
            </a:r>
            <a:endParaRPr lang="en-US" sz="1000" dirty="0"/>
          </a:p>
        </p:txBody>
      </p:sp>
      <p:sp>
        <p:nvSpPr>
          <p:cNvPr id="17" name="Pill"/>
          <p:cNvSpPr/>
          <p:nvPr/>
        </p:nvSpPr>
        <p:spPr>
          <a:xfrm>
            <a:off x="10049256" y="3931920"/>
            <a:ext cx="1335024" cy="329184"/>
          </a:xfrm>
          <a:prstGeom prst="roundRect">
            <a:avLst>
              <a:gd name="adj" fmla="val 50000"/>
            </a:avLst>
          </a:prstGeom>
          <a:solidFill>
            <a:srgbClr val="1547C8"/>
          </a:solidFill>
          <a:ln w="12700">
            <a:solidFill>
              <a:srgbClr val="1547C8"/>
            </a:solidFill>
            <a:prstDash val="solid"/>
          </a:ln>
        </p:spPr>
      </p:sp>
      <p:sp>
        <p:nvSpPr>
          <p:cNvPr id="18" name="Text 15"/>
          <p:cNvSpPr txBox="1"/>
          <p:nvPr/>
        </p:nvSpPr>
        <p:spPr>
          <a:xfrm>
            <a:off x="10049256" y="3931920"/>
            <a:ext cx="1335024" cy="329184"/>
          </a:xfrm>
          <a:prstGeom prst="rect">
            <a:avLst/>
          </a:prstGeom>
          <a:noFill/>
          <a:ln/>
        </p:spPr>
        <p:txBody>
          <a:bodyPr wrap="square" lIns="0" tIns="0" rIns="0" bIns="0" rtlCol="0" anchor="ctr"/>
          <a:lstStyle/>
          <a:p>
            <a:pPr algn="ctr" indent="0" marL="0">
              <a:buNone/>
            </a:pPr>
            <a:r>
              <a:rPr lang="en-US" sz="1000" b="1" dirty="0">
                <a:solidFill>
                  <a:srgbClr val="FFFFFF"/>
                </a:solidFill>
              </a:rPr>
              <a:t>TO CLINICIAN</a:t>
            </a:r>
            <a:endParaRPr lang="en-US" sz="1000" dirty="0"/>
          </a:p>
        </p:txBody>
      </p:sp>
      <p:sp>
        <p:nvSpPr>
          <p:cNvPr id="19" name="Text 16"/>
          <p:cNvSpPr txBox="1"/>
          <p:nvPr/>
        </p:nvSpPr>
        <p:spPr>
          <a:xfrm>
            <a:off x="7909560" y="4434840"/>
            <a:ext cx="3474720" cy="320040"/>
          </a:xfrm>
          <a:prstGeom prst="rect">
            <a:avLst/>
          </a:prstGeom>
          <a:noFill/>
          <a:ln/>
        </p:spPr>
        <p:txBody>
          <a:bodyPr wrap="square" lIns="0" tIns="0" rIns="0" bIns="0" rtlCol="0" anchor="t"/>
          <a:lstStyle/>
          <a:p>
            <a:pPr indent="0" marL="0">
              <a:buNone/>
            </a:pPr>
            <a:r>
              <a:rPr lang="en-US" sz="1100" dirty="0">
                <a:solidFill>
                  <a:srgbClr val="5B6478"/>
                </a:solidFill>
              </a:rPr>
              <a:t>Staff are alerted. No advice, no interpretation.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468880"/>
            <a:ext cx="3291840" cy="731520"/>
          </a:xfrm>
          <a:prstGeom prst="rect">
            <a:avLst/>
          </a:prstGeom>
          <a:noFill/>
          <a:ln/>
        </p:spPr>
        <p:txBody>
          <a:bodyPr wrap="square" lIns="0" tIns="0" rIns="0" bIns="0" rtlCol="0" anchor="t"/>
          <a:lstStyle/>
          <a:p>
            <a:pPr indent="0" marL="0">
              <a:buNone/>
            </a:pPr>
            <a:r>
              <a:rPr lang="en-US" sz="3400" b="1" dirty="0">
                <a:solidFill>
                  <a:srgbClr val="FFFFFF"/>
                </a:solidFill>
              </a:rPr>
              <a:t>Agenda</a:t>
            </a:r>
            <a:endParaRPr lang="en-US" sz="3400" dirty="0"/>
          </a:p>
        </p:txBody>
      </p:sp>
      <p:sp>
        <p:nvSpPr>
          <p:cNvPr id="3" name="Text 1"/>
          <p:cNvSpPr txBox="1"/>
          <p:nvPr/>
        </p:nvSpPr>
        <p:spPr>
          <a:xfrm>
            <a:off x="548640" y="3291840"/>
            <a:ext cx="3108960" cy="1280160"/>
          </a:xfrm>
          <a:prstGeom prst="rect">
            <a:avLst/>
          </a:prstGeom>
          <a:noFill/>
          <a:ln/>
        </p:spPr>
        <p:txBody>
          <a:bodyPr wrap="square" lIns="0" tIns="0" rIns="0" bIns="0" rtlCol="0" anchor="t"/>
          <a:lstStyle/>
          <a:p>
            <a:pPr indent="0" marL="0">
              <a:buNone/>
            </a:pPr>
            <a:r>
              <a:rPr lang="en-US" sz="1300" dirty="0">
                <a:solidFill>
                  <a:srgbClr val="CFE0FF"/>
                </a:solidFill>
              </a:rPr>
              <a:t>From the use case to a safe, working, testable multi-agent system. Click any item to jump to it.</a:t>
            </a:r>
            <a:endParaRPr lang="en-US" sz="1300" dirty="0"/>
          </a:p>
        </p:txBody>
      </p:sp>
      <p:sp>
        <p:nvSpPr>
          <p:cNvPr id="4" name="Agenda item"/>
          <p:cNvSpPr/>
          <p:nvPr/>
        </p:nvSpPr>
        <p:spPr>
          <a:xfrm>
            <a:off x="4663440" y="56692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5" name="Shape 3"/>
          <p:cNvSpPr/>
          <p:nvPr/>
        </p:nvSpPr>
        <p:spPr>
          <a:xfrm>
            <a:off x="4846320" y="694944"/>
            <a:ext cx="457200" cy="457200"/>
          </a:xfrm>
          <a:prstGeom prst="rect">
            <a:avLst/>
          </a:prstGeom>
          <a:solidFill>
            <a:schemeClr val="accent1"/>
          </a:solidFill>
          <a:ln w="12700">
            <a:solidFill>
              <a:schemeClr val="accent1"/>
            </a:solidFill>
            <a:prstDash val="solid"/>
          </a:ln>
        </p:spPr>
      </p:sp>
      <p:sp>
        <p:nvSpPr>
          <p:cNvPr id="6" name="Text 4"/>
          <p:cNvSpPr txBox="1"/>
          <p:nvPr/>
        </p:nvSpPr>
        <p:spPr>
          <a:xfrm>
            <a:off x="4846320" y="6949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7" name="Text 5"/>
          <p:cNvSpPr txBox="1"/>
          <p:nvPr/>
        </p:nvSpPr>
        <p:spPr>
          <a:xfrm>
            <a:off x="5532120" y="65836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1" action="ppaction://hlinksldjump" tooltip="Go to slide 3">
                  <a:extLst>
                    <a:ext uri="{A12FA001-AC4F-418D-AE19-62706E023703}">
                      <ahyp:hlinkClr xmlns:ahyp="http://schemas.microsoft.com/office/drawing/2018/hyperlinkcolor" val="tx"/>
                    </a:ext>
                  </a:extLst>
                </a:hlinkClick>
              </a:rPr>
              <a:t>Use case</a:t>
            </a:r>
            <a:endParaRPr lang="en-US" sz="1400" dirty="0"/>
          </a:p>
        </p:txBody>
      </p:sp>
      <p:sp>
        <p:nvSpPr>
          <p:cNvPr id="8" name="Text 6"/>
          <p:cNvSpPr txBox="1"/>
          <p:nvPr/>
        </p:nvSpPr>
        <p:spPr>
          <a:xfrm>
            <a:off x="5532120" y="960120"/>
            <a:ext cx="5943600" cy="237744"/>
          </a:xfrm>
          <a:prstGeom prst="rect">
            <a:avLst/>
          </a:prstGeom>
          <a:noFill/>
          <a:ln/>
        </p:spPr>
        <p:txBody>
          <a:bodyPr wrap="square" lIns="0" tIns="0" rIns="0" bIns="0" rtlCol="0" anchor="t"/>
          <a:lstStyle/>
          <a:p>
            <a:pPr indent="0" marL="0">
              <a:buNone/>
            </a:pPr>
            <a:r>
              <a:rPr lang="en-US" sz="1150" dirty="0">
                <a:solidFill>
                  <a:srgbClr val="5B6478"/>
                </a:solidFill>
              </a:rPr>
              <a:t>Why safe follow-up does not scale today</a:t>
            </a:r>
            <a:endParaRPr lang="en-US" sz="1150" dirty="0"/>
          </a:p>
        </p:txBody>
      </p:sp>
      <p:sp>
        <p:nvSpPr>
          <p:cNvPr id="9" name="Agenda item"/>
          <p:cNvSpPr/>
          <p:nvPr/>
        </p:nvSpPr>
        <p:spPr>
          <a:xfrm>
            <a:off x="4663440" y="138988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0" name="Shape 8"/>
          <p:cNvSpPr/>
          <p:nvPr/>
        </p:nvSpPr>
        <p:spPr>
          <a:xfrm>
            <a:off x="4846320" y="1517904"/>
            <a:ext cx="457200" cy="457200"/>
          </a:xfrm>
          <a:prstGeom prst="rect">
            <a:avLst/>
          </a:prstGeom>
          <a:solidFill>
            <a:schemeClr val="accent1"/>
          </a:solidFill>
          <a:ln w="12700">
            <a:solidFill>
              <a:schemeClr val="accent1"/>
            </a:solidFill>
            <a:prstDash val="solid"/>
          </a:ln>
        </p:spPr>
      </p:sp>
      <p:sp>
        <p:nvSpPr>
          <p:cNvPr id="11" name="Text 9"/>
          <p:cNvSpPr txBox="1"/>
          <p:nvPr/>
        </p:nvSpPr>
        <p:spPr>
          <a:xfrm>
            <a:off x="4846320" y="15179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2" name="Text 10"/>
          <p:cNvSpPr txBox="1"/>
          <p:nvPr/>
        </p:nvSpPr>
        <p:spPr>
          <a:xfrm>
            <a:off x="5532120" y="148132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2" action="ppaction://hlinksldjump" tooltip="Go to slide 4">
                  <a:extLst>
                    <a:ext uri="{A12FA001-AC4F-418D-AE19-62706E023703}">
                      <ahyp:hlinkClr xmlns:ahyp="http://schemas.microsoft.com/office/drawing/2018/hyperlinkcolor" val="tx"/>
                    </a:ext>
                  </a:extLst>
                </a:hlinkClick>
              </a:rPr>
              <a:t>Solution &amp; design principle</a:t>
            </a:r>
            <a:endParaRPr lang="en-US" sz="1400" dirty="0"/>
          </a:p>
        </p:txBody>
      </p:sp>
      <p:sp>
        <p:nvSpPr>
          <p:cNvPr id="13" name="Text 11"/>
          <p:cNvSpPr txBox="1"/>
          <p:nvPr/>
        </p:nvSpPr>
        <p:spPr>
          <a:xfrm>
            <a:off x="5532120" y="1783080"/>
            <a:ext cx="5943600" cy="237744"/>
          </a:xfrm>
          <a:prstGeom prst="rect">
            <a:avLst/>
          </a:prstGeom>
          <a:noFill/>
          <a:ln/>
        </p:spPr>
        <p:txBody>
          <a:bodyPr wrap="square" lIns="0" tIns="0" rIns="0" bIns="0" rtlCol="0" anchor="t"/>
          <a:lstStyle/>
          <a:p>
            <a:pPr indent="0" marL="0">
              <a:buNone/>
            </a:pPr>
            <a:r>
              <a:rPr lang="en-US" sz="1150" dirty="0">
                <a:solidFill>
                  <a:srgbClr val="5B6478"/>
                </a:solidFill>
              </a:rPr>
              <a:t>Six agents; code decides facts, AI words them</a:t>
            </a:r>
            <a:endParaRPr lang="en-US" sz="1150" dirty="0"/>
          </a:p>
        </p:txBody>
      </p:sp>
      <p:sp>
        <p:nvSpPr>
          <p:cNvPr id="14" name="Agenda item"/>
          <p:cNvSpPr/>
          <p:nvPr/>
        </p:nvSpPr>
        <p:spPr>
          <a:xfrm>
            <a:off x="4663440" y="221284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5" name="Shape 13"/>
          <p:cNvSpPr/>
          <p:nvPr/>
        </p:nvSpPr>
        <p:spPr>
          <a:xfrm>
            <a:off x="4846320" y="2340864"/>
            <a:ext cx="457200" cy="457200"/>
          </a:xfrm>
          <a:prstGeom prst="rect">
            <a:avLst/>
          </a:prstGeom>
          <a:solidFill>
            <a:schemeClr val="accent1"/>
          </a:solidFill>
          <a:ln w="12700">
            <a:solidFill>
              <a:schemeClr val="accent1"/>
            </a:solidFill>
            <a:prstDash val="solid"/>
          </a:ln>
        </p:spPr>
      </p:sp>
      <p:sp>
        <p:nvSpPr>
          <p:cNvPr id="16" name="Text 14"/>
          <p:cNvSpPr txBox="1"/>
          <p:nvPr/>
        </p:nvSpPr>
        <p:spPr>
          <a:xfrm>
            <a:off x="4846320" y="23408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17" name="Text 15"/>
          <p:cNvSpPr txBox="1"/>
          <p:nvPr/>
        </p:nvSpPr>
        <p:spPr>
          <a:xfrm>
            <a:off x="5532120" y="230428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3" action="ppaction://hlinksldjump" tooltip="Go to slide 6">
                  <a:extLst>
                    <a:ext uri="{A12FA001-AC4F-418D-AE19-62706E023703}">
                      <ahyp:hlinkClr xmlns:ahyp="http://schemas.microsoft.com/office/drawing/2018/hyperlinkcolor" val="tx"/>
                    </a:ext>
                  </a:extLst>
                </a:hlinkClick>
              </a:rPr>
              <a:t>Architecture &amp; RAG</a:t>
            </a:r>
            <a:endParaRPr lang="en-US" sz="1400" dirty="0"/>
          </a:p>
        </p:txBody>
      </p:sp>
      <p:sp>
        <p:nvSpPr>
          <p:cNvPr id="18" name="Text 16"/>
          <p:cNvSpPr txBox="1"/>
          <p:nvPr/>
        </p:nvSpPr>
        <p:spPr>
          <a:xfrm>
            <a:off x="5532120" y="2606040"/>
            <a:ext cx="5943600" cy="237744"/>
          </a:xfrm>
          <a:prstGeom prst="rect">
            <a:avLst/>
          </a:prstGeom>
          <a:noFill/>
          <a:ln/>
        </p:spPr>
        <p:txBody>
          <a:bodyPr wrap="square" lIns="0" tIns="0" rIns="0" bIns="0" rtlCol="0" anchor="t"/>
          <a:lstStyle/>
          <a:p>
            <a:pPr indent="0" marL="0">
              <a:buNone/>
            </a:pPr>
            <a:r>
              <a:rPr lang="en-US" sz="1150" dirty="0">
                <a:solidFill>
                  <a:srgbClr val="5B6478"/>
                </a:solidFill>
              </a:rPr>
              <a:t>One message, end to end; grounded answers</a:t>
            </a:r>
            <a:endParaRPr lang="en-US" sz="1150" dirty="0"/>
          </a:p>
        </p:txBody>
      </p:sp>
      <p:sp>
        <p:nvSpPr>
          <p:cNvPr id="19" name="Agenda item"/>
          <p:cNvSpPr/>
          <p:nvPr/>
        </p:nvSpPr>
        <p:spPr>
          <a:xfrm>
            <a:off x="4663440" y="303580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0" name="Shape 18"/>
          <p:cNvSpPr/>
          <p:nvPr/>
        </p:nvSpPr>
        <p:spPr>
          <a:xfrm>
            <a:off x="4846320" y="3163824"/>
            <a:ext cx="457200" cy="457200"/>
          </a:xfrm>
          <a:prstGeom prst="rect">
            <a:avLst/>
          </a:prstGeom>
          <a:solidFill>
            <a:schemeClr val="accent1"/>
          </a:solidFill>
          <a:ln w="12700">
            <a:solidFill>
              <a:schemeClr val="accent1"/>
            </a:solidFill>
            <a:prstDash val="solid"/>
          </a:ln>
        </p:spPr>
      </p:sp>
      <p:sp>
        <p:nvSpPr>
          <p:cNvPr id="21" name="Text 19"/>
          <p:cNvSpPr txBox="1"/>
          <p:nvPr/>
        </p:nvSpPr>
        <p:spPr>
          <a:xfrm>
            <a:off x="4846320" y="31638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2" name="Text 20"/>
          <p:cNvSpPr txBox="1"/>
          <p:nvPr/>
        </p:nvSpPr>
        <p:spPr>
          <a:xfrm>
            <a:off x="5532120" y="312724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4" action="ppaction://hlinksldjump" tooltip="Go to slide 8">
                  <a:extLst>
                    <a:ext uri="{A12FA001-AC4F-418D-AE19-62706E023703}">
                      <ahyp:hlinkClr xmlns:ahyp="http://schemas.microsoft.com/office/drawing/2018/hyperlinkcolor" val="tx"/>
                    </a:ext>
                  </a:extLst>
                </a:hlinkClick>
              </a:rPr>
              <a:t>Live demo &amp; rules</a:t>
            </a:r>
            <a:endParaRPr lang="en-US" sz="1400" dirty="0"/>
          </a:p>
        </p:txBody>
      </p:sp>
      <p:sp>
        <p:nvSpPr>
          <p:cNvPr id="23" name="Text 21"/>
          <p:cNvSpPr txBox="1"/>
          <p:nvPr/>
        </p:nvSpPr>
        <p:spPr>
          <a:xfrm>
            <a:off x="5532120" y="3429000"/>
            <a:ext cx="5943600" cy="237744"/>
          </a:xfrm>
          <a:prstGeom prst="rect">
            <a:avLst/>
          </a:prstGeom>
          <a:noFill/>
          <a:ln/>
        </p:spPr>
        <p:txBody>
          <a:bodyPr wrap="square" lIns="0" tIns="0" rIns="0" bIns="0" rtlCol="0" anchor="t"/>
          <a:lstStyle/>
          <a:p>
            <a:pPr indent="0" marL="0">
              <a:buNone/>
            </a:pPr>
            <a:r>
              <a:rPr lang="en-US" sz="1150" dirty="0">
                <a:solidFill>
                  <a:srgbClr val="5B6478"/>
                </a:solidFill>
              </a:rPr>
              <a:t>Normal, exception and safety paths</a:t>
            </a:r>
            <a:endParaRPr lang="en-US" sz="1150" dirty="0"/>
          </a:p>
        </p:txBody>
      </p:sp>
      <p:sp>
        <p:nvSpPr>
          <p:cNvPr id="24" name="Agenda item"/>
          <p:cNvSpPr/>
          <p:nvPr/>
        </p:nvSpPr>
        <p:spPr>
          <a:xfrm>
            <a:off x="4663440" y="385876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5" name="Shape 23"/>
          <p:cNvSpPr/>
          <p:nvPr/>
        </p:nvSpPr>
        <p:spPr>
          <a:xfrm>
            <a:off x="4846320" y="3986784"/>
            <a:ext cx="457200" cy="457200"/>
          </a:xfrm>
          <a:prstGeom prst="rect">
            <a:avLst/>
          </a:prstGeom>
          <a:solidFill>
            <a:schemeClr val="accent1"/>
          </a:solidFill>
          <a:ln w="12700">
            <a:solidFill>
              <a:schemeClr val="accent1"/>
            </a:solidFill>
            <a:prstDash val="solid"/>
          </a:ln>
        </p:spPr>
      </p:sp>
      <p:sp>
        <p:nvSpPr>
          <p:cNvPr id="26" name="Text 24"/>
          <p:cNvSpPr txBox="1"/>
          <p:nvPr/>
        </p:nvSpPr>
        <p:spPr>
          <a:xfrm>
            <a:off x="4846320" y="3986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05</a:t>
            </a:r>
            <a:endParaRPr lang="en-US" sz="1300" dirty="0"/>
          </a:p>
        </p:txBody>
      </p:sp>
      <p:sp>
        <p:nvSpPr>
          <p:cNvPr id="27" name="Text 25"/>
          <p:cNvSpPr txBox="1"/>
          <p:nvPr/>
        </p:nvSpPr>
        <p:spPr>
          <a:xfrm>
            <a:off x="5532120" y="395020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5" action="ppaction://hlinksldjump" tooltip="Go to slide 10">
                  <a:extLst>
                    <a:ext uri="{A12FA001-AC4F-418D-AE19-62706E023703}">
                      <ahyp:hlinkClr xmlns:ahyp="http://schemas.microsoft.com/office/drawing/2018/hyperlinkcolor" val="tx"/>
                    </a:ext>
                  </a:extLst>
                </a:hlinkClick>
              </a:rPr>
              <a:t>Results</a:t>
            </a:r>
            <a:endParaRPr lang="en-US" sz="1400" dirty="0"/>
          </a:p>
        </p:txBody>
      </p:sp>
      <p:sp>
        <p:nvSpPr>
          <p:cNvPr id="28" name="Text 26"/>
          <p:cNvSpPr txBox="1"/>
          <p:nvPr/>
        </p:nvSpPr>
        <p:spPr>
          <a:xfrm>
            <a:off x="5532120" y="4251960"/>
            <a:ext cx="5943600" cy="237744"/>
          </a:xfrm>
          <a:prstGeom prst="rect">
            <a:avLst/>
          </a:prstGeom>
          <a:noFill/>
          <a:ln/>
        </p:spPr>
        <p:txBody>
          <a:bodyPr wrap="square" lIns="0" tIns="0" rIns="0" bIns="0" rtlCol="0" anchor="t"/>
          <a:lstStyle/>
          <a:p>
            <a:pPr indent="0" marL="0">
              <a:buNone/>
            </a:pPr>
            <a:r>
              <a:rPr lang="en-US" sz="1150" dirty="0">
                <a:solidFill>
                  <a:srgbClr val="5B6478"/>
                </a:solidFill>
              </a:rPr>
              <a:t>Scenario coverage and evidence</a:t>
            </a:r>
            <a:endParaRPr lang="en-US" sz="1150" dirty="0"/>
          </a:p>
        </p:txBody>
      </p:sp>
      <p:sp>
        <p:nvSpPr>
          <p:cNvPr id="29" name="Agenda item"/>
          <p:cNvSpPr/>
          <p:nvPr/>
        </p:nvSpPr>
        <p:spPr>
          <a:xfrm>
            <a:off x="4663440" y="468172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30" name="Shape 28"/>
          <p:cNvSpPr/>
          <p:nvPr/>
        </p:nvSpPr>
        <p:spPr>
          <a:xfrm>
            <a:off x="4846320" y="4809744"/>
            <a:ext cx="457200" cy="457200"/>
          </a:xfrm>
          <a:prstGeom prst="rect">
            <a:avLst/>
          </a:prstGeom>
          <a:solidFill>
            <a:schemeClr val="accent1"/>
          </a:solidFill>
          <a:ln w="12700">
            <a:solidFill>
              <a:schemeClr val="accent1"/>
            </a:solidFill>
            <a:prstDash val="solid"/>
          </a:ln>
        </p:spPr>
      </p:sp>
      <p:sp>
        <p:nvSpPr>
          <p:cNvPr id="31" name="Text 29"/>
          <p:cNvSpPr txBox="1"/>
          <p:nvPr/>
        </p:nvSpPr>
        <p:spPr>
          <a:xfrm>
            <a:off x="4846320" y="48097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06</a:t>
            </a:r>
            <a:endParaRPr lang="en-US" sz="1300" dirty="0"/>
          </a:p>
        </p:txBody>
      </p:sp>
      <p:sp>
        <p:nvSpPr>
          <p:cNvPr id="32" name="Text 30"/>
          <p:cNvSpPr txBox="1"/>
          <p:nvPr/>
        </p:nvSpPr>
        <p:spPr>
          <a:xfrm>
            <a:off x="5532120" y="477316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6" action="ppaction://hlinksldjump" tooltip="Go to slide 11">
                  <a:extLst>
                    <a:ext uri="{A12FA001-AC4F-418D-AE19-62706E023703}">
                      <ahyp:hlinkClr xmlns:ahyp="http://schemas.microsoft.com/office/drawing/2018/hyperlinkcolor" val="tx"/>
                    </a:ext>
                  </a:extLst>
                </a:hlinkClick>
              </a:rPr>
              <a:t>Limits &amp; next steps</a:t>
            </a:r>
            <a:endParaRPr lang="en-US" sz="1400" dirty="0"/>
          </a:p>
        </p:txBody>
      </p:sp>
      <p:sp>
        <p:nvSpPr>
          <p:cNvPr id="33" name="Text 31"/>
          <p:cNvSpPr txBox="1"/>
          <p:nvPr/>
        </p:nvSpPr>
        <p:spPr>
          <a:xfrm>
            <a:off x="5532120" y="5074920"/>
            <a:ext cx="5943600" cy="237744"/>
          </a:xfrm>
          <a:prstGeom prst="rect">
            <a:avLst/>
          </a:prstGeom>
          <a:noFill/>
          <a:ln/>
        </p:spPr>
        <p:txBody>
          <a:bodyPr wrap="square" lIns="0" tIns="0" rIns="0" bIns="0" rtlCol="0" anchor="t"/>
          <a:lstStyle/>
          <a:p>
            <a:pPr indent="0" marL="0">
              <a:buNone/>
            </a:pPr>
            <a:r>
              <a:rPr lang="en-US" sz="1150" dirty="0">
                <a:solidFill>
                  <a:srgbClr val="5B6478"/>
                </a:solidFill>
              </a:rPr>
              <a:t>What is open and what comes next</a:t>
            </a:r>
            <a:endParaRPr lang="en-US" sz="1150" dirty="0"/>
          </a:p>
        </p:txBody>
      </p:sp>
      <p:sp>
        <p:nvSpPr>
          <p:cNvPr id="34" name="Agenda item"/>
          <p:cNvSpPr/>
          <p:nvPr/>
        </p:nvSpPr>
        <p:spPr>
          <a:xfrm>
            <a:off x="4663440" y="5504688"/>
            <a:ext cx="6976872" cy="713232"/>
          </a:xfrm>
          <a:prstGeom prst="roundRect">
            <a:avLst>
              <a:gd name="adj" fmla="val 1282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35" name="Shape 33"/>
          <p:cNvSpPr/>
          <p:nvPr/>
        </p:nvSpPr>
        <p:spPr>
          <a:xfrm>
            <a:off x="4846320" y="5632704"/>
            <a:ext cx="457200" cy="457200"/>
          </a:xfrm>
          <a:prstGeom prst="rect">
            <a:avLst/>
          </a:prstGeom>
          <a:solidFill>
            <a:schemeClr val="accent1"/>
          </a:solidFill>
          <a:ln w="12700">
            <a:solidFill>
              <a:schemeClr val="accent1"/>
            </a:solidFill>
            <a:prstDash val="solid"/>
          </a:ln>
        </p:spPr>
      </p:sp>
      <p:sp>
        <p:nvSpPr>
          <p:cNvPr id="36" name="Text 34"/>
          <p:cNvSpPr txBox="1"/>
          <p:nvPr/>
        </p:nvSpPr>
        <p:spPr>
          <a:xfrm>
            <a:off x="4846320" y="5632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07</a:t>
            </a:r>
            <a:endParaRPr lang="en-US" sz="1300" dirty="0"/>
          </a:p>
        </p:txBody>
      </p:sp>
      <p:sp>
        <p:nvSpPr>
          <p:cNvPr id="37" name="Text 35"/>
          <p:cNvSpPr txBox="1"/>
          <p:nvPr/>
        </p:nvSpPr>
        <p:spPr>
          <a:xfrm>
            <a:off x="5532120" y="5596128"/>
            <a:ext cx="5943600" cy="292608"/>
          </a:xfrm>
          <a:prstGeom prst="rect">
            <a:avLst/>
          </a:prstGeom>
          <a:noFill/>
          <a:ln/>
        </p:spPr>
        <p:txBody>
          <a:bodyPr wrap="square" lIns="0" tIns="0" rIns="0" bIns="0" rtlCol="0" anchor="t"/>
          <a:lstStyle/>
          <a:p>
            <a:pPr indent="0" marL="0">
              <a:buNone/>
            </a:pPr>
            <a:r>
              <a:rPr lang="en-US" sz="1400" b="1" u="sng" dirty="0">
                <a:solidFill>
                  <a:schemeClr val="tx1"/>
                </a:solidFill>
                <a:hlinkClick r:id="rId7" action="ppaction://hlinksldjump" tooltip="Go to slide 12">
                  <a:extLst>
                    <a:ext uri="{A12FA001-AC4F-418D-AE19-62706E023703}">
                      <ahyp:hlinkClr xmlns:ahyp="http://schemas.microsoft.com/office/drawing/2018/hyperlinkcolor" val="tx"/>
                    </a:ext>
                  </a:extLst>
                </a:hlinkClick>
              </a:rPr>
              <a:t>Conclusion &amp; Q&amp;A</a:t>
            </a:r>
            <a:endParaRPr lang="en-US" sz="1400" dirty="0"/>
          </a:p>
        </p:txBody>
      </p:sp>
      <p:sp>
        <p:nvSpPr>
          <p:cNvPr id="38" name="Text 36"/>
          <p:cNvSpPr txBox="1"/>
          <p:nvPr/>
        </p:nvSpPr>
        <p:spPr>
          <a:xfrm>
            <a:off x="5532120" y="5897880"/>
            <a:ext cx="5943600" cy="237744"/>
          </a:xfrm>
          <a:prstGeom prst="rect">
            <a:avLst/>
          </a:prstGeom>
          <a:noFill/>
          <a:ln/>
        </p:spPr>
        <p:txBody>
          <a:bodyPr wrap="square" lIns="0" tIns="0" rIns="0" bIns="0" rtlCol="0" anchor="t"/>
          <a:lstStyle/>
          <a:p>
            <a:pPr indent="0" marL="0">
              <a:buNone/>
            </a:pPr>
            <a:r>
              <a:rPr lang="en-US" sz="1150" dirty="0">
                <a:solidFill>
                  <a:srgbClr val="5B6478"/>
                </a:solidFill>
              </a:rPr>
              <a:t>Key takeaways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01  ·  USE CASE</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Chronic-care teams cannot scale follow-up safely</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Text 3"/>
          <p:cNvSpPr txBox="1"/>
          <p:nvPr/>
        </p:nvSpPr>
        <p:spPr>
          <a:xfrm>
            <a:off x="548640" y="1371600"/>
            <a:ext cx="5394960" cy="274320"/>
          </a:xfrm>
          <a:prstGeom prst="rect">
            <a:avLst/>
          </a:prstGeom>
          <a:noFill/>
          <a:ln/>
        </p:spPr>
        <p:txBody>
          <a:bodyPr wrap="square" lIns="0" tIns="0" rIns="0" bIns="0" rtlCol="0" anchor="t"/>
          <a:lstStyle/>
          <a:p>
            <a:pPr indent="0" marL="0">
              <a:buNone/>
            </a:pPr>
            <a:r>
              <a:rPr lang="en-US" sz="1400" b="1" dirty="0">
                <a:solidFill>
                  <a:srgbClr val="5B6478"/>
                </a:solidFill>
              </a:rPr>
              <a:t>The problem</a:t>
            </a:r>
            <a:endParaRPr lang="en-US" sz="1400" dirty="0"/>
          </a:p>
        </p:txBody>
      </p:sp>
      <p:sp>
        <p:nvSpPr>
          <p:cNvPr id="6" name="IconCircle"/>
          <p:cNvSpPr/>
          <p:nvPr/>
        </p:nvSpPr>
        <p:spPr>
          <a:xfrm>
            <a:off x="548640" y="1828800"/>
            <a:ext cx="548640" cy="548640"/>
          </a:xfrm>
          <a:prstGeom prst="ellipse">
            <a:avLst/>
          </a:prstGeom>
          <a:solidFill>
            <a:srgbClr val="1547C8"/>
          </a:solidFill>
          <a:ln w="12700">
            <a:solidFill>
              <a:srgbClr val="1547C8"/>
            </a:solidFill>
            <a:prstDash val="solid"/>
          </a:ln>
        </p:spPr>
      </p:sp>
      <p:pic>
        <p:nvPicPr>
          <p:cNvPr id="7" name="Image 0" descr="Redo icon">    </p:cNvPr>
          <p:cNvPicPr>
            <a:picLocks noChangeAspect="1"/>
          </p:cNvPicPr>
          <p:nvPr/>
        </p:nvPicPr>
        <p:blipFill>
          <a:blip r:embed="rId2"/>
          <a:stretch>
            <a:fillRect/>
          </a:stretch>
        </p:blipFill>
        <p:spPr>
          <a:xfrm>
            <a:off x="685800" y="1965960"/>
            <a:ext cx="274320" cy="274320"/>
          </a:xfrm>
          <a:prstGeom prst="rect">
            <a:avLst/>
          </a:prstGeom>
        </p:spPr>
      </p:pic>
      <p:sp>
        <p:nvSpPr>
          <p:cNvPr id="8" name="Text 5"/>
          <p:cNvSpPr txBox="1"/>
          <p:nvPr/>
        </p:nvSpPr>
        <p:spPr>
          <a:xfrm>
            <a:off x="1325880" y="1792224"/>
            <a:ext cx="4663440" cy="292608"/>
          </a:xfrm>
          <a:prstGeom prst="rect">
            <a:avLst/>
          </a:prstGeom>
          <a:noFill/>
          <a:ln/>
        </p:spPr>
        <p:txBody>
          <a:bodyPr wrap="square" lIns="0" tIns="0" rIns="0" bIns="0" rtlCol="0" anchor="t"/>
          <a:lstStyle/>
          <a:p>
            <a:pPr indent="0" marL="0">
              <a:buNone/>
            </a:pPr>
            <a:r>
              <a:rPr lang="en-US" sz="1500" b="1" dirty="0">
                <a:solidFill>
                  <a:schemeClr val="tx1"/>
                </a:solidFill>
              </a:rPr>
              <a:t>Repeated questions</a:t>
            </a:r>
            <a:endParaRPr lang="en-US" sz="1500" dirty="0"/>
          </a:p>
        </p:txBody>
      </p:sp>
      <p:sp>
        <p:nvSpPr>
          <p:cNvPr id="9" name="Text 6"/>
          <p:cNvSpPr txBox="1"/>
          <p:nvPr/>
        </p:nvSpPr>
        <p:spPr>
          <a:xfrm>
            <a:off x="1325880" y="2103120"/>
            <a:ext cx="4663440" cy="457200"/>
          </a:xfrm>
          <a:prstGeom prst="rect">
            <a:avLst/>
          </a:prstGeom>
          <a:noFill/>
          <a:ln/>
        </p:spPr>
        <p:txBody>
          <a:bodyPr wrap="square" lIns="0" tIns="0" rIns="0" bIns="0" rtlCol="0" anchor="t"/>
          <a:lstStyle/>
          <a:p>
            <a:pPr indent="0" marL="0">
              <a:buNone/>
            </a:pPr>
            <a:r>
              <a:rPr lang="en-US" sz="1250" dirty="0">
                <a:solidFill>
                  <a:srgbClr val="5B6478"/>
                </a:solidFill>
              </a:rPr>
              <a:t>Coordinators answer the same general questions all day</a:t>
            </a:r>
            <a:endParaRPr lang="en-US" sz="1250" dirty="0"/>
          </a:p>
        </p:txBody>
      </p:sp>
      <p:sp>
        <p:nvSpPr>
          <p:cNvPr id="10" name="IconCircle"/>
          <p:cNvSpPr/>
          <p:nvPr/>
        </p:nvSpPr>
        <p:spPr>
          <a:xfrm>
            <a:off x="548640" y="2852928"/>
            <a:ext cx="548640" cy="548640"/>
          </a:xfrm>
          <a:prstGeom prst="ellipse">
            <a:avLst/>
          </a:prstGeom>
          <a:solidFill>
            <a:srgbClr val="1547C8"/>
          </a:solidFill>
          <a:ln w="12700">
            <a:solidFill>
              <a:srgbClr val="1547C8"/>
            </a:solidFill>
            <a:prstDash val="solid"/>
          </a:ln>
        </p:spPr>
      </p:sp>
      <p:pic>
        <p:nvPicPr>
          <p:cNvPr id="11" name="Image 1" descr="Bell icon">    </p:cNvPr>
          <p:cNvPicPr>
            <a:picLocks noChangeAspect="1"/>
          </p:cNvPicPr>
          <p:nvPr/>
        </p:nvPicPr>
        <p:blipFill>
          <a:blip r:embed="rId3"/>
          <a:stretch>
            <a:fillRect/>
          </a:stretch>
        </p:blipFill>
        <p:spPr>
          <a:xfrm>
            <a:off x="685800" y="2990088"/>
            <a:ext cx="274320" cy="274320"/>
          </a:xfrm>
          <a:prstGeom prst="rect">
            <a:avLst/>
          </a:prstGeom>
        </p:spPr>
      </p:pic>
      <p:sp>
        <p:nvSpPr>
          <p:cNvPr id="12" name="Text 8"/>
          <p:cNvSpPr txBox="1"/>
          <p:nvPr/>
        </p:nvSpPr>
        <p:spPr>
          <a:xfrm>
            <a:off x="1325880" y="2816352"/>
            <a:ext cx="4663440" cy="292608"/>
          </a:xfrm>
          <a:prstGeom prst="rect">
            <a:avLst/>
          </a:prstGeom>
          <a:noFill/>
          <a:ln/>
        </p:spPr>
        <p:txBody>
          <a:bodyPr wrap="square" lIns="0" tIns="0" rIns="0" bIns="0" rtlCol="0" anchor="t"/>
          <a:lstStyle/>
          <a:p>
            <a:pPr indent="0" marL="0">
              <a:buNone/>
            </a:pPr>
            <a:r>
              <a:rPr lang="en-US" sz="1500" b="1" dirty="0">
                <a:solidFill>
                  <a:schemeClr val="tx1"/>
                </a:solidFill>
              </a:rPr>
              <a:t>Forgotten tasks</a:t>
            </a:r>
            <a:endParaRPr lang="en-US" sz="1500" dirty="0"/>
          </a:p>
        </p:txBody>
      </p:sp>
      <p:sp>
        <p:nvSpPr>
          <p:cNvPr id="13" name="Text 9"/>
          <p:cNvSpPr txBox="1"/>
          <p:nvPr/>
        </p:nvSpPr>
        <p:spPr>
          <a:xfrm>
            <a:off x="1325880" y="3127248"/>
            <a:ext cx="4663440" cy="457200"/>
          </a:xfrm>
          <a:prstGeom prst="rect">
            <a:avLst/>
          </a:prstGeom>
          <a:noFill/>
          <a:ln/>
        </p:spPr>
        <p:txBody>
          <a:bodyPr wrap="square" lIns="0" tIns="0" rIns="0" bIns="0" rtlCol="0" anchor="t"/>
          <a:lstStyle/>
          <a:p>
            <a:pPr indent="0" marL="0">
              <a:buNone/>
            </a:pPr>
            <a:r>
              <a:rPr lang="en-US" sz="1250" dirty="0">
                <a:solidFill>
                  <a:srgbClr val="5B6478"/>
                </a:solidFill>
              </a:rPr>
              <a:t>Members miss readings and modules; follow-up is manual</a:t>
            </a:r>
            <a:endParaRPr lang="en-US" sz="1250" dirty="0"/>
          </a:p>
        </p:txBody>
      </p:sp>
      <p:sp>
        <p:nvSpPr>
          <p:cNvPr id="14" name="IconCircle"/>
          <p:cNvSpPr/>
          <p:nvPr/>
        </p:nvSpPr>
        <p:spPr>
          <a:xfrm>
            <a:off x="548640" y="3877056"/>
            <a:ext cx="548640" cy="548640"/>
          </a:xfrm>
          <a:prstGeom prst="ellipse">
            <a:avLst/>
          </a:prstGeom>
          <a:solidFill>
            <a:srgbClr val="1547C8"/>
          </a:solidFill>
          <a:ln w="12700">
            <a:solidFill>
              <a:srgbClr val="1547C8"/>
            </a:solidFill>
            <a:prstDash val="solid"/>
          </a:ln>
        </p:spPr>
      </p:sp>
      <p:pic>
        <p:nvPicPr>
          <p:cNvPr id="15" name="Image 2" descr="ClipboardList icon">    </p:cNvPr>
          <p:cNvPicPr>
            <a:picLocks noChangeAspect="1"/>
          </p:cNvPicPr>
          <p:nvPr/>
        </p:nvPicPr>
        <p:blipFill>
          <a:blip r:embed="rId4"/>
          <a:stretch>
            <a:fillRect/>
          </a:stretch>
        </p:blipFill>
        <p:spPr>
          <a:xfrm>
            <a:off x="685800" y="4014216"/>
            <a:ext cx="274320" cy="274320"/>
          </a:xfrm>
          <a:prstGeom prst="rect">
            <a:avLst/>
          </a:prstGeom>
        </p:spPr>
      </p:pic>
      <p:sp>
        <p:nvSpPr>
          <p:cNvPr id="16" name="Text 11"/>
          <p:cNvSpPr txBox="1"/>
          <p:nvPr/>
        </p:nvSpPr>
        <p:spPr>
          <a:xfrm>
            <a:off x="1325880" y="3840480"/>
            <a:ext cx="4663440" cy="292608"/>
          </a:xfrm>
          <a:prstGeom prst="rect">
            <a:avLst/>
          </a:prstGeom>
          <a:noFill/>
          <a:ln/>
        </p:spPr>
        <p:txBody>
          <a:bodyPr wrap="square" lIns="0" tIns="0" rIns="0" bIns="0" rtlCol="0" anchor="t"/>
          <a:lstStyle/>
          <a:p>
            <a:pPr indent="0" marL="0">
              <a:buNone/>
            </a:pPr>
            <a:r>
              <a:rPr lang="en-US" sz="1500" b="1" dirty="0">
                <a:solidFill>
                  <a:schemeClr val="tx1"/>
                </a:solidFill>
              </a:rPr>
              <a:t>Messy hand-offs</a:t>
            </a:r>
            <a:endParaRPr lang="en-US" sz="1500" dirty="0"/>
          </a:p>
        </p:txBody>
      </p:sp>
      <p:sp>
        <p:nvSpPr>
          <p:cNvPr id="17" name="Text 12"/>
          <p:cNvSpPr txBox="1"/>
          <p:nvPr/>
        </p:nvSpPr>
        <p:spPr>
          <a:xfrm>
            <a:off x="1325880" y="4151376"/>
            <a:ext cx="4663440" cy="457200"/>
          </a:xfrm>
          <a:prstGeom prst="rect">
            <a:avLst/>
          </a:prstGeom>
          <a:noFill/>
          <a:ln/>
        </p:spPr>
        <p:txBody>
          <a:bodyPr wrap="square" lIns="0" tIns="0" rIns="0" bIns="0" rtlCol="0" anchor="t"/>
          <a:lstStyle/>
          <a:p>
            <a:pPr indent="0" marL="0">
              <a:buNone/>
            </a:pPr>
            <a:r>
              <a:rPr lang="en-US" sz="1250" dirty="0">
                <a:solidFill>
                  <a:srgbClr val="5B6478"/>
                </a:solidFill>
              </a:rPr>
              <a:t>Coordinators dig through raw messages before every call</a:t>
            </a:r>
            <a:endParaRPr lang="en-US" sz="1250" dirty="0"/>
          </a:p>
        </p:txBody>
      </p:sp>
      <p:sp>
        <p:nvSpPr>
          <p:cNvPr id="18" name="IconCircle"/>
          <p:cNvSpPr/>
          <p:nvPr/>
        </p:nvSpPr>
        <p:spPr>
          <a:xfrm>
            <a:off x="548640" y="4901184"/>
            <a:ext cx="548640" cy="548640"/>
          </a:xfrm>
          <a:prstGeom prst="ellipse">
            <a:avLst/>
          </a:prstGeom>
          <a:solidFill>
            <a:srgbClr val="1547C8"/>
          </a:solidFill>
          <a:ln w="12700">
            <a:solidFill>
              <a:srgbClr val="1547C8"/>
            </a:solidFill>
            <a:prstDash val="solid"/>
          </a:ln>
        </p:spPr>
      </p:sp>
      <p:pic>
        <p:nvPicPr>
          <p:cNvPr id="19" name="Image 3" descr="ExclamationTriangle icon">    </p:cNvPr>
          <p:cNvPicPr>
            <a:picLocks noChangeAspect="1"/>
          </p:cNvPicPr>
          <p:nvPr/>
        </p:nvPicPr>
        <p:blipFill>
          <a:blip r:embed="rId5"/>
          <a:stretch>
            <a:fillRect/>
          </a:stretch>
        </p:blipFill>
        <p:spPr>
          <a:xfrm>
            <a:off x="685800" y="5038344"/>
            <a:ext cx="274320" cy="274320"/>
          </a:xfrm>
          <a:prstGeom prst="rect">
            <a:avLst/>
          </a:prstGeom>
        </p:spPr>
      </p:pic>
      <p:sp>
        <p:nvSpPr>
          <p:cNvPr id="20" name="Text 14"/>
          <p:cNvSpPr txBox="1"/>
          <p:nvPr/>
        </p:nvSpPr>
        <p:spPr>
          <a:xfrm>
            <a:off x="1325880" y="4864608"/>
            <a:ext cx="4663440" cy="292608"/>
          </a:xfrm>
          <a:prstGeom prst="rect">
            <a:avLst/>
          </a:prstGeom>
          <a:noFill/>
          <a:ln/>
        </p:spPr>
        <p:txBody>
          <a:bodyPr wrap="square" lIns="0" tIns="0" rIns="0" bIns="0" rtlCol="0" anchor="t"/>
          <a:lstStyle/>
          <a:p>
            <a:pPr indent="0" marL="0">
              <a:buNone/>
            </a:pPr>
            <a:r>
              <a:rPr lang="en-US" sz="1500" b="1" dirty="0">
                <a:solidFill>
                  <a:schemeClr val="tx1"/>
                </a:solidFill>
              </a:rPr>
              <a:t>Unsafe chatbots</a:t>
            </a:r>
            <a:endParaRPr lang="en-US" sz="1500" dirty="0"/>
          </a:p>
        </p:txBody>
      </p:sp>
      <p:sp>
        <p:nvSpPr>
          <p:cNvPr id="21" name="Text 15"/>
          <p:cNvSpPr txBox="1"/>
          <p:nvPr/>
        </p:nvSpPr>
        <p:spPr>
          <a:xfrm>
            <a:off x="1325880" y="5175504"/>
            <a:ext cx="4663440" cy="457200"/>
          </a:xfrm>
          <a:prstGeom prst="rect">
            <a:avLst/>
          </a:prstGeom>
          <a:noFill/>
          <a:ln/>
        </p:spPr>
        <p:txBody>
          <a:bodyPr wrap="square" lIns="0" tIns="0" rIns="0" bIns="0" rtlCol="0" anchor="t"/>
          <a:lstStyle/>
          <a:p>
            <a:pPr indent="0" marL="0">
              <a:buNone/>
            </a:pPr>
            <a:r>
              <a:rPr lang="en-US" sz="1250" dirty="0">
                <a:solidFill>
                  <a:srgbClr val="5B6478"/>
                </a:solidFill>
              </a:rPr>
              <a:t>A free-form bot can invent facts or give medical advice</a:t>
            </a:r>
            <a:endParaRPr lang="en-US" sz="1250" dirty="0"/>
          </a:p>
        </p:txBody>
      </p:sp>
      <p:sp>
        <p:nvSpPr>
          <p:cNvPr id="22" name="Objective"/>
          <p:cNvSpPr/>
          <p:nvPr/>
        </p:nvSpPr>
        <p:spPr>
          <a:xfrm>
            <a:off x="6400800" y="1371600"/>
            <a:ext cx="5239512" cy="1691640"/>
          </a:xfrm>
          <a:prstGeom prst="roundRect">
            <a:avLst>
              <a:gd name="adj" fmla="val 5405"/>
            </a:avLst>
          </a:prstGeom>
          <a:solidFill>
            <a:schemeClr val="tx2"/>
          </a:solidFill>
          <a:ln w="12700">
            <a:solidFill>
              <a:srgbClr val="0A1F5C"/>
            </a:solidFill>
            <a:prstDash val="solid"/>
          </a:ln>
        </p:spPr>
      </p:sp>
      <p:sp>
        <p:nvSpPr>
          <p:cNvPr id="23" name="Text 17"/>
          <p:cNvSpPr txBox="1"/>
          <p:nvPr/>
        </p:nvSpPr>
        <p:spPr>
          <a:xfrm>
            <a:off x="6675120" y="1572768"/>
            <a:ext cx="2743200" cy="228600"/>
          </a:xfrm>
          <a:prstGeom prst="rect">
            <a:avLst/>
          </a:prstGeom>
          <a:noFill/>
          <a:ln/>
        </p:spPr>
        <p:txBody>
          <a:bodyPr wrap="square" lIns="0" tIns="0" rIns="0" bIns="0" rtlCol="0" anchor="t"/>
          <a:lstStyle/>
          <a:p>
            <a:pPr indent="0" marL="0">
              <a:buNone/>
            </a:pPr>
            <a:r>
              <a:rPr lang="en-US" sz="1000" b="1" spc="200" kern="0" dirty="0">
                <a:solidFill>
                  <a:srgbClr val="3CC3F0"/>
                </a:solidFill>
              </a:rPr>
              <a:t>OBJECTIVE</a:t>
            </a:r>
            <a:endParaRPr lang="en-US" sz="1000" dirty="0"/>
          </a:p>
        </p:txBody>
      </p:sp>
      <p:sp>
        <p:nvSpPr>
          <p:cNvPr id="24" name="Text 18"/>
          <p:cNvSpPr txBox="1"/>
          <p:nvPr/>
        </p:nvSpPr>
        <p:spPr>
          <a:xfrm>
            <a:off x="6675120" y="1874520"/>
            <a:ext cx="4709160" cy="1005840"/>
          </a:xfrm>
          <a:prstGeom prst="rect">
            <a:avLst/>
          </a:prstGeom>
          <a:noFill/>
          <a:ln/>
        </p:spPr>
        <p:txBody>
          <a:bodyPr wrap="square" lIns="0" tIns="0" rIns="0" bIns="0" rtlCol="0" anchor="t"/>
          <a:lstStyle/>
          <a:p>
            <a:pPr indent="0" marL="0">
              <a:buNone/>
            </a:pPr>
            <a:r>
              <a:rPr lang="en-US" sz="2000" b="1" dirty="0">
                <a:solidFill>
                  <a:srgbClr val="FFFFFF"/>
                </a:solidFill>
              </a:rPr>
              <a:t>Scale education and follow-up, while every clinical decision stays with people.</a:t>
            </a:r>
            <a:endParaRPr lang="en-US" sz="2000" dirty="0"/>
          </a:p>
        </p:txBody>
      </p:sp>
      <p:sp>
        <p:nvSpPr>
          <p:cNvPr id="25" name="Must never"/>
          <p:cNvSpPr/>
          <p:nvPr/>
        </p:nvSpPr>
        <p:spPr>
          <a:xfrm>
            <a:off x="6400800" y="3291840"/>
            <a:ext cx="5239512" cy="2788920"/>
          </a:xfrm>
          <a:prstGeom prst="roundRect">
            <a:avLst>
              <a:gd name="adj" fmla="val 3279"/>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6" name="Text 20"/>
          <p:cNvSpPr txBox="1"/>
          <p:nvPr/>
        </p:nvSpPr>
        <p:spPr>
          <a:xfrm>
            <a:off x="6675120" y="3493008"/>
            <a:ext cx="4114800" cy="228600"/>
          </a:xfrm>
          <a:prstGeom prst="rect">
            <a:avLst/>
          </a:prstGeom>
          <a:noFill/>
          <a:ln/>
        </p:spPr>
        <p:txBody>
          <a:bodyPr wrap="square" lIns="0" tIns="0" rIns="0" bIns="0" rtlCol="0" anchor="t"/>
          <a:lstStyle/>
          <a:p>
            <a:pPr indent="0" marL="0">
              <a:buNone/>
            </a:pPr>
            <a:r>
              <a:rPr lang="en-US" sz="1000" b="1" spc="200" kern="0" dirty="0">
                <a:solidFill>
                  <a:srgbClr val="E5484D"/>
                </a:solidFill>
              </a:rPr>
              <a:t>THE SYSTEM MUST NEVER</a:t>
            </a:r>
            <a:endParaRPr lang="en-US" sz="1000" dirty="0"/>
          </a:p>
        </p:txBody>
      </p:sp>
      <p:pic>
        <p:nvPicPr>
          <p:cNvPr id="27" name="Image 4" descr="Not allowed">    </p:cNvPr>
          <p:cNvPicPr>
            <a:picLocks noChangeAspect="1"/>
          </p:cNvPicPr>
          <p:nvPr/>
        </p:nvPicPr>
        <p:blipFill>
          <a:blip r:embed="rId6"/>
          <a:stretch>
            <a:fillRect/>
          </a:stretch>
        </p:blipFill>
        <p:spPr>
          <a:xfrm>
            <a:off x="6675120" y="3941064"/>
            <a:ext cx="274320" cy="274320"/>
          </a:xfrm>
          <a:prstGeom prst="rect">
            <a:avLst/>
          </a:prstGeom>
        </p:spPr>
      </p:pic>
      <p:sp>
        <p:nvSpPr>
          <p:cNvPr id="28" name="Text 21"/>
          <p:cNvSpPr txBox="1"/>
          <p:nvPr/>
        </p:nvSpPr>
        <p:spPr>
          <a:xfrm>
            <a:off x="7132320" y="3913632"/>
            <a:ext cx="4297680" cy="329184"/>
          </a:xfrm>
          <a:prstGeom prst="rect">
            <a:avLst/>
          </a:prstGeom>
          <a:noFill/>
          <a:ln/>
        </p:spPr>
        <p:txBody>
          <a:bodyPr wrap="square" lIns="0" tIns="0" rIns="0" bIns="0" rtlCol="0" anchor="ctr"/>
          <a:lstStyle/>
          <a:p>
            <a:pPr indent="0" marL="0">
              <a:buNone/>
            </a:pPr>
            <a:r>
              <a:rPr lang="en-US" sz="1400" dirty="0">
                <a:solidFill>
                  <a:schemeClr val="tx1"/>
                </a:solidFill>
              </a:rPr>
              <a:t>Diagnose or interpret a reading</a:t>
            </a:r>
            <a:endParaRPr lang="en-US" sz="1400" dirty="0"/>
          </a:p>
        </p:txBody>
      </p:sp>
      <p:pic>
        <p:nvPicPr>
          <p:cNvPr id="29" name="Image 5" descr="Not allowed">    </p:cNvPr>
          <p:cNvPicPr>
            <a:picLocks noChangeAspect="1"/>
          </p:cNvPicPr>
          <p:nvPr/>
        </p:nvPicPr>
        <p:blipFill>
          <a:blip r:embed="rId7"/>
          <a:stretch>
            <a:fillRect/>
          </a:stretch>
        </p:blipFill>
        <p:spPr>
          <a:xfrm>
            <a:off x="6675120" y="4471416"/>
            <a:ext cx="274320" cy="274320"/>
          </a:xfrm>
          <a:prstGeom prst="rect">
            <a:avLst/>
          </a:prstGeom>
        </p:spPr>
      </p:pic>
      <p:sp>
        <p:nvSpPr>
          <p:cNvPr id="30" name="Text 22"/>
          <p:cNvSpPr txBox="1"/>
          <p:nvPr/>
        </p:nvSpPr>
        <p:spPr>
          <a:xfrm>
            <a:off x="7132320" y="4443984"/>
            <a:ext cx="4297680" cy="329184"/>
          </a:xfrm>
          <a:prstGeom prst="rect">
            <a:avLst/>
          </a:prstGeom>
          <a:noFill/>
          <a:ln/>
        </p:spPr>
        <p:txBody>
          <a:bodyPr wrap="square" lIns="0" tIns="0" rIns="0" bIns="0" rtlCol="0" anchor="ctr"/>
          <a:lstStyle/>
          <a:p>
            <a:pPr indent="0" marL="0">
              <a:buNone/>
            </a:pPr>
            <a:r>
              <a:rPr lang="en-US" sz="1400" dirty="0">
                <a:solidFill>
                  <a:schemeClr val="tx1"/>
                </a:solidFill>
              </a:rPr>
              <a:t>Predict deterioration</a:t>
            </a:r>
            <a:endParaRPr lang="en-US" sz="1400" dirty="0"/>
          </a:p>
        </p:txBody>
      </p:sp>
      <p:pic>
        <p:nvPicPr>
          <p:cNvPr id="31" name="Image 6" descr="Not allowed">    </p:cNvPr>
          <p:cNvPicPr>
            <a:picLocks noChangeAspect="1"/>
          </p:cNvPicPr>
          <p:nvPr/>
        </p:nvPicPr>
        <p:blipFill>
          <a:blip r:embed="rId8"/>
          <a:stretch>
            <a:fillRect/>
          </a:stretch>
        </p:blipFill>
        <p:spPr>
          <a:xfrm>
            <a:off x="6675120" y="5001768"/>
            <a:ext cx="274320" cy="274320"/>
          </a:xfrm>
          <a:prstGeom prst="rect">
            <a:avLst/>
          </a:prstGeom>
        </p:spPr>
      </p:pic>
      <p:sp>
        <p:nvSpPr>
          <p:cNvPr id="32" name="Text 23"/>
          <p:cNvSpPr txBox="1"/>
          <p:nvPr/>
        </p:nvSpPr>
        <p:spPr>
          <a:xfrm>
            <a:off x="7132320" y="4974336"/>
            <a:ext cx="4297680" cy="329184"/>
          </a:xfrm>
          <a:prstGeom prst="rect">
            <a:avLst/>
          </a:prstGeom>
          <a:noFill/>
          <a:ln/>
        </p:spPr>
        <p:txBody>
          <a:bodyPr wrap="square" lIns="0" tIns="0" rIns="0" bIns="0" rtlCol="0" anchor="ctr"/>
          <a:lstStyle/>
          <a:p>
            <a:pPr indent="0" marL="0">
              <a:buNone/>
            </a:pPr>
            <a:r>
              <a:rPr lang="en-US" sz="1400" dirty="0">
                <a:solidFill>
                  <a:schemeClr val="tx1"/>
                </a:solidFill>
              </a:rPr>
              <a:t>Recommend or change medication</a:t>
            </a:r>
            <a:endParaRPr lang="en-US" sz="1400" dirty="0"/>
          </a:p>
        </p:txBody>
      </p:sp>
      <p:pic>
        <p:nvPicPr>
          <p:cNvPr id="33" name="Image 7" descr="Not allowed">    </p:cNvPr>
          <p:cNvPicPr>
            <a:picLocks noChangeAspect="1"/>
          </p:cNvPicPr>
          <p:nvPr/>
        </p:nvPicPr>
        <p:blipFill>
          <a:blip r:embed="rId9"/>
          <a:stretch>
            <a:fillRect/>
          </a:stretch>
        </p:blipFill>
        <p:spPr>
          <a:xfrm>
            <a:off x="6675120" y="5532120"/>
            <a:ext cx="274320" cy="274320"/>
          </a:xfrm>
          <a:prstGeom prst="rect">
            <a:avLst/>
          </a:prstGeom>
        </p:spPr>
      </p:pic>
      <p:sp>
        <p:nvSpPr>
          <p:cNvPr id="34" name="Text 24"/>
          <p:cNvSpPr txBox="1"/>
          <p:nvPr/>
        </p:nvSpPr>
        <p:spPr>
          <a:xfrm>
            <a:off x="7132320" y="5504688"/>
            <a:ext cx="4297680" cy="329184"/>
          </a:xfrm>
          <a:prstGeom prst="rect">
            <a:avLst/>
          </a:prstGeom>
          <a:noFill/>
          <a:ln/>
        </p:spPr>
        <p:txBody>
          <a:bodyPr wrap="square" lIns="0" tIns="0" rIns="0" bIns="0" rtlCol="0" anchor="ctr"/>
          <a:lstStyle/>
          <a:p>
            <a:pPr indent="0" marL="0">
              <a:buNone/>
            </a:pPr>
            <a:r>
              <a:rPr lang="en-US" sz="1400" dirty="0">
                <a:solidFill>
                  <a:schemeClr val="tx1"/>
                </a:solidFill>
              </a:rPr>
              <a:t>Present itself as a clinician</a:t>
            </a:r>
            <a:endParaRPr lang="en-US" sz="14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02  ·  SOLUTION</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Six agents, one job each</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Agent card"/>
          <p:cNvSpPr/>
          <p:nvPr/>
        </p:nvSpPr>
        <p:spPr>
          <a:xfrm>
            <a:off x="548640" y="1417320"/>
            <a:ext cx="3566160" cy="2240280"/>
          </a:xfrm>
          <a:prstGeom prst="roundRect">
            <a:avLst>
              <a:gd name="adj" fmla="val 4082"/>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 name="IconCircle"/>
          <p:cNvSpPr/>
          <p:nvPr/>
        </p:nvSpPr>
        <p:spPr>
          <a:xfrm>
            <a:off x="777240" y="1645920"/>
            <a:ext cx="548640" cy="548640"/>
          </a:xfrm>
          <a:prstGeom prst="ellipse">
            <a:avLst/>
          </a:prstGeom>
          <a:solidFill>
            <a:srgbClr val="1547C8"/>
          </a:solidFill>
          <a:ln w="12700">
            <a:solidFill>
              <a:srgbClr val="1547C8"/>
            </a:solidFill>
            <a:prstDash val="solid"/>
          </a:ln>
        </p:spPr>
      </p:sp>
      <p:pic>
        <p:nvPicPr>
          <p:cNvPr id="7" name="Image 0" descr="ProjectDiagram icon">    </p:cNvPr>
          <p:cNvPicPr>
            <a:picLocks noChangeAspect="1"/>
          </p:cNvPicPr>
          <p:nvPr/>
        </p:nvPicPr>
        <p:blipFill>
          <a:blip r:embed="rId2"/>
          <a:stretch>
            <a:fillRect/>
          </a:stretch>
        </p:blipFill>
        <p:spPr>
          <a:xfrm>
            <a:off x="914400" y="1783080"/>
            <a:ext cx="274320" cy="274320"/>
          </a:xfrm>
          <a:prstGeom prst="rect">
            <a:avLst/>
          </a:prstGeom>
        </p:spPr>
      </p:pic>
      <p:sp>
        <p:nvSpPr>
          <p:cNvPr id="8" name="Text 5"/>
          <p:cNvSpPr txBox="1"/>
          <p:nvPr/>
        </p:nvSpPr>
        <p:spPr>
          <a:xfrm>
            <a:off x="1463040" y="164592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Care Orchestrator</a:t>
            </a:r>
            <a:endParaRPr lang="en-US" sz="1600" dirty="0"/>
          </a:p>
        </p:txBody>
      </p:sp>
      <p:sp>
        <p:nvSpPr>
          <p:cNvPr id="9" name="Text 6"/>
          <p:cNvSpPr txBox="1"/>
          <p:nvPr/>
        </p:nvSpPr>
        <p:spPr>
          <a:xfrm>
            <a:off x="777240" y="2331720"/>
            <a:ext cx="3108960" cy="685800"/>
          </a:xfrm>
          <a:prstGeom prst="rect">
            <a:avLst/>
          </a:prstGeom>
          <a:noFill/>
          <a:ln/>
        </p:spPr>
        <p:txBody>
          <a:bodyPr wrap="square" lIns="0" tIns="0" rIns="0" bIns="0" rtlCol="0" anchor="t"/>
          <a:lstStyle/>
          <a:p>
            <a:pPr indent="0" marL="0">
              <a:buNone/>
            </a:pPr>
            <a:r>
              <a:rPr lang="en-US" sz="1250" dirty="0">
                <a:solidFill>
                  <a:srgbClr val="5B6478"/>
                </a:solidFill>
              </a:rPr>
              <a:t>A fixed Python workflow: consent, safety checks, routing, outputs.</a:t>
            </a:r>
            <a:endParaRPr lang="en-US" sz="1250" dirty="0"/>
          </a:p>
        </p:txBody>
      </p:sp>
      <p:sp>
        <p:nvSpPr>
          <p:cNvPr id="10" name="Shape 7"/>
          <p:cNvSpPr/>
          <p:nvPr/>
        </p:nvSpPr>
        <p:spPr>
          <a:xfrm>
            <a:off x="777240" y="3108960"/>
            <a:ext cx="3108960" cy="365760"/>
          </a:xfrm>
          <a:prstGeom prst="roundRect">
            <a:avLst>
              <a:gd name="adj" fmla="val 20000"/>
            </a:avLst>
          </a:prstGeom>
          <a:solidFill>
            <a:srgbClr val="EAF0FC"/>
          </a:solidFill>
          <a:ln w="12700">
            <a:solidFill>
              <a:srgbClr val="EAF0FC"/>
            </a:solidFill>
            <a:prstDash val="solid"/>
          </a:ln>
        </p:spPr>
      </p:sp>
      <p:sp>
        <p:nvSpPr>
          <p:cNvPr id="11" name="Text 8"/>
          <p:cNvSpPr txBox="1"/>
          <p:nvPr/>
        </p:nvSpPr>
        <p:spPr>
          <a:xfrm>
            <a:off x="914400" y="3108960"/>
            <a:ext cx="2926080" cy="365760"/>
          </a:xfrm>
          <a:prstGeom prst="rect">
            <a:avLst/>
          </a:prstGeom>
          <a:noFill/>
          <a:ln/>
        </p:spPr>
        <p:txBody>
          <a:bodyPr wrap="square" lIns="0" tIns="0" rIns="0" bIns="0" rtlCol="0" anchor="ctr"/>
          <a:lstStyle/>
          <a:p>
            <a:pPr indent="0" marL="0">
              <a:buNone/>
            </a:pPr>
            <a:r>
              <a:rPr lang="en-US" sz="1100" b="1" dirty="0">
                <a:solidFill>
                  <a:schemeClr val="accent1"/>
                </a:solidFill>
              </a:rPr>
              <a:t>Sees: the whole case (it is code)</a:t>
            </a:r>
            <a:endParaRPr lang="en-US" sz="1100" dirty="0"/>
          </a:p>
        </p:txBody>
      </p:sp>
      <p:sp>
        <p:nvSpPr>
          <p:cNvPr id="12" name="Agent card"/>
          <p:cNvSpPr/>
          <p:nvPr/>
        </p:nvSpPr>
        <p:spPr>
          <a:xfrm>
            <a:off x="4311396" y="1417320"/>
            <a:ext cx="3566160" cy="2240280"/>
          </a:xfrm>
          <a:prstGeom prst="roundRect">
            <a:avLst>
              <a:gd name="adj" fmla="val 4082"/>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3" name="IconCircle"/>
          <p:cNvSpPr/>
          <p:nvPr/>
        </p:nvSpPr>
        <p:spPr>
          <a:xfrm>
            <a:off x="4539996" y="1645920"/>
            <a:ext cx="548640" cy="548640"/>
          </a:xfrm>
          <a:prstGeom prst="ellipse">
            <a:avLst/>
          </a:prstGeom>
          <a:solidFill>
            <a:srgbClr val="1547C8"/>
          </a:solidFill>
          <a:ln w="12700">
            <a:solidFill>
              <a:srgbClr val="1547C8"/>
            </a:solidFill>
            <a:prstDash val="solid"/>
          </a:ln>
        </p:spPr>
      </p:sp>
      <p:pic>
        <p:nvPicPr>
          <p:cNvPr id="14" name="Image 1" descr="ChartLine icon">    </p:cNvPr>
          <p:cNvPicPr>
            <a:picLocks noChangeAspect="1"/>
          </p:cNvPicPr>
          <p:nvPr/>
        </p:nvPicPr>
        <p:blipFill>
          <a:blip r:embed="rId3"/>
          <a:stretch>
            <a:fillRect/>
          </a:stretch>
        </p:blipFill>
        <p:spPr>
          <a:xfrm>
            <a:off x="4677156" y="1783080"/>
            <a:ext cx="274320" cy="274320"/>
          </a:xfrm>
          <a:prstGeom prst="rect">
            <a:avLst/>
          </a:prstGeom>
        </p:spPr>
      </p:pic>
      <p:sp>
        <p:nvSpPr>
          <p:cNvPr id="15" name="Text 11"/>
          <p:cNvSpPr txBox="1"/>
          <p:nvPr/>
        </p:nvSpPr>
        <p:spPr>
          <a:xfrm>
            <a:off x="5225796" y="164592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Reading Summary</a:t>
            </a:r>
            <a:endParaRPr lang="en-US" sz="1600" dirty="0"/>
          </a:p>
        </p:txBody>
      </p:sp>
      <p:sp>
        <p:nvSpPr>
          <p:cNvPr id="16" name="Text 12"/>
          <p:cNvSpPr txBox="1"/>
          <p:nvPr/>
        </p:nvSpPr>
        <p:spPr>
          <a:xfrm>
            <a:off x="4539996" y="2331720"/>
            <a:ext cx="3108960" cy="685800"/>
          </a:xfrm>
          <a:prstGeom prst="rect">
            <a:avLst/>
          </a:prstGeom>
          <a:noFill/>
          <a:ln/>
        </p:spPr>
        <p:txBody>
          <a:bodyPr wrap="square" lIns="0" tIns="0" rIns="0" bIns="0" rtlCol="0" anchor="t"/>
          <a:lstStyle/>
          <a:p>
            <a:pPr indent="0" marL="0">
              <a:buNone/>
            </a:pPr>
            <a:r>
              <a:rPr lang="en-US" sz="1250" dirty="0">
                <a:solidFill>
                  <a:srgbClr val="5B6478"/>
                </a:solidFill>
              </a:rPr>
              <a:t>Counts, minimum, maximum and missing dates in neutral words.</a:t>
            </a:r>
            <a:endParaRPr lang="en-US" sz="1250" dirty="0"/>
          </a:p>
        </p:txBody>
      </p:sp>
      <p:sp>
        <p:nvSpPr>
          <p:cNvPr id="17" name="Shape 13"/>
          <p:cNvSpPr/>
          <p:nvPr/>
        </p:nvSpPr>
        <p:spPr>
          <a:xfrm>
            <a:off x="4539996" y="3108960"/>
            <a:ext cx="3108960" cy="365760"/>
          </a:xfrm>
          <a:prstGeom prst="roundRect">
            <a:avLst>
              <a:gd name="adj" fmla="val 20000"/>
            </a:avLst>
          </a:prstGeom>
          <a:solidFill>
            <a:srgbClr val="EAF0FC"/>
          </a:solidFill>
          <a:ln w="12700">
            <a:solidFill>
              <a:srgbClr val="EAF0FC"/>
            </a:solidFill>
            <a:prstDash val="solid"/>
          </a:ln>
        </p:spPr>
      </p:sp>
      <p:sp>
        <p:nvSpPr>
          <p:cNvPr id="18" name="Text 14"/>
          <p:cNvSpPr txBox="1"/>
          <p:nvPr/>
        </p:nvSpPr>
        <p:spPr>
          <a:xfrm>
            <a:off x="4677156" y="3108960"/>
            <a:ext cx="2926080" cy="365760"/>
          </a:xfrm>
          <a:prstGeom prst="rect">
            <a:avLst/>
          </a:prstGeom>
          <a:noFill/>
          <a:ln/>
        </p:spPr>
        <p:txBody>
          <a:bodyPr wrap="square" lIns="0" tIns="0" rIns="0" bIns="0" rtlCol="0" anchor="ctr"/>
          <a:lstStyle/>
          <a:p>
            <a:pPr indent="0" marL="0">
              <a:buNone/>
            </a:pPr>
            <a:r>
              <a:rPr lang="en-US" sz="1100" b="1" dirty="0">
                <a:solidFill>
                  <a:schemeClr val="accent1"/>
                </a:solidFill>
              </a:rPr>
              <a:t>Sees: one member's readings</a:t>
            </a:r>
            <a:endParaRPr lang="en-US" sz="1100" dirty="0"/>
          </a:p>
        </p:txBody>
      </p:sp>
      <p:sp>
        <p:nvSpPr>
          <p:cNvPr id="19" name="Agent card"/>
          <p:cNvSpPr/>
          <p:nvPr/>
        </p:nvSpPr>
        <p:spPr>
          <a:xfrm>
            <a:off x="8074152" y="1417320"/>
            <a:ext cx="3566160" cy="2240280"/>
          </a:xfrm>
          <a:prstGeom prst="roundRect">
            <a:avLst>
              <a:gd name="adj" fmla="val 4082"/>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0" name="IconCircle"/>
          <p:cNvSpPr/>
          <p:nvPr/>
        </p:nvSpPr>
        <p:spPr>
          <a:xfrm>
            <a:off x="8302752" y="1645920"/>
            <a:ext cx="548640" cy="548640"/>
          </a:xfrm>
          <a:prstGeom prst="ellipse">
            <a:avLst/>
          </a:prstGeom>
          <a:solidFill>
            <a:srgbClr val="1547C8"/>
          </a:solidFill>
          <a:ln w="12700">
            <a:solidFill>
              <a:srgbClr val="1547C8"/>
            </a:solidFill>
            <a:prstDash val="solid"/>
          </a:ln>
        </p:spPr>
      </p:sp>
      <p:pic>
        <p:nvPicPr>
          <p:cNvPr id="21" name="Image 2" descr="ClipboardList icon">    </p:cNvPr>
          <p:cNvPicPr>
            <a:picLocks noChangeAspect="1"/>
          </p:cNvPicPr>
          <p:nvPr/>
        </p:nvPicPr>
        <p:blipFill>
          <a:blip r:embed="rId4"/>
          <a:stretch>
            <a:fillRect/>
          </a:stretch>
        </p:blipFill>
        <p:spPr>
          <a:xfrm>
            <a:off x="8439912" y="1783080"/>
            <a:ext cx="274320" cy="274320"/>
          </a:xfrm>
          <a:prstGeom prst="rect">
            <a:avLst/>
          </a:prstGeom>
        </p:spPr>
      </p:pic>
      <p:sp>
        <p:nvSpPr>
          <p:cNvPr id="22" name="Text 17"/>
          <p:cNvSpPr txBox="1"/>
          <p:nvPr/>
        </p:nvSpPr>
        <p:spPr>
          <a:xfrm>
            <a:off x="8988552" y="164592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Care Plan</a:t>
            </a:r>
            <a:endParaRPr lang="en-US" sz="1600" dirty="0"/>
          </a:p>
        </p:txBody>
      </p:sp>
      <p:sp>
        <p:nvSpPr>
          <p:cNvPr id="23" name="Text 18"/>
          <p:cNvSpPr txBox="1"/>
          <p:nvPr/>
        </p:nvSpPr>
        <p:spPr>
          <a:xfrm>
            <a:off x="8302752" y="2331720"/>
            <a:ext cx="3108960" cy="685800"/>
          </a:xfrm>
          <a:prstGeom prst="rect">
            <a:avLst/>
          </a:prstGeom>
          <a:noFill/>
          <a:ln/>
        </p:spPr>
        <p:txBody>
          <a:bodyPr wrap="square" lIns="0" tIns="0" rIns="0" bIns="0" rtlCol="0" anchor="t"/>
          <a:lstStyle/>
          <a:p>
            <a:pPr indent="0" marL="0">
              <a:buNone/>
            </a:pPr>
            <a:r>
              <a:rPr lang="en-US" sz="1250" dirty="0">
                <a:solidFill>
                  <a:srgbClr val="5B6478"/>
                </a:solidFill>
              </a:rPr>
              <a:t>Due and overdue tasks, each with its source ID.</a:t>
            </a:r>
            <a:endParaRPr lang="en-US" sz="1250" dirty="0"/>
          </a:p>
        </p:txBody>
      </p:sp>
      <p:sp>
        <p:nvSpPr>
          <p:cNvPr id="24" name="Shape 19"/>
          <p:cNvSpPr/>
          <p:nvPr/>
        </p:nvSpPr>
        <p:spPr>
          <a:xfrm>
            <a:off x="8302752" y="3108960"/>
            <a:ext cx="3108960" cy="365760"/>
          </a:xfrm>
          <a:prstGeom prst="roundRect">
            <a:avLst>
              <a:gd name="adj" fmla="val 20000"/>
            </a:avLst>
          </a:prstGeom>
          <a:solidFill>
            <a:srgbClr val="EAF0FC"/>
          </a:solidFill>
          <a:ln w="12700">
            <a:solidFill>
              <a:srgbClr val="EAF0FC"/>
            </a:solidFill>
            <a:prstDash val="solid"/>
          </a:ln>
        </p:spPr>
      </p:sp>
      <p:sp>
        <p:nvSpPr>
          <p:cNvPr id="25" name="Text 20"/>
          <p:cNvSpPr txBox="1"/>
          <p:nvPr/>
        </p:nvSpPr>
        <p:spPr>
          <a:xfrm>
            <a:off x="8439912" y="3108960"/>
            <a:ext cx="2926080" cy="365760"/>
          </a:xfrm>
          <a:prstGeom prst="rect">
            <a:avLst/>
          </a:prstGeom>
          <a:noFill/>
          <a:ln/>
        </p:spPr>
        <p:txBody>
          <a:bodyPr wrap="square" lIns="0" tIns="0" rIns="0" bIns="0" rtlCol="0" anchor="ctr"/>
          <a:lstStyle/>
          <a:p>
            <a:pPr indent="0" marL="0">
              <a:buNone/>
            </a:pPr>
            <a:r>
              <a:rPr lang="en-US" sz="1100" b="1" dirty="0">
                <a:solidFill>
                  <a:schemeClr val="accent1"/>
                </a:solidFill>
              </a:rPr>
              <a:t>Sees: that member's tasks</a:t>
            </a:r>
            <a:endParaRPr lang="en-US" sz="1100" dirty="0"/>
          </a:p>
        </p:txBody>
      </p:sp>
      <p:sp>
        <p:nvSpPr>
          <p:cNvPr id="26" name="Agent card"/>
          <p:cNvSpPr/>
          <p:nvPr/>
        </p:nvSpPr>
        <p:spPr>
          <a:xfrm>
            <a:off x="548640" y="3840480"/>
            <a:ext cx="3566160" cy="2240280"/>
          </a:xfrm>
          <a:prstGeom prst="roundRect">
            <a:avLst>
              <a:gd name="adj" fmla="val 4082"/>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7" name="IconCircle"/>
          <p:cNvSpPr/>
          <p:nvPr/>
        </p:nvSpPr>
        <p:spPr>
          <a:xfrm>
            <a:off x="777240" y="4069080"/>
            <a:ext cx="548640" cy="548640"/>
          </a:xfrm>
          <a:prstGeom prst="ellipse">
            <a:avLst/>
          </a:prstGeom>
          <a:solidFill>
            <a:srgbClr val="1547C8"/>
          </a:solidFill>
          <a:ln w="12700">
            <a:solidFill>
              <a:srgbClr val="1547C8"/>
            </a:solidFill>
            <a:prstDash val="solid"/>
          </a:ln>
        </p:spPr>
      </p:sp>
      <p:pic>
        <p:nvPicPr>
          <p:cNvPr id="28" name="Image 3" descr="BookMedical icon">    </p:cNvPr>
          <p:cNvPicPr>
            <a:picLocks noChangeAspect="1"/>
          </p:cNvPicPr>
          <p:nvPr/>
        </p:nvPicPr>
        <p:blipFill>
          <a:blip r:embed="rId5"/>
          <a:stretch>
            <a:fillRect/>
          </a:stretch>
        </p:blipFill>
        <p:spPr>
          <a:xfrm>
            <a:off x="914400" y="4206240"/>
            <a:ext cx="274320" cy="274320"/>
          </a:xfrm>
          <a:prstGeom prst="rect">
            <a:avLst/>
          </a:prstGeom>
        </p:spPr>
      </p:pic>
      <p:sp>
        <p:nvSpPr>
          <p:cNvPr id="29" name="Text 23"/>
          <p:cNvSpPr txBox="1"/>
          <p:nvPr/>
        </p:nvSpPr>
        <p:spPr>
          <a:xfrm>
            <a:off x="1463040" y="406908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Education RAG</a:t>
            </a:r>
            <a:endParaRPr lang="en-US" sz="1600" dirty="0"/>
          </a:p>
        </p:txBody>
      </p:sp>
      <p:sp>
        <p:nvSpPr>
          <p:cNvPr id="30" name="Text 24"/>
          <p:cNvSpPr txBox="1"/>
          <p:nvPr/>
        </p:nvSpPr>
        <p:spPr>
          <a:xfrm>
            <a:off x="777240" y="4754880"/>
            <a:ext cx="3108960" cy="685800"/>
          </a:xfrm>
          <a:prstGeom prst="rect">
            <a:avLst/>
          </a:prstGeom>
          <a:noFill/>
          <a:ln/>
        </p:spPr>
        <p:txBody>
          <a:bodyPr wrap="square" lIns="0" tIns="0" rIns="0" bIns="0" rtlCol="0" anchor="t"/>
          <a:lstStyle/>
          <a:p>
            <a:pPr indent="0" marL="0">
              <a:buNone/>
            </a:pPr>
            <a:r>
              <a:rPr lang="en-US" sz="1250" dirty="0">
                <a:solidFill>
                  <a:srgbClr val="5B6478"/>
                </a:solidFill>
              </a:rPr>
              <a:t>Answers only from approved articles and cites them.</a:t>
            </a:r>
            <a:endParaRPr lang="en-US" sz="1250" dirty="0"/>
          </a:p>
        </p:txBody>
      </p:sp>
      <p:sp>
        <p:nvSpPr>
          <p:cNvPr id="31" name="Shape 25"/>
          <p:cNvSpPr/>
          <p:nvPr/>
        </p:nvSpPr>
        <p:spPr>
          <a:xfrm>
            <a:off x="777240" y="5532120"/>
            <a:ext cx="3108960" cy="365760"/>
          </a:xfrm>
          <a:prstGeom prst="roundRect">
            <a:avLst>
              <a:gd name="adj" fmla="val 20000"/>
            </a:avLst>
          </a:prstGeom>
          <a:solidFill>
            <a:srgbClr val="EAF0FC"/>
          </a:solidFill>
          <a:ln w="12700">
            <a:solidFill>
              <a:srgbClr val="EAF0FC"/>
            </a:solidFill>
            <a:prstDash val="solid"/>
          </a:ln>
        </p:spPr>
      </p:sp>
      <p:sp>
        <p:nvSpPr>
          <p:cNvPr id="32" name="Text 26"/>
          <p:cNvSpPr txBox="1"/>
          <p:nvPr/>
        </p:nvSpPr>
        <p:spPr>
          <a:xfrm>
            <a:off x="914400" y="5532120"/>
            <a:ext cx="2926080" cy="365760"/>
          </a:xfrm>
          <a:prstGeom prst="rect">
            <a:avLst/>
          </a:prstGeom>
          <a:noFill/>
          <a:ln/>
        </p:spPr>
        <p:txBody>
          <a:bodyPr wrap="square" lIns="0" tIns="0" rIns="0" bIns="0" rtlCol="0" anchor="ctr"/>
          <a:lstStyle/>
          <a:p>
            <a:pPr indent="0" marL="0">
              <a:buNone/>
            </a:pPr>
            <a:r>
              <a:rPr lang="en-US" sz="1100" b="1" dirty="0">
                <a:solidFill>
                  <a:schemeClr val="accent1"/>
                </a:solidFill>
              </a:rPr>
              <a:t>Sees: approved articles only</a:t>
            </a:r>
            <a:endParaRPr lang="en-US" sz="1100" dirty="0"/>
          </a:p>
        </p:txBody>
      </p:sp>
      <p:sp>
        <p:nvSpPr>
          <p:cNvPr id="33" name="Agent card"/>
          <p:cNvSpPr/>
          <p:nvPr/>
        </p:nvSpPr>
        <p:spPr>
          <a:xfrm>
            <a:off x="4311396" y="3840480"/>
            <a:ext cx="3566160" cy="2240280"/>
          </a:xfrm>
          <a:prstGeom prst="roundRect">
            <a:avLst>
              <a:gd name="adj" fmla="val 4082"/>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34" name="IconCircle"/>
          <p:cNvSpPr/>
          <p:nvPr/>
        </p:nvSpPr>
        <p:spPr>
          <a:xfrm>
            <a:off x="4539996" y="4069080"/>
            <a:ext cx="548640" cy="548640"/>
          </a:xfrm>
          <a:prstGeom prst="ellipse">
            <a:avLst/>
          </a:prstGeom>
          <a:solidFill>
            <a:srgbClr val="1547C8"/>
          </a:solidFill>
          <a:ln w="12700">
            <a:solidFill>
              <a:srgbClr val="1547C8"/>
            </a:solidFill>
            <a:prstDash val="solid"/>
          </a:ln>
        </p:spPr>
      </p:sp>
      <p:pic>
        <p:nvPicPr>
          <p:cNvPr id="35" name="Image 4" descr="Bell icon">    </p:cNvPr>
          <p:cNvPicPr>
            <a:picLocks noChangeAspect="1"/>
          </p:cNvPicPr>
          <p:nvPr/>
        </p:nvPicPr>
        <p:blipFill>
          <a:blip r:embed="rId6"/>
          <a:stretch>
            <a:fillRect/>
          </a:stretch>
        </p:blipFill>
        <p:spPr>
          <a:xfrm>
            <a:off x="4677156" y="4206240"/>
            <a:ext cx="274320" cy="274320"/>
          </a:xfrm>
          <a:prstGeom prst="rect">
            <a:avLst/>
          </a:prstGeom>
        </p:spPr>
      </p:pic>
      <p:sp>
        <p:nvSpPr>
          <p:cNvPr id="36" name="Text 29"/>
          <p:cNvSpPr txBox="1"/>
          <p:nvPr/>
        </p:nvSpPr>
        <p:spPr>
          <a:xfrm>
            <a:off x="5225796" y="406908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Engagement</a:t>
            </a:r>
            <a:endParaRPr lang="en-US" sz="1600" dirty="0"/>
          </a:p>
        </p:txBody>
      </p:sp>
      <p:sp>
        <p:nvSpPr>
          <p:cNvPr id="37" name="Text 30"/>
          <p:cNvSpPr txBox="1"/>
          <p:nvPr/>
        </p:nvSpPr>
        <p:spPr>
          <a:xfrm>
            <a:off x="4539996" y="4754880"/>
            <a:ext cx="3108960" cy="685800"/>
          </a:xfrm>
          <a:prstGeom prst="rect">
            <a:avLst/>
          </a:prstGeom>
          <a:noFill/>
          <a:ln/>
        </p:spPr>
        <p:txBody>
          <a:bodyPr wrap="square" lIns="0" tIns="0" rIns="0" bIns="0" rtlCol="0" anchor="t"/>
          <a:lstStyle/>
          <a:p>
            <a:pPr indent="0" marL="0">
              <a:buNone/>
            </a:pPr>
            <a:r>
              <a:rPr lang="en-US" sz="1250" dirty="0">
                <a:solidFill>
                  <a:srgbClr val="5B6478"/>
                </a:solidFill>
              </a:rPr>
              <a:t>A neutral reminder in the member's channel and language.</a:t>
            </a:r>
            <a:endParaRPr lang="en-US" sz="1250" dirty="0"/>
          </a:p>
        </p:txBody>
      </p:sp>
      <p:sp>
        <p:nvSpPr>
          <p:cNvPr id="38" name="Shape 31"/>
          <p:cNvSpPr/>
          <p:nvPr/>
        </p:nvSpPr>
        <p:spPr>
          <a:xfrm>
            <a:off x="4539996" y="5532120"/>
            <a:ext cx="3108960" cy="365760"/>
          </a:xfrm>
          <a:prstGeom prst="roundRect">
            <a:avLst>
              <a:gd name="adj" fmla="val 20000"/>
            </a:avLst>
          </a:prstGeom>
          <a:solidFill>
            <a:srgbClr val="EAF0FC"/>
          </a:solidFill>
          <a:ln w="12700">
            <a:solidFill>
              <a:srgbClr val="EAF0FC"/>
            </a:solidFill>
            <a:prstDash val="solid"/>
          </a:ln>
        </p:spPr>
      </p:sp>
      <p:sp>
        <p:nvSpPr>
          <p:cNvPr id="39" name="Text 32"/>
          <p:cNvSpPr txBox="1"/>
          <p:nvPr/>
        </p:nvSpPr>
        <p:spPr>
          <a:xfrm>
            <a:off x="4677156" y="5532120"/>
            <a:ext cx="2926080" cy="365760"/>
          </a:xfrm>
          <a:prstGeom prst="rect">
            <a:avLst/>
          </a:prstGeom>
          <a:noFill/>
          <a:ln/>
        </p:spPr>
        <p:txBody>
          <a:bodyPr wrap="square" lIns="0" tIns="0" rIns="0" bIns="0" rtlCol="0" anchor="ctr"/>
          <a:lstStyle/>
          <a:p>
            <a:pPr indent="0" marL="0">
              <a:buNone/>
            </a:pPr>
            <a:r>
              <a:rPr lang="en-US" sz="1100" b="1" dirty="0">
                <a:solidFill>
                  <a:schemeClr val="accent1"/>
                </a:solidFill>
              </a:rPr>
              <a:t>Sees: due tasks and channel</a:t>
            </a:r>
            <a:endParaRPr lang="en-US" sz="1100" dirty="0"/>
          </a:p>
        </p:txBody>
      </p:sp>
      <p:sp>
        <p:nvSpPr>
          <p:cNvPr id="40" name="Agent card"/>
          <p:cNvSpPr/>
          <p:nvPr/>
        </p:nvSpPr>
        <p:spPr>
          <a:xfrm>
            <a:off x="8074152" y="3840480"/>
            <a:ext cx="3566160" cy="2240280"/>
          </a:xfrm>
          <a:prstGeom prst="roundRect">
            <a:avLst>
              <a:gd name="adj" fmla="val 4082"/>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41" name="IconCircle"/>
          <p:cNvSpPr/>
          <p:nvPr/>
        </p:nvSpPr>
        <p:spPr>
          <a:xfrm>
            <a:off x="8302752" y="4069080"/>
            <a:ext cx="548640" cy="548640"/>
          </a:xfrm>
          <a:prstGeom prst="ellipse">
            <a:avLst/>
          </a:prstGeom>
          <a:solidFill>
            <a:srgbClr val="1547C8"/>
          </a:solidFill>
          <a:ln w="12700">
            <a:solidFill>
              <a:srgbClr val="1547C8"/>
            </a:solidFill>
            <a:prstDash val="solid"/>
          </a:ln>
        </p:spPr>
      </p:sp>
      <p:pic>
        <p:nvPicPr>
          <p:cNvPr id="42" name="Image 5" descr="UserMd icon">    </p:cNvPr>
          <p:cNvPicPr>
            <a:picLocks noChangeAspect="1"/>
          </p:cNvPicPr>
          <p:nvPr/>
        </p:nvPicPr>
        <p:blipFill>
          <a:blip r:embed="rId7"/>
          <a:stretch>
            <a:fillRect/>
          </a:stretch>
        </p:blipFill>
        <p:spPr>
          <a:xfrm>
            <a:off x="8439912" y="4206240"/>
            <a:ext cx="274320" cy="274320"/>
          </a:xfrm>
          <a:prstGeom prst="rect">
            <a:avLst/>
          </a:prstGeom>
        </p:spPr>
      </p:pic>
      <p:sp>
        <p:nvSpPr>
          <p:cNvPr id="43" name="Text 35"/>
          <p:cNvSpPr txBox="1"/>
          <p:nvPr/>
        </p:nvSpPr>
        <p:spPr>
          <a:xfrm>
            <a:off x="8988552" y="406908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Escalation</a:t>
            </a:r>
            <a:endParaRPr lang="en-US" sz="1600" dirty="0"/>
          </a:p>
        </p:txBody>
      </p:sp>
      <p:sp>
        <p:nvSpPr>
          <p:cNvPr id="44" name="Text 36"/>
          <p:cNvSpPr txBox="1"/>
          <p:nvPr/>
        </p:nvSpPr>
        <p:spPr>
          <a:xfrm>
            <a:off x="8302752" y="4754880"/>
            <a:ext cx="3108960" cy="685800"/>
          </a:xfrm>
          <a:prstGeom prst="rect">
            <a:avLst/>
          </a:prstGeom>
          <a:noFill/>
          <a:ln/>
        </p:spPr>
        <p:txBody>
          <a:bodyPr wrap="square" lIns="0" tIns="0" rIns="0" bIns="0" rtlCol="0" anchor="t"/>
          <a:lstStyle/>
          <a:p>
            <a:pPr indent="0" marL="0">
              <a:buNone/>
            </a:pPr>
            <a:r>
              <a:rPr lang="en-US" sz="1250" dirty="0">
                <a:solidFill>
                  <a:srgbClr val="5B6478"/>
                </a:solidFill>
              </a:rPr>
              <a:t>Writes the staff reason for rules that code already matched.</a:t>
            </a:r>
            <a:endParaRPr lang="en-US" sz="1250" dirty="0"/>
          </a:p>
        </p:txBody>
      </p:sp>
      <p:sp>
        <p:nvSpPr>
          <p:cNvPr id="45" name="Shape 37"/>
          <p:cNvSpPr/>
          <p:nvPr/>
        </p:nvSpPr>
        <p:spPr>
          <a:xfrm>
            <a:off x="8302752" y="5532120"/>
            <a:ext cx="3108960" cy="365760"/>
          </a:xfrm>
          <a:prstGeom prst="roundRect">
            <a:avLst>
              <a:gd name="adj" fmla="val 20000"/>
            </a:avLst>
          </a:prstGeom>
          <a:solidFill>
            <a:srgbClr val="EAF0FC"/>
          </a:solidFill>
          <a:ln w="12700">
            <a:solidFill>
              <a:srgbClr val="EAF0FC"/>
            </a:solidFill>
            <a:prstDash val="solid"/>
          </a:ln>
        </p:spPr>
      </p:sp>
      <p:sp>
        <p:nvSpPr>
          <p:cNvPr id="46" name="Text 38"/>
          <p:cNvSpPr txBox="1"/>
          <p:nvPr/>
        </p:nvSpPr>
        <p:spPr>
          <a:xfrm>
            <a:off x="8439912" y="5532120"/>
            <a:ext cx="2926080" cy="365760"/>
          </a:xfrm>
          <a:prstGeom prst="rect">
            <a:avLst/>
          </a:prstGeom>
          <a:noFill/>
          <a:ln/>
        </p:spPr>
        <p:txBody>
          <a:bodyPr wrap="square" lIns="0" tIns="0" rIns="0" bIns="0" rtlCol="0" anchor="ctr"/>
          <a:lstStyle/>
          <a:p>
            <a:pPr indent="0" marL="0">
              <a:buNone/>
            </a:pPr>
            <a:r>
              <a:rPr lang="en-US" sz="1100" b="1" dirty="0">
                <a:solidFill>
                  <a:schemeClr val="accent1"/>
                </a:solidFill>
              </a:rPr>
              <a:t>Sees: matched rules only</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02  ·  DESIGN PRINCIPLE</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Code decides the facts. Agents only word them</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Column card"/>
          <p:cNvSpPr/>
          <p:nvPr/>
        </p:nvSpPr>
        <p:spPr>
          <a:xfrm>
            <a:off x="548640" y="1417320"/>
            <a:ext cx="5440680" cy="3063240"/>
          </a:xfrm>
          <a:prstGeom prst="roundRect">
            <a:avLst>
              <a:gd name="adj" fmla="val 2985"/>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 name="Pill"/>
          <p:cNvSpPr/>
          <p:nvPr/>
        </p:nvSpPr>
        <p:spPr>
          <a:xfrm>
            <a:off x="822960" y="1645920"/>
            <a:ext cx="1737360" cy="347472"/>
          </a:xfrm>
          <a:prstGeom prst="roundRect">
            <a:avLst>
              <a:gd name="adj" fmla="val 50000"/>
            </a:avLst>
          </a:prstGeom>
          <a:solidFill>
            <a:srgbClr val="1547C8"/>
          </a:solidFill>
          <a:ln w="12700">
            <a:solidFill>
              <a:srgbClr val="1547C8"/>
            </a:solidFill>
            <a:prstDash val="solid"/>
          </a:ln>
        </p:spPr>
      </p:sp>
      <p:sp>
        <p:nvSpPr>
          <p:cNvPr id="7" name="Text 5"/>
          <p:cNvSpPr txBox="1"/>
          <p:nvPr/>
        </p:nvSpPr>
        <p:spPr>
          <a:xfrm>
            <a:off x="822960" y="1645920"/>
            <a:ext cx="1737360" cy="347472"/>
          </a:xfrm>
          <a:prstGeom prst="rect">
            <a:avLst/>
          </a:prstGeom>
          <a:noFill/>
          <a:ln/>
        </p:spPr>
        <p:txBody>
          <a:bodyPr wrap="square" lIns="0" tIns="0" rIns="0" bIns="0" rtlCol="0" anchor="ctr"/>
          <a:lstStyle/>
          <a:p>
            <a:pPr algn="ctr" indent="0" marL="0">
              <a:buNone/>
            </a:pPr>
            <a:r>
              <a:rPr lang="en-US" sz="1100" b="1" dirty="0">
                <a:solidFill>
                  <a:srgbClr val="FFFFFF"/>
                </a:solidFill>
              </a:rPr>
              <a:t>DONE BY CODE</a:t>
            </a:r>
            <a:endParaRPr lang="en-US" sz="1100" dirty="0"/>
          </a:p>
        </p:txBody>
      </p:sp>
      <p:sp>
        <p:nvSpPr>
          <p:cNvPr id="8" name="Text 6"/>
          <p:cNvSpPr txBox="1"/>
          <p:nvPr/>
        </p:nvSpPr>
        <p:spPr>
          <a:xfrm>
            <a:off x="2743200" y="1645920"/>
            <a:ext cx="3108960" cy="347472"/>
          </a:xfrm>
          <a:prstGeom prst="rect">
            <a:avLst/>
          </a:prstGeom>
          <a:noFill/>
          <a:ln/>
        </p:spPr>
        <p:txBody>
          <a:bodyPr wrap="square" lIns="0" tIns="0" rIns="0" bIns="0" rtlCol="0" anchor="ctr"/>
          <a:lstStyle/>
          <a:p>
            <a:pPr indent="0" marL="0">
              <a:buNone/>
            </a:pPr>
            <a:r>
              <a:rPr lang="en-US" sz="1200" dirty="0">
                <a:solidFill>
                  <a:srgbClr val="5B6478"/>
                </a:solidFill>
              </a:rPr>
              <a:t>Exact, repeatable, unit-tested</a:t>
            </a:r>
            <a:endParaRPr lang="en-US" sz="1200" dirty="0"/>
          </a:p>
        </p:txBody>
      </p:sp>
      <p:pic>
        <p:nvPicPr>
          <p:cNvPr id="9" name="Image 0" descr="Check">    </p:cNvPr>
          <p:cNvPicPr>
            <a:picLocks noChangeAspect="1"/>
          </p:cNvPicPr>
          <p:nvPr/>
        </p:nvPicPr>
        <p:blipFill>
          <a:blip r:embed="rId2"/>
          <a:stretch>
            <a:fillRect/>
          </a:stretch>
        </p:blipFill>
        <p:spPr>
          <a:xfrm>
            <a:off x="822960" y="2276856"/>
            <a:ext cx="274320" cy="274320"/>
          </a:xfrm>
          <a:prstGeom prst="rect">
            <a:avLst/>
          </a:prstGeom>
        </p:spPr>
      </p:pic>
      <p:sp>
        <p:nvSpPr>
          <p:cNvPr id="10" name="Text 7"/>
          <p:cNvSpPr txBox="1"/>
          <p:nvPr/>
        </p:nvSpPr>
        <p:spPr>
          <a:xfrm>
            <a:off x="1280160" y="2240280"/>
            <a:ext cx="4434840" cy="365760"/>
          </a:xfrm>
          <a:prstGeom prst="rect">
            <a:avLst/>
          </a:prstGeom>
          <a:noFill/>
          <a:ln/>
        </p:spPr>
        <p:txBody>
          <a:bodyPr wrap="square" lIns="0" tIns="0" rIns="0" bIns="0" rtlCol="0" anchor="ctr"/>
          <a:lstStyle/>
          <a:p>
            <a:pPr indent="0" marL="0">
              <a:buNone/>
            </a:pPr>
            <a:r>
              <a:rPr lang="en-US" sz="1400" dirty="0">
                <a:solidFill>
                  <a:schemeClr val="tx1"/>
                </a:solidFill>
              </a:rPr>
              <a:t>Consent check (ER-501)</a:t>
            </a:r>
            <a:endParaRPr lang="en-US" sz="1400" dirty="0"/>
          </a:p>
        </p:txBody>
      </p:sp>
      <p:pic>
        <p:nvPicPr>
          <p:cNvPr id="11" name="Image 1" descr="Check">    </p:cNvPr>
          <p:cNvPicPr>
            <a:picLocks noChangeAspect="1"/>
          </p:cNvPicPr>
          <p:nvPr/>
        </p:nvPicPr>
        <p:blipFill>
          <a:blip r:embed="rId3"/>
          <a:stretch>
            <a:fillRect/>
          </a:stretch>
        </p:blipFill>
        <p:spPr>
          <a:xfrm>
            <a:off x="822960" y="2807208"/>
            <a:ext cx="274320" cy="274320"/>
          </a:xfrm>
          <a:prstGeom prst="rect">
            <a:avLst/>
          </a:prstGeom>
        </p:spPr>
      </p:pic>
      <p:sp>
        <p:nvSpPr>
          <p:cNvPr id="12" name="Text 8"/>
          <p:cNvSpPr txBox="1"/>
          <p:nvPr/>
        </p:nvSpPr>
        <p:spPr>
          <a:xfrm>
            <a:off x="1280160" y="2770632"/>
            <a:ext cx="4434840" cy="365760"/>
          </a:xfrm>
          <a:prstGeom prst="rect">
            <a:avLst/>
          </a:prstGeom>
          <a:noFill/>
          <a:ln/>
        </p:spPr>
        <p:txBody>
          <a:bodyPr wrap="square" lIns="0" tIns="0" rIns="0" bIns="0" rtlCol="0" anchor="ctr"/>
          <a:lstStyle/>
          <a:p>
            <a:pPr indent="0" marL="0">
              <a:buNone/>
            </a:pPr>
            <a:r>
              <a:rPr lang="en-US" sz="1400" dirty="0">
                <a:solidFill>
                  <a:schemeClr val="tx1"/>
                </a:solidFill>
              </a:rPr>
              <a:t>Escalation rules ER-502 to ER-504</a:t>
            </a:r>
            <a:endParaRPr lang="en-US" sz="1400" dirty="0"/>
          </a:p>
        </p:txBody>
      </p:sp>
      <p:pic>
        <p:nvPicPr>
          <p:cNvPr id="13" name="Image 2" descr="Check">    </p:cNvPr>
          <p:cNvPicPr>
            <a:picLocks noChangeAspect="1"/>
          </p:cNvPicPr>
          <p:nvPr/>
        </p:nvPicPr>
        <p:blipFill>
          <a:blip r:embed="rId4"/>
          <a:stretch>
            <a:fillRect/>
          </a:stretch>
        </p:blipFill>
        <p:spPr>
          <a:xfrm>
            <a:off x="822960" y="3337560"/>
            <a:ext cx="274320" cy="274320"/>
          </a:xfrm>
          <a:prstGeom prst="rect">
            <a:avLst/>
          </a:prstGeom>
        </p:spPr>
      </p:pic>
      <p:sp>
        <p:nvSpPr>
          <p:cNvPr id="14" name="Text 9"/>
          <p:cNvSpPr txBox="1"/>
          <p:nvPr/>
        </p:nvSpPr>
        <p:spPr>
          <a:xfrm>
            <a:off x="1280160" y="3300984"/>
            <a:ext cx="4434840" cy="365760"/>
          </a:xfrm>
          <a:prstGeom prst="rect">
            <a:avLst/>
          </a:prstGeom>
          <a:noFill/>
          <a:ln/>
        </p:spPr>
        <p:txBody>
          <a:bodyPr wrap="square" lIns="0" tIns="0" rIns="0" bIns="0" rtlCol="0" anchor="ctr"/>
          <a:lstStyle/>
          <a:p>
            <a:pPr indent="0" marL="0">
              <a:buNone/>
            </a:pPr>
            <a:r>
              <a:rPr lang="en-US" sz="1400" dirty="0">
                <a:solidFill>
                  <a:schemeClr val="tx1"/>
                </a:solidFill>
              </a:rPr>
              <a:t>Counts, min / max, missing dates</a:t>
            </a:r>
            <a:endParaRPr lang="en-US" sz="1400" dirty="0"/>
          </a:p>
        </p:txBody>
      </p:sp>
      <p:pic>
        <p:nvPicPr>
          <p:cNvPr id="15" name="Image 3" descr="Check">    </p:cNvPr>
          <p:cNvPicPr>
            <a:picLocks noChangeAspect="1"/>
          </p:cNvPicPr>
          <p:nvPr/>
        </p:nvPicPr>
        <p:blipFill>
          <a:blip r:embed="rId5"/>
          <a:stretch>
            <a:fillRect/>
          </a:stretch>
        </p:blipFill>
        <p:spPr>
          <a:xfrm>
            <a:off x="822960" y="3867912"/>
            <a:ext cx="274320" cy="274320"/>
          </a:xfrm>
          <a:prstGeom prst="rect">
            <a:avLst/>
          </a:prstGeom>
        </p:spPr>
      </p:pic>
      <p:sp>
        <p:nvSpPr>
          <p:cNvPr id="16" name="Text 10"/>
          <p:cNvSpPr txBox="1"/>
          <p:nvPr/>
        </p:nvSpPr>
        <p:spPr>
          <a:xfrm>
            <a:off x="1280160" y="3831336"/>
            <a:ext cx="4434840" cy="365760"/>
          </a:xfrm>
          <a:prstGeom prst="rect">
            <a:avLst/>
          </a:prstGeom>
          <a:noFill/>
          <a:ln/>
        </p:spPr>
        <p:txBody>
          <a:bodyPr wrap="square" lIns="0" tIns="0" rIns="0" bIns="0" rtlCol="0" anchor="ctr"/>
          <a:lstStyle/>
          <a:p>
            <a:pPr indent="0" marL="0">
              <a:buNone/>
            </a:pPr>
            <a:r>
              <a:rPr lang="en-US" sz="1400" dirty="0">
                <a:solidFill>
                  <a:schemeClr val="tx1"/>
                </a:solidFill>
              </a:rPr>
              <a:t>Citation check: ID, status, program, version</a:t>
            </a:r>
            <a:endParaRPr lang="en-US" sz="1400" dirty="0"/>
          </a:p>
        </p:txBody>
      </p:sp>
      <p:sp>
        <p:nvSpPr>
          <p:cNvPr id="17" name="Column card"/>
          <p:cNvSpPr/>
          <p:nvPr/>
        </p:nvSpPr>
        <p:spPr>
          <a:xfrm>
            <a:off x="6199632" y="1417320"/>
            <a:ext cx="5440680" cy="3063240"/>
          </a:xfrm>
          <a:prstGeom prst="roundRect">
            <a:avLst>
              <a:gd name="adj" fmla="val 2985"/>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8" name="Pill"/>
          <p:cNvSpPr/>
          <p:nvPr/>
        </p:nvSpPr>
        <p:spPr>
          <a:xfrm>
            <a:off x="6473952" y="1645920"/>
            <a:ext cx="1737360" cy="347472"/>
          </a:xfrm>
          <a:prstGeom prst="roundRect">
            <a:avLst>
              <a:gd name="adj" fmla="val 50000"/>
            </a:avLst>
          </a:prstGeom>
          <a:solidFill>
            <a:srgbClr val="0A1F5C"/>
          </a:solidFill>
          <a:ln w="12700">
            <a:solidFill>
              <a:srgbClr val="0A1F5C"/>
            </a:solidFill>
            <a:prstDash val="solid"/>
          </a:ln>
        </p:spPr>
      </p:sp>
      <p:sp>
        <p:nvSpPr>
          <p:cNvPr id="19" name="Text 13"/>
          <p:cNvSpPr txBox="1"/>
          <p:nvPr/>
        </p:nvSpPr>
        <p:spPr>
          <a:xfrm>
            <a:off x="6473952" y="1645920"/>
            <a:ext cx="1737360" cy="347472"/>
          </a:xfrm>
          <a:prstGeom prst="rect">
            <a:avLst/>
          </a:prstGeom>
          <a:noFill/>
          <a:ln/>
        </p:spPr>
        <p:txBody>
          <a:bodyPr wrap="square" lIns="0" tIns="0" rIns="0" bIns="0" rtlCol="0" anchor="ctr"/>
          <a:lstStyle/>
          <a:p>
            <a:pPr algn="ctr" indent="0" marL="0">
              <a:buNone/>
            </a:pPr>
            <a:r>
              <a:rPr lang="en-US" sz="1100" b="1" dirty="0">
                <a:solidFill>
                  <a:srgbClr val="FFFFFF"/>
                </a:solidFill>
              </a:rPr>
              <a:t>DONE BY AI</a:t>
            </a:r>
            <a:endParaRPr lang="en-US" sz="1100" dirty="0"/>
          </a:p>
        </p:txBody>
      </p:sp>
      <p:sp>
        <p:nvSpPr>
          <p:cNvPr id="20" name="Text 14"/>
          <p:cNvSpPr txBox="1"/>
          <p:nvPr/>
        </p:nvSpPr>
        <p:spPr>
          <a:xfrm>
            <a:off x="8394192" y="1645920"/>
            <a:ext cx="3108960" cy="347472"/>
          </a:xfrm>
          <a:prstGeom prst="rect">
            <a:avLst/>
          </a:prstGeom>
          <a:noFill/>
          <a:ln/>
        </p:spPr>
        <p:txBody>
          <a:bodyPr wrap="square" lIns="0" tIns="0" rIns="0" bIns="0" rtlCol="0" anchor="ctr"/>
          <a:lstStyle/>
          <a:p>
            <a:pPr indent="0" marL="0">
              <a:buNone/>
            </a:pPr>
            <a:r>
              <a:rPr lang="en-US" sz="1200" dirty="0">
                <a:solidFill>
                  <a:srgbClr val="5B6478"/>
                </a:solidFill>
              </a:rPr>
              <a:t>Language only, never a decision</a:t>
            </a:r>
            <a:endParaRPr lang="en-US" sz="1200" dirty="0"/>
          </a:p>
        </p:txBody>
      </p:sp>
      <p:pic>
        <p:nvPicPr>
          <p:cNvPr id="21" name="Image 4" descr="Check">    </p:cNvPr>
          <p:cNvPicPr>
            <a:picLocks noChangeAspect="1"/>
          </p:cNvPicPr>
          <p:nvPr/>
        </p:nvPicPr>
        <p:blipFill>
          <a:blip r:embed="rId6"/>
          <a:stretch>
            <a:fillRect/>
          </a:stretch>
        </p:blipFill>
        <p:spPr>
          <a:xfrm>
            <a:off x="6473952" y="2276856"/>
            <a:ext cx="274320" cy="274320"/>
          </a:xfrm>
          <a:prstGeom prst="rect">
            <a:avLst/>
          </a:prstGeom>
        </p:spPr>
      </p:pic>
      <p:sp>
        <p:nvSpPr>
          <p:cNvPr id="22" name="Text 15"/>
          <p:cNvSpPr txBox="1"/>
          <p:nvPr/>
        </p:nvSpPr>
        <p:spPr>
          <a:xfrm>
            <a:off x="6931152" y="2240280"/>
            <a:ext cx="4434840" cy="365760"/>
          </a:xfrm>
          <a:prstGeom prst="rect">
            <a:avLst/>
          </a:prstGeom>
          <a:noFill/>
          <a:ln/>
        </p:spPr>
        <p:txBody>
          <a:bodyPr wrap="square" lIns="0" tIns="0" rIns="0" bIns="0" rtlCol="0" anchor="ctr"/>
          <a:lstStyle/>
          <a:p>
            <a:pPr indent="0" marL="0">
              <a:buNone/>
            </a:pPr>
            <a:r>
              <a:rPr lang="en-US" sz="1400" dirty="0">
                <a:solidFill>
                  <a:schemeClr val="tx1"/>
                </a:solidFill>
              </a:rPr>
              <a:t>Understand what the member asked</a:t>
            </a:r>
            <a:endParaRPr lang="en-US" sz="1400" dirty="0"/>
          </a:p>
        </p:txBody>
      </p:sp>
      <p:pic>
        <p:nvPicPr>
          <p:cNvPr id="23" name="Image 5" descr="Check">    </p:cNvPr>
          <p:cNvPicPr>
            <a:picLocks noChangeAspect="1"/>
          </p:cNvPicPr>
          <p:nvPr/>
        </p:nvPicPr>
        <p:blipFill>
          <a:blip r:embed="rId7"/>
          <a:stretch>
            <a:fillRect/>
          </a:stretch>
        </p:blipFill>
        <p:spPr>
          <a:xfrm>
            <a:off x="6473952" y="2807208"/>
            <a:ext cx="274320" cy="274320"/>
          </a:xfrm>
          <a:prstGeom prst="rect">
            <a:avLst/>
          </a:prstGeom>
        </p:spPr>
      </p:pic>
      <p:sp>
        <p:nvSpPr>
          <p:cNvPr id="24" name="Text 16"/>
          <p:cNvSpPr txBox="1"/>
          <p:nvPr/>
        </p:nvSpPr>
        <p:spPr>
          <a:xfrm>
            <a:off x="6931152" y="2770632"/>
            <a:ext cx="4434840" cy="365760"/>
          </a:xfrm>
          <a:prstGeom prst="rect">
            <a:avLst/>
          </a:prstGeom>
          <a:noFill/>
          <a:ln/>
        </p:spPr>
        <p:txBody>
          <a:bodyPr wrap="square" lIns="0" tIns="0" rIns="0" bIns="0" rtlCol="0" anchor="ctr"/>
          <a:lstStyle/>
          <a:p>
            <a:pPr indent="0" marL="0">
              <a:buNone/>
            </a:pPr>
            <a:r>
              <a:rPr lang="en-US" sz="1400" dirty="0">
                <a:solidFill>
                  <a:schemeClr val="tx1"/>
                </a:solidFill>
              </a:rPr>
              <a:t>Word summaries and reminders</a:t>
            </a:r>
            <a:endParaRPr lang="en-US" sz="1400" dirty="0"/>
          </a:p>
        </p:txBody>
      </p:sp>
      <p:pic>
        <p:nvPicPr>
          <p:cNvPr id="25" name="Image 6" descr="Check">    </p:cNvPr>
          <p:cNvPicPr>
            <a:picLocks noChangeAspect="1"/>
          </p:cNvPicPr>
          <p:nvPr/>
        </p:nvPicPr>
        <p:blipFill>
          <a:blip r:embed="rId8"/>
          <a:stretch>
            <a:fillRect/>
          </a:stretch>
        </p:blipFill>
        <p:spPr>
          <a:xfrm>
            <a:off x="6473952" y="3337560"/>
            <a:ext cx="274320" cy="274320"/>
          </a:xfrm>
          <a:prstGeom prst="rect">
            <a:avLst/>
          </a:prstGeom>
        </p:spPr>
      </p:pic>
      <p:sp>
        <p:nvSpPr>
          <p:cNvPr id="26" name="Text 17"/>
          <p:cNvSpPr txBox="1"/>
          <p:nvPr/>
        </p:nvSpPr>
        <p:spPr>
          <a:xfrm>
            <a:off x="6931152" y="3300984"/>
            <a:ext cx="4434840" cy="365760"/>
          </a:xfrm>
          <a:prstGeom prst="rect">
            <a:avLst/>
          </a:prstGeom>
          <a:noFill/>
          <a:ln/>
        </p:spPr>
        <p:txBody>
          <a:bodyPr wrap="square" lIns="0" tIns="0" rIns="0" bIns="0" rtlCol="0" anchor="ctr"/>
          <a:lstStyle/>
          <a:p>
            <a:pPr indent="0" marL="0">
              <a:buNone/>
            </a:pPr>
            <a:r>
              <a:rPr lang="en-US" sz="1400" dirty="0">
                <a:solidFill>
                  <a:schemeClr val="tx1"/>
                </a:solidFill>
              </a:rPr>
              <a:t>Answer from retrieved approved text</a:t>
            </a:r>
            <a:endParaRPr lang="en-US" sz="1400" dirty="0"/>
          </a:p>
        </p:txBody>
      </p:sp>
      <p:sp>
        <p:nvSpPr>
          <p:cNvPr id="27" name="Shape 18"/>
          <p:cNvSpPr/>
          <p:nvPr/>
        </p:nvSpPr>
        <p:spPr>
          <a:xfrm>
            <a:off x="5870448" y="2743200"/>
            <a:ext cx="457200" cy="457200"/>
          </a:xfrm>
          <a:prstGeom prst="ellipse">
            <a:avLst/>
          </a:prstGeom>
          <a:solidFill>
            <a:schemeClr val="accent2"/>
          </a:solidFill>
          <a:ln w="25400">
            <a:solidFill>
              <a:srgbClr val="FFFFFF"/>
            </a:solidFill>
            <a:prstDash val="solid"/>
          </a:ln>
        </p:spPr>
      </p:sp>
      <p:sp>
        <p:nvSpPr>
          <p:cNvPr id="28" name="Text 19"/>
          <p:cNvSpPr txBox="1"/>
          <p:nvPr/>
        </p:nvSpPr>
        <p:spPr>
          <a:xfrm>
            <a:off x="5870448" y="2743200"/>
            <a:ext cx="457200" cy="457200"/>
          </a:xfrm>
          <a:prstGeom prst="rect">
            <a:avLst/>
          </a:prstGeom>
          <a:noFill/>
          <a:ln/>
        </p:spPr>
        <p:txBody>
          <a:bodyPr wrap="square" lIns="0" tIns="0" rIns="0" bIns="0" rtlCol="0" anchor="ctr"/>
          <a:lstStyle/>
          <a:p>
            <a:pPr algn="ctr" indent="0" marL="0">
              <a:buNone/>
            </a:pPr>
            <a:r>
              <a:rPr lang="en-US" sz="2000" b="1" dirty="0">
                <a:solidFill>
                  <a:srgbClr val="0A1F5C"/>
                </a:solidFill>
              </a:rPr>
              <a:t>+</a:t>
            </a:r>
            <a:endParaRPr lang="en-US" sz="2000" dirty="0"/>
          </a:p>
        </p:txBody>
      </p:sp>
      <p:sp>
        <p:nvSpPr>
          <p:cNvPr id="29" name="Rejection strip"/>
          <p:cNvSpPr/>
          <p:nvPr/>
        </p:nvSpPr>
        <p:spPr>
          <a:xfrm>
            <a:off x="548640" y="4709160"/>
            <a:ext cx="11091672" cy="1371600"/>
          </a:xfrm>
          <a:prstGeom prst="roundRect">
            <a:avLst>
              <a:gd name="adj" fmla="val 6667"/>
            </a:avLst>
          </a:prstGeom>
          <a:solidFill>
            <a:schemeClr val="tx2"/>
          </a:solidFill>
          <a:ln w="12700">
            <a:solidFill>
              <a:srgbClr val="0A1F5C"/>
            </a:solidFill>
            <a:prstDash val="solid"/>
          </a:ln>
        </p:spPr>
      </p:sp>
      <p:sp>
        <p:nvSpPr>
          <p:cNvPr id="30" name="Text 21"/>
          <p:cNvSpPr txBox="1"/>
          <p:nvPr/>
        </p:nvSpPr>
        <p:spPr>
          <a:xfrm>
            <a:off x="822960" y="4873752"/>
            <a:ext cx="10058400" cy="228600"/>
          </a:xfrm>
          <a:prstGeom prst="rect">
            <a:avLst/>
          </a:prstGeom>
          <a:noFill/>
          <a:ln/>
        </p:spPr>
        <p:txBody>
          <a:bodyPr wrap="square" lIns="0" tIns="0" rIns="0" bIns="0" rtlCol="0" anchor="t"/>
          <a:lstStyle/>
          <a:p>
            <a:pPr indent="0" marL="0">
              <a:buNone/>
            </a:pPr>
            <a:r>
              <a:rPr lang="en-US" sz="1000" b="1" spc="200" kern="0" dirty="0">
                <a:solidFill>
                  <a:srgbClr val="3CC3F0"/>
                </a:solidFill>
              </a:rPr>
              <a:t>AI WORDING IS REJECTED, AND A FIXED TEMPLATE IS USED, IF IT CONTAINS</a:t>
            </a:r>
            <a:endParaRPr lang="en-US" sz="1000" dirty="0"/>
          </a:p>
        </p:txBody>
      </p:sp>
      <p:pic>
        <p:nvPicPr>
          <p:cNvPr id="31" name="Image 7" descr="Rejected">    </p:cNvPr>
          <p:cNvPicPr>
            <a:picLocks noChangeAspect="1"/>
          </p:cNvPicPr>
          <p:nvPr/>
        </p:nvPicPr>
        <p:blipFill>
          <a:blip r:embed="rId9"/>
          <a:stretch>
            <a:fillRect/>
          </a:stretch>
        </p:blipFill>
        <p:spPr>
          <a:xfrm>
            <a:off x="822960" y="5440680"/>
            <a:ext cx="274320" cy="274320"/>
          </a:xfrm>
          <a:prstGeom prst="rect">
            <a:avLst/>
          </a:prstGeom>
        </p:spPr>
      </p:pic>
      <p:sp>
        <p:nvSpPr>
          <p:cNvPr id="32" name="Text 22"/>
          <p:cNvSpPr txBox="1"/>
          <p:nvPr/>
        </p:nvSpPr>
        <p:spPr>
          <a:xfrm>
            <a:off x="1188720" y="5349240"/>
            <a:ext cx="2148840" cy="502920"/>
          </a:xfrm>
          <a:prstGeom prst="rect">
            <a:avLst/>
          </a:prstGeom>
          <a:noFill/>
          <a:ln/>
        </p:spPr>
        <p:txBody>
          <a:bodyPr wrap="square" lIns="0" tIns="0" rIns="0" bIns="0" rtlCol="0" anchor="ctr"/>
          <a:lstStyle/>
          <a:p>
            <a:pPr indent="0" marL="0">
              <a:buNone/>
            </a:pPr>
            <a:r>
              <a:rPr lang="en-US" sz="1250" dirty="0">
                <a:solidFill>
                  <a:srgbClr val="FFFFFF"/>
                </a:solidFill>
              </a:rPr>
              <a:t>A number that is not in the facts</a:t>
            </a:r>
            <a:endParaRPr lang="en-US" sz="1250" dirty="0"/>
          </a:p>
        </p:txBody>
      </p:sp>
      <p:pic>
        <p:nvPicPr>
          <p:cNvPr id="33" name="Image 8" descr="Rejected">    </p:cNvPr>
          <p:cNvPicPr>
            <a:picLocks noChangeAspect="1"/>
          </p:cNvPicPr>
          <p:nvPr/>
        </p:nvPicPr>
        <p:blipFill>
          <a:blip r:embed="rId10"/>
          <a:stretch>
            <a:fillRect/>
          </a:stretch>
        </p:blipFill>
        <p:spPr>
          <a:xfrm>
            <a:off x="3520440" y="5440680"/>
            <a:ext cx="274320" cy="274320"/>
          </a:xfrm>
          <a:prstGeom prst="rect">
            <a:avLst/>
          </a:prstGeom>
        </p:spPr>
      </p:pic>
      <p:sp>
        <p:nvSpPr>
          <p:cNvPr id="34" name="Text 23"/>
          <p:cNvSpPr txBox="1"/>
          <p:nvPr/>
        </p:nvSpPr>
        <p:spPr>
          <a:xfrm>
            <a:off x="3886200" y="5349240"/>
            <a:ext cx="2148840" cy="502920"/>
          </a:xfrm>
          <a:prstGeom prst="rect">
            <a:avLst/>
          </a:prstGeom>
          <a:noFill/>
          <a:ln/>
        </p:spPr>
        <p:txBody>
          <a:bodyPr wrap="square" lIns="0" tIns="0" rIns="0" bIns="0" rtlCol="0" anchor="ctr"/>
          <a:lstStyle/>
          <a:p>
            <a:pPr indent="0" marL="0">
              <a:buNone/>
            </a:pPr>
            <a:r>
              <a:rPr lang="en-US" sz="1250" dirty="0">
                <a:solidFill>
                  <a:srgbClr val="FFFFFF"/>
                </a:solidFill>
              </a:rPr>
              <a:t>A diagnosis or a judgement of a value</a:t>
            </a:r>
            <a:endParaRPr lang="en-US" sz="1250" dirty="0"/>
          </a:p>
        </p:txBody>
      </p:sp>
      <p:pic>
        <p:nvPicPr>
          <p:cNvPr id="35" name="Image 9" descr="Rejected">    </p:cNvPr>
          <p:cNvPicPr>
            <a:picLocks noChangeAspect="1"/>
          </p:cNvPicPr>
          <p:nvPr/>
        </p:nvPicPr>
        <p:blipFill>
          <a:blip r:embed="rId11"/>
          <a:stretch>
            <a:fillRect/>
          </a:stretch>
        </p:blipFill>
        <p:spPr>
          <a:xfrm>
            <a:off x="6217920" y="5440680"/>
            <a:ext cx="274320" cy="274320"/>
          </a:xfrm>
          <a:prstGeom prst="rect">
            <a:avLst/>
          </a:prstGeom>
        </p:spPr>
      </p:pic>
      <p:sp>
        <p:nvSpPr>
          <p:cNvPr id="36" name="Text 24"/>
          <p:cNvSpPr txBox="1"/>
          <p:nvPr/>
        </p:nvSpPr>
        <p:spPr>
          <a:xfrm>
            <a:off x="6583680" y="5349240"/>
            <a:ext cx="2148840" cy="502920"/>
          </a:xfrm>
          <a:prstGeom prst="rect">
            <a:avLst/>
          </a:prstGeom>
          <a:noFill/>
          <a:ln/>
        </p:spPr>
        <p:txBody>
          <a:bodyPr wrap="square" lIns="0" tIns="0" rIns="0" bIns="0" rtlCol="0" anchor="ctr"/>
          <a:lstStyle/>
          <a:p>
            <a:pPr indent="0" marL="0">
              <a:buNone/>
            </a:pPr>
            <a:r>
              <a:rPr lang="en-US" sz="1250" dirty="0">
                <a:solidFill>
                  <a:srgbClr val="FFFFFF"/>
                </a:solidFill>
              </a:rPr>
              <a:t>Medication advice or a prediction</a:t>
            </a:r>
            <a:endParaRPr lang="en-US" sz="1250" dirty="0"/>
          </a:p>
        </p:txBody>
      </p:sp>
      <p:pic>
        <p:nvPicPr>
          <p:cNvPr id="37" name="Image 10" descr="Rejected">    </p:cNvPr>
          <p:cNvPicPr>
            <a:picLocks noChangeAspect="1"/>
          </p:cNvPicPr>
          <p:nvPr/>
        </p:nvPicPr>
        <p:blipFill>
          <a:blip r:embed="rId12"/>
          <a:stretch>
            <a:fillRect/>
          </a:stretch>
        </p:blipFill>
        <p:spPr>
          <a:xfrm>
            <a:off x="8915400" y="5440680"/>
            <a:ext cx="274320" cy="274320"/>
          </a:xfrm>
          <a:prstGeom prst="rect">
            <a:avLst/>
          </a:prstGeom>
        </p:spPr>
      </p:pic>
      <p:sp>
        <p:nvSpPr>
          <p:cNvPr id="38" name="Text 25"/>
          <p:cNvSpPr txBox="1"/>
          <p:nvPr/>
        </p:nvSpPr>
        <p:spPr>
          <a:xfrm>
            <a:off x="9281160" y="5349240"/>
            <a:ext cx="2148840" cy="502920"/>
          </a:xfrm>
          <a:prstGeom prst="rect">
            <a:avLst/>
          </a:prstGeom>
          <a:noFill/>
          <a:ln/>
        </p:spPr>
        <p:txBody>
          <a:bodyPr wrap="square" lIns="0" tIns="0" rIns="0" bIns="0" rtlCol="0" anchor="ctr"/>
          <a:lstStyle/>
          <a:p>
            <a:pPr indent="0" marL="0">
              <a:buNone/>
            </a:pPr>
            <a:r>
              <a:rPr lang="en-US" sz="1250" dirty="0">
                <a:solidFill>
                  <a:srgbClr val="FFFFFF"/>
                </a:solidFill>
              </a:rPr>
              <a:t>A claim to be a clinician</a:t>
            </a:r>
            <a:endParaRPr lang="en-US" sz="12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03  ·  ARCHITECTURE</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How one message moves through the desk</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Step card"/>
          <p:cNvSpPr/>
          <p:nvPr/>
        </p:nvSpPr>
        <p:spPr>
          <a:xfrm>
            <a:off x="548640" y="1417320"/>
            <a:ext cx="1645920" cy="1600200"/>
          </a:xfrm>
          <a:prstGeom prst="roundRect">
            <a:avLst>
              <a:gd name="adj" fmla="val 5714"/>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 name="Shape 4"/>
          <p:cNvSpPr/>
          <p:nvPr/>
        </p:nvSpPr>
        <p:spPr>
          <a:xfrm>
            <a:off x="685800" y="155448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68580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txBox="1"/>
          <p:nvPr/>
        </p:nvSpPr>
        <p:spPr>
          <a:xfrm>
            <a:off x="685800" y="2029968"/>
            <a:ext cx="1417320" cy="274320"/>
          </a:xfrm>
          <a:prstGeom prst="rect">
            <a:avLst/>
          </a:prstGeom>
          <a:noFill/>
          <a:ln/>
        </p:spPr>
        <p:txBody>
          <a:bodyPr wrap="square" lIns="0" tIns="0" rIns="0" bIns="0" rtlCol="0" anchor="t"/>
          <a:lstStyle/>
          <a:p>
            <a:pPr indent="0" marL="0">
              <a:buNone/>
            </a:pPr>
            <a:r>
              <a:rPr lang="en-US" sz="1300" b="1" dirty="0">
                <a:solidFill>
                  <a:schemeClr val="tx1"/>
                </a:solidFill>
              </a:rPr>
              <a:t>Consent check</a:t>
            </a:r>
            <a:endParaRPr lang="en-US" sz="1300" dirty="0"/>
          </a:p>
        </p:txBody>
      </p:sp>
      <p:sp>
        <p:nvSpPr>
          <p:cNvPr id="9" name="Text 7"/>
          <p:cNvSpPr txBox="1"/>
          <p:nvPr/>
        </p:nvSpPr>
        <p:spPr>
          <a:xfrm>
            <a:off x="685800" y="2331720"/>
            <a:ext cx="1417320" cy="594360"/>
          </a:xfrm>
          <a:prstGeom prst="rect">
            <a:avLst/>
          </a:prstGeom>
          <a:noFill/>
          <a:ln/>
        </p:spPr>
        <p:txBody>
          <a:bodyPr wrap="square" lIns="0" tIns="0" rIns="0" bIns="0" rtlCol="0" anchor="t"/>
          <a:lstStyle/>
          <a:p>
            <a:pPr indent="0" marL="0">
              <a:buNone/>
            </a:pPr>
            <a:r>
              <a:rPr lang="en-US" sz="1100" dirty="0">
                <a:solidFill>
                  <a:srgbClr val="5B6478"/>
                </a:solidFill>
              </a:rPr>
              <a:t>Active consent or stop</a:t>
            </a:r>
            <a:endParaRPr lang="en-US" sz="1100" dirty="0"/>
          </a:p>
        </p:txBody>
      </p:sp>
      <p:pic>
        <p:nvPicPr>
          <p:cNvPr id="10" name="Image 0" descr="Next step">    </p:cNvPr>
          <p:cNvPicPr>
            <a:picLocks noChangeAspect="1"/>
          </p:cNvPicPr>
          <p:nvPr/>
        </p:nvPicPr>
        <p:blipFill>
          <a:blip r:embed="rId2"/>
          <a:stretch>
            <a:fillRect/>
          </a:stretch>
        </p:blipFill>
        <p:spPr>
          <a:xfrm>
            <a:off x="2233879" y="2130552"/>
            <a:ext cx="164592" cy="164592"/>
          </a:xfrm>
          <a:prstGeom prst="rect">
            <a:avLst/>
          </a:prstGeom>
        </p:spPr>
      </p:pic>
      <p:sp>
        <p:nvSpPr>
          <p:cNvPr id="11" name="Step card"/>
          <p:cNvSpPr/>
          <p:nvPr/>
        </p:nvSpPr>
        <p:spPr>
          <a:xfrm>
            <a:off x="2437790" y="1417320"/>
            <a:ext cx="1645920" cy="1600200"/>
          </a:xfrm>
          <a:prstGeom prst="roundRect">
            <a:avLst>
              <a:gd name="adj" fmla="val 5714"/>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2" name="Shape 9"/>
          <p:cNvSpPr/>
          <p:nvPr/>
        </p:nvSpPr>
        <p:spPr>
          <a:xfrm>
            <a:off x="2574950" y="1554480"/>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257495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1"/>
          <p:cNvSpPr txBox="1"/>
          <p:nvPr/>
        </p:nvSpPr>
        <p:spPr>
          <a:xfrm>
            <a:off x="2574950" y="2029968"/>
            <a:ext cx="1417320" cy="274320"/>
          </a:xfrm>
          <a:prstGeom prst="rect">
            <a:avLst/>
          </a:prstGeom>
          <a:noFill/>
          <a:ln/>
        </p:spPr>
        <p:txBody>
          <a:bodyPr wrap="square" lIns="0" tIns="0" rIns="0" bIns="0" rtlCol="0" anchor="t"/>
          <a:lstStyle/>
          <a:p>
            <a:pPr indent="0" marL="0">
              <a:buNone/>
            </a:pPr>
            <a:r>
              <a:rPr lang="en-US" sz="1300" b="1" dirty="0">
                <a:solidFill>
                  <a:schemeClr val="tx1"/>
                </a:solidFill>
              </a:rPr>
              <a:t>Safety guard</a:t>
            </a:r>
            <a:endParaRPr lang="en-US" sz="1300" dirty="0"/>
          </a:p>
        </p:txBody>
      </p:sp>
      <p:sp>
        <p:nvSpPr>
          <p:cNvPr id="15" name="Text 12"/>
          <p:cNvSpPr txBox="1"/>
          <p:nvPr/>
        </p:nvSpPr>
        <p:spPr>
          <a:xfrm>
            <a:off x="2574950" y="2331720"/>
            <a:ext cx="1417320" cy="594360"/>
          </a:xfrm>
          <a:prstGeom prst="rect">
            <a:avLst/>
          </a:prstGeom>
          <a:noFill/>
          <a:ln/>
        </p:spPr>
        <p:txBody>
          <a:bodyPr wrap="square" lIns="0" tIns="0" rIns="0" bIns="0" rtlCol="0" anchor="t"/>
          <a:lstStyle/>
          <a:p>
            <a:pPr indent="0" marL="0">
              <a:buNone/>
            </a:pPr>
            <a:r>
              <a:rPr lang="en-US" sz="1100" dirty="0">
                <a:solidFill>
                  <a:srgbClr val="5B6478"/>
                </a:solidFill>
              </a:rPr>
              <a:t>Injection and medication rule</a:t>
            </a:r>
            <a:endParaRPr lang="en-US" sz="1100" dirty="0"/>
          </a:p>
        </p:txBody>
      </p:sp>
      <p:pic>
        <p:nvPicPr>
          <p:cNvPr id="16" name="Image 1" descr="Next step">    </p:cNvPr>
          <p:cNvPicPr>
            <a:picLocks noChangeAspect="1"/>
          </p:cNvPicPr>
          <p:nvPr/>
        </p:nvPicPr>
        <p:blipFill>
          <a:blip r:embed="rId3"/>
          <a:stretch>
            <a:fillRect/>
          </a:stretch>
        </p:blipFill>
        <p:spPr>
          <a:xfrm>
            <a:off x="4123030" y="2130552"/>
            <a:ext cx="164592" cy="164592"/>
          </a:xfrm>
          <a:prstGeom prst="rect">
            <a:avLst/>
          </a:prstGeom>
        </p:spPr>
      </p:pic>
      <p:sp>
        <p:nvSpPr>
          <p:cNvPr id="17" name="Step card"/>
          <p:cNvSpPr/>
          <p:nvPr/>
        </p:nvSpPr>
        <p:spPr>
          <a:xfrm>
            <a:off x="4326941" y="1417320"/>
            <a:ext cx="1645920" cy="1600200"/>
          </a:xfrm>
          <a:prstGeom prst="roundRect">
            <a:avLst>
              <a:gd name="adj" fmla="val 5714"/>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8" name="Shape 14"/>
          <p:cNvSpPr/>
          <p:nvPr/>
        </p:nvSpPr>
        <p:spPr>
          <a:xfrm>
            <a:off x="4464101" y="1554480"/>
            <a:ext cx="384048" cy="384048"/>
          </a:xfrm>
          <a:prstGeom prst="ellipse">
            <a:avLst/>
          </a:prstGeom>
          <a:solidFill>
            <a:schemeClr val="accent1"/>
          </a:solidFill>
          <a:ln w="12700">
            <a:solidFill>
              <a:schemeClr val="accent1"/>
            </a:solidFill>
            <a:prstDash val="solid"/>
          </a:ln>
        </p:spPr>
      </p:sp>
      <p:sp>
        <p:nvSpPr>
          <p:cNvPr id="19" name="Text 15"/>
          <p:cNvSpPr txBox="1"/>
          <p:nvPr/>
        </p:nvSpPr>
        <p:spPr>
          <a:xfrm>
            <a:off x="4464101"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6"/>
          <p:cNvSpPr txBox="1"/>
          <p:nvPr/>
        </p:nvSpPr>
        <p:spPr>
          <a:xfrm>
            <a:off x="4464101" y="2029968"/>
            <a:ext cx="1417320" cy="274320"/>
          </a:xfrm>
          <a:prstGeom prst="rect">
            <a:avLst/>
          </a:prstGeom>
          <a:noFill/>
          <a:ln/>
        </p:spPr>
        <p:txBody>
          <a:bodyPr wrap="square" lIns="0" tIns="0" rIns="0" bIns="0" rtlCol="0" anchor="t"/>
          <a:lstStyle/>
          <a:p>
            <a:pPr indent="0" marL="0">
              <a:buNone/>
            </a:pPr>
            <a:r>
              <a:rPr lang="en-US" sz="1300" b="1" dirty="0">
                <a:solidFill>
                  <a:schemeClr val="tx1"/>
                </a:solidFill>
              </a:rPr>
              <a:t>Router</a:t>
            </a:r>
            <a:endParaRPr lang="en-US" sz="1300" dirty="0"/>
          </a:p>
        </p:txBody>
      </p:sp>
      <p:sp>
        <p:nvSpPr>
          <p:cNvPr id="21" name="Text 17"/>
          <p:cNvSpPr txBox="1"/>
          <p:nvPr/>
        </p:nvSpPr>
        <p:spPr>
          <a:xfrm>
            <a:off x="4464101" y="2331720"/>
            <a:ext cx="1417320" cy="594360"/>
          </a:xfrm>
          <a:prstGeom prst="rect">
            <a:avLst/>
          </a:prstGeom>
          <a:noFill/>
          <a:ln/>
        </p:spPr>
        <p:txBody>
          <a:bodyPr wrap="square" lIns="0" tIns="0" rIns="0" bIns="0" rtlCol="0" anchor="t"/>
          <a:lstStyle/>
          <a:p>
            <a:pPr indent="0" marL="0">
              <a:buNone/>
            </a:pPr>
            <a:r>
              <a:rPr lang="en-US" sz="1100" dirty="0">
                <a:solidFill>
                  <a:srgbClr val="5B6478"/>
                </a:solidFill>
              </a:rPr>
              <a:t>Education, readings, plan or staff</a:t>
            </a:r>
            <a:endParaRPr lang="en-US" sz="1100" dirty="0"/>
          </a:p>
        </p:txBody>
      </p:sp>
      <p:pic>
        <p:nvPicPr>
          <p:cNvPr id="22" name="Image 2" descr="Next step">    </p:cNvPr>
          <p:cNvPicPr>
            <a:picLocks noChangeAspect="1"/>
          </p:cNvPicPr>
          <p:nvPr/>
        </p:nvPicPr>
        <p:blipFill>
          <a:blip r:embed="rId4"/>
          <a:stretch>
            <a:fillRect/>
          </a:stretch>
        </p:blipFill>
        <p:spPr>
          <a:xfrm>
            <a:off x="6012180" y="2130552"/>
            <a:ext cx="164592" cy="164592"/>
          </a:xfrm>
          <a:prstGeom prst="rect">
            <a:avLst/>
          </a:prstGeom>
        </p:spPr>
      </p:pic>
      <p:sp>
        <p:nvSpPr>
          <p:cNvPr id="23" name="Step card"/>
          <p:cNvSpPr/>
          <p:nvPr/>
        </p:nvSpPr>
        <p:spPr>
          <a:xfrm>
            <a:off x="6216091" y="1417320"/>
            <a:ext cx="1645920" cy="1600200"/>
          </a:xfrm>
          <a:prstGeom prst="roundRect">
            <a:avLst>
              <a:gd name="adj" fmla="val 5714"/>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4" name="Shape 19"/>
          <p:cNvSpPr/>
          <p:nvPr/>
        </p:nvSpPr>
        <p:spPr>
          <a:xfrm>
            <a:off x="6353251" y="1554480"/>
            <a:ext cx="384048" cy="384048"/>
          </a:xfrm>
          <a:prstGeom prst="ellipse">
            <a:avLst/>
          </a:prstGeom>
          <a:solidFill>
            <a:schemeClr val="accent1"/>
          </a:solidFill>
          <a:ln w="12700">
            <a:solidFill>
              <a:schemeClr val="accent1"/>
            </a:solidFill>
            <a:prstDash val="solid"/>
          </a:ln>
        </p:spPr>
      </p:sp>
      <p:sp>
        <p:nvSpPr>
          <p:cNvPr id="25" name="Text 20"/>
          <p:cNvSpPr txBox="1"/>
          <p:nvPr/>
        </p:nvSpPr>
        <p:spPr>
          <a:xfrm>
            <a:off x="6353251"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6" name="Text 21"/>
          <p:cNvSpPr txBox="1"/>
          <p:nvPr/>
        </p:nvSpPr>
        <p:spPr>
          <a:xfrm>
            <a:off x="6353251" y="2029968"/>
            <a:ext cx="1417320" cy="274320"/>
          </a:xfrm>
          <a:prstGeom prst="rect">
            <a:avLst/>
          </a:prstGeom>
          <a:noFill/>
          <a:ln/>
        </p:spPr>
        <p:txBody>
          <a:bodyPr wrap="square" lIns="0" tIns="0" rIns="0" bIns="0" rtlCol="0" anchor="t"/>
          <a:lstStyle/>
          <a:p>
            <a:pPr indent="0" marL="0">
              <a:buNone/>
            </a:pPr>
            <a:r>
              <a:rPr lang="en-US" sz="1300" b="1" dirty="0">
                <a:solidFill>
                  <a:schemeClr val="tx1"/>
                </a:solidFill>
              </a:rPr>
              <a:t>Facts and rules</a:t>
            </a:r>
            <a:endParaRPr lang="en-US" sz="1300" dirty="0"/>
          </a:p>
        </p:txBody>
      </p:sp>
      <p:sp>
        <p:nvSpPr>
          <p:cNvPr id="27" name="Text 22"/>
          <p:cNvSpPr txBox="1"/>
          <p:nvPr/>
        </p:nvSpPr>
        <p:spPr>
          <a:xfrm>
            <a:off x="6353251" y="2331720"/>
            <a:ext cx="1417320" cy="594360"/>
          </a:xfrm>
          <a:prstGeom prst="rect">
            <a:avLst/>
          </a:prstGeom>
          <a:noFill/>
          <a:ln/>
        </p:spPr>
        <p:txBody>
          <a:bodyPr wrap="square" lIns="0" tIns="0" rIns="0" bIns="0" rtlCol="0" anchor="t"/>
          <a:lstStyle/>
          <a:p>
            <a:pPr indent="0" marL="0">
              <a:buNone/>
            </a:pPr>
            <a:r>
              <a:rPr lang="en-US" sz="1100" dirty="0">
                <a:solidFill>
                  <a:srgbClr val="5B6478"/>
                </a:solidFill>
              </a:rPr>
              <a:t>Code reads data, applies ER-502 and ER-504</a:t>
            </a:r>
            <a:endParaRPr lang="en-US" sz="1100" dirty="0"/>
          </a:p>
        </p:txBody>
      </p:sp>
      <p:pic>
        <p:nvPicPr>
          <p:cNvPr id="28" name="Image 3" descr="Next step">    </p:cNvPr>
          <p:cNvPicPr>
            <a:picLocks noChangeAspect="1"/>
          </p:cNvPicPr>
          <p:nvPr/>
        </p:nvPicPr>
        <p:blipFill>
          <a:blip r:embed="rId5"/>
          <a:stretch>
            <a:fillRect/>
          </a:stretch>
        </p:blipFill>
        <p:spPr>
          <a:xfrm>
            <a:off x="7901330" y="2130552"/>
            <a:ext cx="164592" cy="164592"/>
          </a:xfrm>
          <a:prstGeom prst="rect">
            <a:avLst/>
          </a:prstGeom>
        </p:spPr>
      </p:pic>
      <p:sp>
        <p:nvSpPr>
          <p:cNvPr id="29" name="Step card"/>
          <p:cNvSpPr/>
          <p:nvPr/>
        </p:nvSpPr>
        <p:spPr>
          <a:xfrm>
            <a:off x="8105242" y="1417320"/>
            <a:ext cx="1645920" cy="1600200"/>
          </a:xfrm>
          <a:prstGeom prst="roundRect">
            <a:avLst>
              <a:gd name="adj" fmla="val 5714"/>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30" name="Shape 24"/>
          <p:cNvSpPr/>
          <p:nvPr/>
        </p:nvSpPr>
        <p:spPr>
          <a:xfrm>
            <a:off x="8242402" y="1554480"/>
            <a:ext cx="384048" cy="384048"/>
          </a:xfrm>
          <a:prstGeom prst="ellipse">
            <a:avLst/>
          </a:prstGeom>
          <a:solidFill>
            <a:schemeClr val="accent1"/>
          </a:solidFill>
          <a:ln w="12700">
            <a:solidFill>
              <a:schemeClr val="accent1"/>
            </a:solidFill>
            <a:prstDash val="solid"/>
          </a:ln>
        </p:spPr>
      </p:sp>
      <p:sp>
        <p:nvSpPr>
          <p:cNvPr id="31" name="Text 25"/>
          <p:cNvSpPr txBox="1"/>
          <p:nvPr/>
        </p:nvSpPr>
        <p:spPr>
          <a:xfrm>
            <a:off x="8242402"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2" name="Text 26"/>
          <p:cNvSpPr txBox="1"/>
          <p:nvPr/>
        </p:nvSpPr>
        <p:spPr>
          <a:xfrm>
            <a:off x="8242402" y="2029968"/>
            <a:ext cx="1417320" cy="274320"/>
          </a:xfrm>
          <a:prstGeom prst="rect">
            <a:avLst/>
          </a:prstGeom>
          <a:noFill/>
          <a:ln/>
        </p:spPr>
        <p:txBody>
          <a:bodyPr wrap="square" lIns="0" tIns="0" rIns="0" bIns="0" rtlCol="0" anchor="t"/>
          <a:lstStyle/>
          <a:p>
            <a:pPr indent="0" marL="0">
              <a:buNone/>
            </a:pPr>
            <a:r>
              <a:rPr lang="en-US" sz="1300" b="1" dirty="0">
                <a:solidFill>
                  <a:schemeClr val="tx1"/>
                </a:solidFill>
              </a:rPr>
              <a:t>Specialist agent</a:t>
            </a:r>
            <a:endParaRPr lang="en-US" sz="1300" dirty="0"/>
          </a:p>
        </p:txBody>
      </p:sp>
      <p:sp>
        <p:nvSpPr>
          <p:cNvPr id="33" name="Text 27"/>
          <p:cNvSpPr txBox="1"/>
          <p:nvPr/>
        </p:nvSpPr>
        <p:spPr>
          <a:xfrm>
            <a:off x="8242402" y="2331720"/>
            <a:ext cx="1417320" cy="594360"/>
          </a:xfrm>
          <a:prstGeom prst="rect">
            <a:avLst/>
          </a:prstGeom>
          <a:noFill/>
          <a:ln/>
        </p:spPr>
        <p:txBody>
          <a:bodyPr wrap="square" lIns="0" tIns="0" rIns="0" bIns="0" rtlCol="0" anchor="t"/>
          <a:lstStyle/>
          <a:p>
            <a:pPr indent="0" marL="0">
              <a:buNone/>
            </a:pPr>
            <a:r>
              <a:rPr lang="en-US" sz="1100" dirty="0">
                <a:solidFill>
                  <a:srgbClr val="5B6478"/>
                </a:solidFill>
              </a:rPr>
              <a:t>Words the answer from the facts</a:t>
            </a:r>
            <a:endParaRPr lang="en-US" sz="1100" dirty="0"/>
          </a:p>
        </p:txBody>
      </p:sp>
      <p:pic>
        <p:nvPicPr>
          <p:cNvPr id="34" name="Image 4" descr="Next step">    </p:cNvPr>
          <p:cNvPicPr>
            <a:picLocks noChangeAspect="1"/>
          </p:cNvPicPr>
          <p:nvPr/>
        </p:nvPicPr>
        <p:blipFill>
          <a:blip r:embed="rId6"/>
          <a:stretch>
            <a:fillRect/>
          </a:stretch>
        </p:blipFill>
        <p:spPr>
          <a:xfrm>
            <a:off x="9790481" y="2130552"/>
            <a:ext cx="164592" cy="164592"/>
          </a:xfrm>
          <a:prstGeom prst="rect">
            <a:avLst/>
          </a:prstGeom>
        </p:spPr>
      </p:pic>
      <p:sp>
        <p:nvSpPr>
          <p:cNvPr id="35" name="Step card"/>
          <p:cNvSpPr/>
          <p:nvPr/>
        </p:nvSpPr>
        <p:spPr>
          <a:xfrm>
            <a:off x="9994392" y="1417320"/>
            <a:ext cx="1645920" cy="1600200"/>
          </a:xfrm>
          <a:prstGeom prst="roundRect">
            <a:avLst>
              <a:gd name="adj" fmla="val 5714"/>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36" name="Shape 29"/>
          <p:cNvSpPr/>
          <p:nvPr/>
        </p:nvSpPr>
        <p:spPr>
          <a:xfrm>
            <a:off x="10131552" y="1554480"/>
            <a:ext cx="384048" cy="384048"/>
          </a:xfrm>
          <a:prstGeom prst="ellipse">
            <a:avLst/>
          </a:prstGeom>
          <a:solidFill>
            <a:schemeClr val="accent1"/>
          </a:solidFill>
          <a:ln w="12700">
            <a:solidFill>
              <a:schemeClr val="accent1"/>
            </a:solidFill>
            <a:prstDash val="solid"/>
          </a:ln>
        </p:spPr>
      </p:sp>
      <p:sp>
        <p:nvSpPr>
          <p:cNvPr id="37" name="Text 30"/>
          <p:cNvSpPr txBox="1"/>
          <p:nvPr/>
        </p:nvSpPr>
        <p:spPr>
          <a:xfrm>
            <a:off x="10131552"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8" name="Text 31"/>
          <p:cNvSpPr txBox="1"/>
          <p:nvPr/>
        </p:nvSpPr>
        <p:spPr>
          <a:xfrm>
            <a:off x="10131552" y="2029968"/>
            <a:ext cx="1417320" cy="274320"/>
          </a:xfrm>
          <a:prstGeom prst="rect">
            <a:avLst/>
          </a:prstGeom>
          <a:noFill/>
          <a:ln/>
        </p:spPr>
        <p:txBody>
          <a:bodyPr wrap="square" lIns="0" tIns="0" rIns="0" bIns="0" rtlCol="0" anchor="t"/>
          <a:lstStyle/>
          <a:p>
            <a:pPr indent="0" marL="0">
              <a:buNone/>
            </a:pPr>
            <a:r>
              <a:rPr lang="en-US" sz="1300" b="1" dirty="0">
                <a:solidFill>
                  <a:schemeClr val="tx1"/>
                </a:solidFill>
              </a:rPr>
              <a:t>Outputs</a:t>
            </a:r>
            <a:endParaRPr lang="en-US" sz="1300" dirty="0"/>
          </a:p>
        </p:txBody>
      </p:sp>
      <p:sp>
        <p:nvSpPr>
          <p:cNvPr id="39" name="Text 32"/>
          <p:cNvSpPr txBox="1"/>
          <p:nvPr/>
        </p:nvSpPr>
        <p:spPr>
          <a:xfrm>
            <a:off x="10131552" y="2331720"/>
            <a:ext cx="1417320" cy="594360"/>
          </a:xfrm>
          <a:prstGeom prst="rect">
            <a:avLst/>
          </a:prstGeom>
          <a:noFill/>
          <a:ln/>
        </p:spPr>
        <p:txBody>
          <a:bodyPr wrap="square" lIns="0" tIns="0" rIns="0" bIns="0" rtlCol="0" anchor="t"/>
          <a:lstStyle/>
          <a:p>
            <a:pPr indent="0" marL="0">
              <a:buNone/>
            </a:pPr>
            <a:r>
              <a:rPr lang="en-US" sz="1100" dirty="0">
                <a:solidFill>
                  <a:srgbClr val="5B6478"/>
                </a:solidFill>
              </a:rPr>
              <a:t>Member view, staff packet, audit</a:t>
            </a:r>
            <a:endParaRPr lang="en-US" sz="1100" dirty="0"/>
          </a:p>
        </p:txBody>
      </p:sp>
      <p:sp>
        <p:nvSpPr>
          <p:cNvPr id="40" name="Checkpoint tag"/>
          <p:cNvSpPr/>
          <p:nvPr/>
        </p:nvSpPr>
        <p:spPr>
          <a:xfrm>
            <a:off x="548640" y="3154680"/>
            <a:ext cx="1645920" cy="502920"/>
          </a:xfrm>
          <a:prstGeom prst="roundRect">
            <a:avLst>
              <a:gd name="adj" fmla="val 18182"/>
            </a:avLst>
          </a:prstGeom>
          <a:solidFill>
            <a:srgbClr val="E5484D"/>
          </a:solidFill>
          <a:ln w="12700">
            <a:solidFill>
              <a:srgbClr val="E5484D"/>
            </a:solidFill>
            <a:prstDash val="solid"/>
          </a:ln>
        </p:spPr>
      </p:sp>
      <p:sp>
        <p:nvSpPr>
          <p:cNvPr id="41" name="Text 34"/>
          <p:cNvSpPr txBox="1"/>
          <p:nvPr/>
        </p:nvSpPr>
        <p:spPr>
          <a:xfrm>
            <a:off x="621792" y="3154680"/>
            <a:ext cx="1499616" cy="502920"/>
          </a:xfrm>
          <a:prstGeom prst="rect">
            <a:avLst/>
          </a:prstGeom>
          <a:noFill/>
          <a:ln/>
        </p:spPr>
        <p:txBody>
          <a:bodyPr wrap="square" lIns="0" tIns="0" rIns="0" bIns="0" rtlCol="0" anchor="ctr"/>
          <a:lstStyle/>
          <a:p>
            <a:pPr algn="ctr" indent="0" marL="0">
              <a:buNone/>
            </a:pPr>
            <a:r>
              <a:rPr lang="en-US" sz="1000" b="1" dirty="0">
                <a:solidFill>
                  <a:srgbClr val="FFFFFF"/>
                </a:solidFill>
              </a:rPr>
              <a:t>STOP → staff</a:t>
            </a:r>
            <a:endParaRPr lang="en-US" sz="1000" dirty="0"/>
          </a:p>
          <a:p>
            <a:pPr algn="ctr" indent="0" marL="0">
              <a:buNone/>
            </a:pPr>
            <a:r>
              <a:rPr lang="en-US" sz="1000" b="1" dirty="0">
                <a:solidFill>
                  <a:srgbClr val="FFFFFF"/>
                </a:solidFill>
              </a:rPr>
              <a:t>ER-501</a:t>
            </a:r>
            <a:endParaRPr lang="en-US" sz="1000" dirty="0"/>
          </a:p>
        </p:txBody>
      </p:sp>
      <p:sp>
        <p:nvSpPr>
          <p:cNvPr id="42" name="Checkpoint tag"/>
          <p:cNvSpPr/>
          <p:nvPr/>
        </p:nvSpPr>
        <p:spPr>
          <a:xfrm>
            <a:off x="2437790" y="3154680"/>
            <a:ext cx="1645920" cy="502920"/>
          </a:xfrm>
          <a:prstGeom prst="roundRect">
            <a:avLst>
              <a:gd name="adj" fmla="val 18182"/>
            </a:avLst>
          </a:prstGeom>
          <a:solidFill>
            <a:srgbClr val="E5484D"/>
          </a:solidFill>
          <a:ln w="12700">
            <a:solidFill>
              <a:srgbClr val="E5484D"/>
            </a:solidFill>
            <a:prstDash val="solid"/>
          </a:ln>
        </p:spPr>
      </p:sp>
      <p:sp>
        <p:nvSpPr>
          <p:cNvPr id="43" name="Text 36"/>
          <p:cNvSpPr txBox="1"/>
          <p:nvPr/>
        </p:nvSpPr>
        <p:spPr>
          <a:xfrm>
            <a:off x="2510942" y="3154680"/>
            <a:ext cx="1499616" cy="502920"/>
          </a:xfrm>
          <a:prstGeom prst="rect">
            <a:avLst/>
          </a:prstGeom>
          <a:noFill/>
          <a:ln/>
        </p:spPr>
        <p:txBody>
          <a:bodyPr wrap="square" lIns="0" tIns="0" rIns="0" bIns="0" rtlCol="0" anchor="ctr"/>
          <a:lstStyle/>
          <a:p>
            <a:pPr algn="ctr" indent="0" marL="0">
              <a:buNone/>
            </a:pPr>
            <a:r>
              <a:rPr lang="en-US" sz="1000" b="1" dirty="0">
                <a:solidFill>
                  <a:srgbClr val="FFFFFF"/>
                </a:solidFill>
              </a:rPr>
              <a:t>DECLINE → clinician</a:t>
            </a:r>
            <a:endParaRPr lang="en-US" sz="1000" dirty="0"/>
          </a:p>
          <a:p>
            <a:pPr algn="ctr" indent="0" marL="0">
              <a:buNone/>
            </a:pPr>
            <a:r>
              <a:rPr lang="en-US" sz="1000" b="1" dirty="0">
                <a:solidFill>
                  <a:srgbClr val="FFFFFF"/>
                </a:solidFill>
              </a:rPr>
              <a:t>ER-503</a:t>
            </a:r>
            <a:endParaRPr lang="en-US" sz="1000" dirty="0"/>
          </a:p>
        </p:txBody>
      </p:sp>
      <p:sp>
        <p:nvSpPr>
          <p:cNvPr id="44" name="Checkpoint tag"/>
          <p:cNvSpPr/>
          <p:nvPr/>
        </p:nvSpPr>
        <p:spPr>
          <a:xfrm>
            <a:off x="6216091" y="3154680"/>
            <a:ext cx="1645920" cy="502920"/>
          </a:xfrm>
          <a:prstGeom prst="roundRect">
            <a:avLst>
              <a:gd name="adj" fmla="val 18182"/>
            </a:avLst>
          </a:prstGeom>
          <a:solidFill>
            <a:srgbClr val="F5A524"/>
          </a:solidFill>
          <a:ln w="12700">
            <a:solidFill>
              <a:srgbClr val="F5A524"/>
            </a:solidFill>
            <a:prstDash val="solid"/>
          </a:ln>
        </p:spPr>
      </p:sp>
      <p:sp>
        <p:nvSpPr>
          <p:cNvPr id="45" name="Text 38"/>
          <p:cNvSpPr txBox="1"/>
          <p:nvPr/>
        </p:nvSpPr>
        <p:spPr>
          <a:xfrm>
            <a:off x="6289243" y="3154680"/>
            <a:ext cx="1499616" cy="502920"/>
          </a:xfrm>
          <a:prstGeom prst="rect">
            <a:avLst/>
          </a:prstGeom>
          <a:noFill/>
          <a:ln/>
        </p:spPr>
        <p:txBody>
          <a:bodyPr wrap="square" lIns="0" tIns="0" rIns="0" bIns="0" rtlCol="0" anchor="ctr"/>
          <a:lstStyle/>
          <a:p>
            <a:pPr algn="ctr" indent="0" marL="0">
              <a:buNone/>
            </a:pPr>
            <a:r>
              <a:rPr lang="en-US" sz="1000" b="1" dirty="0">
                <a:solidFill>
                  <a:srgbClr val="1F2937"/>
                </a:solidFill>
              </a:rPr>
              <a:t>→ STAFF QUEUE</a:t>
            </a:r>
            <a:endParaRPr lang="en-US" sz="1000" dirty="0"/>
          </a:p>
          <a:p>
            <a:pPr algn="ctr" indent="0" marL="0">
              <a:buNone/>
            </a:pPr>
            <a:r>
              <a:rPr lang="en-US" sz="1000" b="1" dirty="0">
                <a:solidFill>
                  <a:srgbClr val="1F2937"/>
                </a:solidFill>
              </a:rPr>
              <a:t>ER-502, ER-504</a:t>
            </a:r>
            <a:endParaRPr lang="en-US" sz="1000" dirty="0"/>
          </a:p>
        </p:txBody>
      </p:sp>
      <p:sp>
        <p:nvSpPr>
          <p:cNvPr id="46" name="Checkpoint tag"/>
          <p:cNvSpPr/>
          <p:nvPr/>
        </p:nvSpPr>
        <p:spPr>
          <a:xfrm>
            <a:off x="9994392" y="3154680"/>
            <a:ext cx="1645920" cy="502920"/>
          </a:xfrm>
          <a:prstGeom prst="roundRect">
            <a:avLst>
              <a:gd name="adj" fmla="val 18182"/>
            </a:avLst>
          </a:prstGeom>
          <a:solidFill>
            <a:srgbClr val="12A36B"/>
          </a:solidFill>
          <a:ln w="12700">
            <a:solidFill>
              <a:srgbClr val="12A36B"/>
            </a:solidFill>
            <a:prstDash val="solid"/>
          </a:ln>
        </p:spPr>
      </p:sp>
      <p:sp>
        <p:nvSpPr>
          <p:cNvPr id="47" name="Text 40"/>
          <p:cNvSpPr txBox="1"/>
          <p:nvPr/>
        </p:nvSpPr>
        <p:spPr>
          <a:xfrm>
            <a:off x="10067544" y="3154680"/>
            <a:ext cx="1499616" cy="502920"/>
          </a:xfrm>
          <a:prstGeom prst="rect">
            <a:avLst/>
          </a:prstGeom>
          <a:noFill/>
          <a:ln/>
        </p:spPr>
        <p:txBody>
          <a:bodyPr wrap="square" lIns="0" tIns="0" rIns="0" bIns="0" rtlCol="0" anchor="ctr"/>
          <a:lstStyle/>
          <a:p>
            <a:pPr algn="ctr" indent="0" marL="0">
              <a:buNone/>
            </a:pPr>
            <a:r>
              <a:rPr lang="en-US" sz="1000" b="1" dirty="0">
                <a:solidFill>
                  <a:srgbClr val="FFFFFF"/>
                </a:solidFill>
              </a:rPr>
              <a:t>SEPARATE VIEWS</a:t>
            </a:r>
            <a:endParaRPr lang="en-US" sz="1000" dirty="0"/>
          </a:p>
        </p:txBody>
      </p:sp>
      <p:sp>
        <p:nvSpPr>
          <p:cNvPr id="48" name="Text 41"/>
          <p:cNvSpPr txBox="1"/>
          <p:nvPr/>
        </p:nvSpPr>
        <p:spPr>
          <a:xfrm>
            <a:off x="548640" y="3886200"/>
            <a:ext cx="7315200" cy="274320"/>
          </a:xfrm>
          <a:prstGeom prst="rect">
            <a:avLst/>
          </a:prstGeom>
          <a:noFill/>
          <a:ln/>
        </p:spPr>
        <p:txBody>
          <a:bodyPr wrap="square" lIns="0" tIns="0" rIns="0" bIns="0" rtlCol="0" anchor="t"/>
          <a:lstStyle/>
          <a:p>
            <a:pPr indent="0" marL="0">
              <a:buNone/>
            </a:pPr>
            <a:r>
              <a:rPr lang="en-US" sz="1400" b="1" dirty="0">
                <a:solidFill>
                  <a:srgbClr val="5B6478"/>
                </a:solidFill>
              </a:rPr>
              <a:t>Every case produces three separate outputs</a:t>
            </a:r>
            <a:endParaRPr lang="en-US" sz="1400" dirty="0"/>
          </a:p>
        </p:txBody>
      </p:sp>
      <p:sp>
        <p:nvSpPr>
          <p:cNvPr id="49" name="Output card"/>
          <p:cNvSpPr/>
          <p:nvPr/>
        </p:nvSpPr>
        <p:spPr>
          <a:xfrm>
            <a:off x="548640" y="4251960"/>
            <a:ext cx="3566160" cy="1828800"/>
          </a:xfrm>
          <a:prstGeom prst="roundRect">
            <a:avLst>
              <a:gd name="adj" fmla="val 50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50" name="IconCircle"/>
          <p:cNvSpPr/>
          <p:nvPr/>
        </p:nvSpPr>
        <p:spPr>
          <a:xfrm>
            <a:off x="777240" y="4462272"/>
            <a:ext cx="502920" cy="502920"/>
          </a:xfrm>
          <a:prstGeom prst="ellipse">
            <a:avLst/>
          </a:prstGeom>
          <a:solidFill>
            <a:srgbClr val="1547C8"/>
          </a:solidFill>
          <a:ln w="12700">
            <a:solidFill>
              <a:srgbClr val="1547C8"/>
            </a:solidFill>
            <a:prstDash val="solid"/>
          </a:ln>
        </p:spPr>
      </p:sp>
      <p:pic>
        <p:nvPicPr>
          <p:cNvPr id="51" name="Image 5" descr="UserMd icon">    </p:cNvPr>
          <p:cNvPicPr>
            <a:picLocks noChangeAspect="1"/>
          </p:cNvPicPr>
          <p:nvPr/>
        </p:nvPicPr>
        <p:blipFill>
          <a:blip r:embed="rId7"/>
          <a:stretch>
            <a:fillRect/>
          </a:stretch>
        </p:blipFill>
        <p:spPr>
          <a:xfrm>
            <a:off x="902970" y="4588002"/>
            <a:ext cx="251460" cy="251460"/>
          </a:xfrm>
          <a:prstGeom prst="rect">
            <a:avLst/>
          </a:prstGeom>
        </p:spPr>
      </p:pic>
      <p:sp>
        <p:nvSpPr>
          <p:cNvPr id="52" name="Text 44"/>
          <p:cNvSpPr txBox="1"/>
          <p:nvPr/>
        </p:nvSpPr>
        <p:spPr>
          <a:xfrm>
            <a:off x="1463040" y="4462272"/>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Member view</a:t>
            </a:r>
            <a:endParaRPr lang="en-US" sz="1500" dirty="0"/>
          </a:p>
        </p:txBody>
      </p:sp>
      <p:sp>
        <p:nvSpPr>
          <p:cNvPr id="53" name="Text 45"/>
          <p:cNvSpPr txBox="1"/>
          <p:nvPr/>
        </p:nvSpPr>
        <p:spPr>
          <a:xfrm>
            <a:off x="777240" y="5138928"/>
            <a:ext cx="3108960" cy="868680"/>
          </a:xfrm>
          <a:prstGeom prst="rect">
            <a:avLst/>
          </a:prstGeom>
          <a:noFill/>
          <a:ln/>
        </p:spPr>
        <p:txBody>
          <a:bodyPr wrap="square" lIns="0" tIns="0" rIns="0" bIns="0" rtlCol="0" anchor="t"/>
          <a:lstStyle/>
          <a:p>
            <a:pPr indent="0" marL="0">
              <a:buNone/>
            </a:pPr>
            <a:r>
              <a:rPr lang="en-US" sz="1200" dirty="0">
                <a:solidFill>
                  <a:srgbClr val="5B6478"/>
                </a:solidFill>
              </a:rPr>
              <a:t>Plain-language answer, due plan items, source IDs, the disclaimer and next-step guidance.</a:t>
            </a:r>
            <a:endParaRPr lang="en-US" sz="1200" dirty="0"/>
          </a:p>
        </p:txBody>
      </p:sp>
      <p:sp>
        <p:nvSpPr>
          <p:cNvPr id="54" name="Output card"/>
          <p:cNvSpPr/>
          <p:nvPr/>
        </p:nvSpPr>
        <p:spPr>
          <a:xfrm>
            <a:off x="4311396" y="4251960"/>
            <a:ext cx="3566160" cy="1828800"/>
          </a:xfrm>
          <a:prstGeom prst="roundRect">
            <a:avLst>
              <a:gd name="adj" fmla="val 50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55" name="IconCircle"/>
          <p:cNvSpPr/>
          <p:nvPr/>
        </p:nvSpPr>
        <p:spPr>
          <a:xfrm>
            <a:off x="4539996" y="4462272"/>
            <a:ext cx="502920" cy="502920"/>
          </a:xfrm>
          <a:prstGeom prst="ellipse">
            <a:avLst/>
          </a:prstGeom>
          <a:solidFill>
            <a:srgbClr val="0A1F5C"/>
          </a:solidFill>
          <a:ln w="12700">
            <a:solidFill>
              <a:srgbClr val="0A1F5C"/>
            </a:solidFill>
            <a:prstDash val="solid"/>
          </a:ln>
        </p:spPr>
      </p:sp>
      <p:pic>
        <p:nvPicPr>
          <p:cNvPr id="56" name="Image 6" descr="ClipboardList icon">    </p:cNvPr>
          <p:cNvPicPr>
            <a:picLocks noChangeAspect="1"/>
          </p:cNvPicPr>
          <p:nvPr/>
        </p:nvPicPr>
        <p:blipFill>
          <a:blip r:embed="rId8"/>
          <a:stretch>
            <a:fillRect/>
          </a:stretch>
        </p:blipFill>
        <p:spPr>
          <a:xfrm>
            <a:off x="4665726" y="4588002"/>
            <a:ext cx="251460" cy="251460"/>
          </a:xfrm>
          <a:prstGeom prst="rect">
            <a:avLst/>
          </a:prstGeom>
        </p:spPr>
      </p:pic>
      <p:sp>
        <p:nvSpPr>
          <p:cNvPr id="57" name="Text 48"/>
          <p:cNvSpPr txBox="1"/>
          <p:nvPr/>
        </p:nvSpPr>
        <p:spPr>
          <a:xfrm>
            <a:off x="5225796" y="4462272"/>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Staff packet</a:t>
            </a:r>
            <a:endParaRPr lang="en-US" sz="1500" dirty="0"/>
          </a:p>
        </p:txBody>
      </p:sp>
      <p:sp>
        <p:nvSpPr>
          <p:cNvPr id="58" name="Text 49"/>
          <p:cNvSpPr txBox="1"/>
          <p:nvPr/>
        </p:nvSpPr>
        <p:spPr>
          <a:xfrm>
            <a:off x="4539996" y="5138928"/>
            <a:ext cx="3108960" cy="868680"/>
          </a:xfrm>
          <a:prstGeom prst="rect">
            <a:avLst/>
          </a:prstGeom>
          <a:noFill/>
          <a:ln/>
        </p:spPr>
        <p:txBody>
          <a:bodyPr wrap="square" lIns="0" tIns="0" rIns="0" bIns="0" rtlCol="0" anchor="t"/>
          <a:lstStyle/>
          <a:p>
            <a:pPr indent="0" marL="0">
              <a:buNone/>
            </a:pPr>
            <a:r>
              <a:rPr lang="en-US" sz="1200" dirty="0">
                <a:solidFill>
                  <a:srgbClr val="5B6478"/>
                </a:solidFill>
              </a:rPr>
              <a:t>Member ID, readings used, due actions, sources, rule IDs and the escalation reason.</a:t>
            </a:r>
            <a:endParaRPr lang="en-US" sz="1200" dirty="0"/>
          </a:p>
        </p:txBody>
      </p:sp>
      <p:sp>
        <p:nvSpPr>
          <p:cNvPr id="59" name="Output card"/>
          <p:cNvSpPr/>
          <p:nvPr/>
        </p:nvSpPr>
        <p:spPr>
          <a:xfrm>
            <a:off x="8074152" y="4251960"/>
            <a:ext cx="3566160" cy="1828800"/>
          </a:xfrm>
          <a:prstGeom prst="roundRect">
            <a:avLst>
              <a:gd name="adj" fmla="val 50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0" name="IconCircle"/>
          <p:cNvSpPr/>
          <p:nvPr/>
        </p:nvSpPr>
        <p:spPr>
          <a:xfrm>
            <a:off x="8302752" y="4462272"/>
            <a:ext cx="502920" cy="502920"/>
          </a:xfrm>
          <a:prstGeom prst="ellipse">
            <a:avLst/>
          </a:prstGeom>
          <a:solidFill>
            <a:srgbClr val="12A36B"/>
          </a:solidFill>
          <a:ln w="12700">
            <a:solidFill>
              <a:srgbClr val="12A36B"/>
            </a:solidFill>
            <a:prstDash val="solid"/>
          </a:ln>
        </p:spPr>
      </p:sp>
      <p:pic>
        <p:nvPicPr>
          <p:cNvPr id="61" name="Image 7" descr="ShieldAlt icon">    </p:cNvPr>
          <p:cNvPicPr>
            <a:picLocks noChangeAspect="1"/>
          </p:cNvPicPr>
          <p:nvPr/>
        </p:nvPicPr>
        <p:blipFill>
          <a:blip r:embed="rId9"/>
          <a:stretch>
            <a:fillRect/>
          </a:stretch>
        </p:blipFill>
        <p:spPr>
          <a:xfrm>
            <a:off x="8428482" y="4588002"/>
            <a:ext cx="251460" cy="251460"/>
          </a:xfrm>
          <a:prstGeom prst="rect">
            <a:avLst/>
          </a:prstGeom>
        </p:spPr>
      </p:pic>
      <p:sp>
        <p:nvSpPr>
          <p:cNvPr id="62" name="Text 52"/>
          <p:cNvSpPr txBox="1"/>
          <p:nvPr/>
        </p:nvSpPr>
        <p:spPr>
          <a:xfrm>
            <a:off x="8988552" y="4462272"/>
            <a:ext cx="2468880" cy="502920"/>
          </a:xfrm>
          <a:prstGeom prst="rect">
            <a:avLst/>
          </a:prstGeom>
          <a:noFill/>
          <a:ln/>
        </p:spPr>
        <p:txBody>
          <a:bodyPr wrap="square" lIns="0" tIns="0" rIns="0" bIns="0" rtlCol="0" anchor="ctr"/>
          <a:lstStyle/>
          <a:p>
            <a:pPr indent="0" marL="0">
              <a:buNone/>
            </a:pPr>
            <a:r>
              <a:rPr lang="en-US" sz="1500" b="1" dirty="0">
                <a:solidFill>
                  <a:schemeClr val="tx1"/>
                </a:solidFill>
              </a:rPr>
              <a:t>Audit record</a:t>
            </a:r>
            <a:endParaRPr lang="en-US" sz="1500" dirty="0"/>
          </a:p>
        </p:txBody>
      </p:sp>
      <p:sp>
        <p:nvSpPr>
          <p:cNvPr id="63" name="Text 53"/>
          <p:cNvSpPr txBox="1"/>
          <p:nvPr/>
        </p:nvSpPr>
        <p:spPr>
          <a:xfrm>
            <a:off x="8302752" y="5138928"/>
            <a:ext cx="3108960" cy="868680"/>
          </a:xfrm>
          <a:prstGeom prst="rect">
            <a:avLst/>
          </a:prstGeom>
          <a:noFill/>
          <a:ln/>
        </p:spPr>
        <p:txBody>
          <a:bodyPr wrap="square" lIns="0" tIns="0" rIns="0" bIns="0" rtlCol="0" anchor="t"/>
          <a:lstStyle/>
          <a:p>
            <a:pPr indent="0" marL="0">
              <a:buNone/>
            </a:pPr>
            <a:r>
              <a:rPr lang="en-US" sz="1200" dirty="0">
                <a:solidFill>
                  <a:srgbClr val="5B6478"/>
                </a:solidFill>
              </a:rPr>
              <a:t>Consent result, agents called, rule IDs, source versions. Masked ID, no message text.</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03  ·  KNOWLEDGE AND RAG</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RAG: grounded answers, or an honest gap</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Pipeline card"/>
          <p:cNvSpPr/>
          <p:nvPr/>
        </p:nvSpPr>
        <p:spPr>
          <a:xfrm>
            <a:off x="548640" y="1417320"/>
            <a:ext cx="2468880" cy="1874520"/>
          </a:xfrm>
          <a:prstGeom prst="roundRect">
            <a:avLst>
              <a:gd name="adj" fmla="val 4878"/>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 name="IconCircle"/>
          <p:cNvSpPr/>
          <p:nvPr/>
        </p:nvSpPr>
        <p:spPr>
          <a:xfrm>
            <a:off x="777240" y="1627632"/>
            <a:ext cx="502920" cy="502920"/>
          </a:xfrm>
          <a:prstGeom prst="ellipse">
            <a:avLst/>
          </a:prstGeom>
          <a:solidFill>
            <a:srgbClr val="1547C8"/>
          </a:solidFill>
          <a:ln w="12700">
            <a:solidFill>
              <a:srgbClr val="1547C8"/>
            </a:solidFill>
            <a:prstDash val="solid"/>
          </a:ln>
        </p:spPr>
      </p:sp>
      <p:pic>
        <p:nvPicPr>
          <p:cNvPr id="7" name="Image 0" descr="Cloud icon">    </p:cNvPr>
          <p:cNvPicPr>
            <a:picLocks noChangeAspect="1"/>
          </p:cNvPicPr>
          <p:nvPr/>
        </p:nvPicPr>
        <p:blipFill>
          <a:blip r:embed="rId2"/>
          <a:stretch>
            <a:fillRect/>
          </a:stretch>
        </p:blipFill>
        <p:spPr>
          <a:xfrm>
            <a:off x="902970" y="1753362"/>
            <a:ext cx="251460" cy="251460"/>
          </a:xfrm>
          <a:prstGeom prst="rect">
            <a:avLst/>
          </a:prstGeom>
        </p:spPr>
      </p:pic>
      <p:sp>
        <p:nvSpPr>
          <p:cNvPr id="8" name="Text 5"/>
          <p:cNvSpPr txBox="1"/>
          <p:nvPr/>
        </p:nvSpPr>
        <p:spPr>
          <a:xfrm>
            <a:off x="777240" y="2240280"/>
            <a:ext cx="2103120" cy="274320"/>
          </a:xfrm>
          <a:prstGeom prst="rect">
            <a:avLst/>
          </a:prstGeom>
          <a:noFill/>
          <a:ln/>
        </p:spPr>
        <p:txBody>
          <a:bodyPr wrap="square" lIns="0" tIns="0" rIns="0" bIns="0" rtlCol="0" anchor="t"/>
          <a:lstStyle/>
          <a:p>
            <a:pPr indent="0" marL="0">
              <a:buNone/>
            </a:pPr>
            <a:r>
              <a:rPr lang="en-US" sz="1400" b="1" dirty="0">
                <a:solidFill>
                  <a:schemeClr val="tx1"/>
                </a:solidFill>
              </a:rPr>
              <a:t>Blob Storage</a:t>
            </a:r>
            <a:endParaRPr lang="en-US" sz="1400" dirty="0"/>
          </a:p>
        </p:txBody>
      </p:sp>
      <p:sp>
        <p:nvSpPr>
          <p:cNvPr id="9" name="Text 6"/>
          <p:cNvSpPr txBox="1"/>
          <p:nvPr/>
        </p:nvSpPr>
        <p:spPr>
          <a:xfrm>
            <a:off x="777240" y="2560320"/>
            <a:ext cx="2103120" cy="640080"/>
          </a:xfrm>
          <a:prstGeom prst="rect">
            <a:avLst/>
          </a:prstGeom>
          <a:noFill/>
          <a:ln/>
        </p:spPr>
        <p:txBody>
          <a:bodyPr wrap="square" lIns="0" tIns="0" rIns="0" bIns="0" rtlCol="0" anchor="t"/>
          <a:lstStyle/>
          <a:p>
            <a:pPr indent="0" marL="0">
              <a:buNone/>
            </a:pPr>
            <a:r>
              <a:rPr lang="en-US" sz="1100" dirty="0">
                <a:solidFill>
                  <a:srgbClr val="5B6478"/>
                </a:solidFill>
              </a:rPr>
              <a:t>Approved Markdown articles, uploaded by script</a:t>
            </a:r>
            <a:endParaRPr lang="en-US" sz="1100" dirty="0"/>
          </a:p>
        </p:txBody>
      </p:sp>
      <p:pic>
        <p:nvPicPr>
          <p:cNvPr id="10" name="Image 1" descr="Next">    </p:cNvPr>
          <p:cNvPicPr>
            <a:picLocks noChangeAspect="1"/>
          </p:cNvPicPr>
          <p:nvPr/>
        </p:nvPicPr>
        <p:blipFill>
          <a:blip r:embed="rId3"/>
          <a:stretch>
            <a:fillRect/>
          </a:stretch>
        </p:blipFill>
        <p:spPr>
          <a:xfrm>
            <a:off x="3128772" y="2240280"/>
            <a:ext cx="182880" cy="182880"/>
          </a:xfrm>
          <a:prstGeom prst="rect">
            <a:avLst/>
          </a:prstGeom>
        </p:spPr>
      </p:pic>
      <p:sp>
        <p:nvSpPr>
          <p:cNvPr id="11" name="Pipeline card"/>
          <p:cNvSpPr/>
          <p:nvPr/>
        </p:nvSpPr>
        <p:spPr>
          <a:xfrm>
            <a:off x="3422904" y="1417320"/>
            <a:ext cx="2468880" cy="1874520"/>
          </a:xfrm>
          <a:prstGeom prst="roundRect">
            <a:avLst>
              <a:gd name="adj" fmla="val 4878"/>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2" name="IconCircle"/>
          <p:cNvSpPr/>
          <p:nvPr/>
        </p:nvSpPr>
        <p:spPr>
          <a:xfrm>
            <a:off x="3651504" y="1627632"/>
            <a:ext cx="502920" cy="502920"/>
          </a:xfrm>
          <a:prstGeom prst="ellipse">
            <a:avLst/>
          </a:prstGeom>
          <a:solidFill>
            <a:srgbClr val="1547C8"/>
          </a:solidFill>
          <a:ln w="12700">
            <a:solidFill>
              <a:srgbClr val="1547C8"/>
            </a:solidFill>
            <a:prstDash val="solid"/>
          </a:ln>
        </p:spPr>
      </p:sp>
      <p:pic>
        <p:nvPicPr>
          <p:cNvPr id="13" name="Image 2" descr="Search icon">    </p:cNvPr>
          <p:cNvPicPr>
            <a:picLocks noChangeAspect="1"/>
          </p:cNvPicPr>
          <p:nvPr/>
        </p:nvPicPr>
        <p:blipFill>
          <a:blip r:embed="rId4"/>
          <a:stretch>
            <a:fillRect/>
          </a:stretch>
        </p:blipFill>
        <p:spPr>
          <a:xfrm>
            <a:off x="3777234" y="1753362"/>
            <a:ext cx="251460" cy="251460"/>
          </a:xfrm>
          <a:prstGeom prst="rect">
            <a:avLst/>
          </a:prstGeom>
        </p:spPr>
      </p:pic>
      <p:sp>
        <p:nvSpPr>
          <p:cNvPr id="14" name="Text 9"/>
          <p:cNvSpPr txBox="1"/>
          <p:nvPr/>
        </p:nvSpPr>
        <p:spPr>
          <a:xfrm>
            <a:off x="3651504" y="2240280"/>
            <a:ext cx="2103120" cy="274320"/>
          </a:xfrm>
          <a:prstGeom prst="rect">
            <a:avLst/>
          </a:prstGeom>
          <a:noFill/>
          <a:ln/>
        </p:spPr>
        <p:txBody>
          <a:bodyPr wrap="square" lIns="0" tIns="0" rIns="0" bIns="0" rtlCol="0" anchor="t"/>
          <a:lstStyle/>
          <a:p>
            <a:pPr indent="0" marL="0">
              <a:buNone/>
            </a:pPr>
            <a:r>
              <a:rPr lang="en-US" sz="1400" b="1" dirty="0">
                <a:solidFill>
                  <a:schemeClr val="tx1"/>
                </a:solidFill>
              </a:rPr>
              <a:t>Azure AI Search</a:t>
            </a:r>
            <a:endParaRPr lang="en-US" sz="1400" dirty="0"/>
          </a:p>
        </p:txBody>
      </p:sp>
      <p:sp>
        <p:nvSpPr>
          <p:cNvPr id="15" name="Text 10"/>
          <p:cNvSpPr txBox="1"/>
          <p:nvPr/>
        </p:nvSpPr>
        <p:spPr>
          <a:xfrm>
            <a:off x="3651504" y="2560320"/>
            <a:ext cx="2103120" cy="640080"/>
          </a:xfrm>
          <a:prstGeom prst="rect">
            <a:avLst/>
          </a:prstGeom>
          <a:noFill/>
          <a:ln/>
        </p:spPr>
        <p:txBody>
          <a:bodyPr wrap="square" lIns="0" tIns="0" rIns="0" bIns="0" rtlCol="0" anchor="t"/>
          <a:lstStyle/>
          <a:p>
            <a:pPr indent="0" marL="0">
              <a:buNone/>
            </a:pPr>
            <a:r>
              <a:rPr lang="en-US" sz="1100" dirty="0">
                <a:solidFill>
                  <a:srgbClr val="5B6478"/>
                </a:solidFill>
              </a:rPr>
              <a:t>Three indexes: Education, FAQ, Care-plan guidance</a:t>
            </a:r>
            <a:endParaRPr lang="en-US" sz="1100" dirty="0"/>
          </a:p>
        </p:txBody>
      </p:sp>
      <p:pic>
        <p:nvPicPr>
          <p:cNvPr id="16" name="Image 3" descr="Next">    </p:cNvPr>
          <p:cNvPicPr>
            <a:picLocks noChangeAspect="1"/>
          </p:cNvPicPr>
          <p:nvPr/>
        </p:nvPicPr>
        <p:blipFill>
          <a:blip r:embed="rId5"/>
          <a:stretch>
            <a:fillRect/>
          </a:stretch>
        </p:blipFill>
        <p:spPr>
          <a:xfrm>
            <a:off x="6003036" y="2240280"/>
            <a:ext cx="182880" cy="182880"/>
          </a:xfrm>
          <a:prstGeom prst="rect">
            <a:avLst/>
          </a:prstGeom>
        </p:spPr>
      </p:pic>
      <p:sp>
        <p:nvSpPr>
          <p:cNvPr id="17" name="Pipeline card"/>
          <p:cNvSpPr/>
          <p:nvPr/>
        </p:nvSpPr>
        <p:spPr>
          <a:xfrm>
            <a:off x="6297168" y="1417320"/>
            <a:ext cx="2468880" cy="1874520"/>
          </a:xfrm>
          <a:prstGeom prst="roundRect">
            <a:avLst>
              <a:gd name="adj" fmla="val 4878"/>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8" name="IconCircle"/>
          <p:cNvSpPr/>
          <p:nvPr/>
        </p:nvSpPr>
        <p:spPr>
          <a:xfrm>
            <a:off x="6525768" y="1627632"/>
            <a:ext cx="502920" cy="502920"/>
          </a:xfrm>
          <a:prstGeom prst="ellipse">
            <a:avLst/>
          </a:prstGeom>
          <a:solidFill>
            <a:srgbClr val="1547C8"/>
          </a:solidFill>
          <a:ln w="12700">
            <a:solidFill>
              <a:srgbClr val="1547C8"/>
            </a:solidFill>
            <a:prstDash val="solid"/>
          </a:ln>
        </p:spPr>
      </p:sp>
      <p:pic>
        <p:nvPicPr>
          <p:cNvPr id="19" name="Image 4" descr="BookMedical icon">    </p:cNvPr>
          <p:cNvPicPr>
            <a:picLocks noChangeAspect="1"/>
          </p:cNvPicPr>
          <p:nvPr/>
        </p:nvPicPr>
        <p:blipFill>
          <a:blip r:embed="rId6"/>
          <a:stretch>
            <a:fillRect/>
          </a:stretch>
        </p:blipFill>
        <p:spPr>
          <a:xfrm>
            <a:off x="6651498" y="1753362"/>
            <a:ext cx="251460" cy="251460"/>
          </a:xfrm>
          <a:prstGeom prst="rect">
            <a:avLst/>
          </a:prstGeom>
        </p:spPr>
      </p:pic>
      <p:sp>
        <p:nvSpPr>
          <p:cNvPr id="20" name="Text 13"/>
          <p:cNvSpPr txBox="1"/>
          <p:nvPr/>
        </p:nvSpPr>
        <p:spPr>
          <a:xfrm>
            <a:off x="6525768" y="2240280"/>
            <a:ext cx="2103120" cy="274320"/>
          </a:xfrm>
          <a:prstGeom prst="rect">
            <a:avLst/>
          </a:prstGeom>
          <a:noFill/>
          <a:ln/>
        </p:spPr>
        <p:txBody>
          <a:bodyPr wrap="square" lIns="0" tIns="0" rIns="0" bIns="0" rtlCol="0" anchor="t"/>
          <a:lstStyle/>
          <a:p>
            <a:pPr indent="0" marL="0">
              <a:buNone/>
            </a:pPr>
            <a:r>
              <a:rPr lang="en-US" sz="1400" b="1" dirty="0">
                <a:solidFill>
                  <a:schemeClr val="tx1"/>
                </a:solidFill>
              </a:rPr>
              <a:t>Education RAG agent</a:t>
            </a:r>
            <a:endParaRPr lang="en-US" sz="1400" dirty="0"/>
          </a:p>
        </p:txBody>
      </p:sp>
      <p:sp>
        <p:nvSpPr>
          <p:cNvPr id="21" name="Text 14"/>
          <p:cNvSpPr txBox="1"/>
          <p:nvPr/>
        </p:nvSpPr>
        <p:spPr>
          <a:xfrm>
            <a:off x="6525768" y="2560320"/>
            <a:ext cx="2103120" cy="640080"/>
          </a:xfrm>
          <a:prstGeom prst="rect">
            <a:avLst/>
          </a:prstGeom>
          <a:noFill/>
          <a:ln/>
        </p:spPr>
        <p:txBody>
          <a:bodyPr wrap="square" lIns="0" tIns="0" rIns="0" bIns="0" rtlCol="0" anchor="t"/>
          <a:lstStyle/>
          <a:p>
            <a:pPr indent="0" marL="0">
              <a:buNone/>
            </a:pPr>
            <a:r>
              <a:rPr lang="en-US" sz="1100" dirty="0">
                <a:solidFill>
                  <a:srgbClr val="5B6478"/>
                </a:solidFill>
              </a:rPr>
              <a:t>Foundry agent with a search tool; answers only from retrieved text</a:t>
            </a:r>
            <a:endParaRPr lang="en-US" sz="1100" dirty="0"/>
          </a:p>
        </p:txBody>
      </p:sp>
      <p:pic>
        <p:nvPicPr>
          <p:cNvPr id="22" name="Image 5" descr="Next">    </p:cNvPr>
          <p:cNvPicPr>
            <a:picLocks noChangeAspect="1"/>
          </p:cNvPicPr>
          <p:nvPr/>
        </p:nvPicPr>
        <p:blipFill>
          <a:blip r:embed="rId7"/>
          <a:stretch>
            <a:fillRect/>
          </a:stretch>
        </p:blipFill>
        <p:spPr>
          <a:xfrm>
            <a:off x="8877300" y="2240280"/>
            <a:ext cx="182880" cy="182880"/>
          </a:xfrm>
          <a:prstGeom prst="rect">
            <a:avLst/>
          </a:prstGeom>
        </p:spPr>
      </p:pic>
      <p:sp>
        <p:nvSpPr>
          <p:cNvPr id="23" name="Pipeline card"/>
          <p:cNvSpPr/>
          <p:nvPr/>
        </p:nvSpPr>
        <p:spPr>
          <a:xfrm>
            <a:off x="9171432" y="1417320"/>
            <a:ext cx="2468880" cy="1874520"/>
          </a:xfrm>
          <a:prstGeom prst="roundRect">
            <a:avLst>
              <a:gd name="adj" fmla="val 4878"/>
            </a:avLst>
          </a:prstGeom>
          <a:solidFill>
            <a:schemeClr val="tx2"/>
          </a:solidFill>
          <a:ln w="12700">
            <a:solidFill>
              <a:srgbClr val="0A1F5C"/>
            </a:solidFill>
            <a:prstDash val="solid"/>
          </a:ln>
          <a:effectLst>
            <a:outerShdw sx="100000" sy="100000" kx="0" ky="0" algn="bl" rotWithShape="0" blurRad="127000" dist="25400" dir="5400000">
              <a:srgbClr val="1F2937">
                <a:alpha val="10000"/>
              </a:srgbClr>
            </a:outerShdw>
          </a:effectLst>
        </p:spPr>
      </p:sp>
      <p:sp>
        <p:nvSpPr>
          <p:cNvPr id="24" name="IconCircle"/>
          <p:cNvSpPr/>
          <p:nvPr/>
        </p:nvSpPr>
        <p:spPr>
          <a:xfrm>
            <a:off x="9400032" y="1627632"/>
            <a:ext cx="502920" cy="502920"/>
          </a:xfrm>
          <a:prstGeom prst="ellipse">
            <a:avLst/>
          </a:prstGeom>
          <a:solidFill>
            <a:srgbClr val="3CC3F0"/>
          </a:solidFill>
          <a:ln w="12700">
            <a:solidFill>
              <a:srgbClr val="3CC3F0"/>
            </a:solidFill>
            <a:prstDash val="solid"/>
          </a:ln>
        </p:spPr>
      </p:sp>
      <p:pic>
        <p:nvPicPr>
          <p:cNvPr id="25" name="Image 6" descr="CheckCircle icon">    </p:cNvPr>
          <p:cNvPicPr>
            <a:picLocks noChangeAspect="1"/>
          </p:cNvPicPr>
          <p:nvPr/>
        </p:nvPicPr>
        <p:blipFill>
          <a:blip r:embed="rId8"/>
          <a:stretch>
            <a:fillRect/>
          </a:stretch>
        </p:blipFill>
        <p:spPr>
          <a:xfrm>
            <a:off x="9525762" y="1753362"/>
            <a:ext cx="251460" cy="251460"/>
          </a:xfrm>
          <a:prstGeom prst="rect">
            <a:avLst/>
          </a:prstGeom>
        </p:spPr>
      </p:pic>
      <p:sp>
        <p:nvSpPr>
          <p:cNvPr id="26" name="Text 17"/>
          <p:cNvSpPr txBox="1"/>
          <p:nvPr/>
        </p:nvSpPr>
        <p:spPr>
          <a:xfrm>
            <a:off x="9400032" y="2240280"/>
            <a:ext cx="2103120" cy="274320"/>
          </a:xfrm>
          <a:prstGeom prst="rect">
            <a:avLst/>
          </a:prstGeom>
          <a:noFill/>
          <a:ln/>
        </p:spPr>
        <p:txBody>
          <a:bodyPr wrap="square" lIns="0" tIns="0" rIns="0" bIns="0" rtlCol="0" anchor="t"/>
          <a:lstStyle/>
          <a:p>
            <a:pPr indent="0" marL="0">
              <a:buNone/>
            </a:pPr>
            <a:r>
              <a:rPr lang="en-US" sz="1400" b="1" dirty="0">
                <a:solidFill>
                  <a:srgbClr val="FFFFFF"/>
                </a:solidFill>
              </a:rPr>
              <a:t>Citation validator</a:t>
            </a:r>
            <a:endParaRPr lang="en-US" sz="1400" dirty="0"/>
          </a:p>
        </p:txBody>
      </p:sp>
      <p:sp>
        <p:nvSpPr>
          <p:cNvPr id="27" name="Text 18"/>
          <p:cNvSpPr txBox="1"/>
          <p:nvPr/>
        </p:nvSpPr>
        <p:spPr>
          <a:xfrm>
            <a:off x="9400032" y="2560320"/>
            <a:ext cx="2103120" cy="640080"/>
          </a:xfrm>
          <a:prstGeom prst="rect">
            <a:avLst/>
          </a:prstGeom>
          <a:noFill/>
          <a:ln/>
        </p:spPr>
        <p:txBody>
          <a:bodyPr wrap="square" lIns="0" tIns="0" rIns="0" bIns="0" rtlCol="0" anchor="t"/>
          <a:lstStyle/>
          <a:p>
            <a:pPr indent="0" marL="0">
              <a:buNone/>
            </a:pPr>
            <a:r>
              <a:rPr lang="en-US" sz="1100" dirty="0">
                <a:solidFill>
                  <a:srgbClr val="CFE0FF"/>
                </a:solidFill>
              </a:rPr>
              <a:t>Code checks the cited article before anyone sees the answer</a:t>
            </a:r>
            <a:endParaRPr lang="en-US" sz="1100" dirty="0"/>
          </a:p>
        </p:txBody>
      </p:sp>
      <p:sp>
        <p:nvSpPr>
          <p:cNvPr id="28" name="Validator list"/>
          <p:cNvSpPr/>
          <p:nvPr/>
        </p:nvSpPr>
        <p:spPr>
          <a:xfrm>
            <a:off x="548640" y="3566160"/>
            <a:ext cx="5394960" cy="2514600"/>
          </a:xfrm>
          <a:prstGeom prst="roundRect">
            <a:avLst>
              <a:gd name="adj" fmla="val 3636"/>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9" name="Text 20"/>
          <p:cNvSpPr txBox="1"/>
          <p:nvPr/>
        </p:nvSpPr>
        <p:spPr>
          <a:xfrm>
            <a:off x="822960" y="3749040"/>
            <a:ext cx="41148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THE VALIDATOR CHECKS</a:t>
            </a:r>
            <a:endParaRPr lang="en-US" sz="1000" dirty="0"/>
          </a:p>
        </p:txBody>
      </p:sp>
      <p:pic>
        <p:nvPicPr>
          <p:cNvPr id="30" name="Image 7" descr="Check">    </p:cNvPr>
          <p:cNvPicPr>
            <a:picLocks noChangeAspect="1"/>
          </p:cNvPicPr>
          <p:nvPr/>
        </p:nvPicPr>
        <p:blipFill>
          <a:blip r:embed="rId9"/>
          <a:stretch>
            <a:fillRect/>
          </a:stretch>
        </p:blipFill>
        <p:spPr>
          <a:xfrm>
            <a:off x="822960" y="4142232"/>
            <a:ext cx="256032" cy="256032"/>
          </a:xfrm>
          <a:prstGeom prst="rect">
            <a:avLst/>
          </a:prstGeom>
        </p:spPr>
      </p:pic>
      <p:sp>
        <p:nvSpPr>
          <p:cNvPr id="31" name="Text 21"/>
          <p:cNvSpPr txBox="1"/>
          <p:nvPr/>
        </p:nvSpPr>
        <p:spPr>
          <a:xfrm>
            <a:off x="1234440" y="4114800"/>
            <a:ext cx="4480560" cy="329184"/>
          </a:xfrm>
          <a:prstGeom prst="rect">
            <a:avLst/>
          </a:prstGeom>
          <a:noFill/>
          <a:ln/>
        </p:spPr>
        <p:txBody>
          <a:bodyPr wrap="square" lIns="0" tIns="0" rIns="0" bIns="0" rtlCol="0" anchor="ctr"/>
          <a:lstStyle/>
          <a:p>
            <a:pPr indent="0" marL="0">
              <a:buNone/>
            </a:pPr>
            <a:r>
              <a:rPr lang="en-US" sz="1400" dirty="0">
                <a:solidFill>
                  <a:schemeClr val="tx1"/>
                </a:solidFill>
              </a:rPr>
              <a:t>The article ID exists</a:t>
            </a:r>
            <a:endParaRPr lang="en-US" sz="1400" dirty="0"/>
          </a:p>
        </p:txBody>
      </p:sp>
      <p:pic>
        <p:nvPicPr>
          <p:cNvPr id="32" name="Image 8" descr="Check">    </p:cNvPr>
          <p:cNvPicPr>
            <a:picLocks noChangeAspect="1"/>
          </p:cNvPicPr>
          <p:nvPr/>
        </p:nvPicPr>
        <p:blipFill>
          <a:blip r:embed="rId10"/>
          <a:stretch>
            <a:fillRect/>
          </a:stretch>
        </p:blipFill>
        <p:spPr>
          <a:xfrm>
            <a:off x="822960" y="4526280"/>
            <a:ext cx="256032" cy="256032"/>
          </a:xfrm>
          <a:prstGeom prst="rect">
            <a:avLst/>
          </a:prstGeom>
        </p:spPr>
      </p:pic>
      <p:sp>
        <p:nvSpPr>
          <p:cNvPr id="33" name="Text 22"/>
          <p:cNvSpPr txBox="1"/>
          <p:nvPr/>
        </p:nvSpPr>
        <p:spPr>
          <a:xfrm>
            <a:off x="1234440" y="4498848"/>
            <a:ext cx="4480560" cy="329184"/>
          </a:xfrm>
          <a:prstGeom prst="rect">
            <a:avLst/>
          </a:prstGeom>
          <a:noFill/>
          <a:ln/>
        </p:spPr>
        <p:txBody>
          <a:bodyPr wrap="square" lIns="0" tIns="0" rIns="0" bIns="0" rtlCol="0" anchor="ctr"/>
          <a:lstStyle/>
          <a:p>
            <a:pPr indent="0" marL="0">
              <a:buNone/>
            </a:pPr>
            <a:r>
              <a:rPr lang="en-US" sz="1400" dirty="0">
                <a:solidFill>
                  <a:schemeClr val="tx1"/>
                </a:solidFill>
              </a:rPr>
              <a:t>Its status is Approved</a:t>
            </a:r>
            <a:endParaRPr lang="en-US" sz="1400" dirty="0"/>
          </a:p>
        </p:txBody>
      </p:sp>
      <p:pic>
        <p:nvPicPr>
          <p:cNvPr id="34" name="Image 9" descr="Check">    </p:cNvPr>
          <p:cNvPicPr>
            <a:picLocks noChangeAspect="1"/>
          </p:cNvPicPr>
          <p:nvPr/>
        </p:nvPicPr>
        <p:blipFill>
          <a:blip r:embed="rId11"/>
          <a:stretch>
            <a:fillRect/>
          </a:stretch>
        </p:blipFill>
        <p:spPr>
          <a:xfrm>
            <a:off x="822960" y="4910328"/>
            <a:ext cx="256032" cy="256032"/>
          </a:xfrm>
          <a:prstGeom prst="rect">
            <a:avLst/>
          </a:prstGeom>
        </p:spPr>
      </p:pic>
      <p:sp>
        <p:nvSpPr>
          <p:cNvPr id="35" name="Text 23"/>
          <p:cNvSpPr txBox="1"/>
          <p:nvPr/>
        </p:nvSpPr>
        <p:spPr>
          <a:xfrm>
            <a:off x="1234440" y="4882896"/>
            <a:ext cx="4480560" cy="329184"/>
          </a:xfrm>
          <a:prstGeom prst="rect">
            <a:avLst/>
          </a:prstGeom>
          <a:noFill/>
          <a:ln/>
        </p:spPr>
        <p:txBody>
          <a:bodyPr wrap="square" lIns="0" tIns="0" rIns="0" bIns="0" rtlCol="0" anchor="ctr"/>
          <a:lstStyle/>
          <a:p>
            <a:pPr indent="0" marL="0">
              <a:buNone/>
            </a:pPr>
            <a:r>
              <a:rPr lang="en-US" sz="1400" dirty="0">
                <a:solidFill>
                  <a:schemeClr val="tx1"/>
                </a:solidFill>
              </a:rPr>
              <a:t>It fits the member's program</a:t>
            </a:r>
            <a:endParaRPr lang="en-US" sz="1400" dirty="0"/>
          </a:p>
        </p:txBody>
      </p:sp>
      <p:pic>
        <p:nvPicPr>
          <p:cNvPr id="36" name="Image 10" descr="Check">    </p:cNvPr>
          <p:cNvPicPr>
            <a:picLocks noChangeAspect="1"/>
          </p:cNvPicPr>
          <p:nvPr/>
        </p:nvPicPr>
        <p:blipFill>
          <a:blip r:embed="rId12"/>
          <a:stretch>
            <a:fillRect/>
          </a:stretch>
        </p:blipFill>
        <p:spPr>
          <a:xfrm>
            <a:off x="822960" y="5294376"/>
            <a:ext cx="256032" cy="256032"/>
          </a:xfrm>
          <a:prstGeom prst="rect">
            <a:avLst/>
          </a:prstGeom>
        </p:spPr>
      </p:pic>
      <p:sp>
        <p:nvSpPr>
          <p:cNvPr id="37" name="Text 24"/>
          <p:cNvSpPr txBox="1"/>
          <p:nvPr/>
        </p:nvSpPr>
        <p:spPr>
          <a:xfrm>
            <a:off x="1234440" y="5266944"/>
            <a:ext cx="4480560" cy="329184"/>
          </a:xfrm>
          <a:prstGeom prst="rect">
            <a:avLst/>
          </a:prstGeom>
          <a:noFill/>
          <a:ln/>
        </p:spPr>
        <p:txBody>
          <a:bodyPr wrap="square" lIns="0" tIns="0" rIns="0" bIns="0" rtlCol="0" anchor="ctr"/>
          <a:lstStyle/>
          <a:p>
            <a:pPr indent="0" marL="0">
              <a:buNone/>
            </a:pPr>
            <a:r>
              <a:rPr lang="en-US" sz="1400" dirty="0">
                <a:solidFill>
                  <a:schemeClr val="tx1"/>
                </a:solidFill>
              </a:rPr>
              <a:t>It matches the current version</a:t>
            </a:r>
            <a:endParaRPr lang="en-US" sz="1400" dirty="0"/>
          </a:p>
        </p:txBody>
      </p:sp>
      <p:sp>
        <p:nvSpPr>
          <p:cNvPr id="38" name="Text 25"/>
          <p:cNvSpPr txBox="1"/>
          <p:nvPr/>
        </p:nvSpPr>
        <p:spPr>
          <a:xfrm>
            <a:off x="822960" y="5669280"/>
            <a:ext cx="4937760" cy="274320"/>
          </a:xfrm>
          <a:prstGeom prst="rect">
            <a:avLst/>
          </a:prstGeom>
          <a:noFill/>
          <a:ln/>
        </p:spPr>
        <p:txBody>
          <a:bodyPr wrap="square" lIns="0" tIns="0" rIns="0" bIns="0" rtlCol="0" anchor="t"/>
          <a:lstStyle/>
          <a:p>
            <a:pPr indent="0" marL="0">
              <a:buNone/>
            </a:pPr>
            <a:r>
              <a:rPr lang="en-US" sz="1100" dirty="0">
                <a:solidFill>
                  <a:srgbClr val="5B6478"/>
                </a:solidFill>
              </a:rPr>
              <a:t>The Education agent never sees readings or care plans.</a:t>
            </a:r>
            <a:endParaRPr lang="en-US" sz="1100" dirty="0"/>
          </a:p>
        </p:txBody>
      </p:sp>
      <p:sp>
        <p:nvSpPr>
          <p:cNvPr id="39" name="Valid outcome"/>
          <p:cNvSpPr/>
          <p:nvPr/>
        </p:nvSpPr>
        <p:spPr>
          <a:xfrm>
            <a:off x="6309360" y="3566160"/>
            <a:ext cx="5330952" cy="1188720"/>
          </a:xfrm>
          <a:prstGeom prst="roundRect">
            <a:avLst>
              <a:gd name="adj" fmla="val 7692"/>
            </a:avLst>
          </a:prstGeom>
          <a:solidFill>
            <a:srgbClr val="EAF7F1"/>
          </a:solidFill>
          <a:ln w="12700">
            <a:solidFill>
              <a:srgbClr val="BFE6D3"/>
            </a:solidFill>
            <a:prstDash val="solid"/>
          </a:ln>
        </p:spPr>
      </p:sp>
      <p:sp>
        <p:nvSpPr>
          <p:cNvPr id="40" name="IconCircle"/>
          <p:cNvSpPr/>
          <p:nvPr/>
        </p:nvSpPr>
        <p:spPr>
          <a:xfrm>
            <a:off x="6537960" y="3840480"/>
            <a:ext cx="548640" cy="548640"/>
          </a:xfrm>
          <a:prstGeom prst="ellipse">
            <a:avLst/>
          </a:prstGeom>
          <a:solidFill>
            <a:srgbClr val="12A36B"/>
          </a:solidFill>
          <a:ln w="12700">
            <a:solidFill>
              <a:srgbClr val="12A36B"/>
            </a:solidFill>
            <a:prstDash val="solid"/>
          </a:ln>
        </p:spPr>
      </p:sp>
      <p:pic>
        <p:nvPicPr>
          <p:cNvPr id="41" name="Image 11" descr="CheckCircle icon">    </p:cNvPr>
          <p:cNvPicPr>
            <a:picLocks noChangeAspect="1"/>
          </p:cNvPicPr>
          <p:nvPr/>
        </p:nvPicPr>
        <p:blipFill>
          <a:blip r:embed="rId13"/>
          <a:stretch>
            <a:fillRect/>
          </a:stretch>
        </p:blipFill>
        <p:spPr>
          <a:xfrm>
            <a:off x="6675120" y="3977640"/>
            <a:ext cx="274320" cy="274320"/>
          </a:xfrm>
          <a:prstGeom prst="rect">
            <a:avLst/>
          </a:prstGeom>
        </p:spPr>
      </p:pic>
      <p:sp>
        <p:nvSpPr>
          <p:cNvPr id="42" name="Text 28"/>
          <p:cNvSpPr txBox="1"/>
          <p:nvPr/>
        </p:nvSpPr>
        <p:spPr>
          <a:xfrm>
            <a:off x="7269480" y="3794760"/>
            <a:ext cx="4206240" cy="292608"/>
          </a:xfrm>
          <a:prstGeom prst="rect">
            <a:avLst/>
          </a:prstGeom>
          <a:noFill/>
          <a:ln/>
        </p:spPr>
        <p:txBody>
          <a:bodyPr wrap="square" lIns="0" tIns="0" rIns="0" bIns="0" rtlCol="0" anchor="t"/>
          <a:lstStyle/>
          <a:p>
            <a:pPr indent="0" marL="0">
              <a:buNone/>
            </a:pPr>
            <a:r>
              <a:rPr lang="en-US" sz="1400" b="1" dirty="0">
                <a:solidFill>
                  <a:schemeClr val="tx1"/>
                </a:solidFill>
              </a:rPr>
              <a:t>Valid: answer with a citation</a:t>
            </a:r>
            <a:endParaRPr lang="en-US" sz="1400" dirty="0"/>
          </a:p>
        </p:txBody>
      </p:sp>
      <p:sp>
        <p:nvSpPr>
          <p:cNvPr id="43" name="Text 29"/>
          <p:cNvSpPr txBox="1"/>
          <p:nvPr/>
        </p:nvSpPr>
        <p:spPr>
          <a:xfrm>
            <a:off x="7269480" y="4114800"/>
            <a:ext cx="4206240" cy="457200"/>
          </a:xfrm>
          <a:prstGeom prst="rect">
            <a:avLst/>
          </a:prstGeom>
          <a:noFill/>
          <a:ln/>
        </p:spPr>
        <p:txBody>
          <a:bodyPr wrap="square" lIns="0" tIns="0" rIns="0" bIns="0" rtlCol="0" anchor="t"/>
          <a:lstStyle/>
          <a:p>
            <a:pPr indent="0" marL="0">
              <a:buNone/>
            </a:pPr>
            <a:r>
              <a:rPr lang="en-US" sz="1200" dirty="0">
                <a:solidFill>
                  <a:srgbClr val="5B6478"/>
                </a:solidFill>
              </a:rPr>
              <a:t>Shown as a source such as EDU-401 (v4)</a:t>
            </a:r>
            <a:endParaRPr lang="en-US" sz="1200" dirty="0"/>
          </a:p>
        </p:txBody>
      </p:sp>
      <p:sp>
        <p:nvSpPr>
          <p:cNvPr id="44" name="Gap outcome"/>
          <p:cNvSpPr/>
          <p:nvPr/>
        </p:nvSpPr>
        <p:spPr>
          <a:xfrm>
            <a:off x="6309360" y="4892040"/>
            <a:ext cx="5330952" cy="1188720"/>
          </a:xfrm>
          <a:prstGeom prst="roundRect">
            <a:avLst>
              <a:gd name="adj" fmla="val 7692"/>
            </a:avLst>
          </a:prstGeom>
          <a:solidFill>
            <a:srgbClr val="FFF4DD"/>
          </a:solidFill>
          <a:ln w="12700">
            <a:solidFill>
              <a:srgbClr val="F3D9A4"/>
            </a:solidFill>
            <a:prstDash val="solid"/>
          </a:ln>
        </p:spPr>
      </p:sp>
      <p:sp>
        <p:nvSpPr>
          <p:cNvPr id="45" name="IconCircle"/>
          <p:cNvSpPr/>
          <p:nvPr/>
        </p:nvSpPr>
        <p:spPr>
          <a:xfrm>
            <a:off x="6537960" y="5166360"/>
            <a:ext cx="548640" cy="548640"/>
          </a:xfrm>
          <a:prstGeom prst="ellipse">
            <a:avLst/>
          </a:prstGeom>
          <a:solidFill>
            <a:srgbClr val="F5A524"/>
          </a:solidFill>
          <a:ln w="12700">
            <a:solidFill>
              <a:srgbClr val="F5A524"/>
            </a:solidFill>
            <a:prstDash val="solid"/>
          </a:ln>
        </p:spPr>
      </p:sp>
      <p:pic>
        <p:nvPicPr>
          <p:cNvPr id="46" name="Image 12" descr="QuestionCircle icon">    </p:cNvPr>
          <p:cNvPicPr>
            <a:picLocks noChangeAspect="1"/>
          </p:cNvPicPr>
          <p:nvPr/>
        </p:nvPicPr>
        <p:blipFill>
          <a:blip r:embed="rId14"/>
          <a:stretch>
            <a:fillRect/>
          </a:stretch>
        </p:blipFill>
        <p:spPr>
          <a:xfrm>
            <a:off x="6675120" y="5303520"/>
            <a:ext cx="274320" cy="274320"/>
          </a:xfrm>
          <a:prstGeom prst="rect">
            <a:avLst/>
          </a:prstGeom>
        </p:spPr>
      </p:pic>
      <p:sp>
        <p:nvSpPr>
          <p:cNvPr id="47" name="Text 32"/>
          <p:cNvSpPr txBox="1"/>
          <p:nvPr/>
        </p:nvSpPr>
        <p:spPr>
          <a:xfrm>
            <a:off x="7269480" y="5120640"/>
            <a:ext cx="4206240" cy="292608"/>
          </a:xfrm>
          <a:prstGeom prst="rect">
            <a:avLst/>
          </a:prstGeom>
          <a:noFill/>
          <a:ln/>
        </p:spPr>
        <p:txBody>
          <a:bodyPr wrap="square" lIns="0" tIns="0" rIns="0" bIns="0" rtlCol="0" anchor="t"/>
          <a:lstStyle/>
          <a:p>
            <a:pPr indent="0" marL="0">
              <a:buNone/>
            </a:pPr>
            <a:r>
              <a:rPr lang="en-US" sz="1400" b="1" dirty="0">
                <a:solidFill>
                  <a:schemeClr val="tx1"/>
                </a:solidFill>
              </a:rPr>
              <a:t>No match or invalid: say so</a:t>
            </a:r>
            <a:endParaRPr lang="en-US" sz="1400" dirty="0"/>
          </a:p>
        </p:txBody>
      </p:sp>
      <p:sp>
        <p:nvSpPr>
          <p:cNvPr id="48" name="Text 33"/>
          <p:cNvSpPr txBox="1"/>
          <p:nvPr/>
        </p:nvSpPr>
        <p:spPr>
          <a:xfrm>
            <a:off x="7269480" y="5440680"/>
            <a:ext cx="4206240" cy="457200"/>
          </a:xfrm>
          <a:prstGeom prst="rect">
            <a:avLst/>
          </a:prstGeom>
          <a:noFill/>
          <a:ln/>
        </p:spPr>
        <p:txBody>
          <a:bodyPr wrap="square" lIns="0" tIns="0" rIns="0" bIns="0" rtlCol="0" anchor="t"/>
          <a:lstStyle/>
          <a:p>
            <a:pPr indent="0" marL="0">
              <a:buNone/>
            </a:pPr>
            <a:r>
              <a:rPr lang="en-US" sz="1200" dirty="0">
                <a:solidFill>
                  <a:srgbClr val="5B6478"/>
                </a:solidFill>
              </a:rPr>
              <a:t>No guessing; the question goes to program staff</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LIVE DEMO</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Live demo: a normal, an exception and a safety path</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Screenshot frame"/>
          <p:cNvSpPr/>
          <p:nvPr/>
        </p:nvSpPr>
        <p:spPr>
          <a:xfrm>
            <a:off x="548640" y="1417320"/>
            <a:ext cx="6858000" cy="3044952"/>
          </a:xfrm>
          <a:prstGeom prst="roundRect">
            <a:avLst>
              <a:gd name="adj" fmla="val 3003"/>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pic>
        <p:nvPicPr>
          <p:cNvPr id="6" name="Image 0" descr="Care assistant screen declining a medication-change request">    </p:cNvPr>
          <p:cNvPicPr>
            <a:picLocks noChangeAspect="1"/>
          </p:cNvPicPr>
          <p:nvPr/>
        </p:nvPicPr>
        <p:blipFill>
          <a:blip r:embed="rId2"/>
          <a:stretch>
            <a:fillRect/>
          </a:stretch>
        </p:blipFill>
        <p:spPr>
          <a:xfrm>
            <a:off x="658368" y="1527048"/>
            <a:ext cx="6638544" cy="2694854"/>
          </a:xfrm>
          <a:prstGeom prst="rect">
            <a:avLst/>
          </a:prstGeom>
        </p:spPr>
      </p:pic>
      <p:sp>
        <p:nvSpPr>
          <p:cNvPr id="7" name="Text 4"/>
          <p:cNvSpPr txBox="1"/>
          <p:nvPr/>
        </p:nvSpPr>
        <p:spPr>
          <a:xfrm>
            <a:off x="548640" y="4572000"/>
            <a:ext cx="6858000" cy="274320"/>
          </a:xfrm>
          <a:prstGeom prst="rect">
            <a:avLst/>
          </a:prstGeom>
          <a:noFill/>
          <a:ln/>
        </p:spPr>
        <p:txBody>
          <a:bodyPr wrap="square" lIns="0" tIns="0" rIns="0" bIns="0" rtlCol="0" anchor="t"/>
          <a:lstStyle/>
          <a:p>
            <a:pPr indent="0" marL="0">
              <a:buNone/>
            </a:pPr>
            <a:r>
              <a:rPr lang="en-US" sz="1100" dirty="0">
                <a:solidFill>
                  <a:srgbClr val="5B6478"/>
                </a:solidFill>
              </a:rPr>
              <a:t>Care Assistant: a declined medication request, with the disclaimer on the reply</a:t>
            </a:r>
            <a:endParaRPr lang="en-US" sz="1100" dirty="0"/>
          </a:p>
        </p:txBody>
      </p:sp>
      <p:sp>
        <p:nvSpPr>
          <p:cNvPr id="8" name="Text 5"/>
          <p:cNvSpPr txBox="1"/>
          <p:nvPr/>
        </p:nvSpPr>
        <p:spPr>
          <a:xfrm>
            <a:off x="548640" y="5029200"/>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WHAT TO WATCH FOR</a:t>
            </a:r>
            <a:endParaRPr lang="en-US" sz="1000" dirty="0"/>
          </a:p>
        </p:txBody>
      </p:sp>
      <p:sp>
        <p:nvSpPr>
          <p:cNvPr id="9" name="Watch card"/>
          <p:cNvSpPr/>
          <p:nvPr/>
        </p:nvSpPr>
        <p:spPr>
          <a:xfrm>
            <a:off x="548640" y="5349240"/>
            <a:ext cx="2194560" cy="731520"/>
          </a:xfrm>
          <a:prstGeom prst="roundRect">
            <a:avLst>
              <a:gd name="adj" fmla="val 125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pic>
        <p:nvPicPr>
          <p:cNvPr id="10" name="Image 1" descr="Check">    </p:cNvPr>
          <p:cNvPicPr>
            <a:picLocks noChangeAspect="1"/>
          </p:cNvPicPr>
          <p:nvPr/>
        </p:nvPicPr>
        <p:blipFill>
          <a:blip r:embed="rId3"/>
          <a:stretch>
            <a:fillRect/>
          </a:stretch>
        </p:blipFill>
        <p:spPr>
          <a:xfrm>
            <a:off x="731520" y="5577840"/>
            <a:ext cx="274320" cy="274320"/>
          </a:xfrm>
          <a:prstGeom prst="rect">
            <a:avLst/>
          </a:prstGeom>
        </p:spPr>
      </p:pic>
      <p:sp>
        <p:nvSpPr>
          <p:cNvPr id="11" name="Text 7"/>
          <p:cNvSpPr txBox="1"/>
          <p:nvPr/>
        </p:nvSpPr>
        <p:spPr>
          <a:xfrm>
            <a:off x="1143000" y="5349240"/>
            <a:ext cx="1508760" cy="731520"/>
          </a:xfrm>
          <a:prstGeom prst="rect">
            <a:avLst/>
          </a:prstGeom>
          <a:noFill/>
          <a:ln/>
        </p:spPr>
        <p:txBody>
          <a:bodyPr wrap="square" lIns="0" tIns="0" rIns="0" bIns="0" rtlCol="0" anchor="ctr"/>
          <a:lstStyle/>
          <a:p>
            <a:pPr indent="0" marL="0">
              <a:buNone/>
            </a:pPr>
            <a:r>
              <a:rPr lang="en-US" sz="1250" b="1" dirty="0">
                <a:solidFill>
                  <a:schemeClr val="tx1"/>
                </a:solidFill>
              </a:rPr>
              <a:t>No diagnosis</a:t>
            </a:r>
            <a:endParaRPr lang="en-US" sz="1250" dirty="0"/>
          </a:p>
        </p:txBody>
      </p:sp>
      <p:sp>
        <p:nvSpPr>
          <p:cNvPr id="12" name="Watch card"/>
          <p:cNvSpPr/>
          <p:nvPr/>
        </p:nvSpPr>
        <p:spPr>
          <a:xfrm>
            <a:off x="2880360" y="5349240"/>
            <a:ext cx="2194560" cy="731520"/>
          </a:xfrm>
          <a:prstGeom prst="roundRect">
            <a:avLst>
              <a:gd name="adj" fmla="val 125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pic>
        <p:nvPicPr>
          <p:cNvPr id="13" name="Image 2" descr="Check">    </p:cNvPr>
          <p:cNvPicPr>
            <a:picLocks noChangeAspect="1"/>
          </p:cNvPicPr>
          <p:nvPr/>
        </p:nvPicPr>
        <p:blipFill>
          <a:blip r:embed="rId4"/>
          <a:stretch>
            <a:fillRect/>
          </a:stretch>
        </p:blipFill>
        <p:spPr>
          <a:xfrm>
            <a:off x="3063240" y="5577840"/>
            <a:ext cx="274320" cy="274320"/>
          </a:xfrm>
          <a:prstGeom prst="rect">
            <a:avLst/>
          </a:prstGeom>
        </p:spPr>
      </p:pic>
      <p:sp>
        <p:nvSpPr>
          <p:cNvPr id="14" name="Text 9"/>
          <p:cNvSpPr txBox="1"/>
          <p:nvPr/>
        </p:nvSpPr>
        <p:spPr>
          <a:xfrm>
            <a:off x="3474720" y="5349240"/>
            <a:ext cx="1508760" cy="731520"/>
          </a:xfrm>
          <a:prstGeom prst="rect">
            <a:avLst/>
          </a:prstGeom>
          <a:noFill/>
          <a:ln/>
        </p:spPr>
        <p:txBody>
          <a:bodyPr wrap="square" lIns="0" tIns="0" rIns="0" bIns="0" rtlCol="0" anchor="ctr"/>
          <a:lstStyle/>
          <a:p>
            <a:pPr indent="0" marL="0">
              <a:buNone/>
            </a:pPr>
            <a:r>
              <a:rPr lang="en-US" sz="1250" b="1" dirty="0">
                <a:solidFill>
                  <a:schemeClr val="tx1"/>
                </a:solidFill>
              </a:rPr>
              <a:t>Sources shown</a:t>
            </a:r>
            <a:endParaRPr lang="en-US" sz="1250" dirty="0"/>
          </a:p>
        </p:txBody>
      </p:sp>
      <p:sp>
        <p:nvSpPr>
          <p:cNvPr id="15" name="Watch card"/>
          <p:cNvSpPr/>
          <p:nvPr/>
        </p:nvSpPr>
        <p:spPr>
          <a:xfrm>
            <a:off x="5212080" y="5349240"/>
            <a:ext cx="2194560" cy="731520"/>
          </a:xfrm>
          <a:prstGeom prst="roundRect">
            <a:avLst>
              <a:gd name="adj" fmla="val 12500"/>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pic>
        <p:nvPicPr>
          <p:cNvPr id="16" name="Image 3" descr="Check">    </p:cNvPr>
          <p:cNvPicPr>
            <a:picLocks noChangeAspect="1"/>
          </p:cNvPicPr>
          <p:nvPr/>
        </p:nvPicPr>
        <p:blipFill>
          <a:blip r:embed="rId5"/>
          <a:stretch>
            <a:fillRect/>
          </a:stretch>
        </p:blipFill>
        <p:spPr>
          <a:xfrm>
            <a:off x="5394960" y="5577840"/>
            <a:ext cx="274320" cy="274320"/>
          </a:xfrm>
          <a:prstGeom prst="rect">
            <a:avLst/>
          </a:prstGeom>
        </p:spPr>
      </p:pic>
      <p:sp>
        <p:nvSpPr>
          <p:cNvPr id="17" name="Text 11"/>
          <p:cNvSpPr txBox="1"/>
          <p:nvPr/>
        </p:nvSpPr>
        <p:spPr>
          <a:xfrm>
            <a:off x="5806440" y="5349240"/>
            <a:ext cx="1508760" cy="731520"/>
          </a:xfrm>
          <a:prstGeom prst="rect">
            <a:avLst/>
          </a:prstGeom>
          <a:noFill/>
          <a:ln/>
        </p:spPr>
        <p:txBody>
          <a:bodyPr wrap="square" lIns="0" tIns="0" rIns="0" bIns="0" rtlCol="0" anchor="ctr"/>
          <a:lstStyle/>
          <a:p>
            <a:pPr indent="0" marL="0">
              <a:buNone/>
            </a:pPr>
            <a:r>
              <a:rPr lang="en-US" sz="1250" b="1" dirty="0">
                <a:solidFill>
                  <a:schemeClr val="tx1"/>
                </a:solidFill>
              </a:rPr>
              <a:t>Disclaimer on every reply</a:t>
            </a:r>
            <a:endParaRPr lang="en-US" sz="1250" dirty="0"/>
          </a:p>
        </p:txBody>
      </p:sp>
      <p:sp>
        <p:nvSpPr>
          <p:cNvPr id="18" name="Demo flow"/>
          <p:cNvSpPr/>
          <p:nvPr/>
        </p:nvSpPr>
        <p:spPr>
          <a:xfrm>
            <a:off x="7680960" y="1417320"/>
            <a:ext cx="3959352" cy="4663440"/>
          </a:xfrm>
          <a:prstGeom prst="roundRect">
            <a:avLst>
              <a:gd name="adj" fmla="val 2309"/>
            </a:avLst>
          </a:prstGeom>
          <a:solidFill>
            <a:schemeClr val="tx2"/>
          </a:solidFill>
          <a:ln w="12700">
            <a:solidFill>
              <a:srgbClr val="0A1F5C"/>
            </a:solidFill>
            <a:prstDash val="solid"/>
          </a:ln>
        </p:spPr>
      </p:sp>
      <p:sp>
        <p:nvSpPr>
          <p:cNvPr id="19" name="Text 13"/>
          <p:cNvSpPr txBox="1"/>
          <p:nvPr/>
        </p:nvSpPr>
        <p:spPr>
          <a:xfrm>
            <a:off x="7955280" y="1627632"/>
            <a:ext cx="3200400" cy="228600"/>
          </a:xfrm>
          <a:prstGeom prst="rect">
            <a:avLst/>
          </a:prstGeom>
          <a:noFill/>
          <a:ln/>
        </p:spPr>
        <p:txBody>
          <a:bodyPr wrap="square" lIns="0" tIns="0" rIns="0" bIns="0" rtlCol="0" anchor="t"/>
          <a:lstStyle/>
          <a:p>
            <a:pPr indent="0" marL="0">
              <a:buNone/>
            </a:pPr>
            <a:r>
              <a:rPr lang="en-US" sz="1000" b="1" spc="200" kern="0" dirty="0">
                <a:solidFill>
                  <a:srgbClr val="3CC3F0"/>
                </a:solidFill>
              </a:rPr>
              <a:t>DEMO FLOW</a:t>
            </a:r>
            <a:endParaRPr lang="en-US" sz="1000" dirty="0"/>
          </a:p>
        </p:txBody>
      </p:sp>
      <p:sp>
        <p:nvSpPr>
          <p:cNvPr id="20" name="Shape 14"/>
          <p:cNvSpPr/>
          <p:nvPr/>
        </p:nvSpPr>
        <p:spPr>
          <a:xfrm>
            <a:off x="7955280" y="2011680"/>
            <a:ext cx="384048" cy="384048"/>
          </a:xfrm>
          <a:prstGeom prst="ellipse">
            <a:avLst/>
          </a:prstGeom>
          <a:solidFill>
            <a:schemeClr val="accent2"/>
          </a:solidFill>
          <a:ln w="12700">
            <a:solidFill>
              <a:schemeClr val="accent2"/>
            </a:solidFill>
            <a:prstDash val="solid"/>
          </a:ln>
        </p:spPr>
      </p:sp>
      <p:sp>
        <p:nvSpPr>
          <p:cNvPr id="21" name="Text 15"/>
          <p:cNvSpPr txBox="1"/>
          <p:nvPr/>
        </p:nvSpPr>
        <p:spPr>
          <a:xfrm>
            <a:off x="7955280" y="2011680"/>
            <a:ext cx="384048" cy="384048"/>
          </a:xfrm>
          <a:prstGeom prst="rect">
            <a:avLst/>
          </a:prstGeom>
          <a:noFill/>
          <a:ln/>
        </p:spPr>
        <p:txBody>
          <a:bodyPr wrap="square" lIns="0" tIns="0" rIns="0" bIns="0" rtlCol="0" anchor="ctr"/>
          <a:lstStyle/>
          <a:p>
            <a:pPr algn="ctr" indent="0" marL="0">
              <a:buNone/>
            </a:pPr>
            <a:r>
              <a:rPr lang="en-US" sz="1300" b="1" dirty="0">
                <a:solidFill>
                  <a:srgbClr val="0A1F5C"/>
                </a:solidFill>
              </a:rPr>
              <a:t>1</a:t>
            </a:r>
            <a:endParaRPr lang="en-US" sz="1300" dirty="0"/>
          </a:p>
        </p:txBody>
      </p:sp>
      <p:sp>
        <p:nvSpPr>
          <p:cNvPr id="22" name="Text 16"/>
          <p:cNvSpPr txBox="1"/>
          <p:nvPr/>
        </p:nvSpPr>
        <p:spPr>
          <a:xfrm>
            <a:off x="8503920" y="1993392"/>
            <a:ext cx="2926080" cy="219456"/>
          </a:xfrm>
          <a:prstGeom prst="rect">
            <a:avLst/>
          </a:prstGeom>
          <a:noFill/>
          <a:ln/>
        </p:spPr>
        <p:txBody>
          <a:bodyPr wrap="square" lIns="0" tIns="0" rIns="0" bIns="0" rtlCol="0" anchor="t"/>
          <a:lstStyle/>
          <a:p>
            <a:pPr indent="0" marL="0">
              <a:buNone/>
            </a:pPr>
            <a:r>
              <a:rPr lang="en-US" sz="1000" b="1" spc="200" kern="0" dirty="0">
                <a:solidFill>
                  <a:srgbClr val="3CC3F0"/>
                </a:solidFill>
              </a:rPr>
              <a:t>NORMAL</a:t>
            </a:r>
            <a:endParaRPr lang="en-US" sz="1000" dirty="0"/>
          </a:p>
        </p:txBody>
      </p:sp>
      <p:sp>
        <p:nvSpPr>
          <p:cNvPr id="23" name="Text 17"/>
          <p:cNvSpPr txBox="1"/>
          <p:nvPr/>
        </p:nvSpPr>
        <p:spPr>
          <a:xfrm>
            <a:off x="8503920" y="2240280"/>
            <a:ext cx="2971800" cy="566928"/>
          </a:xfrm>
          <a:prstGeom prst="rect">
            <a:avLst/>
          </a:prstGeom>
          <a:noFill/>
          <a:ln/>
        </p:spPr>
        <p:txBody>
          <a:bodyPr wrap="square" lIns="0" tIns="0" rIns="0" bIns="0" rtlCol="0" anchor="t"/>
          <a:lstStyle/>
          <a:p>
            <a:pPr indent="0" marL="0">
              <a:buNone/>
            </a:pPr>
            <a:r>
              <a:rPr lang="en-US" sz="1200" dirty="0">
                <a:solidFill>
                  <a:srgbClr val="FFFFFF"/>
                </a:solidFill>
              </a:rPr>
              <a:t>M-101 asks why to record readings at home</a:t>
            </a:r>
            <a:endParaRPr lang="en-US" sz="1200" dirty="0"/>
          </a:p>
        </p:txBody>
      </p:sp>
      <p:sp>
        <p:nvSpPr>
          <p:cNvPr id="24" name="Text 18"/>
          <p:cNvSpPr txBox="1"/>
          <p:nvPr/>
        </p:nvSpPr>
        <p:spPr>
          <a:xfrm>
            <a:off x="8503920" y="2724912"/>
            <a:ext cx="2971800" cy="274320"/>
          </a:xfrm>
          <a:prstGeom prst="rect">
            <a:avLst/>
          </a:prstGeom>
          <a:noFill/>
          <a:ln/>
        </p:spPr>
        <p:txBody>
          <a:bodyPr wrap="square" lIns="0" tIns="0" rIns="0" bIns="0" rtlCol="0" anchor="t"/>
          <a:lstStyle/>
          <a:p>
            <a:pPr indent="0" marL="0">
              <a:buNone/>
            </a:pPr>
            <a:r>
              <a:rPr lang="en-US" sz="1100" b="1" dirty="0">
                <a:solidFill>
                  <a:srgbClr val="CFE0FF"/>
                </a:solidFill>
              </a:rPr>
              <a:t>Cited answer: EDU-401 (v4)</a:t>
            </a:r>
            <a:endParaRPr lang="en-US" sz="1100" dirty="0"/>
          </a:p>
        </p:txBody>
      </p:sp>
      <p:sp>
        <p:nvSpPr>
          <p:cNvPr id="25" name="Shape 19"/>
          <p:cNvSpPr/>
          <p:nvPr/>
        </p:nvSpPr>
        <p:spPr>
          <a:xfrm>
            <a:off x="7955280" y="3383280"/>
            <a:ext cx="384048" cy="384048"/>
          </a:xfrm>
          <a:prstGeom prst="ellipse">
            <a:avLst/>
          </a:prstGeom>
          <a:solidFill>
            <a:schemeClr val="accent2"/>
          </a:solidFill>
          <a:ln w="12700">
            <a:solidFill>
              <a:schemeClr val="accent2"/>
            </a:solidFill>
            <a:prstDash val="solid"/>
          </a:ln>
        </p:spPr>
      </p:sp>
      <p:sp>
        <p:nvSpPr>
          <p:cNvPr id="26" name="Text 20"/>
          <p:cNvSpPr txBox="1"/>
          <p:nvPr/>
        </p:nvSpPr>
        <p:spPr>
          <a:xfrm>
            <a:off x="7955280" y="3383280"/>
            <a:ext cx="384048" cy="384048"/>
          </a:xfrm>
          <a:prstGeom prst="rect">
            <a:avLst/>
          </a:prstGeom>
          <a:noFill/>
          <a:ln/>
        </p:spPr>
        <p:txBody>
          <a:bodyPr wrap="square" lIns="0" tIns="0" rIns="0" bIns="0" rtlCol="0" anchor="ctr"/>
          <a:lstStyle/>
          <a:p>
            <a:pPr algn="ctr" indent="0" marL="0">
              <a:buNone/>
            </a:pPr>
            <a:r>
              <a:rPr lang="en-US" sz="1300" b="1" dirty="0">
                <a:solidFill>
                  <a:srgbClr val="0A1F5C"/>
                </a:solidFill>
              </a:rPr>
              <a:t>2</a:t>
            </a:r>
            <a:endParaRPr lang="en-US" sz="1300" dirty="0"/>
          </a:p>
        </p:txBody>
      </p:sp>
      <p:sp>
        <p:nvSpPr>
          <p:cNvPr id="27" name="Text 21"/>
          <p:cNvSpPr txBox="1"/>
          <p:nvPr/>
        </p:nvSpPr>
        <p:spPr>
          <a:xfrm>
            <a:off x="8503920" y="3364992"/>
            <a:ext cx="2926080" cy="219456"/>
          </a:xfrm>
          <a:prstGeom prst="rect">
            <a:avLst/>
          </a:prstGeom>
          <a:noFill/>
          <a:ln/>
        </p:spPr>
        <p:txBody>
          <a:bodyPr wrap="square" lIns="0" tIns="0" rIns="0" bIns="0" rtlCol="0" anchor="t"/>
          <a:lstStyle/>
          <a:p>
            <a:pPr indent="0" marL="0">
              <a:buNone/>
            </a:pPr>
            <a:r>
              <a:rPr lang="en-US" sz="1000" b="1" spc="200" kern="0" dirty="0">
                <a:solidFill>
                  <a:srgbClr val="3CC3F0"/>
                </a:solidFill>
              </a:rPr>
              <a:t>EXCEPTION</a:t>
            </a:r>
            <a:endParaRPr lang="en-US" sz="1000" dirty="0"/>
          </a:p>
        </p:txBody>
      </p:sp>
      <p:sp>
        <p:nvSpPr>
          <p:cNvPr id="28" name="Text 22"/>
          <p:cNvSpPr txBox="1"/>
          <p:nvPr/>
        </p:nvSpPr>
        <p:spPr>
          <a:xfrm>
            <a:off x="8503920" y="3611880"/>
            <a:ext cx="2971800" cy="566928"/>
          </a:xfrm>
          <a:prstGeom prst="rect">
            <a:avLst/>
          </a:prstGeom>
          <a:noFill/>
          <a:ln/>
        </p:spPr>
        <p:txBody>
          <a:bodyPr wrap="square" lIns="0" tIns="0" rIns="0" bIns="0" rtlCol="0" anchor="t"/>
          <a:lstStyle/>
          <a:p>
            <a:pPr indent="0" marL="0">
              <a:buNone/>
            </a:pPr>
            <a:r>
              <a:rPr lang="en-US" sz="1200" dirty="0">
                <a:solidFill>
                  <a:srgbClr val="FFFFFF"/>
                </a:solidFill>
              </a:rPr>
              <a:t>M-103 asks anything; consent has expired</a:t>
            </a:r>
            <a:endParaRPr lang="en-US" sz="1200" dirty="0"/>
          </a:p>
        </p:txBody>
      </p:sp>
      <p:sp>
        <p:nvSpPr>
          <p:cNvPr id="29" name="Text 23"/>
          <p:cNvSpPr txBox="1"/>
          <p:nvPr/>
        </p:nvSpPr>
        <p:spPr>
          <a:xfrm>
            <a:off x="8503920" y="4096512"/>
            <a:ext cx="2971800" cy="274320"/>
          </a:xfrm>
          <a:prstGeom prst="rect">
            <a:avLst/>
          </a:prstGeom>
          <a:noFill/>
          <a:ln/>
        </p:spPr>
        <p:txBody>
          <a:bodyPr wrap="square" lIns="0" tIns="0" rIns="0" bIns="0" rtlCol="0" anchor="t"/>
          <a:lstStyle/>
          <a:p>
            <a:pPr indent="0" marL="0">
              <a:buNone/>
            </a:pPr>
            <a:r>
              <a:rPr lang="en-US" sz="1100" b="1" dirty="0">
                <a:solidFill>
                  <a:srgbClr val="CFE0FF"/>
                </a:solidFill>
              </a:rPr>
              <a:t>Processing stops: ER-501, staff</a:t>
            </a:r>
            <a:endParaRPr lang="en-US" sz="1100" dirty="0"/>
          </a:p>
        </p:txBody>
      </p:sp>
      <p:sp>
        <p:nvSpPr>
          <p:cNvPr id="30" name="Shape 24"/>
          <p:cNvSpPr/>
          <p:nvPr/>
        </p:nvSpPr>
        <p:spPr>
          <a:xfrm>
            <a:off x="7955280" y="4754880"/>
            <a:ext cx="384048" cy="384048"/>
          </a:xfrm>
          <a:prstGeom prst="ellipse">
            <a:avLst/>
          </a:prstGeom>
          <a:solidFill>
            <a:schemeClr val="accent2"/>
          </a:solidFill>
          <a:ln w="12700">
            <a:solidFill>
              <a:schemeClr val="accent2"/>
            </a:solidFill>
            <a:prstDash val="solid"/>
          </a:ln>
        </p:spPr>
      </p:sp>
      <p:sp>
        <p:nvSpPr>
          <p:cNvPr id="31" name="Text 25"/>
          <p:cNvSpPr txBox="1"/>
          <p:nvPr/>
        </p:nvSpPr>
        <p:spPr>
          <a:xfrm>
            <a:off x="7955280" y="4754880"/>
            <a:ext cx="384048" cy="384048"/>
          </a:xfrm>
          <a:prstGeom prst="rect">
            <a:avLst/>
          </a:prstGeom>
          <a:noFill/>
          <a:ln/>
        </p:spPr>
        <p:txBody>
          <a:bodyPr wrap="square" lIns="0" tIns="0" rIns="0" bIns="0" rtlCol="0" anchor="ctr"/>
          <a:lstStyle/>
          <a:p>
            <a:pPr algn="ctr" indent="0" marL="0">
              <a:buNone/>
            </a:pPr>
            <a:r>
              <a:rPr lang="en-US" sz="1300" b="1" dirty="0">
                <a:solidFill>
                  <a:srgbClr val="0A1F5C"/>
                </a:solidFill>
              </a:rPr>
              <a:t>3</a:t>
            </a:r>
            <a:endParaRPr lang="en-US" sz="1300" dirty="0"/>
          </a:p>
        </p:txBody>
      </p:sp>
      <p:sp>
        <p:nvSpPr>
          <p:cNvPr id="32" name="Text 26"/>
          <p:cNvSpPr txBox="1"/>
          <p:nvPr/>
        </p:nvSpPr>
        <p:spPr>
          <a:xfrm>
            <a:off x="8503920" y="4736592"/>
            <a:ext cx="2926080" cy="219456"/>
          </a:xfrm>
          <a:prstGeom prst="rect">
            <a:avLst/>
          </a:prstGeom>
          <a:noFill/>
          <a:ln/>
        </p:spPr>
        <p:txBody>
          <a:bodyPr wrap="square" lIns="0" tIns="0" rIns="0" bIns="0" rtlCol="0" anchor="t"/>
          <a:lstStyle/>
          <a:p>
            <a:pPr indent="0" marL="0">
              <a:buNone/>
            </a:pPr>
            <a:r>
              <a:rPr lang="en-US" sz="1000" b="1" spc="200" kern="0" dirty="0">
                <a:solidFill>
                  <a:srgbClr val="3CC3F0"/>
                </a:solidFill>
              </a:rPr>
              <a:t>SAFETY</a:t>
            </a:r>
            <a:endParaRPr lang="en-US" sz="1000" dirty="0"/>
          </a:p>
        </p:txBody>
      </p:sp>
      <p:sp>
        <p:nvSpPr>
          <p:cNvPr id="33" name="Text 27"/>
          <p:cNvSpPr txBox="1"/>
          <p:nvPr/>
        </p:nvSpPr>
        <p:spPr>
          <a:xfrm>
            <a:off x="8503920" y="4983480"/>
            <a:ext cx="2971800" cy="566928"/>
          </a:xfrm>
          <a:prstGeom prst="rect">
            <a:avLst/>
          </a:prstGeom>
          <a:noFill/>
          <a:ln/>
        </p:spPr>
        <p:txBody>
          <a:bodyPr wrap="square" lIns="0" tIns="0" rIns="0" bIns="0" rtlCol="0" anchor="t"/>
          <a:lstStyle/>
          <a:p>
            <a:pPr indent="0" marL="0">
              <a:buNone/>
            </a:pPr>
            <a:r>
              <a:rPr lang="en-US" sz="1200" dirty="0">
                <a:solidFill>
                  <a:srgbClr val="FFFFFF"/>
                </a:solidFill>
              </a:rPr>
              <a:t>M-101 asks to raise an insulin dose; M-102 asks for a blood pressure summary</a:t>
            </a:r>
            <a:endParaRPr lang="en-US" sz="1200" dirty="0"/>
          </a:p>
        </p:txBody>
      </p:sp>
      <p:sp>
        <p:nvSpPr>
          <p:cNvPr id="34" name="Text 28"/>
          <p:cNvSpPr txBox="1"/>
          <p:nvPr/>
        </p:nvSpPr>
        <p:spPr>
          <a:xfrm>
            <a:off x="8503920" y="5650992"/>
            <a:ext cx="2971800" cy="274320"/>
          </a:xfrm>
          <a:prstGeom prst="rect">
            <a:avLst/>
          </a:prstGeom>
          <a:noFill/>
          <a:ln/>
        </p:spPr>
        <p:txBody>
          <a:bodyPr wrap="square" lIns="0" tIns="0" rIns="0" bIns="0" rtlCol="0" anchor="t"/>
          <a:lstStyle/>
          <a:p>
            <a:pPr indent="0" marL="0">
              <a:buNone/>
            </a:pPr>
            <a:r>
              <a:rPr lang="en-US" sz="1100" b="1" dirty="0">
                <a:solidFill>
                  <a:srgbClr val="CFE0FF"/>
                </a:solidFill>
              </a:rPr>
              <a:t>ER-503 declined; ER-502 urgent review</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ESCALATION RULES</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Four rules, applied exactly as supplied</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Screenshot frame"/>
          <p:cNvSpPr/>
          <p:nvPr/>
        </p:nvSpPr>
        <p:spPr>
          <a:xfrm>
            <a:off x="548640" y="1417320"/>
            <a:ext cx="5394960" cy="2926080"/>
          </a:xfrm>
          <a:prstGeom prst="roundRect">
            <a:avLst>
              <a:gd name="adj" fmla="val 3125"/>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pic>
        <p:nvPicPr>
          <p:cNvPr id="6" name="Image 0" descr="Staff review queue listing urgent cases">    </p:cNvPr>
          <p:cNvPicPr>
            <a:picLocks noChangeAspect="1"/>
          </p:cNvPicPr>
          <p:nvPr/>
        </p:nvPicPr>
        <p:blipFill>
          <a:blip r:embed="rId2"/>
          <a:stretch>
            <a:fillRect/>
          </a:stretch>
        </p:blipFill>
        <p:spPr>
          <a:xfrm>
            <a:off x="658368" y="1527048"/>
            <a:ext cx="5175504" cy="2613373"/>
          </a:xfrm>
          <a:prstGeom prst="rect">
            <a:avLst/>
          </a:prstGeom>
        </p:spPr>
      </p:pic>
      <p:sp>
        <p:nvSpPr>
          <p:cNvPr id="7" name="Text 4"/>
          <p:cNvSpPr txBox="1"/>
          <p:nvPr/>
        </p:nvSpPr>
        <p:spPr>
          <a:xfrm>
            <a:off x="548640" y="4462272"/>
            <a:ext cx="5394960" cy="274320"/>
          </a:xfrm>
          <a:prstGeom prst="rect">
            <a:avLst/>
          </a:prstGeom>
          <a:noFill/>
          <a:ln/>
        </p:spPr>
        <p:txBody>
          <a:bodyPr wrap="square" lIns="0" tIns="0" rIns="0" bIns="0" rtlCol="0" anchor="t"/>
          <a:lstStyle/>
          <a:p>
            <a:pPr indent="0" marL="0">
              <a:buNone/>
            </a:pPr>
            <a:r>
              <a:rPr lang="en-US" sz="1100" dirty="0">
                <a:solidFill>
                  <a:srgbClr val="5B6478"/>
                </a:solidFill>
              </a:rPr>
              <a:t>Staff review queue: every rule match waits for a person</a:t>
            </a:r>
            <a:endParaRPr lang="en-US" sz="1100" dirty="0"/>
          </a:p>
        </p:txBody>
      </p:sp>
      <p:sp>
        <p:nvSpPr>
          <p:cNvPr id="8" name="Placeholder warning"/>
          <p:cNvSpPr/>
          <p:nvPr/>
        </p:nvSpPr>
        <p:spPr>
          <a:xfrm>
            <a:off x="548640" y="4892040"/>
            <a:ext cx="5394960" cy="1188720"/>
          </a:xfrm>
          <a:prstGeom prst="roundRect">
            <a:avLst>
              <a:gd name="adj" fmla="val 7692"/>
            </a:avLst>
          </a:prstGeom>
          <a:solidFill>
            <a:srgbClr val="FFF4DD"/>
          </a:solidFill>
          <a:ln w="12700">
            <a:solidFill>
              <a:srgbClr val="F3D9A4"/>
            </a:solidFill>
            <a:prstDash val="solid"/>
          </a:ln>
        </p:spPr>
      </p:sp>
      <p:sp>
        <p:nvSpPr>
          <p:cNvPr id="9" name="IconCircle"/>
          <p:cNvSpPr/>
          <p:nvPr/>
        </p:nvSpPr>
        <p:spPr>
          <a:xfrm>
            <a:off x="777240" y="5184648"/>
            <a:ext cx="548640" cy="548640"/>
          </a:xfrm>
          <a:prstGeom prst="ellipse">
            <a:avLst/>
          </a:prstGeom>
          <a:solidFill>
            <a:srgbClr val="F5A524"/>
          </a:solidFill>
          <a:ln w="12700">
            <a:solidFill>
              <a:srgbClr val="F5A524"/>
            </a:solidFill>
            <a:prstDash val="solid"/>
          </a:ln>
        </p:spPr>
      </p:sp>
      <p:pic>
        <p:nvPicPr>
          <p:cNvPr id="10" name="Image 1" descr="ExclamationTriangle icon">    </p:cNvPr>
          <p:cNvPicPr>
            <a:picLocks noChangeAspect="1"/>
          </p:cNvPicPr>
          <p:nvPr/>
        </p:nvPicPr>
        <p:blipFill>
          <a:blip r:embed="rId3"/>
          <a:stretch>
            <a:fillRect/>
          </a:stretch>
        </p:blipFill>
        <p:spPr>
          <a:xfrm>
            <a:off x="914400" y="5321808"/>
            <a:ext cx="274320" cy="274320"/>
          </a:xfrm>
          <a:prstGeom prst="rect">
            <a:avLst/>
          </a:prstGeom>
        </p:spPr>
      </p:pic>
      <p:sp>
        <p:nvSpPr>
          <p:cNvPr id="11" name="Text 7"/>
          <p:cNvSpPr txBox="1"/>
          <p:nvPr/>
        </p:nvSpPr>
        <p:spPr>
          <a:xfrm>
            <a:off x="1508760" y="5074920"/>
            <a:ext cx="4297680" cy="274320"/>
          </a:xfrm>
          <a:prstGeom prst="rect">
            <a:avLst/>
          </a:prstGeom>
          <a:noFill/>
          <a:ln/>
        </p:spPr>
        <p:txBody>
          <a:bodyPr wrap="square" lIns="0" tIns="0" rIns="0" bIns="0" rtlCol="0" anchor="t"/>
          <a:lstStyle/>
          <a:p>
            <a:pPr indent="0" marL="0">
              <a:buNone/>
            </a:pPr>
            <a:r>
              <a:rPr lang="en-US" sz="1300" b="1" dirty="0">
                <a:solidFill>
                  <a:schemeClr val="tx1"/>
                </a:solidFill>
              </a:rPr>
              <a:t>ER-502 test values are placeholders</a:t>
            </a:r>
            <a:endParaRPr lang="en-US" sz="1300" dirty="0"/>
          </a:p>
        </p:txBody>
      </p:sp>
      <p:sp>
        <p:nvSpPr>
          <p:cNvPr id="12" name="Text 8"/>
          <p:cNvSpPr txBox="1"/>
          <p:nvPr/>
        </p:nvSpPr>
        <p:spPr>
          <a:xfrm>
            <a:off x="1508760" y="5376672"/>
            <a:ext cx="4297680" cy="548640"/>
          </a:xfrm>
          <a:prstGeom prst="rect">
            <a:avLst/>
          </a:prstGeom>
          <a:noFill/>
          <a:ln/>
        </p:spPr>
        <p:txBody>
          <a:bodyPr wrap="square" lIns="0" tIns="0" rIns="0" bIns="0" rtlCol="0" anchor="t"/>
          <a:lstStyle/>
          <a:p>
            <a:pPr indent="0" marL="0">
              <a:buNone/>
            </a:pPr>
            <a:r>
              <a:rPr lang="en-US" sz="1150" dirty="0">
                <a:solidFill>
                  <a:srgbClr val="5B6478"/>
                </a:solidFill>
              </a:rPr>
              <a:t>Blood pressure 160/100 and glucose 300 are training values, not clinical thresholds.</a:t>
            </a:r>
            <a:endParaRPr lang="en-US" sz="1150" dirty="0"/>
          </a:p>
        </p:txBody>
      </p:sp>
      <p:sp>
        <p:nvSpPr>
          <p:cNvPr id="13" name="Rule card"/>
          <p:cNvSpPr/>
          <p:nvPr/>
        </p:nvSpPr>
        <p:spPr>
          <a:xfrm>
            <a:off x="6309360" y="1417320"/>
            <a:ext cx="5330952" cy="1051560"/>
          </a:xfrm>
          <a:prstGeom prst="roundRect">
            <a:avLst>
              <a:gd name="adj" fmla="val 8696"/>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4" name="Pill"/>
          <p:cNvSpPr/>
          <p:nvPr/>
        </p:nvSpPr>
        <p:spPr>
          <a:xfrm>
            <a:off x="6537960" y="1783080"/>
            <a:ext cx="914400" cy="329184"/>
          </a:xfrm>
          <a:prstGeom prst="roundRect">
            <a:avLst>
              <a:gd name="adj" fmla="val 50000"/>
            </a:avLst>
          </a:prstGeom>
          <a:solidFill>
            <a:srgbClr val="E5484D"/>
          </a:solidFill>
          <a:ln w="12700">
            <a:solidFill>
              <a:srgbClr val="E5484D"/>
            </a:solidFill>
            <a:prstDash val="solid"/>
          </a:ln>
        </p:spPr>
      </p:sp>
      <p:sp>
        <p:nvSpPr>
          <p:cNvPr id="15" name="Text 11"/>
          <p:cNvSpPr txBox="1"/>
          <p:nvPr/>
        </p:nvSpPr>
        <p:spPr>
          <a:xfrm>
            <a:off x="6537960" y="1783080"/>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rPr>
              <a:t>ER-501</a:t>
            </a:r>
            <a:endParaRPr lang="en-US" sz="1100" dirty="0"/>
          </a:p>
        </p:txBody>
      </p:sp>
      <p:sp>
        <p:nvSpPr>
          <p:cNvPr id="16" name="Text 12"/>
          <p:cNvSpPr txBox="1"/>
          <p:nvPr/>
        </p:nvSpPr>
        <p:spPr>
          <a:xfrm>
            <a:off x="7680960" y="1600200"/>
            <a:ext cx="3840480" cy="274320"/>
          </a:xfrm>
          <a:prstGeom prst="rect">
            <a:avLst/>
          </a:prstGeom>
          <a:noFill/>
          <a:ln/>
        </p:spPr>
        <p:txBody>
          <a:bodyPr wrap="square" lIns="0" tIns="0" rIns="0" bIns="0" rtlCol="0" anchor="t"/>
          <a:lstStyle/>
          <a:p>
            <a:pPr indent="0" marL="0">
              <a:buNone/>
            </a:pPr>
            <a:r>
              <a:rPr lang="en-US" sz="1300" b="1" dirty="0">
                <a:solidFill>
                  <a:schemeClr val="tx1"/>
                </a:solidFill>
              </a:rPr>
              <a:t>Consent is not active</a:t>
            </a:r>
            <a:endParaRPr lang="en-US" sz="1300" dirty="0"/>
          </a:p>
        </p:txBody>
      </p:sp>
      <p:sp>
        <p:nvSpPr>
          <p:cNvPr id="17" name="Text 13"/>
          <p:cNvSpPr txBox="1"/>
          <p:nvPr/>
        </p:nvSpPr>
        <p:spPr>
          <a:xfrm>
            <a:off x="7680960" y="1920240"/>
            <a:ext cx="3840480" cy="457200"/>
          </a:xfrm>
          <a:prstGeom prst="rect">
            <a:avLst/>
          </a:prstGeom>
          <a:noFill/>
          <a:ln/>
        </p:spPr>
        <p:txBody>
          <a:bodyPr wrap="square" lIns="0" tIns="0" rIns="0" bIns="0" rtlCol="0" anchor="t"/>
          <a:lstStyle/>
          <a:p>
            <a:pPr indent="0" marL="0">
              <a:buNone/>
            </a:pPr>
            <a:r>
              <a:rPr lang="en-US" sz="1150" dirty="0">
                <a:solidFill>
                  <a:srgbClr val="5B6478"/>
                </a:solidFill>
              </a:rPr>
              <a:t>Stop processing and direct the member to program staff</a:t>
            </a:r>
            <a:endParaRPr lang="en-US" sz="1150" dirty="0"/>
          </a:p>
        </p:txBody>
      </p:sp>
      <p:sp>
        <p:nvSpPr>
          <p:cNvPr id="18" name="Rule card"/>
          <p:cNvSpPr/>
          <p:nvPr/>
        </p:nvSpPr>
        <p:spPr>
          <a:xfrm>
            <a:off x="6309360" y="2606040"/>
            <a:ext cx="5330952" cy="1051560"/>
          </a:xfrm>
          <a:prstGeom prst="roundRect">
            <a:avLst>
              <a:gd name="adj" fmla="val 8696"/>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9" name="Pill"/>
          <p:cNvSpPr/>
          <p:nvPr/>
        </p:nvSpPr>
        <p:spPr>
          <a:xfrm>
            <a:off x="6537960" y="2971800"/>
            <a:ext cx="914400" cy="329184"/>
          </a:xfrm>
          <a:prstGeom prst="roundRect">
            <a:avLst>
              <a:gd name="adj" fmla="val 50000"/>
            </a:avLst>
          </a:prstGeom>
          <a:solidFill>
            <a:srgbClr val="F5A524"/>
          </a:solidFill>
          <a:ln w="12700">
            <a:solidFill>
              <a:srgbClr val="F5A524"/>
            </a:solidFill>
            <a:prstDash val="solid"/>
          </a:ln>
        </p:spPr>
      </p:sp>
      <p:sp>
        <p:nvSpPr>
          <p:cNvPr id="20" name="Text 16"/>
          <p:cNvSpPr txBox="1"/>
          <p:nvPr/>
        </p:nvSpPr>
        <p:spPr>
          <a:xfrm>
            <a:off x="6537960" y="2971800"/>
            <a:ext cx="914400" cy="329184"/>
          </a:xfrm>
          <a:prstGeom prst="rect">
            <a:avLst/>
          </a:prstGeom>
          <a:noFill/>
          <a:ln/>
        </p:spPr>
        <p:txBody>
          <a:bodyPr wrap="square" lIns="0" tIns="0" rIns="0" bIns="0" rtlCol="0" anchor="ctr"/>
          <a:lstStyle/>
          <a:p>
            <a:pPr algn="ctr" indent="0" marL="0">
              <a:buNone/>
            </a:pPr>
            <a:r>
              <a:rPr lang="en-US" sz="1100" b="1" dirty="0">
                <a:solidFill>
                  <a:srgbClr val="1F2937"/>
                </a:solidFill>
              </a:rPr>
              <a:t>ER-502</a:t>
            </a:r>
            <a:endParaRPr lang="en-US" sz="1100" dirty="0"/>
          </a:p>
        </p:txBody>
      </p:sp>
      <p:sp>
        <p:nvSpPr>
          <p:cNvPr id="21" name="Text 17"/>
          <p:cNvSpPr txBox="1"/>
          <p:nvPr/>
        </p:nvSpPr>
        <p:spPr>
          <a:xfrm>
            <a:off x="7680960" y="2788920"/>
            <a:ext cx="3840480" cy="274320"/>
          </a:xfrm>
          <a:prstGeom prst="rect">
            <a:avLst/>
          </a:prstGeom>
          <a:noFill/>
          <a:ln/>
        </p:spPr>
        <p:txBody>
          <a:bodyPr wrap="square" lIns="0" tIns="0" rIns="0" bIns="0" rtlCol="0" anchor="t"/>
          <a:lstStyle/>
          <a:p>
            <a:pPr indent="0" marL="0">
              <a:buNone/>
            </a:pPr>
            <a:r>
              <a:rPr lang="en-US" sz="1300" b="1" dirty="0">
                <a:solidFill>
                  <a:schemeClr val="tx1"/>
                </a:solidFill>
              </a:rPr>
              <a:t>Reading matches a configured test value</a:t>
            </a:r>
            <a:endParaRPr lang="en-US" sz="1300" dirty="0"/>
          </a:p>
        </p:txBody>
      </p:sp>
      <p:sp>
        <p:nvSpPr>
          <p:cNvPr id="22" name="Text 18"/>
          <p:cNvSpPr txBox="1"/>
          <p:nvPr/>
        </p:nvSpPr>
        <p:spPr>
          <a:xfrm>
            <a:off x="7680960" y="3108960"/>
            <a:ext cx="3840480" cy="457200"/>
          </a:xfrm>
          <a:prstGeom prst="rect">
            <a:avLst/>
          </a:prstGeom>
          <a:noFill/>
          <a:ln/>
        </p:spPr>
        <p:txBody>
          <a:bodyPr wrap="square" lIns="0" tIns="0" rIns="0" bIns="0" rtlCol="0" anchor="t"/>
          <a:lstStyle/>
          <a:p>
            <a:pPr indent="0" marL="0">
              <a:buNone/>
            </a:pPr>
            <a:r>
              <a:rPr lang="en-US" sz="1150" dirty="0">
                <a:solidFill>
                  <a:srgbClr val="5B6478"/>
                </a:solidFill>
              </a:rPr>
              <a:t>Create an urgent staff-review record; do not interpret</a:t>
            </a:r>
            <a:endParaRPr lang="en-US" sz="1150" dirty="0"/>
          </a:p>
        </p:txBody>
      </p:sp>
      <p:sp>
        <p:nvSpPr>
          <p:cNvPr id="23" name="Rule card"/>
          <p:cNvSpPr/>
          <p:nvPr/>
        </p:nvSpPr>
        <p:spPr>
          <a:xfrm>
            <a:off x="6309360" y="3794760"/>
            <a:ext cx="5330952" cy="1051560"/>
          </a:xfrm>
          <a:prstGeom prst="roundRect">
            <a:avLst>
              <a:gd name="adj" fmla="val 8696"/>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4" name="Pill"/>
          <p:cNvSpPr/>
          <p:nvPr/>
        </p:nvSpPr>
        <p:spPr>
          <a:xfrm>
            <a:off x="6537960" y="4160520"/>
            <a:ext cx="914400" cy="329184"/>
          </a:xfrm>
          <a:prstGeom prst="roundRect">
            <a:avLst>
              <a:gd name="adj" fmla="val 50000"/>
            </a:avLst>
          </a:prstGeom>
          <a:solidFill>
            <a:srgbClr val="1547C8"/>
          </a:solidFill>
          <a:ln w="12700">
            <a:solidFill>
              <a:srgbClr val="1547C8"/>
            </a:solidFill>
            <a:prstDash val="solid"/>
          </a:ln>
        </p:spPr>
      </p:sp>
      <p:sp>
        <p:nvSpPr>
          <p:cNvPr id="25" name="Text 21"/>
          <p:cNvSpPr txBox="1"/>
          <p:nvPr/>
        </p:nvSpPr>
        <p:spPr>
          <a:xfrm>
            <a:off x="6537960" y="4160520"/>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rPr>
              <a:t>ER-503</a:t>
            </a:r>
            <a:endParaRPr lang="en-US" sz="1100" dirty="0"/>
          </a:p>
        </p:txBody>
      </p:sp>
      <p:sp>
        <p:nvSpPr>
          <p:cNvPr id="26" name="Text 22"/>
          <p:cNvSpPr txBox="1"/>
          <p:nvPr/>
        </p:nvSpPr>
        <p:spPr>
          <a:xfrm>
            <a:off x="7680960" y="3977640"/>
            <a:ext cx="3840480" cy="274320"/>
          </a:xfrm>
          <a:prstGeom prst="rect">
            <a:avLst/>
          </a:prstGeom>
          <a:noFill/>
          <a:ln/>
        </p:spPr>
        <p:txBody>
          <a:bodyPr wrap="square" lIns="0" tIns="0" rIns="0" bIns="0" rtlCol="0" anchor="t"/>
          <a:lstStyle/>
          <a:p>
            <a:pPr indent="0" marL="0">
              <a:buNone/>
            </a:pPr>
            <a:r>
              <a:rPr lang="en-US" sz="1300" b="1" dirty="0">
                <a:solidFill>
                  <a:schemeClr val="tx1"/>
                </a:solidFill>
              </a:rPr>
              <a:t>Member asks to change medication</a:t>
            </a:r>
            <a:endParaRPr lang="en-US" sz="1300" dirty="0"/>
          </a:p>
        </p:txBody>
      </p:sp>
      <p:sp>
        <p:nvSpPr>
          <p:cNvPr id="27" name="Text 23"/>
          <p:cNvSpPr txBox="1"/>
          <p:nvPr/>
        </p:nvSpPr>
        <p:spPr>
          <a:xfrm>
            <a:off x="7680960" y="4297680"/>
            <a:ext cx="3840480" cy="457200"/>
          </a:xfrm>
          <a:prstGeom prst="rect">
            <a:avLst/>
          </a:prstGeom>
          <a:noFill/>
          <a:ln/>
        </p:spPr>
        <p:txBody>
          <a:bodyPr wrap="square" lIns="0" tIns="0" rIns="0" bIns="0" rtlCol="0" anchor="t"/>
          <a:lstStyle/>
          <a:p>
            <a:pPr indent="0" marL="0">
              <a:buNone/>
            </a:pPr>
            <a:r>
              <a:rPr lang="en-US" sz="1150" dirty="0">
                <a:solidFill>
                  <a:srgbClr val="5B6478"/>
                </a:solidFill>
              </a:rPr>
              <a:t>Decline and direct to a qualified clinician</a:t>
            </a:r>
            <a:endParaRPr lang="en-US" sz="1150" dirty="0"/>
          </a:p>
        </p:txBody>
      </p:sp>
      <p:sp>
        <p:nvSpPr>
          <p:cNvPr id="28" name="Rule card"/>
          <p:cNvSpPr/>
          <p:nvPr/>
        </p:nvSpPr>
        <p:spPr>
          <a:xfrm>
            <a:off x="6309360" y="4983480"/>
            <a:ext cx="5330952" cy="1051560"/>
          </a:xfrm>
          <a:prstGeom prst="roundRect">
            <a:avLst>
              <a:gd name="adj" fmla="val 8696"/>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9" name="Pill"/>
          <p:cNvSpPr/>
          <p:nvPr/>
        </p:nvSpPr>
        <p:spPr>
          <a:xfrm>
            <a:off x="6537960" y="5349240"/>
            <a:ext cx="914400" cy="329184"/>
          </a:xfrm>
          <a:prstGeom prst="roundRect">
            <a:avLst>
              <a:gd name="adj" fmla="val 50000"/>
            </a:avLst>
          </a:prstGeom>
          <a:solidFill>
            <a:srgbClr val="8338EC"/>
          </a:solidFill>
          <a:ln w="12700">
            <a:solidFill>
              <a:srgbClr val="8338EC"/>
            </a:solidFill>
            <a:prstDash val="solid"/>
          </a:ln>
        </p:spPr>
      </p:sp>
      <p:sp>
        <p:nvSpPr>
          <p:cNvPr id="30" name="Text 26"/>
          <p:cNvSpPr txBox="1"/>
          <p:nvPr/>
        </p:nvSpPr>
        <p:spPr>
          <a:xfrm>
            <a:off x="6537960" y="5349240"/>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rPr>
              <a:t>ER-504</a:t>
            </a:r>
            <a:endParaRPr lang="en-US" sz="1100" dirty="0"/>
          </a:p>
        </p:txBody>
      </p:sp>
      <p:sp>
        <p:nvSpPr>
          <p:cNvPr id="31" name="Text 27"/>
          <p:cNvSpPr txBox="1"/>
          <p:nvPr/>
        </p:nvSpPr>
        <p:spPr>
          <a:xfrm>
            <a:off x="7680960" y="5166360"/>
            <a:ext cx="3840480" cy="274320"/>
          </a:xfrm>
          <a:prstGeom prst="rect">
            <a:avLst/>
          </a:prstGeom>
          <a:noFill/>
          <a:ln/>
        </p:spPr>
        <p:txBody>
          <a:bodyPr wrap="square" lIns="0" tIns="0" rIns="0" bIns="0" rtlCol="0" anchor="t"/>
          <a:lstStyle/>
          <a:p>
            <a:pPr indent="0" marL="0">
              <a:buNone/>
            </a:pPr>
            <a:r>
              <a:rPr lang="en-US" sz="1300" b="1" dirty="0">
                <a:solidFill>
                  <a:schemeClr val="tx1"/>
                </a:solidFill>
              </a:rPr>
              <a:t>Source or reading is contradictory</a:t>
            </a:r>
            <a:endParaRPr lang="en-US" sz="1300" dirty="0"/>
          </a:p>
        </p:txBody>
      </p:sp>
      <p:sp>
        <p:nvSpPr>
          <p:cNvPr id="32" name="Text 28"/>
          <p:cNvSpPr txBox="1"/>
          <p:nvPr/>
        </p:nvSpPr>
        <p:spPr>
          <a:xfrm>
            <a:off x="7680960" y="5486400"/>
            <a:ext cx="3840480" cy="457200"/>
          </a:xfrm>
          <a:prstGeom prst="rect">
            <a:avLst/>
          </a:prstGeom>
          <a:noFill/>
          <a:ln/>
        </p:spPr>
        <p:txBody>
          <a:bodyPr wrap="square" lIns="0" tIns="0" rIns="0" bIns="0" rtlCol="0" anchor="t"/>
          <a:lstStyle/>
          <a:p>
            <a:pPr indent="0" marL="0">
              <a:buNone/>
            </a:pPr>
            <a:r>
              <a:rPr lang="en-US" sz="1150" dirty="0">
                <a:solidFill>
                  <a:srgbClr val="5B6478"/>
                </a:solidFill>
              </a:rPr>
              <a:t>Mark the uncertainty and request human review</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05  ·  RESULTS</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14 of 14 scenarios pass in the offline dry run</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KPI card"/>
          <p:cNvSpPr/>
          <p:nvPr/>
        </p:nvSpPr>
        <p:spPr>
          <a:xfrm>
            <a:off x="548640" y="1417320"/>
            <a:ext cx="2651760" cy="1325880"/>
          </a:xfrm>
          <a:prstGeom prst="roundRect">
            <a:avLst>
              <a:gd name="adj" fmla="val 689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 name="Text 4"/>
          <p:cNvSpPr txBox="1"/>
          <p:nvPr/>
        </p:nvSpPr>
        <p:spPr>
          <a:xfrm>
            <a:off x="777240" y="1554480"/>
            <a:ext cx="2286000" cy="685800"/>
          </a:xfrm>
          <a:prstGeom prst="rect">
            <a:avLst/>
          </a:prstGeom>
          <a:noFill/>
          <a:ln/>
        </p:spPr>
        <p:txBody>
          <a:bodyPr wrap="square" lIns="0" tIns="0" rIns="0" bIns="0" rtlCol="0" anchor="ctr"/>
          <a:lstStyle/>
          <a:p>
            <a:pPr indent="0" marL="0">
              <a:buNone/>
            </a:pPr>
            <a:r>
              <a:rPr lang="en-US" sz="3800" b="1" dirty="0">
                <a:solidFill>
                  <a:schemeClr val="accent1"/>
                </a:solidFill>
              </a:rPr>
              <a:t>14/14</a:t>
            </a:r>
            <a:endParaRPr lang="en-US" sz="3800" dirty="0"/>
          </a:p>
        </p:txBody>
      </p:sp>
      <p:sp>
        <p:nvSpPr>
          <p:cNvPr id="7" name="Text 5"/>
          <p:cNvSpPr txBox="1"/>
          <p:nvPr/>
        </p:nvSpPr>
        <p:spPr>
          <a:xfrm>
            <a:off x="777240" y="2258568"/>
            <a:ext cx="2286000" cy="411480"/>
          </a:xfrm>
          <a:prstGeom prst="rect">
            <a:avLst/>
          </a:prstGeom>
          <a:noFill/>
          <a:ln/>
        </p:spPr>
        <p:txBody>
          <a:bodyPr wrap="square" lIns="0" tIns="0" rIns="0" bIns="0" rtlCol="0" anchor="t"/>
          <a:lstStyle/>
          <a:p>
            <a:pPr indent="0" marL="0">
              <a:buNone/>
            </a:pPr>
            <a:r>
              <a:rPr lang="en-US" sz="1150" dirty="0">
                <a:solidFill>
                  <a:srgbClr val="5B6478"/>
                </a:solidFill>
              </a:rPr>
              <a:t>scenarios passed</a:t>
            </a:r>
            <a:endParaRPr lang="en-US" sz="1150" dirty="0"/>
          </a:p>
        </p:txBody>
      </p:sp>
      <p:sp>
        <p:nvSpPr>
          <p:cNvPr id="8" name="KPI card"/>
          <p:cNvSpPr/>
          <p:nvPr/>
        </p:nvSpPr>
        <p:spPr>
          <a:xfrm>
            <a:off x="3429000" y="1417320"/>
            <a:ext cx="2651760" cy="1325880"/>
          </a:xfrm>
          <a:prstGeom prst="roundRect">
            <a:avLst>
              <a:gd name="adj" fmla="val 689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9" name="Text 7"/>
          <p:cNvSpPr txBox="1"/>
          <p:nvPr/>
        </p:nvSpPr>
        <p:spPr>
          <a:xfrm>
            <a:off x="3657600" y="1554480"/>
            <a:ext cx="2286000" cy="685800"/>
          </a:xfrm>
          <a:prstGeom prst="rect">
            <a:avLst/>
          </a:prstGeom>
          <a:noFill/>
          <a:ln/>
        </p:spPr>
        <p:txBody>
          <a:bodyPr wrap="square" lIns="0" tIns="0" rIns="0" bIns="0" rtlCol="0" anchor="ctr"/>
          <a:lstStyle/>
          <a:p>
            <a:pPr indent="0" marL="0">
              <a:buNone/>
            </a:pPr>
            <a:r>
              <a:rPr lang="en-US" sz="3800" b="1" dirty="0">
                <a:solidFill>
                  <a:schemeClr val="accent1"/>
                </a:solidFill>
              </a:rPr>
              <a:t>105</a:t>
            </a:r>
            <a:endParaRPr lang="en-US" sz="3800" dirty="0"/>
          </a:p>
        </p:txBody>
      </p:sp>
      <p:sp>
        <p:nvSpPr>
          <p:cNvPr id="10" name="Text 8"/>
          <p:cNvSpPr txBox="1"/>
          <p:nvPr/>
        </p:nvSpPr>
        <p:spPr>
          <a:xfrm>
            <a:off x="3657600" y="2258568"/>
            <a:ext cx="2286000" cy="411480"/>
          </a:xfrm>
          <a:prstGeom prst="rect">
            <a:avLst/>
          </a:prstGeom>
          <a:noFill/>
          <a:ln/>
        </p:spPr>
        <p:txBody>
          <a:bodyPr wrap="square" lIns="0" tIns="0" rIns="0" bIns="0" rtlCol="0" anchor="t"/>
          <a:lstStyle/>
          <a:p>
            <a:pPr indent="0" marL="0">
              <a:buNone/>
            </a:pPr>
            <a:r>
              <a:rPr lang="en-US" sz="1150" dirty="0">
                <a:solidFill>
                  <a:srgbClr val="5B6478"/>
                </a:solidFill>
              </a:rPr>
              <a:t>synthetic members</a:t>
            </a:r>
            <a:endParaRPr lang="en-US" sz="1150" dirty="0"/>
          </a:p>
        </p:txBody>
      </p:sp>
      <p:sp>
        <p:nvSpPr>
          <p:cNvPr id="11" name="KPI card"/>
          <p:cNvSpPr/>
          <p:nvPr/>
        </p:nvSpPr>
        <p:spPr>
          <a:xfrm>
            <a:off x="548640" y="2926080"/>
            <a:ext cx="2651760" cy="1325880"/>
          </a:xfrm>
          <a:prstGeom prst="roundRect">
            <a:avLst>
              <a:gd name="adj" fmla="val 689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2" name="Text 10"/>
          <p:cNvSpPr txBox="1"/>
          <p:nvPr/>
        </p:nvSpPr>
        <p:spPr>
          <a:xfrm>
            <a:off x="777240" y="3063240"/>
            <a:ext cx="2286000" cy="685800"/>
          </a:xfrm>
          <a:prstGeom prst="rect">
            <a:avLst/>
          </a:prstGeom>
          <a:noFill/>
          <a:ln/>
        </p:spPr>
        <p:txBody>
          <a:bodyPr wrap="square" lIns="0" tIns="0" rIns="0" bIns="0" rtlCol="0" anchor="ctr"/>
          <a:lstStyle/>
          <a:p>
            <a:pPr indent="0" marL="0">
              <a:buNone/>
            </a:pPr>
            <a:r>
              <a:rPr lang="en-US" sz="3800" b="1" dirty="0">
                <a:solidFill>
                  <a:schemeClr val="accent1"/>
                </a:solidFill>
              </a:rPr>
              <a:t>2,254</a:t>
            </a:r>
            <a:endParaRPr lang="en-US" sz="3800" dirty="0"/>
          </a:p>
        </p:txBody>
      </p:sp>
      <p:sp>
        <p:nvSpPr>
          <p:cNvPr id="13" name="Text 11"/>
          <p:cNvSpPr txBox="1"/>
          <p:nvPr/>
        </p:nvSpPr>
        <p:spPr>
          <a:xfrm>
            <a:off x="777240" y="3767328"/>
            <a:ext cx="2286000" cy="411480"/>
          </a:xfrm>
          <a:prstGeom prst="rect">
            <a:avLst/>
          </a:prstGeom>
          <a:noFill/>
          <a:ln/>
        </p:spPr>
        <p:txBody>
          <a:bodyPr wrap="square" lIns="0" tIns="0" rIns="0" bIns="0" rtlCol="0" anchor="t"/>
          <a:lstStyle/>
          <a:p>
            <a:pPr indent="0" marL="0">
              <a:buNone/>
            </a:pPr>
            <a:r>
              <a:rPr lang="en-US" sz="1150" dirty="0">
                <a:solidFill>
                  <a:srgbClr val="5B6478"/>
                </a:solidFill>
              </a:rPr>
              <a:t>active readings</a:t>
            </a:r>
            <a:endParaRPr lang="en-US" sz="1150" dirty="0"/>
          </a:p>
        </p:txBody>
      </p:sp>
      <p:sp>
        <p:nvSpPr>
          <p:cNvPr id="14" name="KPI card"/>
          <p:cNvSpPr/>
          <p:nvPr/>
        </p:nvSpPr>
        <p:spPr>
          <a:xfrm>
            <a:off x="3429000" y="2926080"/>
            <a:ext cx="2651760" cy="1325880"/>
          </a:xfrm>
          <a:prstGeom prst="roundRect">
            <a:avLst>
              <a:gd name="adj" fmla="val 689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5" name="Text 13"/>
          <p:cNvSpPr txBox="1"/>
          <p:nvPr/>
        </p:nvSpPr>
        <p:spPr>
          <a:xfrm>
            <a:off x="3657600" y="3063240"/>
            <a:ext cx="2286000" cy="685800"/>
          </a:xfrm>
          <a:prstGeom prst="rect">
            <a:avLst/>
          </a:prstGeom>
          <a:noFill/>
          <a:ln/>
        </p:spPr>
        <p:txBody>
          <a:bodyPr wrap="square" lIns="0" tIns="0" rIns="0" bIns="0" rtlCol="0" anchor="ctr"/>
          <a:lstStyle/>
          <a:p>
            <a:pPr indent="0" marL="0">
              <a:buNone/>
            </a:pPr>
            <a:r>
              <a:rPr lang="en-US" sz="3800" b="1" dirty="0">
                <a:solidFill>
                  <a:schemeClr val="accent1"/>
                </a:solidFill>
              </a:rPr>
              <a:t>24</a:t>
            </a:r>
            <a:endParaRPr lang="en-US" sz="3800" dirty="0"/>
          </a:p>
        </p:txBody>
      </p:sp>
      <p:sp>
        <p:nvSpPr>
          <p:cNvPr id="16" name="Text 14"/>
          <p:cNvSpPr txBox="1"/>
          <p:nvPr/>
        </p:nvSpPr>
        <p:spPr>
          <a:xfrm>
            <a:off x="3657600" y="3767328"/>
            <a:ext cx="2286000" cy="411480"/>
          </a:xfrm>
          <a:prstGeom prst="rect">
            <a:avLst/>
          </a:prstGeom>
          <a:noFill/>
          <a:ln/>
        </p:spPr>
        <p:txBody>
          <a:bodyPr wrap="square" lIns="0" tIns="0" rIns="0" bIns="0" rtlCol="0" anchor="t"/>
          <a:lstStyle/>
          <a:p>
            <a:pPr indent="0" marL="0">
              <a:buNone/>
            </a:pPr>
            <a:r>
              <a:rPr lang="en-US" sz="1150" dirty="0">
                <a:solidFill>
                  <a:srgbClr val="5B6478"/>
                </a:solidFill>
              </a:rPr>
              <a:t>approved articles</a:t>
            </a:r>
            <a:endParaRPr lang="en-US" sz="1150" dirty="0"/>
          </a:p>
        </p:txBody>
      </p:sp>
      <p:sp>
        <p:nvSpPr>
          <p:cNvPr id="17" name="Text 15"/>
          <p:cNvSpPr txBox="1"/>
          <p:nvPr/>
        </p:nvSpPr>
        <p:spPr>
          <a:xfrm>
            <a:off x="548640" y="4526280"/>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WHAT THE 14 SCENARIOS COVER</a:t>
            </a:r>
            <a:endParaRPr lang="en-US" sz="1000" dirty="0"/>
          </a:p>
        </p:txBody>
      </p:sp>
      <p:sp>
        <p:nvSpPr>
          <p:cNvPr id="18" name="Coverage card"/>
          <p:cNvSpPr/>
          <p:nvPr/>
        </p:nvSpPr>
        <p:spPr>
          <a:xfrm>
            <a:off x="548640" y="4846320"/>
            <a:ext cx="1280160" cy="1234440"/>
          </a:xfrm>
          <a:prstGeom prst="roundRect">
            <a:avLst>
              <a:gd name="adj" fmla="val 740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19" name="Text 17"/>
          <p:cNvSpPr txBox="1"/>
          <p:nvPr/>
        </p:nvSpPr>
        <p:spPr>
          <a:xfrm>
            <a:off x="548640" y="4937760"/>
            <a:ext cx="1280160" cy="502920"/>
          </a:xfrm>
          <a:prstGeom prst="rect">
            <a:avLst/>
          </a:prstGeom>
          <a:noFill/>
          <a:ln/>
        </p:spPr>
        <p:txBody>
          <a:bodyPr wrap="square" lIns="0" tIns="0" rIns="0" bIns="0" rtlCol="0" anchor="ctr"/>
          <a:lstStyle/>
          <a:p>
            <a:pPr algn="ctr" indent="0" marL="0">
              <a:buNone/>
            </a:pPr>
            <a:r>
              <a:rPr lang="en-US" sz="2600" b="1" dirty="0">
                <a:solidFill>
                  <a:schemeClr val="tx1"/>
                </a:solidFill>
              </a:rPr>
              <a:t>4</a:t>
            </a:r>
            <a:endParaRPr lang="en-US" sz="2600" dirty="0"/>
          </a:p>
        </p:txBody>
      </p:sp>
      <p:sp>
        <p:nvSpPr>
          <p:cNvPr id="20" name="Text 18"/>
          <p:cNvSpPr txBox="1"/>
          <p:nvPr/>
        </p:nvSpPr>
        <p:spPr>
          <a:xfrm>
            <a:off x="640080" y="5486400"/>
            <a:ext cx="1097280" cy="502920"/>
          </a:xfrm>
          <a:prstGeom prst="rect">
            <a:avLst/>
          </a:prstGeom>
          <a:noFill/>
          <a:ln/>
        </p:spPr>
        <p:txBody>
          <a:bodyPr wrap="square" lIns="0" tIns="0" rIns="0" bIns="0" rtlCol="0" anchor="t"/>
          <a:lstStyle/>
          <a:p>
            <a:pPr algn="ctr" indent="0" marL="0">
              <a:buNone/>
            </a:pPr>
            <a:r>
              <a:rPr lang="en-US" sz="1050" dirty="0">
                <a:solidFill>
                  <a:srgbClr val="5B6478"/>
                </a:solidFill>
              </a:rPr>
              <a:t>Normal paths</a:t>
            </a:r>
            <a:endParaRPr lang="en-US" sz="1050" dirty="0"/>
          </a:p>
        </p:txBody>
      </p:sp>
      <p:sp>
        <p:nvSpPr>
          <p:cNvPr id="21" name="Coverage card"/>
          <p:cNvSpPr/>
          <p:nvPr/>
        </p:nvSpPr>
        <p:spPr>
          <a:xfrm>
            <a:off x="1965960" y="4846320"/>
            <a:ext cx="1280160" cy="1234440"/>
          </a:xfrm>
          <a:prstGeom prst="roundRect">
            <a:avLst>
              <a:gd name="adj" fmla="val 740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2" name="Text 20"/>
          <p:cNvSpPr txBox="1"/>
          <p:nvPr/>
        </p:nvSpPr>
        <p:spPr>
          <a:xfrm>
            <a:off x="1965960" y="4937760"/>
            <a:ext cx="1280160" cy="502920"/>
          </a:xfrm>
          <a:prstGeom prst="rect">
            <a:avLst/>
          </a:prstGeom>
          <a:noFill/>
          <a:ln/>
        </p:spPr>
        <p:txBody>
          <a:bodyPr wrap="square" lIns="0" tIns="0" rIns="0" bIns="0" rtlCol="0" anchor="ctr"/>
          <a:lstStyle/>
          <a:p>
            <a:pPr algn="ctr" indent="0" marL="0">
              <a:buNone/>
            </a:pPr>
            <a:r>
              <a:rPr lang="en-US" sz="2600" b="1" dirty="0">
                <a:solidFill>
                  <a:schemeClr val="tx1"/>
                </a:solidFill>
              </a:rPr>
              <a:t>5</a:t>
            </a:r>
            <a:endParaRPr lang="en-US" sz="2600" dirty="0"/>
          </a:p>
        </p:txBody>
      </p:sp>
      <p:sp>
        <p:nvSpPr>
          <p:cNvPr id="23" name="Text 21"/>
          <p:cNvSpPr txBox="1"/>
          <p:nvPr/>
        </p:nvSpPr>
        <p:spPr>
          <a:xfrm>
            <a:off x="2057400" y="5486400"/>
            <a:ext cx="1097280" cy="502920"/>
          </a:xfrm>
          <a:prstGeom prst="rect">
            <a:avLst/>
          </a:prstGeom>
          <a:noFill/>
          <a:ln/>
        </p:spPr>
        <p:txBody>
          <a:bodyPr wrap="square" lIns="0" tIns="0" rIns="0" bIns="0" rtlCol="0" anchor="t"/>
          <a:lstStyle/>
          <a:p>
            <a:pPr algn="ctr" indent="0" marL="0">
              <a:buNone/>
            </a:pPr>
            <a:r>
              <a:rPr lang="en-US" sz="1050" dirty="0">
                <a:solidFill>
                  <a:srgbClr val="5B6478"/>
                </a:solidFill>
              </a:rPr>
              <a:t>Safety escalations</a:t>
            </a:r>
            <a:endParaRPr lang="en-US" sz="1050" dirty="0"/>
          </a:p>
        </p:txBody>
      </p:sp>
      <p:sp>
        <p:nvSpPr>
          <p:cNvPr id="24" name="Coverage card"/>
          <p:cNvSpPr/>
          <p:nvPr/>
        </p:nvSpPr>
        <p:spPr>
          <a:xfrm>
            <a:off x="3383280" y="4846320"/>
            <a:ext cx="1280160" cy="1234440"/>
          </a:xfrm>
          <a:prstGeom prst="roundRect">
            <a:avLst>
              <a:gd name="adj" fmla="val 740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5" name="Text 23"/>
          <p:cNvSpPr txBox="1"/>
          <p:nvPr/>
        </p:nvSpPr>
        <p:spPr>
          <a:xfrm>
            <a:off x="3383280" y="4937760"/>
            <a:ext cx="1280160" cy="502920"/>
          </a:xfrm>
          <a:prstGeom prst="rect">
            <a:avLst/>
          </a:prstGeom>
          <a:noFill/>
          <a:ln/>
        </p:spPr>
        <p:txBody>
          <a:bodyPr wrap="square" lIns="0" tIns="0" rIns="0" bIns="0" rtlCol="0" anchor="ctr"/>
          <a:lstStyle/>
          <a:p>
            <a:pPr algn="ctr" indent="0" marL="0">
              <a:buNone/>
            </a:pPr>
            <a:r>
              <a:rPr lang="en-US" sz="2600" b="1" dirty="0">
                <a:solidFill>
                  <a:schemeClr val="tx1"/>
                </a:solidFill>
              </a:rPr>
              <a:t>4</a:t>
            </a:r>
            <a:endParaRPr lang="en-US" sz="2600" dirty="0"/>
          </a:p>
        </p:txBody>
      </p:sp>
      <p:sp>
        <p:nvSpPr>
          <p:cNvPr id="26" name="Text 24"/>
          <p:cNvSpPr txBox="1"/>
          <p:nvPr/>
        </p:nvSpPr>
        <p:spPr>
          <a:xfrm>
            <a:off x="3474720" y="5486400"/>
            <a:ext cx="1097280" cy="502920"/>
          </a:xfrm>
          <a:prstGeom prst="rect">
            <a:avLst/>
          </a:prstGeom>
          <a:noFill/>
          <a:ln/>
        </p:spPr>
        <p:txBody>
          <a:bodyPr wrap="square" lIns="0" tIns="0" rIns="0" bIns="0" rtlCol="0" anchor="t"/>
          <a:lstStyle/>
          <a:p>
            <a:pPr algn="ctr" indent="0" marL="0">
              <a:buNone/>
            </a:pPr>
            <a:r>
              <a:rPr lang="en-US" sz="1050" dirty="0">
                <a:solidFill>
                  <a:srgbClr val="5B6478"/>
                </a:solidFill>
              </a:rPr>
              <a:t>Edge and conflict</a:t>
            </a:r>
            <a:endParaRPr lang="en-US" sz="1050" dirty="0"/>
          </a:p>
        </p:txBody>
      </p:sp>
      <p:sp>
        <p:nvSpPr>
          <p:cNvPr id="27" name="Coverage card"/>
          <p:cNvSpPr/>
          <p:nvPr/>
        </p:nvSpPr>
        <p:spPr>
          <a:xfrm>
            <a:off x="4800600" y="4846320"/>
            <a:ext cx="1280160" cy="1234440"/>
          </a:xfrm>
          <a:prstGeom prst="roundRect">
            <a:avLst>
              <a:gd name="adj" fmla="val 7407"/>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8" name="Text 26"/>
          <p:cNvSpPr txBox="1"/>
          <p:nvPr/>
        </p:nvSpPr>
        <p:spPr>
          <a:xfrm>
            <a:off x="4800600" y="4937760"/>
            <a:ext cx="1280160" cy="502920"/>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29" name="Text 27"/>
          <p:cNvSpPr txBox="1"/>
          <p:nvPr/>
        </p:nvSpPr>
        <p:spPr>
          <a:xfrm>
            <a:off x="4892040" y="5486400"/>
            <a:ext cx="1097280" cy="502920"/>
          </a:xfrm>
          <a:prstGeom prst="rect">
            <a:avLst/>
          </a:prstGeom>
          <a:noFill/>
          <a:ln/>
        </p:spPr>
        <p:txBody>
          <a:bodyPr wrap="square" lIns="0" tIns="0" rIns="0" bIns="0" rtlCol="0" anchor="t"/>
          <a:lstStyle/>
          <a:p>
            <a:pPr algn="ctr" indent="0" marL="0">
              <a:buNone/>
            </a:pPr>
            <a:r>
              <a:rPr lang="en-US" sz="1050" dirty="0">
                <a:solidFill>
                  <a:srgbClr val="5B6478"/>
                </a:solidFill>
              </a:rPr>
              <a:t>Failure handling</a:t>
            </a:r>
            <a:endParaRPr lang="en-US" sz="1050" dirty="0"/>
          </a:p>
        </p:txBody>
      </p:sp>
      <p:sp>
        <p:nvSpPr>
          <p:cNvPr id="30" name="Chart card"/>
          <p:cNvSpPr/>
          <p:nvPr/>
        </p:nvSpPr>
        <p:spPr>
          <a:xfrm>
            <a:off x="6355080" y="1417320"/>
            <a:ext cx="5285232" cy="4663440"/>
          </a:xfrm>
          <a:prstGeom prst="roundRect">
            <a:avLst>
              <a:gd name="adj" fmla="val 196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31" name="Text 29"/>
          <p:cNvSpPr txBox="1"/>
          <p:nvPr/>
        </p:nvSpPr>
        <p:spPr>
          <a:xfrm>
            <a:off x="6629400" y="1600200"/>
            <a:ext cx="4754880" cy="274320"/>
          </a:xfrm>
          <a:prstGeom prst="rect">
            <a:avLst/>
          </a:prstGeom>
          <a:noFill/>
          <a:ln/>
        </p:spPr>
        <p:txBody>
          <a:bodyPr wrap="square" lIns="0" tIns="0" rIns="0" bIns="0" rtlCol="0" anchor="t"/>
          <a:lstStyle/>
          <a:p>
            <a:pPr indent="0" marL="0">
              <a:buNone/>
            </a:pPr>
            <a:r>
              <a:rPr lang="en-US" sz="1400" b="1" dirty="0">
                <a:solidFill>
                  <a:schemeClr val="tx1"/>
                </a:solidFill>
              </a:rPr>
              <a:t>Consent status of the 105 synthetic members</a:t>
            </a:r>
            <a:endParaRPr lang="en-US" sz="1400" dirty="0"/>
          </a:p>
        </p:txBody>
      </p:sp>
      <p:graphicFrame>
        <p:nvGraphicFramePr>
          <p:cNvPr id="32" name="Chart 0" descr=""/>
          <p:cNvGraphicFramePr/>
          <p:nvPr/>
        </p:nvGraphicFramePr>
        <p:xfrm>
          <a:off x="6537960" y="1920240"/>
          <a:ext cx="4937760" cy="3017520"/>
        </p:xfrm>
        <a:graphic xmlns:a="http://schemas.openxmlformats.org/drawingml/2006/main">
          <a:graphicData uri="http://schemas.openxmlformats.org/drawingml/2006/chart">
            <c:chart xmlns:c="http://schemas.openxmlformats.org/drawingml/2006/chart" r:id="rId2"/>
          </a:graphicData>
        </a:graphic>
      </p:graphicFrame>
      <p:pic>
        <p:nvPicPr>
          <p:cNvPr id="33" name="Image 0" descr="Info">    </p:cNvPr>
          <p:cNvPicPr>
            <a:picLocks noChangeAspect="1"/>
          </p:cNvPicPr>
          <p:nvPr/>
        </p:nvPicPr>
        <p:blipFill>
          <a:blip r:embed="rId3"/>
          <a:stretch>
            <a:fillRect/>
          </a:stretch>
        </p:blipFill>
        <p:spPr>
          <a:xfrm>
            <a:off x="6629400" y="5138928"/>
            <a:ext cx="256032" cy="256032"/>
          </a:xfrm>
          <a:prstGeom prst="rect">
            <a:avLst/>
          </a:prstGeom>
        </p:spPr>
      </p:pic>
      <p:sp>
        <p:nvSpPr>
          <p:cNvPr id="34" name="Text 30"/>
          <p:cNvSpPr txBox="1"/>
          <p:nvPr/>
        </p:nvSpPr>
        <p:spPr>
          <a:xfrm>
            <a:off x="7040880" y="5074920"/>
            <a:ext cx="4389120" cy="914400"/>
          </a:xfrm>
          <a:prstGeom prst="rect">
            <a:avLst/>
          </a:prstGeom>
          <a:noFill/>
          <a:ln/>
        </p:spPr>
        <p:txBody>
          <a:bodyPr wrap="square" lIns="0" tIns="0" rIns="0" bIns="0" rtlCol="0" anchor="t"/>
          <a:lstStyle/>
          <a:p>
            <a:pPr indent="0" marL="0">
              <a:buNone/>
            </a:pPr>
            <a:r>
              <a:rPr lang="en-US" sz="1100" dirty="0">
                <a:solidFill>
                  <a:srgbClr val="5B6478"/>
                </a:solidFill>
              </a:rPr>
              <a:t>Expired, pending and revoked members exercise ER-501. This is an offline dry run: it proves the safety code and template wording. The online run against deployed Foundry agents is the submission evidence.</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06  ·  LIMITS AND NEXT STEPS</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Honest limits, and what comes next</a:t>
            </a:r>
            <a:endParaRPr lang="en-US" sz="3000" dirty="0"/>
          </a:p>
        </p:txBody>
      </p:sp>
      <p:sp>
        <p:nvSpPr>
          <p:cNvPr id="4" name="Text 2"/>
          <p:cNvSpPr txBox="1"/>
          <p:nvPr/>
        </p:nvSpPr>
        <p:spPr>
          <a:xfrm>
            <a:off x="9921240" y="6382512"/>
            <a:ext cx="1097280" cy="219456"/>
          </a:xfrm>
          <a:prstGeom prst="rect">
            <a:avLst/>
          </a:prstGeom>
          <a:noFill/>
          <a:ln/>
        </p:spPr>
        <p:txBody>
          <a:bodyPr wrap="square" lIns="0" tIns="0" rIns="0" bIns="0" rtlCol="0" anchor="ctr"/>
          <a:lstStyle/>
          <a:p>
            <a:pPr algn="r" indent="0" marL="0">
              <a:buNone/>
            </a:pPr>
            <a:r>
              <a:rPr lang="en-US" sz="1000" u="sng" dirty="0">
                <a:solidFill>
                  <a:schemeClr val="tx1"/>
                </a:solidFill>
                <a:hlinkClick r:id="rId1" action="ppaction://hlinksldjump" tooltip="Back to the agenda">
                  <a:extLst>
                    <a:ext uri="{A12FA001-AC4F-418D-AE19-62706E023703}">
                      <ahyp:hlinkClr xmlns:ahyp="http://schemas.microsoft.com/office/drawing/2018/hyperlinkcolor" val="tx"/>
                    </a:ext>
                  </a:extLst>
                </a:hlinkClick>
              </a:rPr>
              <a:t>← Agenda</a:t>
            </a:r>
            <a:endParaRPr lang="en-US" sz="1000" dirty="0"/>
          </a:p>
        </p:txBody>
      </p:sp>
      <p:sp>
        <p:nvSpPr>
          <p:cNvPr id="5" name="Column card"/>
          <p:cNvSpPr/>
          <p:nvPr/>
        </p:nvSpPr>
        <p:spPr>
          <a:xfrm>
            <a:off x="548640" y="1417320"/>
            <a:ext cx="5440680" cy="4663440"/>
          </a:xfrm>
          <a:prstGeom prst="roundRect">
            <a:avLst>
              <a:gd name="adj" fmla="val 196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6" name="Pill"/>
          <p:cNvSpPr/>
          <p:nvPr/>
        </p:nvSpPr>
        <p:spPr>
          <a:xfrm>
            <a:off x="822960" y="1645920"/>
            <a:ext cx="1645920" cy="347472"/>
          </a:xfrm>
          <a:prstGeom prst="roundRect">
            <a:avLst>
              <a:gd name="adj" fmla="val 50000"/>
            </a:avLst>
          </a:prstGeom>
          <a:solidFill>
            <a:srgbClr val="F5A524"/>
          </a:solidFill>
          <a:ln w="12700">
            <a:solidFill>
              <a:srgbClr val="F5A524"/>
            </a:solidFill>
            <a:prstDash val="solid"/>
          </a:ln>
        </p:spPr>
      </p:sp>
      <p:sp>
        <p:nvSpPr>
          <p:cNvPr id="7" name="Text 5"/>
          <p:cNvSpPr txBox="1"/>
          <p:nvPr/>
        </p:nvSpPr>
        <p:spPr>
          <a:xfrm>
            <a:off x="822960" y="1645920"/>
            <a:ext cx="1645920" cy="347472"/>
          </a:xfrm>
          <a:prstGeom prst="rect">
            <a:avLst/>
          </a:prstGeom>
          <a:noFill/>
          <a:ln/>
        </p:spPr>
        <p:txBody>
          <a:bodyPr wrap="square" lIns="0" tIns="0" rIns="0" bIns="0" rtlCol="0" anchor="ctr"/>
          <a:lstStyle/>
          <a:p>
            <a:pPr algn="ctr" indent="0" marL="0">
              <a:buNone/>
            </a:pPr>
            <a:r>
              <a:rPr lang="en-US" sz="1100" b="1" dirty="0">
                <a:solidFill>
                  <a:srgbClr val="1F2937"/>
                </a:solidFill>
              </a:rPr>
              <a:t>KNOWN LIMITS</a:t>
            </a:r>
            <a:endParaRPr lang="en-US" sz="1100" dirty="0"/>
          </a:p>
        </p:txBody>
      </p:sp>
      <p:sp>
        <p:nvSpPr>
          <p:cNvPr id="8" name="IconCircle"/>
          <p:cNvSpPr/>
          <p:nvPr/>
        </p:nvSpPr>
        <p:spPr>
          <a:xfrm>
            <a:off x="822960" y="2286000"/>
            <a:ext cx="457200" cy="457200"/>
          </a:xfrm>
          <a:prstGeom prst="ellipse">
            <a:avLst/>
          </a:prstGeom>
          <a:solidFill>
            <a:srgbClr val="F5A524"/>
          </a:solidFill>
          <a:ln w="12700">
            <a:solidFill>
              <a:srgbClr val="F5A524"/>
            </a:solidFill>
            <a:prstDash val="solid"/>
          </a:ln>
        </p:spPr>
      </p:sp>
      <p:pic>
        <p:nvPicPr>
          <p:cNvPr id="9" name="Image 0" descr="ExclamationTriangle icon">    </p:cNvPr>
          <p:cNvPicPr>
            <a:picLocks noChangeAspect="1"/>
          </p:cNvPicPr>
          <p:nvPr/>
        </p:nvPicPr>
        <p:blipFill>
          <a:blip r:embed="rId2"/>
          <a:stretch>
            <a:fillRect/>
          </a:stretch>
        </p:blipFill>
        <p:spPr>
          <a:xfrm>
            <a:off x="937260" y="2400300"/>
            <a:ext cx="228600" cy="228600"/>
          </a:xfrm>
          <a:prstGeom prst="rect">
            <a:avLst/>
          </a:prstGeom>
        </p:spPr>
      </p:pic>
      <p:sp>
        <p:nvSpPr>
          <p:cNvPr id="10" name="Text 7"/>
          <p:cNvSpPr txBox="1"/>
          <p:nvPr/>
        </p:nvSpPr>
        <p:spPr>
          <a:xfrm>
            <a:off x="1508760" y="2249424"/>
            <a:ext cx="4206240" cy="274320"/>
          </a:xfrm>
          <a:prstGeom prst="rect">
            <a:avLst/>
          </a:prstGeom>
          <a:noFill/>
          <a:ln/>
        </p:spPr>
        <p:txBody>
          <a:bodyPr wrap="square" lIns="0" tIns="0" rIns="0" bIns="0" rtlCol="0" anchor="t"/>
          <a:lstStyle/>
          <a:p>
            <a:pPr indent="0" marL="0">
              <a:buNone/>
            </a:pPr>
            <a:r>
              <a:rPr lang="en-US" sz="1400" b="1" dirty="0">
                <a:solidFill>
                  <a:schemeClr val="tx1"/>
                </a:solidFill>
              </a:rPr>
              <a:t>ER-502 values are placeholders</a:t>
            </a:r>
            <a:endParaRPr lang="en-US" sz="1400" dirty="0"/>
          </a:p>
        </p:txBody>
      </p:sp>
      <p:sp>
        <p:nvSpPr>
          <p:cNvPr id="11" name="Text 8"/>
          <p:cNvSpPr txBox="1"/>
          <p:nvPr/>
        </p:nvSpPr>
        <p:spPr>
          <a:xfrm>
            <a:off x="1508760" y="2551176"/>
            <a:ext cx="4206240" cy="457200"/>
          </a:xfrm>
          <a:prstGeom prst="rect">
            <a:avLst/>
          </a:prstGeom>
          <a:noFill/>
          <a:ln/>
        </p:spPr>
        <p:txBody>
          <a:bodyPr wrap="square" lIns="0" tIns="0" rIns="0" bIns="0" rtlCol="0" anchor="t"/>
          <a:lstStyle/>
          <a:p>
            <a:pPr indent="0" marL="0">
              <a:buNone/>
            </a:pPr>
            <a:r>
              <a:rPr lang="en-US" sz="1200" dirty="0">
                <a:solidFill>
                  <a:srgbClr val="5B6478"/>
                </a:solidFill>
              </a:rPr>
              <a:t>160/100 blood pressure and glucose 300 are not clinical thresholds</a:t>
            </a:r>
            <a:endParaRPr lang="en-US" sz="1200" dirty="0"/>
          </a:p>
        </p:txBody>
      </p:sp>
      <p:sp>
        <p:nvSpPr>
          <p:cNvPr id="12" name="IconCircle"/>
          <p:cNvSpPr/>
          <p:nvPr/>
        </p:nvSpPr>
        <p:spPr>
          <a:xfrm>
            <a:off x="822960" y="3218688"/>
            <a:ext cx="457200" cy="457200"/>
          </a:xfrm>
          <a:prstGeom prst="ellipse">
            <a:avLst/>
          </a:prstGeom>
          <a:solidFill>
            <a:srgbClr val="F5A524"/>
          </a:solidFill>
          <a:ln w="12700">
            <a:solidFill>
              <a:srgbClr val="F5A524"/>
            </a:solidFill>
            <a:prstDash val="solid"/>
          </a:ln>
        </p:spPr>
      </p:sp>
      <p:pic>
        <p:nvPicPr>
          <p:cNvPr id="13" name="Image 1" descr="ExclamationTriangle icon">    </p:cNvPr>
          <p:cNvPicPr>
            <a:picLocks noChangeAspect="1"/>
          </p:cNvPicPr>
          <p:nvPr/>
        </p:nvPicPr>
        <p:blipFill>
          <a:blip r:embed="rId3"/>
          <a:stretch>
            <a:fillRect/>
          </a:stretch>
        </p:blipFill>
        <p:spPr>
          <a:xfrm>
            <a:off x="937260" y="3332988"/>
            <a:ext cx="228600" cy="228600"/>
          </a:xfrm>
          <a:prstGeom prst="rect">
            <a:avLst/>
          </a:prstGeom>
        </p:spPr>
      </p:pic>
      <p:sp>
        <p:nvSpPr>
          <p:cNvPr id="14" name="Text 10"/>
          <p:cNvSpPr txBox="1"/>
          <p:nvPr/>
        </p:nvSpPr>
        <p:spPr>
          <a:xfrm>
            <a:off x="1508760" y="3182112"/>
            <a:ext cx="4206240" cy="274320"/>
          </a:xfrm>
          <a:prstGeom prst="rect">
            <a:avLst/>
          </a:prstGeom>
          <a:noFill/>
          <a:ln/>
        </p:spPr>
        <p:txBody>
          <a:bodyPr wrap="square" lIns="0" tIns="0" rIns="0" bIns="0" rtlCol="0" anchor="t"/>
          <a:lstStyle/>
          <a:p>
            <a:pPr indent="0" marL="0">
              <a:buNone/>
            </a:pPr>
            <a:r>
              <a:rPr lang="en-US" sz="1400" b="1" dirty="0">
                <a:solidFill>
                  <a:schemeClr val="tx1"/>
                </a:solidFill>
              </a:rPr>
              <a:t>Offline proof, not online proof</a:t>
            </a:r>
            <a:endParaRPr lang="en-US" sz="1400" dirty="0"/>
          </a:p>
        </p:txBody>
      </p:sp>
      <p:sp>
        <p:nvSpPr>
          <p:cNvPr id="15" name="Text 11"/>
          <p:cNvSpPr txBox="1"/>
          <p:nvPr/>
        </p:nvSpPr>
        <p:spPr>
          <a:xfrm>
            <a:off x="1508760" y="3483864"/>
            <a:ext cx="4206240" cy="457200"/>
          </a:xfrm>
          <a:prstGeom prst="rect">
            <a:avLst/>
          </a:prstGeom>
          <a:noFill/>
          <a:ln/>
        </p:spPr>
        <p:txBody>
          <a:bodyPr wrap="square" lIns="0" tIns="0" rIns="0" bIns="0" rtlCol="0" anchor="t"/>
          <a:lstStyle/>
          <a:p>
            <a:pPr indent="0" marL="0">
              <a:buNone/>
            </a:pPr>
            <a:r>
              <a:rPr lang="en-US" sz="1200" dirty="0">
                <a:solidFill>
                  <a:srgbClr val="5B6478"/>
                </a:solidFill>
              </a:rPr>
              <a:t>Dry-run evidence covers code and templates, not live model wording</a:t>
            </a:r>
            <a:endParaRPr lang="en-US" sz="1200" dirty="0"/>
          </a:p>
        </p:txBody>
      </p:sp>
      <p:sp>
        <p:nvSpPr>
          <p:cNvPr id="16" name="IconCircle"/>
          <p:cNvSpPr/>
          <p:nvPr/>
        </p:nvSpPr>
        <p:spPr>
          <a:xfrm>
            <a:off x="822960" y="4151376"/>
            <a:ext cx="457200" cy="457200"/>
          </a:xfrm>
          <a:prstGeom prst="ellipse">
            <a:avLst/>
          </a:prstGeom>
          <a:solidFill>
            <a:srgbClr val="F5A524"/>
          </a:solidFill>
          <a:ln w="12700">
            <a:solidFill>
              <a:srgbClr val="F5A524"/>
            </a:solidFill>
            <a:prstDash val="solid"/>
          </a:ln>
        </p:spPr>
      </p:sp>
      <p:pic>
        <p:nvPicPr>
          <p:cNvPr id="17" name="Image 2" descr="ExclamationTriangle icon">    </p:cNvPr>
          <p:cNvPicPr>
            <a:picLocks noChangeAspect="1"/>
          </p:cNvPicPr>
          <p:nvPr/>
        </p:nvPicPr>
        <p:blipFill>
          <a:blip r:embed="rId4"/>
          <a:stretch>
            <a:fillRect/>
          </a:stretch>
        </p:blipFill>
        <p:spPr>
          <a:xfrm>
            <a:off x="937260" y="4265676"/>
            <a:ext cx="228600" cy="228600"/>
          </a:xfrm>
          <a:prstGeom prst="rect">
            <a:avLst/>
          </a:prstGeom>
        </p:spPr>
      </p:pic>
      <p:sp>
        <p:nvSpPr>
          <p:cNvPr id="18" name="Text 13"/>
          <p:cNvSpPr txBox="1"/>
          <p:nvPr/>
        </p:nvSpPr>
        <p:spPr>
          <a:xfrm>
            <a:off x="1508760" y="4114800"/>
            <a:ext cx="4206240" cy="274320"/>
          </a:xfrm>
          <a:prstGeom prst="rect">
            <a:avLst/>
          </a:prstGeom>
          <a:noFill/>
          <a:ln/>
        </p:spPr>
        <p:txBody>
          <a:bodyPr wrap="square" lIns="0" tIns="0" rIns="0" bIns="0" rtlCol="0" anchor="t"/>
          <a:lstStyle/>
          <a:p>
            <a:pPr indent="0" marL="0">
              <a:buNone/>
            </a:pPr>
            <a:r>
              <a:rPr lang="en-US" sz="1400" b="1" dirty="0">
                <a:solidFill>
                  <a:schemeClr val="tx1"/>
                </a:solidFill>
              </a:rPr>
              <a:t>English keyword guards</a:t>
            </a:r>
            <a:endParaRPr lang="en-US" sz="1400" dirty="0"/>
          </a:p>
        </p:txBody>
      </p:sp>
      <p:sp>
        <p:nvSpPr>
          <p:cNvPr id="19" name="Text 14"/>
          <p:cNvSpPr txBox="1"/>
          <p:nvPr/>
        </p:nvSpPr>
        <p:spPr>
          <a:xfrm>
            <a:off x="1508760" y="4416552"/>
            <a:ext cx="4206240" cy="457200"/>
          </a:xfrm>
          <a:prstGeom prst="rect">
            <a:avLst/>
          </a:prstGeom>
          <a:noFill/>
          <a:ln/>
        </p:spPr>
        <p:txBody>
          <a:bodyPr wrap="square" lIns="0" tIns="0" rIns="0" bIns="0" rtlCol="0" anchor="t"/>
          <a:lstStyle/>
          <a:p>
            <a:pPr indent="0" marL="0">
              <a:buNone/>
            </a:pPr>
            <a:r>
              <a:rPr lang="en-US" sz="1200" dirty="0">
                <a:solidFill>
                  <a:srgbClr val="5B6478"/>
                </a:solidFill>
              </a:rPr>
              <a:t>Other languages depend on the routing agent</a:t>
            </a:r>
            <a:endParaRPr lang="en-US" sz="1200" dirty="0"/>
          </a:p>
        </p:txBody>
      </p:sp>
      <p:sp>
        <p:nvSpPr>
          <p:cNvPr id="20" name="IconCircle"/>
          <p:cNvSpPr/>
          <p:nvPr/>
        </p:nvSpPr>
        <p:spPr>
          <a:xfrm>
            <a:off x="822960" y="5084064"/>
            <a:ext cx="457200" cy="457200"/>
          </a:xfrm>
          <a:prstGeom prst="ellipse">
            <a:avLst/>
          </a:prstGeom>
          <a:solidFill>
            <a:srgbClr val="F5A524"/>
          </a:solidFill>
          <a:ln w="12700">
            <a:solidFill>
              <a:srgbClr val="F5A524"/>
            </a:solidFill>
            <a:prstDash val="solid"/>
          </a:ln>
        </p:spPr>
      </p:sp>
      <p:pic>
        <p:nvPicPr>
          <p:cNvPr id="21" name="Image 3" descr="ExclamationTriangle icon">    </p:cNvPr>
          <p:cNvPicPr>
            <a:picLocks noChangeAspect="1"/>
          </p:cNvPicPr>
          <p:nvPr/>
        </p:nvPicPr>
        <p:blipFill>
          <a:blip r:embed="rId5"/>
          <a:stretch>
            <a:fillRect/>
          </a:stretch>
        </p:blipFill>
        <p:spPr>
          <a:xfrm>
            <a:off x="937260" y="5198364"/>
            <a:ext cx="228600" cy="228600"/>
          </a:xfrm>
          <a:prstGeom prst="rect">
            <a:avLst/>
          </a:prstGeom>
        </p:spPr>
      </p:pic>
      <p:sp>
        <p:nvSpPr>
          <p:cNvPr id="22" name="Text 16"/>
          <p:cNvSpPr txBox="1"/>
          <p:nvPr/>
        </p:nvSpPr>
        <p:spPr>
          <a:xfrm>
            <a:off x="1508760" y="5047488"/>
            <a:ext cx="4206240" cy="274320"/>
          </a:xfrm>
          <a:prstGeom prst="rect">
            <a:avLst/>
          </a:prstGeom>
          <a:noFill/>
          <a:ln/>
        </p:spPr>
        <p:txBody>
          <a:bodyPr wrap="square" lIns="0" tIns="0" rIns="0" bIns="0" rtlCol="0" anchor="t"/>
          <a:lstStyle/>
          <a:p>
            <a:pPr indent="0" marL="0">
              <a:buNone/>
            </a:pPr>
            <a:r>
              <a:rPr lang="en-US" sz="1400" b="1" dirty="0">
                <a:solidFill>
                  <a:schemeClr val="tx1"/>
                </a:solidFill>
              </a:rPr>
              <a:t>Synthetic and unreviewed</a:t>
            </a:r>
            <a:endParaRPr lang="en-US" sz="1400" dirty="0"/>
          </a:p>
        </p:txBody>
      </p:sp>
      <p:sp>
        <p:nvSpPr>
          <p:cNvPr id="23" name="Text 17"/>
          <p:cNvSpPr txBox="1"/>
          <p:nvPr/>
        </p:nvSpPr>
        <p:spPr>
          <a:xfrm>
            <a:off x="1508760" y="5349240"/>
            <a:ext cx="4206240" cy="457200"/>
          </a:xfrm>
          <a:prstGeom prst="rect">
            <a:avLst/>
          </a:prstGeom>
          <a:noFill/>
          <a:ln/>
        </p:spPr>
        <p:txBody>
          <a:bodyPr wrap="square" lIns="0" tIns="0" rIns="0" bIns="0" rtlCol="0" anchor="t"/>
          <a:lstStyle/>
          <a:p>
            <a:pPr indent="0" marL="0">
              <a:buNone/>
            </a:pPr>
            <a:r>
              <a:rPr lang="en-US" sz="1200" dirty="0">
                <a:solidFill>
                  <a:srgbClr val="5B6478"/>
                </a:solidFill>
              </a:rPr>
              <a:t>Data and articles are training content, not clinically reviewed</a:t>
            </a:r>
            <a:endParaRPr lang="en-US" sz="1200" dirty="0"/>
          </a:p>
        </p:txBody>
      </p:sp>
      <p:sp>
        <p:nvSpPr>
          <p:cNvPr id="24" name="Column card"/>
          <p:cNvSpPr/>
          <p:nvPr/>
        </p:nvSpPr>
        <p:spPr>
          <a:xfrm>
            <a:off x="6199632" y="1417320"/>
            <a:ext cx="5440680" cy="4663440"/>
          </a:xfrm>
          <a:prstGeom prst="roundRect">
            <a:avLst>
              <a:gd name="adj" fmla="val 1961"/>
            </a:avLst>
          </a:prstGeom>
          <a:solidFill>
            <a:schemeClr val="bg1"/>
          </a:solidFill>
          <a:ln w="12700">
            <a:solidFill>
              <a:srgbClr val="D8DEEC"/>
            </a:solidFill>
            <a:prstDash val="solid"/>
          </a:ln>
          <a:effectLst>
            <a:outerShdw sx="100000" sy="100000" kx="0" ky="0" algn="bl" rotWithShape="0" blurRad="127000" dist="25400" dir="5400000">
              <a:srgbClr val="1F2937">
                <a:alpha val="10000"/>
              </a:srgbClr>
            </a:outerShdw>
          </a:effectLst>
        </p:spPr>
      </p:sp>
      <p:sp>
        <p:nvSpPr>
          <p:cNvPr id="25" name="Pill"/>
          <p:cNvSpPr/>
          <p:nvPr/>
        </p:nvSpPr>
        <p:spPr>
          <a:xfrm>
            <a:off x="6473952" y="1645920"/>
            <a:ext cx="1645920" cy="347472"/>
          </a:xfrm>
          <a:prstGeom prst="roundRect">
            <a:avLst>
              <a:gd name="adj" fmla="val 50000"/>
            </a:avLst>
          </a:prstGeom>
          <a:solidFill>
            <a:srgbClr val="1547C8"/>
          </a:solidFill>
          <a:ln w="12700">
            <a:solidFill>
              <a:srgbClr val="1547C8"/>
            </a:solidFill>
            <a:prstDash val="solid"/>
          </a:ln>
        </p:spPr>
      </p:sp>
      <p:sp>
        <p:nvSpPr>
          <p:cNvPr id="26" name="Text 20"/>
          <p:cNvSpPr txBox="1"/>
          <p:nvPr/>
        </p:nvSpPr>
        <p:spPr>
          <a:xfrm>
            <a:off x="6473952" y="1645920"/>
            <a:ext cx="1645920" cy="347472"/>
          </a:xfrm>
          <a:prstGeom prst="rect">
            <a:avLst/>
          </a:prstGeom>
          <a:noFill/>
          <a:ln/>
        </p:spPr>
        <p:txBody>
          <a:bodyPr wrap="square" lIns="0" tIns="0" rIns="0" bIns="0" rtlCol="0" anchor="ctr"/>
          <a:lstStyle/>
          <a:p>
            <a:pPr algn="ctr" indent="0" marL="0">
              <a:buNone/>
            </a:pPr>
            <a:r>
              <a:rPr lang="en-US" sz="1100" b="1" dirty="0">
                <a:solidFill>
                  <a:srgbClr val="FFFFFF"/>
                </a:solidFill>
              </a:rPr>
              <a:t>NEXT STEPS</a:t>
            </a:r>
            <a:endParaRPr lang="en-US" sz="1100" dirty="0"/>
          </a:p>
        </p:txBody>
      </p:sp>
      <p:sp>
        <p:nvSpPr>
          <p:cNvPr id="27" name="IconCircle"/>
          <p:cNvSpPr/>
          <p:nvPr/>
        </p:nvSpPr>
        <p:spPr>
          <a:xfrm>
            <a:off x="6473952" y="2286000"/>
            <a:ext cx="457200" cy="457200"/>
          </a:xfrm>
          <a:prstGeom prst="ellipse">
            <a:avLst/>
          </a:prstGeom>
          <a:solidFill>
            <a:srgbClr val="1547C8"/>
          </a:solidFill>
          <a:ln w="12700">
            <a:solidFill>
              <a:srgbClr val="1547C8"/>
            </a:solidFill>
            <a:prstDash val="solid"/>
          </a:ln>
        </p:spPr>
      </p:sp>
      <p:pic>
        <p:nvPicPr>
          <p:cNvPr id="28" name="Image 4" descr="ArrowRight icon">    </p:cNvPr>
          <p:cNvPicPr>
            <a:picLocks noChangeAspect="1"/>
          </p:cNvPicPr>
          <p:nvPr/>
        </p:nvPicPr>
        <p:blipFill>
          <a:blip r:embed="rId6"/>
          <a:stretch>
            <a:fillRect/>
          </a:stretch>
        </p:blipFill>
        <p:spPr>
          <a:xfrm>
            <a:off x="6588252" y="2400300"/>
            <a:ext cx="228600" cy="228600"/>
          </a:xfrm>
          <a:prstGeom prst="rect">
            <a:avLst/>
          </a:prstGeom>
        </p:spPr>
      </p:pic>
      <p:sp>
        <p:nvSpPr>
          <p:cNvPr id="29" name="Text 22"/>
          <p:cNvSpPr txBox="1"/>
          <p:nvPr/>
        </p:nvSpPr>
        <p:spPr>
          <a:xfrm>
            <a:off x="7159752" y="2249424"/>
            <a:ext cx="4206240" cy="274320"/>
          </a:xfrm>
          <a:prstGeom prst="rect">
            <a:avLst/>
          </a:prstGeom>
          <a:noFill/>
          <a:ln/>
        </p:spPr>
        <p:txBody>
          <a:bodyPr wrap="square" lIns="0" tIns="0" rIns="0" bIns="0" rtlCol="0" anchor="t"/>
          <a:lstStyle/>
          <a:p>
            <a:pPr indent="0" marL="0">
              <a:buNone/>
            </a:pPr>
            <a:r>
              <a:rPr lang="en-US" sz="1400" b="1" dirty="0">
                <a:solidFill>
                  <a:schemeClr val="tx1"/>
                </a:solidFill>
              </a:rPr>
              <a:t>Run the online suite</a:t>
            </a:r>
            <a:endParaRPr lang="en-US" sz="1400" dirty="0"/>
          </a:p>
        </p:txBody>
      </p:sp>
      <p:sp>
        <p:nvSpPr>
          <p:cNvPr id="30" name="Text 23"/>
          <p:cNvSpPr txBox="1"/>
          <p:nvPr/>
        </p:nvSpPr>
        <p:spPr>
          <a:xfrm>
            <a:off x="7159752" y="2551176"/>
            <a:ext cx="4206240" cy="457200"/>
          </a:xfrm>
          <a:prstGeom prst="rect">
            <a:avLst/>
          </a:prstGeom>
          <a:noFill/>
          <a:ln/>
        </p:spPr>
        <p:txBody>
          <a:bodyPr wrap="square" lIns="0" tIns="0" rIns="0" bIns="0" rtlCol="0" anchor="t"/>
          <a:lstStyle/>
          <a:p>
            <a:pPr indent="0" marL="0">
              <a:buNone/>
            </a:pPr>
            <a:r>
              <a:rPr lang="en-US" sz="1200" dirty="0">
                <a:solidFill>
                  <a:srgbClr val="5B6478"/>
                </a:solidFill>
              </a:rPr>
              <a:t>Attach evidence from the deployed Foundry agents</a:t>
            </a:r>
            <a:endParaRPr lang="en-US" sz="1200" dirty="0"/>
          </a:p>
        </p:txBody>
      </p:sp>
      <p:sp>
        <p:nvSpPr>
          <p:cNvPr id="31" name="IconCircle"/>
          <p:cNvSpPr/>
          <p:nvPr/>
        </p:nvSpPr>
        <p:spPr>
          <a:xfrm>
            <a:off x="6473952" y="3218688"/>
            <a:ext cx="457200" cy="457200"/>
          </a:xfrm>
          <a:prstGeom prst="ellipse">
            <a:avLst/>
          </a:prstGeom>
          <a:solidFill>
            <a:srgbClr val="1547C8"/>
          </a:solidFill>
          <a:ln w="12700">
            <a:solidFill>
              <a:srgbClr val="1547C8"/>
            </a:solidFill>
            <a:prstDash val="solid"/>
          </a:ln>
        </p:spPr>
      </p:sp>
      <p:pic>
        <p:nvPicPr>
          <p:cNvPr id="32" name="Image 5" descr="ArrowRight icon">    </p:cNvPr>
          <p:cNvPicPr>
            <a:picLocks noChangeAspect="1"/>
          </p:cNvPicPr>
          <p:nvPr/>
        </p:nvPicPr>
        <p:blipFill>
          <a:blip r:embed="rId7"/>
          <a:stretch>
            <a:fillRect/>
          </a:stretch>
        </p:blipFill>
        <p:spPr>
          <a:xfrm>
            <a:off x="6588252" y="3332988"/>
            <a:ext cx="228600" cy="228600"/>
          </a:xfrm>
          <a:prstGeom prst="rect">
            <a:avLst/>
          </a:prstGeom>
        </p:spPr>
      </p:pic>
      <p:sp>
        <p:nvSpPr>
          <p:cNvPr id="33" name="Text 25"/>
          <p:cNvSpPr txBox="1"/>
          <p:nvPr/>
        </p:nvSpPr>
        <p:spPr>
          <a:xfrm>
            <a:off x="7159752" y="3182112"/>
            <a:ext cx="4206240" cy="274320"/>
          </a:xfrm>
          <a:prstGeom prst="rect">
            <a:avLst/>
          </a:prstGeom>
          <a:noFill/>
          <a:ln/>
        </p:spPr>
        <p:txBody>
          <a:bodyPr wrap="square" lIns="0" tIns="0" rIns="0" bIns="0" rtlCol="0" anchor="t"/>
          <a:lstStyle/>
          <a:p>
            <a:pPr indent="0" marL="0">
              <a:buNone/>
            </a:pPr>
            <a:r>
              <a:rPr lang="en-US" sz="1400" b="1" dirty="0">
                <a:solidFill>
                  <a:schemeClr val="tx1"/>
                </a:solidFill>
              </a:rPr>
              <a:t>Clinical sign-off</a:t>
            </a:r>
            <a:endParaRPr lang="en-US" sz="1400" dirty="0"/>
          </a:p>
        </p:txBody>
      </p:sp>
      <p:sp>
        <p:nvSpPr>
          <p:cNvPr id="34" name="Text 26"/>
          <p:cNvSpPr txBox="1"/>
          <p:nvPr/>
        </p:nvSpPr>
        <p:spPr>
          <a:xfrm>
            <a:off x="7159752" y="3483864"/>
            <a:ext cx="4206240" cy="457200"/>
          </a:xfrm>
          <a:prstGeom prst="rect">
            <a:avLst/>
          </a:prstGeom>
          <a:noFill/>
          <a:ln/>
        </p:spPr>
        <p:txBody>
          <a:bodyPr wrap="square" lIns="0" tIns="0" rIns="0" bIns="0" rtlCol="0" anchor="t"/>
          <a:lstStyle/>
          <a:p>
            <a:pPr indent="0" marL="0">
              <a:buNone/>
            </a:pPr>
            <a:r>
              <a:rPr lang="en-US" sz="1200" dirty="0">
                <a:solidFill>
                  <a:srgbClr val="5B6478"/>
                </a:solidFill>
              </a:rPr>
              <a:t>Clinician-set thresholds and reviewed article text</a:t>
            </a:r>
            <a:endParaRPr lang="en-US" sz="1200" dirty="0"/>
          </a:p>
        </p:txBody>
      </p:sp>
      <p:sp>
        <p:nvSpPr>
          <p:cNvPr id="35" name="IconCircle"/>
          <p:cNvSpPr/>
          <p:nvPr/>
        </p:nvSpPr>
        <p:spPr>
          <a:xfrm>
            <a:off x="6473952" y="4151376"/>
            <a:ext cx="457200" cy="457200"/>
          </a:xfrm>
          <a:prstGeom prst="ellipse">
            <a:avLst/>
          </a:prstGeom>
          <a:solidFill>
            <a:srgbClr val="1547C8"/>
          </a:solidFill>
          <a:ln w="12700">
            <a:solidFill>
              <a:srgbClr val="1547C8"/>
            </a:solidFill>
            <a:prstDash val="solid"/>
          </a:ln>
        </p:spPr>
      </p:sp>
      <p:pic>
        <p:nvPicPr>
          <p:cNvPr id="36" name="Image 6" descr="ArrowRight icon">    </p:cNvPr>
          <p:cNvPicPr>
            <a:picLocks noChangeAspect="1"/>
          </p:cNvPicPr>
          <p:nvPr/>
        </p:nvPicPr>
        <p:blipFill>
          <a:blip r:embed="rId8"/>
          <a:stretch>
            <a:fillRect/>
          </a:stretch>
        </p:blipFill>
        <p:spPr>
          <a:xfrm>
            <a:off x="6588252" y="4265676"/>
            <a:ext cx="228600" cy="228600"/>
          </a:xfrm>
          <a:prstGeom prst="rect">
            <a:avLst/>
          </a:prstGeom>
        </p:spPr>
      </p:pic>
      <p:sp>
        <p:nvSpPr>
          <p:cNvPr id="37" name="Text 28"/>
          <p:cNvSpPr txBox="1"/>
          <p:nvPr/>
        </p:nvSpPr>
        <p:spPr>
          <a:xfrm>
            <a:off x="7159752" y="4114800"/>
            <a:ext cx="4206240" cy="274320"/>
          </a:xfrm>
          <a:prstGeom prst="rect">
            <a:avLst/>
          </a:prstGeom>
          <a:noFill/>
          <a:ln/>
        </p:spPr>
        <p:txBody>
          <a:bodyPr wrap="square" lIns="0" tIns="0" rIns="0" bIns="0" rtlCol="0" anchor="t"/>
          <a:lstStyle/>
          <a:p>
            <a:pPr indent="0" marL="0">
              <a:buNone/>
            </a:pPr>
            <a:r>
              <a:rPr lang="en-US" sz="1400" b="1" dirty="0">
                <a:solidFill>
                  <a:schemeClr val="tx1"/>
                </a:solidFill>
              </a:rPr>
              <a:t>Distress and urgent symptoms</a:t>
            </a:r>
            <a:endParaRPr lang="en-US" sz="1400" dirty="0"/>
          </a:p>
        </p:txBody>
      </p:sp>
      <p:sp>
        <p:nvSpPr>
          <p:cNvPr id="38" name="Text 29"/>
          <p:cNvSpPr txBox="1"/>
          <p:nvPr/>
        </p:nvSpPr>
        <p:spPr>
          <a:xfrm>
            <a:off x="7159752" y="4416552"/>
            <a:ext cx="4206240" cy="457200"/>
          </a:xfrm>
          <a:prstGeom prst="rect">
            <a:avLst/>
          </a:prstGeom>
          <a:noFill/>
          <a:ln/>
        </p:spPr>
        <p:txBody>
          <a:bodyPr wrap="square" lIns="0" tIns="0" rIns="0" bIns="0" rtlCol="0" anchor="t"/>
          <a:lstStyle/>
          <a:p>
            <a:pPr indent="0" marL="0">
              <a:buNone/>
            </a:pPr>
            <a:r>
              <a:rPr lang="en-US" sz="1200" dirty="0">
                <a:solidFill>
                  <a:srgbClr val="5B6478"/>
                </a:solidFill>
              </a:rPr>
              <a:t>A dedicated route with reviewed wording and a fast staff alert</a:t>
            </a:r>
            <a:endParaRPr lang="en-US" sz="1200" dirty="0"/>
          </a:p>
        </p:txBody>
      </p:sp>
      <p:sp>
        <p:nvSpPr>
          <p:cNvPr id="39" name="IconCircle"/>
          <p:cNvSpPr/>
          <p:nvPr/>
        </p:nvSpPr>
        <p:spPr>
          <a:xfrm>
            <a:off x="6473952" y="5084064"/>
            <a:ext cx="457200" cy="457200"/>
          </a:xfrm>
          <a:prstGeom prst="ellipse">
            <a:avLst/>
          </a:prstGeom>
          <a:solidFill>
            <a:srgbClr val="1547C8"/>
          </a:solidFill>
          <a:ln w="12700">
            <a:solidFill>
              <a:srgbClr val="1547C8"/>
            </a:solidFill>
            <a:prstDash val="solid"/>
          </a:ln>
        </p:spPr>
      </p:sp>
      <p:pic>
        <p:nvPicPr>
          <p:cNvPr id="40" name="Image 7" descr="ArrowRight icon">    </p:cNvPr>
          <p:cNvPicPr>
            <a:picLocks noChangeAspect="1"/>
          </p:cNvPicPr>
          <p:nvPr/>
        </p:nvPicPr>
        <p:blipFill>
          <a:blip r:embed="rId9"/>
          <a:stretch>
            <a:fillRect/>
          </a:stretch>
        </p:blipFill>
        <p:spPr>
          <a:xfrm>
            <a:off x="6588252" y="5198364"/>
            <a:ext cx="228600" cy="228600"/>
          </a:xfrm>
          <a:prstGeom prst="rect">
            <a:avLst/>
          </a:prstGeom>
        </p:spPr>
      </p:pic>
      <p:sp>
        <p:nvSpPr>
          <p:cNvPr id="41" name="Text 31"/>
          <p:cNvSpPr txBox="1"/>
          <p:nvPr/>
        </p:nvSpPr>
        <p:spPr>
          <a:xfrm>
            <a:off x="7159752" y="5047488"/>
            <a:ext cx="4206240" cy="274320"/>
          </a:xfrm>
          <a:prstGeom prst="rect">
            <a:avLst/>
          </a:prstGeom>
          <a:noFill/>
          <a:ln/>
        </p:spPr>
        <p:txBody>
          <a:bodyPr wrap="square" lIns="0" tIns="0" rIns="0" bIns="0" rtlCol="0" anchor="t"/>
          <a:lstStyle/>
          <a:p>
            <a:pPr indent="0" marL="0">
              <a:buNone/>
            </a:pPr>
            <a:r>
              <a:rPr lang="en-US" sz="1400" b="1" dirty="0">
                <a:solidFill>
                  <a:schemeClr val="tx1"/>
                </a:solidFill>
              </a:rPr>
              <a:t>Production hardening</a:t>
            </a:r>
            <a:endParaRPr lang="en-US" sz="1400" dirty="0"/>
          </a:p>
        </p:txBody>
      </p:sp>
      <p:sp>
        <p:nvSpPr>
          <p:cNvPr id="42" name="Text 32"/>
          <p:cNvSpPr txBox="1"/>
          <p:nvPr/>
        </p:nvSpPr>
        <p:spPr>
          <a:xfrm>
            <a:off x="7159752" y="5349240"/>
            <a:ext cx="4206240" cy="457200"/>
          </a:xfrm>
          <a:prstGeom prst="rect">
            <a:avLst/>
          </a:prstGeom>
          <a:noFill/>
          <a:ln/>
        </p:spPr>
        <p:txBody>
          <a:bodyPr wrap="square" lIns="0" tIns="0" rIns="0" bIns="0" rtlCol="0" anchor="t"/>
          <a:lstStyle/>
          <a:p>
            <a:pPr indent="0" marL="0">
              <a:buNone/>
            </a:pPr>
            <a:r>
              <a:rPr lang="en-US" sz="1200" dirty="0">
                <a:solidFill>
                  <a:srgbClr val="5B6478"/>
                </a:solidFill>
              </a:rPr>
              <a:t>Managed identity, Key Vault, semantic search, monitoring</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103120"/>
            <a:ext cx="5669280" cy="731520"/>
          </a:xfrm>
          <a:prstGeom prst="rect">
            <a:avLst/>
          </a:prstGeom>
          <a:noFill/>
          <a:ln/>
        </p:spPr>
        <p:txBody>
          <a:bodyPr wrap="square" lIns="0" tIns="0" rIns="0" bIns="0" rtlCol="0" anchor="t"/>
          <a:lstStyle/>
          <a:p>
            <a:pPr indent="0" marL="0">
              <a:buNone/>
            </a:pPr>
            <a:r>
              <a:rPr lang="en-US" sz="3400" b="1" dirty="0">
                <a:solidFill>
                  <a:srgbClr val="FFFFFF"/>
                </a:solidFill>
              </a:rPr>
              <a:t>Conclusion</a:t>
            </a:r>
            <a:endParaRPr lang="en-US" sz="3400" dirty="0"/>
          </a:p>
        </p:txBody>
      </p:sp>
      <p:sp>
        <p:nvSpPr>
          <p:cNvPr id="3" name="Text 1"/>
          <p:cNvSpPr txBox="1"/>
          <p:nvPr/>
        </p:nvSpPr>
        <p:spPr>
          <a:xfrm>
            <a:off x="640080" y="3017520"/>
            <a:ext cx="5486400" cy="1188720"/>
          </a:xfrm>
          <a:prstGeom prst="rect">
            <a:avLst/>
          </a:prstGeom>
          <a:noFill/>
          <a:ln/>
        </p:spPr>
        <p:txBody>
          <a:bodyPr wrap="square" lIns="0" tIns="0" rIns="0" bIns="0" rtlCol="0" anchor="t"/>
          <a:lstStyle/>
          <a:p>
            <a:pPr indent="0" marL="0">
              <a:buNone/>
            </a:pPr>
            <a:r>
              <a:rPr lang="en-US" sz="1500" dirty="0">
                <a:solidFill>
                  <a:srgbClr val="CFE0FF"/>
                </a:solidFill>
              </a:rPr>
              <a:t>A safe pattern for regulated work: specialist agents for language, code for facts and rules, and people for every clinical decision.</a:t>
            </a:r>
            <a:endParaRPr lang="en-US" sz="1500" dirty="0"/>
          </a:p>
        </p:txBody>
      </p:sp>
      <p:sp>
        <p:nvSpPr>
          <p:cNvPr id="4" name="Text 2"/>
          <p:cNvSpPr txBox="1"/>
          <p:nvPr/>
        </p:nvSpPr>
        <p:spPr>
          <a:xfrm>
            <a:off x="640080" y="4114800"/>
            <a:ext cx="5486400" cy="548640"/>
          </a:xfrm>
          <a:prstGeom prst="rect">
            <a:avLst/>
          </a:prstGeom>
          <a:noFill/>
          <a:ln/>
        </p:spPr>
        <p:txBody>
          <a:bodyPr wrap="square" lIns="0" tIns="0" rIns="0" bIns="0" rtlCol="0" anchor="t"/>
          <a:lstStyle/>
          <a:p>
            <a:pPr indent="0" marL="0">
              <a:buNone/>
            </a:pPr>
            <a:r>
              <a:rPr lang="en-US" sz="1200" dirty="0">
                <a:solidFill>
                  <a:srgbClr val="CFE0FF"/>
                </a:solidFill>
              </a:rPr>
              <a:t>The prototype uses synthetic data and is for learning only.</a:t>
            </a:r>
            <a:endParaRPr lang="en-US" sz="1200" dirty="0"/>
          </a:p>
        </p:txBody>
      </p:sp>
      <p:sp>
        <p:nvSpPr>
          <p:cNvPr id="5" name="Takeaway"/>
          <p:cNvSpPr/>
          <p:nvPr/>
        </p:nvSpPr>
        <p:spPr>
          <a:xfrm>
            <a:off x="6949440" y="1371600"/>
            <a:ext cx="4690872" cy="1005840"/>
          </a:xfrm>
          <a:prstGeom prst="roundRect">
            <a:avLst>
              <a:gd name="adj" fmla="val 9091"/>
            </a:avLst>
          </a:prstGeom>
          <a:solidFill>
            <a:srgbClr val="FFFFFF">
              <a:alpha val="12000"/>
            </a:srgbClr>
          </a:solidFill>
          <a:ln w="12700">
            <a:solidFill>
              <a:srgbClr val="7F9BEA"/>
            </a:solidFill>
            <a:prstDash val="solid"/>
          </a:ln>
        </p:spPr>
      </p:sp>
      <p:sp>
        <p:nvSpPr>
          <p:cNvPr id="6" name="IconCircle"/>
          <p:cNvSpPr/>
          <p:nvPr/>
        </p:nvSpPr>
        <p:spPr>
          <a:xfrm>
            <a:off x="7178040" y="1627632"/>
            <a:ext cx="493776" cy="493776"/>
          </a:xfrm>
          <a:prstGeom prst="ellipse">
            <a:avLst/>
          </a:prstGeom>
          <a:solidFill>
            <a:srgbClr val="3CC3F0"/>
          </a:solidFill>
          <a:ln w="12700">
            <a:solidFill>
              <a:srgbClr val="3CC3F0"/>
            </a:solidFill>
            <a:prstDash val="solid"/>
          </a:ln>
        </p:spPr>
      </p:sp>
      <p:pic>
        <p:nvPicPr>
          <p:cNvPr id="7" name="Image 0" descr="Check icon">    </p:cNvPr>
          <p:cNvPicPr>
            <a:picLocks noChangeAspect="1"/>
          </p:cNvPicPr>
          <p:nvPr/>
        </p:nvPicPr>
        <p:blipFill>
          <a:blip r:embed="rId1"/>
          <a:stretch>
            <a:fillRect/>
          </a:stretch>
        </p:blipFill>
        <p:spPr>
          <a:xfrm>
            <a:off x="7301484" y="1751076"/>
            <a:ext cx="246888" cy="246888"/>
          </a:xfrm>
          <a:prstGeom prst="rect">
            <a:avLst/>
          </a:prstGeom>
        </p:spPr>
      </p:pic>
      <p:sp>
        <p:nvSpPr>
          <p:cNvPr id="8" name="Text 5"/>
          <p:cNvSpPr txBox="1"/>
          <p:nvPr/>
        </p:nvSpPr>
        <p:spPr>
          <a:xfrm>
            <a:off x="7909560" y="1554480"/>
            <a:ext cx="3566160" cy="292608"/>
          </a:xfrm>
          <a:prstGeom prst="rect">
            <a:avLst/>
          </a:prstGeom>
          <a:noFill/>
          <a:ln/>
        </p:spPr>
        <p:txBody>
          <a:bodyPr wrap="square" lIns="0" tIns="0" rIns="0" bIns="0" rtlCol="0" anchor="t"/>
          <a:lstStyle/>
          <a:p>
            <a:pPr indent="0" marL="0">
              <a:buNone/>
            </a:pPr>
            <a:r>
              <a:rPr lang="en-US" sz="1500" b="1" dirty="0">
                <a:solidFill>
                  <a:srgbClr val="FFFFFF"/>
                </a:solidFill>
              </a:rPr>
              <a:t>Safe by design</a:t>
            </a:r>
            <a:endParaRPr lang="en-US" sz="1500" dirty="0"/>
          </a:p>
        </p:txBody>
      </p:sp>
      <p:sp>
        <p:nvSpPr>
          <p:cNvPr id="9" name="Text 6"/>
          <p:cNvSpPr txBox="1"/>
          <p:nvPr/>
        </p:nvSpPr>
        <p:spPr>
          <a:xfrm>
            <a:off x="7909560" y="1883664"/>
            <a:ext cx="3566160" cy="365760"/>
          </a:xfrm>
          <a:prstGeom prst="rect">
            <a:avLst/>
          </a:prstGeom>
          <a:noFill/>
          <a:ln/>
        </p:spPr>
        <p:txBody>
          <a:bodyPr wrap="square" lIns="0" tIns="0" rIns="0" bIns="0" rtlCol="0" anchor="t"/>
          <a:lstStyle/>
          <a:p>
            <a:pPr indent="0" marL="0">
              <a:buNone/>
            </a:pPr>
            <a:r>
              <a:rPr lang="en-US" sz="1150" dirty="0">
                <a:solidFill>
                  <a:srgbClr val="CFE0FF"/>
                </a:solidFill>
              </a:rPr>
              <a:t>Rules and facts live in code, not in prompts</a:t>
            </a:r>
            <a:endParaRPr lang="en-US" sz="1150" dirty="0"/>
          </a:p>
        </p:txBody>
      </p:sp>
      <p:sp>
        <p:nvSpPr>
          <p:cNvPr id="10" name="Takeaway"/>
          <p:cNvSpPr/>
          <p:nvPr/>
        </p:nvSpPr>
        <p:spPr>
          <a:xfrm>
            <a:off x="6949440" y="2560320"/>
            <a:ext cx="4690872" cy="1005840"/>
          </a:xfrm>
          <a:prstGeom prst="roundRect">
            <a:avLst>
              <a:gd name="adj" fmla="val 9091"/>
            </a:avLst>
          </a:prstGeom>
          <a:solidFill>
            <a:srgbClr val="FFFFFF">
              <a:alpha val="12000"/>
            </a:srgbClr>
          </a:solidFill>
          <a:ln w="12700">
            <a:solidFill>
              <a:srgbClr val="7F9BEA"/>
            </a:solidFill>
            <a:prstDash val="solid"/>
          </a:ln>
        </p:spPr>
      </p:sp>
      <p:sp>
        <p:nvSpPr>
          <p:cNvPr id="11" name="IconCircle"/>
          <p:cNvSpPr/>
          <p:nvPr/>
        </p:nvSpPr>
        <p:spPr>
          <a:xfrm>
            <a:off x="7178040" y="2816352"/>
            <a:ext cx="493776" cy="493776"/>
          </a:xfrm>
          <a:prstGeom prst="ellipse">
            <a:avLst/>
          </a:prstGeom>
          <a:solidFill>
            <a:srgbClr val="3CC3F0"/>
          </a:solidFill>
          <a:ln w="12700">
            <a:solidFill>
              <a:srgbClr val="3CC3F0"/>
            </a:solidFill>
            <a:prstDash val="solid"/>
          </a:ln>
        </p:spPr>
      </p:sp>
      <p:pic>
        <p:nvPicPr>
          <p:cNvPr id="12" name="Image 1" descr="Check icon">    </p:cNvPr>
          <p:cNvPicPr>
            <a:picLocks noChangeAspect="1"/>
          </p:cNvPicPr>
          <p:nvPr/>
        </p:nvPicPr>
        <p:blipFill>
          <a:blip r:embed="rId2"/>
          <a:stretch>
            <a:fillRect/>
          </a:stretch>
        </p:blipFill>
        <p:spPr>
          <a:xfrm>
            <a:off x="7301484" y="2939796"/>
            <a:ext cx="246888" cy="246888"/>
          </a:xfrm>
          <a:prstGeom prst="rect">
            <a:avLst/>
          </a:prstGeom>
        </p:spPr>
      </p:pic>
      <p:sp>
        <p:nvSpPr>
          <p:cNvPr id="13" name="Text 9"/>
          <p:cNvSpPr txBox="1"/>
          <p:nvPr/>
        </p:nvSpPr>
        <p:spPr>
          <a:xfrm>
            <a:off x="7909560" y="2743200"/>
            <a:ext cx="3566160" cy="292608"/>
          </a:xfrm>
          <a:prstGeom prst="rect">
            <a:avLst/>
          </a:prstGeom>
          <a:noFill/>
          <a:ln/>
        </p:spPr>
        <p:txBody>
          <a:bodyPr wrap="square" lIns="0" tIns="0" rIns="0" bIns="0" rtlCol="0" anchor="t"/>
          <a:lstStyle/>
          <a:p>
            <a:pPr indent="0" marL="0">
              <a:buNone/>
            </a:pPr>
            <a:r>
              <a:rPr lang="en-US" sz="1500" b="1" dirty="0">
                <a:solidFill>
                  <a:srgbClr val="FFFFFF"/>
                </a:solidFill>
              </a:rPr>
              <a:t>Grounded</a:t>
            </a:r>
            <a:endParaRPr lang="en-US" sz="1500" dirty="0"/>
          </a:p>
        </p:txBody>
      </p:sp>
      <p:sp>
        <p:nvSpPr>
          <p:cNvPr id="14" name="Text 10"/>
          <p:cNvSpPr txBox="1"/>
          <p:nvPr/>
        </p:nvSpPr>
        <p:spPr>
          <a:xfrm>
            <a:off x="7909560" y="3072384"/>
            <a:ext cx="3566160" cy="365760"/>
          </a:xfrm>
          <a:prstGeom prst="rect">
            <a:avLst/>
          </a:prstGeom>
          <a:noFill/>
          <a:ln/>
        </p:spPr>
        <p:txBody>
          <a:bodyPr wrap="square" lIns="0" tIns="0" rIns="0" bIns="0" rtlCol="0" anchor="t"/>
          <a:lstStyle/>
          <a:p>
            <a:pPr indent="0" marL="0">
              <a:buNone/>
            </a:pPr>
            <a:r>
              <a:rPr lang="en-US" sz="1150" dirty="0">
                <a:solidFill>
                  <a:srgbClr val="CFE0FF"/>
                </a:solidFill>
              </a:rPr>
              <a:t>Answers cite approved versions or admit a gap</a:t>
            </a:r>
            <a:endParaRPr lang="en-US" sz="1150" dirty="0"/>
          </a:p>
        </p:txBody>
      </p:sp>
      <p:sp>
        <p:nvSpPr>
          <p:cNvPr id="15" name="Takeaway"/>
          <p:cNvSpPr/>
          <p:nvPr/>
        </p:nvSpPr>
        <p:spPr>
          <a:xfrm>
            <a:off x="6949440" y="3749040"/>
            <a:ext cx="4690872" cy="1005840"/>
          </a:xfrm>
          <a:prstGeom prst="roundRect">
            <a:avLst>
              <a:gd name="adj" fmla="val 9091"/>
            </a:avLst>
          </a:prstGeom>
          <a:solidFill>
            <a:srgbClr val="FFFFFF">
              <a:alpha val="12000"/>
            </a:srgbClr>
          </a:solidFill>
          <a:ln w="12700">
            <a:solidFill>
              <a:srgbClr val="7F9BEA"/>
            </a:solidFill>
            <a:prstDash val="solid"/>
          </a:ln>
        </p:spPr>
      </p:sp>
      <p:sp>
        <p:nvSpPr>
          <p:cNvPr id="16" name="IconCircle"/>
          <p:cNvSpPr/>
          <p:nvPr/>
        </p:nvSpPr>
        <p:spPr>
          <a:xfrm>
            <a:off x="7178040" y="4005072"/>
            <a:ext cx="493776" cy="493776"/>
          </a:xfrm>
          <a:prstGeom prst="ellipse">
            <a:avLst/>
          </a:prstGeom>
          <a:solidFill>
            <a:srgbClr val="3CC3F0"/>
          </a:solidFill>
          <a:ln w="12700">
            <a:solidFill>
              <a:srgbClr val="3CC3F0"/>
            </a:solidFill>
            <a:prstDash val="solid"/>
          </a:ln>
        </p:spPr>
      </p:sp>
      <p:pic>
        <p:nvPicPr>
          <p:cNvPr id="17" name="Image 2" descr="Check icon">    </p:cNvPr>
          <p:cNvPicPr>
            <a:picLocks noChangeAspect="1"/>
          </p:cNvPicPr>
          <p:nvPr/>
        </p:nvPicPr>
        <p:blipFill>
          <a:blip r:embed="rId3"/>
          <a:stretch>
            <a:fillRect/>
          </a:stretch>
        </p:blipFill>
        <p:spPr>
          <a:xfrm>
            <a:off x="7301484" y="4128516"/>
            <a:ext cx="246888" cy="246888"/>
          </a:xfrm>
          <a:prstGeom prst="rect">
            <a:avLst/>
          </a:prstGeom>
        </p:spPr>
      </p:pic>
      <p:sp>
        <p:nvSpPr>
          <p:cNvPr id="18" name="Text 13"/>
          <p:cNvSpPr txBox="1"/>
          <p:nvPr/>
        </p:nvSpPr>
        <p:spPr>
          <a:xfrm>
            <a:off x="7909560" y="3931920"/>
            <a:ext cx="3566160" cy="292608"/>
          </a:xfrm>
          <a:prstGeom prst="rect">
            <a:avLst/>
          </a:prstGeom>
          <a:noFill/>
          <a:ln/>
        </p:spPr>
        <p:txBody>
          <a:bodyPr wrap="square" lIns="0" tIns="0" rIns="0" bIns="0" rtlCol="0" anchor="t"/>
          <a:lstStyle/>
          <a:p>
            <a:pPr indent="0" marL="0">
              <a:buNone/>
            </a:pPr>
            <a:r>
              <a:rPr lang="en-US" sz="1500" b="1" dirty="0">
                <a:solidFill>
                  <a:srgbClr val="FFFFFF"/>
                </a:solidFill>
              </a:rPr>
              <a:t>Human-led</a:t>
            </a:r>
            <a:endParaRPr lang="en-US" sz="1500" dirty="0"/>
          </a:p>
        </p:txBody>
      </p:sp>
      <p:sp>
        <p:nvSpPr>
          <p:cNvPr id="19" name="Text 14"/>
          <p:cNvSpPr txBox="1"/>
          <p:nvPr/>
        </p:nvSpPr>
        <p:spPr>
          <a:xfrm>
            <a:off x="7909560" y="4261104"/>
            <a:ext cx="3566160" cy="365760"/>
          </a:xfrm>
          <a:prstGeom prst="rect">
            <a:avLst/>
          </a:prstGeom>
          <a:noFill/>
          <a:ln/>
        </p:spPr>
        <p:txBody>
          <a:bodyPr wrap="square" lIns="0" tIns="0" rIns="0" bIns="0" rtlCol="0" anchor="t"/>
          <a:lstStyle/>
          <a:p>
            <a:pPr indent="0" marL="0">
              <a:buNone/>
            </a:pPr>
            <a:r>
              <a:rPr lang="en-US" sz="1150" dirty="0">
                <a:solidFill>
                  <a:srgbClr val="CFE0FF"/>
                </a:solidFill>
              </a:rPr>
              <a:t>Risk goes to a staff queue with a clean packet</a:t>
            </a:r>
            <a:endParaRPr lang="en-US" sz="1150" dirty="0"/>
          </a:p>
        </p:txBody>
      </p:sp>
      <p:sp>
        <p:nvSpPr>
          <p:cNvPr id="20" name="Takeaway"/>
          <p:cNvSpPr/>
          <p:nvPr/>
        </p:nvSpPr>
        <p:spPr>
          <a:xfrm>
            <a:off x="6949440" y="4937760"/>
            <a:ext cx="4690872" cy="1005840"/>
          </a:xfrm>
          <a:prstGeom prst="roundRect">
            <a:avLst>
              <a:gd name="adj" fmla="val 9091"/>
            </a:avLst>
          </a:prstGeom>
          <a:solidFill>
            <a:srgbClr val="FFFFFF">
              <a:alpha val="12000"/>
            </a:srgbClr>
          </a:solidFill>
          <a:ln w="12700">
            <a:solidFill>
              <a:srgbClr val="7F9BEA"/>
            </a:solidFill>
            <a:prstDash val="solid"/>
          </a:ln>
        </p:spPr>
      </p:sp>
      <p:sp>
        <p:nvSpPr>
          <p:cNvPr id="21" name="IconCircle"/>
          <p:cNvSpPr/>
          <p:nvPr/>
        </p:nvSpPr>
        <p:spPr>
          <a:xfrm>
            <a:off x="7178040" y="5193792"/>
            <a:ext cx="493776" cy="493776"/>
          </a:xfrm>
          <a:prstGeom prst="ellipse">
            <a:avLst/>
          </a:prstGeom>
          <a:solidFill>
            <a:srgbClr val="3CC3F0"/>
          </a:solidFill>
          <a:ln w="12700">
            <a:solidFill>
              <a:srgbClr val="3CC3F0"/>
            </a:solidFill>
            <a:prstDash val="solid"/>
          </a:ln>
        </p:spPr>
      </p:sp>
      <p:pic>
        <p:nvPicPr>
          <p:cNvPr id="22" name="Image 3" descr="Check icon">    </p:cNvPr>
          <p:cNvPicPr>
            <a:picLocks noChangeAspect="1"/>
          </p:cNvPicPr>
          <p:nvPr/>
        </p:nvPicPr>
        <p:blipFill>
          <a:blip r:embed="rId4"/>
          <a:stretch>
            <a:fillRect/>
          </a:stretch>
        </p:blipFill>
        <p:spPr>
          <a:xfrm>
            <a:off x="7301484" y="5317236"/>
            <a:ext cx="246888" cy="246888"/>
          </a:xfrm>
          <a:prstGeom prst="rect">
            <a:avLst/>
          </a:prstGeom>
        </p:spPr>
      </p:pic>
      <p:sp>
        <p:nvSpPr>
          <p:cNvPr id="23" name="Text 17"/>
          <p:cNvSpPr txBox="1"/>
          <p:nvPr/>
        </p:nvSpPr>
        <p:spPr>
          <a:xfrm>
            <a:off x="7909560" y="5120640"/>
            <a:ext cx="3566160" cy="292608"/>
          </a:xfrm>
          <a:prstGeom prst="rect">
            <a:avLst/>
          </a:prstGeom>
          <a:noFill/>
          <a:ln/>
        </p:spPr>
        <p:txBody>
          <a:bodyPr wrap="square" lIns="0" tIns="0" rIns="0" bIns="0" rtlCol="0" anchor="t"/>
          <a:lstStyle/>
          <a:p>
            <a:pPr indent="0" marL="0">
              <a:buNone/>
            </a:pPr>
            <a:r>
              <a:rPr lang="en-US" sz="1500" b="1" dirty="0">
                <a:solidFill>
                  <a:srgbClr val="FFFFFF"/>
                </a:solidFill>
              </a:rPr>
              <a:t>Auditable</a:t>
            </a:r>
            <a:endParaRPr lang="en-US" sz="1500" dirty="0"/>
          </a:p>
        </p:txBody>
      </p:sp>
      <p:sp>
        <p:nvSpPr>
          <p:cNvPr id="24" name="Text 18"/>
          <p:cNvSpPr txBox="1"/>
          <p:nvPr/>
        </p:nvSpPr>
        <p:spPr>
          <a:xfrm>
            <a:off x="7909560" y="5449824"/>
            <a:ext cx="3566160" cy="365760"/>
          </a:xfrm>
          <a:prstGeom prst="rect">
            <a:avLst/>
          </a:prstGeom>
          <a:noFill/>
          <a:ln/>
        </p:spPr>
        <p:txBody>
          <a:bodyPr wrap="square" lIns="0" tIns="0" rIns="0" bIns="0" rtlCol="0" anchor="t"/>
          <a:lstStyle/>
          <a:p>
            <a:pPr indent="0" marL="0">
              <a:buNone/>
            </a:pPr>
            <a:r>
              <a:rPr lang="en-US" sz="1150" dirty="0">
                <a:solidFill>
                  <a:srgbClr val="CFE0FF"/>
                </a:solidFill>
              </a:rPr>
              <a:t>Masked IDs, no message text, rule IDs recorded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2743200"/>
            <a:ext cx="7315200" cy="822960"/>
          </a:xfrm>
          <a:prstGeom prst="rect">
            <a:avLst/>
          </a:prstGeom>
          <a:noFill/>
          <a:ln/>
        </p:spPr>
        <p:txBody>
          <a:bodyPr wrap="square" lIns="0" tIns="0" rIns="0" bIns="0" rtlCol="0" anchor="t"/>
          <a:lstStyle/>
          <a:p>
            <a:pPr indent="0" marL="0">
              <a:buNone/>
            </a:pPr>
            <a:r>
              <a:rPr lang="en-US" sz="4000" b="1" dirty="0">
                <a:solidFill>
                  <a:srgbClr val="FFFFFF"/>
                </a:solidFill>
              </a:rPr>
              <a:t>Thank you</a:t>
            </a:r>
            <a:endParaRPr lang="en-US" sz="4000" dirty="0"/>
          </a:p>
        </p:txBody>
      </p:sp>
      <p:sp>
        <p:nvSpPr>
          <p:cNvPr id="3" name="Text 1"/>
          <p:cNvSpPr txBox="1"/>
          <p:nvPr/>
        </p:nvSpPr>
        <p:spPr>
          <a:xfrm>
            <a:off x="640080" y="3611880"/>
            <a:ext cx="7315200" cy="365760"/>
          </a:xfrm>
          <a:prstGeom prst="rect">
            <a:avLst/>
          </a:prstGeom>
          <a:noFill/>
          <a:ln/>
        </p:spPr>
        <p:txBody>
          <a:bodyPr wrap="square" lIns="0" tIns="0" rIns="0" bIns="0" rtlCol="0" anchor="t"/>
          <a:lstStyle/>
          <a:p>
            <a:pPr indent="0" marL="0">
              <a:buNone/>
            </a:pPr>
            <a:r>
              <a:rPr lang="en-US" sz="1600" dirty="0">
                <a:solidFill>
                  <a:srgbClr val="3CC3F0"/>
                </a:solidFill>
              </a:rPr>
              <a:t>Open for questions</a:t>
            </a:r>
            <a:endParaRPr lang="en-US" sz="1600" dirty="0"/>
          </a:p>
        </p:txBody>
      </p:sp>
      <p:sp>
        <p:nvSpPr>
          <p:cNvPr id="4" name="Text 2"/>
          <p:cNvSpPr txBox="1"/>
          <p:nvPr/>
        </p:nvSpPr>
        <p:spPr>
          <a:xfrm>
            <a:off x="640080" y="6217920"/>
            <a:ext cx="5486400" cy="274320"/>
          </a:xfrm>
          <a:prstGeom prst="rect">
            <a:avLst/>
          </a:prstGeom>
          <a:noFill/>
          <a:ln/>
        </p:spPr>
        <p:txBody>
          <a:bodyPr wrap="square" lIns="0" tIns="0" rIns="0" bIns="0" rtlCol="0" anchor="t"/>
          <a:lstStyle/>
          <a:p>
            <a:pPr indent="0" marL="0">
              <a:buNone/>
            </a:pPr>
            <a:r>
              <a:rPr lang="en-US" sz="1000" dirty="0">
                <a:solidFill>
                  <a:srgbClr val="CFE0FF"/>
                </a:solidFill>
              </a:rPr>
              <a:t>Sujit Gorakh Raut</a:t>
            </a:r>
            <a:endParaRPr lang="en-US" sz="1000" dirty="0"/>
          </a:p>
        </p:txBody>
      </p:sp>
    </p:spTree>
  </p:cSld>
  <p:clrMapOvr>
    <a:masterClrMapping/>
  </p:clrMapOvr>
</p:sld>
</file>

<file path=ppt/theme/theme1.xml><?xml version="1.0" encoding="utf-8"?>
<a:theme xmlns:a="http://schemas.openxmlformats.org/drawingml/2006/main" name="CitiusTech Chronic Care">
  <a:themeElements>
    <a:clrScheme name="CitiusTech Chronic Care">
      <a:dk1>
        <a:srgbClr val="1F2937"/>
      </a:dk1>
      <a:lt1>
        <a:srgbClr val="FFFFFF"/>
      </a:lt1>
      <a:dk2>
        <a:srgbClr val="0A1F5C"/>
      </a:dk2>
      <a:lt2>
        <a:srgbClr val="F4F6FB"/>
      </a:lt2>
      <a:accent1>
        <a:srgbClr val="1547C8"/>
      </a:accent1>
      <a:accent2>
        <a:srgbClr val="3CC3F0"/>
      </a:accent2>
      <a:accent3>
        <a:srgbClr val="12A36B"/>
      </a:accent3>
      <a:accent4>
        <a:srgbClr val="F5A524"/>
      </a:accent4>
      <a:accent5>
        <a:srgbClr val="E5484D"/>
      </a:accent5>
      <a:accent6>
        <a:srgbClr val="8338EC"/>
      </a:accent6>
      <a:hlink>
        <a:srgbClr val="1547C8"/>
      </a:hlink>
      <a:folHlink>
        <a:srgbClr val="5B6478"/>
      </a:folHlink>
    </a:clrScheme>
    <a:fontScheme name="CitiusTech Chronic Car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and Follow-up</dc:title>
  <dc:subject>PptxGenJS Presentation</dc:subject>
  <dc:creator>Sujit Gorakh Raut</dc:creator>
  <cp:lastModifiedBy>Sujit Gorakh Raut</cp:lastModifiedBy>
  <cp:revision>1</cp:revision>
  <dcterms:created xsi:type="dcterms:W3CDTF">2026-10-10T11:13:55Z</dcterms:created>
  <dcterms:modified xsi:type="dcterms:W3CDTF">2026-10-10T11:13:55Z</dcterms:modified>
</cp:coreProperties>
</file>