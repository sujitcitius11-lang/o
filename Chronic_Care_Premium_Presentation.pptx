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191a7b-4f92-03fb-3390-41d8c8ed925c}">
          <p14:sldIdLst>
            <p14:sldId id="256"/>
          </p14:sldIdLst>
        </p14:section>
        <p14:section name="Problem" id="{ba9e44a6-0fc4-a0e3-80cf-fcf738c6c920}">
          <p14:sldIdLst>
            <p14:sldId id="257"/>
          </p14:sldIdLst>
        </p14:section>
        <p14:section name="Solution" id="{beaa88d3-4f84-a42a-5bc2-b18858e7159b}">
          <p14:sldIdLst>
            <p14:sldId id="258"/>
          </p14:sldIdLst>
        </p14:section>
        <p14:section name="Principle" id="{95b1ff6c-e34e-b396-b972-3684e789e452}">
          <p14:sldIdLst>
            <p14:sldId id="259"/>
          </p14:sldIdLst>
        </p14:section>
        <p14:section name="Flow" id="{9e486278-0542-ba1c-07fd-ef9fd98105b5}">
          <p14:sldIdLst>
            <p14:sldId id="260"/>
          </p14:sldIdLst>
        </p14:section>
        <p14:section name="RAG" id="{4d6c1725-8996-1a84-68f1-ace44828aca5}">
          <p14:sldIdLst>
            <p14:sldId id="261"/>
          </p14:sldIdLst>
        </p14:section>
        <p14:section name="Demo" id="{b9cc6e86-aded-c745-f55c-d6624be59069}">
          <p14:sldIdLst>
            <p14:sldId id="262"/>
          </p14:sldIdLst>
        </p14:section>
        <p14:section name="Rules" id="{d85e9793-b531-9f3a-e94a-34f1f0e8eff3}">
          <p14:sldIdLst>
            <p14:sldId id="263"/>
          </p14:sldIdLst>
        </p14:section>
        <p14:section name="Results" id="{0272acde-ece0-2019-7f36-d57b86d1a8d7}">
          <p14:sldIdLst>
            <p14:sldId id="264"/>
          </p14:sldIdLst>
        </p14:section>
        <p14:section name="Next" id="{d4e011f0-9d76-1fac-8087-9364e6f7df37}">
          <p14:sldIdLst>
            <p14:sldId id="265"/>
          </p14:sldIdLst>
        </p14:section>
        <p14:section name="Conclusion" id="{81918332-25df-b746-fc16-f4de5835094f}">
          <p14:sldIdLst>
            <p14:sldId id="266"/>
          </p14:sldIdLst>
        </p14:section>
        <p14:section name="Close" id="{c3eec1d6-3cf4-14a8-0550-2cb7b0908ad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Passed</c:v>
                </c:pt>
              </c:strCache>
            </c:strRef>
          </c:tx>
          <c:spPr>
            <a:solidFill>
              <a:schemeClr val="accent1"/>
            </a:solidFill>
            <a:ln w="9525" cap="flat">
              <a:solidFill>
                <a:srgbClr val="F9F9F9"/>
              </a:solidFill>
              <a:prstDash val="solid"/>
              <a:round/>
            </a:ln>
            <a:effectLst/>
          </c:spPr>
          <c:dPt>
            <c:idx val="0"/>
            <c:bubble3D val="0"/>
            <c:spPr>
              <a:solidFill>
                <a:srgbClr val="3CC3F0"/>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Sheet1!$A$2:$A$2</c:f>
              <c:strCache>
                <c:ptCount val="1"/>
                <c:pt idx="0">
                  <c:v>Passed</c:v>
                </c:pt>
              </c:strCache>
            </c:strRef>
          </c:cat>
          <c:val>
            <c:numRef>
              <c:f>Sheet1!$B$2:$B$2</c:f>
              <c:numCache>
                <c:ptCount val="1"/>
                <c:pt idx="0">
                  <c:v>14</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Scenarios</c:v>
                </c:pt>
              </c:strCache>
            </c:strRef>
          </c:tx>
          <c:spPr>
            <a:solidFill>
              <a:srgbClr val="3CC3F0"/>
            </a:solidFill>
            <a:effectLst/>
          </c:spPr>
          <c:invertIfNegative val="0"/>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Normal paths</c:v>
                  </c:pt>
                  <c:pt idx="1">
                    <c:v>Safety escalations</c:v>
                  </c:pt>
                  <c:pt idx="2">
                    <c:v>Edge and conflict</c:v>
                  </c:pt>
                  <c:pt idx="3">
                    <c:v>Failure handling</c:v>
                  </c:pt>
                </c:lvl>
              </c:multiLvlStrCache>
            </c:multiLvlStrRef>
          </c:cat>
          <c:val>
            <c:numRef>
              <c:f>Sheet1!$B$2:$B$5</c:f>
              <c:numCache>
                <c:formatCode>General</c:formatCode>
                <c:ptCount val="4"/>
                <c:pt idx="0">
                  <c:v>4</c:v>
                </c:pt>
                <c:pt idx="1">
                  <c:v>5</c:v>
                </c:pt>
                <c:pt idx="2">
                  <c:v>4</c:v>
                </c:pt>
                <c:pt idx="3">
                  <c:v>1</c:v>
                </c:pt>
              </c:numCache>
            </c:numRef>
          </c:val>
        </c:ser>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FE0FF"/>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multi-agent assistant for a synthetic chronic-care program. The orbit on the right is the idea in one picture: six specialist agents around a protective core. They explain approved education, summarise readings, remind members of tasks, and pass anything risky to people. The system never diagnoses and never gives medical advice. Use the chapter bar at the bottom of every slide to jump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the same questions repeat, members forget tasks, and hand-offs are messy. A free-form chatbot is not the answer because it can invent facts or give advice. Our goal is to scale routine education and follow-up while every clinical decision stays with people. The red tiles are the hard boundary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plain Python, so the order of steps and every safety decision are identical every time. Around it are the five specialists from the assignment. Each one only sees the slice of data it needs; that is least privilege. All agents are created by code, not clicked together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idea. Everything that must be exact is code: consent, the four rules, the statistics and the citation check. The model only understands language and writes wording, and even that text is checked. If it contains an invented number, a diagnosis, medication advice or a claim to be a clinician, it is thrown away and a fixed template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One: the consent gate. If consent is not active, nothing else runs. Two: block injection and medication-change requests. Three: the router picks the specialist. Four: code reads only that member's data and applies the rules. Five: the specialist words the answer. Six: three separate outputs. The coloured tags are the points where a human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Markdown articles sit in Blob Storage. A script builds three Azure AI Search indexes. The Education agent, hosted in Foundry, answers only from retrieved text. Its answer then goes through a validator in code: the cited article must exist, be approved, fit the member's program and be the current version. If any check fails, or nothing relevant is found, the member is told there is a gap and staff follow up. A gap is never filled with the model's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in about five minutes. Normal: a general question gets a cited answer. Exception: consent has expired, so processing stops before any data is read. Safety: a medication-change request is declined, and a blood-pressure summary for M-102 creates an urgent staff-review record with no interpretation. The front screenshot is the member's chat; the one behind it is the staff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rules from the assignment, evaluated in code exactly as written. Every match goes to the staff review queue and nobody is told what a value means. The two numbers behind ER-502 are placeholders chosen so the rule can be demonstrated. Real thresholds must come from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of 14 scenarios pass in the offline dry run: the six from the assignment plus eight extra, grouped as four normal paths, five safety escalations, four edge and conflict cases and one failure case. Be clear about scope: this proves the safety code and templates, not live model wording. After the online run against deployed Foundry agents, replace the headline and gauge with that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has a concrete next step. Placeholders become clinician-set thresholds. Offline evidence becomes online evidence. English-only guards become tested multilingual routing plus a dedicated route for distress. Synthetic content becomes clinically reviewed content on a hardened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three lines: facts in code, words from AI, decisions by people. That gives us safe-by-design behaviour, grounded answers, human-led escalation, and an audit trail with masked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replay any of the three demo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DARK_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_B-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_C-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RAND_TITLE-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BRAND_CONCL-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BRAND_THANKS-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4630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65760"/>
            <a:ext cx="8229600" cy="256032"/>
          </a:xfrm>
          <a:prstGeom prst="rect">
            <a:avLst/>
          </a:prstGeom>
          <a:noFill/>
          <a:ln/>
        </p:spPr>
        <p:txBody>
          <a:bodyPr wrap="square" rtlCol="0"/>
          <a:lstStyle>
            <a:lvl1pPr algn="l" indent="0" marL="0">
              <a:buNone/>
              <a:defRPr lang="en-US" sz="1100" b="1" spc="300" kern="0" dirty="0">
                <a:solidFill>
                  <a:srgbClr val="3CC3F0"/>
                </a:solidFill>
              </a:defRPr>
            </a:lvl1pPr>
          </a:lstStyle>
          <a:p>
            <a:pPr algn="l" indent="0" marL="0">
              <a:buNone/>
            </a:pPr>
            <a:endParaRPr lang="en-US" sz="1100" dirty="0"/>
          </a:p>
        </p:txBody>
      </p:sp>
      <p:sp>
        <p:nvSpPr>
          <p:cNvPr id="5" name="Text 1"/>
          <p:cNvSpPr/>
          <p:nvPr>
            <p:ph idx="103" type="title" hasCustomPrompt="1"/>
          </p:nvPr>
        </p:nvSpPr>
        <p:spPr>
          <a:xfrm>
            <a:off x="548640" y="640080"/>
            <a:ext cx="11064240" cy="603504"/>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RAND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RAND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RAND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5.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4-4.png"/><Relationship Id="rId13" Type="http://schemas.openxmlformats.org/officeDocument/2006/relationships/image" Target="../media/image-4-5.png"/><Relationship Id="rId14" Type="http://schemas.openxmlformats.org/officeDocument/2006/relationships/image" Target="../media/image-4-6.png"/><Relationship Id="rId15" Type="http://schemas.openxmlformats.org/officeDocument/2006/relationships/image" Target="../media/image-4-7.png"/><Relationship Id="rId16" Type="http://schemas.openxmlformats.org/officeDocument/2006/relationships/image" Target="../media/image-4-8.png"/><Relationship Id="rId17" Type="http://schemas.openxmlformats.org/officeDocument/2006/relationships/image" Target="../media/image-4-9.png"/><Relationship Id="rId18" Type="http://schemas.openxmlformats.org/officeDocument/2006/relationships/image" Target="../media/image-4-10.png"/><Relationship Id="rId19" Type="http://schemas.openxmlformats.org/officeDocument/2006/relationships/image" Target="../media/image-4-11.png"/><Relationship Id="rId20" Type="http://schemas.openxmlformats.org/officeDocument/2006/relationships/slideLayout" Target="../slideLayouts/slideLayout4.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5-3.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 Id="rId16" Type="http://schemas.openxmlformats.org/officeDocument/2006/relationships/image" Target="../media/image-6-8.png"/><Relationship Id="rId17" Type="http://schemas.openxmlformats.org/officeDocument/2006/relationships/image" Target="../media/image-6-9.png"/><Relationship Id="rId18" Type="http://schemas.openxmlformats.org/officeDocument/2006/relationships/image" Target="../media/image-6-10.png"/><Relationship Id="rId19" Type="http://schemas.openxmlformats.org/officeDocument/2006/relationships/image" Target="../media/image-6-11.png"/><Relationship Id="rId20" Type="http://schemas.openxmlformats.org/officeDocument/2006/relationships/image" Target="../media/image-6-12.png"/><Relationship Id="rId21" Type="http://schemas.openxmlformats.org/officeDocument/2006/relationships/image" Target="../media/image-6-13.png"/><Relationship Id="rId22" Type="http://schemas.openxmlformats.org/officeDocument/2006/relationships/slideLayout" Target="../slideLayouts/slideLayout3.xml"/><Relationship Id="rId2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slideLayout" Target="../slideLayouts/slideLayout4.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image" Target="../media/image-8-1.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chart" Target="/ppt/charts/chart1.xml"/><Relationship Id="rId10" Type="http://schemas.openxmlformats.org/officeDocument/2006/relationships/chart" Target="/ppt/charts/chart2.xml"/><Relationship Id="rId11" Type="http://schemas.openxmlformats.org/officeDocument/2006/relationships/image" Target="../media/image-9-1.png"/><Relationship Id="rId12" Type="http://schemas.openxmlformats.org/officeDocument/2006/relationships/slideLayout" Target="../slideLayouts/slideLayout3.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 Id="rId14" Type="http://schemas.openxmlformats.org/officeDocument/2006/relationships/image" Target="../media/image-10-6.png"/><Relationship Id="rId15" Type="http://schemas.openxmlformats.org/officeDocument/2006/relationships/image" Target="../media/image-10-7.png"/><Relationship Id="rId16" Type="http://schemas.openxmlformats.org/officeDocument/2006/relationships/image" Target="../media/image-10-8.png"/><Relationship Id="rId17" Type="http://schemas.openxmlformats.org/officeDocument/2006/relationships/slideLayout" Target="../slideLayouts/slideLayout4.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6.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83080"/>
            <a:ext cx="5943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HEALTHCARE  ·  MULTI-AGENT AI</a:t>
            </a:r>
            <a:endParaRPr lang="en-US" sz="1100" dirty="0"/>
          </a:p>
        </p:txBody>
      </p:sp>
      <p:sp>
        <p:nvSpPr>
          <p:cNvPr id="3" name="Text 1"/>
          <p:cNvSpPr txBox="1"/>
          <p:nvPr/>
        </p:nvSpPr>
        <p:spPr>
          <a:xfrm>
            <a:off x="640080" y="2148840"/>
            <a:ext cx="6583680" cy="1828800"/>
          </a:xfrm>
          <a:prstGeom prst="rect">
            <a:avLst/>
          </a:prstGeom>
          <a:noFill/>
          <a:ln/>
        </p:spPr>
        <p:txBody>
          <a:bodyPr wrap="square" lIns="0" tIns="0" rIns="0" bIns="0" rtlCol="0" anchor="t"/>
          <a:lstStyle/>
          <a:p>
            <a:pPr indent="0" marL="0">
              <a:buNone/>
            </a:pPr>
            <a:r>
              <a:rPr lang="en-US" sz="5400" b="1" dirty="0">
                <a:solidFill>
                  <a:srgbClr val="FFFFFF"/>
                </a:solidFill>
              </a:rPr>
              <a:t>Chronic Care</a:t>
            </a:r>
            <a:endParaRPr lang="en-US" sz="5400" dirty="0"/>
          </a:p>
          <a:p>
            <a:pPr indent="0" marL="0">
              <a:buNone/>
            </a:pPr>
            <a:r>
              <a:rPr lang="en-US" sz="5400" b="1" dirty="0">
                <a:solidFill>
                  <a:srgbClr val="FFFFFF"/>
                </a:solidFill>
              </a:rPr>
              <a:t>Engagement</a:t>
            </a:r>
            <a:endParaRPr lang="en-US" sz="5400" dirty="0"/>
          </a:p>
        </p:txBody>
      </p:sp>
      <p:sp>
        <p:nvSpPr>
          <p:cNvPr id="4" name="Text 2"/>
          <p:cNvSpPr txBox="1"/>
          <p:nvPr/>
        </p:nvSpPr>
        <p:spPr>
          <a:xfrm>
            <a:off x="640080" y="3931920"/>
            <a:ext cx="6400800" cy="731520"/>
          </a:xfrm>
          <a:prstGeom prst="rect">
            <a:avLst/>
          </a:prstGeom>
          <a:noFill/>
          <a:ln/>
        </p:spPr>
        <p:txBody>
          <a:bodyPr wrap="square" lIns="0" tIns="0" rIns="0" bIns="0" rtlCol="0" anchor="t"/>
          <a:lstStyle/>
          <a:p>
            <a:pPr indent="0" marL="0">
              <a:buNone/>
            </a:pPr>
            <a:r>
              <a:rPr lang="en-US" sz="3400" b="1" dirty="0">
                <a:solidFill>
                  <a:srgbClr val="3CC3F0"/>
                </a:solidFill>
              </a:rPr>
              <a:t>&amp; Follow-up</a:t>
            </a:r>
            <a:endParaRPr lang="en-US" sz="3400" dirty="0"/>
          </a:p>
        </p:txBody>
      </p:sp>
      <p:sp>
        <p:nvSpPr>
          <p:cNvPr id="5" name="Text 3"/>
          <p:cNvSpPr txBox="1"/>
          <p:nvPr/>
        </p:nvSpPr>
        <p:spPr>
          <a:xfrm>
            <a:off x="640080" y="4754880"/>
            <a:ext cx="5852160" cy="640080"/>
          </a:xfrm>
          <a:prstGeom prst="rect">
            <a:avLst/>
          </a:prstGeom>
          <a:noFill/>
          <a:ln/>
        </p:spPr>
        <p:txBody>
          <a:bodyPr wrap="square" lIns="0" tIns="0" rIns="0" bIns="0" rtlCol="0" anchor="t"/>
          <a:lstStyle/>
          <a:p>
            <a:pPr indent="0" marL="0">
              <a:buNone/>
            </a:pPr>
            <a:r>
              <a:rPr lang="en-US" sz="1500" dirty="0">
                <a:solidFill>
                  <a:srgbClr val="CFE0FF"/>
                </a:solidFill>
              </a:rPr>
              <a:t>A safe assistant that explains, reminds and escalates. It never gives medical advice.</a:t>
            </a:r>
            <a:endParaRPr lang="en-US" sz="1500" dirty="0"/>
          </a:p>
        </p:txBody>
      </p:sp>
      <p:sp>
        <p:nvSpPr>
          <p:cNvPr id="6" name="Text 4"/>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100" dirty="0">
                <a:solidFill>
                  <a:srgbClr val="CFE0FF"/>
                </a:solidFill>
              </a:rPr>
              <a:t>Sujit Gorakh Raut  ·  October 2026</a:t>
            </a:r>
            <a:endParaRPr lang="en-US" sz="1100" dirty="0"/>
          </a:p>
        </p:txBody>
      </p:sp>
      <p:sp>
        <p:nvSpPr>
          <p:cNvPr id="7" name="Orbit outer"/>
          <p:cNvSpPr/>
          <p:nvPr/>
        </p:nvSpPr>
        <p:spPr>
          <a:xfrm>
            <a:off x="6949440" y="1051560"/>
            <a:ext cx="5029200" cy="5029200"/>
          </a:xfrm>
          <a:prstGeom prst="ellipse">
            <a:avLst/>
          </a:prstGeom>
          <a:solidFill>
            <a:srgbClr val="FFFFFF">
              <a:alpha val="4000"/>
            </a:srgbClr>
          </a:solidFill>
          <a:ln w="12700">
            <a:solidFill>
              <a:srgbClr val="3CC3F0">
                <a:alpha val="60000"/>
              </a:srgbClr>
            </a:solidFill>
            <a:prstDash val="dash"/>
          </a:ln>
        </p:spPr>
      </p:sp>
      <p:sp>
        <p:nvSpPr>
          <p:cNvPr id="8" name="Orbit inner"/>
          <p:cNvSpPr/>
          <p:nvPr/>
        </p:nvSpPr>
        <p:spPr>
          <a:xfrm>
            <a:off x="8046720" y="2148840"/>
            <a:ext cx="2834640" cy="2834640"/>
          </a:xfrm>
          <a:prstGeom prst="ellipse">
            <a:avLst/>
          </a:prstGeom>
          <a:solidFill>
            <a:srgbClr val="FFFFFF">
              <a:alpha val="7000"/>
            </a:srgbClr>
          </a:solidFill>
          <a:ln w="12700">
            <a:solidFill>
              <a:srgbClr val="7F9BEA">
                <a:alpha val="70000"/>
              </a:srgbClr>
            </a:solidFill>
            <a:prstDash val="solid"/>
          </a:ln>
        </p:spPr>
      </p:sp>
      <p:sp>
        <p:nvSpPr>
          <p:cNvPr id="9" name="Icon dot"/>
          <p:cNvSpPr/>
          <p:nvPr/>
        </p:nvSpPr>
        <p:spPr>
          <a:xfrm>
            <a:off x="8869680" y="2971800"/>
            <a:ext cx="1188720" cy="1188720"/>
          </a:xfrm>
          <a:prstGeom prst="ellipse">
            <a:avLst/>
          </a:prstGeom>
          <a:solidFill>
            <a:srgbClr val="1547C8"/>
          </a:solidFill>
          <a:ln w="25400">
            <a:solidFill>
              <a:srgbClr val="3CC3F0"/>
            </a:solidFill>
            <a:prstDash val="solid"/>
          </a:ln>
        </p:spPr>
      </p:sp>
      <p:pic>
        <p:nvPicPr>
          <p:cNvPr id="10" name="Image 0" descr="ShieldAlt icon">    </p:cNvPr>
          <p:cNvPicPr>
            <a:picLocks noChangeAspect="1"/>
          </p:cNvPicPr>
          <p:nvPr/>
        </p:nvPicPr>
        <p:blipFill>
          <a:blip r:embed="rId1"/>
          <a:stretch>
            <a:fillRect/>
          </a:stretch>
        </p:blipFill>
        <p:spPr>
          <a:xfrm>
            <a:off x="9178747" y="3280867"/>
            <a:ext cx="570586" cy="570586"/>
          </a:xfrm>
          <a:prstGeom prst="rect">
            <a:avLst/>
          </a:prstGeom>
        </p:spPr>
      </p:pic>
      <p:sp>
        <p:nvSpPr>
          <p:cNvPr id="11" name="Icon dot"/>
          <p:cNvSpPr/>
          <p:nvPr/>
        </p:nvSpPr>
        <p:spPr>
          <a:xfrm>
            <a:off x="9125712" y="713232"/>
            <a:ext cx="676656" cy="676656"/>
          </a:xfrm>
          <a:prstGeom prst="ellipse">
            <a:avLst/>
          </a:prstGeom>
          <a:solidFill>
            <a:srgbClr val="0A1F5C"/>
          </a:solidFill>
          <a:ln w="25400">
            <a:solidFill>
              <a:srgbClr val="3CC3F0"/>
            </a:solidFill>
            <a:prstDash val="solid"/>
          </a:ln>
        </p:spPr>
      </p:sp>
      <p:pic>
        <p:nvPicPr>
          <p:cNvPr id="12" name="Image 1" descr="ProjectDiagram icon">    </p:cNvPr>
          <p:cNvPicPr>
            <a:picLocks noChangeAspect="1"/>
          </p:cNvPicPr>
          <p:nvPr/>
        </p:nvPicPr>
        <p:blipFill>
          <a:blip r:embed="rId2"/>
          <a:stretch>
            <a:fillRect/>
          </a:stretch>
        </p:blipFill>
        <p:spPr>
          <a:xfrm>
            <a:off x="9301643" y="889163"/>
            <a:ext cx="324795" cy="324795"/>
          </a:xfrm>
          <a:prstGeom prst="rect">
            <a:avLst/>
          </a:prstGeom>
        </p:spPr>
      </p:pic>
      <p:sp>
        <p:nvSpPr>
          <p:cNvPr id="13" name="Icon dot"/>
          <p:cNvSpPr/>
          <p:nvPr/>
        </p:nvSpPr>
        <p:spPr>
          <a:xfrm>
            <a:off x="11303419" y="1970532"/>
            <a:ext cx="676656" cy="676656"/>
          </a:xfrm>
          <a:prstGeom prst="ellipse">
            <a:avLst/>
          </a:prstGeom>
          <a:solidFill>
            <a:srgbClr val="0A1F5C"/>
          </a:solidFill>
          <a:ln w="25400">
            <a:solidFill>
              <a:srgbClr val="3CC3F0"/>
            </a:solidFill>
            <a:prstDash val="solid"/>
          </a:ln>
        </p:spPr>
      </p:sp>
      <p:pic>
        <p:nvPicPr>
          <p:cNvPr id="14" name="Image 2" descr="ChartLine icon">    </p:cNvPr>
          <p:cNvPicPr>
            <a:picLocks noChangeAspect="1"/>
          </p:cNvPicPr>
          <p:nvPr/>
        </p:nvPicPr>
        <p:blipFill>
          <a:blip r:embed="rId3"/>
          <a:stretch>
            <a:fillRect/>
          </a:stretch>
        </p:blipFill>
        <p:spPr>
          <a:xfrm>
            <a:off x="11479350" y="2146463"/>
            <a:ext cx="324795" cy="324795"/>
          </a:xfrm>
          <a:prstGeom prst="rect">
            <a:avLst/>
          </a:prstGeom>
        </p:spPr>
      </p:pic>
      <p:sp>
        <p:nvSpPr>
          <p:cNvPr id="15" name="Icon dot"/>
          <p:cNvSpPr/>
          <p:nvPr/>
        </p:nvSpPr>
        <p:spPr>
          <a:xfrm>
            <a:off x="11303419" y="4485132"/>
            <a:ext cx="676656" cy="676656"/>
          </a:xfrm>
          <a:prstGeom prst="ellipse">
            <a:avLst/>
          </a:prstGeom>
          <a:solidFill>
            <a:srgbClr val="0A1F5C"/>
          </a:solidFill>
          <a:ln w="25400">
            <a:solidFill>
              <a:srgbClr val="3CC3F0"/>
            </a:solidFill>
            <a:prstDash val="solid"/>
          </a:ln>
        </p:spPr>
      </p:sp>
      <p:pic>
        <p:nvPicPr>
          <p:cNvPr id="16" name="Image 3" descr="ClipboardList icon">    </p:cNvPr>
          <p:cNvPicPr>
            <a:picLocks noChangeAspect="1"/>
          </p:cNvPicPr>
          <p:nvPr/>
        </p:nvPicPr>
        <p:blipFill>
          <a:blip r:embed="rId4"/>
          <a:stretch>
            <a:fillRect/>
          </a:stretch>
        </p:blipFill>
        <p:spPr>
          <a:xfrm>
            <a:off x="11479350" y="4661063"/>
            <a:ext cx="324795" cy="324795"/>
          </a:xfrm>
          <a:prstGeom prst="rect">
            <a:avLst/>
          </a:prstGeom>
        </p:spPr>
      </p:pic>
      <p:sp>
        <p:nvSpPr>
          <p:cNvPr id="17" name="Icon dot"/>
          <p:cNvSpPr/>
          <p:nvPr/>
        </p:nvSpPr>
        <p:spPr>
          <a:xfrm>
            <a:off x="9125712" y="5742432"/>
            <a:ext cx="676656" cy="676656"/>
          </a:xfrm>
          <a:prstGeom prst="ellipse">
            <a:avLst/>
          </a:prstGeom>
          <a:solidFill>
            <a:srgbClr val="0A1F5C"/>
          </a:solidFill>
          <a:ln w="25400">
            <a:solidFill>
              <a:srgbClr val="3CC3F0"/>
            </a:solidFill>
            <a:prstDash val="solid"/>
          </a:ln>
        </p:spPr>
      </p:sp>
      <p:pic>
        <p:nvPicPr>
          <p:cNvPr id="18" name="Image 4" descr="BookMedical icon">    </p:cNvPr>
          <p:cNvPicPr>
            <a:picLocks noChangeAspect="1"/>
          </p:cNvPicPr>
          <p:nvPr/>
        </p:nvPicPr>
        <p:blipFill>
          <a:blip r:embed="rId5"/>
          <a:stretch>
            <a:fillRect/>
          </a:stretch>
        </p:blipFill>
        <p:spPr>
          <a:xfrm>
            <a:off x="9301643" y="5918363"/>
            <a:ext cx="324795" cy="324795"/>
          </a:xfrm>
          <a:prstGeom prst="rect">
            <a:avLst/>
          </a:prstGeom>
        </p:spPr>
      </p:pic>
      <p:sp>
        <p:nvSpPr>
          <p:cNvPr id="19" name="Icon dot"/>
          <p:cNvSpPr/>
          <p:nvPr/>
        </p:nvSpPr>
        <p:spPr>
          <a:xfrm>
            <a:off x="6948005" y="4485132"/>
            <a:ext cx="676656" cy="676656"/>
          </a:xfrm>
          <a:prstGeom prst="ellipse">
            <a:avLst/>
          </a:prstGeom>
          <a:solidFill>
            <a:srgbClr val="0A1F5C"/>
          </a:solidFill>
          <a:ln w="25400">
            <a:solidFill>
              <a:srgbClr val="3CC3F0"/>
            </a:solidFill>
            <a:prstDash val="solid"/>
          </a:ln>
        </p:spPr>
      </p:sp>
      <p:pic>
        <p:nvPicPr>
          <p:cNvPr id="20" name="Image 5" descr="Bell icon">    </p:cNvPr>
          <p:cNvPicPr>
            <a:picLocks noChangeAspect="1"/>
          </p:cNvPicPr>
          <p:nvPr/>
        </p:nvPicPr>
        <p:blipFill>
          <a:blip r:embed="rId6"/>
          <a:stretch>
            <a:fillRect/>
          </a:stretch>
        </p:blipFill>
        <p:spPr>
          <a:xfrm>
            <a:off x="7123935" y="4661063"/>
            <a:ext cx="324795" cy="324795"/>
          </a:xfrm>
          <a:prstGeom prst="rect">
            <a:avLst/>
          </a:prstGeom>
        </p:spPr>
      </p:pic>
      <p:sp>
        <p:nvSpPr>
          <p:cNvPr id="21" name="Icon dot"/>
          <p:cNvSpPr/>
          <p:nvPr/>
        </p:nvSpPr>
        <p:spPr>
          <a:xfrm>
            <a:off x="6948005" y="1970532"/>
            <a:ext cx="676656" cy="676656"/>
          </a:xfrm>
          <a:prstGeom prst="ellipse">
            <a:avLst/>
          </a:prstGeom>
          <a:solidFill>
            <a:srgbClr val="0A1F5C"/>
          </a:solidFill>
          <a:ln w="25400">
            <a:solidFill>
              <a:srgbClr val="3CC3F0"/>
            </a:solidFill>
            <a:prstDash val="solid"/>
          </a:ln>
        </p:spPr>
      </p:sp>
      <p:pic>
        <p:nvPicPr>
          <p:cNvPr id="22" name="Image 6" descr="UserMd icon">    </p:cNvPr>
          <p:cNvPicPr>
            <a:picLocks noChangeAspect="1"/>
          </p:cNvPicPr>
          <p:nvPr/>
        </p:nvPicPr>
        <p:blipFill>
          <a:blip r:embed="rId7"/>
          <a:stretch>
            <a:fillRect/>
          </a:stretch>
        </p:blipFill>
        <p:spPr>
          <a:xfrm>
            <a:off x="7123935" y="2146463"/>
            <a:ext cx="324795" cy="324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01  ·  THE PROBLEM</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Care teams cannot scale follow-up safely</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Problem</a:t>
            </a:r>
            <a:endParaRPr lang="en-US" sz="950" dirty="0"/>
          </a:p>
        </p:txBody>
      </p:sp>
      <p:sp>
        <p:nvSpPr>
          <p:cNvPr id="5" name="Shape 3"/>
          <p:cNvSpPr/>
          <p:nvPr/>
        </p:nvSpPr>
        <p:spPr>
          <a:xfrm>
            <a:off x="3118104" y="6309360"/>
            <a:ext cx="73152" cy="73152"/>
          </a:xfrm>
          <a:prstGeom prst="ellipse">
            <a:avLst/>
          </a:prstGeom>
          <a:solidFill>
            <a:schemeClr val="accent1"/>
          </a:solidFill>
          <a:ln w="12700">
            <a:solidFill>
              <a:schemeClr val="accent1"/>
            </a:solidFill>
            <a:prstDash val="solid"/>
          </a:ln>
        </p:spPr>
      </p:sp>
      <p:sp>
        <p:nvSpPr>
          <p:cNvPr id="6" name="Text 4"/>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Text 12"/>
          <p:cNvSpPr txBox="1"/>
          <p:nvPr/>
        </p:nvSpPr>
        <p:spPr>
          <a:xfrm>
            <a:off x="548640" y="1508760"/>
            <a:ext cx="5852160" cy="1554480"/>
          </a:xfrm>
          <a:prstGeom prst="rect">
            <a:avLst/>
          </a:prstGeom>
          <a:noFill/>
          <a:ln/>
        </p:spPr>
        <p:txBody>
          <a:bodyPr wrap="square" lIns="0" tIns="0" rIns="0" bIns="0" rtlCol="0" anchor="t"/>
          <a:lstStyle/>
          <a:p>
            <a:pPr indent="0" marL="0">
              <a:buNone/>
            </a:pPr>
            <a:r>
              <a:rPr lang="en-US" sz="2700" b="1" dirty="0">
                <a:solidFill>
                  <a:srgbClr val="FFFFFF"/>
                </a:solidFill>
              </a:rPr>
              <a:t>Scale education and follow-up, </a:t>
            </a:r>
            <a:pPr indent="0" marL="0">
              <a:buNone/>
            </a:pPr>
            <a:r>
              <a:rPr lang="en-US" sz="2700" b="1" dirty="0">
                <a:solidFill>
                  <a:srgbClr val="3CC3F0"/>
                </a:solidFill>
              </a:rPr>
              <a:t>while every clinical decision stays with people.</a:t>
            </a:r>
            <a:endParaRPr lang="en-US" sz="2700" dirty="0"/>
          </a:p>
        </p:txBody>
      </p:sp>
      <p:sp>
        <p:nvSpPr>
          <p:cNvPr id="15" name="Pain tile"/>
          <p:cNvSpPr/>
          <p:nvPr/>
        </p:nvSpPr>
        <p:spPr>
          <a:xfrm>
            <a:off x="548640" y="3337560"/>
            <a:ext cx="2834640" cy="1188720"/>
          </a:xfrm>
          <a:prstGeom prst="roundRect">
            <a:avLst>
              <a:gd name="adj" fmla="val 10769"/>
            </a:avLst>
          </a:prstGeom>
          <a:solidFill>
            <a:srgbClr val="FFFFFF">
              <a:alpha val="8000"/>
            </a:srgbClr>
          </a:solidFill>
          <a:ln w="12700">
            <a:solidFill>
              <a:srgbClr val="2B4DA8"/>
            </a:solidFill>
            <a:prstDash val="solid"/>
          </a:ln>
        </p:spPr>
      </p:sp>
      <p:sp>
        <p:nvSpPr>
          <p:cNvPr id="16" name="Text 14"/>
          <p:cNvSpPr txBox="1"/>
          <p:nvPr/>
        </p:nvSpPr>
        <p:spPr>
          <a:xfrm>
            <a:off x="749808" y="34747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01</a:t>
            </a:r>
            <a:endParaRPr lang="en-US" sz="1200" dirty="0"/>
          </a:p>
        </p:txBody>
      </p:sp>
      <p:sp>
        <p:nvSpPr>
          <p:cNvPr id="17" name="Text 15"/>
          <p:cNvSpPr txBox="1"/>
          <p:nvPr/>
        </p:nvSpPr>
        <p:spPr>
          <a:xfrm>
            <a:off x="749808" y="37490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Repeated questions</a:t>
            </a:r>
            <a:endParaRPr lang="en-US" sz="1400" dirty="0"/>
          </a:p>
        </p:txBody>
      </p:sp>
      <p:sp>
        <p:nvSpPr>
          <p:cNvPr id="18" name="Text 16"/>
          <p:cNvSpPr txBox="1"/>
          <p:nvPr/>
        </p:nvSpPr>
        <p:spPr>
          <a:xfrm>
            <a:off x="749808" y="4050792"/>
            <a:ext cx="2468880" cy="411480"/>
          </a:xfrm>
          <a:prstGeom prst="rect">
            <a:avLst/>
          </a:prstGeom>
          <a:noFill/>
          <a:ln/>
        </p:spPr>
        <p:txBody>
          <a:bodyPr wrap="square" lIns="0" tIns="0" rIns="0" bIns="0" rtlCol="0" anchor="t"/>
          <a:lstStyle/>
          <a:p>
            <a:pPr indent="0" marL="0">
              <a:buNone/>
            </a:pPr>
            <a:r>
              <a:rPr lang="en-US" sz="1150" dirty="0">
                <a:solidFill>
                  <a:srgbClr val="CFE0FF"/>
                </a:solidFill>
              </a:rPr>
              <a:t>Coordinators answer the same questions all day</a:t>
            </a:r>
            <a:endParaRPr lang="en-US" sz="1150" dirty="0"/>
          </a:p>
        </p:txBody>
      </p:sp>
      <p:sp>
        <p:nvSpPr>
          <p:cNvPr id="19" name="Pain tile"/>
          <p:cNvSpPr/>
          <p:nvPr/>
        </p:nvSpPr>
        <p:spPr>
          <a:xfrm>
            <a:off x="3566160" y="33375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0" name="Text 18"/>
          <p:cNvSpPr txBox="1"/>
          <p:nvPr/>
        </p:nvSpPr>
        <p:spPr>
          <a:xfrm>
            <a:off x="3767328" y="34747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02</a:t>
            </a:r>
            <a:endParaRPr lang="en-US" sz="1200" dirty="0"/>
          </a:p>
        </p:txBody>
      </p:sp>
      <p:sp>
        <p:nvSpPr>
          <p:cNvPr id="21" name="Text 19"/>
          <p:cNvSpPr txBox="1"/>
          <p:nvPr/>
        </p:nvSpPr>
        <p:spPr>
          <a:xfrm>
            <a:off x="3767328" y="37490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Forgotten tasks</a:t>
            </a:r>
            <a:endParaRPr lang="en-US" sz="1400" dirty="0"/>
          </a:p>
        </p:txBody>
      </p:sp>
      <p:sp>
        <p:nvSpPr>
          <p:cNvPr id="22" name="Text 20"/>
          <p:cNvSpPr txBox="1"/>
          <p:nvPr/>
        </p:nvSpPr>
        <p:spPr>
          <a:xfrm>
            <a:off x="3767328" y="4050792"/>
            <a:ext cx="2468880" cy="411480"/>
          </a:xfrm>
          <a:prstGeom prst="rect">
            <a:avLst/>
          </a:prstGeom>
          <a:noFill/>
          <a:ln/>
        </p:spPr>
        <p:txBody>
          <a:bodyPr wrap="square" lIns="0" tIns="0" rIns="0" bIns="0" rtlCol="0" anchor="t"/>
          <a:lstStyle/>
          <a:p>
            <a:pPr indent="0" marL="0">
              <a:buNone/>
            </a:pPr>
            <a:r>
              <a:rPr lang="en-US" sz="1150" dirty="0">
                <a:solidFill>
                  <a:srgbClr val="CFE0FF"/>
                </a:solidFill>
              </a:rPr>
              <a:t>Members miss readings and modules</a:t>
            </a:r>
            <a:endParaRPr lang="en-US" sz="1150" dirty="0"/>
          </a:p>
        </p:txBody>
      </p:sp>
      <p:sp>
        <p:nvSpPr>
          <p:cNvPr id="23" name="Pain tile"/>
          <p:cNvSpPr/>
          <p:nvPr/>
        </p:nvSpPr>
        <p:spPr>
          <a:xfrm>
            <a:off x="548640" y="47091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4" name="Text 22"/>
          <p:cNvSpPr txBox="1"/>
          <p:nvPr/>
        </p:nvSpPr>
        <p:spPr>
          <a:xfrm>
            <a:off x="749808" y="48463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03</a:t>
            </a:r>
            <a:endParaRPr lang="en-US" sz="1200" dirty="0"/>
          </a:p>
        </p:txBody>
      </p:sp>
      <p:sp>
        <p:nvSpPr>
          <p:cNvPr id="25" name="Text 23"/>
          <p:cNvSpPr txBox="1"/>
          <p:nvPr/>
        </p:nvSpPr>
        <p:spPr>
          <a:xfrm>
            <a:off x="749808" y="51206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Messy hand-offs</a:t>
            </a:r>
            <a:endParaRPr lang="en-US" sz="1400" dirty="0"/>
          </a:p>
        </p:txBody>
      </p:sp>
      <p:sp>
        <p:nvSpPr>
          <p:cNvPr id="26" name="Text 24"/>
          <p:cNvSpPr txBox="1"/>
          <p:nvPr/>
        </p:nvSpPr>
        <p:spPr>
          <a:xfrm>
            <a:off x="749808" y="5422392"/>
            <a:ext cx="2468880" cy="411480"/>
          </a:xfrm>
          <a:prstGeom prst="rect">
            <a:avLst/>
          </a:prstGeom>
          <a:noFill/>
          <a:ln/>
        </p:spPr>
        <p:txBody>
          <a:bodyPr wrap="square" lIns="0" tIns="0" rIns="0" bIns="0" rtlCol="0" anchor="t"/>
          <a:lstStyle/>
          <a:p>
            <a:pPr indent="0" marL="0">
              <a:buNone/>
            </a:pPr>
            <a:r>
              <a:rPr lang="en-US" sz="1150" dirty="0">
                <a:solidFill>
                  <a:srgbClr val="CFE0FF"/>
                </a:solidFill>
              </a:rPr>
              <a:t>Raw messages before every call</a:t>
            </a:r>
            <a:endParaRPr lang="en-US" sz="1150" dirty="0"/>
          </a:p>
        </p:txBody>
      </p:sp>
      <p:sp>
        <p:nvSpPr>
          <p:cNvPr id="27" name="Pain tile"/>
          <p:cNvSpPr/>
          <p:nvPr/>
        </p:nvSpPr>
        <p:spPr>
          <a:xfrm>
            <a:off x="3566160" y="4709160"/>
            <a:ext cx="2834640" cy="1188720"/>
          </a:xfrm>
          <a:prstGeom prst="roundRect">
            <a:avLst>
              <a:gd name="adj" fmla="val 10769"/>
            </a:avLst>
          </a:prstGeom>
          <a:solidFill>
            <a:srgbClr val="FFFFFF">
              <a:alpha val="8000"/>
            </a:srgbClr>
          </a:solidFill>
          <a:ln w="12700">
            <a:solidFill>
              <a:srgbClr val="2B4DA8"/>
            </a:solidFill>
            <a:prstDash val="solid"/>
          </a:ln>
        </p:spPr>
      </p:sp>
      <p:sp>
        <p:nvSpPr>
          <p:cNvPr id="28" name="Text 26"/>
          <p:cNvSpPr txBox="1"/>
          <p:nvPr/>
        </p:nvSpPr>
        <p:spPr>
          <a:xfrm>
            <a:off x="3767328" y="4846320"/>
            <a:ext cx="640080" cy="274320"/>
          </a:xfrm>
          <a:prstGeom prst="rect">
            <a:avLst/>
          </a:prstGeom>
          <a:noFill/>
          <a:ln/>
        </p:spPr>
        <p:txBody>
          <a:bodyPr wrap="square" lIns="0" tIns="0" rIns="0" bIns="0" rtlCol="0" anchor="t"/>
          <a:lstStyle/>
          <a:p>
            <a:pPr indent="0" marL="0">
              <a:buNone/>
            </a:pPr>
            <a:r>
              <a:rPr lang="en-US" sz="1200" b="1" dirty="0">
                <a:solidFill>
                  <a:srgbClr val="3CC3F0"/>
                </a:solidFill>
              </a:rPr>
              <a:t>04</a:t>
            </a:r>
            <a:endParaRPr lang="en-US" sz="1200" dirty="0"/>
          </a:p>
        </p:txBody>
      </p:sp>
      <p:sp>
        <p:nvSpPr>
          <p:cNvPr id="29" name="Text 27"/>
          <p:cNvSpPr txBox="1"/>
          <p:nvPr/>
        </p:nvSpPr>
        <p:spPr>
          <a:xfrm>
            <a:off x="3767328" y="5120640"/>
            <a:ext cx="2468880" cy="274320"/>
          </a:xfrm>
          <a:prstGeom prst="rect">
            <a:avLst/>
          </a:prstGeom>
          <a:noFill/>
          <a:ln/>
        </p:spPr>
        <p:txBody>
          <a:bodyPr wrap="square" lIns="0" tIns="0" rIns="0" bIns="0" rtlCol="0" anchor="t"/>
          <a:lstStyle/>
          <a:p>
            <a:pPr indent="0" marL="0">
              <a:buNone/>
            </a:pPr>
            <a:r>
              <a:rPr lang="en-US" sz="1400" b="1" dirty="0">
                <a:solidFill>
                  <a:schemeClr val="bg1"/>
                </a:solidFill>
              </a:rPr>
              <a:t>Unsafe chatbots</a:t>
            </a:r>
            <a:endParaRPr lang="en-US" sz="1400" dirty="0"/>
          </a:p>
        </p:txBody>
      </p:sp>
      <p:sp>
        <p:nvSpPr>
          <p:cNvPr id="30" name="Text 28"/>
          <p:cNvSpPr txBox="1"/>
          <p:nvPr/>
        </p:nvSpPr>
        <p:spPr>
          <a:xfrm>
            <a:off x="3767328" y="5422392"/>
            <a:ext cx="2468880" cy="411480"/>
          </a:xfrm>
          <a:prstGeom prst="rect">
            <a:avLst/>
          </a:prstGeom>
          <a:noFill/>
          <a:ln/>
        </p:spPr>
        <p:txBody>
          <a:bodyPr wrap="square" lIns="0" tIns="0" rIns="0" bIns="0" rtlCol="0" anchor="t"/>
          <a:lstStyle/>
          <a:p>
            <a:pPr indent="0" marL="0">
              <a:buNone/>
            </a:pPr>
            <a:r>
              <a:rPr lang="en-US" sz="1150" dirty="0">
                <a:solidFill>
                  <a:srgbClr val="CFE0FF"/>
                </a:solidFill>
              </a:rPr>
              <a:t>A free-form bot can invent facts or advise</a:t>
            </a:r>
            <a:endParaRPr lang="en-US" sz="1150" dirty="0"/>
          </a:p>
        </p:txBody>
      </p:sp>
      <p:sp>
        <p:nvSpPr>
          <p:cNvPr id="31" name="Text 29"/>
          <p:cNvSpPr txBox="1"/>
          <p:nvPr/>
        </p:nvSpPr>
        <p:spPr>
          <a:xfrm>
            <a:off x="6903720" y="1554480"/>
            <a:ext cx="4572000" cy="256032"/>
          </a:xfrm>
          <a:prstGeom prst="rect">
            <a:avLst/>
          </a:prstGeom>
          <a:noFill/>
          <a:ln/>
        </p:spPr>
        <p:txBody>
          <a:bodyPr wrap="square" lIns="0" tIns="0" rIns="0" bIns="0" rtlCol="0" anchor="t"/>
          <a:lstStyle/>
          <a:p>
            <a:pPr indent="0" marL="0">
              <a:buNone/>
            </a:pPr>
            <a:r>
              <a:rPr lang="en-US" sz="1100" b="1" spc="300" kern="0" dirty="0">
                <a:solidFill>
                  <a:srgbClr val="FF6B70"/>
                </a:solidFill>
              </a:rPr>
              <a:t>THE SYSTEM MUST NEVER</a:t>
            </a:r>
            <a:endParaRPr lang="en-US" sz="1100" dirty="0"/>
          </a:p>
        </p:txBody>
      </p:sp>
      <p:sp>
        <p:nvSpPr>
          <p:cNvPr id="32" name="Never tile"/>
          <p:cNvSpPr/>
          <p:nvPr/>
        </p:nvSpPr>
        <p:spPr>
          <a:xfrm>
            <a:off x="6903720" y="1965960"/>
            <a:ext cx="4736592" cy="868680"/>
          </a:xfrm>
          <a:prstGeom prst="roundRect">
            <a:avLst>
              <a:gd name="adj" fmla="val 14737"/>
            </a:avLst>
          </a:prstGeom>
          <a:solidFill>
            <a:srgbClr val="E5484D">
              <a:alpha val="12000"/>
            </a:srgbClr>
          </a:solidFill>
          <a:ln w="12700">
            <a:solidFill>
              <a:srgbClr val="9B3B49"/>
            </a:solidFill>
            <a:prstDash val="solid"/>
          </a:ln>
        </p:spPr>
      </p:sp>
      <p:sp>
        <p:nvSpPr>
          <p:cNvPr id="33" name="Icon dot"/>
          <p:cNvSpPr/>
          <p:nvPr/>
        </p:nvSpPr>
        <p:spPr>
          <a:xfrm>
            <a:off x="7132320" y="2148840"/>
            <a:ext cx="502920" cy="502920"/>
          </a:xfrm>
          <a:prstGeom prst="ellipse">
            <a:avLst/>
          </a:prstGeom>
          <a:solidFill>
            <a:srgbClr val="E5484D"/>
          </a:solidFill>
          <a:ln w="12700">
            <a:solidFill>
              <a:srgbClr val="E5484D"/>
            </a:solidFill>
            <a:prstDash val="solid"/>
          </a:ln>
        </p:spPr>
      </p:sp>
      <p:pic>
        <p:nvPicPr>
          <p:cNvPr id="34" name="Image 0" descr="Times icon">    </p:cNvPr>
          <p:cNvPicPr>
            <a:picLocks noChangeAspect="1"/>
          </p:cNvPicPr>
          <p:nvPr/>
        </p:nvPicPr>
        <p:blipFill>
          <a:blip r:embed="rId9"/>
          <a:stretch>
            <a:fillRect/>
          </a:stretch>
        </p:blipFill>
        <p:spPr>
          <a:xfrm>
            <a:off x="7263079" y="2279599"/>
            <a:ext cx="241402" cy="241402"/>
          </a:xfrm>
          <a:prstGeom prst="rect">
            <a:avLst/>
          </a:prstGeom>
        </p:spPr>
      </p:pic>
      <p:sp>
        <p:nvSpPr>
          <p:cNvPr id="35" name="Text 32"/>
          <p:cNvSpPr txBox="1"/>
          <p:nvPr/>
        </p:nvSpPr>
        <p:spPr>
          <a:xfrm>
            <a:off x="7863840" y="1965960"/>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Diagnose or interpret a reading</a:t>
            </a:r>
            <a:endParaRPr lang="en-US" sz="1600" dirty="0"/>
          </a:p>
        </p:txBody>
      </p:sp>
      <p:sp>
        <p:nvSpPr>
          <p:cNvPr id="36" name="Never tile"/>
          <p:cNvSpPr/>
          <p:nvPr/>
        </p:nvSpPr>
        <p:spPr>
          <a:xfrm>
            <a:off x="6903720" y="2990088"/>
            <a:ext cx="4736592" cy="868680"/>
          </a:xfrm>
          <a:prstGeom prst="roundRect">
            <a:avLst>
              <a:gd name="adj" fmla="val 14737"/>
            </a:avLst>
          </a:prstGeom>
          <a:solidFill>
            <a:srgbClr val="E5484D">
              <a:alpha val="12000"/>
            </a:srgbClr>
          </a:solidFill>
          <a:ln w="12700">
            <a:solidFill>
              <a:srgbClr val="9B3B49"/>
            </a:solidFill>
            <a:prstDash val="solid"/>
          </a:ln>
        </p:spPr>
      </p:sp>
      <p:sp>
        <p:nvSpPr>
          <p:cNvPr id="37" name="Icon dot"/>
          <p:cNvSpPr/>
          <p:nvPr/>
        </p:nvSpPr>
        <p:spPr>
          <a:xfrm>
            <a:off x="7132320" y="3172968"/>
            <a:ext cx="502920" cy="502920"/>
          </a:xfrm>
          <a:prstGeom prst="ellipse">
            <a:avLst/>
          </a:prstGeom>
          <a:solidFill>
            <a:srgbClr val="E5484D"/>
          </a:solidFill>
          <a:ln w="12700">
            <a:solidFill>
              <a:srgbClr val="E5484D"/>
            </a:solidFill>
            <a:prstDash val="solid"/>
          </a:ln>
        </p:spPr>
      </p:sp>
      <p:pic>
        <p:nvPicPr>
          <p:cNvPr id="38" name="Image 1" descr="Times icon">    </p:cNvPr>
          <p:cNvPicPr>
            <a:picLocks noChangeAspect="1"/>
          </p:cNvPicPr>
          <p:nvPr/>
        </p:nvPicPr>
        <p:blipFill>
          <a:blip r:embed="rId10"/>
          <a:stretch>
            <a:fillRect/>
          </a:stretch>
        </p:blipFill>
        <p:spPr>
          <a:xfrm>
            <a:off x="7263079" y="3303727"/>
            <a:ext cx="241402" cy="241402"/>
          </a:xfrm>
          <a:prstGeom prst="rect">
            <a:avLst/>
          </a:prstGeom>
        </p:spPr>
      </p:pic>
      <p:sp>
        <p:nvSpPr>
          <p:cNvPr id="39" name="Text 35"/>
          <p:cNvSpPr txBox="1"/>
          <p:nvPr/>
        </p:nvSpPr>
        <p:spPr>
          <a:xfrm>
            <a:off x="7863840" y="2990088"/>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Predict deterioration</a:t>
            </a:r>
            <a:endParaRPr lang="en-US" sz="1600" dirty="0"/>
          </a:p>
        </p:txBody>
      </p:sp>
      <p:sp>
        <p:nvSpPr>
          <p:cNvPr id="40" name="Never tile"/>
          <p:cNvSpPr/>
          <p:nvPr/>
        </p:nvSpPr>
        <p:spPr>
          <a:xfrm>
            <a:off x="6903720" y="4014216"/>
            <a:ext cx="4736592" cy="868680"/>
          </a:xfrm>
          <a:prstGeom prst="roundRect">
            <a:avLst>
              <a:gd name="adj" fmla="val 14737"/>
            </a:avLst>
          </a:prstGeom>
          <a:solidFill>
            <a:srgbClr val="E5484D">
              <a:alpha val="12000"/>
            </a:srgbClr>
          </a:solidFill>
          <a:ln w="12700">
            <a:solidFill>
              <a:srgbClr val="9B3B49"/>
            </a:solidFill>
            <a:prstDash val="solid"/>
          </a:ln>
        </p:spPr>
      </p:sp>
      <p:sp>
        <p:nvSpPr>
          <p:cNvPr id="41" name="Icon dot"/>
          <p:cNvSpPr/>
          <p:nvPr/>
        </p:nvSpPr>
        <p:spPr>
          <a:xfrm>
            <a:off x="7132320" y="4197096"/>
            <a:ext cx="502920" cy="502920"/>
          </a:xfrm>
          <a:prstGeom prst="ellipse">
            <a:avLst/>
          </a:prstGeom>
          <a:solidFill>
            <a:srgbClr val="E5484D"/>
          </a:solidFill>
          <a:ln w="12700">
            <a:solidFill>
              <a:srgbClr val="E5484D"/>
            </a:solidFill>
            <a:prstDash val="solid"/>
          </a:ln>
        </p:spPr>
      </p:sp>
      <p:pic>
        <p:nvPicPr>
          <p:cNvPr id="42" name="Image 2" descr="Times icon">    </p:cNvPr>
          <p:cNvPicPr>
            <a:picLocks noChangeAspect="1"/>
          </p:cNvPicPr>
          <p:nvPr/>
        </p:nvPicPr>
        <p:blipFill>
          <a:blip r:embed="rId11"/>
          <a:stretch>
            <a:fillRect/>
          </a:stretch>
        </p:blipFill>
        <p:spPr>
          <a:xfrm>
            <a:off x="7263079" y="4327855"/>
            <a:ext cx="241402" cy="241402"/>
          </a:xfrm>
          <a:prstGeom prst="rect">
            <a:avLst/>
          </a:prstGeom>
        </p:spPr>
      </p:pic>
      <p:sp>
        <p:nvSpPr>
          <p:cNvPr id="43" name="Text 38"/>
          <p:cNvSpPr txBox="1"/>
          <p:nvPr/>
        </p:nvSpPr>
        <p:spPr>
          <a:xfrm>
            <a:off x="7863840" y="4014216"/>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Recommend or change medication</a:t>
            </a:r>
            <a:endParaRPr lang="en-US" sz="1600" dirty="0"/>
          </a:p>
        </p:txBody>
      </p:sp>
      <p:sp>
        <p:nvSpPr>
          <p:cNvPr id="44" name="Never tile"/>
          <p:cNvSpPr/>
          <p:nvPr/>
        </p:nvSpPr>
        <p:spPr>
          <a:xfrm>
            <a:off x="6903720" y="5038344"/>
            <a:ext cx="4736592" cy="868680"/>
          </a:xfrm>
          <a:prstGeom prst="roundRect">
            <a:avLst>
              <a:gd name="adj" fmla="val 14737"/>
            </a:avLst>
          </a:prstGeom>
          <a:solidFill>
            <a:srgbClr val="E5484D">
              <a:alpha val="12000"/>
            </a:srgbClr>
          </a:solidFill>
          <a:ln w="12700">
            <a:solidFill>
              <a:srgbClr val="9B3B49"/>
            </a:solidFill>
            <a:prstDash val="solid"/>
          </a:ln>
        </p:spPr>
      </p:sp>
      <p:sp>
        <p:nvSpPr>
          <p:cNvPr id="45" name="Icon dot"/>
          <p:cNvSpPr/>
          <p:nvPr/>
        </p:nvSpPr>
        <p:spPr>
          <a:xfrm>
            <a:off x="7132320" y="5221224"/>
            <a:ext cx="502920" cy="502920"/>
          </a:xfrm>
          <a:prstGeom prst="ellipse">
            <a:avLst/>
          </a:prstGeom>
          <a:solidFill>
            <a:srgbClr val="E5484D"/>
          </a:solidFill>
          <a:ln w="12700">
            <a:solidFill>
              <a:srgbClr val="E5484D"/>
            </a:solidFill>
            <a:prstDash val="solid"/>
          </a:ln>
        </p:spPr>
      </p:sp>
      <p:pic>
        <p:nvPicPr>
          <p:cNvPr id="46" name="Image 3" descr="Times icon">    </p:cNvPr>
          <p:cNvPicPr>
            <a:picLocks noChangeAspect="1"/>
          </p:cNvPicPr>
          <p:nvPr/>
        </p:nvPicPr>
        <p:blipFill>
          <a:blip r:embed="rId12"/>
          <a:stretch>
            <a:fillRect/>
          </a:stretch>
        </p:blipFill>
        <p:spPr>
          <a:xfrm>
            <a:off x="7263079" y="5351983"/>
            <a:ext cx="241402" cy="241402"/>
          </a:xfrm>
          <a:prstGeom prst="rect">
            <a:avLst/>
          </a:prstGeom>
        </p:spPr>
      </p:pic>
      <p:sp>
        <p:nvSpPr>
          <p:cNvPr id="47" name="Text 41"/>
          <p:cNvSpPr txBox="1"/>
          <p:nvPr/>
        </p:nvSpPr>
        <p:spPr>
          <a:xfrm>
            <a:off x="7863840" y="5038344"/>
            <a:ext cx="3657600" cy="868680"/>
          </a:xfrm>
          <a:prstGeom prst="rect">
            <a:avLst/>
          </a:prstGeom>
          <a:noFill/>
          <a:ln/>
        </p:spPr>
        <p:txBody>
          <a:bodyPr wrap="square" lIns="0" tIns="0" rIns="0" bIns="0" rtlCol="0" anchor="ctr"/>
          <a:lstStyle/>
          <a:p>
            <a:pPr indent="0" marL="0">
              <a:buNone/>
            </a:pPr>
            <a:r>
              <a:rPr lang="en-US" sz="1600" b="1" dirty="0">
                <a:solidFill>
                  <a:schemeClr val="bg1"/>
                </a:solidFill>
              </a:rPr>
              <a:t>Present itself as a clinician</a:t>
            </a:r>
            <a:endParaRPr lang="en-US" sz="16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02  ·  THE SOLUTION</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One orchestrator, five specialists</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Solution</a:t>
            </a:r>
            <a:endParaRPr lang="en-US" sz="950" dirty="0"/>
          </a:p>
        </p:txBody>
      </p:sp>
      <p:sp>
        <p:nvSpPr>
          <p:cNvPr id="6" name="Shape 4"/>
          <p:cNvSpPr/>
          <p:nvPr/>
        </p:nvSpPr>
        <p:spPr>
          <a:xfrm>
            <a:off x="3941064" y="6309360"/>
            <a:ext cx="73152" cy="73152"/>
          </a:xfrm>
          <a:prstGeom prst="ellipse">
            <a:avLst/>
          </a:prstGeom>
          <a:solidFill>
            <a:schemeClr val="accent1"/>
          </a:solidFill>
          <a:ln w="12700">
            <a:solidFill>
              <a:schemeClr val="accent1"/>
            </a:solidFill>
            <a:prstDash val="solid"/>
          </a:ln>
        </p:spPr>
      </p:sp>
      <p:sp>
        <p:nvSpPr>
          <p:cNvPr id="7" name="Text 5"/>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Connector"/>
          <p:cNvSpPr/>
          <p:nvPr/>
        </p:nvSpPr>
        <p:spPr>
          <a:xfrm>
            <a:off x="6099048" y="1965960"/>
            <a:ext cx="0" cy="1874520"/>
          </a:xfrm>
          <a:prstGeom prst="line">
            <a:avLst/>
          </a:prstGeom>
          <a:noFill/>
          <a:ln w="19050">
            <a:solidFill>
              <a:srgbClr val="5C7FD6"/>
            </a:solidFill>
            <a:prstDash val="dash"/>
          </a:ln>
        </p:spPr>
      </p:sp>
      <p:sp>
        <p:nvSpPr>
          <p:cNvPr id="15" name="Connector"/>
          <p:cNvSpPr/>
          <p:nvPr/>
        </p:nvSpPr>
        <p:spPr>
          <a:xfrm flipV="1">
            <a:off x="6099048" y="3261221"/>
            <a:ext cx="3782960" cy="579259"/>
          </a:xfrm>
          <a:prstGeom prst="line">
            <a:avLst/>
          </a:prstGeom>
          <a:noFill/>
          <a:ln w="19050">
            <a:solidFill>
              <a:srgbClr val="5C7FD6"/>
            </a:solidFill>
            <a:prstDash val="dash"/>
          </a:ln>
        </p:spPr>
      </p:sp>
      <p:sp>
        <p:nvSpPr>
          <p:cNvPr id="16" name="Connector"/>
          <p:cNvSpPr/>
          <p:nvPr/>
        </p:nvSpPr>
        <p:spPr>
          <a:xfrm>
            <a:off x="6099048" y="3840480"/>
            <a:ext cx="2337998" cy="1516519"/>
          </a:xfrm>
          <a:prstGeom prst="line">
            <a:avLst/>
          </a:prstGeom>
          <a:noFill/>
          <a:ln w="19050">
            <a:solidFill>
              <a:srgbClr val="5C7FD6"/>
            </a:solidFill>
            <a:prstDash val="dash"/>
          </a:ln>
        </p:spPr>
      </p:sp>
      <p:sp>
        <p:nvSpPr>
          <p:cNvPr id="17" name="Connector"/>
          <p:cNvSpPr/>
          <p:nvPr/>
        </p:nvSpPr>
        <p:spPr>
          <a:xfrm flipV="1">
            <a:off x="3761050" y="3840480"/>
            <a:ext cx="2337998" cy="1516519"/>
          </a:xfrm>
          <a:prstGeom prst="line">
            <a:avLst/>
          </a:prstGeom>
          <a:noFill/>
          <a:ln w="19050">
            <a:solidFill>
              <a:srgbClr val="5C7FD6"/>
            </a:solidFill>
            <a:prstDash val="dash"/>
          </a:ln>
        </p:spPr>
      </p:sp>
      <p:sp>
        <p:nvSpPr>
          <p:cNvPr id="18" name="Connector"/>
          <p:cNvSpPr/>
          <p:nvPr/>
        </p:nvSpPr>
        <p:spPr>
          <a:xfrm>
            <a:off x="2316088" y="3261221"/>
            <a:ext cx="3782960" cy="579259"/>
          </a:xfrm>
          <a:prstGeom prst="line">
            <a:avLst/>
          </a:prstGeom>
          <a:noFill/>
          <a:ln w="19050">
            <a:solidFill>
              <a:srgbClr val="5C7FD6"/>
            </a:solidFill>
            <a:prstDash val="dash"/>
          </a:ln>
        </p:spPr>
      </p:sp>
      <p:sp>
        <p:nvSpPr>
          <p:cNvPr id="19" name="Hub"/>
          <p:cNvSpPr/>
          <p:nvPr/>
        </p:nvSpPr>
        <p:spPr>
          <a:xfrm>
            <a:off x="5047488" y="2788920"/>
            <a:ext cx="2103120" cy="2103120"/>
          </a:xfrm>
          <a:prstGeom prst="ellipse">
            <a:avLst/>
          </a:prstGeom>
          <a:solidFill>
            <a:srgbClr val="1547C8"/>
          </a:solidFill>
          <a:ln w="38100">
            <a:solidFill>
              <a:srgbClr val="3CC3F0"/>
            </a:solidFill>
            <a:prstDash val="solid"/>
          </a:ln>
        </p:spPr>
      </p:sp>
      <p:sp>
        <p:nvSpPr>
          <p:cNvPr id="20" name="Text 18"/>
          <p:cNvSpPr txBox="1"/>
          <p:nvPr/>
        </p:nvSpPr>
        <p:spPr>
          <a:xfrm>
            <a:off x="5184648" y="3337560"/>
            <a:ext cx="1828800" cy="731520"/>
          </a:xfrm>
          <a:prstGeom prst="rect">
            <a:avLst/>
          </a:prstGeom>
          <a:noFill/>
          <a:ln/>
        </p:spPr>
        <p:txBody>
          <a:bodyPr wrap="square" lIns="0" tIns="0" rIns="0" bIns="0" rtlCol="0" anchor="ctr"/>
          <a:lstStyle/>
          <a:p>
            <a:pPr algn="ctr" indent="0" marL="0">
              <a:buNone/>
            </a:pPr>
            <a:r>
              <a:rPr lang="en-US" sz="1600" b="1" dirty="0">
                <a:solidFill>
                  <a:schemeClr val="bg1"/>
                </a:solidFill>
              </a:rPr>
              <a:t>Care</a:t>
            </a:r>
            <a:endParaRPr lang="en-US" sz="1600" dirty="0"/>
          </a:p>
          <a:p>
            <a:pPr algn="ctr" indent="0" marL="0">
              <a:buNone/>
            </a:pPr>
            <a:r>
              <a:rPr lang="en-US" sz="1600" b="1" dirty="0">
                <a:solidFill>
                  <a:schemeClr val="bg1"/>
                </a:solidFill>
              </a:rPr>
              <a:t>Orchestrator</a:t>
            </a:r>
            <a:endParaRPr lang="en-US" sz="1600" dirty="0"/>
          </a:p>
        </p:txBody>
      </p:sp>
      <p:sp>
        <p:nvSpPr>
          <p:cNvPr id="21" name="Text 19"/>
          <p:cNvSpPr txBox="1"/>
          <p:nvPr/>
        </p:nvSpPr>
        <p:spPr>
          <a:xfrm>
            <a:off x="5184648" y="4114800"/>
            <a:ext cx="1828800" cy="274320"/>
          </a:xfrm>
          <a:prstGeom prst="rect">
            <a:avLst/>
          </a:prstGeom>
          <a:noFill/>
          <a:ln/>
        </p:spPr>
        <p:txBody>
          <a:bodyPr wrap="square" lIns="0" tIns="0" rIns="0" bIns="0" rtlCol="0" anchor="t"/>
          <a:lstStyle/>
          <a:p>
            <a:pPr algn="ctr" indent="0" marL="0">
              <a:buNone/>
            </a:pPr>
            <a:r>
              <a:rPr lang="en-US" sz="1100" dirty="0">
                <a:solidFill>
                  <a:srgbClr val="CFE0FF"/>
                </a:solidFill>
              </a:rPr>
              <a:t>plain Python</a:t>
            </a:r>
            <a:endParaRPr lang="en-US" sz="1100" dirty="0"/>
          </a:p>
        </p:txBody>
      </p:sp>
      <p:sp>
        <p:nvSpPr>
          <p:cNvPr id="22" name="Agent node"/>
          <p:cNvSpPr/>
          <p:nvPr/>
        </p:nvSpPr>
        <p:spPr>
          <a:xfrm>
            <a:off x="4590288" y="1485900"/>
            <a:ext cx="3017520" cy="960120"/>
          </a:xfrm>
          <a:prstGeom prst="roundRect">
            <a:avLst>
              <a:gd name="adj" fmla="val 13333"/>
            </a:avLst>
          </a:prstGeom>
          <a:solidFill>
            <a:srgbClr val="0A1F5C"/>
          </a:solidFill>
          <a:ln w="15875">
            <a:solidFill>
              <a:srgbClr val="3CC3F0"/>
            </a:solidFill>
            <a:prstDash val="solid"/>
          </a:ln>
        </p:spPr>
      </p:sp>
      <p:sp>
        <p:nvSpPr>
          <p:cNvPr id="23" name="Icon dot"/>
          <p:cNvSpPr/>
          <p:nvPr/>
        </p:nvSpPr>
        <p:spPr>
          <a:xfrm>
            <a:off x="4773168" y="1719072"/>
            <a:ext cx="493776" cy="493776"/>
          </a:xfrm>
          <a:prstGeom prst="ellipse">
            <a:avLst/>
          </a:prstGeom>
          <a:solidFill>
            <a:srgbClr val="1547C8"/>
          </a:solidFill>
          <a:ln w="12700">
            <a:solidFill>
              <a:srgbClr val="1547C8"/>
            </a:solidFill>
            <a:prstDash val="solid"/>
          </a:ln>
        </p:spPr>
      </p:sp>
      <p:pic>
        <p:nvPicPr>
          <p:cNvPr id="24" name="Image 0" descr="ChartLine icon">    </p:cNvPr>
          <p:cNvPicPr>
            <a:picLocks noChangeAspect="1"/>
          </p:cNvPicPr>
          <p:nvPr/>
        </p:nvPicPr>
        <p:blipFill>
          <a:blip r:embed="rId9"/>
          <a:stretch>
            <a:fillRect/>
          </a:stretch>
        </p:blipFill>
        <p:spPr>
          <a:xfrm>
            <a:off x="4901550" y="1847454"/>
            <a:ext cx="237012" cy="237012"/>
          </a:xfrm>
          <a:prstGeom prst="rect">
            <a:avLst/>
          </a:prstGeom>
        </p:spPr>
      </p:pic>
      <p:sp>
        <p:nvSpPr>
          <p:cNvPr id="25" name="Text 22"/>
          <p:cNvSpPr txBox="1"/>
          <p:nvPr/>
        </p:nvSpPr>
        <p:spPr>
          <a:xfrm>
            <a:off x="5413248" y="1673352"/>
            <a:ext cx="2103120" cy="274320"/>
          </a:xfrm>
          <a:prstGeom prst="rect">
            <a:avLst/>
          </a:prstGeom>
          <a:noFill/>
          <a:ln/>
        </p:spPr>
        <p:txBody>
          <a:bodyPr wrap="square" lIns="0" tIns="0" rIns="0" bIns="0" rtlCol="0" anchor="t"/>
          <a:lstStyle/>
          <a:p>
            <a:pPr indent="0" marL="0">
              <a:buNone/>
            </a:pPr>
            <a:r>
              <a:rPr lang="en-US" sz="1400" b="1" dirty="0">
                <a:solidFill>
                  <a:schemeClr val="bg1"/>
                </a:solidFill>
              </a:rPr>
              <a:t>Reading Summary</a:t>
            </a:r>
            <a:endParaRPr lang="en-US" sz="1400" dirty="0"/>
          </a:p>
        </p:txBody>
      </p:sp>
      <p:sp>
        <p:nvSpPr>
          <p:cNvPr id="26" name="Text 23"/>
          <p:cNvSpPr txBox="1"/>
          <p:nvPr/>
        </p:nvSpPr>
        <p:spPr>
          <a:xfrm>
            <a:off x="5413248" y="1965960"/>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one member's readings</a:t>
            </a:r>
            <a:endParaRPr lang="en-US" sz="1050" dirty="0"/>
          </a:p>
        </p:txBody>
      </p:sp>
      <p:sp>
        <p:nvSpPr>
          <p:cNvPr id="27" name="Agent node"/>
          <p:cNvSpPr/>
          <p:nvPr/>
        </p:nvSpPr>
        <p:spPr>
          <a:xfrm>
            <a:off x="8373248" y="2781161"/>
            <a:ext cx="3017520" cy="960120"/>
          </a:xfrm>
          <a:prstGeom prst="roundRect">
            <a:avLst>
              <a:gd name="adj" fmla="val 13333"/>
            </a:avLst>
          </a:prstGeom>
          <a:solidFill>
            <a:srgbClr val="0A1F5C"/>
          </a:solidFill>
          <a:ln w="15875">
            <a:solidFill>
              <a:srgbClr val="3CC3F0"/>
            </a:solidFill>
            <a:prstDash val="solid"/>
          </a:ln>
        </p:spPr>
      </p:sp>
      <p:sp>
        <p:nvSpPr>
          <p:cNvPr id="28" name="Icon dot"/>
          <p:cNvSpPr/>
          <p:nvPr/>
        </p:nvSpPr>
        <p:spPr>
          <a:xfrm>
            <a:off x="8556128" y="3014333"/>
            <a:ext cx="493776" cy="493776"/>
          </a:xfrm>
          <a:prstGeom prst="ellipse">
            <a:avLst/>
          </a:prstGeom>
          <a:solidFill>
            <a:srgbClr val="1547C8"/>
          </a:solidFill>
          <a:ln w="12700">
            <a:solidFill>
              <a:srgbClr val="1547C8"/>
            </a:solidFill>
            <a:prstDash val="solid"/>
          </a:ln>
        </p:spPr>
      </p:sp>
      <p:pic>
        <p:nvPicPr>
          <p:cNvPr id="29" name="Image 1" descr="ClipboardList icon">    </p:cNvPr>
          <p:cNvPicPr>
            <a:picLocks noChangeAspect="1"/>
          </p:cNvPicPr>
          <p:nvPr/>
        </p:nvPicPr>
        <p:blipFill>
          <a:blip r:embed="rId10"/>
          <a:stretch>
            <a:fillRect/>
          </a:stretch>
        </p:blipFill>
        <p:spPr>
          <a:xfrm>
            <a:off x="8684510" y="3142715"/>
            <a:ext cx="237012" cy="237012"/>
          </a:xfrm>
          <a:prstGeom prst="rect">
            <a:avLst/>
          </a:prstGeom>
        </p:spPr>
      </p:pic>
      <p:sp>
        <p:nvSpPr>
          <p:cNvPr id="30" name="Text 26"/>
          <p:cNvSpPr txBox="1"/>
          <p:nvPr/>
        </p:nvSpPr>
        <p:spPr>
          <a:xfrm>
            <a:off x="9196208" y="2968613"/>
            <a:ext cx="2103120" cy="274320"/>
          </a:xfrm>
          <a:prstGeom prst="rect">
            <a:avLst/>
          </a:prstGeom>
          <a:noFill/>
          <a:ln/>
        </p:spPr>
        <p:txBody>
          <a:bodyPr wrap="square" lIns="0" tIns="0" rIns="0" bIns="0" rtlCol="0" anchor="t"/>
          <a:lstStyle/>
          <a:p>
            <a:pPr indent="0" marL="0">
              <a:buNone/>
            </a:pPr>
            <a:r>
              <a:rPr lang="en-US" sz="1400" b="1" dirty="0">
                <a:solidFill>
                  <a:schemeClr val="bg1"/>
                </a:solidFill>
              </a:rPr>
              <a:t>Care Plan</a:t>
            </a:r>
            <a:endParaRPr lang="en-US" sz="1400" dirty="0"/>
          </a:p>
        </p:txBody>
      </p:sp>
      <p:sp>
        <p:nvSpPr>
          <p:cNvPr id="31" name="Text 27"/>
          <p:cNvSpPr txBox="1"/>
          <p:nvPr/>
        </p:nvSpPr>
        <p:spPr>
          <a:xfrm>
            <a:off x="9196208" y="3261221"/>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that member's tasks</a:t>
            </a:r>
            <a:endParaRPr lang="en-US" sz="1050" dirty="0"/>
          </a:p>
        </p:txBody>
      </p:sp>
      <p:sp>
        <p:nvSpPr>
          <p:cNvPr id="32" name="Agent node"/>
          <p:cNvSpPr/>
          <p:nvPr/>
        </p:nvSpPr>
        <p:spPr>
          <a:xfrm>
            <a:off x="6928286" y="4876939"/>
            <a:ext cx="3017520" cy="960120"/>
          </a:xfrm>
          <a:prstGeom prst="roundRect">
            <a:avLst>
              <a:gd name="adj" fmla="val 13333"/>
            </a:avLst>
          </a:prstGeom>
          <a:solidFill>
            <a:srgbClr val="0A1F5C"/>
          </a:solidFill>
          <a:ln w="15875">
            <a:solidFill>
              <a:srgbClr val="3CC3F0"/>
            </a:solidFill>
            <a:prstDash val="solid"/>
          </a:ln>
        </p:spPr>
      </p:sp>
      <p:sp>
        <p:nvSpPr>
          <p:cNvPr id="33" name="Icon dot"/>
          <p:cNvSpPr/>
          <p:nvPr/>
        </p:nvSpPr>
        <p:spPr>
          <a:xfrm>
            <a:off x="7111166" y="5110111"/>
            <a:ext cx="493776" cy="493776"/>
          </a:xfrm>
          <a:prstGeom prst="ellipse">
            <a:avLst/>
          </a:prstGeom>
          <a:solidFill>
            <a:srgbClr val="1547C8"/>
          </a:solidFill>
          <a:ln w="12700">
            <a:solidFill>
              <a:srgbClr val="1547C8"/>
            </a:solidFill>
            <a:prstDash val="solid"/>
          </a:ln>
        </p:spPr>
      </p:sp>
      <p:pic>
        <p:nvPicPr>
          <p:cNvPr id="34" name="Image 2" descr="BookMedical icon">    </p:cNvPr>
          <p:cNvPicPr>
            <a:picLocks noChangeAspect="1"/>
          </p:cNvPicPr>
          <p:nvPr/>
        </p:nvPicPr>
        <p:blipFill>
          <a:blip r:embed="rId11"/>
          <a:stretch>
            <a:fillRect/>
          </a:stretch>
        </p:blipFill>
        <p:spPr>
          <a:xfrm>
            <a:off x="7239548" y="5238492"/>
            <a:ext cx="237012" cy="237012"/>
          </a:xfrm>
          <a:prstGeom prst="rect">
            <a:avLst/>
          </a:prstGeom>
        </p:spPr>
      </p:pic>
      <p:sp>
        <p:nvSpPr>
          <p:cNvPr id="35" name="Text 30"/>
          <p:cNvSpPr txBox="1"/>
          <p:nvPr/>
        </p:nvSpPr>
        <p:spPr>
          <a:xfrm>
            <a:off x="7751246" y="5064391"/>
            <a:ext cx="2103120" cy="274320"/>
          </a:xfrm>
          <a:prstGeom prst="rect">
            <a:avLst/>
          </a:prstGeom>
          <a:noFill/>
          <a:ln/>
        </p:spPr>
        <p:txBody>
          <a:bodyPr wrap="square" lIns="0" tIns="0" rIns="0" bIns="0" rtlCol="0" anchor="t"/>
          <a:lstStyle/>
          <a:p>
            <a:pPr indent="0" marL="0">
              <a:buNone/>
            </a:pPr>
            <a:r>
              <a:rPr lang="en-US" sz="1400" b="1" dirty="0">
                <a:solidFill>
                  <a:schemeClr val="bg1"/>
                </a:solidFill>
              </a:rPr>
              <a:t>Education RAG</a:t>
            </a:r>
            <a:endParaRPr lang="en-US" sz="1400" dirty="0"/>
          </a:p>
        </p:txBody>
      </p:sp>
      <p:sp>
        <p:nvSpPr>
          <p:cNvPr id="36" name="Text 31"/>
          <p:cNvSpPr txBox="1"/>
          <p:nvPr/>
        </p:nvSpPr>
        <p:spPr>
          <a:xfrm>
            <a:off x="7751246" y="5356999"/>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approved articles only</a:t>
            </a:r>
            <a:endParaRPr lang="en-US" sz="1050" dirty="0"/>
          </a:p>
        </p:txBody>
      </p:sp>
      <p:sp>
        <p:nvSpPr>
          <p:cNvPr id="37" name="Agent node"/>
          <p:cNvSpPr/>
          <p:nvPr/>
        </p:nvSpPr>
        <p:spPr>
          <a:xfrm>
            <a:off x="2252290" y="4876939"/>
            <a:ext cx="3017520" cy="960120"/>
          </a:xfrm>
          <a:prstGeom prst="roundRect">
            <a:avLst>
              <a:gd name="adj" fmla="val 13333"/>
            </a:avLst>
          </a:prstGeom>
          <a:solidFill>
            <a:srgbClr val="0A1F5C"/>
          </a:solidFill>
          <a:ln w="15875">
            <a:solidFill>
              <a:srgbClr val="3CC3F0"/>
            </a:solidFill>
            <a:prstDash val="solid"/>
          </a:ln>
        </p:spPr>
      </p:sp>
      <p:sp>
        <p:nvSpPr>
          <p:cNvPr id="38" name="Icon dot"/>
          <p:cNvSpPr/>
          <p:nvPr/>
        </p:nvSpPr>
        <p:spPr>
          <a:xfrm>
            <a:off x="2435170" y="5110111"/>
            <a:ext cx="493776" cy="493776"/>
          </a:xfrm>
          <a:prstGeom prst="ellipse">
            <a:avLst/>
          </a:prstGeom>
          <a:solidFill>
            <a:srgbClr val="1547C8"/>
          </a:solidFill>
          <a:ln w="12700">
            <a:solidFill>
              <a:srgbClr val="1547C8"/>
            </a:solidFill>
            <a:prstDash val="solid"/>
          </a:ln>
        </p:spPr>
      </p:sp>
      <p:pic>
        <p:nvPicPr>
          <p:cNvPr id="39" name="Image 3" descr="Bell icon">    </p:cNvPr>
          <p:cNvPicPr>
            <a:picLocks noChangeAspect="1"/>
          </p:cNvPicPr>
          <p:nvPr/>
        </p:nvPicPr>
        <p:blipFill>
          <a:blip r:embed="rId12"/>
          <a:stretch>
            <a:fillRect/>
          </a:stretch>
        </p:blipFill>
        <p:spPr>
          <a:xfrm>
            <a:off x="2563552" y="5238492"/>
            <a:ext cx="237012" cy="237012"/>
          </a:xfrm>
          <a:prstGeom prst="rect">
            <a:avLst/>
          </a:prstGeom>
        </p:spPr>
      </p:pic>
      <p:sp>
        <p:nvSpPr>
          <p:cNvPr id="40" name="Text 34"/>
          <p:cNvSpPr txBox="1"/>
          <p:nvPr/>
        </p:nvSpPr>
        <p:spPr>
          <a:xfrm>
            <a:off x="3075250" y="5064391"/>
            <a:ext cx="2103120" cy="274320"/>
          </a:xfrm>
          <a:prstGeom prst="rect">
            <a:avLst/>
          </a:prstGeom>
          <a:noFill/>
          <a:ln/>
        </p:spPr>
        <p:txBody>
          <a:bodyPr wrap="square" lIns="0" tIns="0" rIns="0" bIns="0" rtlCol="0" anchor="t"/>
          <a:lstStyle/>
          <a:p>
            <a:pPr indent="0" marL="0">
              <a:buNone/>
            </a:pPr>
            <a:r>
              <a:rPr lang="en-US" sz="1400" b="1" dirty="0">
                <a:solidFill>
                  <a:schemeClr val="bg1"/>
                </a:solidFill>
              </a:rPr>
              <a:t>Engagement</a:t>
            </a:r>
            <a:endParaRPr lang="en-US" sz="1400" dirty="0"/>
          </a:p>
        </p:txBody>
      </p:sp>
      <p:sp>
        <p:nvSpPr>
          <p:cNvPr id="41" name="Text 35"/>
          <p:cNvSpPr txBox="1"/>
          <p:nvPr/>
        </p:nvSpPr>
        <p:spPr>
          <a:xfrm>
            <a:off x="3075250" y="5356999"/>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due tasks and channel</a:t>
            </a:r>
            <a:endParaRPr lang="en-US" sz="1050" dirty="0"/>
          </a:p>
        </p:txBody>
      </p:sp>
      <p:sp>
        <p:nvSpPr>
          <p:cNvPr id="42" name="Agent node"/>
          <p:cNvSpPr/>
          <p:nvPr/>
        </p:nvSpPr>
        <p:spPr>
          <a:xfrm>
            <a:off x="807328" y="2781161"/>
            <a:ext cx="3017520" cy="960120"/>
          </a:xfrm>
          <a:prstGeom prst="roundRect">
            <a:avLst>
              <a:gd name="adj" fmla="val 13333"/>
            </a:avLst>
          </a:prstGeom>
          <a:solidFill>
            <a:srgbClr val="0A1F5C"/>
          </a:solidFill>
          <a:ln w="15875">
            <a:solidFill>
              <a:srgbClr val="3CC3F0"/>
            </a:solidFill>
            <a:prstDash val="solid"/>
          </a:ln>
        </p:spPr>
      </p:sp>
      <p:sp>
        <p:nvSpPr>
          <p:cNvPr id="43" name="Icon dot"/>
          <p:cNvSpPr/>
          <p:nvPr/>
        </p:nvSpPr>
        <p:spPr>
          <a:xfrm>
            <a:off x="990208" y="3014333"/>
            <a:ext cx="493776" cy="493776"/>
          </a:xfrm>
          <a:prstGeom prst="ellipse">
            <a:avLst/>
          </a:prstGeom>
          <a:solidFill>
            <a:srgbClr val="1547C8"/>
          </a:solidFill>
          <a:ln w="12700">
            <a:solidFill>
              <a:srgbClr val="1547C8"/>
            </a:solidFill>
            <a:prstDash val="solid"/>
          </a:ln>
        </p:spPr>
      </p:sp>
      <p:pic>
        <p:nvPicPr>
          <p:cNvPr id="44" name="Image 4" descr="UserMd icon">    </p:cNvPr>
          <p:cNvPicPr>
            <a:picLocks noChangeAspect="1"/>
          </p:cNvPicPr>
          <p:nvPr/>
        </p:nvPicPr>
        <p:blipFill>
          <a:blip r:embed="rId13"/>
          <a:stretch>
            <a:fillRect/>
          </a:stretch>
        </p:blipFill>
        <p:spPr>
          <a:xfrm>
            <a:off x="1118589" y="3142715"/>
            <a:ext cx="237012" cy="237012"/>
          </a:xfrm>
          <a:prstGeom prst="rect">
            <a:avLst/>
          </a:prstGeom>
        </p:spPr>
      </p:pic>
      <p:sp>
        <p:nvSpPr>
          <p:cNvPr id="45" name="Text 38"/>
          <p:cNvSpPr txBox="1"/>
          <p:nvPr/>
        </p:nvSpPr>
        <p:spPr>
          <a:xfrm>
            <a:off x="1630288" y="2968613"/>
            <a:ext cx="2103120" cy="274320"/>
          </a:xfrm>
          <a:prstGeom prst="rect">
            <a:avLst/>
          </a:prstGeom>
          <a:noFill/>
          <a:ln/>
        </p:spPr>
        <p:txBody>
          <a:bodyPr wrap="square" lIns="0" tIns="0" rIns="0" bIns="0" rtlCol="0" anchor="t"/>
          <a:lstStyle/>
          <a:p>
            <a:pPr indent="0" marL="0">
              <a:buNone/>
            </a:pPr>
            <a:r>
              <a:rPr lang="en-US" sz="1400" b="1" dirty="0">
                <a:solidFill>
                  <a:schemeClr val="bg1"/>
                </a:solidFill>
              </a:rPr>
              <a:t>Escalation</a:t>
            </a:r>
            <a:endParaRPr lang="en-US" sz="1400" dirty="0"/>
          </a:p>
        </p:txBody>
      </p:sp>
      <p:sp>
        <p:nvSpPr>
          <p:cNvPr id="46" name="Text 39"/>
          <p:cNvSpPr txBox="1"/>
          <p:nvPr/>
        </p:nvSpPr>
        <p:spPr>
          <a:xfrm>
            <a:off x="1630288" y="3261221"/>
            <a:ext cx="2103120" cy="274320"/>
          </a:xfrm>
          <a:prstGeom prst="rect">
            <a:avLst/>
          </a:prstGeom>
          <a:noFill/>
          <a:ln/>
        </p:spPr>
        <p:txBody>
          <a:bodyPr wrap="square" lIns="0" tIns="0" rIns="0" bIns="0" rtlCol="0" anchor="t"/>
          <a:lstStyle/>
          <a:p>
            <a:pPr indent="0" marL="0">
              <a:buNone/>
            </a:pPr>
            <a:r>
              <a:rPr lang="en-US" sz="1050" dirty="0">
                <a:solidFill>
                  <a:srgbClr val="3CC3F0"/>
                </a:solidFill>
              </a:rPr>
              <a:t>Sees: matched rules only</a:t>
            </a:r>
            <a:endParaRPr lang="en-US" sz="10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02  ·  DESIGN PRINCIPLE</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Code decides the facts. Agents only word them</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Principle</a:t>
            </a:r>
            <a:endParaRPr lang="en-US" sz="950" dirty="0"/>
          </a:p>
        </p:txBody>
      </p:sp>
      <p:sp>
        <p:nvSpPr>
          <p:cNvPr id="7" name="Shape 5"/>
          <p:cNvSpPr/>
          <p:nvPr/>
        </p:nvSpPr>
        <p:spPr>
          <a:xfrm>
            <a:off x="4764024" y="6309360"/>
            <a:ext cx="73152" cy="73152"/>
          </a:xfrm>
          <a:prstGeom prst="ellipse">
            <a:avLst/>
          </a:prstGeom>
          <a:solidFill>
            <a:schemeClr val="accent1"/>
          </a:solidFill>
          <a:ln w="12700">
            <a:solidFill>
              <a:schemeClr val="accent1"/>
            </a:solidFill>
            <a:prstDash val="solid"/>
          </a:ln>
        </p:spPr>
      </p:sp>
      <p:sp>
        <p:nvSpPr>
          <p:cNvPr id="8" name="Text 6"/>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Code panel"/>
          <p:cNvSpPr/>
          <p:nvPr/>
        </p:nvSpPr>
        <p:spPr>
          <a:xfrm>
            <a:off x="548640" y="1417320"/>
            <a:ext cx="5440680" cy="3611880"/>
          </a:xfrm>
          <a:prstGeom prst="roundRect">
            <a:avLst>
              <a:gd name="adj" fmla="val 4557"/>
            </a:avLst>
          </a:prstGeom>
          <a:solidFill>
            <a:srgbClr val="1547C8"/>
          </a:solidFill>
          <a:ln w="12700">
            <a:solidFill>
              <a:srgbClr val="1547C8"/>
            </a:solidFill>
            <a:prstDash val="solid"/>
          </a:ln>
        </p:spPr>
      </p:sp>
      <p:sp>
        <p:nvSpPr>
          <p:cNvPr id="15" name="AI panel"/>
          <p:cNvSpPr/>
          <p:nvPr/>
        </p:nvSpPr>
        <p:spPr>
          <a:xfrm>
            <a:off x="6199632" y="1417320"/>
            <a:ext cx="5440680" cy="3611880"/>
          </a:xfrm>
          <a:prstGeom prst="roundRect">
            <a:avLst>
              <a:gd name="adj" fmla="val 4557"/>
            </a:avLst>
          </a:prstGeom>
          <a:solidFill>
            <a:srgbClr val="FFFFFF">
              <a:alpha val="10000"/>
            </a:srgbClr>
          </a:solidFill>
          <a:ln w="12700">
            <a:solidFill>
              <a:srgbClr val="2B4DA8"/>
            </a:solidFill>
            <a:prstDash val="solid"/>
          </a:ln>
        </p:spPr>
      </p:sp>
      <p:sp>
        <p:nvSpPr>
          <p:cNvPr id="16" name="Text 14"/>
          <p:cNvSpPr txBox="1"/>
          <p:nvPr/>
        </p:nvSpPr>
        <p:spPr>
          <a:xfrm>
            <a:off x="868680" y="1600200"/>
            <a:ext cx="2743200" cy="822960"/>
          </a:xfrm>
          <a:prstGeom prst="rect">
            <a:avLst/>
          </a:prstGeom>
          <a:noFill/>
          <a:ln/>
        </p:spPr>
        <p:txBody>
          <a:bodyPr wrap="square" lIns="0" tIns="0" rIns="0" bIns="0" rtlCol="0" anchor="t"/>
          <a:lstStyle/>
          <a:p>
            <a:pPr indent="0" marL="0">
              <a:buNone/>
            </a:pPr>
            <a:r>
              <a:rPr lang="en-US" sz="4800" b="1" dirty="0">
                <a:solidFill>
                  <a:schemeClr val="bg1"/>
                </a:solidFill>
              </a:rPr>
              <a:t>CODE</a:t>
            </a:r>
            <a:endParaRPr lang="en-US" sz="4800" dirty="0"/>
          </a:p>
        </p:txBody>
      </p:sp>
      <p:sp>
        <p:nvSpPr>
          <p:cNvPr id="17" name="Text 15"/>
          <p:cNvSpPr txBox="1"/>
          <p:nvPr/>
        </p:nvSpPr>
        <p:spPr>
          <a:xfrm>
            <a:off x="868680" y="2423160"/>
            <a:ext cx="4572000" cy="274320"/>
          </a:xfrm>
          <a:prstGeom prst="rect">
            <a:avLst/>
          </a:prstGeom>
          <a:noFill/>
          <a:ln/>
        </p:spPr>
        <p:txBody>
          <a:bodyPr wrap="square" lIns="0" tIns="0" rIns="0" bIns="0" rtlCol="0" anchor="t"/>
          <a:lstStyle/>
          <a:p>
            <a:pPr indent="0" marL="0">
              <a:buNone/>
            </a:pPr>
            <a:r>
              <a:rPr lang="en-US" sz="1250" dirty="0">
                <a:solidFill>
                  <a:srgbClr val="CFE0FF"/>
                </a:solidFill>
              </a:rPr>
              <a:t>exact, repeatable, unit-tested</a:t>
            </a:r>
            <a:endParaRPr lang="en-US" sz="1250" dirty="0"/>
          </a:p>
        </p:txBody>
      </p:sp>
      <p:sp>
        <p:nvSpPr>
          <p:cNvPr id="18" name="Text 16"/>
          <p:cNvSpPr txBox="1"/>
          <p:nvPr/>
        </p:nvSpPr>
        <p:spPr>
          <a:xfrm>
            <a:off x="6519672" y="1600200"/>
            <a:ext cx="2743200" cy="822960"/>
          </a:xfrm>
          <a:prstGeom prst="rect">
            <a:avLst/>
          </a:prstGeom>
          <a:noFill/>
          <a:ln/>
        </p:spPr>
        <p:txBody>
          <a:bodyPr wrap="square" lIns="0" tIns="0" rIns="0" bIns="0" rtlCol="0" anchor="t"/>
          <a:lstStyle/>
          <a:p>
            <a:pPr indent="0" marL="0">
              <a:buNone/>
            </a:pPr>
            <a:r>
              <a:rPr lang="en-US" sz="4800" b="1" dirty="0">
                <a:solidFill>
                  <a:srgbClr val="3CC3F0"/>
                </a:solidFill>
              </a:rPr>
              <a:t>AI</a:t>
            </a:r>
            <a:endParaRPr lang="en-US" sz="4800" dirty="0"/>
          </a:p>
        </p:txBody>
      </p:sp>
      <p:sp>
        <p:nvSpPr>
          <p:cNvPr id="19" name="Text 17"/>
          <p:cNvSpPr txBox="1"/>
          <p:nvPr/>
        </p:nvSpPr>
        <p:spPr>
          <a:xfrm>
            <a:off x="6519672" y="2423160"/>
            <a:ext cx="4572000" cy="274320"/>
          </a:xfrm>
          <a:prstGeom prst="rect">
            <a:avLst/>
          </a:prstGeom>
          <a:noFill/>
          <a:ln/>
        </p:spPr>
        <p:txBody>
          <a:bodyPr wrap="square" lIns="0" tIns="0" rIns="0" bIns="0" rtlCol="0" anchor="t"/>
          <a:lstStyle/>
          <a:p>
            <a:pPr indent="0" marL="0">
              <a:buNone/>
            </a:pPr>
            <a:r>
              <a:rPr lang="en-US" sz="1250" dirty="0">
                <a:solidFill>
                  <a:srgbClr val="CFE0FF"/>
                </a:solidFill>
              </a:rPr>
              <a:t>language only, never a decision</a:t>
            </a:r>
            <a:endParaRPr lang="en-US" sz="1250" dirty="0"/>
          </a:p>
        </p:txBody>
      </p:sp>
      <p:pic>
        <p:nvPicPr>
          <p:cNvPr id="20" name="Image 0" descr="Check">    </p:cNvPr>
          <p:cNvPicPr>
            <a:picLocks noChangeAspect="1"/>
          </p:cNvPicPr>
          <p:nvPr/>
        </p:nvPicPr>
        <p:blipFill>
          <a:blip r:embed="rId9"/>
          <a:stretch>
            <a:fillRect/>
          </a:stretch>
        </p:blipFill>
        <p:spPr>
          <a:xfrm>
            <a:off x="868680" y="2962656"/>
            <a:ext cx="256032" cy="256032"/>
          </a:xfrm>
          <a:prstGeom prst="rect">
            <a:avLst/>
          </a:prstGeom>
        </p:spPr>
      </p:pic>
      <p:sp>
        <p:nvSpPr>
          <p:cNvPr id="21" name="Text 18"/>
          <p:cNvSpPr txBox="1"/>
          <p:nvPr/>
        </p:nvSpPr>
        <p:spPr>
          <a:xfrm>
            <a:off x="1325880" y="29260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Consent check (ER-501)</a:t>
            </a:r>
            <a:endParaRPr lang="en-US" sz="1400" dirty="0"/>
          </a:p>
        </p:txBody>
      </p:sp>
      <p:pic>
        <p:nvPicPr>
          <p:cNvPr id="22" name="Image 1" descr="Check">    </p:cNvPr>
          <p:cNvPicPr>
            <a:picLocks noChangeAspect="1"/>
          </p:cNvPicPr>
          <p:nvPr/>
        </p:nvPicPr>
        <p:blipFill>
          <a:blip r:embed="rId10"/>
          <a:stretch>
            <a:fillRect/>
          </a:stretch>
        </p:blipFill>
        <p:spPr>
          <a:xfrm>
            <a:off x="868680" y="3419856"/>
            <a:ext cx="256032" cy="256032"/>
          </a:xfrm>
          <a:prstGeom prst="rect">
            <a:avLst/>
          </a:prstGeom>
        </p:spPr>
      </p:pic>
      <p:sp>
        <p:nvSpPr>
          <p:cNvPr id="23" name="Text 19"/>
          <p:cNvSpPr txBox="1"/>
          <p:nvPr/>
        </p:nvSpPr>
        <p:spPr>
          <a:xfrm>
            <a:off x="1325880" y="3383280"/>
            <a:ext cx="4480560" cy="329184"/>
          </a:xfrm>
          <a:prstGeom prst="rect">
            <a:avLst/>
          </a:prstGeom>
          <a:noFill/>
          <a:ln/>
        </p:spPr>
        <p:txBody>
          <a:bodyPr wrap="square" lIns="0" tIns="0" rIns="0" bIns="0" rtlCol="0" anchor="ctr"/>
          <a:lstStyle/>
          <a:p>
            <a:pPr indent="0" marL="0">
              <a:buNone/>
            </a:pPr>
            <a:r>
              <a:rPr lang="en-US" sz="1400" dirty="0">
                <a:solidFill>
                  <a:schemeClr val="bg1"/>
                </a:solidFill>
              </a:rPr>
              <a:t>Rules ER-502 to ER-504</a:t>
            </a:r>
            <a:endParaRPr lang="en-US" sz="1400" dirty="0"/>
          </a:p>
        </p:txBody>
      </p:sp>
      <p:pic>
        <p:nvPicPr>
          <p:cNvPr id="24" name="Image 2" descr="Check">    </p:cNvPr>
          <p:cNvPicPr>
            <a:picLocks noChangeAspect="1"/>
          </p:cNvPicPr>
          <p:nvPr/>
        </p:nvPicPr>
        <p:blipFill>
          <a:blip r:embed="rId11"/>
          <a:stretch>
            <a:fillRect/>
          </a:stretch>
        </p:blipFill>
        <p:spPr>
          <a:xfrm>
            <a:off x="868680" y="3877056"/>
            <a:ext cx="256032" cy="256032"/>
          </a:xfrm>
          <a:prstGeom prst="rect">
            <a:avLst/>
          </a:prstGeom>
        </p:spPr>
      </p:pic>
      <p:sp>
        <p:nvSpPr>
          <p:cNvPr id="25" name="Text 20"/>
          <p:cNvSpPr txBox="1"/>
          <p:nvPr/>
        </p:nvSpPr>
        <p:spPr>
          <a:xfrm>
            <a:off x="1325880" y="38404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Counts, min / max, missing dates</a:t>
            </a:r>
            <a:endParaRPr lang="en-US" sz="1400" dirty="0"/>
          </a:p>
        </p:txBody>
      </p:sp>
      <p:pic>
        <p:nvPicPr>
          <p:cNvPr id="26" name="Image 3" descr="Check">    </p:cNvPr>
          <p:cNvPicPr>
            <a:picLocks noChangeAspect="1"/>
          </p:cNvPicPr>
          <p:nvPr/>
        </p:nvPicPr>
        <p:blipFill>
          <a:blip r:embed="rId12"/>
          <a:stretch>
            <a:fillRect/>
          </a:stretch>
        </p:blipFill>
        <p:spPr>
          <a:xfrm>
            <a:off x="868680" y="4334256"/>
            <a:ext cx="256032" cy="256032"/>
          </a:xfrm>
          <a:prstGeom prst="rect">
            <a:avLst/>
          </a:prstGeom>
        </p:spPr>
      </p:pic>
      <p:sp>
        <p:nvSpPr>
          <p:cNvPr id="27" name="Text 21"/>
          <p:cNvSpPr txBox="1"/>
          <p:nvPr/>
        </p:nvSpPr>
        <p:spPr>
          <a:xfrm>
            <a:off x="1325880" y="4297680"/>
            <a:ext cx="4480560" cy="329184"/>
          </a:xfrm>
          <a:prstGeom prst="rect">
            <a:avLst/>
          </a:prstGeom>
          <a:noFill/>
          <a:ln/>
        </p:spPr>
        <p:txBody>
          <a:bodyPr wrap="square" lIns="0" tIns="0" rIns="0" bIns="0" rtlCol="0" anchor="ctr"/>
          <a:lstStyle/>
          <a:p>
            <a:pPr indent="0" marL="0">
              <a:buNone/>
            </a:pPr>
            <a:r>
              <a:rPr lang="en-US" sz="1400" dirty="0">
                <a:solidFill>
                  <a:schemeClr val="bg1"/>
                </a:solidFill>
              </a:rPr>
              <a:t>Citation check: ID, status, program, version</a:t>
            </a:r>
            <a:endParaRPr lang="en-US" sz="1400" dirty="0"/>
          </a:p>
        </p:txBody>
      </p:sp>
      <p:pic>
        <p:nvPicPr>
          <p:cNvPr id="28" name="Image 4" descr="Check">    </p:cNvPr>
          <p:cNvPicPr>
            <a:picLocks noChangeAspect="1"/>
          </p:cNvPicPr>
          <p:nvPr/>
        </p:nvPicPr>
        <p:blipFill>
          <a:blip r:embed="rId13"/>
          <a:stretch>
            <a:fillRect/>
          </a:stretch>
        </p:blipFill>
        <p:spPr>
          <a:xfrm>
            <a:off x="6519672" y="2962656"/>
            <a:ext cx="256032" cy="256032"/>
          </a:xfrm>
          <a:prstGeom prst="rect">
            <a:avLst/>
          </a:prstGeom>
        </p:spPr>
      </p:pic>
      <p:sp>
        <p:nvSpPr>
          <p:cNvPr id="29" name="Text 22"/>
          <p:cNvSpPr txBox="1"/>
          <p:nvPr/>
        </p:nvSpPr>
        <p:spPr>
          <a:xfrm>
            <a:off x="6976872" y="2926080"/>
            <a:ext cx="4480560" cy="329184"/>
          </a:xfrm>
          <a:prstGeom prst="rect">
            <a:avLst/>
          </a:prstGeom>
          <a:noFill/>
          <a:ln/>
        </p:spPr>
        <p:txBody>
          <a:bodyPr wrap="square" lIns="0" tIns="0" rIns="0" bIns="0" rtlCol="0" anchor="ctr"/>
          <a:lstStyle/>
          <a:p>
            <a:pPr indent="0" marL="0">
              <a:buNone/>
            </a:pPr>
            <a:r>
              <a:rPr lang="en-US" sz="1400" dirty="0">
                <a:solidFill>
                  <a:schemeClr val="bg1"/>
                </a:solidFill>
              </a:rPr>
              <a:t>Understand what the member asked</a:t>
            </a:r>
            <a:endParaRPr lang="en-US" sz="1400" dirty="0"/>
          </a:p>
        </p:txBody>
      </p:sp>
      <p:pic>
        <p:nvPicPr>
          <p:cNvPr id="30" name="Image 5" descr="Check">    </p:cNvPr>
          <p:cNvPicPr>
            <a:picLocks noChangeAspect="1"/>
          </p:cNvPicPr>
          <p:nvPr/>
        </p:nvPicPr>
        <p:blipFill>
          <a:blip r:embed="rId14"/>
          <a:stretch>
            <a:fillRect/>
          </a:stretch>
        </p:blipFill>
        <p:spPr>
          <a:xfrm>
            <a:off x="6519672" y="3419856"/>
            <a:ext cx="256032" cy="256032"/>
          </a:xfrm>
          <a:prstGeom prst="rect">
            <a:avLst/>
          </a:prstGeom>
        </p:spPr>
      </p:pic>
      <p:sp>
        <p:nvSpPr>
          <p:cNvPr id="31" name="Text 23"/>
          <p:cNvSpPr txBox="1"/>
          <p:nvPr/>
        </p:nvSpPr>
        <p:spPr>
          <a:xfrm>
            <a:off x="6976872" y="3383280"/>
            <a:ext cx="4480560" cy="329184"/>
          </a:xfrm>
          <a:prstGeom prst="rect">
            <a:avLst/>
          </a:prstGeom>
          <a:noFill/>
          <a:ln/>
        </p:spPr>
        <p:txBody>
          <a:bodyPr wrap="square" lIns="0" tIns="0" rIns="0" bIns="0" rtlCol="0" anchor="ctr"/>
          <a:lstStyle/>
          <a:p>
            <a:pPr indent="0" marL="0">
              <a:buNone/>
            </a:pPr>
            <a:r>
              <a:rPr lang="en-US" sz="1400" dirty="0">
                <a:solidFill>
                  <a:schemeClr val="bg1"/>
                </a:solidFill>
              </a:rPr>
              <a:t>Word summaries and reminders</a:t>
            </a:r>
            <a:endParaRPr lang="en-US" sz="1400" dirty="0"/>
          </a:p>
        </p:txBody>
      </p:sp>
      <p:pic>
        <p:nvPicPr>
          <p:cNvPr id="32" name="Image 6" descr="Check">    </p:cNvPr>
          <p:cNvPicPr>
            <a:picLocks noChangeAspect="1"/>
          </p:cNvPicPr>
          <p:nvPr/>
        </p:nvPicPr>
        <p:blipFill>
          <a:blip r:embed="rId15"/>
          <a:stretch>
            <a:fillRect/>
          </a:stretch>
        </p:blipFill>
        <p:spPr>
          <a:xfrm>
            <a:off x="6519672" y="3877056"/>
            <a:ext cx="256032" cy="256032"/>
          </a:xfrm>
          <a:prstGeom prst="rect">
            <a:avLst/>
          </a:prstGeom>
        </p:spPr>
      </p:pic>
      <p:sp>
        <p:nvSpPr>
          <p:cNvPr id="33" name="Text 24"/>
          <p:cNvSpPr txBox="1"/>
          <p:nvPr/>
        </p:nvSpPr>
        <p:spPr>
          <a:xfrm>
            <a:off x="6976872" y="3840480"/>
            <a:ext cx="4480560" cy="329184"/>
          </a:xfrm>
          <a:prstGeom prst="rect">
            <a:avLst/>
          </a:prstGeom>
          <a:noFill/>
          <a:ln/>
        </p:spPr>
        <p:txBody>
          <a:bodyPr wrap="square" lIns="0" tIns="0" rIns="0" bIns="0" rtlCol="0" anchor="ctr"/>
          <a:lstStyle/>
          <a:p>
            <a:pPr indent="0" marL="0">
              <a:buNone/>
            </a:pPr>
            <a:r>
              <a:rPr lang="en-US" sz="1400" dirty="0">
                <a:solidFill>
                  <a:schemeClr val="bg1"/>
                </a:solidFill>
              </a:rPr>
              <a:t>Answer from retrieved approved text</a:t>
            </a:r>
            <a:endParaRPr lang="en-US" sz="1400" dirty="0"/>
          </a:p>
        </p:txBody>
      </p:sp>
      <p:sp>
        <p:nvSpPr>
          <p:cNvPr id="34" name="Shape 25"/>
          <p:cNvSpPr/>
          <p:nvPr/>
        </p:nvSpPr>
        <p:spPr>
          <a:xfrm>
            <a:off x="5824728" y="2926080"/>
            <a:ext cx="548640" cy="548640"/>
          </a:xfrm>
          <a:prstGeom prst="ellipse">
            <a:avLst/>
          </a:prstGeom>
          <a:solidFill>
            <a:srgbClr val="3CC3F0"/>
          </a:solidFill>
          <a:ln w="38100">
            <a:solidFill>
              <a:srgbClr val="060F2E"/>
            </a:solidFill>
            <a:prstDash val="solid"/>
          </a:ln>
        </p:spPr>
      </p:sp>
      <p:sp>
        <p:nvSpPr>
          <p:cNvPr id="35" name="Text 26"/>
          <p:cNvSpPr txBox="1"/>
          <p:nvPr/>
        </p:nvSpPr>
        <p:spPr>
          <a:xfrm>
            <a:off x="5824728" y="2926080"/>
            <a:ext cx="548640" cy="548640"/>
          </a:xfrm>
          <a:prstGeom prst="rect">
            <a:avLst/>
          </a:prstGeom>
          <a:noFill/>
          <a:ln/>
        </p:spPr>
        <p:txBody>
          <a:bodyPr wrap="square" lIns="0" tIns="0" rIns="0" bIns="0" rtlCol="0" anchor="ctr"/>
          <a:lstStyle/>
          <a:p>
            <a:pPr algn="ctr" indent="0" marL="0">
              <a:buNone/>
            </a:pPr>
            <a:r>
              <a:rPr lang="en-US" sz="2200" b="1" dirty="0">
                <a:solidFill>
                  <a:srgbClr val="060F2E"/>
                </a:solidFill>
              </a:rPr>
              <a:t>+</a:t>
            </a:r>
            <a:endParaRPr lang="en-US" sz="2200" dirty="0"/>
          </a:p>
        </p:txBody>
      </p:sp>
      <p:sp>
        <p:nvSpPr>
          <p:cNvPr id="36" name="Rejection strip"/>
          <p:cNvSpPr/>
          <p:nvPr/>
        </p:nvSpPr>
        <p:spPr>
          <a:xfrm>
            <a:off x="548640" y="5257800"/>
            <a:ext cx="11091672" cy="914400"/>
          </a:xfrm>
          <a:prstGeom prst="roundRect">
            <a:avLst>
              <a:gd name="adj" fmla="val 14000"/>
            </a:avLst>
          </a:prstGeom>
          <a:solidFill>
            <a:srgbClr val="E5484D">
              <a:alpha val="12000"/>
            </a:srgbClr>
          </a:solidFill>
          <a:ln w="12700">
            <a:solidFill>
              <a:srgbClr val="9B3B49"/>
            </a:solidFill>
            <a:prstDash val="solid"/>
          </a:ln>
        </p:spPr>
      </p:sp>
      <p:sp>
        <p:nvSpPr>
          <p:cNvPr id="37" name="Text 28"/>
          <p:cNvSpPr txBox="1"/>
          <p:nvPr/>
        </p:nvSpPr>
        <p:spPr>
          <a:xfrm>
            <a:off x="777240" y="5394960"/>
            <a:ext cx="2651760" cy="640080"/>
          </a:xfrm>
          <a:prstGeom prst="rect">
            <a:avLst/>
          </a:prstGeom>
          <a:noFill/>
          <a:ln/>
        </p:spPr>
        <p:txBody>
          <a:bodyPr wrap="square" lIns="0" tIns="0" rIns="0" bIns="0" rtlCol="0" anchor="ctr"/>
          <a:lstStyle/>
          <a:p>
            <a:pPr indent="0" marL="0">
              <a:buNone/>
            </a:pPr>
            <a:r>
              <a:rPr lang="en-US" sz="1000" b="1" spc="200" kern="0" dirty="0">
                <a:solidFill>
                  <a:srgbClr val="FF8A8F"/>
                </a:solidFill>
              </a:rPr>
              <a:t>AI TEXT IS REJECTED, AND A</a:t>
            </a:r>
            <a:endParaRPr lang="en-US" sz="1000" dirty="0"/>
          </a:p>
          <a:p>
            <a:pPr indent="0" marL="0">
              <a:buNone/>
            </a:pPr>
            <a:r>
              <a:rPr lang="en-US" sz="1000" b="1" spc="200" kern="0" dirty="0">
                <a:solidFill>
                  <a:srgbClr val="FF8A8F"/>
                </a:solidFill>
              </a:rPr>
              <a:t>FIXED TEMPLATE IS USED, IF IT HAS</a:t>
            </a:r>
            <a:endParaRPr lang="en-US" sz="1000" dirty="0"/>
          </a:p>
        </p:txBody>
      </p:sp>
      <p:pic>
        <p:nvPicPr>
          <p:cNvPr id="38" name="Image 7" descr="Rejected">    </p:cNvPr>
          <p:cNvPicPr>
            <a:picLocks noChangeAspect="1"/>
          </p:cNvPicPr>
          <p:nvPr/>
        </p:nvPicPr>
        <p:blipFill>
          <a:blip r:embed="rId16"/>
          <a:stretch>
            <a:fillRect/>
          </a:stretch>
        </p:blipFill>
        <p:spPr>
          <a:xfrm>
            <a:off x="3611880" y="5577840"/>
            <a:ext cx="256032" cy="256032"/>
          </a:xfrm>
          <a:prstGeom prst="rect">
            <a:avLst/>
          </a:prstGeom>
        </p:spPr>
      </p:pic>
      <p:sp>
        <p:nvSpPr>
          <p:cNvPr id="39" name="Text 29"/>
          <p:cNvSpPr txBox="1"/>
          <p:nvPr/>
        </p:nvSpPr>
        <p:spPr>
          <a:xfrm>
            <a:off x="394106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number not in the facts</a:t>
            </a:r>
            <a:endParaRPr lang="en-US" sz="1150" dirty="0"/>
          </a:p>
        </p:txBody>
      </p:sp>
      <p:pic>
        <p:nvPicPr>
          <p:cNvPr id="40" name="Image 8" descr="Rejected">    </p:cNvPr>
          <p:cNvPicPr>
            <a:picLocks noChangeAspect="1"/>
          </p:cNvPicPr>
          <p:nvPr/>
        </p:nvPicPr>
        <p:blipFill>
          <a:blip r:embed="rId17"/>
          <a:stretch>
            <a:fillRect/>
          </a:stretch>
        </p:blipFill>
        <p:spPr>
          <a:xfrm>
            <a:off x="5623560" y="5577840"/>
            <a:ext cx="256032" cy="256032"/>
          </a:xfrm>
          <a:prstGeom prst="rect">
            <a:avLst/>
          </a:prstGeom>
        </p:spPr>
      </p:pic>
      <p:sp>
        <p:nvSpPr>
          <p:cNvPr id="41" name="Text 30"/>
          <p:cNvSpPr txBox="1"/>
          <p:nvPr/>
        </p:nvSpPr>
        <p:spPr>
          <a:xfrm>
            <a:off x="595274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diagnosis or judgement</a:t>
            </a:r>
            <a:endParaRPr lang="en-US" sz="1150" dirty="0"/>
          </a:p>
        </p:txBody>
      </p:sp>
      <p:pic>
        <p:nvPicPr>
          <p:cNvPr id="42" name="Image 9" descr="Rejected">    </p:cNvPr>
          <p:cNvPicPr>
            <a:picLocks noChangeAspect="1"/>
          </p:cNvPicPr>
          <p:nvPr/>
        </p:nvPicPr>
        <p:blipFill>
          <a:blip r:embed="rId18"/>
          <a:stretch>
            <a:fillRect/>
          </a:stretch>
        </p:blipFill>
        <p:spPr>
          <a:xfrm>
            <a:off x="7635240" y="5577840"/>
            <a:ext cx="256032" cy="256032"/>
          </a:xfrm>
          <a:prstGeom prst="rect">
            <a:avLst/>
          </a:prstGeom>
        </p:spPr>
      </p:pic>
      <p:sp>
        <p:nvSpPr>
          <p:cNvPr id="43" name="Text 31"/>
          <p:cNvSpPr txBox="1"/>
          <p:nvPr/>
        </p:nvSpPr>
        <p:spPr>
          <a:xfrm>
            <a:off x="796442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Medication advice or prediction</a:t>
            </a:r>
            <a:endParaRPr lang="en-US" sz="1150" dirty="0"/>
          </a:p>
        </p:txBody>
      </p:sp>
      <p:pic>
        <p:nvPicPr>
          <p:cNvPr id="44" name="Image 10" descr="Rejected">    </p:cNvPr>
          <p:cNvPicPr>
            <a:picLocks noChangeAspect="1"/>
          </p:cNvPicPr>
          <p:nvPr/>
        </p:nvPicPr>
        <p:blipFill>
          <a:blip r:embed="rId19"/>
          <a:stretch>
            <a:fillRect/>
          </a:stretch>
        </p:blipFill>
        <p:spPr>
          <a:xfrm>
            <a:off x="9646920" y="5577840"/>
            <a:ext cx="256032" cy="256032"/>
          </a:xfrm>
          <a:prstGeom prst="rect">
            <a:avLst/>
          </a:prstGeom>
        </p:spPr>
      </p:pic>
      <p:sp>
        <p:nvSpPr>
          <p:cNvPr id="45" name="Text 32"/>
          <p:cNvSpPr txBox="1"/>
          <p:nvPr/>
        </p:nvSpPr>
        <p:spPr>
          <a:xfrm>
            <a:off x="9976104" y="5394960"/>
            <a:ext cx="1600200" cy="640080"/>
          </a:xfrm>
          <a:prstGeom prst="rect">
            <a:avLst/>
          </a:prstGeom>
          <a:noFill/>
          <a:ln/>
        </p:spPr>
        <p:txBody>
          <a:bodyPr wrap="square" lIns="0" tIns="0" rIns="0" bIns="0" rtlCol="0" anchor="ctr"/>
          <a:lstStyle/>
          <a:p>
            <a:pPr indent="0" marL="0">
              <a:buNone/>
            </a:pPr>
            <a:r>
              <a:rPr lang="en-US" sz="1150" dirty="0">
                <a:solidFill>
                  <a:schemeClr val="bg1"/>
                </a:solidFill>
              </a:rPr>
              <a:t>A claim to be a clinician</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03  ·  ARCHITECTURE</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How one message moves through the desk</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Flow</a:t>
            </a:r>
            <a:endParaRPr lang="en-US" sz="950" dirty="0"/>
          </a:p>
        </p:txBody>
      </p:sp>
      <p:sp>
        <p:nvSpPr>
          <p:cNvPr id="8" name="Shape 6"/>
          <p:cNvSpPr/>
          <p:nvPr/>
        </p:nvSpPr>
        <p:spPr>
          <a:xfrm>
            <a:off x="5586984" y="6309360"/>
            <a:ext cx="73152" cy="73152"/>
          </a:xfrm>
          <a:prstGeom prst="ellipse">
            <a:avLst/>
          </a:prstGeom>
          <a:solidFill>
            <a:schemeClr val="accent1"/>
          </a:solidFill>
          <a:ln w="12700">
            <a:solidFill>
              <a:schemeClr val="accent1"/>
            </a:solidFill>
            <a:prstDash val="solid"/>
          </a:ln>
        </p:spPr>
      </p:sp>
      <p:sp>
        <p:nvSpPr>
          <p:cNvPr id="9" name="Text 7"/>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Connector"/>
          <p:cNvSpPr/>
          <p:nvPr/>
        </p:nvSpPr>
        <p:spPr>
          <a:xfrm>
            <a:off x="822960" y="3429000"/>
            <a:ext cx="10424160" cy="0"/>
          </a:xfrm>
          <a:prstGeom prst="line">
            <a:avLst/>
          </a:prstGeom>
          <a:noFill/>
          <a:ln w="38100">
            <a:solidFill>
              <a:srgbClr val="3CC3F0"/>
            </a:solidFill>
            <a:prstDash val="solid"/>
          </a:ln>
        </p:spPr>
      </p:sp>
      <p:sp>
        <p:nvSpPr>
          <p:cNvPr id="15" name="Timeline node"/>
          <p:cNvSpPr/>
          <p:nvPr/>
        </p:nvSpPr>
        <p:spPr>
          <a:xfrm>
            <a:off x="1225296" y="3099816"/>
            <a:ext cx="658368" cy="658368"/>
          </a:xfrm>
          <a:prstGeom prst="ellipse">
            <a:avLst/>
          </a:prstGeom>
          <a:solidFill>
            <a:srgbClr val="1547C8"/>
          </a:solidFill>
          <a:ln w="38100">
            <a:solidFill>
              <a:srgbClr val="3CC3F0"/>
            </a:solidFill>
            <a:prstDash val="solid"/>
          </a:ln>
        </p:spPr>
      </p:sp>
      <p:sp>
        <p:nvSpPr>
          <p:cNvPr id="16" name="Text 14"/>
          <p:cNvSpPr txBox="1"/>
          <p:nvPr/>
        </p:nvSpPr>
        <p:spPr>
          <a:xfrm>
            <a:off x="122529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7" name="Text 15"/>
          <p:cNvSpPr txBox="1"/>
          <p:nvPr/>
        </p:nvSpPr>
        <p:spPr>
          <a:xfrm>
            <a:off x="68580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Consent check</a:t>
            </a:r>
            <a:endParaRPr lang="en-US" sz="1500" dirty="0"/>
          </a:p>
        </p:txBody>
      </p:sp>
      <p:sp>
        <p:nvSpPr>
          <p:cNvPr id="18" name="Text 16"/>
          <p:cNvSpPr txBox="1"/>
          <p:nvPr/>
        </p:nvSpPr>
        <p:spPr>
          <a:xfrm>
            <a:off x="68580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Active consent or stop</a:t>
            </a:r>
            <a:endParaRPr lang="en-US" sz="1150" dirty="0"/>
          </a:p>
        </p:txBody>
      </p:sp>
      <p:sp>
        <p:nvSpPr>
          <p:cNvPr id="19" name="Pill"/>
          <p:cNvSpPr/>
          <p:nvPr/>
        </p:nvSpPr>
        <p:spPr>
          <a:xfrm>
            <a:off x="685800" y="4023360"/>
            <a:ext cx="1737360" cy="329184"/>
          </a:xfrm>
          <a:prstGeom prst="roundRect">
            <a:avLst>
              <a:gd name="adj" fmla="val 50000"/>
            </a:avLst>
          </a:prstGeom>
          <a:solidFill>
            <a:srgbClr val="E5484D"/>
          </a:solidFill>
          <a:ln w="12700">
            <a:solidFill>
              <a:srgbClr val="E5484D"/>
            </a:solidFill>
            <a:prstDash val="solid"/>
          </a:ln>
        </p:spPr>
      </p:sp>
      <p:sp>
        <p:nvSpPr>
          <p:cNvPr id="20" name="Text 18"/>
          <p:cNvSpPr txBox="1"/>
          <p:nvPr/>
        </p:nvSpPr>
        <p:spPr>
          <a:xfrm>
            <a:off x="685800" y="40233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STOP → staff · ER-501</a:t>
            </a:r>
            <a:endParaRPr lang="en-US" sz="850" dirty="0"/>
          </a:p>
        </p:txBody>
      </p:sp>
      <p:sp>
        <p:nvSpPr>
          <p:cNvPr id="21" name="Timeline node"/>
          <p:cNvSpPr/>
          <p:nvPr/>
        </p:nvSpPr>
        <p:spPr>
          <a:xfrm>
            <a:off x="3008376" y="3099816"/>
            <a:ext cx="658368" cy="658368"/>
          </a:xfrm>
          <a:prstGeom prst="ellipse">
            <a:avLst/>
          </a:prstGeom>
          <a:solidFill>
            <a:srgbClr val="1547C8"/>
          </a:solidFill>
          <a:ln w="38100">
            <a:solidFill>
              <a:srgbClr val="3CC3F0"/>
            </a:solidFill>
            <a:prstDash val="solid"/>
          </a:ln>
        </p:spPr>
      </p:sp>
      <p:sp>
        <p:nvSpPr>
          <p:cNvPr id="22" name="Text 20"/>
          <p:cNvSpPr txBox="1"/>
          <p:nvPr/>
        </p:nvSpPr>
        <p:spPr>
          <a:xfrm>
            <a:off x="300837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3" name="Text 21"/>
          <p:cNvSpPr txBox="1"/>
          <p:nvPr/>
        </p:nvSpPr>
        <p:spPr>
          <a:xfrm>
            <a:off x="246888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Safety guard</a:t>
            </a:r>
            <a:endParaRPr lang="en-US" sz="1500" dirty="0"/>
          </a:p>
        </p:txBody>
      </p:sp>
      <p:sp>
        <p:nvSpPr>
          <p:cNvPr id="24" name="Text 22"/>
          <p:cNvSpPr txBox="1"/>
          <p:nvPr/>
        </p:nvSpPr>
        <p:spPr>
          <a:xfrm>
            <a:off x="246888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Injection and medication rule</a:t>
            </a:r>
            <a:endParaRPr lang="en-US" sz="1150" dirty="0"/>
          </a:p>
        </p:txBody>
      </p:sp>
      <p:sp>
        <p:nvSpPr>
          <p:cNvPr id="25" name="Pill"/>
          <p:cNvSpPr/>
          <p:nvPr/>
        </p:nvSpPr>
        <p:spPr>
          <a:xfrm>
            <a:off x="2468880" y="2651760"/>
            <a:ext cx="1737360" cy="329184"/>
          </a:xfrm>
          <a:prstGeom prst="roundRect">
            <a:avLst>
              <a:gd name="adj" fmla="val 50000"/>
            </a:avLst>
          </a:prstGeom>
          <a:solidFill>
            <a:srgbClr val="E5484D"/>
          </a:solidFill>
          <a:ln w="12700">
            <a:solidFill>
              <a:srgbClr val="E5484D"/>
            </a:solidFill>
            <a:prstDash val="solid"/>
          </a:ln>
        </p:spPr>
      </p:sp>
      <p:sp>
        <p:nvSpPr>
          <p:cNvPr id="26" name="Text 24"/>
          <p:cNvSpPr txBox="1"/>
          <p:nvPr/>
        </p:nvSpPr>
        <p:spPr>
          <a:xfrm>
            <a:off x="246888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DECLINE · ER-503</a:t>
            </a:r>
            <a:endParaRPr lang="en-US" sz="850" dirty="0"/>
          </a:p>
        </p:txBody>
      </p:sp>
      <p:sp>
        <p:nvSpPr>
          <p:cNvPr id="27" name="Timeline node"/>
          <p:cNvSpPr/>
          <p:nvPr/>
        </p:nvSpPr>
        <p:spPr>
          <a:xfrm>
            <a:off x="4791456" y="3099816"/>
            <a:ext cx="658368" cy="658368"/>
          </a:xfrm>
          <a:prstGeom prst="ellipse">
            <a:avLst/>
          </a:prstGeom>
          <a:solidFill>
            <a:srgbClr val="1547C8"/>
          </a:solidFill>
          <a:ln w="38100">
            <a:solidFill>
              <a:srgbClr val="3CC3F0"/>
            </a:solidFill>
            <a:prstDash val="solid"/>
          </a:ln>
        </p:spPr>
      </p:sp>
      <p:sp>
        <p:nvSpPr>
          <p:cNvPr id="28" name="Text 26"/>
          <p:cNvSpPr txBox="1"/>
          <p:nvPr/>
        </p:nvSpPr>
        <p:spPr>
          <a:xfrm>
            <a:off x="479145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9" name="Text 27"/>
          <p:cNvSpPr txBox="1"/>
          <p:nvPr/>
        </p:nvSpPr>
        <p:spPr>
          <a:xfrm>
            <a:off x="425196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Router</a:t>
            </a:r>
            <a:endParaRPr lang="en-US" sz="1500" dirty="0"/>
          </a:p>
        </p:txBody>
      </p:sp>
      <p:sp>
        <p:nvSpPr>
          <p:cNvPr id="30" name="Text 28"/>
          <p:cNvSpPr txBox="1"/>
          <p:nvPr/>
        </p:nvSpPr>
        <p:spPr>
          <a:xfrm>
            <a:off x="425196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Education, readings, plan or staff</a:t>
            </a:r>
            <a:endParaRPr lang="en-US" sz="1150" dirty="0"/>
          </a:p>
        </p:txBody>
      </p:sp>
      <p:sp>
        <p:nvSpPr>
          <p:cNvPr id="31" name="Timeline node"/>
          <p:cNvSpPr/>
          <p:nvPr/>
        </p:nvSpPr>
        <p:spPr>
          <a:xfrm>
            <a:off x="6574536" y="3099816"/>
            <a:ext cx="658368" cy="658368"/>
          </a:xfrm>
          <a:prstGeom prst="ellipse">
            <a:avLst/>
          </a:prstGeom>
          <a:solidFill>
            <a:srgbClr val="1547C8"/>
          </a:solidFill>
          <a:ln w="38100">
            <a:solidFill>
              <a:srgbClr val="3CC3F0"/>
            </a:solidFill>
            <a:prstDash val="solid"/>
          </a:ln>
        </p:spPr>
      </p:sp>
      <p:sp>
        <p:nvSpPr>
          <p:cNvPr id="32" name="Text 30"/>
          <p:cNvSpPr txBox="1"/>
          <p:nvPr/>
        </p:nvSpPr>
        <p:spPr>
          <a:xfrm>
            <a:off x="657453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3" name="Text 31"/>
          <p:cNvSpPr txBox="1"/>
          <p:nvPr/>
        </p:nvSpPr>
        <p:spPr>
          <a:xfrm>
            <a:off x="603504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Facts and rules</a:t>
            </a:r>
            <a:endParaRPr lang="en-US" sz="1500" dirty="0"/>
          </a:p>
        </p:txBody>
      </p:sp>
      <p:sp>
        <p:nvSpPr>
          <p:cNvPr id="34" name="Text 32"/>
          <p:cNvSpPr txBox="1"/>
          <p:nvPr/>
        </p:nvSpPr>
        <p:spPr>
          <a:xfrm>
            <a:off x="603504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Code reads data, applies ER-502 and ER-504</a:t>
            </a:r>
            <a:endParaRPr lang="en-US" sz="1150" dirty="0"/>
          </a:p>
        </p:txBody>
      </p:sp>
      <p:sp>
        <p:nvSpPr>
          <p:cNvPr id="35" name="Pill"/>
          <p:cNvSpPr/>
          <p:nvPr/>
        </p:nvSpPr>
        <p:spPr>
          <a:xfrm>
            <a:off x="6035040" y="2651760"/>
            <a:ext cx="1737360" cy="329184"/>
          </a:xfrm>
          <a:prstGeom prst="roundRect">
            <a:avLst>
              <a:gd name="adj" fmla="val 50000"/>
            </a:avLst>
          </a:prstGeom>
          <a:solidFill>
            <a:srgbClr val="F5A524"/>
          </a:solidFill>
          <a:ln w="12700">
            <a:solidFill>
              <a:srgbClr val="F5A524"/>
            </a:solidFill>
            <a:prstDash val="solid"/>
          </a:ln>
        </p:spPr>
      </p:sp>
      <p:sp>
        <p:nvSpPr>
          <p:cNvPr id="36" name="Text 34"/>
          <p:cNvSpPr txBox="1"/>
          <p:nvPr/>
        </p:nvSpPr>
        <p:spPr>
          <a:xfrm>
            <a:off x="6035040" y="2651760"/>
            <a:ext cx="1737360" cy="329184"/>
          </a:xfrm>
          <a:prstGeom prst="rect">
            <a:avLst/>
          </a:prstGeom>
          <a:noFill/>
          <a:ln/>
        </p:spPr>
        <p:txBody>
          <a:bodyPr wrap="square" lIns="0" tIns="0" rIns="0" bIns="0" rtlCol="0" anchor="ctr"/>
          <a:lstStyle/>
          <a:p>
            <a:pPr algn="ctr" indent="0" marL="0">
              <a:buNone/>
            </a:pPr>
            <a:r>
              <a:rPr lang="en-US" sz="850" b="1" dirty="0">
                <a:solidFill>
                  <a:srgbClr val="060F2E"/>
                </a:solidFill>
              </a:rPr>
              <a:t>STAFF QUEUE · ER-502/504</a:t>
            </a:r>
            <a:endParaRPr lang="en-US" sz="850" dirty="0"/>
          </a:p>
        </p:txBody>
      </p:sp>
      <p:sp>
        <p:nvSpPr>
          <p:cNvPr id="37" name="Timeline node"/>
          <p:cNvSpPr/>
          <p:nvPr/>
        </p:nvSpPr>
        <p:spPr>
          <a:xfrm>
            <a:off x="8357616" y="3099816"/>
            <a:ext cx="658368" cy="658368"/>
          </a:xfrm>
          <a:prstGeom prst="ellipse">
            <a:avLst/>
          </a:prstGeom>
          <a:solidFill>
            <a:srgbClr val="1547C8"/>
          </a:solidFill>
          <a:ln w="38100">
            <a:solidFill>
              <a:srgbClr val="3CC3F0"/>
            </a:solidFill>
            <a:prstDash val="solid"/>
          </a:ln>
        </p:spPr>
      </p:sp>
      <p:sp>
        <p:nvSpPr>
          <p:cNvPr id="38" name="Text 36"/>
          <p:cNvSpPr txBox="1"/>
          <p:nvPr/>
        </p:nvSpPr>
        <p:spPr>
          <a:xfrm>
            <a:off x="835761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9" name="Text 37"/>
          <p:cNvSpPr txBox="1"/>
          <p:nvPr/>
        </p:nvSpPr>
        <p:spPr>
          <a:xfrm>
            <a:off x="7818120" y="160020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Specialist agent</a:t>
            </a:r>
            <a:endParaRPr lang="en-US" sz="1500" dirty="0"/>
          </a:p>
        </p:txBody>
      </p:sp>
      <p:sp>
        <p:nvSpPr>
          <p:cNvPr id="40" name="Text 38"/>
          <p:cNvSpPr txBox="1"/>
          <p:nvPr/>
        </p:nvSpPr>
        <p:spPr>
          <a:xfrm>
            <a:off x="7818120" y="194767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Words the answer from the facts</a:t>
            </a:r>
            <a:endParaRPr lang="en-US" sz="1150" dirty="0"/>
          </a:p>
        </p:txBody>
      </p:sp>
      <p:sp>
        <p:nvSpPr>
          <p:cNvPr id="41" name="Timeline node"/>
          <p:cNvSpPr/>
          <p:nvPr/>
        </p:nvSpPr>
        <p:spPr>
          <a:xfrm>
            <a:off x="10140696" y="3099816"/>
            <a:ext cx="658368" cy="658368"/>
          </a:xfrm>
          <a:prstGeom prst="ellipse">
            <a:avLst/>
          </a:prstGeom>
          <a:solidFill>
            <a:srgbClr val="1547C8"/>
          </a:solidFill>
          <a:ln w="38100">
            <a:solidFill>
              <a:srgbClr val="3CC3F0"/>
            </a:solidFill>
            <a:prstDash val="solid"/>
          </a:ln>
        </p:spPr>
      </p:sp>
      <p:sp>
        <p:nvSpPr>
          <p:cNvPr id="42" name="Text 40"/>
          <p:cNvSpPr txBox="1"/>
          <p:nvPr/>
        </p:nvSpPr>
        <p:spPr>
          <a:xfrm>
            <a:off x="10140696" y="3099816"/>
            <a:ext cx="658368" cy="658368"/>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43" name="Text 41"/>
          <p:cNvSpPr txBox="1"/>
          <p:nvPr/>
        </p:nvSpPr>
        <p:spPr>
          <a:xfrm>
            <a:off x="9601200" y="4069080"/>
            <a:ext cx="1737360" cy="310896"/>
          </a:xfrm>
          <a:prstGeom prst="rect">
            <a:avLst/>
          </a:prstGeom>
          <a:noFill/>
          <a:ln/>
        </p:spPr>
        <p:txBody>
          <a:bodyPr wrap="square" lIns="0" tIns="0" rIns="0" bIns="0" rtlCol="0" anchor="t"/>
          <a:lstStyle/>
          <a:p>
            <a:pPr algn="ctr" indent="0" marL="0">
              <a:buNone/>
            </a:pPr>
            <a:r>
              <a:rPr lang="en-US" sz="1500" b="1" dirty="0">
                <a:solidFill>
                  <a:schemeClr val="bg1"/>
                </a:solidFill>
              </a:rPr>
              <a:t>Outputs</a:t>
            </a:r>
            <a:endParaRPr lang="en-US" sz="1500" dirty="0"/>
          </a:p>
        </p:txBody>
      </p:sp>
      <p:sp>
        <p:nvSpPr>
          <p:cNvPr id="44" name="Text 42"/>
          <p:cNvSpPr txBox="1"/>
          <p:nvPr/>
        </p:nvSpPr>
        <p:spPr>
          <a:xfrm>
            <a:off x="9601200" y="4416552"/>
            <a:ext cx="1737360" cy="731520"/>
          </a:xfrm>
          <a:prstGeom prst="rect">
            <a:avLst/>
          </a:prstGeom>
          <a:noFill/>
          <a:ln/>
        </p:spPr>
        <p:txBody>
          <a:bodyPr wrap="square" lIns="0" tIns="0" rIns="0" bIns="0" rtlCol="0" anchor="t"/>
          <a:lstStyle/>
          <a:p>
            <a:pPr algn="ctr" indent="0" marL="0">
              <a:buNone/>
            </a:pPr>
            <a:r>
              <a:rPr lang="en-US" sz="1150" dirty="0">
                <a:solidFill>
                  <a:srgbClr val="CFE0FF"/>
                </a:solidFill>
              </a:rPr>
              <a:t>Member view, staff packet, audit</a:t>
            </a:r>
            <a:endParaRPr lang="en-US" sz="1150" dirty="0"/>
          </a:p>
        </p:txBody>
      </p:sp>
      <p:sp>
        <p:nvSpPr>
          <p:cNvPr id="45" name="Pill"/>
          <p:cNvSpPr/>
          <p:nvPr/>
        </p:nvSpPr>
        <p:spPr>
          <a:xfrm>
            <a:off x="9601200" y="2651760"/>
            <a:ext cx="1737360" cy="329184"/>
          </a:xfrm>
          <a:prstGeom prst="roundRect">
            <a:avLst>
              <a:gd name="adj" fmla="val 50000"/>
            </a:avLst>
          </a:prstGeom>
          <a:solidFill>
            <a:srgbClr val="12A36B"/>
          </a:solidFill>
          <a:ln w="12700">
            <a:solidFill>
              <a:srgbClr val="12A36B"/>
            </a:solidFill>
            <a:prstDash val="solid"/>
          </a:ln>
        </p:spPr>
      </p:sp>
      <p:sp>
        <p:nvSpPr>
          <p:cNvPr id="46" name="Text 44"/>
          <p:cNvSpPr txBox="1"/>
          <p:nvPr/>
        </p:nvSpPr>
        <p:spPr>
          <a:xfrm>
            <a:off x="960120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SEPARATE VIEWS</a:t>
            </a:r>
            <a:endParaRPr lang="en-US" sz="850" dirty="0"/>
          </a:p>
        </p:txBody>
      </p:sp>
      <p:sp>
        <p:nvSpPr>
          <p:cNvPr id="47" name="Output chip"/>
          <p:cNvSpPr/>
          <p:nvPr/>
        </p:nvSpPr>
        <p:spPr>
          <a:xfrm>
            <a:off x="54864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48" name="Icon dot"/>
          <p:cNvSpPr/>
          <p:nvPr/>
        </p:nvSpPr>
        <p:spPr>
          <a:xfrm>
            <a:off x="731520" y="5486400"/>
            <a:ext cx="502920" cy="502920"/>
          </a:xfrm>
          <a:prstGeom prst="ellipse">
            <a:avLst/>
          </a:prstGeom>
          <a:solidFill>
            <a:srgbClr val="1547C8"/>
          </a:solidFill>
          <a:ln w="12700">
            <a:solidFill>
              <a:srgbClr val="1547C8"/>
            </a:solidFill>
            <a:prstDash val="solid"/>
          </a:ln>
        </p:spPr>
      </p:sp>
      <p:pic>
        <p:nvPicPr>
          <p:cNvPr id="49" name="Image 0" descr="UserMd icon">    </p:cNvPr>
          <p:cNvPicPr>
            <a:picLocks noChangeAspect="1"/>
          </p:cNvPicPr>
          <p:nvPr/>
        </p:nvPicPr>
        <p:blipFill>
          <a:blip r:embed="rId9"/>
          <a:stretch>
            <a:fillRect/>
          </a:stretch>
        </p:blipFill>
        <p:spPr>
          <a:xfrm>
            <a:off x="862279" y="5617159"/>
            <a:ext cx="241402" cy="241402"/>
          </a:xfrm>
          <a:prstGeom prst="rect">
            <a:avLst/>
          </a:prstGeom>
        </p:spPr>
      </p:pic>
      <p:sp>
        <p:nvSpPr>
          <p:cNvPr id="50" name="Text 47"/>
          <p:cNvSpPr txBox="1"/>
          <p:nvPr/>
        </p:nvSpPr>
        <p:spPr>
          <a:xfrm>
            <a:off x="141732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Member view</a:t>
            </a:r>
            <a:endParaRPr lang="en-US" sz="1300" dirty="0"/>
          </a:p>
        </p:txBody>
      </p:sp>
      <p:sp>
        <p:nvSpPr>
          <p:cNvPr id="51" name="Text 48"/>
          <p:cNvSpPr txBox="1"/>
          <p:nvPr/>
        </p:nvSpPr>
        <p:spPr>
          <a:xfrm>
            <a:off x="141732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answer, plan items, sources</a:t>
            </a:r>
            <a:endParaRPr lang="en-US" sz="1100" dirty="0"/>
          </a:p>
        </p:txBody>
      </p:sp>
      <p:sp>
        <p:nvSpPr>
          <p:cNvPr id="52" name="Output chip"/>
          <p:cNvSpPr/>
          <p:nvPr/>
        </p:nvSpPr>
        <p:spPr>
          <a:xfrm>
            <a:off x="429768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53" name="Icon dot"/>
          <p:cNvSpPr/>
          <p:nvPr/>
        </p:nvSpPr>
        <p:spPr>
          <a:xfrm>
            <a:off x="4480560" y="5486400"/>
            <a:ext cx="502920" cy="502920"/>
          </a:xfrm>
          <a:prstGeom prst="ellipse">
            <a:avLst/>
          </a:prstGeom>
          <a:solidFill>
            <a:srgbClr val="1547C8"/>
          </a:solidFill>
          <a:ln w="12700">
            <a:solidFill>
              <a:srgbClr val="1547C8"/>
            </a:solidFill>
            <a:prstDash val="solid"/>
          </a:ln>
        </p:spPr>
      </p:sp>
      <p:pic>
        <p:nvPicPr>
          <p:cNvPr id="54" name="Image 1" descr="ClipboardList icon">    </p:cNvPr>
          <p:cNvPicPr>
            <a:picLocks noChangeAspect="1"/>
          </p:cNvPicPr>
          <p:nvPr/>
        </p:nvPicPr>
        <p:blipFill>
          <a:blip r:embed="rId10"/>
          <a:stretch>
            <a:fillRect/>
          </a:stretch>
        </p:blipFill>
        <p:spPr>
          <a:xfrm>
            <a:off x="4611319" y="5617159"/>
            <a:ext cx="241402" cy="241402"/>
          </a:xfrm>
          <a:prstGeom prst="rect">
            <a:avLst/>
          </a:prstGeom>
        </p:spPr>
      </p:pic>
      <p:sp>
        <p:nvSpPr>
          <p:cNvPr id="55" name="Text 51"/>
          <p:cNvSpPr txBox="1"/>
          <p:nvPr/>
        </p:nvSpPr>
        <p:spPr>
          <a:xfrm>
            <a:off x="516636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Staff packet</a:t>
            </a:r>
            <a:endParaRPr lang="en-US" sz="1300" dirty="0"/>
          </a:p>
        </p:txBody>
      </p:sp>
      <p:sp>
        <p:nvSpPr>
          <p:cNvPr id="56" name="Text 52"/>
          <p:cNvSpPr txBox="1"/>
          <p:nvPr/>
        </p:nvSpPr>
        <p:spPr>
          <a:xfrm>
            <a:off x="516636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readings, due actions, reasons</a:t>
            </a:r>
            <a:endParaRPr lang="en-US" sz="1100" dirty="0"/>
          </a:p>
        </p:txBody>
      </p:sp>
      <p:sp>
        <p:nvSpPr>
          <p:cNvPr id="57" name="Output chip"/>
          <p:cNvSpPr/>
          <p:nvPr/>
        </p:nvSpPr>
        <p:spPr>
          <a:xfrm>
            <a:off x="8046720" y="5349240"/>
            <a:ext cx="3611880" cy="777240"/>
          </a:xfrm>
          <a:prstGeom prst="roundRect">
            <a:avLst>
              <a:gd name="adj" fmla="val 16471"/>
            </a:avLst>
          </a:prstGeom>
          <a:solidFill>
            <a:srgbClr val="FFFFFF">
              <a:alpha val="8000"/>
            </a:srgbClr>
          </a:solidFill>
          <a:ln w="12700">
            <a:solidFill>
              <a:srgbClr val="2B4DA8"/>
            </a:solidFill>
            <a:prstDash val="solid"/>
          </a:ln>
        </p:spPr>
      </p:sp>
      <p:sp>
        <p:nvSpPr>
          <p:cNvPr id="58" name="Icon dot"/>
          <p:cNvSpPr/>
          <p:nvPr/>
        </p:nvSpPr>
        <p:spPr>
          <a:xfrm>
            <a:off x="8229600" y="5486400"/>
            <a:ext cx="502920" cy="502920"/>
          </a:xfrm>
          <a:prstGeom prst="ellipse">
            <a:avLst/>
          </a:prstGeom>
          <a:solidFill>
            <a:srgbClr val="1547C8"/>
          </a:solidFill>
          <a:ln w="12700">
            <a:solidFill>
              <a:srgbClr val="1547C8"/>
            </a:solidFill>
            <a:prstDash val="solid"/>
          </a:ln>
        </p:spPr>
      </p:sp>
      <p:pic>
        <p:nvPicPr>
          <p:cNvPr id="59" name="Image 2" descr="ShieldAlt icon">    </p:cNvPr>
          <p:cNvPicPr>
            <a:picLocks noChangeAspect="1"/>
          </p:cNvPicPr>
          <p:nvPr/>
        </p:nvPicPr>
        <p:blipFill>
          <a:blip r:embed="rId11"/>
          <a:stretch>
            <a:fillRect/>
          </a:stretch>
        </p:blipFill>
        <p:spPr>
          <a:xfrm>
            <a:off x="8360359" y="5617159"/>
            <a:ext cx="241402" cy="241402"/>
          </a:xfrm>
          <a:prstGeom prst="rect">
            <a:avLst/>
          </a:prstGeom>
        </p:spPr>
      </p:pic>
      <p:sp>
        <p:nvSpPr>
          <p:cNvPr id="60" name="Text 55"/>
          <p:cNvSpPr txBox="1"/>
          <p:nvPr/>
        </p:nvSpPr>
        <p:spPr>
          <a:xfrm>
            <a:off x="8915400" y="54406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Audit record</a:t>
            </a:r>
            <a:endParaRPr lang="en-US" sz="1300" dirty="0"/>
          </a:p>
        </p:txBody>
      </p:sp>
      <p:sp>
        <p:nvSpPr>
          <p:cNvPr id="61" name="Text 56"/>
          <p:cNvSpPr txBox="1"/>
          <p:nvPr/>
        </p:nvSpPr>
        <p:spPr>
          <a:xfrm>
            <a:off x="8915400" y="5733288"/>
            <a:ext cx="2651760" cy="274320"/>
          </a:xfrm>
          <a:prstGeom prst="rect">
            <a:avLst/>
          </a:prstGeom>
          <a:noFill/>
          <a:ln/>
        </p:spPr>
        <p:txBody>
          <a:bodyPr wrap="square" lIns="0" tIns="0" rIns="0" bIns="0" rtlCol="0" anchor="t"/>
          <a:lstStyle/>
          <a:p>
            <a:pPr indent="0" marL="0">
              <a:buNone/>
            </a:pPr>
            <a:r>
              <a:rPr lang="en-US" sz="1100" dirty="0">
                <a:solidFill>
                  <a:srgbClr val="CFE0FF"/>
                </a:solidFill>
              </a:rPr>
              <a:t>masked ID, no message text</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03  ·  KNOWLEDGE AND RAG</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RAG: grounded answers, or an honest gap</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RAG</a:t>
            </a:r>
            <a:endParaRPr lang="en-US" sz="950" dirty="0"/>
          </a:p>
        </p:txBody>
      </p:sp>
      <p:sp>
        <p:nvSpPr>
          <p:cNvPr id="9" name="Shape 7"/>
          <p:cNvSpPr/>
          <p:nvPr/>
        </p:nvSpPr>
        <p:spPr>
          <a:xfrm>
            <a:off x="6409944" y="6309360"/>
            <a:ext cx="73152" cy="73152"/>
          </a:xfrm>
          <a:prstGeom prst="ellipse">
            <a:avLst/>
          </a:prstGeom>
          <a:solidFill>
            <a:schemeClr val="accent1"/>
          </a:solidFill>
          <a:ln w="12700">
            <a:solidFill>
              <a:schemeClr val="accent1"/>
            </a:solidFill>
            <a:prstDash val="solid"/>
          </a:ln>
        </p:spPr>
      </p:sp>
      <p:sp>
        <p:nvSpPr>
          <p:cNvPr id="10" name="Text 8"/>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Stair step"/>
          <p:cNvSpPr/>
          <p:nvPr/>
        </p:nvSpPr>
        <p:spPr>
          <a:xfrm>
            <a:off x="548640" y="1417320"/>
            <a:ext cx="2606040" cy="1234440"/>
          </a:xfrm>
          <a:prstGeom prst="roundRect">
            <a:avLst>
              <a:gd name="adj" fmla="val 10370"/>
            </a:avLst>
          </a:prstGeom>
          <a:solidFill>
            <a:srgbClr val="0A1F5C"/>
          </a:solidFill>
          <a:ln w="15875">
            <a:solidFill>
              <a:srgbClr val="3CC3F0"/>
            </a:solidFill>
            <a:prstDash val="solid"/>
          </a:ln>
        </p:spPr>
      </p:sp>
      <p:sp>
        <p:nvSpPr>
          <p:cNvPr id="15" name="Icon dot"/>
          <p:cNvSpPr/>
          <p:nvPr/>
        </p:nvSpPr>
        <p:spPr>
          <a:xfrm>
            <a:off x="731520" y="1600200"/>
            <a:ext cx="502920" cy="502920"/>
          </a:xfrm>
          <a:prstGeom prst="ellipse">
            <a:avLst/>
          </a:prstGeom>
          <a:solidFill>
            <a:srgbClr val="1547C8"/>
          </a:solidFill>
          <a:ln w="12700">
            <a:solidFill>
              <a:srgbClr val="1547C8"/>
            </a:solidFill>
            <a:prstDash val="solid"/>
          </a:ln>
        </p:spPr>
      </p:sp>
      <p:pic>
        <p:nvPicPr>
          <p:cNvPr id="16" name="Image 0" descr="Cloud icon">    </p:cNvPr>
          <p:cNvPicPr>
            <a:picLocks noChangeAspect="1"/>
          </p:cNvPicPr>
          <p:nvPr/>
        </p:nvPicPr>
        <p:blipFill>
          <a:blip r:embed="rId9"/>
          <a:stretch>
            <a:fillRect/>
          </a:stretch>
        </p:blipFill>
        <p:spPr>
          <a:xfrm>
            <a:off x="862279" y="1730959"/>
            <a:ext cx="241402" cy="241402"/>
          </a:xfrm>
          <a:prstGeom prst="rect">
            <a:avLst/>
          </a:prstGeom>
        </p:spPr>
      </p:pic>
      <p:sp>
        <p:nvSpPr>
          <p:cNvPr id="17" name="Text 14"/>
          <p:cNvSpPr txBox="1"/>
          <p:nvPr/>
        </p:nvSpPr>
        <p:spPr>
          <a:xfrm>
            <a:off x="731520" y="2167128"/>
            <a:ext cx="2286000" cy="256032"/>
          </a:xfrm>
          <a:prstGeom prst="rect">
            <a:avLst/>
          </a:prstGeom>
          <a:noFill/>
          <a:ln/>
        </p:spPr>
        <p:txBody>
          <a:bodyPr wrap="square" lIns="0" tIns="0" rIns="0" bIns="0" rtlCol="0" anchor="t"/>
          <a:lstStyle/>
          <a:p>
            <a:pPr indent="0" marL="0">
              <a:buNone/>
            </a:pPr>
            <a:r>
              <a:rPr lang="en-US" sz="1400" b="1" dirty="0">
                <a:solidFill>
                  <a:schemeClr val="bg1"/>
                </a:solidFill>
              </a:rPr>
              <a:t>Blob Storage</a:t>
            </a:r>
            <a:endParaRPr lang="en-US" sz="1400" dirty="0"/>
          </a:p>
        </p:txBody>
      </p:sp>
      <p:sp>
        <p:nvSpPr>
          <p:cNvPr id="18" name="Text 15"/>
          <p:cNvSpPr txBox="1"/>
          <p:nvPr/>
        </p:nvSpPr>
        <p:spPr>
          <a:xfrm>
            <a:off x="731520" y="2404872"/>
            <a:ext cx="2286000" cy="228600"/>
          </a:xfrm>
          <a:prstGeom prst="rect">
            <a:avLst/>
          </a:prstGeom>
          <a:noFill/>
          <a:ln/>
        </p:spPr>
        <p:txBody>
          <a:bodyPr wrap="square" lIns="0" tIns="0" rIns="0" bIns="0" rtlCol="0" anchor="t"/>
          <a:lstStyle/>
          <a:p>
            <a:pPr indent="0" marL="0">
              <a:buNone/>
            </a:pPr>
            <a:r>
              <a:rPr lang="en-US" sz="1050" dirty="0">
                <a:solidFill>
                  <a:srgbClr val="CFE0FF"/>
                </a:solidFill>
              </a:rPr>
              <a:t>Approved Markdown articles</a:t>
            </a:r>
            <a:endParaRPr lang="en-US" sz="1050" dirty="0"/>
          </a:p>
        </p:txBody>
      </p:sp>
      <p:sp>
        <p:nvSpPr>
          <p:cNvPr id="19" name="Text 16"/>
          <p:cNvSpPr txBox="1"/>
          <p:nvPr/>
        </p:nvSpPr>
        <p:spPr>
          <a:xfrm>
            <a:off x="2560320" y="158191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1</a:t>
            </a:r>
            <a:endParaRPr lang="en-US" sz="2200" dirty="0"/>
          </a:p>
        </p:txBody>
      </p:sp>
      <p:pic>
        <p:nvPicPr>
          <p:cNvPr id="20" name="Image 1" descr="Next">    </p:cNvPr>
          <p:cNvPicPr>
            <a:picLocks noChangeAspect="1"/>
          </p:cNvPicPr>
          <p:nvPr/>
        </p:nvPicPr>
        <p:blipFill>
          <a:blip r:embed="rId10"/>
          <a:stretch>
            <a:fillRect/>
          </a:stretch>
        </p:blipFill>
        <p:spPr>
          <a:xfrm>
            <a:off x="3246120" y="1920240"/>
            <a:ext cx="201168" cy="201168"/>
          </a:xfrm>
          <a:prstGeom prst="rect">
            <a:avLst/>
          </a:prstGeom>
        </p:spPr>
      </p:pic>
      <p:sp>
        <p:nvSpPr>
          <p:cNvPr id="21" name="Stair step"/>
          <p:cNvSpPr/>
          <p:nvPr/>
        </p:nvSpPr>
        <p:spPr>
          <a:xfrm>
            <a:off x="3383280" y="2057400"/>
            <a:ext cx="2606040" cy="1234440"/>
          </a:xfrm>
          <a:prstGeom prst="roundRect">
            <a:avLst>
              <a:gd name="adj" fmla="val 10370"/>
            </a:avLst>
          </a:prstGeom>
          <a:solidFill>
            <a:srgbClr val="0A1F5C"/>
          </a:solidFill>
          <a:ln w="15875">
            <a:solidFill>
              <a:srgbClr val="3CC3F0"/>
            </a:solidFill>
            <a:prstDash val="solid"/>
          </a:ln>
        </p:spPr>
      </p:sp>
      <p:sp>
        <p:nvSpPr>
          <p:cNvPr id="22" name="Icon dot"/>
          <p:cNvSpPr/>
          <p:nvPr/>
        </p:nvSpPr>
        <p:spPr>
          <a:xfrm>
            <a:off x="3566160" y="2240280"/>
            <a:ext cx="502920" cy="502920"/>
          </a:xfrm>
          <a:prstGeom prst="ellipse">
            <a:avLst/>
          </a:prstGeom>
          <a:solidFill>
            <a:srgbClr val="1547C8"/>
          </a:solidFill>
          <a:ln w="12700">
            <a:solidFill>
              <a:srgbClr val="1547C8"/>
            </a:solidFill>
            <a:prstDash val="solid"/>
          </a:ln>
        </p:spPr>
      </p:sp>
      <p:pic>
        <p:nvPicPr>
          <p:cNvPr id="23" name="Image 2" descr="Search icon">    </p:cNvPr>
          <p:cNvPicPr>
            <a:picLocks noChangeAspect="1"/>
          </p:cNvPicPr>
          <p:nvPr/>
        </p:nvPicPr>
        <p:blipFill>
          <a:blip r:embed="rId11"/>
          <a:stretch>
            <a:fillRect/>
          </a:stretch>
        </p:blipFill>
        <p:spPr>
          <a:xfrm>
            <a:off x="3696919" y="2371039"/>
            <a:ext cx="241402" cy="241402"/>
          </a:xfrm>
          <a:prstGeom prst="rect">
            <a:avLst/>
          </a:prstGeom>
        </p:spPr>
      </p:pic>
      <p:sp>
        <p:nvSpPr>
          <p:cNvPr id="24" name="Text 19"/>
          <p:cNvSpPr txBox="1"/>
          <p:nvPr/>
        </p:nvSpPr>
        <p:spPr>
          <a:xfrm>
            <a:off x="3566160" y="2807208"/>
            <a:ext cx="2286000" cy="256032"/>
          </a:xfrm>
          <a:prstGeom prst="rect">
            <a:avLst/>
          </a:prstGeom>
          <a:noFill/>
          <a:ln/>
        </p:spPr>
        <p:txBody>
          <a:bodyPr wrap="square" lIns="0" tIns="0" rIns="0" bIns="0" rtlCol="0" anchor="t"/>
          <a:lstStyle/>
          <a:p>
            <a:pPr indent="0" marL="0">
              <a:buNone/>
            </a:pPr>
            <a:r>
              <a:rPr lang="en-US" sz="1400" b="1" dirty="0">
                <a:solidFill>
                  <a:schemeClr val="bg1"/>
                </a:solidFill>
              </a:rPr>
              <a:t>Azure AI Search</a:t>
            </a:r>
            <a:endParaRPr lang="en-US" sz="1400" dirty="0"/>
          </a:p>
        </p:txBody>
      </p:sp>
      <p:sp>
        <p:nvSpPr>
          <p:cNvPr id="25" name="Text 20"/>
          <p:cNvSpPr txBox="1"/>
          <p:nvPr/>
        </p:nvSpPr>
        <p:spPr>
          <a:xfrm>
            <a:off x="3566160" y="3044952"/>
            <a:ext cx="2286000" cy="228600"/>
          </a:xfrm>
          <a:prstGeom prst="rect">
            <a:avLst/>
          </a:prstGeom>
          <a:noFill/>
          <a:ln/>
        </p:spPr>
        <p:txBody>
          <a:bodyPr wrap="square" lIns="0" tIns="0" rIns="0" bIns="0" rtlCol="0" anchor="t"/>
          <a:lstStyle/>
          <a:p>
            <a:pPr indent="0" marL="0">
              <a:buNone/>
            </a:pPr>
            <a:r>
              <a:rPr lang="en-US" sz="1050" dirty="0">
                <a:solidFill>
                  <a:srgbClr val="CFE0FF"/>
                </a:solidFill>
              </a:rPr>
              <a:t>Education, FAQ, Care-plan indexes</a:t>
            </a:r>
            <a:endParaRPr lang="en-US" sz="1050" dirty="0"/>
          </a:p>
        </p:txBody>
      </p:sp>
      <p:sp>
        <p:nvSpPr>
          <p:cNvPr id="26" name="Text 21"/>
          <p:cNvSpPr txBox="1"/>
          <p:nvPr/>
        </p:nvSpPr>
        <p:spPr>
          <a:xfrm>
            <a:off x="5394960" y="222199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2</a:t>
            </a:r>
            <a:endParaRPr lang="en-US" sz="2200" dirty="0"/>
          </a:p>
        </p:txBody>
      </p:sp>
      <p:pic>
        <p:nvPicPr>
          <p:cNvPr id="27" name="Image 3" descr="Next">    </p:cNvPr>
          <p:cNvPicPr>
            <a:picLocks noChangeAspect="1"/>
          </p:cNvPicPr>
          <p:nvPr/>
        </p:nvPicPr>
        <p:blipFill>
          <a:blip r:embed="rId12"/>
          <a:stretch>
            <a:fillRect/>
          </a:stretch>
        </p:blipFill>
        <p:spPr>
          <a:xfrm>
            <a:off x="6080760" y="2560320"/>
            <a:ext cx="201168" cy="201168"/>
          </a:xfrm>
          <a:prstGeom prst="rect">
            <a:avLst/>
          </a:prstGeom>
        </p:spPr>
      </p:pic>
      <p:sp>
        <p:nvSpPr>
          <p:cNvPr id="28" name="Stair step"/>
          <p:cNvSpPr/>
          <p:nvPr/>
        </p:nvSpPr>
        <p:spPr>
          <a:xfrm>
            <a:off x="6217920" y="2697480"/>
            <a:ext cx="2606040" cy="1234440"/>
          </a:xfrm>
          <a:prstGeom prst="roundRect">
            <a:avLst>
              <a:gd name="adj" fmla="val 10370"/>
            </a:avLst>
          </a:prstGeom>
          <a:solidFill>
            <a:srgbClr val="0A1F5C"/>
          </a:solidFill>
          <a:ln w="15875">
            <a:solidFill>
              <a:srgbClr val="3CC3F0"/>
            </a:solidFill>
            <a:prstDash val="solid"/>
          </a:ln>
        </p:spPr>
      </p:sp>
      <p:sp>
        <p:nvSpPr>
          <p:cNvPr id="29" name="Icon dot"/>
          <p:cNvSpPr/>
          <p:nvPr/>
        </p:nvSpPr>
        <p:spPr>
          <a:xfrm>
            <a:off x="6400800" y="2880360"/>
            <a:ext cx="502920" cy="502920"/>
          </a:xfrm>
          <a:prstGeom prst="ellipse">
            <a:avLst/>
          </a:prstGeom>
          <a:solidFill>
            <a:srgbClr val="1547C8"/>
          </a:solidFill>
          <a:ln w="12700">
            <a:solidFill>
              <a:srgbClr val="1547C8"/>
            </a:solidFill>
            <a:prstDash val="solid"/>
          </a:ln>
        </p:spPr>
      </p:sp>
      <p:pic>
        <p:nvPicPr>
          <p:cNvPr id="30" name="Image 4" descr="BookMedical icon">    </p:cNvPr>
          <p:cNvPicPr>
            <a:picLocks noChangeAspect="1"/>
          </p:cNvPicPr>
          <p:nvPr/>
        </p:nvPicPr>
        <p:blipFill>
          <a:blip r:embed="rId13"/>
          <a:stretch>
            <a:fillRect/>
          </a:stretch>
        </p:blipFill>
        <p:spPr>
          <a:xfrm>
            <a:off x="6531559" y="3011119"/>
            <a:ext cx="241402" cy="241402"/>
          </a:xfrm>
          <a:prstGeom prst="rect">
            <a:avLst/>
          </a:prstGeom>
        </p:spPr>
      </p:pic>
      <p:sp>
        <p:nvSpPr>
          <p:cNvPr id="31" name="Text 24"/>
          <p:cNvSpPr txBox="1"/>
          <p:nvPr/>
        </p:nvSpPr>
        <p:spPr>
          <a:xfrm>
            <a:off x="6400800" y="3447288"/>
            <a:ext cx="2286000" cy="256032"/>
          </a:xfrm>
          <a:prstGeom prst="rect">
            <a:avLst/>
          </a:prstGeom>
          <a:noFill/>
          <a:ln/>
        </p:spPr>
        <p:txBody>
          <a:bodyPr wrap="square" lIns="0" tIns="0" rIns="0" bIns="0" rtlCol="0" anchor="t"/>
          <a:lstStyle/>
          <a:p>
            <a:pPr indent="0" marL="0">
              <a:buNone/>
            </a:pPr>
            <a:r>
              <a:rPr lang="en-US" sz="1400" b="1" dirty="0">
                <a:solidFill>
                  <a:schemeClr val="bg1"/>
                </a:solidFill>
              </a:rPr>
              <a:t>Education RAG agent</a:t>
            </a:r>
            <a:endParaRPr lang="en-US" sz="1400" dirty="0"/>
          </a:p>
        </p:txBody>
      </p:sp>
      <p:sp>
        <p:nvSpPr>
          <p:cNvPr id="32" name="Text 25"/>
          <p:cNvSpPr txBox="1"/>
          <p:nvPr/>
        </p:nvSpPr>
        <p:spPr>
          <a:xfrm>
            <a:off x="6400800" y="3685032"/>
            <a:ext cx="2286000" cy="228600"/>
          </a:xfrm>
          <a:prstGeom prst="rect">
            <a:avLst/>
          </a:prstGeom>
          <a:noFill/>
          <a:ln/>
        </p:spPr>
        <p:txBody>
          <a:bodyPr wrap="square" lIns="0" tIns="0" rIns="0" bIns="0" rtlCol="0" anchor="t"/>
          <a:lstStyle/>
          <a:p>
            <a:pPr indent="0" marL="0">
              <a:buNone/>
            </a:pPr>
            <a:r>
              <a:rPr lang="en-US" sz="1050" dirty="0">
                <a:solidFill>
                  <a:srgbClr val="CFE0FF"/>
                </a:solidFill>
              </a:rPr>
              <a:t>Answers only from retrieved text</a:t>
            </a:r>
            <a:endParaRPr lang="en-US" sz="1050" dirty="0"/>
          </a:p>
        </p:txBody>
      </p:sp>
      <p:sp>
        <p:nvSpPr>
          <p:cNvPr id="33" name="Text 26"/>
          <p:cNvSpPr txBox="1"/>
          <p:nvPr/>
        </p:nvSpPr>
        <p:spPr>
          <a:xfrm>
            <a:off x="8229600" y="286207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3</a:t>
            </a:r>
            <a:endParaRPr lang="en-US" sz="2200" dirty="0"/>
          </a:p>
        </p:txBody>
      </p:sp>
      <p:pic>
        <p:nvPicPr>
          <p:cNvPr id="34" name="Image 5" descr="Next">    </p:cNvPr>
          <p:cNvPicPr>
            <a:picLocks noChangeAspect="1"/>
          </p:cNvPicPr>
          <p:nvPr/>
        </p:nvPicPr>
        <p:blipFill>
          <a:blip r:embed="rId14"/>
          <a:stretch>
            <a:fillRect/>
          </a:stretch>
        </p:blipFill>
        <p:spPr>
          <a:xfrm>
            <a:off x="8915400" y="3200400"/>
            <a:ext cx="201168" cy="201168"/>
          </a:xfrm>
          <a:prstGeom prst="rect">
            <a:avLst/>
          </a:prstGeom>
        </p:spPr>
      </p:pic>
      <p:sp>
        <p:nvSpPr>
          <p:cNvPr id="35" name="Stair step"/>
          <p:cNvSpPr/>
          <p:nvPr/>
        </p:nvSpPr>
        <p:spPr>
          <a:xfrm>
            <a:off x="9052560" y="3337560"/>
            <a:ext cx="2606040" cy="1234440"/>
          </a:xfrm>
          <a:prstGeom prst="roundRect">
            <a:avLst>
              <a:gd name="adj" fmla="val 10370"/>
            </a:avLst>
          </a:prstGeom>
          <a:solidFill>
            <a:srgbClr val="1547C8"/>
          </a:solidFill>
          <a:ln w="31750">
            <a:solidFill>
              <a:srgbClr val="3CC3F0"/>
            </a:solidFill>
            <a:prstDash val="solid"/>
          </a:ln>
        </p:spPr>
      </p:sp>
      <p:sp>
        <p:nvSpPr>
          <p:cNvPr id="36" name="Icon dot"/>
          <p:cNvSpPr/>
          <p:nvPr/>
        </p:nvSpPr>
        <p:spPr>
          <a:xfrm>
            <a:off x="9235440" y="3520440"/>
            <a:ext cx="502920" cy="502920"/>
          </a:xfrm>
          <a:prstGeom prst="ellipse">
            <a:avLst/>
          </a:prstGeom>
          <a:solidFill>
            <a:srgbClr val="3CC3F0"/>
          </a:solidFill>
          <a:ln w="12700">
            <a:solidFill>
              <a:srgbClr val="3CC3F0"/>
            </a:solidFill>
            <a:prstDash val="solid"/>
          </a:ln>
        </p:spPr>
      </p:sp>
      <p:pic>
        <p:nvPicPr>
          <p:cNvPr id="37" name="Image 6" descr="CheckCircle icon">    </p:cNvPr>
          <p:cNvPicPr>
            <a:picLocks noChangeAspect="1"/>
          </p:cNvPicPr>
          <p:nvPr/>
        </p:nvPicPr>
        <p:blipFill>
          <a:blip r:embed="rId15"/>
          <a:stretch>
            <a:fillRect/>
          </a:stretch>
        </p:blipFill>
        <p:spPr>
          <a:xfrm>
            <a:off x="9366199" y="3651199"/>
            <a:ext cx="241402" cy="241402"/>
          </a:xfrm>
          <a:prstGeom prst="rect">
            <a:avLst/>
          </a:prstGeom>
        </p:spPr>
      </p:pic>
      <p:sp>
        <p:nvSpPr>
          <p:cNvPr id="38" name="Text 29"/>
          <p:cNvSpPr txBox="1"/>
          <p:nvPr/>
        </p:nvSpPr>
        <p:spPr>
          <a:xfrm>
            <a:off x="9235440" y="4087368"/>
            <a:ext cx="2286000" cy="256032"/>
          </a:xfrm>
          <a:prstGeom prst="rect">
            <a:avLst/>
          </a:prstGeom>
          <a:noFill/>
          <a:ln/>
        </p:spPr>
        <p:txBody>
          <a:bodyPr wrap="square" lIns="0" tIns="0" rIns="0" bIns="0" rtlCol="0" anchor="t"/>
          <a:lstStyle/>
          <a:p>
            <a:pPr indent="0" marL="0">
              <a:buNone/>
            </a:pPr>
            <a:r>
              <a:rPr lang="en-US" sz="1400" b="1" dirty="0">
                <a:solidFill>
                  <a:schemeClr val="bg1"/>
                </a:solidFill>
              </a:rPr>
              <a:t>Citation validator</a:t>
            </a:r>
            <a:endParaRPr lang="en-US" sz="1400" dirty="0"/>
          </a:p>
        </p:txBody>
      </p:sp>
      <p:sp>
        <p:nvSpPr>
          <p:cNvPr id="39" name="Text 30"/>
          <p:cNvSpPr txBox="1"/>
          <p:nvPr/>
        </p:nvSpPr>
        <p:spPr>
          <a:xfrm>
            <a:off x="9235440" y="4325112"/>
            <a:ext cx="2286000" cy="228600"/>
          </a:xfrm>
          <a:prstGeom prst="rect">
            <a:avLst/>
          </a:prstGeom>
          <a:noFill/>
          <a:ln/>
        </p:spPr>
        <p:txBody>
          <a:bodyPr wrap="square" lIns="0" tIns="0" rIns="0" bIns="0" rtlCol="0" anchor="t"/>
          <a:lstStyle/>
          <a:p>
            <a:pPr indent="0" marL="0">
              <a:buNone/>
            </a:pPr>
            <a:r>
              <a:rPr lang="en-US" sz="1050" dirty="0">
                <a:solidFill>
                  <a:srgbClr val="CFE0FF"/>
                </a:solidFill>
              </a:rPr>
              <a:t>Code checks before anyone sees it</a:t>
            </a:r>
            <a:endParaRPr lang="en-US" sz="1050" dirty="0"/>
          </a:p>
        </p:txBody>
      </p:sp>
      <p:sp>
        <p:nvSpPr>
          <p:cNvPr id="40" name="Text 31"/>
          <p:cNvSpPr txBox="1"/>
          <p:nvPr/>
        </p:nvSpPr>
        <p:spPr>
          <a:xfrm>
            <a:off x="11064240" y="350215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4</a:t>
            </a:r>
            <a:endParaRPr lang="en-US" sz="2200" dirty="0"/>
          </a:p>
        </p:txBody>
      </p:sp>
      <p:sp>
        <p:nvSpPr>
          <p:cNvPr id="41" name="Validator checks"/>
          <p:cNvSpPr/>
          <p:nvPr/>
        </p:nvSpPr>
        <p:spPr>
          <a:xfrm>
            <a:off x="548640" y="3840480"/>
            <a:ext cx="5120640" cy="2286000"/>
          </a:xfrm>
          <a:prstGeom prst="roundRect">
            <a:avLst>
              <a:gd name="adj" fmla="val 5600"/>
            </a:avLst>
          </a:prstGeom>
          <a:solidFill>
            <a:srgbClr val="FFFFFF">
              <a:alpha val="8000"/>
            </a:srgbClr>
          </a:solidFill>
          <a:ln w="12700">
            <a:solidFill>
              <a:srgbClr val="2B4DA8"/>
            </a:solidFill>
            <a:prstDash val="solid"/>
          </a:ln>
        </p:spPr>
      </p:sp>
      <p:sp>
        <p:nvSpPr>
          <p:cNvPr id="42" name="Text 33"/>
          <p:cNvSpPr txBox="1"/>
          <p:nvPr/>
        </p:nvSpPr>
        <p:spPr>
          <a:xfrm>
            <a:off x="822960" y="4041648"/>
            <a:ext cx="4114800" cy="228600"/>
          </a:xfrm>
          <a:prstGeom prst="rect">
            <a:avLst/>
          </a:prstGeom>
          <a:noFill/>
          <a:ln/>
        </p:spPr>
        <p:txBody>
          <a:bodyPr wrap="square" lIns="0" tIns="0" rIns="0" bIns="0" rtlCol="0" anchor="t"/>
          <a:lstStyle/>
          <a:p>
            <a:pPr indent="0" marL="0">
              <a:buNone/>
            </a:pPr>
            <a:r>
              <a:rPr lang="en-US" sz="1050" b="1" spc="300" kern="0" dirty="0">
                <a:solidFill>
                  <a:srgbClr val="3CC3F0"/>
                </a:solidFill>
              </a:rPr>
              <a:t>THE VALIDATOR CHECKS</a:t>
            </a:r>
            <a:endParaRPr lang="en-US" sz="1050" dirty="0"/>
          </a:p>
        </p:txBody>
      </p:sp>
      <p:pic>
        <p:nvPicPr>
          <p:cNvPr id="43" name="Image 7" descr="Check">    </p:cNvPr>
          <p:cNvPicPr>
            <a:picLocks noChangeAspect="1"/>
          </p:cNvPicPr>
          <p:nvPr/>
        </p:nvPicPr>
        <p:blipFill>
          <a:blip r:embed="rId16"/>
          <a:stretch>
            <a:fillRect/>
          </a:stretch>
        </p:blipFill>
        <p:spPr>
          <a:xfrm>
            <a:off x="822960" y="4462272"/>
            <a:ext cx="237744" cy="237744"/>
          </a:xfrm>
          <a:prstGeom prst="rect">
            <a:avLst/>
          </a:prstGeom>
        </p:spPr>
      </p:pic>
      <p:sp>
        <p:nvSpPr>
          <p:cNvPr id="44" name="Text 34"/>
          <p:cNvSpPr txBox="1"/>
          <p:nvPr/>
        </p:nvSpPr>
        <p:spPr>
          <a:xfrm>
            <a:off x="1234440" y="4434840"/>
            <a:ext cx="4206240" cy="310896"/>
          </a:xfrm>
          <a:prstGeom prst="rect">
            <a:avLst/>
          </a:prstGeom>
          <a:noFill/>
          <a:ln/>
        </p:spPr>
        <p:txBody>
          <a:bodyPr wrap="square" lIns="0" tIns="0" rIns="0" bIns="0" rtlCol="0" anchor="ctr"/>
          <a:lstStyle/>
          <a:p>
            <a:pPr indent="0" marL="0">
              <a:buNone/>
            </a:pPr>
            <a:r>
              <a:rPr lang="en-US" sz="1350" dirty="0">
                <a:solidFill>
                  <a:schemeClr val="bg1"/>
                </a:solidFill>
              </a:rPr>
              <a:t>The article ID exists</a:t>
            </a:r>
            <a:endParaRPr lang="en-US" sz="1350" dirty="0"/>
          </a:p>
        </p:txBody>
      </p:sp>
      <p:pic>
        <p:nvPicPr>
          <p:cNvPr id="45" name="Image 8" descr="Check">    </p:cNvPr>
          <p:cNvPicPr>
            <a:picLocks noChangeAspect="1"/>
          </p:cNvPicPr>
          <p:nvPr/>
        </p:nvPicPr>
        <p:blipFill>
          <a:blip r:embed="rId17"/>
          <a:stretch>
            <a:fillRect/>
          </a:stretch>
        </p:blipFill>
        <p:spPr>
          <a:xfrm>
            <a:off x="822960" y="4846320"/>
            <a:ext cx="237744" cy="237744"/>
          </a:xfrm>
          <a:prstGeom prst="rect">
            <a:avLst/>
          </a:prstGeom>
        </p:spPr>
      </p:pic>
      <p:sp>
        <p:nvSpPr>
          <p:cNvPr id="46" name="Text 35"/>
          <p:cNvSpPr txBox="1"/>
          <p:nvPr/>
        </p:nvSpPr>
        <p:spPr>
          <a:xfrm>
            <a:off x="1234440" y="4818888"/>
            <a:ext cx="4206240" cy="310896"/>
          </a:xfrm>
          <a:prstGeom prst="rect">
            <a:avLst/>
          </a:prstGeom>
          <a:noFill/>
          <a:ln/>
        </p:spPr>
        <p:txBody>
          <a:bodyPr wrap="square" lIns="0" tIns="0" rIns="0" bIns="0" rtlCol="0" anchor="ctr"/>
          <a:lstStyle/>
          <a:p>
            <a:pPr indent="0" marL="0">
              <a:buNone/>
            </a:pPr>
            <a:r>
              <a:rPr lang="en-US" sz="1350" dirty="0">
                <a:solidFill>
                  <a:schemeClr val="bg1"/>
                </a:solidFill>
              </a:rPr>
              <a:t>Its status is Approved</a:t>
            </a:r>
            <a:endParaRPr lang="en-US" sz="1350" dirty="0"/>
          </a:p>
        </p:txBody>
      </p:sp>
      <p:pic>
        <p:nvPicPr>
          <p:cNvPr id="47" name="Image 9" descr="Check">    </p:cNvPr>
          <p:cNvPicPr>
            <a:picLocks noChangeAspect="1"/>
          </p:cNvPicPr>
          <p:nvPr/>
        </p:nvPicPr>
        <p:blipFill>
          <a:blip r:embed="rId18"/>
          <a:stretch>
            <a:fillRect/>
          </a:stretch>
        </p:blipFill>
        <p:spPr>
          <a:xfrm>
            <a:off x="822960" y="5230368"/>
            <a:ext cx="237744" cy="237744"/>
          </a:xfrm>
          <a:prstGeom prst="rect">
            <a:avLst/>
          </a:prstGeom>
        </p:spPr>
      </p:pic>
      <p:sp>
        <p:nvSpPr>
          <p:cNvPr id="48" name="Text 36"/>
          <p:cNvSpPr txBox="1"/>
          <p:nvPr/>
        </p:nvSpPr>
        <p:spPr>
          <a:xfrm>
            <a:off x="1234440" y="5202936"/>
            <a:ext cx="4206240" cy="310896"/>
          </a:xfrm>
          <a:prstGeom prst="rect">
            <a:avLst/>
          </a:prstGeom>
          <a:noFill/>
          <a:ln/>
        </p:spPr>
        <p:txBody>
          <a:bodyPr wrap="square" lIns="0" tIns="0" rIns="0" bIns="0" rtlCol="0" anchor="ctr"/>
          <a:lstStyle/>
          <a:p>
            <a:pPr indent="0" marL="0">
              <a:buNone/>
            </a:pPr>
            <a:r>
              <a:rPr lang="en-US" sz="1350" dirty="0">
                <a:solidFill>
                  <a:schemeClr val="bg1"/>
                </a:solidFill>
              </a:rPr>
              <a:t>It fits the member's program</a:t>
            </a:r>
            <a:endParaRPr lang="en-US" sz="1350" dirty="0"/>
          </a:p>
        </p:txBody>
      </p:sp>
      <p:pic>
        <p:nvPicPr>
          <p:cNvPr id="49" name="Image 10" descr="Check">    </p:cNvPr>
          <p:cNvPicPr>
            <a:picLocks noChangeAspect="1"/>
          </p:cNvPicPr>
          <p:nvPr/>
        </p:nvPicPr>
        <p:blipFill>
          <a:blip r:embed="rId19"/>
          <a:stretch>
            <a:fillRect/>
          </a:stretch>
        </p:blipFill>
        <p:spPr>
          <a:xfrm>
            <a:off x="822960" y="5614416"/>
            <a:ext cx="237744" cy="237744"/>
          </a:xfrm>
          <a:prstGeom prst="rect">
            <a:avLst/>
          </a:prstGeom>
        </p:spPr>
      </p:pic>
      <p:sp>
        <p:nvSpPr>
          <p:cNvPr id="50" name="Text 37"/>
          <p:cNvSpPr txBox="1"/>
          <p:nvPr/>
        </p:nvSpPr>
        <p:spPr>
          <a:xfrm>
            <a:off x="1234440" y="5586984"/>
            <a:ext cx="4206240" cy="310896"/>
          </a:xfrm>
          <a:prstGeom prst="rect">
            <a:avLst/>
          </a:prstGeom>
          <a:noFill/>
          <a:ln/>
        </p:spPr>
        <p:txBody>
          <a:bodyPr wrap="square" lIns="0" tIns="0" rIns="0" bIns="0" rtlCol="0" anchor="ctr"/>
          <a:lstStyle/>
          <a:p>
            <a:pPr indent="0" marL="0">
              <a:buNone/>
            </a:pPr>
            <a:r>
              <a:rPr lang="en-US" sz="1350" dirty="0">
                <a:solidFill>
                  <a:schemeClr val="bg1"/>
                </a:solidFill>
              </a:rPr>
              <a:t>It matches the current version</a:t>
            </a:r>
            <a:endParaRPr lang="en-US" sz="1350" dirty="0"/>
          </a:p>
        </p:txBody>
      </p:sp>
      <p:sp>
        <p:nvSpPr>
          <p:cNvPr id="51" name="Valid outcome"/>
          <p:cNvSpPr/>
          <p:nvPr/>
        </p:nvSpPr>
        <p:spPr>
          <a:xfrm>
            <a:off x="5943600" y="4846320"/>
            <a:ext cx="2834640" cy="1280160"/>
          </a:xfrm>
          <a:prstGeom prst="roundRect">
            <a:avLst>
              <a:gd name="adj" fmla="val 10000"/>
            </a:avLst>
          </a:prstGeom>
          <a:solidFill>
            <a:srgbClr val="12A36B">
              <a:alpha val="18000"/>
            </a:srgbClr>
          </a:solidFill>
          <a:ln w="12700">
            <a:solidFill>
              <a:srgbClr val="2C8F6B"/>
            </a:solidFill>
            <a:prstDash val="solid"/>
          </a:ln>
        </p:spPr>
      </p:sp>
      <p:sp>
        <p:nvSpPr>
          <p:cNvPr id="52" name="Icon dot"/>
          <p:cNvSpPr/>
          <p:nvPr/>
        </p:nvSpPr>
        <p:spPr>
          <a:xfrm>
            <a:off x="6172200" y="4983480"/>
            <a:ext cx="457200" cy="457200"/>
          </a:xfrm>
          <a:prstGeom prst="ellipse">
            <a:avLst/>
          </a:prstGeom>
          <a:solidFill>
            <a:srgbClr val="12A36B"/>
          </a:solidFill>
          <a:ln w="12700">
            <a:solidFill>
              <a:srgbClr val="12A36B"/>
            </a:solidFill>
            <a:prstDash val="solid"/>
          </a:ln>
        </p:spPr>
      </p:sp>
      <p:pic>
        <p:nvPicPr>
          <p:cNvPr id="53" name="Image 11" descr="CheckCircle icon">    </p:cNvPr>
          <p:cNvPicPr>
            <a:picLocks noChangeAspect="1"/>
          </p:cNvPicPr>
          <p:nvPr/>
        </p:nvPicPr>
        <p:blipFill>
          <a:blip r:embed="rId20"/>
          <a:stretch>
            <a:fillRect/>
          </a:stretch>
        </p:blipFill>
        <p:spPr>
          <a:xfrm>
            <a:off x="6291072" y="5102352"/>
            <a:ext cx="219456" cy="219456"/>
          </a:xfrm>
          <a:prstGeom prst="rect">
            <a:avLst/>
          </a:prstGeom>
        </p:spPr>
      </p:pic>
      <p:sp>
        <p:nvSpPr>
          <p:cNvPr id="54" name="Text 40"/>
          <p:cNvSpPr txBox="1"/>
          <p:nvPr/>
        </p:nvSpPr>
        <p:spPr>
          <a:xfrm>
            <a:off x="6766560" y="4983480"/>
            <a:ext cx="1828800" cy="457200"/>
          </a:xfrm>
          <a:prstGeom prst="rect">
            <a:avLst/>
          </a:prstGeom>
          <a:noFill/>
          <a:ln/>
        </p:spPr>
        <p:txBody>
          <a:bodyPr wrap="square" lIns="0" tIns="0" rIns="0" bIns="0" rtlCol="0" anchor="ctr"/>
          <a:lstStyle/>
          <a:p>
            <a:pPr indent="0" marL="0">
              <a:buNone/>
            </a:pPr>
            <a:r>
              <a:rPr lang="en-US" sz="1500" b="1" dirty="0">
                <a:solidFill>
                  <a:schemeClr val="bg1"/>
                </a:solidFill>
              </a:rPr>
              <a:t>Valid</a:t>
            </a:r>
            <a:endParaRPr lang="en-US" sz="1500" dirty="0"/>
          </a:p>
        </p:txBody>
      </p:sp>
      <p:sp>
        <p:nvSpPr>
          <p:cNvPr id="55" name="Text 41"/>
          <p:cNvSpPr txBox="1"/>
          <p:nvPr/>
        </p:nvSpPr>
        <p:spPr>
          <a:xfrm>
            <a:off x="6172200" y="5532120"/>
            <a:ext cx="2468880" cy="502920"/>
          </a:xfrm>
          <a:prstGeom prst="rect">
            <a:avLst/>
          </a:prstGeom>
          <a:noFill/>
          <a:ln/>
        </p:spPr>
        <p:txBody>
          <a:bodyPr wrap="square" lIns="0" tIns="0" rIns="0" bIns="0" rtlCol="0" anchor="t"/>
          <a:lstStyle/>
          <a:p>
            <a:pPr indent="0" marL="0">
              <a:buNone/>
            </a:pPr>
            <a:r>
              <a:rPr lang="en-US" sz="1150" dirty="0">
                <a:solidFill>
                  <a:srgbClr val="CFE0FF"/>
                </a:solidFill>
              </a:rPr>
              <a:t>Answer with a citation, e.g. EDU-401 (v4)</a:t>
            </a:r>
            <a:endParaRPr lang="en-US" sz="1150" dirty="0"/>
          </a:p>
        </p:txBody>
      </p:sp>
      <p:sp>
        <p:nvSpPr>
          <p:cNvPr id="56" name="Gap outcome"/>
          <p:cNvSpPr/>
          <p:nvPr/>
        </p:nvSpPr>
        <p:spPr>
          <a:xfrm>
            <a:off x="8915400" y="4846320"/>
            <a:ext cx="2724912" cy="1280160"/>
          </a:xfrm>
          <a:prstGeom prst="roundRect">
            <a:avLst>
              <a:gd name="adj" fmla="val 10000"/>
            </a:avLst>
          </a:prstGeom>
          <a:solidFill>
            <a:srgbClr val="F5A524">
              <a:alpha val="16000"/>
            </a:srgbClr>
          </a:solidFill>
          <a:ln w="12700">
            <a:solidFill>
              <a:srgbClr val="B98324"/>
            </a:solidFill>
            <a:prstDash val="solid"/>
          </a:ln>
        </p:spPr>
      </p:sp>
      <p:sp>
        <p:nvSpPr>
          <p:cNvPr id="57" name="Icon dot"/>
          <p:cNvSpPr/>
          <p:nvPr/>
        </p:nvSpPr>
        <p:spPr>
          <a:xfrm>
            <a:off x="9144000" y="4983480"/>
            <a:ext cx="457200" cy="457200"/>
          </a:xfrm>
          <a:prstGeom prst="ellipse">
            <a:avLst/>
          </a:prstGeom>
          <a:solidFill>
            <a:srgbClr val="F5A524"/>
          </a:solidFill>
          <a:ln w="12700">
            <a:solidFill>
              <a:srgbClr val="F5A524"/>
            </a:solidFill>
            <a:prstDash val="solid"/>
          </a:ln>
        </p:spPr>
      </p:sp>
      <p:pic>
        <p:nvPicPr>
          <p:cNvPr id="58" name="Image 12" descr="QuestionCircle icon">    </p:cNvPr>
          <p:cNvPicPr>
            <a:picLocks noChangeAspect="1"/>
          </p:cNvPicPr>
          <p:nvPr/>
        </p:nvPicPr>
        <p:blipFill>
          <a:blip r:embed="rId21"/>
          <a:stretch>
            <a:fillRect/>
          </a:stretch>
        </p:blipFill>
        <p:spPr>
          <a:xfrm>
            <a:off x="9262872" y="5102352"/>
            <a:ext cx="219456" cy="219456"/>
          </a:xfrm>
          <a:prstGeom prst="rect">
            <a:avLst/>
          </a:prstGeom>
        </p:spPr>
      </p:pic>
      <p:sp>
        <p:nvSpPr>
          <p:cNvPr id="59" name="Text 44"/>
          <p:cNvSpPr txBox="1"/>
          <p:nvPr/>
        </p:nvSpPr>
        <p:spPr>
          <a:xfrm>
            <a:off x="9738360" y="4983480"/>
            <a:ext cx="1737360" cy="457200"/>
          </a:xfrm>
          <a:prstGeom prst="rect">
            <a:avLst/>
          </a:prstGeom>
          <a:noFill/>
          <a:ln/>
        </p:spPr>
        <p:txBody>
          <a:bodyPr wrap="square" lIns="0" tIns="0" rIns="0" bIns="0" rtlCol="0" anchor="ctr"/>
          <a:lstStyle/>
          <a:p>
            <a:pPr indent="0" marL="0">
              <a:buNone/>
            </a:pPr>
            <a:r>
              <a:rPr lang="en-US" sz="1500" b="1" dirty="0">
                <a:solidFill>
                  <a:schemeClr val="bg1"/>
                </a:solidFill>
              </a:rPr>
              <a:t>No match</a:t>
            </a:r>
            <a:endParaRPr lang="en-US" sz="1500" dirty="0"/>
          </a:p>
        </p:txBody>
      </p:sp>
      <p:sp>
        <p:nvSpPr>
          <p:cNvPr id="60" name="Text 45"/>
          <p:cNvSpPr txBox="1"/>
          <p:nvPr/>
        </p:nvSpPr>
        <p:spPr>
          <a:xfrm>
            <a:off x="9144000" y="5532120"/>
            <a:ext cx="2331720" cy="502920"/>
          </a:xfrm>
          <a:prstGeom prst="rect">
            <a:avLst/>
          </a:prstGeom>
          <a:noFill/>
          <a:ln/>
        </p:spPr>
        <p:txBody>
          <a:bodyPr wrap="square" lIns="0" tIns="0" rIns="0" bIns="0" rtlCol="0" anchor="t"/>
          <a:lstStyle/>
          <a:p>
            <a:pPr indent="0" marL="0">
              <a:buNone/>
            </a:pPr>
            <a:r>
              <a:rPr lang="en-US" sz="1150" dirty="0">
                <a:solidFill>
                  <a:srgbClr val="CFE0FF"/>
                </a:solidFill>
              </a:rPr>
              <a:t>Say so, never guess; staff follow up</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LIVE DEMO</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Live demo: a normal, an exception and a safety path</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Demo</a:t>
            </a:r>
            <a:endParaRPr lang="en-US" sz="950" dirty="0"/>
          </a:p>
        </p:txBody>
      </p:sp>
      <p:sp>
        <p:nvSpPr>
          <p:cNvPr id="10" name="Shape 8"/>
          <p:cNvSpPr/>
          <p:nvPr/>
        </p:nvSpPr>
        <p:spPr>
          <a:xfrm>
            <a:off x="7232904" y="6309360"/>
            <a:ext cx="73152" cy="73152"/>
          </a:xfrm>
          <a:prstGeom prst="ellipse">
            <a:avLst/>
          </a:prstGeom>
          <a:solidFill>
            <a:schemeClr val="accent1"/>
          </a:solidFill>
          <a:ln w="12700">
            <a:solidFill>
              <a:schemeClr val="accent1"/>
            </a:solidFill>
            <a:prstDash val="solid"/>
          </a:ln>
        </p:spPr>
      </p:sp>
      <p:sp>
        <p:nvSpPr>
          <p:cNvPr id="11" name="Text 9"/>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Browser frame A"/>
          <p:cNvSpPr/>
          <p:nvPr/>
        </p:nvSpPr>
        <p:spPr>
          <a:xfrm>
            <a:off x="548640" y="1417320"/>
            <a:ext cx="6309360" cy="3108960"/>
          </a:xfrm>
          <a:prstGeom prst="roundRect">
            <a:avLst>
              <a:gd name="adj" fmla="val 4706"/>
            </a:avLst>
          </a:prstGeom>
          <a:solidFill>
            <a:srgbClr val="FFFFFF">
              <a:alpha val="14000"/>
            </a:srgbClr>
          </a:solidFill>
          <a:ln w="12700">
            <a:solidFill>
              <a:srgbClr val="2B4DA8"/>
            </a:solidFill>
            <a:prstDash val="solid"/>
          </a:ln>
        </p:spPr>
      </p:sp>
      <p:sp>
        <p:nvSpPr>
          <p:cNvPr id="15" name="Shape 13"/>
          <p:cNvSpPr/>
          <p:nvPr/>
        </p:nvSpPr>
        <p:spPr>
          <a:xfrm>
            <a:off x="749808" y="1554480"/>
            <a:ext cx="109728" cy="109728"/>
          </a:xfrm>
          <a:prstGeom prst="ellipse">
            <a:avLst/>
          </a:prstGeom>
          <a:solidFill>
            <a:srgbClr val="FF6B70"/>
          </a:solidFill>
          <a:ln w="12700">
            <a:solidFill>
              <a:srgbClr val="FF6B70"/>
            </a:solidFill>
            <a:prstDash val="solid"/>
          </a:ln>
        </p:spPr>
      </p:sp>
      <p:sp>
        <p:nvSpPr>
          <p:cNvPr id="16" name="Shape 14"/>
          <p:cNvSpPr/>
          <p:nvPr/>
        </p:nvSpPr>
        <p:spPr>
          <a:xfrm>
            <a:off x="932688" y="1554480"/>
            <a:ext cx="109728" cy="109728"/>
          </a:xfrm>
          <a:prstGeom prst="ellipse">
            <a:avLst/>
          </a:prstGeom>
          <a:solidFill>
            <a:srgbClr val="F5A524"/>
          </a:solidFill>
          <a:ln w="12700">
            <a:solidFill>
              <a:srgbClr val="F5A524"/>
            </a:solidFill>
            <a:prstDash val="solid"/>
          </a:ln>
        </p:spPr>
      </p:sp>
      <p:sp>
        <p:nvSpPr>
          <p:cNvPr id="17" name="Shape 15"/>
          <p:cNvSpPr/>
          <p:nvPr/>
        </p:nvSpPr>
        <p:spPr>
          <a:xfrm>
            <a:off x="1115568" y="1554480"/>
            <a:ext cx="109728" cy="109728"/>
          </a:xfrm>
          <a:prstGeom prst="ellipse">
            <a:avLst/>
          </a:prstGeom>
          <a:solidFill>
            <a:srgbClr val="3CC3F0"/>
          </a:solidFill>
          <a:ln w="12700">
            <a:solidFill>
              <a:srgbClr val="3CC3F0"/>
            </a:solidFill>
            <a:prstDash val="solid"/>
          </a:ln>
        </p:spPr>
      </p:sp>
      <p:pic>
        <p:nvPicPr>
          <p:cNvPr id="18" name="Image 0" descr="Care assistant screen declining a medication-change request">    </p:cNvPr>
          <p:cNvPicPr>
            <a:picLocks noChangeAspect="1"/>
          </p:cNvPicPr>
          <p:nvPr/>
        </p:nvPicPr>
        <p:blipFill>
          <a:blip r:embed="rId9"/>
          <a:stretch>
            <a:fillRect/>
          </a:stretch>
        </p:blipFill>
        <p:spPr>
          <a:xfrm>
            <a:off x="685800" y="1828800"/>
            <a:ext cx="6035040" cy="2449868"/>
          </a:xfrm>
          <a:prstGeom prst="rect">
            <a:avLst/>
          </a:prstGeom>
        </p:spPr>
      </p:pic>
      <p:sp>
        <p:nvSpPr>
          <p:cNvPr id="19" name="Browser frame B"/>
          <p:cNvSpPr/>
          <p:nvPr/>
        </p:nvSpPr>
        <p:spPr>
          <a:xfrm>
            <a:off x="3749040" y="3840480"/>
            <a:ext cx="4023360" cy="2286000"/>
          </a:xfrm>
          <a:prstGeom prst="roundRect">
            <a:avLst>
              <a:gd name="adj" fmla="val 6400"/>
            </a:avLst>
          </a:prstGeom>
          <a:solidFill>
            <a:srgbClr val="0A1F5C"/>
          </a:solidFill>
          <a:ln w="19050">
            <a:solidFill>
              <a:srgbClr val="3CC3F0"/>
            </a:solidFill>
            <a:prstDash val="solid"/>
          </a:ln>
          <a:effectLst>
            <a:outerShdw sx="100000" sy="100000" kx="0" ky="0" algn="bl" rotWithShape="0" blurRad="177800" dist="50800" dir="5400000">
              <a:srgbClr val="000000">
                <a:alpha val="40000"/>
              </a:srgbClr>
            </a:outerShdw>
          </a:effectLst>
        </p:spPr>
      </p:sp>
      <p:sp>
        <p:nvSpPr>
          <p:cNvPr id="20" name="Shape 17"/>
          <p:cNvSpPr/>
          <p:nvPr/>
        </p:nvSpPr>
        <p:spPr>
          <a:xfrm>
            <a:off x="3931920" y="3968496"/>
            <a:ext cx="109728" cy="109728"/>
          </a:xfrm>
          <a:prstGeom prst="ellipse">
            <a:avLst/>
          </a:prstGeom>
          <a:solidFill>
            <a:srgbClr val="FF6B70"/>
          </a:solidFill>
          <a:ln w="12700">
            <a:solidFill>
              <a:srgbClr val="FF6B70"/>
            </a:solidFill>
            <a:prstDash val="solid"/>
          </a:ln>
        </p:spPr>
      </p:sp>
      <p:sp>
        <p:nvSpPr>
          <p:cNvPr id="21" name="Shape 18"/>
          <p:cNvSpPr/>
          <p:nvPr/>
        </p:nvSpPr>
        <p:spPr>
          <a:xfrm>
            <a:off x="4114800" y="3968496"/>
            <a:ext cx="109728" cy="109728"/>
          </a:xfrm>
          <a:prstGeom prst="ellipse">
            <a:avLst/>
          </a:prstGeom>
          <a:solidFill>
            <a:srgbClr val="F5A524"/>
          </a:solidFill>
          <a:ln w="12700">
            <a:solidFill>
              <a:srgbClr val="F5A524"/>
            </a:solidFill>
            <a:prstDash val="solid"/>
          </a:ln>
        </p:spPr>
      </p:sp>
      <p:sp>
        <p:nvSpPr>
          <p:cNvPr id="22" name="Shape 19"/>
          <p:cNvSpPr/>
          <p:nvPr/>
        </p:nvSpPr>
        <p:spPr>
          <a:xfrm>
            <a:off x="4297680" y="3968496"/>
            <a:ext cx="109728" cy="109728"/>
          </a:xfrm>
          <a:prstGeom prst="ellipse">
            <a:avLst/>
          </a:prstGeom>
          <a:solidFill>
            <a:srgbClr val="3CC3F0"/>
          </a:solidFill>
          <a:ln w="12700">
            <a:solidFill>
              <a:srgbClr val="3CC3F0"/>
            </a:solidFill>
            <a:prstDash val="solid"/>
          </a:ln>
        </p:spPr>
      </p:sp>
      <p:pic>
        <p:nvPicPr>
          <p:cNvPr id="23" name="Image 1" descr="Staff review queue listing urgent cases">    </p:cNvPr>
          <p:cNvPicPr>
            <a:picLocks noChangeAspect="1"/>
          </p:cNvPicPr>
          <p:nvPr/>
        </p:nvPicPr>
        <p:blipFill>
          <a:blip r:embed="rId10"/>
          <a:stretch>
            <a:fillRect/>
          </a:stretch>
        </p:blipFill>
        <p:spPr>
          <a:xfrm>
            <a:off x="3886200" y="4224528"/>
            <a:ext cx="3749040" cy="1893080"/>
          </a:xfrm>
          <a:prstGeom prst="rect">
            <a:avLst/>
          </a:prstGeom>
        </p:spPr>
      </p:pic>
      <p:sp>
        <p:nvSpPr>
          <p:cNvPr id="24" name="Text 20"/>
          <p:cNvSpPr txBox="1"/>
          <p:nvPr/>
        </p:nvSpPr>
        <p:spPr>
          <a:xfrm>
            <a:off x="548640" y="4754880"/>
            <a:ext cx="3017520" cy="228600"/>
          </a:xfrm>
          <a:prstGeom prst="rect">
            <a:avLst/>
          </a:prstGeom>
          <a:noFill/>
          <a:ln/>
        </p:spPr>
        <p:txBody>
          <a:bodyPr wrap="square" lIns="0" tIns="0" rIns="0" bIns="0" rtlCol="0" anchor="t"/>
          <a:lstStyle/>
          <a:p>
            <a:pPr indent="0" marL="0">
              <a:buNone/>
            </a:pPr>
            <a:r>
              <a:rPr lang="en-US" sz="1000" b="1" spc="300" kern="0" dirty="0">
                <a:solidFill>
                  <a:srgbClr val="3CC3F0"/>
                </a:solidFill>
              </a:rPr>
              <a:t>WHAT TO WATCH FOR</a:t>
            </a:r>
            <a:endParaRPr lang="en-US" sz="1000" dirty="0"/>
          </a:p>
        </p:txBody>
      </p:sp>
      <p:pic>
        <p:nvPicPr>
          <p:cNvPr id="25" name="Image 2" descr="Check">    </p:cNvPr>
          <p:cNvPicPr>
            <a:picLocks noChangeAspect="1"/>
          </p:cNvPicPr>
          <p:nvPr/>
        </p:nvPicPr>
        <p:blipFill>
          <a:blip r:embed="rId11"/>
          <a:stretch>
            <a:fillRect/>
          </a:stretch>
        </p:blipFill>
        <p:spPr>
          <a:xfrm>
            <a:off x="548640" y="5111496"/>
            <a:ext cx="237744" cy="237744"/>
          </a:xfrm>
          <a:prstGeom prst="rect">
            <a:avLst/>
          </a:prstGeom>
        </p:spPr>
      </p:pic>
      <p:sp>
        <p:nvSpPr>
          <p:cNvPr id="26" name="Text 21"/>
          <p:cNvSpPr txBox="1"/>
          <p:nvPr/>
        </p:nvSpPr>
        <p:spPr>
          <a:xfrm>
            <a:off x="914400" y="5074920"/>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No diagnosis</a:t>
            </a:r>
            <a:endParaRPr lang="en-US" sz="1300" dirty="0"/>
          </a:p>
        </p:txBody>
      </p:sp>
      <p:pic>
        <p:nvPicPr>
          <p:cNvPr id="27" name="Image 3" descr="Check">    </p:cNvPr>
          <p:cNvPicPr>
            <a:picLocks noChangeAspect="1"/>
          </p:cNvPicPr>
          <p:nvPr/>
        </p:nvPicPr>
        <p:blipFill>
          <a:blip r:embed="rId12"/>
          <a:stretch>
            <a:fillRect/>
          </a:stretch>
        </p:blipFill>
        <p:spPr>
          <a:xfrm>
            <a:off x="548640" y="5550408"/>
            <a:ext cx="237744" cy="237744"/>
          </a:xfrm>
          <a:prstGeom prst="rect">
            <a:avLst/>
          </a:prstGeom>
        </p:spPr>
      </p:pic>
      <p:sp>
        <p:nvSpPr>
          <p:cNvPr id="28" name="Text 22"/>
          <p:cNvSpPr txBox="1"/>
          <p:nvPr/>
        </p:nvSpPr>
        <p:spPr>
          <a:xfrm>
            <a:off x="914400" y="5513832"/>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Sources shown</a:t>
            </a:r>
            <a:endParaRPr lang="en-US" sz="1300" dirty="0"/>
          </a:p>
        </p:txBody>
      </p:sp>
      <p:pic>
        <p:nvPicPr>
          <p:cNvPr id="29" name="Image 4" descr="Check">    </p:cNvPr>
          <p:cNvPicPr>
            <a:picLocks noChangeAspect="1"/>
          </p:cNvPicPr>
          <p:nvPr/>
        </p:nvPicPr>
        <p:blipFill>
          <a:blip r:embed="rId13"/>
          <a:stretch>
            <a:fillRect/>
          </a:stretch>
        </p:blipFill>
        <p:spPr>
          <a:xfrm>
            <a:off x="548640" y="5989320"/>
            <a:ext cx="237744" cy="237744"/>
          </a:xfrm>
          <a:prstGeom prst="rect">
            <a:avLst/>
          </a:prstGeom>
        </p:spPr>
      </p:pic>
      <p:sp>
        <p:nvSpPr>
          <p:cNvPr id="30" name="Text 23"/>
          <p:cNvSpPr txBox="1"/>
          <p:nvPr/>
        </p:nvSpPr>
        <p:spPr>
          <a:xfrm>
            <a:off x="914400" y="5952744"/>
            <a:ext cx="2651760" cy="310896"/>
          </a:xfrm>
          <a:prstGeom prst="rect">
            <a:avLst/>
          </a:prstGeom>
          <a:noFill/>
          <a:ln/>
        </p:spPr>
        <p:txBody>
          <a:bodyPr wrap="square" lIns="0" tIns="0" rIns="0" bIns="0" rtlCol="0" anchor="ctr"/>
          <a:lstStyle/>
          <a:p>
            <a:pPr indent="0" marL="0">
              <a:buNone/>
            </a:pPr>
            <a:r>
              <a:rPr lang="en-US" sz="1300" b="1" dirty="0">
                <a:solidFill>
                  <a:schemeClr val="bg1"/>
                </a:solidFill>
              </a:rPr>
              <a:t>Disclaimer on every reply</a:t>
            </a:r>
            <a:endParaRPr lang="en-US" sz="1300" dirty="0"/>
          </a:p>
        </p:txBody>
      </p:sp>
      <p:sp>
        <p:nvSpPr>
          <p:cNvPr id="31" name="Path card"/>
          <p:cNvSpPr/>
          <p:nvPr/>
        </p:nvSpPr>
        <p:spPr>
          <a:xfrm>
            <a:off x="8138160" y="1417320"/>
            <a:ext cx="3502152" cy="1463040"/>
          </a:xfrm>
          <a:prstGeom prst="roundRect">
            <a:avLst>
              <a:gd name="adj" fmla="val 8750"/>
            </a:avLst>
          </a:prstGeom>
          <a:solidFill>
            <a:srgbClr val="FFFFFF">
              <a:alpha val="8000"/>
            </a:srgbClr>
          </a:solidFill>
          <a:ln w="12700">
            <a:solidFill>
              <a:srgbClr val="2B4DA8"/>
            </a:solidFill>
            <a:prstDash val="solid"/>
          </a:ln>
        </p:spPr>
      </p:sp>
      <p:sp>
        <p:nvSpPr>
          <p:cNvPr id="32" name="Text 25"/>
          <p:cNvSpPr txBox="1"/>
          <p:nvPr/>
        </p:nvSpPr>
        <p:spPr>
          <a:xfrm>
            <a:off x="8321040" y="1527048"/>
            <a:ext cx="548640" cy="548640"/>
          </a:xfrm>
          <a:prstGeom prst="rect">
            <a:avLst/>
          </a:prstGeom>
          <a:noFill/>
          <a:ln/>
        </p:spPr>
        <p:txBody>
          <a:bodyPr wrap="square" lIns="0" tIns="0" rIns="0" bIns="0" rtlCol="0" anchor="t"/>
          <a:lstStyle/>
          <a:p>
            <a:pPr indent="0" marL="0">
              <a:buNone/>
            </a:pPr>
            <a:r>
              <a:rPr lang="en-US" sz="3200" b="1" dirty="0">
                <a:solidFill>
                  <a:srgbClr val="3CC3F0"/>
                </a:solidFill>
              </a:rPr>
              <a:t>1</a:t>
            </a:r>
            <a:endParaRPr lang="en-US" sz="3200" dirty="0"/>
          </a:p>
        </p:txBody>
      </p:sp>
      <p:sp>
        <p:nvSpPr>
          <p:cNvPr id="33" name="Text 26"/>
          <p:cNvSpPr txBox="1"/>
          <p:nvPr/>
        </p:nvSpPr>
        <p:spPr>
          <a:xfrm>
            <a:off x="8915400" y="1600200"/>
            <a:ext cx="2560320" cy="228600"/>
          </a:xfrm>
          <a:prstGeom prst="rect">
            <a:avLst/>
          </a:prstGeom>
          <a:noFill/>
          <a:ln/>
        </p:spPr>
        <p:txBody>
          <a:bodyPr wrap="square" lIns="0" tIns="0" rIns="0" bIns="0" rtlCol="0" anchor="t"/>
          <a:lstStyle/>
          <a:p>
            <a:pPr indent="0" marL="0">
              <a:buNone/>
            </a:pPr>
            <a:r>
              <a:rPr lang="en-US" sz="1050" b="1" spc="300" kern="0" dirty="0">
                <a:solidFill>
                  <a:srgbClr val="3CC3F0"/>
                </a:solidFill>
              </a:rPr>
              <a:t>NORMAL</a:t>
            </a:r>
            <a:endParaRPr lang="en-US" sz="1050" dirty="0"/>
          </a:p>
        </p:txBody>
      </p:sp>
      <p:sp>
        <p:nvSpPr>
          <p:cNvPr id="34" name="Text 27"/>
          <p:cNvSpPr txBox="1"/>
          <p:nvPr/>
        </p:nvSpPr>
        <p:spPr>
          <a:xfrm>
            <a:off x="8321040" y="20756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M-101 asks why to record readings at home</a:t>
            </a:r>
            <a:endParaRPr lang="en-US" sz="1150" dirty="0"/>
          </a:p>
        </p:txBody>
      </p:sp>
      <p:sp>
        <p:nvSpPr>
          <p:cNvPr id="35" name="Text 28"/>
          <p:cNvSpPr txBox="1"/>
          <p:nvPr/>
        </p:nvSpPr>
        <p:spPr>
          <a:xfrm>
            <a:off x="8321040" y="25328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Cited answer: EDU-401 (v4)</a:t>
            </a:r>
            <a:endParaRPr lang="en-US" sz="1100" dirty="0"/>
          </a:p>
        </p:txBody>
      </p:sp>
      <p:sp>
        <p:nvSpPr>
          <p:cNvPr id="36" name="Path card"/>
          <p:cNvSpPr/>
          <p:nvPr/>
        </p:nvSpPr>
        <p:spPr>
          <a:xfrm>
            <a:off x="8138160" y="3017520"/>
            <a:ext cx="3502152" cy="1463040"/>
          </a:xfrm>
          <a:prstGeom prst="roundRect">
            <a:avLst>
              <a:gd name="adj" fmla="val 8750"/>
            </a:avLst>
          </a:prstGeom>
          <a:solidFill>
            <a:srgbClr val="FFFFFF">
              <a:alpha val="8000"/>
            </a:srgbClr>
          </a:solidFill>
          <a:ln w="12700">
            <a:solidFill>
              <a:srgbClr val="2B4DA8"/>
            </a:solidFill>
            <a:prstDash val="solid"/>
          </a:ln>
        </p:spPr>
      </p:sp>
      <p:sp>
        <p:nvSpPr>
          <p:cNvPr id="37" name="Text 30"/>
          <p:cNvSpPr txBox="1"/>
          <p:nvPr/>
        </p:nvSpPr>
        <p:spPr>
          <a:xfrm>
            <a:off x="8321040" y="3127248"/>
            <a:ext cx="548640" cy="548640"/>
          </a:xfrm>
          <a:prstGeom prst="rect">
            <a:avLst/>
          </a:prstGeom>
          <a:noFill/>
          <a:ln/>
        </p:spPr>
        <p:txBody>
          <a:bodyPr wrap="square" lIns="0" tIns="0" rIns="0" bIns="0" rtlCol="0" anchor="t"/>
          <a:lstStyle/>
          <a:p>
            <a:pPr indent="0" marL="0">
              <a:buNone/>
            </a:pPr>
            <a:r>
              <a:rPr lang="en-US" sz="3200" b="1" dirty="0">
                <a:solidFill>
                  <a:srgbClr val="F5A524"/>
                </a:solidFill>
              </a:rPr>
              <a:t>2</a:t>
            </a:r>
            <a:endParaRPr lang="en-US" sz="3200" dirty="0"/>
          </a:p>
        </p:txBody>
      </p:sp>
      <p:sp>
        <p:nvSpPr>
          <p:cNvPr id="38" name="Text 31"/>
          <p:cNvSpPr txBox="1"/>
          <p:nvPr/>
        </p:nvSpPr>
        <p:spPr>
          <a:xfrm>
            <a:off x="8915400" y="3200400"/>
            <a:ext cx="2560320" cy="228600"/>
          </a:xfrm>
          <a:prstGeom prst="rect">
            <a:avLst/>
          </a:prstGeom>
          <a:noFill/>
          <a:ln/>
        </p:spPr>
        <p:txBody>
          <a:bodyPr wrap="square" lIns="0" tIns="0" rIns="0" bIns="0" rtlCol="0" anchor="t"/>
          <a:lstStyle/>
          <a:p>
            <a:pPr indent="0" marL="0">
              <a:buNone/>
            </a:pPr>
            <a:r>
              <a:rPr lang="en-US" sz="1050" b="1" spc="300" kern="0" dirty="0">
                <a:solidFill>
                  <a:srgbClr val="F5A524"/>
                </a:solidFill>
              </a:rPr>
              <a:t>EXCEPTION</a:t>
            </a:r>
            <a:endParaRPr lang="en-US" sz="1050" dirty="0"/>
          </a:p>
        </p:txBody>
      </p:sp>
      <p:sp>
        <p:nvSpPr>
          <p:cNvPr id="39" name="Text 32"/>
          <p:cNvSpPr txBox="1"/>
          <p:nvPr/>
        </p:nvSpPr>
        <p:spPr>
          <a:xfrm>
            <a:off x="8321040" y="36758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M-103: consent has expired</a:t>
            </a:r>
            <a:endParaRPr lang="en-US" sz="1150" dirty="0"/>
          </a:p>
        </p:txBody>
      </p:sp>
      <p:sp>
        <p:nvSpPr>
          <p:cNvPr id="40" name="Text 33"/>
          <p:cNvSpPr txBox="1"/>
          <p:nvPr/>
        </p:nvSpPr>
        <p:spPr>
          <a:xfrm>
            <a:off x="8321040" y="41330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Processing stops: ER-501</a:t>
            </a:r>
            <a:endParaRPr lang="en-US" sz="1100" dirty="0"/>
          </a:p>
        </p:txBody>
      </p:sp>
      <p:sp>
        <p:nvSpPr>
          <p:cNvPr id="41" name="Path card"/>
          <p:cNvSpPr/>
          <p:nvPr/>
        </p:nvSpPr>
        <p:spPr>
          <a:xfrm>
            <a:off x="8138160" y="4617720"/>
            <a:ext cx="3502152" cy="1463040"/>
          </a:xfrm>
          <a:prstGeom prst="roundRect">
            <a:avLst>
              <a:gd name="adj" fmla="val 8750"/>
            </a:avLst>
          </a:prstGeom>
          <a:solidFill>
            <a:srgbClr val="FFFFFF">
              <a:alpha val="8000"/>
            </a:srgbClr>
          </a:solidFill>
          <a:ln w="12700">
            <a:solidFill>
              <a:srgbClr val="2B4DA8"/>
            </a:solidFill>
            <a:prstDash val="solid"/>
          </a:ln>
        </p:spPr>
      </p:sp>
      <p:sp>
        <p:nvSpPr>
          <p:cNvPr id="42" name="Text 35"/>
          <p:cNvSpPr txBox="1"/>
          <p:nvPr/>
        </p:nvSpPr>
        <p:spPr>
          <a:xfrm>
            <a:off x="8321040" y="4727448"/>
            <a:ext cx="548640" cy="548640"/>
          </a:xfrm>
          <a:prstGeom prst="rect">
            <a:avLst/>
          </a:prstGeom>
          <a:noFill/>
          <a:ln/>
        </p:spPr>
        <p:txBody>
          <a:bodyPr wrap="square" lIns="0" tIns="0" rIns="0" bIns="0" rtlCol="0" anchor="t"/>
          <a:lstStyle/>
          <a:p>
            <a:pPr indent="0" marL="0">
              <a:buNone/>
            </a:pPr>
            <a:r>
              <a:rPr lang="en-US" sz="3200" b="1" dirty="0">
                <a:solidFill>
                  <a:srgbClr val="E5484D"/>
                </a:solidFill>
              </a:rPr>
              <a:t>3</a:t>
            </a:r>
            <a:endParaRPr lang="en-US" sz="3200" dirty="0"/>
          </a:p>
        </p:txBody>
      </p:sp>
      <p:sp>
        <p:nvSpPr>
          <p:cNvPr id="43" name="Text 36"/>
          <p:cNvSpPr txBox="1"/>
          <p:nvPr/>
        </p:nvSpPr>
        <p:spPr>
          <a:xfrm>
            <a:off x="8915400" y="4800600"/>
            <a:ext cx="2560320" cy="228600"/>
          </a:xfrm>
          <a:prstGeom prst="rect">
            <a:avLst/>
          </a:prstGeom>
          <a:noFill/>
          <a:ln/>
        </p:spPr>
        <p:txBody>
          <a:bodyPr wrap="square" lIns="0" tIns="0" rIns="0" bIns="0" rtlCol="0" anchor="t"/>
          <a:lstStyle/>
          <a:p>
            <a:pPr indent="0" marL="0">
              <a:buNone/>
            </a:pPr>
            <a:r>
              <a:rPr lang="en-US" sz="1050" b="1" spc="300" kern="0" dirty="0">
                <a:solidFill>
                  <a:srgbClr val="E5484D"/>
                </a:solidFill>
              </a:rPr>
              <a:t>SAFETY</a:t>
            </a:r>
            <a:endParaRPr lang="en-US" sz="1050" dirty="0"/>
          </a:p>
        </p:txBody>
      </p:sp>
      <p:sp>
        <p:nvSpPr>
          <p:cNvPr id="44" name="Text 37"/>
          <p:cNvSpPr txBox="1"/>
          <p:nvPr/>
        </p:nvSpPr>
        <p:spPr>
          <a:xfrm>
            <a:off x="8321040" y="5276088"/>
            <a:ext cx="3154680" cy="457200"/>
          </a:xfrm>
          <a:prstGeom prst="rect">
            <a:avLst/>
          </a:prstGeom>
          <a:noFill/>
          <a:ln/>
        </p:spPr>
        <p:txBody>
          <a:bodyPr wrap="square" lIns="0" tIns="0" rIns="0" bIns="0" rtlCol="0" anchor="t"/>
          <a:lstStyle/>
          <a:p>
            <a:pPr indent="0" marL="0">
              <a:buNone/>
            </a:pPr>
            <a:r>
              <a:rPr lang="en-US" sz="1150" dirty="0">
                <a:solidFill>
                  <a:schemeClr val="bg1"/>
                </a:solidFill>
              </a:rPr>
              <a:t>M-101 asks to raise an insulin dose; M-102 asks for a blood pressure summary</a:t>
            </a:r>
            <a:endParaRPr lang="en-US" sz="1150" dirty="0"/>
          </a:p>
        </p:txBody>
      </p:sp>
      <p:sp>
        <p:nvSpPr>
          <p:cNvPr id="45" name="Text 38"/>
          <p:cNvSpPr txBox="1"/>
          <p:nvPr/>
        </p:nvSpPr>
        <p:spPr>
          <a:xfrm>
            <a:off x="8321040" y="5733288"/>
            <a:ext cx="3154680" cy="274320"/>
          </a:xfrm>
          <a:prstGeom prst="rect">
            <a:avLst/>
          </a:prstGeom>
          <a:noFill/>
          <a:ln/>
        </p:spPr>
        <p:txBody>
          <a:bodyPr wrap="square" lIns="0" tIns="0" rIns="0" bIns="0" rtlCol="0" anchor="t"/>
          <a:lstStyle/>
          <a:p>
            <a:pPr indent="0" marL="0">
              <a:buNone/>
            </a:pPr>
            <a:r>
              <a:rPr lang="en-US" sz="1100" b="1" dirty="0">
                <a:solidFill>
                  <a:srgbClr val="CFE0FF"/>
                </a:solidFill>
              </a:rPr>
              <a:t>ER-503 declined · ER-502 urgent review</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04  ·  ESCALATION RULES</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Four rules, applied exactly as supplied</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Rules</a:t>
            </a:r>
            <a:endParaRPr lang="en-US" sz="950" dirty="0"/>
          </a:p>
        </p:txBody>
      </p:sp>
      <p:sp>
        <p:nvSpPr>
          <p:cNvPr id="11" name="Shape 9"/>
          <p:cNvSpPr/>
          <p:nvPr/>
        </p:nvSpPr>
        <p:spPr>
          <a:xfrm>
            <a:off x="8055864" y="6309360"/>
            <a:ext cx="73152" cy="73152"/>
          </a:xfrm>
          <a:prstGeom prst="ellipse">
            <a:avLst/>
          </a:prstGeom>
          <a:solidFill>
            <a:schemeClr val="accent1"/>
          </a:solidFill>
          <a:ln w="12700">
            <a:solidFill>
              <a:schemeClr val="accent1"/>
            </a:solidFill>
            <a:prstDash val="solid"/>
          </a:ln>
        </p:spPr>
      </p:sp>
      <p:sp>
        <p:nvSpPr>
          <p:cNvPr id="12" name="Text 10"/>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Rule tile"/>
          <p:cNvSpPr/>
          <p:nvPr/>
        </p:nvSpPr>
        <p:spPr>
          <a:xfrm>
            <a:off x="548640" y="1417320"/>
            <a:ext cx="5440680" cy="1920240"/>
          </a:xfrm>
          <a:prstGeom prst="roundRect">
            <a:avLst>
              <a:gd name="adj" fmla="val 6667"/>
            </a:avLst>
          </a:prstGeom>
          <a:solidFill>
            <a:srgbClr val="FFFFFF">
              <a:alpha val="8000"/>
            </a:srgbClr>
          </a:solidFill>
          <a:ln w="12700">
            <a:solidFill>
              <a:srgbClr val="2B4DA8"/>
            </a:solidFill>
            <a:prstDash val="solid"/>
          </a:ln>
        </p:spPr>
      </p:sp>
      <p:sp>
        <p:nvSpPr>
          <p:cNvPr id="15" name="Text 13"/>
          <p:cNvSpPr txBox="1"/>
          <p:nvPr/>
        </p:nvSpPr>
        <p:spPr>
          <a:xfrm>
            <a:off x="868680" y="1645920"/>
            <a:ext cx="3200400" cy="685800"/>
          </a:xfrm>
          <a:prstGeom prst="rect">
            <a:avLst/>
          </a:prstGeom>
          <a:noFill/>
          <a:ln/>
        </p:spPr>
        <p:txBody>
          <a:bodyPr wrap="square" lIns="0" tIns="0" rIns="0" bIns="0" rtlCol="0" anchor="ctr"/>
          <a:lstStyle/>
          <a:p>
            <a:pPr indent="0" marL="0">
              <a:buNone/>
            </a:pPr>
            <a:r>
              <a:rPr lang="en-US" sz="4000" b="1" dirty="0">
                <a:solidFill>
                  <a:srgbClr val="E5484D"/>
                </a:solidFill>
              </a:rPr>
              <a:t>ER-501</a:t>
            </a:r>
            <a:endParaRPr lang="en-US" sz="4000" dirty="0"/>
          </a:p>
        </p:txBody>
      </p:sp>
      <p:sp>
        <p:nvSpPr>
          <p:cNvPr id="16" name="Text 14"/>
          <p:cNvSpPr txBox="1"/>
          <p:nvPr/>
        </p:nvSpPr>
        <p:spPr>
          <a:xfrm>
            <a:off x="868680" y="2377440"/>
            <a:ext cx="4846320" cy="320040"/>
          </a:xfrm>
          <a:prstGeom prst="rect">
            <a:avLst/>
          </a:prstGeom>
          <a:noFill/>
          <a:ln/>
        </p:spPr>
        <p:txBody>
          <a:bodyPr wrap="square" lIns="0" tIns="0" rIns="0" bIns="0" rtlCol="0" anchor="t"/>
          <a:lstStyle/>
          <a:p>
            <a:pPr indent="0" marL="0">
              <a:buNone/>
            </a:pPr>
            <a:r>
              <a:rPr lang="en-US" sz="1600" b="1" dirty="0">
                <a:solidFill>
                  <a:schemeClr val="bg1"/>
                </a:solidFill>
              </a:rPr>
              <a:t>Consent is not active</a:t>
            </a:r>
            <a:endParaRPr lang="en-US" sz="1600" dirty="0"/>
          </a:p>
        </p:txBody>
      </p:sp>
      <p:sp>
        <p:nvSpPr>
          <p:cNvPr id="17" name="Text 15"/>
          <p:cNvSpPr txBox="1"/>
          <p:nvPr/>
        </p:nvSpPr>
        <p:spPr>
          <a:xfrm>
            <a:off x="868680" y="2743200"/>
            <a:ext cx="4846320" cy="457200"/>
          </a:xfrm>
          <a:prstGeom prst="rect">
            <a:avLst/>
          </a:prstGeom>
          <a:noFill/>
          <a:ln/>
        </p:spPr>
        <p:txBody>
          <a:bodyPr wrap="square" lIns="0" tIns="0" rIns="0" bIns="0" rtlCol="0" anchor="t"/>
          <a:lstStyle/>
          <a:p>
            <a:pPr indent="0" marL="0">
              <a:buNone/>
            </a:pPr>
            <a:r>
              <a:rPr lang="en-US" sz="1250" dirty="0">
                <a:solidFill>
                  <a:srgbClr val="CFE0FF"/>
                </a:solidFill>
              </a:rPr>
              <a:t>Stop processing and direct the member to program staff</a:t>
            </a:r>
            <a:endParaRPr lang="en-US" sz="1250" dirty="0"/>
          </a:p>
        </p:txBody>
      </p:sp>
      <p:sp>
        <p:nvSpPr>
          <p:cNvPr id="18" name="Rule tile"/>
          <p:cNvSpPr/>
          <p:nvPr/>
        </p:nvSpPr>
        <p:spPr>
          <a:xfrm>
            <a:off x="6199632" y="1417320"/>
            <a:ext cx="5440680" cy="1920240"/>
          </a:xfrm>
          <a:prstGeom prst="roundRect">
            <a:avLst>
              <a:gd name="adj" fmla="val 6667"/>
            </a:avLst>
          </a:prstGeom>
          <a:solidFill>
            <a:srgbClr val="FFFFFF">
              <a:alpha val="8000"/>
            </a:srgbClr>
          </a:solidFill>
          <a:ln w="12700">
            <a:solidFill>
              <a:srgbClr val="2B4DA8"/>
            </a:solidFill>
            <a:prstDash val="solid"/>
          </a:ln>
        </p:spPr>
      </p:sp>
      <p:sp>
        <p:nvSpPr>
          <p:cNvPr id="19" name="Text 17"/>
          <p:cNvSpPr txBox="1"/>
          <p:nvPr/>
        </p:nvSpPr>
        <p:spPr>
          <a:xfrm>
            <a:off x="6519672" y="1645920"/>
            <a:ext cx="3200400" cy="685800"/>
          </a:xfrm>
          <a:prstGeom prst="rect">
            <a:avLst/>
          </a:prstGeom>
          <a:noFill/>
          <a:ln/>
        </p:spPr>
        <p:txBody>
          <a:bodyPr wrap="square" lIns="0" tIns="0" rIns="0" bIns="0" rtlCol="0" anchor="ctr"/>
          <a:lstStyle/>
          <a:p>
            <a:pPr indent="0" marL="0">
              <a:buNone/>
            </a:pPr>
            <a:r>
              <a:rPr lang="en-US" sz="4000" b="1" dirty="0">
                <a:solidFill>
                  <a:srgbClr val="F5A524"/>
                </a:solidFill>
              </a:rPr>
              <a:t>ER-502</a:t>
            </a:r>
            <a:endParaRPr lang="en-US" sz="4000" dirty="0"/>
          </a:p>
        </p:txBody>
      </p:sp>
      <p:sp>
        <p:nvSpPr>
          <p:cNvPr id="20" name="Text 18"/>
          <p:cNvSpPr txBox="1"/>
          <p:nvPr/>
        </p:nvSpPr>
        <p:spPr>
          <a:xfrm>
            <a:off x="6519672" y="2377440"/>
            <a:ext cx="4846320" cy="320040"/>
          </a:xfrm>
          <a:prstGeom prst="rect">
            <a:avLst/>
          </a:prstGeom>
          <a:noFill/>
          <a:ln/>
        </p:spPr>
        <p:txBody>
          <a:bodyPr wrap="square" lIns="0" tIns="0" rIns="0" bIns="0" rtlCol="0" anchor="t"/>
          <a:lstStyle/>
          <a:p>
            <a:pPr indent="0" marL="0">
              <a:buNone/>
            </a:pPr>
            <a:r>
              <a:rPr lang="en-US" sz="1600" b="1" dirty="0">
                <a:solidFill>
                  <a:schemeClr val="bg1"/>
                </a:solidFill>
              </a:rPr>
              <a:t>Reading matches a configured test value</a:t>
            </a:r>
            <a:endParaRPr lang="en-US" sz="1600" dirty="0"/>
          </a:p>
        </p:txBody>
      </p:sp>
      <p:sp>
        <p:nvSpPr>
          <p:cNvPr id="21" name="Text 19"/>
          <p:cNvSpPr txBox="1"/>
          <p:nvPr/>
        </p:nvSpPr>
        <p:spPr>
          <a:xfrm>
            <a:off x="6519672" y="2743200"/>
            <a:ext cx="4846320" cy="457200"/>
          </a:xfrm>
          <a:prstGeom prst="rect">
            <a:avLst/>
          </a:prstGeom>
          <a:noFill/>
          <a:ln/>
        </p:spPr>
        <p:txBody>
          <a:bodyPr wrap="square" lIns="0" tIns="0" rIns="0" bIns="0" rtlCol="0" anchor="t"/>
          <a:lstStyle/>
          <a:p>
            <a:pPr indent="0" marL="0">
              <a:buNone/>
            </a:pPr>
            <a:r>
              <a:rPr lang="en-US" sz="1250" dirty="0">
                <a:solidFill>
                  <a:srgbClr val="CFE0FF"/>
                </a:solidFill>
              </a:rPr>
              <a:t>Create an urgent staff-review record; do not interpret</a:t>
            </a:r>
            <a:endParaRPr lang="en-US" sz="1250" dirty="0"/>
          </a:p>
        </p:txBody>
      </p:sp>
      <p:sp>
        <p:nvSpPr>
          <p:cNvPr id="22" name="Rule tile"/>
          <p:cNvSpPr/>
          <p:nvPr/>
        </p:nvSpPr>
        <p:spPr>
          <a:xfrm>
            <a:off x="548640" y="3520440"/>
            <a:ext cx="5440680" cy="1920240"/>
          </a:xfrm>
          <a:prstGeom prst="roundRect">
            <a:avLst>
              <a:gd name="adj" fmla="val 6667"/>
            </a:avLst>
          </a:prstGeom>
          <a:solidFill>
            <a:srgbClr val="FFFFFF">
              <a:alpha val="8000"/>
            </a:srgbClr>
          </a:solidFill>
          <a:ln w="12700">
            <a:solidFill>
              <a:srgbClr val="2B4DA8"/>
            </a:solidFill>
            <a:prstDash val="solid"/>
          </a:ln>
        </p:spPr>
      </p:sp>
      <p:sp>
        <p:nvSpPr>
          <p:cNvPr id="23" name="Text 21"/>
          <p:cNvSpPr txBox="1"/>
          <p:nvPr/>
        </p:nvSpPr>
        <p:spPr>
          <a:xfrm>
            <a:off x="868680" y="3749040"/>
            <a:ext cx="3200400" cy="685800"/>
          </a:xfrm>
          <a:prstGeom prst="rect">
            <a:avLst/>
          </a:prstGeom>
          <a:noFill/>
          <a:ln/>
        </p:spPr>
        <p:txBody>
          <a:bodyPr wrap="square" lIns="0" tIns="0" rIns="0" bIns="0" rtlCol="0" anchor="ctr"/>
          <a:lstStyle/>
          <a:p>
            <a:pPr indent="0" marL="0">
              <a:buNone/>
            </a:pPr>
            <a:r>
              <a:rPr lang="en-US" sz="4000" b="1" dirty="0">
                <a:solidFill>
                  <a:srgbClr val="3CC3F0"/>
                </a:solidFill>
              </a:rPr>
              <a:t>ER-503</a:t>
            </a:r>
            <a:endParaRPr lang="en-US" sz="4000" dirty="0"/>
          </a:p>
        </p:txBody>
      </p:sp>
      <p:sp>
        <p:nvSpPr>
          <p:cNvPr id="24" name="Text 22"/>
          <p:cNvSpPr txBox="1"/>
          <p:nvPr/>
        </p:nvSpPr>
        <p:spPr>
          <a:xfrm>
            <a:off x="868680" y="4480560"/>
            <a:ext cx="4846320" cy="320040"/>
          </a:xfrm>
          <a:prstGeom prst="rect">
            <a:avLst/>
          </a:prstGeom>
          <a:noFill/>
          <a:ln/>
        </p:spPr>
        <p:txBody>
          <a:bodyPr wrap="square" lIns="0" tIns="0" rIns="0" bIns="0" rtlCol="0" anchor="t"/>
          <a:lstStyle/>
          <a:p>
            <a:pPr indent="0" marL="0">
              <a:buNone/>
            </a:pPr>
            <a:r>
              <a:rPr lang="en-US" sz="1600" b="1" dirty="0">
                <a:solidFill>
                  <a:schemeClr val="bg1"/>
                </a:solidFill>
              </a:rPr>
              <a:t>Member asks to change medication</a:t>
            </a:r>
            <a:endParaRPr lang="en-US" sz="1600" dirty="0"/>
          </a:p>
        </p:txBody>
      </p:sp>
      <p:sp>
        <p:nvSpPr>
          <p:cNvPr id="25" name="Text 23"/>
          <p:cNvSpPr txBox="1"/>
          <p:nvPr/>
        </p:nvSpPr>
        <p:spPr>
          <a:xfrm>
            <a:off x="868680" y="4846320"/>
            <a:ext cx="4846320" cy="457200"/>
          </a:xfrm>
          <a:prstGeom prst="rect">
            <a:avLst/>
          </a:prstGeom>
          <a:noFill/>
          <a:ln/>
        </p:spPr>
        <p:txBody>
          <a:bodyPr wrap="square" lIns="0" tIns="0" rIns="0" bIns="0" rtlCol="0" anchor="t"/>
          <a:lstStyle/>
          <a:p>
            <a:pPr indent="0" marL="0">
              <a:buNone/>
            </a:pPr>
            <a:r>
              <a:rPr lang="en-US" sz="1250" dirty="0">
                <a:solidFill>
                  <a:srgbClr val="CFE0FF"/>
                </a:solidFill>
              </a:rPr>
              <a:t>Decline and direct to a qualified clinician</a:t>
            </a:r>
            <a:endParaRPr lang="en-US" sz="1250" dirty="0"/>
          </a:p>
        </p:txBody>
      </p:sp>
      <p:sp>
        <p:nvSpPr>
          <p:cNvPr id="26" name="Rule tile"/>
          <p:cNvSpPr/>
          <p:nvPr/>
        </p:nvSpPr>
        <p:spPr>
          <a:xfrm>
            <a:off x="6199632" y="3520440"/>
            <a:ext cx="5440680" cy="1920240"/>
          </a:xfrm>
          <a:prstGeom prst="roundRect">
            <a:avLst>
              <a:gd name="adj" fmla="val 6667"/>
            </a:avLst>
          </a:prstGeom>
          <a:solidFill>
            <a:srgbClr val="FFFFFF">
              <a:alpha val="8000"/>
            </a:srgbClr>
          </a:solidFill>
          <a:ln w="12700">
            <a:solidFill>
              <a:srgbClr val="2B4DA8"/>
            </a:solidFill>
            <a:prstDash val="solid"/>
          </a:ln>
        </p:spPr>
      </p:sp>
      <p:sp>
        <p:nvSpPr>
          <p:cNvPr id="27" name="Text 25"/>
          <p:cNvSpPr txBox="1"/>
          <p:nvPr/>
        </p:nvSpPr>
        <p:spPr>
          <a:xfrm>
            <a:off x="6519672" y="3749040"/>
            <a:ext cx="3200400" cy="685800"/>
          </a:xfrm>
          <a:prstGeom prst="rect">
            <a:avLst/>
          </a:prstGeom>
          <a:noFill/>
          <a:ln/>
        </p:spPr>
        <p:txBody>
          <a:bodyPr wrap="square" lIns="0" tIns="0" rIns="0" bIns="0" rtlCol="0" anchor="ctr"/>
          <a:lstStyle/>
          <a:p>
            <a:pPr indent="0" marL="0">
              <a:buNone/>
            </a:pPr>
            <a:r>
              <a:rPr lang="en-US" sz="4000" b="1" dirty="0">
                <a:solidFill>
                  <a:srgbClr val="B58CFF"/>
                </a:solidFill>
              </a:rPr>
              <a:t>ER-504</a:t>
            </a:r>
            <a:endParaRPr lang="en-US" sz="4000" dirty="0"/>
          </a:p>
        </p:txBody>
      </p:sp>
      <p:sp>
        <p:nvSpPr>
          <p:cNvPr id="28" name="Text 26"/>
          <p:cNvSpPr txBox="1"/>
          <p:nvPr/>
        </p:nvSpPr>
        <p:spPr>
          <a:xfrm>
            <a:off x="6519672" y="4480560"/>
            <a:ext cx="4846320" cy="320040"/>
          </a:xfrm>
          <a:prstGeom prst="rect">
            <a:avLst/>
          </a:prstGeom>
          <a:noFill/>
          <a:ln/>
        </p:spPr>
        <p:txBody>
          <a:bodyPr wrap="square" lIns="0" tIns="0" rIns="0" bIns="0" rtlCol="0" anchor="t"/>
          <a:lstStyle/>
          <a:p>
            <a:pPr indent="0" marL="0">
              <a:buNone/>
            </a:pPr>
            <a:r>
              <a:rPr lang="en-US" sz="1600" b="1" dirty="0">
                <a:solidFill>
                  <a:schemeClr val="bg1"/>
                </a:solidFill>
              </a:rPr>
              <a:t>Source or reading is contradictory</a:t>
            </a:r>
            <a:endParaRPr lang="en-US" sz="1600" dirty="0"/>
          </a:p>
        </p:txBody>
      </p:sp>
      <p:sp>
        <p:nvSpPr>
          <p:cNvPr id="29" name="Text 27"/>
          <p:cNvSpPr txBox="1"/>
          <p:nvPr/>
        </p:nvSpPr>
        <p:spPr>
          <a:xfrm>
            <a:off x="6519672" y="4846320"/>
            <a:ext cx="4846320" cy="457200"/>
          </a:xfrm>
          <a:prstGeom prst="rect">
            <a:avLst/>
          </a:prstGeom>
          <a:noFill/>
          <a:ln/>
        </p:spPr>
        <p:txBody>
          <a:bodyPr wrap="square" lIns="0" tIns="0" rIns="0" bIns="0" rtlCol="0" anchor="t"/>
          <a:lstStyle/>
          <a:p>
            <a:pPr indent="0" marL="0">
              <a:buNone/>
            </a:pPr>
            <a:r>
              <a:rPr lang="en-US" sz="1250" dirty="0">
                <a:solidFill>
                  <a:srgbClr val="CFE0FF"/>
                </a:solidFill>
              </a:rPr>
              <a:t>Mark the uncertainty and request human review</a:t>
            </a:r>
            <a:endParaRPr lang="en-US" sz="1250" dirty="0"/>
          </a:p>
        </p:txBody>
      </p:sp>
      <p:sp>
        <p:nvSpPr>
          <p:cNvPr id="30" name="Placeholder note"/>
          <p:cNvSpPr/>
          <p:nvPr/>
        </p:nvSpPr>
        <p:spPr>
          <a:xfrm>
            <a:off x="548640" y="5669280"/>
            <a:ext cx="11091672" cy="530352"/>
          </a:xfrm>
          <a:prstGeom prst="roundRect">
            <a:avLst>
              <a:gd name="adj" fmla="val 50000"/>
            </a:avLst>
          </a:prstGeom>
          <a:solidFill>
            <a:srgbClr val="F5A524">
              <a:alpha val="14000"/>
            </a:srgbClr>
          </a:solidFill>
          <a:ln w="12700">
            <a:solidFill>
              <a:srgbClr val="B98324"/>
            </a:solidFill>
            <a:prstDash val="solid"/>
          </a:ln>
        </p:spPr>
      </p:sp>
      <p:pic>
        <p:nvPicPr>
          <p:cNvPr id="31" name="Image 0" descr="Warning">    </p:cNvPr>
          <p:cNvPicPr>
            <a:picLocks noChangeAspect="1"/>
          </p:cNvPicPr>
          <p:nvPr/>
        </p:nvPicPr>
        <p:blipFill>
          <a:blip r:embed="rId9"/>
          <a:stretch>
            <a:fillRect/>
          </a:stretch>
        </p:blipFill>
        <p:spPr>
          <a:xfrm>
            <a:off x="777240" y="5824728"/>
            <a:ext cx="219456" cy="219456"/>
          </a:xfrm>
          <a:prstGeom prst="rect">
            <a:avLst/>
          </a:prstGeom>
        </p:spPr>
      </p:pic>
      <p:sp>
        <p:nvSpPr>
          <p:cNvPr id="32" name="Text 29"/>
          <p:cNvSpPr txBox="1"/>
          <p:nvPr/>
        </p:nvSpPr>
        <p:spPr>
          <a:xfrm>
            <a:off x="1143000" y="5669280"/>
            <a:ext cx="10332720" cy="530352"/>
          </a:xfrm>
          <a:prstGeom prst="rect">
            <a:avLst/>
          </a:prstGeom>
          <a:noFill/>
          <a:ln/>
        </p:spPr>
        <p:txBody>
          <a:bodyPr wrap="square" lIns="0" tIns="0" rIns="0" bIns="0" rtlCol="0" anchor="ctr"/>
          <a:lstStyle/>
          <a:p>
            <a:pPr indent="0" marL="0">
              <a:buNone/>
            </a:pPr>
            <a:r>
              <a:rPr lang="en-US" sz="1200" dirty="0">
                <a:solidFill>
                  <a:schemeClr val="bg1"/>
                </a:solidFill>
              </a:rPr>
              <a:t>ER-502 values (blood pressure 160/100, glucose 300) are training placeholders, not clinical thresholds.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05  ·  RESULTS</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14 of 14 scenarios pass in the offline dry run</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1" name="Text 9"/>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Results</a:t>
            </a:r>
            <a:endParaRPr lang="en-US" sz="950" dirty="0"/>
          </a:p>
        </p:txBody>
      </p:sp>
      <p:sp>
        <p:nvSpPr>
          <p:cNvPr id="12" name="Shape 10"/>
          <p:cNvSpPr/>
          <p:nvPr/>
        </p:nvSpPr>
        <p:spPr>
          <a:xfrm>
            <a:off x="8878824" y="6309360"/>
            <a:ext cx="73152" cy="73152"/>
          </a:xfrm>
          <a:prstGeom prst="ellipse">
            <a:avLst/>
          </a:prstGeom>
          <a:solidFill>
            <a:schemeClr val="accent1"/>
          </a:solidFill>
          <a:ln w="12700">
            <a:solidFill>
              <a:schemeClr val="accent1"/>
            </a:solidFill>
            <a:prstDash val="solid"/>
          </a:ln>
        </p:spPr>
      </p:sp>
      <p:sp>
        <p:nvSpPr>
          <p:cNvPr id="13" name="Text 11"/>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4" name="Gauge panel"/>
          <p:cNvSpPr/>
          <p:nvPr/>
        </p:nvSpPr>
        <p:spPr>
          <a:xfrm>
            <a:off x="548640" y="1417320"/>
            <a:ext cx="3383280" cy="3657600"/>
          </a:xfrm>
          <a:prstGeom prst="roundRect">
            <a:avLst>
              <a:gd name="adj" fmla="val 3784"/>
            </a:avLst>
          </a:prstGeom>
          <a:solidFill>
            <a:srgbClr val="FFFFFF">
              <a:alpha val="8000"/>
            </a:srgbClr>
          </a:solidFill>
          <a:ln w="12700">
            <a:solidFill>
              <a:srgbClr val="2B4DA8"/>
            </a:solidFill>
            <a:prstDash val="solid"/>
          </a:ln>
        </p:spPr>
      </p:sp>
      <p:graphicFrame>
        <p:nvGraphicFramePr>
          <p:cNvPr id="15" name="Chart 0" descr=""/>
          <p:cNvGraphicFramePr/>
          <p:nvPr/>
        </p:nvGraphicFramePr>
        <p:xfrm>
          <a:off x="685800" y="1554480"/>
          <a:ext cx="3108960" cy="2743200"/>
        </p:xfrm>
        <a:graphic xmlns:a="http://schemas.openxmlformats.org/drawingml/2006/main">
          <a:graphicData uri="http://schemas.openxmlformats.org/drawingml/2006/chart">
            <c:chart xmlns:c="http://schemas.openxmlformats.org/drawingml/2006/chart" r:id="rId9"/>
          </a:graphicData>
        </a:graphic>
      </p:graphicFrame>
      <p:sp>
        <p:nvSpPr>
          <p:cNvPr id="16" name="Text 13"/>
          <p:cNvSpPr txBox="1"/>
          <p:nvPr/>
        </p:nvSpPr>
        <p:spPr>
          <a:xfrm>
            <a:off x="685800" y="2606040"/>
            <a:ext cx="3108960" cy="502920"/>
          </a:xfrm>
          <a:prstGeom prst="rect">
            <a:avLst/>
          </a:prstGeom>
          <a:noFill/>
          <a:ln/>
        </p:spPr>
        <p:txBody>
          <a:bodyPr wrap="square" lIns="0" tIns="0" rIns="0" bIns="0" rtlCol="0" anchor="ctr"/>
          <a:lstStyle/>
          <a:p>
            <a:pPr algn="ctr" indent="0" marL="0">
              <a:buNone/>
            </a:pPr>
            <a:r>
              <a:rPr lang="en-US" sz="2600" b="1" dirty="0">
                <a:solidFill>
                  <a:schemeClr val="bg1"/>
                </a:solidFill>
              </a:rPr>
              <a:t>14/14</a:t>
            </a:r>
            <a:endParaRPr lang="en-US" sz="2600" dirty="0"/>
          </a:p>
        </p:txBody>
      </p:sp>
      <p:sp>
        <p:nvSpPr>
          <p:cNvPr id="17" name="Text 14"/>
          <p:cNvSpPr txBox="1"/>
          <p:nvPr/>
        </p:nvSpPr>
        <p:spPr>
          <a:xfrm>
            <a:off x="685800" y="3108960"/>
            <a:ext cx="3108960" cy="274320"/>
          </a:xfrm>
          <a:prstGeom prst="rect">
            <a:avLst/>
          </a:prstGeom>
          <a:noFill/>
          <a:ln/>
        </p:spPr>
        <p:txBody>
          <a:bodyPr wrap="square" lIns="0" tIns="0" rIns="0" bIns="0" rtlCol="0" anchor="t"/>
          <a:lstStyle/>
          <a:p>
            <a:pPr algn="ctr" indent="0" marL="0">
              <a:buNone/>
            </a:pPr>
            <a:r>
              <a:rPr lang="en-US" sz="1100" dirty="0">
                <a:solidFill>
                  <a:srgbClr val="CFE0FF"/>
                </a:solidFill>
              </a:rPr>
              <a:t>pass</a:t>
            </a:r>
            <a:endParaRPr lang="en-US" sz="1100" dirty="0"/>
          </a:p>
        </p:txBody>
      </p:sp>
      <p:sp>
        <p:nvSpPr>
          <p:cNvPr id="18" name="Text 15"/>
          <p:cNvSpPr txBox="1"/>
          <p:nvPr/>
        </p:nvSpPr>
        <p:spPr>
          <a:xfrm>
            <a:off x="777240" y="4434840"/>
            <a:ext cx="2926080" cy="502920"/>
          </a:xfrm>
          <a:prstGeom prst="rect">
            <a:avLst/>
          </a:prstGeom>
          <a:noFill/>
          <a:ln/>
        </p:spPr>
        <p:txBody>
          <a:bodyPr wrap="square" lIns="0" tIns="0" rIns="0" bIns="0" rtlCol="0" anchor="t"/>
          <a:lstStyle/>
          <a:p>
            <a:pPr algn="ctr" indent="0" marL="0">
              <a:buNone/>
            </a:pPr>
            <a:r>
              <a:rPr lang="en-US" sz="1100" dirty="0">
                <a:solidFill>
                  <a:srgbClr val="CFE0FF"/>
                </a:solidFill>
              </a:rPr>
              <a:t>Offline dry run: safety code and templates</a:t>
            </a:r>
            <a:endParaRPr lang="en-US" sz="1100" dirty="0"/>
          </a:p>
        </p:txBody>
      </p:sp>
      <p:sp>
        <p:nvSpPr>
          <p:cNvPr id="19" name="Coverage panel"/>
          <p:cNvSpPr/>
          <p:nvPr/>
        </p:nvSpPr>
        <p:spPr>
          <a:xfrm>
            <a:off x="4160520" y="1417320"/>
            <a:ext cx="4572000" cy="3657600"/>
          </a:xfrm>
          <a:prstGeom prst="roundRect">
            <a:avLst>
              <a:gd name="adj" fmla="val 3500"/>
            </a:avLst>
          </a:prstGeom>
          <a:solidFill>
            <a:srgbClr val="FFFFFF">
              <a:alpha val="8000"/>
            </a:srgbClr>
          </a:solidFill>
          <a:ln w="12700">
            <a:solidFill>
              <a:srgbClr val="2B4DA8"/>
            </a:solidFill>
            <a:prstDash val="solid"/>
          </a:ln>
        </p:spPr>
      </p:sp>
      <p:sp>
        <p:nvSpPr>
          <p:cNvPr id="20" name="Text 17"/>
          <p:cNvSpPr txBox="1"/>
          <p:nvPr/>
        </p:nvSpPr>
        <p:spPr>
          <a:xfrm>
            <a:off x="4434840" y="1600200"/>
            <a:ext cx="4114800" cy="228600"/>
          </a:xfrm>
          <a:prstGeom prst="rect">
            <a:avLst/>
          </a:prstGeom>
          <a:noFill/>
          <a:ln/>
        </p:spPr>
        <p:txBody>
          <a:bodyPr wrap="square" lIns="0" tIns="0" rIns="0" bIns="0" rtlCol="0" anchor="t"/>
          <a:lstStyle/>
          <a:p>
            <a:pPr indent="0" marL="0">
              <a:buNone/>
            </a:pPr>
            <a:r>
              <a:rPr lang="en-US" sz="1050" b="1" spc="300" kern="0" dirty="0">
                <a:solidFill>
                  <a:srgbClr val="3CC3F0"/>
                </a:solidFill>
              </a:rPr>
              <a:t>WHAT THE 14 SCENARIOS COVER</a:t>
            </a:r>
            <a:endParaRPr lang="en-US" sz="1050" dirty="0"/>
          </a:p>
        </p:txBody>
      </p:sp>
      <p:graphicFrame>
        <p:nvGraphicFramePr>
          <p:cNvPr id="21" name="Chart 1" descr=""/>
          <p:cNvGraphicFramePr/>
          <p:nvPr/>
        </p:nvGraphicFramePr>
        <p:xfrm>
          <a:off x="4297680" y="1920240"/>
          <a:ext cx="4297680" cy="3017520"/>
        </p:xfrm>
        <a:graphic xmlns:a="http://schemas.openxmlformats.org/drawingml/2006/main">
          <a:graphicData uri="http://schemas.openxmlformats.org/drawingml/2006/chart">
            <c:chart xmlns:c="http://schemas.openxmlformats.org/drawingml/2006/chart" r:id="rId10"/>
          </a:graphicData>
        </a:graphic>
      </p:graphicFrame>
      <p:sp>
        <p:nvSpPr>
          <p:cNvPr id="22" name="Stat tile"/>
          <p:cNvSpPr/>
          <p:nvPr/>
        </p:nvSpPr>
        <p:spPr>
          <a:xfrm>
            <a:off x="8961120" y="1417320"/>
            <a:ext cx="2679192" cy="1133856"/>
          </a:xfrm>
          <a:prstGeom prst="roundRect">
            <a:avLst>
              <a:gd name="adj" fmla="val 11290"/>
            </a:avLst>
          </a:prstGeom>
          <a:solidFill>
            <a:srgbClr val="FFFFFF">
              <a:alpha val="8000"/>
            </a:srgbClr>
          </a:solidFill>
          <a:ln w="12700">
            <a:solidFill>
              <a:srgbClr val="2B4DA8"/>
            </a:solidFill>
            <a:prstDash val="solid"/>
          </a:ln>
        </p:spPr>
      </p:sp>
      <p:sp>
        <p:nvSpPr>
          <p:cNvPr id="23" name="Text 19"/>
          <p:cNvSpPr txBox="1"/>
          <p:nvPr/>
        </p:nvSpPr>
        <p:spPr>
          <a:xfrm>
            <a:off x="9189720" y="1508760"/>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105</a:t>
            </a:r>
            <a:endParaRPr lang="en-US" sz="3400" dirty="0"/>
          </a:p>
        </p:txBody>
      </p:sp>
      <p:sp>
        <p:nvSpPr>
          <p:cNvPr id="24" name="Text 20"/>
          <p:cNvSpPr txBox="1"/>
          <p:nvPr/>
        </p:nvSpPr>
        <p:spPr>
          <a:xfrm>
            <a:off x="9189720" y="2148840"/>
            <a:ext cx="2286000" cy="274320"/>
          </a:xfrm>
          <a:prstGeom prst="rect">
            <a:avLst/>
          </a:prstGeom>
          <a:noFill/>
          <a:ln/>
        </p:spPr>
        <p:txBody>
          <a:bodyPr wrap="square" lIns="0" tIns="0" rIns="0" bIns="0" rtlCol="0" anchor="t"/>
          <a:lstStyle/>
          <a:p>
            <a:pPr indent="0" marL="0">
              <a:buNone/>
            </a:pPr>
            <a:r>
              <a:rPr lang="en-US" sz="1200" dirty="0">
                <a:solidFill>
                  <a:srgbClr val="CFE0FF"/>
                </a:solidFill>
              </a:rPr>
              <a:t>synthetic members</a:t>
            </a:r>
            <a:endParaRPr lang="en-US" sz="1200" dirty="0"/>
          </a:p>
        </p:txBody>
      </p:sp>
      <p:sp>
        <p:nvSpPr>
          <p:cNvPr id="25" name="Stat tile"/>
          <p:cNvSpPr/>
          <p:nvPr/>
        </p:nvSpPr>
        <p:spPr>
          <a:xfrm>
            <a:off x="8961120" y="2679192"/>
            <a:ext cx="2679192" cy="1133856"/>
          </a:xfrm>
          <a:prstGeom prst="roundRect">
            <a:avLst>
              <a:gd name="adj" fmla="val 11290"/>
            </a:avLst>
          </a:prstGeom>
          <a:solidFill>
            <a:srgbClr val="FFFFFF">
              <a:alpha val="8000"/>
            </a:srgbClr>
          </a:solidFill>
          <a:ln w="12700">
            <a:solidFill>
              <a:srgbClr val="2B4DA8"/>
            </a:solidFill>
            <a:prstDash val="solid"/>
          </a:ln>
        </p:spPr>
      </p:sp>
      <p:sp>
        <p:nvSpPr>
          <p:cNvPr id="26" name="Text 22"/>
          <p:cNvSpPr txBox="1"/>
          <p:nvPr/>
        </p:nvSpPr>
        <p:spPr>
          <a:xfrm>
            <a:off x="9189720" y="2770632"/>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2,254</a:t>
            </a:r>
            <a:endParaRPr lang="en-US" sz="3400" dirty="0"/>
          </a:p>
        </p:txBody>
      </p:sp>
      <p:sp>
        <p:nvSpPr>
          <p:cNvPr id="27" name="Text 23"/>
          <p:cNvSpPr txBox="1"/>
          <p:nvPr/>
        </p:nvSpPr>
        <p:spPr>
          <a:xfrm>
            <a:off x="9189720" y="3410712"/>
            <a:ext cx="2286000" cy="274320"/>
          </a:xfrm>
          <a:prstGeom prst="rect">
            <a:avLst/>
          </a:prstGeom>
          <a:noFill/>
          <a:ln/>
        </p:spPr>
        <p:txBody>
          <a:bodyPr wrap="square" lIns="0" tIns="0" rIns="0" bIns="0" rtlCol="0" anchor="t"/>
          <a:lstStyle/>
          <a:p>
            <a:pPr indent="0" marL="0">
              <a:buNone/>
            </a:pPr>
            <a:r>
              <a:rPr lang="en-US" sz="1200" dirty="0">
                <a:solidFill>
                  <a:srgbClr val="CFE0FF"/>
                </a:solidFill>
              </a:rPr>
              <a:t>active readings</a:t>
            </a:r>
            <a:endParaRPr lang="en-US" sz="1200" dirty="0"/>
          </a:p>
        </p:txBody>
      </p:sp>
      <p:sp>
        <p:nvSpPr>
          <p:cNvPr id="28" name="Stat tile"/>
          <p:cNvSpPr/>
          <p:nvPr/>
        </p:nvSpPr>
        <p:spPr>
          <a:xfrm>
            <a:off x="8961120" y="3941064"/>
            <a:ext cx="2679192" cy="1133856"/>
          </a:xfrm>
          <a:prstGeom prst="roundRect">
            <a:avLst>
              <a:gd name="adj" fmla="val 11290"/>
            </a:avLst>
          </a:prstGeom>
          <a:solidFill>
            <a:srgbClr val="FFFFFF">
              <a:alpha val="8000"/>
            </a:srgbClr>
          </a:solidFill>
          <a:ln w="12700">
            <a:solidFill>
              <a:srgbClr val="2B4DA8"/>
            </a:solidFill>
            <a:prstDash val="solid"/>
          </a:ln>
        </p:spPr>
      </p:sp>
      <p:sp>
        <p:nvSpPr>
          <p:cNvPr id="29" name="Text 25"/>
          <p:cNvSpPr txBox="1"/>
          <p:nvPr/>
        </p:nvSpPr>
        <p:spPr>
          <a:xfrm>
            <a:off x="9189720" y="4032504"/>
            <a:ext cx="2286000" cy="640080"/>
          </a:xfrm>
          <a:prstGeom prst="rect">
            <a:avLst/>
          </a:prstGeom>
          <a:noFill/>
          <a:ln/>
        </p:spPr>
        <p:txBody>
          <a:bodyPr wrap="square" lIns="0" tIns="0" rIns="0" bIns="0" rtlCol="0" anchor="ctr"/>
          <a:lstStyle/>
          <a:p>
            <a:pPr indent="0" marL="0">
              <a:buNone/>
            </a:pPr>
            <a:r>
              <a:rPr lang="en-US" sz="3400" b="1" dirty="0">
                <a:solidFill>
                  <a:srgbClr val="3CC3F0"/>
                </a:solidFill>
              </a:rPr>
              <a:t>24</a:t>
            </a:r>
            <a:endParaRPr lang="en-US" sz="3400" dirty="0"/>
          </a:p>
        </p:txBody>
      </p:sp>
      <p:sp>
        <p:nvSpPr>
          <p:cNvPr id="30" name="Text 26"/>
          <p:cNvSpPr txBox="1"/>
          <p:nvPr/>
        </p:nvSpPr>
        <p:spPr>
          <a:xfrm>
            <a:off x="9189720" y="4672584"/>
            <a:ext cx="2286000" cy="274320"/>
          </a:xfrm>
          <a:prstGeom prst="rect">
            <a:avLst/>
          </a:prstGeom>
          <a:noFill/>
          <a:ln/>
        </p:spPr>
        <p:txBody>
          <a:bodyPr wrap="square" lIns="0" tIns="0" rIns="0" bIns="0" rtlCol="0" anchor="t"/>
          <a:lstStyle/>
          <a:p>
            <a:pPr indent="0" marL="0">
              <a:buNone/>
            </a:pPr>
            <a:r>
              <a:rPr lang="en-US" sz="1200" dirty="0">
                <a:solidFill>
                  <a:srgbClr val="CFE0FF"/>
                </a:solidFill>
              </a:rPr>
              <a:t>approved articles</a:t>
            </a:r>
            <a:endParaRPr lang="en-US" sz="1200" dirty="0"/>
          </a:p>
        </p:txBody>
      </p:sp>
      <p:sp>
        <p:nvSpPr>
          <p:cNvPr id="31" name="Evidence note"/>
          <p:cNvSpPr/>
          <p:nvPr/>
        </p:nvSpPr>
        <p:spPr>
          <a:xfrm>
            <a:off x="548640" y="5303520"/>
            <a:ext cx="11091672" cy="777240"/>
          </a:xfrm>
          <a:prstGeom prst="roundRect">
            <a:avLst>
              <a:gd name="adj" fmla="val 23529"/>
            </a:avLst>
          </a:prstGeom>
          <a:solidFill>
            <a:srgbClr val="3CC3F0">
              <a:alpha val="10000"/>
            </a:srgbClr>
          </a:solidFill>
          <a:ln w="12700">
            <a:solidFill>
              <a:srgbClr val="2B7FA8"/>
            </a:solidFill>
            <a:prstDash val="solid"/>
          </a:ln>
        </p:spPr>
      </p:sp>
      <p:pic>
        <p:nvPicPr>
          <p:cNvPr id="32" name="Image 0" descr="Info">    </p:cNvPr>
          <p:cNvPicPr>
            <a:picLocks noChangeAspect="1"/>
          </p:cNvPicPr>
          <p:nvPr/>
        </p:nvPicPr>
        <p:blipFill>
          <a:blip r:embed="rId11"/>
          <a:stretch>
            <a:fillRect/>
          </a:stretch>
        </p:blipFill>
        <p:spPr>
          <a:xfrm>
            <a:off x="777240" y="5577840"/>
            <a:ext cx="237744" cy="237744"/>
          </a:xfrm>
          <a:prstGeom prst="rect">
            <a:avLst/>
          </a:prstGeom>
        </p:spPr>
      </p:pic>
      <p:sp>
        <p:nvSpPr>
          <p:cNvPr id="33" name="Text 28"/>
          <p:cNvSpPr txBox="1"/>
          <p:nvPr/>
        </p:nvSpPr>
        <p:spPr>
          <a:xfrm>
            <a:off x="1188720" y="5303520"/>
            <a:ext cx="10241280" cy="777240"/>
          </a:xfrm>
          <a:prstGeom prst="rect">
            <a:avLst/>
          </a:prstGeom>
          <a:noFill/>
          <a:ln/>
        </p:spPr>
        <p:txBody>
          <a:bodyPr wrap="square" lIns="0" tIns="0" rIns="0" bIns="0" rtlCol="0" anchor="ctr"/>
          <a:lstStyle/>
          <a:p>
            <a:pPr indent="0" marL="0">
              <a:buNone/>
            </a:pPr>
            <a:r>
              <a:rPr lang="en-US" sz="1250" dirty="0">
                <a:solidFill>
                  <a:schemeClr val="bg1"/>
                </a:solidFill>
              </a:rPr>
              <a:t>The online run against the deployed Foundry agents is the submission evidence; this slide shows the offline dry run.</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3CC3F0"/>
                </a:solidFill>
              </a:rPr>
              <a:t>06  ·  LIMITS AND NEXT STEPS</a:t>
            </a:r>
            <a:endParaRPr lang="en-US" sz="1100" dirty="0"/>
          </a:p>
        </p:txBody>
      </p:sp>
      <p:sp>
        <p:nvSpPr>
          <p:cNvPr id="3" name="Text 1"/>
          <p:cNvSpPr/>
          <p:nvPr>
            <p:ph idx="103" type="title" hasCustomPrompt="1"/>
          </p:nvPr>
        </p:nvSpPr>
        <p:spPr>
          <a:xfrm>
            <a:off x="548640" y="640080"/>
            <a:ext cx="11064240" cy="603504"/>
          </a:xfrm>
          <a:prstGeom prst="rect">
            <a:avLst/>
          </a:prstGeom>
          <a:noFill/>
          <a:ln/>
        </p:spPr>
        <p:txBody>
          <a:bodyPr wrap="square" lIns="0" tIns="0" rIns="0" bIns="0" rtlCol="0" anchor="t"/>
          <a:lstStyle/>
          <a:p>
            <a:pPr algn="l" indent="0" marL="0">
              <a:buNone/>
            </a:pPr>
            <a:r>
              <a:rPr lang="en-US" sz="3200" b="1" dirty="0">
                <a:solidFill>
                  <a:srgbClr val="FFFFFF"/>
                </a:solidFill>
              </a:rPr>
              <a:t>Every limit has a next step</a:t>
            </a:r>
            <a:endParaRPr lang="en-US" sz="3200" dirty="0"/>
          </a:p>
        </p:txBody>
      </p:sp>
      <p:sp>
        <p:nvSpPr>
          <p:cNvPr id="4" name="Text 2"/>
          <p:cNvSpPr txBox="1"/>
          <p:nvPr/>
        </p:nvSpPr>
        <p:spPr>
          <a:xfrm>
            <a:off x="27432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5" name="Text 3"/>
          <p:cNvSpPr txBox="1"/>
          <p:nvPr/>
        </p:nvSpPr>
        <p:spPr>
          <a:xfrm>
            <a:off x="35661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6" name="Text 4"/>
          <p:cNvSpPr txBox="1"/>
          <p:nvPr/>
        </p:nvSpPr>
        <p:spPr>
          <a:xfrm>
            <a:off x="43891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7" name="Text 5"/>
          <p:cNvSpPr txBox="1"/>
          <p:nvPr/>
        </p:nvSpPr>
        <p:spPr>
          <a:xfrm>
            <a:off x="521208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8" name="Text 6"/>
          <p:cNvSpPr txBox="1"/>
          <p:nvPr/>
        </p:nvSpPr>
        <p:spPr>
          <a:xfrm>
            <a:off x="603504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9" name="Text 7"/>
          <p:cNvSpPr txBox="1"/>
          <p:nvPr/>
        </p:nvSpPr>
        <p:spPr>
          <a:xfrm>
            <a:off x="685800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0" name="Text 8"/>
          <p:cNvSpPr txBox="1"/>
          <p:nvPr/>
        </p:nvSpPr>
        <p:spPr>
          <a:xfrm>
            <a:off x="768096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1" name="Text 9"/>
          <p:cNvSpPr txBox="1"/>
          <p:nvPr/>
        </p:nvSpPr>
        <p:spPr>
          <a:xfrm>
            <a:off x="8503920" y="6382512"/>
            <a:ext cx="82296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2" name="Text 10"/>
          <p:cNvSpPr txBox="1"/>
          <p:nvPr/>
        </p:nvSpPr>
        <p:spPr>
          <a:xfrm>
            <a:off x="9326880" y="6382512"/>
            <a:ext cx="822960" cy="219456"/>
          </a:xfrm>
          <a:prstGeom prst="rect">
            <a:avLst/>
          </a:prstGeom>
          <a:noFill/>
          <a:ln/>
        </p:spPr>
        <p:txBody>
          <a:bodyPr wrap="square" lIns="0" tIns="0" rIns="0" bIns="0" rtlCol="0" anchor="ctr"/>
          <a:lstStyle/>
          <a:p>
            <a:pPr algn="ctr" indent="0" marL="0">
              <a:buNone/>
            </a:pPr>
            <a:r>
              <a:rPr lang="en-US" sz="950" b="1" dirty="0">
                <a:solidFill>
                  <a:srgbClr val="FFFFFF"/>
                </a:solidFill>
              </a:rPr>
              <a:t>Next</a:t>
            </a:r>
            <a:endParaRPr lang="en-US" sz="950" dirty="0"/>
          </a:p>
        </p:txBody>
      </p:sp>
      <p:sp>
        <p:nvSpPr>
          <p:cNvPr id="13" name="Shape 11"/>
          <p:cNvSpPr/>
          <p:nvPr/>
        </p:nvSpPr>
        <p:spPr>
          <a:xfrm>
            <a:off x="9701784" y="6309360"/>
            <a:ext cx="73152" cy="73152"/>
          </a:xfrm>
          <a:prstGeom prst="ellipse">
            <a:avLst/>
          </a:prstGeom>
          <a:solidFill>
            <a:schemeClr val="accent1"/>
          </a:solidFill>
          <a:ln w="12700">
            <a:solidFill>
              <a:schemeClr val="accent1"/>
            </a:solidFill>
            <a:prstDash val="solid"/>
          </a:ln>
        </p:spPr>
      </p:sp>
      <p:sp>
        <p:nvSpPr>
          <p:cNvPr id="14" name="Text 12"/>
          <p:cNvSpPr txBox="1"/>
          <p:nvPr/>
        </p:nvSpPr>
        <p:spPr>
          <a:xfrm>
            <a:off x="548640" y="1417320"/>
            <a:ext cx="4572000" cy="228600"/>
          </a:xfrm>
          <a:prstGeom prst="rect">
            <a:avLst/>
          </a:prstGeom>
          <a:noFill/>
          <a:ln/>
        </p:spPr>
        <p:txBody>
          <a:bodyPr wrap="square" lIns="0" tIns="0" rIns="0" bIns="0" rtlCol="0" anchor="t"/>
          <a:lstStyle/>
          <a:p>
            <a:pPr indent="0" marL="0">
              <a:buNone/>
            </a:pPr>
            <a:r>
              <a:rPr lang="en-US" sz="1100" b="1" spc="300" kern="0" dirty="0">
                <a:solidFill>
                  <a:srgbClr val="F5A524"/>
                </a:solidFill>
              </a:rPr>
              <a:t>TODAY</a:t>
            </a:r>
            <a:endParaRPr lang="en-US" sz="1100" dirty="0"/>
          </a:p>
        </p:txBody>
      </p:sp>
      <p:sp>
        <p:nvSpPr>
          <p:cNvPr id="15" name="Text 13"/>
          <p:cNvSpPr txBox="1"/>
          <p:nvPr/>
        </p:nvSpPr>
        <p:spPr>
          <a:xfrm>
            <a:off x="6492240" y="1417320"/>
            <a:ext cx="4572000" cy="228600"/>
          </a:xfrm>
          <a:prstGeom prst="rect">
            <a:avLst/>
          </a:prstGeom>
          <a:noFill/>
          <a:ln/>
        </p:spPr>
        <p:txBody>
          <a:bodyPr wrap="square" lIns="0" tIns="0" rIns="0" bIns="0" rtlCol="0" anchor="t"/>
          <a:lstStyle/>
          <a:p>
            <a:pPr indent="0" marL="0">
              <a:buNone/>
            </a:pPr>
            <a:r>
              <a:rPr lang="en-US" sz="1100" b="1" spc="300" kern="0" dirty="0">
                <a:solidFill>
                  <a:srgbClr val="3CC3F0"/>
                </a:solidFill>
              </a:rPr>
              <a:t>NEXT</a:t>
            </a:r>
            <a:endParaRPr lang="en-US" sz="1100" dirty="0"/>
          </a:p>
        </p:txBody>
      </p:sp>
      <p:sp>
        <p:nvSpPr>
          <p:cNvPr id="16" name="Limit row"/>
          <p:cNvSpPr/>
          <p:nvPr/>
        </p:nvSpPr>
        <p:spPr>
          <a:xfrm>
            <a:off x="548640" y="1783080"/>
            <a:ext cx="5120640" cy="914400"/>
          </a:xfrm>
          <a:prstGeom prst="roundRect">
            <a:avLst>
              <a:gd name="adj" fmla="val 14000"/>
            </a:avLst>
          </a:prstGeom>
          <a:solidFill>
            <a:srgbClr val="F5A524">
              <a:alpha val="10000"/>
            </a:srgbClr>
          </a:solidFill>
          <a:ln w="12700">
            <a:solidFill>
              <a:srgbClr val="8C6A28"/>
            </a:solidFill>
            <a:prstDash val="solid"/>
          </a:ln>
        </p:spPr>
      </p:sp>
      <p:sp>
        <p:nvSpPr>
          <p:cNvPr id="17" name="Icon dot"/>
          <p:cNvSpPr/>
          <p:nvPr/>
        </p:nvSpPr>
        <p:spPr>
          <a:xfrm>
            <a:off x="777240" y="1984248"/>
            <a:ext cx="512064" cy="512064"/>
          </a:xfrm>
          <a:prstGeom prst="ellipse">
            <a:avLst/>
          </a:prstGeom>
          <a:solidFill>
            <a:srgbClr val="F5A524"/>
          </a:solidFill>
          <a:ln w="12700">
            <a:solidFill>
              <a:srgbClr val="F5A524"/>
            </a:solidFill>
            <a:prstDash val="solid"/>
          </a:ln>
        </p:spPr>
      </p:sp>
      <p:pic>
        <p:nvPicPr>
          <p:cNvPr id="18" name="Image 0" descr="ExclamationTriangle icon">    </p:cNvPr>
          <p:cNvPicPr>
            <a:picLocks noChangeAspect="1"/>
          </p:cNvPicPr>
          <p:nvPr/>
        </p:nvPicPr>
        <p:blipFill>
          <a:blip r:embed="rId9"/>
          <a:stretch>
            <a:fillRect/>
          </a:stretch>
        </p:blipFill>
        <p:spPr>
          <a:xfrm>
            <a:off x="910377" y="2117385"/>
            <a:ext cx="245791" cy="245791"/>
          </a:xfrm>
          <a:prstGeom prst="rect">
            <a:avLst/>
          </a:prstGeom>
        </p:spPr>
      </p:pic>
      <p:sp>
        <p:nvSpPr>
          <p:cNvPr id="19" name="Text 16"/>
          <p:cNvSpPr txBox="1"/>
          <p:nvPr/>
        </p:nvSpPr>
        <p:spPr>
          <a:xfrm>
            <a:off x="1508760" y="1783080"/>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ER-502 values are placeholders</a:t>
            </a:r>
            <a:endParaRPr lang="en-US" sz="1450" dirty="0"/>
          </a:p>
        </p:txBody>
      </p:sp>
      <p:sp>
        <p:nvSpPr>
          <p:cNvPr id="20" name="Icon dot"/>
          <p:cNvSpPr/>
          <p:nvPr/>
        </p:nvSpPr>
        <p:spPr>
          <a:xfrm>
            <a:off x="5852160" y="1984248"/>
            <a:ext cx="512064" cy="512064"/>
          </a:xfrm>
          <a:prstGeom prst="ellipse">
            <a:avLst/>
          </a:prstGeom>
          <a:solidFill>
            <a:srgbClr val="1547C8"/>
          </a:solidFill>
          <a:ln w="25400">
            <a:solidFill>
              <a:srgbClr val="3CC3F0"/>
            </a:solidFill>
            <a:prstDash val="solid"/>
          </a:ln>
        </p:spPr>
      </p:sp>
      <p:pic>
        <p:nvPicPr>
          <p:cNvPr id="21" name="Image 1" descr="ArrowRight icon">    </p:cNvPr>
          <p:cNvPicPr>
            <a:picLocks noChangeAspect="1"/>
          </p:cNvPicPr>
          <p:nvPr/>
        </p:nvPicPr>
        <p:blipFill>
          <a:blip r:embed="rId10"/>
          <a:stretch>
            <a:fillRect/>
          </a:stretch>
        </p:blipFill>
        <p:spPr>
          <a:xfrm>
            <a:off x="5985297" y="2117385"/>
            <a:ext cx="245791" cy="245791"/>
          </a:xfrm>
          <a:prstGeom prst="rect">
            <a:avLst/>
          </a:prstGeom>
        </p:spPr>
      </p:pic>
      <p:sp>
        <p:nvSpPr>
          <p:cNvPr id="22" name="Next row"/>
          <p:cNvSpPr/>
          <p:nvPr/>
        </p:nvSpPr>
        <p:spPr>
          <a:xfrm>
            <a:off x="6492240" y="1783080"/>
            <a:ext cx="5148072" cy="914400"/>
          </a:xfrm>
          <a:prstGeom prst="roundRect">
            <a:avLst>
              <a:gd name="adj" fmla="val 14000"/>
            </a:avLst>
          </a:prstGeom>
          <a:solidFill>
            <a:srgbClr val="3CC3F0">
              <a:alpha val="12000"/>
            </a:srgbClr>
          </a:solidFill>
          <a:ln w="12700">
            <a:solidFill>
              <a:srgbClr val="2B7FA8"/>
            </a:solidFill>
            <a:prstDash val="solid"/>
          </a:ln>
        </p:spPr>
      </p:sp>
      <p:sp>
        <p:nvSpPr>
          <p:cNvPr id="23" name="Text 19"/>
          <p:cNvSpPr txBox="1"/>
          <p:nvPr/>
        </p:nvSpPr>
        <p:spPr>
          <a:xfrm>
            <a:off x="6766560" y="1783080"/>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Clinician-set thresholds and sign-off</a:t>
            </a:r>
            <a:endParaRPr lang="en-US" sz="1450" dirty="0"/>
          </a:p>
        </p:txBody>
      </p:sp>
      <p:sp>
        <p:nvSpPr>
          <p:cNvPr id="24" name="Limit row"/>
          <p:cNvSpPr/>
          <p:nvPr/>
        </p:nvSpPr>
        <p:spPr>
          <a:xfrm>
            <a:off x="548640" y="2862072"/>
            <a:ext cx="5120640" cy="914400"/>
          </a:xfrm>
          <a:prstGeom prst="roundRect">
            <a:avLst>
              <a:gd name="adj" fmla="val 14000"/>
            </a:avLst>
          </a:prstGeom>
          <a:solidFill>
            <a:srgbClr val="F5A524">
              <a:alpha val="10000"/>
            </a:srgbClr>
          </a:solidFill>
          <a:ln w="12700">
            <a:solidFill>
              <a:srgbClr val="8C6A28"/>
            </a:solidFill>
            <a:prstDash val="solid"/>
          </a:ln>
        </p:spPr>
      </p:sp>
      <p:sp>
        <p:nvSpPr>
          <p:cNvPr id="25" name="Icon dot"/>
          <p:cNvSpPr/>
          <p:nvPr/>
        </p:nvSpPr>
        <p:spPr>
          <a:xfrm>
            <a:off x="777240" y="3063240"/>
            <a:ext cx="512064" cy="512064"/>
          </a:xfrm>
          <a:prstGeom prst="ellipse">
            <a:avLst/>
          </a:prstGeom>
          <a:solidFill>
            <a:srgbClr val="F5A524"/>
          </a:solidFill>
          <a:ln w="12700">
            <a:solidFill>
              <a:srgbClr val="F5A524"/>
            </a:solidFill>
            <a:prstDash val="solid"/>
          </a:ln>
        </p:spPr>
      </p:sp>
      <p:pic>
        <p:nvPicPr>
          <p:cNvPr id="26" name="Image 2" descr="ExclamationTriangle icon">    </p:cNvPr>
          <p:cNvPicPr>
            <a:picLocks noChangeAspect="1"/>
          </p:cNvPicPr>
          <p:nvPr/>
        </p:nvPicPr>
        <p:blipFill>
          <a:blip r:embed="rId11"/>
          <a:stretch>
            <a:fillRect/>
          </a:stretch>
        </p:blipFill>
        <p:spPr>
          <a:xfrm>
            <a:off x="910377" y="3196377"/>
            <a:ext cx="245791" cy="245791"/>
          </a:xfrm>
          <a:prstGeom prst="rect">
            <a:avLst/>
          </a:prstGeom>
        </p:spPr>
      </p:pic>
      <p:sp>
        <p:nvSpPr>
          <p:cNvPr id="27" name="Text 22"/>
          <p:cNvSpPr txBox="1"/>
          <p:nvPr/>
        </p:nvSpPr>
        <p:spPr>
          <a:xfrm>
            <a:off x="1508760" y="2862072"/>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Offline proof, not online proof</a:t>
            </a:r>
            <a:endParaRPr lang="en-US" sz="1450" dirty="0"/>
          </a:p>
        </p:txBody>
      </p:sp>
      <p:sp>
        <p:nvSpPr>
          <p:cNvPr id="28" name="Icon dot"/>
          <p:cNvSpPr/>
          <p:nvPr/>
        </p:nvSpPr>
        <p:spPr>
          <a:xfrm>
            <a:off x="5852160" y="3063240"/>
            <a:ext cx="512064" cy="512064"/>
          </a:xfrm>
          <a:prstGeom prst="ellipse">
            <a:avLst/>
          </a:prstGeom>
          <a:solidFill>
            <a:srgbClr val="1547C8"/>
          </a:solidFill>
          <a:ln w="25400">
            <a:solidFill>
              <a:srgbClr val="3CC3F0"/>
            </a:solidFill>
            <a:prstDash val="solid"/>
          </a:ln>
        </p:spPr>
      </p:sp>
      <p:pic>
        <p:nvPicPr>
          <p:cNvPr id="29" name="Image 3" descr="ArrowRight icon">    </p:cNvPr>
          <p:cNvPicPr>
            <a:picLocks noChangeAspect="1"/>
          </p:cNvPicPr>
          <p:nvPr/>
        </p:nvPicPr>
        <p:blipFill>
          <a:blip r:embed="rId12"/>
          <a:stretch>
            <a:fillRect/>
          </a:stretch>
        </p:blipFill>
        <p:spPr>
          <a:xfrm>
            <a:off x="5985297" y="3196377"/>
            <a:ext cx="245791" cy="245791"/>
          </a:xfrm>
          <a:prstGeom prst="rect">
            <a:avLst/>
          </a:prstGeom>
        </p:spPr>
      </p:pic>
      <p:sp>
        <p:nvSpPr>
          <p:cNvPr id="30" name="Next row"/>
          <p:cNvSpPr/>
          <p:nvPr/>
        </p:nvSpPr>
        <p:spPr>
          <a:xfrm>
            <a:off x="6492240" y="2862072"/>
            <a:ext cx="5148072" cy="914400"/>
          </a:xfrm>
          <a:prstGeom prst="roundRect">
            <a:avLst>
              <a:gd name="adj" fmla="val 14000"/>
            </a:avLst>
          </a:prstGeom>
          <a:solidFill>
            <a:srgbClr val="3CC3F0">
              <a:alpha val="12000"/>
            </a:srgbClr>
          </a:solidFill>
          <a:ln w="12700">
            <a:solidFill>
              <a:srgbClr val="2B7FA8"/>
            </a:solidFill>
            <a:prstDash val="solid"/>
          </a:ln>
        </p:spPr>
      </p:sp>
      <p:sp>
        <p:nvSpPr>
          <p:cNvPr id="31" name="Text 25"/>
          <p:cNvSpPr txBox="1"/>
          <p:nvPr/>
        </p:nvSpPr>
        <p:spPr>
          <a:xfrm>
            <a:off x="6766560" y="2862072"/>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Run the online suite on deployed agents</a:t>
            </a:r>
            <a:endParaRPr lang="en-US" sz="1450" dirty="0"/>
          </a:p>
        </p:txBody>
      </p:sp>
      <p:sp>
        <p:nvSpPr>
          <p:cNvPr id="32" name="Limit row"/>
          <p:cNvSpPr/>
          <p:nvPr/>
        </p:nvSpPr>
        <p:spPr>
          <a:xfrm>
            <a:off x="548640" y="3941064"/>
            <a:ext cx="5120640" cy="914400"/>
          </a:xfrm>
          <a:prstGeom prst="roundRect">
            <a:avLst>
              <a:gd name="adj" fmla="val 14000"/>
            </a:avLst>
          </a:prstGeom>
          <a:solidFill>
            <a:srgbClr val="F5A524">
              <a:alpha val="10000"/>
            </a:srgbClr>
          </a:solidFill>
          <a:ln w="12700">
            <a:solidFill>
              <a:srgbClr val="8C6A28"/>
            </a:solidFill>
            <a:prstDash val="solid"/>
          </a:ln>
        </p:spPr>
      </p:sp>
      <p:sp>
        <p:nvSpPr>
          <p:cNvPr id="33" name="Icon dot"/>
          <p:cNvSpPr/>
          <p:nvPr/>
        </p:nvSpPr>
        <p:spPr>
          <a:xfrm>
            <a:off x="777240" y="4142232"/>
            <a:ext cx="512064" cy="512064"/>
          </a:xfrm>
          <a:prstGeom prst="ellipse">
            <a:avLst/>
          </a:prstGeom>
          <a:solidFill>
            <a:srgbClr val="F5A524"/>
          </a:solidFill>
          <a:ln w="12700">
            <a:solidFill>
              <a:srgbClr val="F5A524"/>
            </a:solidFill>
            <a:prstDash val="solid"/>
          </a:ln>
        </p:spPr>
      </p:sp>
      <p:pic>
        <p:nvPicPr>
          <p:cNvPr id="34" name="Image 4" descr="ExclamationTriangle icon">    </p:cNvPr>
          <p:cNvPicPr>
            <a:picLocks noChangeAspect="1"/>
          </p:cNvPicPr>
          <p:nvPr/>
        </p:nvPicPr>
        <p:blipFill>
          <a:blip r:embed="rId13"/>
          <a:stretch>
            <a:fillRect/>
          </a:stretch>
        </p:blipFill>
        <p:spPr>
          <a:xfrm>
            <a:off x="910377" y="4275369"/>
            <a:ext cx="245791" cy="245791"/>
          </a:xfrm>
          <a:prstGeom prst="rect">
            <a:avLst/>
          </a:prstGeom>
        </p:spPr>
      </p:pic>
      <p:sp>
        <p:nvSpPr>
          <p:cNvPr id="35" name="Text 28"/>
          <p:cNvSpPr txBox="1"/>
          <p:nvPr/>
        </p:nvSpPr>
        <p:spPr>
          <a:xfrm>
            <a:off x="1508760" y="3941064"/>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English keyword guards</a:t>
            </a:r>
            <a:endParaRPr lang="en-US" sz="1450" dirty="0"/>
          </a:p>
        </p:txBody>
      </p:sp>
      <p:sp>
        <p:nvSpPr>
          <p:cNvPr id="36" name="Icon dot"/>
          <p:cNvSpPr/>
          <p:nvPr/>
        </p:nvSpPr>
        <p:spPr>
          <a:xfrm>
            <a:off x="5852160" y="4142232"/>
            <a:ext cx="512064" cy="512064"/>
          </a:xfrm>
          <a:prstGeom prst="ellipse">
            <a:avLst/>
          </a:prstGeom>
          <a:solidFill>
            <a:srgbClr val="1547C8"/>
          </a:solidFill>
          <a:ln w="25400">
            <a:solidFill>
              <a:srgbClr val="3CC3F0"/>
            </a:solidFill>
            <a:prstDash val="solid"/>
          </a:ln>
        </p:spPr>
      </p:sp>
      <p:pic>
        <p:nvPicPr>
          <p:cNvPr id="37" name="Image 5" descr="ArrowRight icon">    </p:cNvPr>
          <p:cNvPicPr>
            <a:picLocks noChangeAspect="1"/>
          </p:cNvPicPr>
          <p:nvPr/>
        </p:nvPicPr>
        <p:blipFill>
          <a:blip r:embed="rId14"/>
          <a:stretch>
            <a:fillRect/>
          </a:stretch>
        </p:blipFill>
        <p:spPr>
          <a:xfrm>
            <a:off x="5985297" y="4275369"/>
            <a:ext cx="245791" cy="245791"/>
          </a:xfrm>
          <a:prstGeom prst="rect">
            <a:avLst/>
          </a:prstGeom>
        </p:spPr>
      </p:pic>
      <p:sp>
        <p:nvSpPr>
          <p:cNvPr id="38" name="Next row"/>
          <p:cNvSpPr/>
          <p:nvPr/>
        </p:nvSpPr>
        <p:spPr>
          <a:xfrm>
            <a:off x="6492240" y="3941064"/>
            <a:ext cx="5148072" cy="914400"/>
          </a:xfrm>
          <a:prstGeom prst="roundRect">
            <a:avLst>
              <a:gd name="adj" fmla="val 14000"/>
            </a:avLst>
          </a:prstGeom>
          <a:solidFill>
            <a:srgbClr val="3CC3F0">
              <a:alpha val="12000"/>
            </a:srgbClr>
          </a:solidFill>
          <a:ln w="12700">
            <a:solidFill>
              <a:srgbClr val="2B7FA8"/>
            </a:solidFill>
            <a:prstDash val="solid"/>
          </a:ln>
        </p:spPr>
      </p:sp>
      <p:sp>
        <p:nvSpPr>
          <p:cNvPr id="39" name="Text 31"/>
          <p:cNvSpPr txBox="1"/>
          <p:nvPr/>
        </p:nvSpPr>
        <p:spPr>
          <a:xfrm>
            <a:off x="6766560" y="3941064"/>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Test other languages; add a distress route</a:t>
            </a:r>
            <a:endParaRPr lang="en-US" sz="1450" dirty="0"/>
          </a:p>
        </p:txBody>
      </p:sp>
      <p:sp>
        <p:nvSpPr>
          <p:cNvPr id="40" name="Limit row"/>
          <p:cNvSpPr/>
          <p:nvPr/>
        </p:nvSpPr>
        <p:spPr>
          <a:xfrm>
            <a:off x="548640" y="5020056"/>
            <a:ext cx="5120640" cy="914400"/>
          </a:xfrm>
          <a:prstGeom prst="roundRect">
            <a:avLst>
              <a:gd name="adj" fmla="val 14000"/>
            </a:avLst>
          </a:prstGeom>
          <a:solidFill>
            <a:srgbClr val="F5A524">
              <a:alpha val="10000"/>
            </a:srgbClr>
          </a:solidFill>
          <a:ln w="12700">
            <a:solidFill>
              <a:srgbClr val="8C6A28"/>
            </a:solidFill>
            <a:prstDash val="solid"/>
          </a:ln>
        </p:spPr>
      </p:sp>
      <p:sp>
        <p:nvSpPr>
          <p:cNvPr id="41" name="Icon dot"/>
          <p:cNvSpPr/>
          <p:nvPr/>
        </p:nvSpPr>
        <p:spPr>
          <a:xfrm>
            <a:off x="777240" y="5221224"/>
            <a:ext cx="512064" cy="512064"/>
          </a:xfrm>
          <a:prstGeom prst="ellipse">
            <a:avLst/>
          </a:prstGeom>
          <a:solidFill>
            <a:srgbClr val="F5A524"/>
          </a:solidFill>
          <a:ln w="12700">
            <a:solidFill>
              <a:srgbClr val="F5A524"/>
            </a:solidFill>
            <a:prstDash val="solid"/>
          </a:ln>
        </p:spPr>
      </p:sp>
      <p:pic>
        <p:nvPicPr>
          <p:cNvPr id="42" name="Image 6" descr="ExclamationTriangle icon">    </p:cNvPr>
          <p:cNvPicPr>
            <a:picLocks noChangeAspect="1"/>
          </p:cNvPicPr>
          <p:nvPr/>
        </p:nvPicPr>
        <p:blipFill>
          <a:blip r:embed="rId15"/>
          <a:stretch>
            <a:fillRect/>
          </a:stretch>
        </p:blipFill>
        <p:spPr>
          <a:xfrm>
            <a:off x="910377" y="5354361"/>
            <a:ext cx="245791" cy="245791"/>
          </a:xfrm>
          <a:prstGeom prst="rect">
            <a:avLst/>
          </a:prstGeom>
        </p:spPr>
      </p:pic>
      <p:sp>
        <p:nvSpPr>
          <p:cNvPr id="43" name="Text 34"/>
          <p:cNvSpPr txBox="1"/>
          <p:nvPr/>
        </p:nvSpPr>
        <p:spPr>
          <a:xfrm>
            <a:off x="1508760" y="5020056"/>
            <a:ext cx="4023360" cy="914400"/>
          </a:xfrm>
          <a:prstGeom prst="rect">
            <a:avLst/>
          </a:prstGeom>
          <a:noFill/>
          <a:ln/>
        </p:spPr>
        <p:txBody>
          <a:bodyPr wrap="square" lIns="0" tIns="0" rIns="0" bIns="0" rtlCol="0" anchor="ctr"/>
          <a:lstStyle/>
          <a:p>
            <a:pPr indent="0" marL="0">
              <a:buNone/>
            </a:pPr>
            <a:r>
              <a:rPr lang="en-US" sz="1450" b="1" dirty="0">
                <a:solidFill>
                  <a:schemeClr val="bg1"/>
                </a:solidFill>
              </a:rPr>
              <a:t>Synthetic, unreviewed content</a:t>
            </a:r>
            <a:endParaRPr lang="en-US" sz="1450" dirty="0"/>
          </a:p>
        </p:txBody>
      </p:sp>
      <p:sp>
        <p:nvSpPr>
          <p:cNvPr id="44" name="Icon dot"/>
          <p:cNvSpPr/>
          <p:nvPr/>
        </p:nvSpPr>
        <p:spPr>
          <a:xfrm>
            <a:off x="5852160" y="5221224"/>
            <a:ext cx="512064" cy="512064"/>
          </a:xfrm>
          <a:prstGeom prst="ellipse">
            <a:avLst/>
          </a:prstGeom>
          <a:solidFill>
            <a:srgbClr val="1547C8"/>
          </a:solidFill>
          <a:ln w="25400">
            <a:solidFill>
              <a:srgbClr val="3CC3F0"/>
            </a:solidFill>
            <a:prstDash val="solid"/>
          </a:ln>
        </p:spPr>
      </p:sp>
      <p:pic>
        <p:nvPicPr>
          <p:cNvPr id="45" name="Image 7" descr="ArrowRight icon">    </p:cNvPr>
          <p:cNvPicPr>
            <a:picLocks noChangeAspect="1"/>
          </p:cNvPicPr>
          <p:nvPr/>
        </p:nvPicPr>
        <p:blipFill>
          <a:blip r:embed="rId16"/>
          <a:stretch>
            <a:fillRect/>
          </a:stretch>
        </p:blipFill>
        <p:spPr>
          <a:xfrm>
            <a:off x="5985297" y="5354361"/>
            <a:ext cx="245791" cy="245791"/>
          </a:xfrm>
          <a:prstGeom prst="rect">
            <a:avLst/>
          </a:prstGeom>
        </p:spPr>
      </p:pic>
      <p:sp>
        <p:nvSpPr>
          <p:cNvPr id="46" name="Next row"/>
          <p:cNvSpPr/>
          <p:nvPr/>
        </p:nvSpPr>
        <p:spPr>
          <a:xfrm>
            <a:off x="6492240" y="5020056"/>
            <a:ext cx="5148072" cy="914400"/>
          </a:xfrm>
          <a:prstGeom prst="roundRect">
            <a:avLst>
              <a:gd name="adj" fmla="val 14000"/>
            </a:avLst>
          </a:prstGeom>
          <a:solidFill>
            <a:srgbClr val="3CC3F0">
              <a:alpha val="12000"/>
            </a:srgbClr>
          </a:solidFill>
          <a:ln w="12700">
            <a:solidFill>
              <a:srgbClr val="2B7FA8"/>
            </a:solidFill>
            <a:prstDash val="solid"/>
          </a:ln>
        </p:spPr>
      </p:sp>
      <p:sp>
        <p:nvSpPr>
          <p:cNvPr id="47" name="Text 37"/>
          <p:cNvSpPr txBox="1"/>
          <p:nvPr/>
        </p:nvSpPr>
        <p:spPr>
          <a:xfrm>
            <a:off x="6766560" y="5020056"/>
            <a:ext cx="4663440" cy="914400"/>
          </a:xfrm>
          <a:prstGeom prst="rect">
            <a:avLst/>
          </a:prstGeom>
          <a:noFill/>
          <a:ln/>
        </p:spPr>
        <p:txBody>
          <a:bodyPr wrap="square" lIns="0" tIns="0" rIns="0" bIns="0" rtlCol="0" anchor="ctr"/>
          <a:lstStyle/>
          <a:p>
            <a:pPr indent="0" marL="0">
              <a:buNone/>
            </a:pPr>
            <a:r>
              <a:rPr lang="en-US" sz="1450" b="1" dirty="0">
                <a:solidFill>
                  <a:schemeClr val="bg1"/>
                </a:solidFill>
              </a:rPr>
              <a:t>Clinically reviewed articles; production hardening</a:t>
            </a:r>
            <a:endParaRPr lang="en-US" sz="14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737360"/>
            <a:ext cx="3657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CONCLUSION</a:t>
            </a:r>
            <a:endParaRPr lang="en-US" sz="1100" dirty="0"/>
          </a:p>
        </p:txBody>
      </p:sp>
      <p:sp>
        <p:nvSpPr>
          <p:cNvPr id="3" name="Text 1"/>
          <p:cNvSpPr txBox="1"/>
          <p:nvPr/>
        </p:nvSpPr>
        <p:spPr>
          <a:xfrm>
            <a:off x="640080" y="2011680"/>
            <a:ext cx="10515600" cy="2194560"/>
          </a:xfrm>
          <a:prstGeom prst="rect">
            <a:avLst/>
          </a:prstGeom>
          <a:noFill/>
          <a:ln/>
        </p:spPr>
        <p:txBody>
          <a:bodyPr wrap="square" lIns="0" tIns="0" rIns="0" bIns="0" rtlCol="0" anchor="t"/>
          <a:lstStyle/>
          <a:p>
            <a:pPr indent="0" marL="0">
              <a:buNone/>
            </a:pPr>
            <a:r>
              <a:rPr lang="en-US" sz="5000" b="1" dirty="0">
                <a:solidFill>
                  <a:srgbClr val="FFFFFF"/>
                </a:solidFill>
              </a:rPr>
              <a:t>Facts in code.
</a:t>
            </a:r>
            <a:pPr indent="0" marL="0">
              <a:buNone/>
            </a:pPr>
            <a:r>
              <a:rPr lang="en-US" sz="5000" b="1" dirty="0">
                <a:solidFill>
                  <a:srgbClr val="3CC3F0"/>
                </a:solidFill>
              </a:rPr>
              <a:t>Words from AI.
</a:t>
            </a:r>
            <a:pPr indent="0" marL="0">
              <a:buNone/>
            </a:pPr>
            <a:r>
              <a:rPr lang="en-US" sz="5000" b="1" dirty="0">
                <a:solidFill>
                  <a:srgbClr val="FFFFFF"/>
                </a:solidFill>
              </a:rPr>
              <a:t>Decisions by people.</a:t>
            </a:r>
            <a:endParaRPr lang="en-US" sz="5000" dirty="0"/>
          </a:p>
        </p:txBody>
      </p:sp>
      <p:sp>
        <p:nvSpPr>
          <p:cNvPr id="4" name="Icon dot"/>
          <p:cNvSpPr/>
          <p:nvPr/>
        </p:nvSpPr>
        <p:spPr>
          <a:xfrm>
            <a:off x="640080" y="5029200"/>
            <a:ext cx="640080" cy="640080"/>
          </a:xfrm>
          <a:prstGeom prst="ellipse">
            <a:avLst/>
          </a:prstGeom>
          <a:solidFill>
            <a:srgbClr val="3CC3F0"/>
          </a:solidFill>
          <a:ln w="12700">
            <a:solidFill>
              <a:srgbClr val="3CC3F0"/>
            </a:solidFill>
            <a:prstDash val="solid"/>
          </a:ln>
        </p:spPr>
      </p:sp>
      <p:pic>
        <p:nvPicPr>
          <p:cNvPr id="5" name="Image 0" descr="ShieldAlt icon">    </p:cNvPr>
          <p:cNvPicPr>
            <a:picLocks noChangeAspect="1"/>
          </p:cNvPicPr>
          <p:nvPr/>
        </p:nvPicPr>
        <p:blipFill>
          <a:blip r:embed="rId1"/>
          <a:stretch>
            <a:fillRect/>
          </a:stretch>
        </p:blipFill>
        <p:spPr>
          <a:xfrm>
            <a:off x="806501" y="5195621"/>
            <a:ext cx="307238" cy="307238"/>
          </a:xfrm>
          <a:prstGeom prst="rect">
            <a:avLst/>
          </a:prstGeom>
        </p:spPr>
      </p:pic>
      <p:sp>
        <p:nvSpPr>
          <p:cNvPr id="6" name="Text 3"/>
          <p:cNvSpPr txBox="1"/>
          <p:nvPr/>
        </p:nvSpPr>
        <p:spPr>
          <a:xfrm>
            <a:off x="14630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Safe by design</a:t>
            </a:r>
            <a:endParaRPr lang="en-US" sz="1400" dirty="0"/>
          </a:p>
        </p:txBody>
      </p:sp>
      <p:sp>
        <p:nvSpPr>
          <p:cNvPr id="7" name="Icon dot"/>
          <p:cNvSpPr/>
          <p:nvPr/>
        </p:nvSpPr>
        <p:spPr>
          <a:xfrm>
            <a:off x="3383280" y="5029200"/>
            <a:ext cx="640080" cy="640080"/>
          </a:xfrm>
          <a:prstGeom prst="ellipse">
            <a:avLst/>
          </a:prstGeom>
          <a:solidFill>
            <a:srgbClr val="3CC3F0"/>
          </a:solidFill>
          <a:ln w="12700">
            <a:solidFill>
              <a:srgbClr val="3CC3F0"/>
            </a:solidFill>
            <a:prstDash val="solid"/>
          </a:ln>
        </p:spPr>
      </p:sp>
      <p:pic>
        <p:nvPicPr>
          <p:cNvPr id="8" name="Image 1" descr="BookMedical icon">    </p:cNvPr>
          <p:cNvPicPr>
            <a:picLocks noChangeAspect="1"/>
          </p:cNvPicPr>
          <p:nvPr/>
        </p:nvPicPr>
        <p:blipFill>
          <a:blip r:embed="rId2"/>
          <a:stretch>
            <a:fillRect/>
          </a:stretch>
        </p:blipFill>
        <p:spPr>
          <a:xfrm>
            <a:off x="3549701" y="5195621"/>
            <a:ext cx="307238" cy="307238"/>
          </a:xfrm>
          <a:prstGeom prst="rect">
            <a:avLst/>
          </a:prstGeom>
        </p:spPr>
      </p:pic>
      <p:sp>
        <p:nvSpPr>
          <p:cNvPr id="9" name="Text 5"/>
          <p:cNvSpPr txBox="1"/>
          <p:nvPr/>
        </p:nvSpPr>
        <p:spPr>
          <a:xfrm>
            <a:off x="42062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Grounded answers</a:t>
            </a:r>
            <a:endParaRPr lang="en-US" sz="1400" dirty="0"/>
          </a:p>
        </p:txBody>
      </p:sp>
      <p:sp>
        <p:nvSpPr>
          <p:cNvPr id="10" name="Icon dot"/>
          <p:cNvSpPr/>
          <p:nvPr/>
        </p:nvSpPr>
        <p:spPr>
          <a:xfrm>
            <a:off x="6126480" y="5029200"/>
            <a:ext cx="640080" cy="640080"/>
          </a:xfrm>
          <a:prstGeom prst="ellipse">
            <a:avLst/>
          </a:prstGeom>
          <a:solidFill>
            <a:srgbClr val="3CC3F0"/>
          </a:solidFill>
          <a:ln w="12700">
            <a:solidFill>
              <a:srgbClr val="3CC3F0"/>
            </a:solidFill>
            <a:prstDash val="solid"/>
          </a:ln>
        </p:spPr>
      </p:sp>
      <p:pic>
        <p:nvPicPr>
          <p:cNvPr id="11" name="Image 2" descr="UserMd icon">    </p:cNvPr>
          <p:cNvPicPr>
            <a:picLocks noChangeAspect="1"/>
          </p:cNvPicPr>
          <p:nvPr/>
        </p:nvPicPr>
        <p:blipFill>
          <a:blip r:embed="rId3"/>
          <a:stretch>
            <a:fillRect/>
          </a:stretch>
        </p:blipFill>
        <p:spPr>
          <a:xfrm>
            <a:off x="6292901" y="5195621"/>
            <a:ext cx="307238" cy="307238"/>
          </a:xfrm>
          <a:prstGeom prst="rect">
            <a:avLst/>
          </a:prstGeom>
        </p:spPr>
      </p:pic>
      <p:sp>
        <p:nvSpPr>
          <p:cNvPr id="12" name="Text 7"/>
          <p:cNvSpPr txBox="1"/>
          <p:nvPr/>
        </p:nvSpPr>
        <p:spPr>
          <a:xfrm>
            <a:off x="69494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Human-led escalation</a:t>
            </a:r>
            <a:endParaRPr lang="en-US" sz="1400" dirty="0"/>
          </a:p>
        </p:txBody>
      </p:sp>
      <p:sp>
        <p:nvSpPr>
          <p:cNvPr id="13" name="Icon dot"/>
          <p:cNvSpPr/>
          <p:nvPr/>
        </p:nvSpPr>
        <p:spPr>
          <a:xfrm>
            <a:off x="8869680" y="5029200"/>
            <a:ext cx="640080" cy="640080"/>
          </a:xfrm>
          <a:prstGeom prst="ellipse">
            <a:avLst/>
          </a:prstGeom>
          <a:solidFill>
            <a:srgbClr val="3CC3F0"/>
          </a:solidFill>
          <a:ln w="12700">
            <a:solidFill>
              <a:srgbClr val="3CC3F0"/>
            </a:solidFill>
            <a:prstDash val="solid"/>
          </a:ln>
        </p:spPr>
      </p:sp>
      <p:pic>
        <p:nvPicPr>
          <p:cNvPr id="14" name="Image 3" descr="ClipboardList icon">    </p:cNvPr>
          <p:cNvPicPr>
            <a:picLocks noChangeAspect="1"/>
          </p:cNvPicPr>
          <p:nvPr/>
        </p:nvPicPr>
        <p:blipFill>
          <a:blip r:embed="rId4"/>
          <a:stretch>
            <a:fillRect/>
          </a:stretch>
        </p:blipFill>
        <p:spPr>
          <a:xfrm>
            <a:off x="9036101" y="5195621"/>
            <a:ext cx="307238" cy="307238"/>
          </a:xfrm>
          <a:prstGeom prst="rect">
            <a:avLst/>
          </a:prstGeom>
        </p:spPr>
      </p:pic>
      <p:sp>
        <p:nvSpPr>
          <p:cNvPr id="15" name="Text 9"/>
          <p:cNvSpPr txBox="1"/>
          <p:nvPr/>
        </p:nvSpPr>
        <p:spPr>
          <a:xfrm>
            <a:off x="9692640" y="5029200"/>
            <a:ext cx="1783080" cy="640080"/>
          </a:xfrm>
          <a:prstGeom prst="rect">
            <a:avLst/>
          </a:prstGeom>
          <a:noFill/>
          <a:ln/>
        </p:spPr>
        <p:txBody>
          <a:bodyPr wrap="square" lIns="0" tIns="0" rIns="0" bIns="0" rtlCol="0" anchor="ctr"/>
          <a:lstStyle/>
          <a:p>
            <a:pPr indent="0" marL="0">
              <a:buNone/>
            </a:pPr>
            <a:r>
              <a:rPr lang="en-US" sz="1400" b="1" dirty="0">
                <a:solidFill>
                  <a:schemeClr val="bg1"/>
                </a:solidFill>
              </a:rPr>
              <a:t>Auditable</a:t>
            </a:r>
            <a:endParaRPr lang="en-US" sz="1400" dirty="0"/>
          </a:p>
        </p:txBody>
      </p:sp>
      <p:sp>
        <p:nvSpPr>
          <p:cNvPr id="16" name="Text 10"/>
          <p:cNvSpPr txBox="1"/>
          <p:nvPr/>
        </p:nvSpPr>
        <p:spPr>
          <a:xfrm>
            <a:off x="640080" y="6035040"/>
            <a:ext cx="7315200" cy="274320"/>
          </a:xfrm>
          <a:prstGeom prst="rect">
            <a:avLst/>
          </a:prstGeom>
          <a:noFill/>
          <a:ln/>
        </p:spPr>
        <p:txBody>
          <a:bodyPr wrap="square" lIns="0" tIns="0" rIns="0" bIns="0" rtlCol="0" anchor="t"/>
          <a:lstStyle/>
          <a:p>
            <a:pPr indent="0" marL="0">
              <a:buNone/>
            </a:pPr>
            <a:r>
              <a:rPr lang="en-US" sz="1100" dirty="0">
                <a:solidFill>
                  <a:srgbClr val="CFE0FF"/>
                </a:solidFill>
              </a:rPr>
              <a:t>A prototype on synthetic data, for learning only.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743200"/>
            <a:ext cx="7315200" cy="822960"/>
          </a:xfrm>
          <a:prstGeom prst="rect">
            <a:avLst/>
          </a:prstGeom>
          <a:noFill/>
          <a:ln/>
        </p:spPr>
        <p:txBody>
          <a:bodyPr wrap="square" lIns="0" tIns="0" rIns="0" bIns="0" rtlCol="0" anchor="t"/>
          <a:lstStyle/>
          <a:p>
            <a:pPr indent="0" marL="0">
              <a:buNone/>
            </a:pPr>
            <a:r>
              <a:rPr lang="en-US" sz="4400" b="1" dirty="0">
                <a:solidFill>
                  <a:schemeClr val="bg1"/>
                </a:solidFill>
              </a:rPr>
              <a:t>Thank you</a:t>
            </a:r>
            <a:endParaRPr lang="en-US" sz="4400" dirty="0"/>
          </a:p>
        </p:txBody>
      </p:sp>
      <p:sp>
        <p:nvSpPr>
          <p:cNvPr id="3" name="Text 1"/>
          <p:cNvSpPr txBox="1"/>
          <p:nvPr/>
        </p:nvSpPr>
        <p:spPr>
          <a:xfrm>
            <a:off x="640080" y="3657600"/>
            <a:ext cx="7315200" cy="365760"/>
          </a:xfrm>
          <a:prstGeom prst="rect">
            <a:avLst/>
          </a:prstGeom>
          <a:noFill/>
          <a:ln/>
        </p:spPr>
        <p:txBody>
          <a:bodyPr wrap="square" lIns="0" tIns="0" rIns="0" bIns="0" rtlCol="0" anchor="t"/>
          <a:lstStyle/>
          <a:p>
            <a:pPr indent="0" marL="0">
              <a:buNone/>
            </a:pPr>
            <a:r>
              <a:rPr lang="en-US" sz="1600" dirty="0">
                <a:solidFill>
                  <a:srgbClr val="3CC3F0"/>
                </a:solidFill>
              </a:rPr>
              <a:t>Open for questions</a:t>
            </a:r>
            <a:endParaRPr lang="en-US" sz="16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indent="0" marL="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Dark">
  <a:themeElements>
    <a:clrScheme name="CitiusTech Dark">
      <a:dk1>
        <a:srgbClr val="060F2E"/>
      </a:dk1>
      <a:lt1>
        <a:srgbClr val="FFFFFF"/>
      </a:lt1>
      <a:dk2>
        <a:srgbClr val="0A1F5C"/>
      </a:dk2>
      <a:lt2>
        <a:srgbClr val="EAF0FC"/>
      </a:lt2>
      <a:accent1>
        <a:srgbClr val="3CC3F0"/>
      </a:accent1>
      <a:accent2>
        <a:srgbClr val="1547C8"/>
      </a:accent2>
      <a:accent3>
        <a:srgbClr val="12A36B"/>
      </a:accent3>
      <a:accent4>
        <a:srgbClr val="F5A524"/>
      </a:accent4>
      <a:accent5>
        <a:srgbClr val="E5484D"/>
      </a:accent5>
      <a:accent6>
        <a:srgbClr val="8338EC"/>
      </a:accent6>
      <a:hlink>
        <a:srgbClr val="3CC3F0"/>
      </a:hlink>
      <a:folHlink>
        <a:srgbClr val="9FB3E8"/>
      </a:folHlink>
    </a:clrScheme>
    <a:fontScheme name="CitiusTech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Gorakh Raut</cp:lastModifiedBy>
  <cp:revision>1</cp:revision>
  <dcterms:created xsi:type="dcterms:W3CDTF">2026-10-10T16:08:07Z</dcterms:created>
  <dcterms:modified xsi:type="dcterms:W3CDTF">2026-10-10T16:08:07Z</dcterms:modified>
</cp:coreProperties>
</file>