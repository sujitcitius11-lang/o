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7fadf72-2d58-745c-0f48-88094738d33f}">
          <p14:sldIdLst>
            <p14:sldId id="256"/>
          </p14:sldIdLst>
        </p14:section>
        <p14:section name="Agenda" id="{55dd56e3-985d-1d2a-3c78-ea60c4c163ff}">
          <p14:sldIdLst>
            <p14:sldId id="257"/>
          </p14:sldIdLst>
        </p14:section>
        <p14:section name="Problem" id="{6a4a4deb-41fc-bfaf-ed7a-e7bf80461856}">
          <p14:sldIdLst>
            <p14:sldId id="258"/>
          </p14:sldIdLst>
        </p14:section>
        <p14:section name="Solution" id="{e818b9da-dc26-d1b1-d587-4f1ab9361631}">
          <p14:sldIdLst>
            <p14:sldId id="259"/>
          </p14:sldIdLst>
        </p14:section>
        <p14:section name="Principle" id="{98419b94-3cbf-9a32-2982-6c1062e128db}">
          <p14:sldIdLst>
            <p14:sldId id="260"/>
          </p14:sldIdLst>
        </p14:section>
        <p14:section name="Flow" id="{3040a40c-5128-b83f-e04f-f00501d3eb13}">
          <p14:sldIdLst>
            <p14:sldId id="261"/>
          </p14:sldIdLst>
        </p14:section>
        <p14:section name="RAG" id="{ae16c865-04d0-74f6-dd8f-7d7575789019}">
          <p14:sldIdLst>
            <p14:sldId id="262"/>
          </p14:sldIdLst>
        </p14:section>
        <p14:section name="Demo" id="{73bae9af-5276-2b1b-0c3b-da9376e8ccba}">
          <p14:sldIdLst>
            <p14:sldId id="263"/>
          </p14:sldIdLst>
        </p14:section>
        <p14:section name="Try it" id="{a227af0f-4fb9-573e-c6c5-25828ad476cb}">
          <p14:sldIdLst>
            <p14:sldId id="264"/>
          </p14:sldIdLst>
        </p14:section>
        <p14:section name="Result 10" id="{400a2e09-1ec7-ac80-f9ba-d88db850bd54}">
          <p14:sldIdLst>
            <p14:sldId id="265"/>
          </p14:sldIdLst>
        </p14:section>
        <p14:section name="Result 11" id="{98a87f74-76d5-199d-286b-f0059e630151}">
          <p14:sldIdLst>
            <p14:sldId id="266"/>
          </p14:sldIdLst>
        </p14:section>
        <p14:section name="Result 12" id="{f98f4b64-ec30-27c0-8be9-3b87dfbacb2a}">
          <p14:sldIdLst>
            <p14:sldId id="267"/>
          </p14:sldIdLst>
        </p14:section>
        <p14:section name="Result 13" id="{c8fd6964-65de-861b-d32d-9550dc000648}">
          <p14:sldIdLst>
            <p14:sldId id="268"/>
          </p14:sldIdLst>
        </p14:section>
        <p14:section name="Rules" id="{1c8dde7b-bbfb-85bd-6083-afcfff33890a}">
          <p14:sldIdLst>
            <p14:sldId id="269"/>
          </p14:sldIdLst>
        </p14:section>
        <p14:section name="Results" id="{bab906db-9722-efc1-af30-70b0458cdc3b}">
          <p14:sldIdLst>
            <p14:sldId id="270"/>
          </p14:sldIdLst>
        </p14:section>
        <p14:section name="Next" id="{6bb24aa8-dbbc-127e-c609-dc412c5e3ffb}">
          <p14:sldIdLst>
            <p14:sldId id="271"/>
          </p14:sldIdLst>
        </p14:section>
        <p14:section name="Conclusion" id="{a39d308e-a2ce-27b0-4f81-73ec03f407ce}">
          <p14:sldIdLst>
            <p14:sldId id="272"/>
          </p14:sldIdLst>
        </p14:section>
        <p14:section name="Close" id="{19208fbe-d7f6-b7cb-5055-6e6852547450}">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a multi-agent assistant for a synthetic chronic-care program. Three numbers sum it up: six specialist agents, four escalation rules, and zero medical advice given by design. It explains approved education, summarises readings, reminds members of tasks and passes anything risky to people. Use the chapter bar at the bottom of every slide to jump 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parts. Every tile is a link, and the chapter bar at the bottom of the other slides lets you jump between sections at any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Care teams are stretched: the same questions repeat, members forget tasks, and hand-offs are messy. A free-form chatbot is not the answer because it can invent facts or give advice. The goal is to scale routine education and follow-up while every clinical decision stays with people. The red strip is the hard boundary from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orchestrator is plain Python, so the order of steps and every safety decision are identical every time. Around it are the five specialists from the assignment. Each one only sees the slice of data it needs; that is least privilege. All agents are created by code, not clicked together in the portal.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design idea. Everything that must be exact is code: consent, the four rules, the statistics and the citation check. The model only understands language and writes wording, and even that text is checked. If it contains an invented number, a diagnosis, medication advice or a claim to be a clinician, it is thrown away and a fixed template is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steps. One: the consent gate. If consent is not active, nothing else runs. Two: block injection and medication-change requests. Three: the router picks the specialist. Four: code reads only that member's data and applies the rules. Five: the specialist words the answer. Six: three separate outputs. The coloured tags are the points where a human takes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Approved Markdown articles sit in Blob Storage. A script builds three Azure AI Search indexes. The Education agent, hosted in Foundry, answers only from retrieved text. Its answer then goes through a validator in code: the cited article must exist, be approved, fit the member's program and be the current version. If any check fails, or nothing relevant is found, the member is told there is a gap and staff follow up. A gap is never filled with the model's own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paths in about five minutes. Normal: a general question gets a cited answer. Exception: consent has expired, so processing stops before any data is read. Safety: a medication-change request is declined, and a blood-pressure summary for M-102 creates an urgent staff-review record with no interpretation. The front screenshot is the staff review queue; the one behind it is the member's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interactive slide for the demo. Click any tile to jump to what the member and the staff see, then use the back button to return. The four result slides are hidden, so they only appear when you click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behaviour for this question: A cited answer from approved content. The citation is checked in code: the ID, the status, the member's program and the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behaviour for this question: Declined and routed to a clinician. Medication wording is caught in code before any model is asked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behaviour for this question: Processing stops at the consent check. The consent check is the very first step. Nothing else runs without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behaviour for this question: A summary, plus an urgent staff review. A configured test value matched. The system compares and escalates; it never interprets.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rules from the assignment, evaluated in code exactly as written. Every match goes to the staff review queue and nobody is told what a value means. The two numbers behind ER-502 are placeholders chosen so the rule can be demonstrated. Real thresholds must come from clinicians.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14 test scenarios are the six from the assignment plus eight extra, grouped as four normal paths, five safety escalations, four edge and conflict cases and one failure case. They run against the deployed Azure agents, and each run is recorded in the test evidence document with the prompt, output, citations and safety observations. Add the pass count from your latest Azure run when you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limitation has a concrete next step. Placeholders become clinician-set thresholds. English-only guards become tested multilingual routing plus a dedicated route for distress. Synthetic content becomes clinically reviewed content. Keys in a .env file become managed identity and Key Vault.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project in three lines: facts in code, words from AI, decisions by people. That gives safe-by-design behaviour, grounded answers, human-led escalation and an audit trail with masked identifiers.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Happy to take questions or replay any of the demo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NAVY-image-2.jpe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BRAND_TITLE-image-2.jpe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image" Target="../media/BRAND_CONCL-image-2.jpe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png"/><Relationship Id="rId2" Type="http://schemas.openxmlformats.org/officeDocument/2006/relationships/image" Target="../media/BRAND_THANKS-image-2.jpe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jpg"/><Relationship Id="rId2" Type="http://schemas.openxmlformats.org/officeDocument/2006/relationships/image" Target="../media/image-1008-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pic>
        <p:nvPicPr>
          <p:cNvPr id="2" name="Image 0" descr="CitiusTech logo">    </p:cNvPr>
          <p:cNvPicPr>
            <a:picLocks noChangeAspect="1"/>
          </p:cNvPicPr>
          <p:nvPr/>
        </p:nvPicPr>
        <p:blipFill>
          <a:blip r:embed="rId1"/>
          <a:stretch>
            <a:fillRect/>
          </a:stretch>
        </p:blipFill>
        <p:spPr>
          <a:xfrm>
            <a:off x="548640" y="6382512"/>
            <a:ext cx="219456" cy="219456"/>
          </a:xfrm>
          <a:prstGeom prst="rect">
            <a:avLst/>
          </a:prstGeom>
        </p:spPr>
      </p:pic>
      <p:sp>
        <p:nvSpPr>
          <p:cNvPr id="3" name="Text 0"/>
          <p:cNvSpPr/>
          <p:nvPr/>
        </p:nvSpPr>
        <p:spPr>
          <a:xfrm>
            <a:off x="841248" y="6382512"/>
            <a:ext cx="1005840" cy="219456"/>
          </a:xfrm>
          <a:prstGeom prst="rect">
            <a:avLst/>
          </a:prstGeom>
          <a:noFill/>
          <a:ln/>
        </p:spPr>
        <p:txBody>
          <a:bodyPr wrap="square" lIns="0" tIns="0" rIns="0" bIns="0" rtlCol="0" anchor="ctr"/>
          <a:lstStyle/>
          <a:p>
            <a:pPr indent="0" marL="0">
              <a:buNone/>
            </a:pPr>
            <a:r>
              <a:rPr lang="en-US" sz="1000" b="1" dirty="0">
                <a:solidFill>
                  <a:srgbClr val="1F2937"/>
                </a:solidFill>
              </a:rPr>
              <a:t>CitiusTech</a:t>
            </a:r>
            <a:endParaRPr lang="en-US" sz="1000" dirty="0"/>
          </a:p>
        </p:txBody>
      </p:sp>
      <p:sp>
        <p:nvSpPr>
          <p:cNvPr id="4" name="Text 1"/>
          <p:cNvSpPr/>
          <p:nvPr>
            <p:ph idx="102" type="body" hasCustomPrompt="1"/>
          </p:nvPr>
        </p:nvSpPr>
        <p:spPr>
          <a:xfrm>
            <a:off x="548640" y="347472"/>
            <a:ext cx="8229600" cy="256032"/>
          </a:xfrm>
          <a:prstGeom prst="rect">
            <a:avLst/>
          </a:prstGeom>
          <a:noFill/>
          <a:ln/>
        </p:spPr>
        <p:txBody>
          <a:bodyPr wrap="square" rtlCol="0"/>
          <a:lstStyle>
            <a:lvl1pPr algn="l" indent="0" marL="0">
              <a:buNone/>
              <a:defRPr lang="en-US" sz="1100" b="1" spc="300" kern="0" dirty="0">
                <a:solidFill>
                  <a:srgbClr val="1547C8"/>
                </a:solidFill>
              </a:defRPr>
            </a:lvl1pPr>
          </a:lstStyle>
          <a:p>
            <a:pPr algn="l" indent="0" marL="0">
              <a:buNone/>
            </a:pPr>
            <a:endParaRPr lang="en-US" sz="1100" dirty="0"/>
          </a:p>
        </p:txBody>
      </p:sp>
      <p:sp>
        <p:nvSpPr>
          <p:cNvPr id="5" name="Text 1"/>
          <p:cNvSpPr/>
          <p:nvPr>
            <p:ph idx="103" type="title" hasCustomPrompt="1"/>
          </p:nvPr>
        </p:nvSpPr>
        <p:spPr>
          <a:xfrm>
            <a:off x="548640" y="603504"/>
            <a:ext cx="11064240" cy="603504"/>
          </a:xfrm>
          <a:prstGeom prst="rect">
            <a:avLst/>
          </a:prstGeom>
          <a:noFill/>
          <a:ln/>
        </p:spPr>
        <p:txBody>
          <a:bodyPr wrap="square" rtlCol="0"/>
          <a:lstStyle>
            <a:lvl1pPr algn="l" indent="0" marL="0">
              <a:buNone/>
              <a:defRPr lang="en-US" sz="3400" b="1" dirty="0">
                <a:solidFill>
                  <a:srgbClr val="0A1F5C"/>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AV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CitiusTech logo">    </p:cNvPr>
          <p:cNvPicPr>
            <a:picLocks noChangeAspect="1"/>
          </p:cNvPicPr>
          <p:nvPr/>
        </p:nvPicPr>
        <p:blipFill>
          <a:blip r:embed="rId1"/>
          <a:stretch>
            <a:fillRect/>
          </a:stretch>
        </p:blipFill>
        <p:spPr>
          <a:xfrm>
            <a:off x="548640" y="6382512"/>
            <a:ext cx="219456" cy="219456"/>
          </a:xfrm>
          <a:prstGeom prst="rect">
            <a:avLst/>
          </a:prstGeom>
        </p:spPr>
      </p:pic>
      <p:sp>
        <p:nvSpPr>
          <p:cNvPr id="3" name="Text 0"/>
          <p:cNvSpPr/>
          <p:nvPr/>
        </p:nvSpPr>
        <p:spPr>
          <a:xfrm>
            <a:off x="841248" y="6382512"/>
            <a:ext cx="1005840" cy="219456"/>
          </a:xfrm>
          <a:prstGeom prst="rect">
            <a:avLst/>
          </a:prstGeom>
          <a:noFill/>
          <a:ln/>
        </p:spPr>
        <p:txBody>
          <a:bodyPr wrap="square" lIns="0" tIns="0" rIns="0" bIns="0" rtlCol="0" anchor="ctr"/>
          <a:lstStyle/>
          <a:p>
            <a:pPr indent="0" marL="0">
              <a:buNone/>
            </a:pPr>
            <a:r>
              <a:rPr lang="en-US" sz="1000" b="1" dirty="0">
                <a:solidFill>
                  <a:srgbClr val="FFFFFF"/>
                </a:solidFill>
              </a:rPr>
              <a:t>CitiusTech</a:t>
            </a:r>
            <a:endParaRPr lang="en-US" sz="1000" dirty="0"/>
          </a:p>
        </p:txBody>
      </p:sp>
      <p:sp>
        <p:nvSpPr>
          <p:cNvPr id="4" name="Text 1"/>
          <p:cNvSpPr/>
          <p:nvPr>
            <p:ph idx="102" type="body" hasCustomPrompt="1"/>
          </p:nvPr>
        </p:nvSpPr>
        <p:spPr>
          <a:xfrm>
            <a:off x="548640" y="347472"/>
            <a:ext cx="8229600" cy="256032"/>
          </a:xfrm>
          <a:prstGeom prst="rect">
            <a:avLst/>
          </a:prstGeom>
          <a:noFill/>
          <a:ln/>
        </p:spPr>
        <p:txBody>
          <a:bodyPr wrap="square" rtlCol="0"/>
          <a:lstStyle>
            <a:lvl1pPr algn="l" indent="0" marL="0">
              <a:buNone/>
              <a:defRPr lang="en-US" sz="1100" b="1" spc="300" kern="0" dirty="0">
                <a:solidFill>
                  <a:srgbClr val="9FD8F5"/>
                </a:solidFill>
              </a:defRPr>
            </a:lvl1pPr>
          </a:lstStyle>
          <a:p>
            <a:pPr algn="l" indent="0" marL="0">
              <a:buNone/>
            </a:pPr>
            <a:endParaRPr lang="en-US" sz="1100" dirty="0"/>
          </a:p>
        </p:txBody>
      </p:sp>
      <p:sp>
        <p:nvSpPr>
          <p:cNvPr id="5" name="Text 1"/>
          <p:cNvSpPr/>
          <p:nvPr>
            <p:ph idx="103" type="title" hasCustomPrompt="1"/>
          </p:nvPr>
        </p:nvSpPr>
        <p:spPr>
          <a:xfrm>
            <a:off x="548640" y="603504"/>
            <a:ext cx="11064240" cy="603504"/>
          </a:xfrm>
          <a:prstGeom prst="rect">
            <a:avLst/>
          </a:prstGeom>
          <a:noFill/>
          <a:ln/>
        </p:spPr>
        <p:txBody>
          <a:bodyPr wrap="square" rtlCol="0"/>
          <a:lstStyle>
            <a:lvl1pPr algn="l" indent="0" marL="0">
              <a:buNone/>
              <a:defRPr lang="en-US" sz="3400" b="1" dirty="0">
                <a:solidFill>
                  <a:srgbClr val="FFFFFF"/>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9FB3E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UE">
    <p:bg>
      <p:bgPr>
        <a:solidFill>
          <a:srgbClr val="1547C8"/>
        </a:solidFill>
      </p:bgPr>
    </p:bg>
    <p:spTree>
      <p:nvGrpSpPr>
        <p:cNvPr id="1" name=""/>
        <p:cNvGrpSpPr/>
        <p:nvPr/>
      </p:nvGrpSpPr>
      <p:grpSpPr>
        <a:xfrm>
          <a:off x="0" y="0"/>
          <a:ext cx="0" cy="0"/>
          <a:chOff x="0" y="0"/>
          <a:chExt cx="0" cy="0"/>
        </a:xfrm>
      </p:grpSpPr>
      <p:pic>
        <p:nvPicPr>
          <p:cNvPr id="2" name="Image 0" descr="CitiusTech logo">    </p:cNvPr>
          <p:cNvPicPr>
            <a:picLocks noChangeAspect="1"/>
          </p:cNvPicPr>
          <p:nvPr/>
        </p:nvPicPr>
        <p:blipFill>
          <a:blip r:embed="rId1"/>
          <a:stretch>
            <a:fillRect/>
          </a:stretch>
        </p:blipFill>
        <p:spPr>
          <a:xfrm>
            <a:off x="548640" y="6382512"/>
            <a:ext cx="219456" cy="219456"/>
          </a:xfrm>
          <a:prstGeom prst="rect">
            <a:avLst/>
          </a:prstGeom>
        </p:spPr>
      </p:pic>
      <p:sp>
        <p:nvSpPr>
          <p:cNvPr id="3" name="Text 0"/>
          <p:cNvSpPr/>
          <p:nvPr/>
        </p:nvSpPr>
        <p:spPr>
          <a:xfrm>
            <a:off x="841248" y="6382512"/>
            <a:ext cx="1005840" cy="219456"/>
          </a:xfrm>
          <a:prstGeom prst="rect">
            <a:avLst/>
          </a:prstGeom>
          <a:noFill/>
          <a:ln/>
        </p:spPr>
        <p:txBody>
          <a:bodyPr wrap="square" lIns="0" tIns="0" rIns="0" bIns="0" rtlCol="0" anchor="ctr"/>
          <a:lstStyle/>
          <a:p>
            <a:pPr indent="0" marL="0">
              <a:buNone/>
            </a:pPr>
            <a:r>
              <a:rPr lang="en-US" sz="1000" b="1" dirty="0">
                <a:solidFill>
                  <a:srgbClr val="FFFFFF"/>
                </a:solidFill>
              </a:rPr>
              <a:t>CitiusTech</a:t>
            </a:r>
            <a:endParaRPr lang="en-US" sz="1000" dirty="0"/>
          </a:p>
        </p:txBody>
      </p:sp>
      <p:sp>
        <p:nvSpPr>
          <p:cNvPr id="4" name="Text 1"/>
          <p:cNvSpPr/>
          <p:nvPr>
            <p:ph idx="102" type="body" hasCustomPrompt="1"/>
          </p:nvPr>
        </p:nvSpPr>
        <p:spPr>
          <a:xfrm>
            <a:off x="548640" y="347472"/>
            <a:ext cx="8229600" cy="256032"/>
          </a:xfrm>
          <a:prstGeom prst="rect">
            <a:avLst/>
          </a:prstGeom>
          <a:noFill/>
          <a:ln/>
        </p:spPr>
        <p:txBody>
          <a:bodyPr wrap="square" rtlCol="0"/>
          <a:lstStyle>
            <a:lvl1pPr algn="l" indent="0" marL="0">
              <a:buNone/>
              <a:defRPr lang="en-US" sz="1100" b="1" spc="300" kern="0" dirty="0">
                <a:solidFill>
                  <a:srgbClr val="9FD8F5"/>
                </a:solidFill>
              </a:defRPr>
            </a:lvl1pPr>
          </a:lstStyle>
          <a:p>
            <a:pPr algn="l" indent="0" marL="0">
              <a:buNone/>
            </a:pPr>
            <a:endParaRPr lang="en-US" sz="1100" dirty="0"/>
          </a:p>
        </p:txBody>
      </p:sp>
      <p:sp>
        <p:nvSpPr>
          <p:cNvPr id="5" name="Text 1"/>
          <p:cNvSpPr/>
          <p:nvPr>
            <p:ph idx="103" type="title" hasCustomPrompt="1"/>
          </p:nvPr>
        </p:nvSpPr>
        <p:spPr>
          <a:xfrm>
            <a:off x="548640" y="603504"/>
            <a:ext cx="11064240" cy="603504"/>
          </a:xfrm>
          <a:prstGeom prst="rect">
            <a:avLst/>
          </a:prstGeom>
          <a:noFill/>
          <a:ln/>
        </p:spPr>
        <p:txBody>
          <a:bodyPr wrap="square" rtlCol="0"/>
          <a:lstStyle>
            <a:lvl1pPr algn="l" indent="0" marL="0">
              <a:buNone/>
              <a:defRPr lang="en-US" sz="3400" b="1" dirty="0">
                <a:solidFill>
                  <a:srgbClr val="FFFFFF"/>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9FB3E8"/>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RAND_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CitiusTech logo">    </p:cNvPr>
          <p:cNvPicPr>
            <a:picLocks noChangeAspect="1"/>
          </p:cNvPicPr>
          <p:nvPr/>
        </p:nvPicPr>
        <p:blipFill>
          <a:blip r:embed="rId1"/>
          <a:stretch>
            <a:fillRect/>
          </a:stretch>
        </p:blipFill>
        <p:spPr>
          <a:xfrm>
            <a:off x="640080" y="548640"/>
            <a:ext cx="457200" cy="457200"/>
          </a:xfrm>
          <a:prstGeom prst="rect">
            <a:avLst/>
          </a:prstGeom>
        </p:spPr>
      </p:pic>
      <p:sp>
        <p:nvSpPr>
          <p:cNvPr id="3" name="Text 0"/>
          <p:cNvSpPr/>
          <p:nvPr/>
        </p:nvSpPr>
        <p:spPr>
          <a:xfrm>
            <a:off x="1225296" y="548640"/>
            <a:ext cx="2926080" cy="457200"/>
          </a:xfrm>
          <a:prstGeom prst="rect">
            <a:avLst/>
          </a:prstGeom>
          <a:noFill/>
          <a:ln/>
        </p:spPr>
        <p:txBody>
          <a:bodyPr wrap="square" lIns="0" tIns="0" rIns="0" bIns="0" rtlCol="0" anchor="ctr"/>
          <a:lstStyle/>
          <a:p>
            <a:pPr indent="0" marL="0">
              <a:buNone/>
            </a:pPr>
            <a:r>
              <a:rPr lang="en-US" sz="1700" b="1" dirty="0">
                <a:solidFill>
                  <a:srgbClr val="FFFFFF"/>
                </a:solidFill>
              </a:rPr>
              <a:t>CitiusTech</a:t>
            </a:r>
            <a:endParaRPr lang="en-US" sz="17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RAND_CONC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CitiusTech logo">    </p:cNvPr>
          <p:cNvPicPr>
            <a:picLocks noChangeAspect="1"/>
          </p:cNvPicPr>
          <p:nvPr/>
        </p:nvPicPr>
        <p:blipFill>
          <a:blip r:embed="rId1"/>
          <a:stretch>
            <a:fillRect/>
          </a:stretch>
        </p:blipFill>
        <p:spPr>
          <a:xfrm>
            <a:off x="640080" y="548640"/>
            <a:ext cx="457200" cy="457200"/>
          </a:xfrm>
          <a:prstGeom prst="rect">
            <a:avLst/>
          </a:prstGeom>
        </p:spPr>
      </p:pic>
      <p:sp>
        <p:nvSpPr>
          <p:cNvPr id="3" name="Text 0"/>
          <p:cNvSpPr/>
          <p:nvPr/>
        </p:nvSpPr>
        <p:spPr>
          <a:xfrm>
            <a:off x="1225296" y="548640"/>
            <a:ext cx="2926080" cy="457200"/>
          </a:xfrm>
          <a:prstGeom prst="rect">
            <a:avLst/>
          </a:prstGeom>
          <a:noFill/>
          <a:ln/>
        </p:spPr>
        <p:txBody>
          <a:bodyPr wrap="square" lIns="0" tIns="0" rIns="0" bIns="0" rtlCol="0" anchor="ctr"/>
          <a:lstStyle/>
          <a:p>
            <a:pPr indent="0" marL="0">
              <a:buNone/>
            </a:pPr>
            <a:r>
              <a:rPr lang="en-US" sz="1700" b="1" dirty="0">
                <a:solidFill>
                  <a:srgbClr val="FFFFFF"/>
                </a:solidFill>
              </a:rPr>
              <a:t>CitiusTech</a:t>
            </a:r>
            <a:endParaRPr lang="en-US" sz="17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RAND_THANK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CitiusTech logo">    </p:cNvPr>
          <p:cNvPicPr>
            <a:picLocks noChangeAspect="1"/>
          </p:cNvPicPr>
          <p:nvPr/>
        </p:nvPicPr>
        <p:blipFill>
          <a:blip r:embed="rId1"/>
          <a:stretch>
            <a:fillRect/>
          </a:stretch>
        </p:blipFill>
        <p:spPr>
          <a:xfrm>
            <a:off x="640080" y="548640"/>
            <a:ext cx="457200" cy="457200"/>
          </a:xfrm>
          <a:prstGeom prst="rect">
            <a:avLst/>
          </a:prstGeom>
        </p:spPr>
      </p:pic>
      <p:sp>
        <p:nvSpPr>
          <p:cNvPr id="3" name="Text 0"/>
          <p:cNvSpPr/>
          <p:nvPr/>
        </p:nvSpPr>
        <p:spPr>
          <a:xfrm>
            <a:off x="1225296" y="548640"/>
            <a:ext cx="2926080" cy="457200"/>
          </a:xfrm>
          <a:prstGeom prst="rect">
            <a:avLst/>
          </a:prstGeom>
          <a:noFill/>
          <a:ln/>
        </p:spPr>
        <p:txBody>
          <a:bodyPr wrap="square" lIns="0" tIns="0" rIns="0" bIns="0" rtlCol="0" anchor="ctr"/>
          <a:lstStyle/>
          <a:p>
            <a:pPr indent="0" marL="0">
              <a:buNone/>
            </a:pPr>
            <a:r>
              <a:rPr lang="en-US" sz="1700" b="1" dirty="0">
                <a:solidFill>
                  <a:srgbClr val="FFFFFF"/>
                </a:solidFill>
              </a:rPr>
              <a:t>CitiusTech</a:t>
            </a:r>
            <a:endParaRPr lang="en-US" sz="170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AGENDA">
    <p:bg>
      <p:bgPr>
        <a:solidFill>
          <a:srgbClr val="FFFFFF"/>
        </a:solidFill>
      </p:bgPr>
    </p:bg>
    <p:spTree>
      <p:nvGrpSpPr>
        <p:cNvPr id="1" name=""/>
        <p:cNvGrpSpPr/>
        <p:nvPr/>
      </p:nvGrpSpPr>
      <p:grpSpPr>
        <a:xfrm>
          <a:off x="0" y="0"/>
          <a:ext cx="0" cy="0"/>
          <a:chOff x="0" y="0"/>
          <a:chExt cx="0" cy="0"/>
        </a:xfrm>
      </p:grpSpPr>
      <p:pic>
        <p:nvPicPr>
          <p:cNvPr id="2" name="Image 0" descr="Blue panel">    </p:cNvPr>
          <p:cNvPicPr>
            <a:picLocks noChangeAspect="1"/>
          </p:cNvPicPr>
          <p:nvPr/>
        </p:nvPicPr>
        <p:blipFill>
          <a:blip r:embed="rId1"/>
          <a:stretch>
            <a:fillRect/>
          </a:stretch>
        </p:blipFill>
        <p:spPr>
          <a:xfrm>
            <a:off x="0" y="0"/>
            <a:ext cx="4206240" cy="6858000"/>
          </a:xfrm>
          <a:prstGeom prst="rect">
            <a:avLst/>
          </a:prstGeom>
        </p:spPr>
      </p:pic>
      <p:pic>
        <p:nvPicPr>
          <p:cNvPr id="3" name="Image 1" descr="CitiusTech logo">    </p:cNvPr>
          <p:cNvPicPr>
            <a:picLocks noChangeAspect="1"/>
          </p:cNvPicPr>
          <p:nvPr/>
        </p:nvPicPr>
        <p:blipFill>
          <a:blip r:embed="rId2"/>
          <a:stretch>
            <a:fillRect/>
          </a:stretch>
        </p:blipFill>
        <p:spPr>
          <a:xfrm>
            <a:off x="548640" y="502920"/>
            <a:ext cx="310896" cy="310896"/>
          </a:xfrm>
          <a:prstGeom prst="rect">
            <a:avLst/>
          </a:prstGeom>
        </p:spPr>
      </p:pic>
      <p:sp>
        <p:nvSpPr>
          <p:cNvPr id="4" name="Text 0"/>
          <p:cNvSpPr/>
          <p:nvPr/>
        </p:nvSpPr>
        <p:spPr>
          <a:xfrm>
            <a:off x="987552" y="502920"/>
            <a:ext cx="2926080" cy="310896"/>
          </a:xfrm>
          <a:prstGeom prst="rect">
            <a:avLst/>
          </a:prstGeom>
          <a:noFill/>
          <a:ln/>
        </p:spPr>
        <p:txBody>
          <a:bodyPr wrap="square" lIns="0" tIns="0" rIns="0" bIns="0" rtlCol="0" anchor="ctr"/>
          <a:lstStyle/>
          <a:p>
            <a:pPr indent="0" marL="0">
              <a:buNone/>
            </a:pPr>
            <a:r>
              <a:rPr lang="en-US" sz="1300" b="1" dirty="0">
                <a:solidFill>
                  <a:srgbClr val="FFFFFF"/>
                </a:solidFill>
              </a:rPr>
              <a:t>CitiusTech</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4.xml"/><Relationship Id="rId3" Type="http://schemas.openxmlformats.org/officeDocument/2006/relationships/slide" Target="slide6.xml"/><Relationship Id="rId4" Type="http://schemas.openxmlformats.org/officeDocument/2006/relationships/slide" Target="slide8.xml"/><Relationship Id="rId5" Type="http://schemas.openxmlformats.org/officeDocument/2006/relationships/slide" Target="slide14.xml"/><Relationship Id="rId6" Type="http://schemas.openxmlformats.org/officeDocument/2006/relationships/slide" Target="slide15.xml"/><Relationship Id="rId7" Type="http://schemas.openxmlformats.org/officeDocument/2006/relationships/slide" Target="slide16.xml"/><Relationship Id="rId8" Type="http://schemas.openxmlformats.org/officeDocument/2006/relationships/slideLayout" Target="../slideLayouts/slideLayout8.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4.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7.xml"/><Relationship Id="rId6" Type="http://schemas.openxmlformats.org/officeDocument/2006/relationships/slide" Target="slide8.xml"/><Relationship Id="rId7" Type="http://schemas.openxmlformats.org/officeDocument/2006/relationships/slide" Target="slide9.xml"/><Relationship Id="rId8" Type="http://schemas.openxmlformats.org/officeDocument/2006/relationships/slide" Target="slide14.xml"/><Relationship Id="rId9" Type="http://schemas.openxmlformats.org/officeDocument/2006/relationships/slide" Target="slide15.xml"/><Relationship Id="rId10" Type="http://schemas.openxmlformats.org/officeDocument/2006/relationships/slide" Target="slide16.xml"/><Relationship Id="rId11" Type="http://schemas.openxmlformats.org/officeDocument/2006/relationships/slideLayout" Target="../slideLayouts/slideLayout2.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7.xml"/><Relationship Id="rId6" Type="http://schemas.openxmlformats.org/officeDocument/2006/relationships/slide" Target="slide8.xml"/><Relationship Id="rId7" Type="http://schemas.openxmlformats.org/officeDocument/2006/relationships/slide" Target="slide9.xml"/><Relationship Id="rId8" Type="http://schemas.openxmlformats.org/officeDocument/2006/relationships/slide" Target="slide14.xml"/><Relationship Id="rId9" Type="http://schemas.openxmlformats.org/officeDocument/2006/relationships/slide" Target="slide15.xml"/><Relationship Id="rId10" Type="http://schemas.openxmlformats.org/officeDocument/2006/relationships/slide" Target="slide16.xml"/><Relationship Id="rId11" Type="http://schemas.openxmlformats.org/officeDocument/2006/relationships/slideLayout" Target="../slideLayouts/slideLayout3.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6.xml"/><Relationship Id="rId5" Type="http://schemas.openxmlformats.org/officeDocument/2006/relationships/slide" Target="slide7.xml"/><Relationship Id="rId6" Type="http://schemas.openxmlformats.org/officeDocument/2006/relationships/slide" Target="slide8.xml"/><Relationship Id="rId7" Type="http://schemas.openxmlformats.org/officeDocument/2006/relationships/slide" Target="slide9.xml"/><Relationship Id="rId8" Type="http://schemas.openxmlformats.org/officeDocument/2006/relationships/slide" Target="slide14.xml"/><Relationship Id="rId9" Type="http://schemas.openxmlformats.org/officeDocument/2006/relationships/slide" Target="slide15.xml"/><Relationship Id="rId10" Type="http://schemas.openxmlformats.org/officeDocument/2006/relationships/slide" Target="slide16.xml"/><Relationship Id="rId11" Type="http://schemas.openxmlformats.org/officeDocument/2006/relationships/slideLayout" Target="../slideLayouts/slideLayout2.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7.xml"/><Relationship Id="rId6" Type="http://schemas.openxmlformats.org/officeDocument/2006/relationships/slide" Target="slide8.xml"/><Relationship Id="rId7" Type="http://schemas.openxmlformats.org/officeDocument/2006/relationships/slide" Target="slide9.xml"/><Relationship Id="rId8" Type="http://schemas.openxmlformats.org/officeDocument/2006/relationships/slide" Target="slide14.xml"/><Relationship Id="rId9" Type="http://schemas.openxmlformats.org/officeDocument/2006/relationships/slide" Target="slide15.xml"/><Relationship Id="rId10" Type="http://schemas.openxmlformats.org/officeDocument/2006/relationships/slide" Target="slide16.xml"/><Relationship Id="rId11" Type="http://schemas.openxmlformats.org/officeDocument/2006/relationships/slideLayout" Target="../slideLayouts/slideLayout3.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8.xml"/><Relationship Id="rId7" Type="http://schemas.openxmlformats.org/officeDocument/2006/relationships/slide" Target="slide9.xml"/><Relationship Id="rId8" Type="http://schemas.openxmlformats.org/officeDocument/2006/relationships/slide" Target="slide14.xml"/><Relationship Id="rId9" Type="http://schemas.openxmlformats.org/officeDocument/2006/relationships/slide" Target="slide15.xml"/><Relationship Id="rId10" Type="http://schemas.openxmlformats.org/officeDocument/2006/relationships/slide" Target="slide16.xml"/><Relationship Id="rId11" Type="http://schemas.openxmlformats.org/officeDocument/2006/relationships/slideLayout" Target="../slideLayouts/slideLayout2.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9.xml"/><Relationship Id="rId8" Type="http://schemas.openxmlformats.org/officeDocument/2006/relationships/slide" Target="slide14.xml"/><Relationship Id="rId9" Type="http://schemas.openxmlformats.org/officeDocument/2006/relationships/slide" Target="slide15.xml"/><Relationship Id="rId10" Type="http://schemas.openxmlformats.org/officeDocument/2006/relationships/slide" Target="slide16.xml"/><Relationship Id="rId11" Type="http://schemas.openxmlformats.org/officeDocument/2006/relationships/image" Target="../media/image-8-1.png"/><Relationship Id="rId12" Type="http://schemas.openxmlformats.org/officeDocument/2006/relationships/image" Target="../media/image-8-2.png"/><Relationship Id="rId13" Type="http://schemas.openxmlformats.org/officeDocument/2006/relationships/slideLayout" Target="../slideLayouts/slideLayout4.xml"/><Relationship Id="rId1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 Target="slide14.xml"/><Relationship Id="rId9" Type="http://schemas.openxmlformats.org/officeDocument/2006/relationships/slide" Target="slide15.xml"/><Relationship Id="rId10" Type="http://schemas.openxmlformats.org/officeDocument/2006/relationships/slide" Target="slide16.xml"/><Relationship Id="rId11" Type="http://schemas.openxmlformats.org/officeDocument/2006/relationships/slide" Target="slide10.xml"/><Relationship Id="rId12" Type="http://schemas.openxmlformats.org/officeDocument/2006/relationships/slide" Target="slide11.xml"/><Relationship Id="rId13" Type="http://schemas.openxmlformats.org/officeDocument/2006/relationships/slide" Target="slide12.xml"/><Relationship Id="rId14" Type="http://schemas.openxmlformats.org/officeDocument/2006/relationships/slide" Target="slide13.xml"/><Relationship Id="rId15" Type="http://schemas.openxmlformats.org/officeDocument/2006/relationships/slideLayout" Target="../slideLayouts/slideLayout2.xml"/><Relationship Id="rId1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 Target="slide14.xml"/><Relationship Id="rId9" Type="http://schemas.openxmlformats.org/officeDocument/2006/relationships/slide" Target="slide15.xml"/><Relationship Id="rId10" Type="http://schemas.openxmlformats.org/officeDocument/2006/relationships/slide" Target="slide16.xml"/><Relationship Id="rId11" Type="http://schemas.openxmlformats.org/officeDocument/2006/relationships/slide" Target="slide9.xml"/><Relationship Id="rId12" Type="http://schemas.openxmlformats.org/officeDocument/2006/relationships/slideLayout" Target="../slideLayouts/slideLayout2.xml"/><Relationship Id="rId1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 Target="slide14.xml"/><Relationship Id="rId9" Type="http://schemas.openxmlformats.org/officeDocument/2006/relationships/slide" Target="slide15.xml"/><Relationship Id="rId10" Type="http://schemas.openxmlformats.org/officeDocument/2006/relationships/slide" Target="slide16.xml"/><Relationship Id="rId11" Type="http://schemas.openxmlformats.org/officeDocument/2006/relationships/slide" Target="slide9.xml"/><Relationship Id="rId12" Type="http://schemas.openxmlformats.org/officeDocument/2006/relationships/slideLayout" Target="../slideLayouts/slideLayout2.xml"/><Relationship Id="rId1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 Target="slide14.xml"/><Relationship Id="rId9" Type="http://schemas.openxmlformats.org/officeDocument/2006/relationships/slide" Target="slide15.xml"/><Relationship Id="rId10" Type="http://schemas.openxmlformats.org/officeDocument/2006/relationships/slide" Target="slide16.xml"/><Relationship Id="rId11" Type="http://schemas.openxmlformats.org/officeDocument/2006/relationships/slide" Target="slide9.xml"/><Relationship Id="rId12" Type="http://schemas.openxmlformats.org/officeDocument/2006/relationships/slideLayout" Target="../slideLayouts/slideLayout2.xml"/><Relationship Id="rId1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 Target="slide14.xml"/><Relationship Id="rId9" Type="http://schemas.openxmlformats.org/officeDocument/2006/relationships/slide" Target="slide15.xml"/><Relationship Id="rId10" Type="http://schemas.openxmlformats.org/officeDocument/2006/relationships/slide" Target="slide16.xml"/><Relationship Id="rId11" Type="http://schemas.openxmlformats.org/officeDocument/2006/relationships/slide" Target="slide9.xml"/><Relationship Id="rId12" Type="http://schemas.openxmlformats.org/officeDocument/2006/relationships/slideLayout" Target="../slideLayouts/slideLayout2.xml"/><Relationship Id="rId1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15.xml"/><Relationship Id="rId10" Type="http://schemas.openxmlformats.org/officeDocument/2006/relationships/slide" Target="slide16.xml"/><Relationship Id="rId11" Type="http://schemas.openxmlformats.org/officeDocument/2006/relationships/slideLayout" Target="../slideLayouts/slideLayout2.xml"/><Relationship Id="rId1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14.xml"/><Relationship Id="rId10" Type="http://schemas.openxmlformats.org/officeDocument/2006/relationships/slide" Target="slide16.xml"/><Relationship Id="rId11" Type="http://schemas.openxmlformats.org/officeDocument/2006/relationships/slideLayout" Target="../slideLayouts/slideLayout3.xml"/><Relationship Id="rId1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14.xml"/><Relationship Id="rId10" Type="http://schemas.openxmlformats.org/officeDocument/2006/relationships/slide" Target="slide15.xml"/><Relationship Id="rId11" Type="http://schemas.openxmlformats.org/officeDocument/2006/relationships/slideLayout" Target="../slideLayouts/slideLayout2.xml"/><Relationship Id="rId1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783080"/>
            <a:ext cx="5943600" cy="274320"/>
          </a:xfrm>
          <a:prstGeom prst="rect">
            <a:avLst/>
          </a:prstGeom>
          <a:noFill/>
          <a:ln/>
        </p:spPr>
        <p:txBody>
          <a:bodyPr wrap="square" lIns="0" tIns="0" rIns="0" bIns="0" rtlCol="0" anchor="t"/>
          <a:lstStyle/>
          <a:p>
            <a:pPr indent="0" marL="0">
              <a:buNone/>
            </a:pPr>
            <a:r>
              <a:rPr lang="en-US" sz="1100" b="1" spc="300" kern="0" dirty="0">
                <a:solidFill>
                  <a:srgbClr val="3CC3F0"/>
                </a:solidFill>
              </a:rPr>
              <a:t>HEALTHCARE  ·  MULTI-AGENT AI</a:t>
            </a:r>
            <a:endParaRPr lang="en-US" sz="1100" dirty="0"/>
          </a:p>
        </p:txBody>
      </p:sp>
      <p:sp>
        <p:nvSpPr>
          <p:cNvPr id="3" name="Text 1"/>
          <p:cNvSpPr txBox="1"/>
          <p:nvPr/>
        </p:nvSpPr>
        <p:spPr>
          <a:xfrm>
            <a:off x="640080" y="2148840"/>
            <a:ext cx="6766560" cy="1828800"/>
          </a:xfrm>
          <a:prstGeom prst="rect">
            <a:avLst/>
          </a:prstGeom>
          <a:noFill/>
          <a:ln/>
        </p:spPr>
        <p:txBody>
          <a:bodyPr wrap="square" lIns="0" tIns="0" rIns="0" bIns="0" rtlCol="0" anchor="t"/>
          <a:lstStyle/>
          <a:p>
            <a:pPr indent="0" marL="0">
              <a:buNone/>
            </a:pPr>
            <a:r>
              <a:rPr lang="en-US" sz="5600" b="1" dirty="0">
                <a:solidFill>
                  <a:srgbClr val="FFFFFF"/>
                </a:solidFill>
              </a:rPr>
              <a:t>Chronic Care</a:t>
            </a:r>
            <a:endParaRPr lang="en-US" sz="5600" dirty="0"/>
          </a:p>
          <a:p>
            <a:pPr indent="0" marL="0">
              <a:buNone/>
            </a:pPr>
            <a:r>
              <a:rPr lang="en-US" sz="5600" b="1" dirty="0">
                <a:solidFill>
                  <a:srgbClr val="FFFFFF"/>
                </a:solidFill>
              </a:rPr>
              <a:t>Engagement</a:t>
            </a:r>
            <a:endParaRPr lang="en-US" sz="5600" dirty="0"/>
          </a:p>
        </p:txBody>
      </p:sp>
      <p:sp>
        <p:nvSpPr>
          <p:cNvPr id="4" name="Text 2"/>
          <p:cNvSpPr txBox="1"/>
          <p:nvPr/>
        </p:nvSpPr>
        <p:spPr>
          <a:xfrm>
            <a:off x="640080" y="3977640"/>
            <a:ext cx="6400800" cy="731520"/>
          </a:xfrm>
          <a:prstGeom prst="rect">
            <a:avLst/>
          </a:prstGeom>
          <a:noFill/>
          <a:ln/>
        </p:spPr>
        <p:txBody>
          <a:bodyPr wrap="square" lIns="0" tIns="0" rIns="0" bIns="0" rtlCol="0" anchor="t"/>
          <a:lstStyle/>
          <a:p>
            <a:pPr indent="0" marL="0">
              <a:buNone/>
            </a:pPr>
            <a:r>
              <a:rPr lang="en-US" sz="3600" b="1" dirty="0">
                <a:solidFill>
                  <a:srgbClr val="3CC3F0"/>
                </a:solidFill>
              </a:rPr>
              <a:t>&amp; Follow-up</a:t>
            </a:r>
            <a:endParaRPr lang="en-US" sz="3600" dirty="0"/>
          </a:p>
        </p:txBody>
      </p:sp>
      <p:sp>
        <p:nvSpPr>
          <p:cNvPr id="5" name="Text 3"/>
          <p:cNvSpPr txBox="1"/>
          <p:nvPr/>
        </p:nvSpPr>
        <p:spPr>
          <a:xfrm>
            <a:off x="640080" y="4846320"/>
            <a:ext cx="5852160" cy="640080"/>
          </a:xfrm>
          <a:prstGeom prst="rect">
            <a:avLst/>
          </a:prstGeom>
          <a:noFill/>
          <a:ln/>
        </p:spPr>
        <p:txBody>
          <a:bodyPr wrap="square" lIns="0" tIns="0" rIns="0" bIns="0" rtlCol="0" anchor="t"/>
          <a:lstStyle/>
          <a:p>
            <a:pPr indent="0" marL="0">
              <a:buNone/>
            </a:pPr>
            <a:r>
              <a:rPr lang="en-US" sz="1500" dirty="0">
                <a:solidFill>
                  <a:srgbClr val="CFE0FF"/>
                </a:solidFill>
              </a:rPr>
              <a:t>A safe assistant that explains, reminds and escalates. It never gives medical advice.</a:t>
            </a:r>
            <a:endParaRPr lang="en-US" sz="1500" dirty="0"/>
          </a:p>
        </p:txBody>
      </p:sp>
      <p:sp>
        <p:nvSpPr>
          <p:cNvPr id="6" name="Text 4"/>
          <p:cNvSpPr txBox="1"/>
          <p:nvPr/>
        </p:nvSpPr>
        <p:spPr>
          <a:xfrm>
            <a:off x="640080" y="6126480"/>
            <a:ext cx="5486400" cy="274320"/>
          </a:xfrm>
          <a:prstGeom prst="rect">
            <a:avLst/>
          </a:prstGeom>
          <a:noFill/>
          <a:ln/>
        </p:spPr>
        <p:txBody>
          <a:bodyPr wrap="square" lIns="0" tIns="0" rIns="0" bIns="0" rtlCol="0" anchor="t"/>
          <a:lstStyle/>
          <a:p>
            <a:pPr indent="0" marL="0">
              <a:buNone/>
            </a:pPr>
            <a:r>
              <a:rPr lang="en-US" sz="1100" dirty="0">
                <a:solidFill>
                  <a:srgbClr val="CFE0FF"/>
                </a:solidFill>
              </a:rPr>
              <a:t>Sujit Gorakh Raut  ·  October 2026</a:t>
            </a:r>
            <a:endParaRPr lang="en-US" sz="1100" dirty="0"/>
          </a:p>
        </p:txBody>
      </p:sp>
      <p:sp>
        <p:nvSpPr>
          <p:cNvPr id="7" name="Text 5"/>
          <p:cNvSpPr txBox="1"/>
          <p:nvPr/>
        </p:nvSpPr>
        <p:spPr>
          <a:xfrm>
            <a:off x="7955280" y="1234440"/>
            <a:ext cx="1463040" cy="1280160"/>
          </a:xfrm>
          <a:prstGeom prst="rect">
            <a:avLst/>
          </a:prstGeom>
          <a:noFill/>
          <a:ln/>
        </p:spPr>
        <p:txBody>
          <a:bodyPr wrap="square" lIns="0" tIns="0" rIns="0" bIns="0" rtlCol="0" anchor="ctr"/>
          <a:lstStyle/>
          <a:p>
            <a:pPr algn="r" indent="0" marL="0">
              <a:buNone/>
            </a:pPr>
            <a:r>
              <a:rPr lang="en-US" sz="10000" b="1" dirty="0">
                <a:solidFill>
                  <a:srgbClr val="3CC3F0"/>
                </a:solidFill>
              </a:rPr>
              <a:t>6</a:t>
            </a:r>
            <a:endParaRPr lang="en-US" sz="10000" dirty="0"/>
          </a:p>
        </p:txBody>
      </p:sp>
      <p:sp>
        <p:nvSpPr>
          <p:cNvPr id="8" name="Text 6"/>
          <p:cNvSpPr txBox="1"/>
          <p:nvPr/>
        </p:nvSpPr>
        <p:spPr>
          <a:xfrm>
            <a:off x="9601200" y="1417320"/>
            <a:ext cx="2194560" cy="914400"/>
          </a:xfrm>
          <a:prstGeom prst="rect">
            <a:avLst/>
          </a:prstGeom>
          <a:noFill/>
          <a:ln/>
        </p:spPr>
        <p:txBody>
          <a:bodyPr wrap="square" lIns="0" tIns="0" rIns="0" bIns="0" rtlCol="0" anchor="ctr"/>
          <a:lstStyle/>
          <a:p>
            <a:pPr indent="0" marL="0">
              <a:buNone/>
            </a:pPr>
            <a:r>
              <a:rPr lang="en-US" sz="1600" b="1" dirty="0">
                <a:solidFill>
                  <a:srgbClr val="FFFFFF"/>
                </a:solidFill>
              </a:rPr>
              <a:t>specialist agents</a:t>
            </a:r>
            <a:endParaRPr lang="en-US" sz="1600" dirty="0"/>
          </a:p>
        </p:txBody>
      </p:sp>
      <p:sp>
        <p:nvSpPr>
          <p:cNvPr id="9" name="Connector"/>
          <p:cNvSpPr/>
          <p:nvPr/>
        </p:nvSpPr>
        <p:spPr>
          <a:xfrm>
            <a:off x="8138160" y="2651760"/>
            <a:ext cx="3474720" cy="0"/>
          </a:xfrm>
          <a:prstGeom prst="line">
            <a:avLst/>
          </a:prstGeom>
          <a:noFill/>
          <a:ln w="12700">
            <a:solidFill>
              <a:srgbClr val="6F8FE0"/>
            </a:solidFill>
            <a:prstDash val="solid"/>
          </a:ln>
        </p:spPr>
      </p:sp>
      <p:sp>
        <p:nvSpPr>
          <p:cNvPr id="10" name="Text 8"/>
          <p:cNvSpPr txBox="1"/>
          <p:nvPr/>
        </p:nvSpPr>
        <p:spPr>
          <a:xfrm>
            <a:off x="7955280" y="2880360"/>
            <a:ext cx="1463040" cy="1280160"/>
          </a:xfrm>
          <a:prstGeom prst="rect">
            <a:avLst/>
          </a:prstGeom>
          <a:noFill/>
          <a:ln/>
        </p:spPr>
        <p:txBody>
          <a:bodyPr wrap="square" lIns="0" tIns="0" rIns="0" bIns="0" rtlCol="0" anchor="ctr"/>
          <a:lstStyle/>
          <a:p>
            <a:pPr algn="r" indent="0" marL="0">
              <a:buNone/>
            </a:pPr>
            <a:r>
              <a:rPr lang="en-US" sz="10000" b="1" dirty="0">
                <a:solidFill>
                  <a:srgbClr val="FFFFFF"/>
                </a:solidFill>
              </a:rPr>
              <a:t>4</a:t>
            </a:r>
            <a:endParaRPr lang="en-US" sz="10000" dirty="0"/>
          </a:p>
        </p:txBody>
      </p:sp>
      <p:sp>
        <p:nvSpPr>
          <p:cNvPr id="11" name="Text 9"/>
          <p:cNvSpPr txBox="1"/>
          <p:nvPr/>
        </p:nvSpPr>
        <p:spPr>
          <a:xfrm>
            <a:off x="9601200" y="3063240"/>
            <a:ext cx="2194560" cy="914400"/>
          </a:xfrm>
          <a:prstGeom prst="rect">
            <a:avLst/>
          </a:prstGeom>
          <a:noFill/>
          <a:ln/>
        </p:spPr>
        <p:txBody>
          <a:bodyPr wrap="square" lIns="0" tIns="0" rIns="0" bIns="0" rtlCol="0" anchor="ctr"/>
          <a:lstStyle/>
          <a:p>
            <a:pPr indent="0" marL="0">
              <a:buNone/>
            </a:pPr>
            <a:r>
              <a:rPr lang="en-US" sz="1600" b="1" dirty="0">
                <a:solidFill>
                  <a:srgbClr val="FFFFFF"/>
                </a:solidFill>
              </a:rPr>
              <a:t>escalation rules</a:t>
            </a:r>
            <a:endParaRPr lang="en-US" sz="1600" dirty="0"/>
          </a:p>
        </p:txBody>
      </p:sp>
      <p:sp>
        <p:nvSpPr>
          <p:cNvPr id="12" name="Connector"/>
          <p:cNvSpPr/>
          <p:nvPr/>
        </p:nvSpPr>
        <p:spPr>
          <a:xfrm>
            <a:off x="8138160" y="4297680"/>
            <a:ext cx="3474720" cy="0"/>
          </a:xfrm>
          <a:prstGeom prst="line">
            <a:avLst/>
          </a:prstGeom>
          <a:noFill/>
          <a:ln w="12700">
            <a:solidFill>
              <a:srgbClr val="6F8FE0"/>
            </a:solidFill>
            <a:prstDash val="solid"/>
          </a:ln>
        </p:spPr>
      </p:sp>
      <p:sp>
        <p:nvSpPr>
          <p:cNvPr id="13" name="Text 11"/>
          <p:cNvSpPr txBox="1"/>
          <p:nvPr/>
        </p:nvSpPr>
        <p:spPr>
          <a:xfrm>
            <a:off x="7955280" y="4526280"/>
            <a:ext cx="1463040" cy="1280160"/>
          </a:xfrm>
          <a:prstGeom prst="rect">
            <a:avLst/>
          </a:prstGeom>
          <a:noFill/>
          <a:ln/>
        </p:spPr>
        <p:txBody>
          <a:bodyPr wrap="square" lIns="0" tIns="0" rIns="0" bIns="0" rtlCol="0" anchor="ctr"/>
          <a:lstStyle/>
          <a:p>
            <a:pPr algn="r" indent="0" marL="0">
              <a:buNone/>
            </a:pPr>
            <a:r>
              <a:rPr lang="en-US" sz="10000" b="1" dirty="0">
                <a:solidFill>
                  <a:srgbClr val="FF7A7F"/>
                </a:solidFill>
              </a:rPr>
              <a:t>0</a:t>
            </a:r>
            <a:endParaRPr lang="en-US" sz="10000" dirty="0"/>
          </a:p>
        </p:txBody>
      </p:sp>
      <p:sp>
        <p:nvSpPr>
          <p:cNvPr id="14" name="Text 12"/>
          <p:cNvSpPr txBox="1"/>
          <p:nvPr/>
        </p:nvSpPr>
        <p:spPr>
          <a:xfrm>
            <a:off x="9601200" y="4709160"/>
            <a:ext cx="2194560" cy="914400"/>
          </a:xfrm>
          <a:prstGeom prst="rect">
            <a:avLst/>
          </a:prstGeom>
          <a:noFill/>
          <a:ln/>
        </p:spPr>
        <p:txBody>
          <a:bodyPr wrap="square" lIns="0" tIns="0" rIns="0" bIns="0" rtlCol="0" anchor="ctr"/>
          <a:lstStyle/>
          <a:p>
            <a:pPr indent="0" marL="0">
              <a:buNone/>
            </a:pPr>
            <a:r>
              <a:rPr lang="en-US" sz="1600" b="1" dirty="0">
                <a:solidFill>
                  <a:srgbClr val="FFFFFF"/>
                </a:solidFill>
              </a:rPr>
              <a:t>medical advice, by design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468880"/>
            <a:ext cx="3291840" cy="731520"/>
          </a:xfrm>
          <a:prstGeom prst="rect">
            <a:avLst/>
          </a:prstGeom>
          <a:noFill/>
          <a:ln/>
        </p:spPr>
        <p:txBody>
          <a:bodyPr wrap="square" lIns="0" tIns="0" rIns="0" bIns="0" rtlCol="0" anchor="t"/>
          <a:lstStyle/>
          <a:p>
            <a:pPr indent="0" marL="0">
              <a:buNone/>
            </a:pPr>
            <a:r>
              <a:rPr lang="en-US" sz="3600" b="1" dirty="0">
                <a:solidFill>
                  <a:srgbClr val="FFFFFF"/>
                </a:solidFill>
              </a:rPr>
              <a:t>Agenda</a:t>
            </a:r>
            <a:endParaRPr lang="en-US" sz="3600" dirty="0"/>
          </a:p>
        </p:txBody>
      </p:sp>
      <p:sp>
        <p:nvSpPr>
          <p:cNvPr id="3" name="Text 1"/>
          <p:cNvSpPr txBox="1"/>
          <p:nvPr/>
        </p:nvSpPr>
        <p:spPr>
          <a:xfrm>
            <a:off x="548640" y="3291840"/>
            <a:ext cx="3108960" cy="1097280"/>
          </a:xfrm>
          <a:prstGeom prst="rect">
            <a:avLst/>
          </a:prstGeom>
          <a:noFill/>
          <a:ln/>
        </p:spPr>
        <p:txBody>
          <a:bodyPr wrap="square" lIns="0" tIns="0" rIns="0" bIns="0" rtlCol="0" anchor="t"/>
          <a:lstStyle/>
          <a:p>
            <a:pPr indent="0" marL="0">
              <a:buNone/>
            </a:pPr>
            <a:r>
              <a:rPr lang="en-US" sz="1400" dirty="0">
                <a:solidFill>
                  <a:srgbClr val="CFE0FF"/>
                </a:solidFill>
              </a:rPr>
              <a:t>Click any tile to jump straight to that part of the story.</a:t>
            </a:r>
            <a:endParaRPr lang="en-US" sz="1400" dirty="0"/>
          </a:p>
        </p:txBody>
      </p:sp>
      <p:sp>
        <p:nvSpPr>
          <p:cNvPr id="4" name="Agenda tile"/>
          <p:cNvSpPr/>
          <p:nvPr/>
        </p:nvSpPr>
        <p:spPr>
          <a:xfrm>
            <a:off x="4572000" y="548640"/>
            <a:ext cx="3429000" cy="1280160"/>
          </a:xfrm>
          <a:prstGeom prst="roundRect">
            <a:avLst>
              <a:gd name="adj" fmla="val 7143"/>
            </a:avLst>
          </a:prstGeom>
          <a:solidFill>
            <a:srgbClr val="1547C8"/>
          </a:solidFill>
          <a:ln w="12700">
            <a:solidFill>
              <a:srgbClr val="1547C8"/>
            </a:solidFill>
            <a:prstDash val="solid"/>
          </a:ln>
        </p:spPr>
      </p:sp>
      <p:sp>
        <p:nvSpPr>
          <p:cNvPr id="5" name="Text 3"/>
          <p:cNvSpPr txBox="1"/>
          <p:nvPr/>
        </p:nvSpPr>
        <p:spPr>
          <a:xfrm>
            <a:off x="4846320" y="685800"/>
            <a:ext cx="1371600" cy="640080"/>
          </a:xfrm>
          <a:prstGeom prst="rect">
            <a:avLst/>
          </a:prstGeom>
          <a:noFill/>
          <a:ln/>
        </p:spPr>
        <p:txBody>
          <a:bodyPr wrap="square" lIns="0" tIns="0" rIns="0" bIns="0" rtlCol="0" anchor="t"/>
          <a:lstStyle/>
          <a:p>
            <a:pPr indent="0" marL="0">
              <a:buNone/>
            </a:pPr>
            <a:r>
              <a:rPr lang="en-US" sz="3600" b="1" dirty="0">
                <a:solidFill>
                  <a:srgbClr val="FFFFFF"/>
                </a:solidFill>
              </a:rPr>
              <a:t>01</a:t>
            </a:r>
            <a:endParaRPr lang="en-US" sz="3600" dirty="0"/>
          </a:p>
        </p:txBody>
      </p:sp>
      <p:sp>
        <p:nvSpPr>
          <p:cNvPr id="6" name="Text 4"/>
          <p:cNvSpPr txBox="1"/>
          <p:nvPr/>
        </p:nvSpPr>
        <p:spPr>
          <a:xfrm>
            <a:off x="4846320" y="1389888"/>
            <a:ext cx="2971800" cy="320040"/>
          </a:xfrm>
          <a:prstGeom prst="rect">
            <a:avLst/>
          </a:prstGeom>
          <a:noFill/>
          <a:ln/>
        </p:spPr>
        <p:txBody>
          <a:bodyPr wrap="square" lIns="0" tIns="0" rIns="0" bIns="0" rtlCol="0" anchor="t"/>
          <a:lstStyle/>
          <a:p>
            <a:pPr indent="0" marL="0">
              <a:buNone/>
            </a:pPr>
            <a:r>
              <a:rPr lang="en-US" sz="1500" b="1" dirty="0">
                <a:solidFill>
                  <a:srgbClr val="FFFFFF"/>
                </a:solidFill>
              </a:rPr>
              <a:t>The use case</a:t>
            </a:r>
            <a:endParaRPr lang="en-US" sz="1500" dirty="0"/>
          </a:p>
        </p:txBody>
      </p:sp>
      <p:sp>
        <p:nvSpPr>
          <p:cNvPr id="7" name="Click target">
            <a:hlinkClick r:id="rId1" tooltip="Go to slide 3" action="ppaction://hlinksldjump"/>
          </p:cNvPr>
          <p:cNvSpPr/>
          <p:nvPr/>
        </p:nvSpPr>
        <p:spPr>
          <a:xfrm>
            <a:off x="4572000" y="548640"/>
            <a:ext cx="3429000" cy="1280160"/>
          </a:xfrm>
          <a:prstGeom prst="rect">
            <a:avLst/>
          </a:prstGeom>
          <a:solidFill>
            <a:srgbClr val="FFFFFF">
              <a:alpha val="0"/>
            </a:srgbClr>
          </a:solidFill>
          <a:ln w="12700">
            <a:solidFill>
              <a:srgbClr val="FFFFFF">
                <a:alpha val="0"/>
              </a:srgbClr>
            </a:solidFill>
            <a:prstDash val="solid"/>
          </a:ln>
        </p:spPr>
      </p:sp>
      <p:sp>
        <p:nvSpPr>
          <p:cNvPr id="8" name="Agenda tile"/>
          <p:cNvSpPr/>
          <p:nvPr/>
        </p:nvSpPr>
        <p:spPr>
          <a:xfrm>
            <a:off x="8211312" y="548640"/>
            <a:ext cx="3429000" cy="1280160"/>
          </a:xfrm>
          <a:prstGeom prst="roundRect">
            <a:avLst>
              <a:gd name="adj" fmla="val 7143"/>
            </a:avLst>
          </a:prstGeom>
          <a:solidFill>
            <a:srgbClr val="0A1F5C"/>
          </a:solidFill>
          <a:ln w="12700">
            <a:solidFill>
              <a:srgbClr val="0A1F5C"/>
            </a:solidFill>
            <a:prstDash val="solid"/>
          </a:ln>
        </p:spPr>
      </p:sp>
      <p:sp>
        <p:nvSpPr>
          <p:cNvPr id="9" name="Text 7"/>
          <p:cNvSpPr txBox="1"/>
          <p:nvPr/>
        </p:nvSpPr>
        <p:spPr>
          <a:xfrm>
            <a:off x="8485632" y="685800"/>
            <a:ext cx="1371600" cy="640080"/>
          </a:xfrm>
          <a:prstGeom prst="rect">
            <a:avLst/>
          </a:prstGeom>
          <a:noFill/>
          <a:ln/>
        </p:spPr>
        <p:txBody>
          <a:bodyPr wrap="square" lIns="0" tIns="0" rIns="0" bIns="0" rtlCol="0" anchor="t"/>
          <a:lstStyle/>
          <a:p>
            <a:pPr indent="0" marL="0">
              <a:buNone/>
            </a:pPr>
            <a:r>
              <a:rPr lang="en-US" sz="3600" b="1" dirty="0">
                <a:solidFill>
                  <a:srgbClr val="FFFFFF"/>
                </a:solidFill>
              </a:rPr>
              <a:t>02</a:t>
            </a:r>
            <a:endParaRPr lang="en-US" sz="3600" dirty="0"/>
          </a:p>
        </p:txBody>
      </p:sp>
      <p:sp>
        <p:nvSpPr>
          <p:cNvPr id="10" name="Text 8"/>
          <p:cNvSpPr txBox="1"/>
          <p:nvPr/>
        </p:nvSpPr>
        <p:spPr>
          <a:xfrm>
            <a:off x="8485632" y="1389888"/>
            <a:ext cx="2971800" cy="320040"/>
          </a:xfrm>
          <a:prstGeom prst="rect">
            <a:avLst/>
          </a:prstGeom>
          <a:noFill/>
          <a:ln/>
        </p:spPr>
        <p:txBody>
          <a:bodyPr wrap="square" lIns="0" tIns="0" rIns="0" bIns="0" rtlCol="0" anchor="t"/>
          <a:lstStyle/>
          <a:p>
            <a:pPr indent="0" marL="0">
              <a:buNone/>
            </a:pPr>
            <a:r>
              <a:rPr lang="en-US" sz="1500" b="1" dirty="0">
                <a:solidFill>
                  <a:srgbClr val="FFFFFF"/>
                </a:solidFill>
              </a:rPr>
              <a:t>Solution and principle</a:t>
            </a:r>
            <a:endParaRPr lang="en-US" sz="1500" dirty="0"/>
          </a:p>
        </p:txBody>
      </p:sp>
      <p:sp>
        <p:nvSpPr>
          <p:cNvPr id="11" name="Click target">
            <a:hlinkClick r:id="rId2" tooltip="Go to slide 4" action="ppaction://hlinksldjump"/>
          </p:cNvPr>
          <p:cNvSpPr/>
          <p:nvPr/>
        </p:nvSpPr>
        <p:spPr>
          <a:xfrm>
            <a:off x="8211312" y="548640"/>
            <a:ext cx="3429000" cy="1280160"/>
          </a:xfrm>
          <a:prstGeom prst="rect">
            <a:avLst/>
          </a:prstGeom>
          <a:solidFill>
            <a:srgbClr val="FFFFFF">
              <a:alpha val="0"/>
            </a:srgbClr>
          </a:solidFill>
          <a:ln w="12700">
            <a:solidFill>
              <a:srgbClr val="FFFFFF">
                <a:alpha val="0"/>
              </a:srgbClr>
            </a:solidFill>
            <a:prstDash val="solid"/>
          </a:ln>
        </p:spPr>
      </p:sp>
      <p:sp>
        <p:nvSpPr>
          <p:cNvPr id="12" name="Agenda tile"/>
          <p:cNvSpPr/>
          <p:nvPr/>
        </p:nvSpPr>
        <p:spPr>
          <a:xfrm>
            <a:off x="4572000" y="2011680"/>
            <a:ext cx="3429000" cy="1280160"/>
          </a:xfrm>
          <a:prstGeom prst="roundRect">
            <a:avLst>
              <a:gd name="adj" fmla="val 7143"/>
            </a:avLst>
          </a:prstGeom>
          <a:solidFill>
            <a:srgbClr val="8338EC"/>
          </a:solidFill>
          <a:ln w="12700">
            <a:solidFill>
              <a:srgbClr val="8338EC"/>
            </a:solidFill>
            <a:prstDash val="solid"/>
          </a:ln>
        </p:spPr>
      </p:sp>
      <p:sp>
        <p:nvSpPr>
          <p:cNvPr id="13" name="Text 11"/>
          <p:cNvSpPr txBox="1"/>
          <p:nvPr/>
        </p:nvSpPr>
        <p:spPr>
          <a:xfrm>
            <a:off x="4846320" y="2148840"/>
            <a:ext cx="1371600" cy="640080"/>
          </a:xfrm>
          <a:prstGeom prst="rect">
            <a:avLst/>
          </a:prstGeom>
          <a:noFill/>
          <a:ln/>
        </p:spPr>
        <p:txBody>
          <a:bodyPr wrap="square" lIns="0" tIns="0" rIns="0" bIns="0" rtlCol="0" anchor="t"/>
          <a:lstStyle/>
          <a:p>
            <a:pPr indent="0" marL="0">
              <a:buNone/>
            </a:pPr>
            <a:r>
              <a:rPr lang="en-US" sz="3600" b="1" dirty="0">
                <a:solidFill>
                  <a:srgbClr val="FFFFFF"/>
                </a:solidFill>
              </a:rPr>
              <a:t>03</a:t>
            </a:r>
            <a:endParaRPr lang="en-US" sz="3600" dirty="0"/>
          </a:p>
        </p:txBody>
      </p:sp>
      <p:sp>
        <p:nvSpPr>
          <p:cNvPr id="14" name="Text 12"/>
          <p:cNvSpPr txBox="1"/>
          <p:nvPr/>
        </p:nvSpPr>
        <p:spPr>
          <a:xfrm>
            <a:off x="4846320" y="2852928"/>
            <a:ext cx="2971800" cy="320040"/>
          </a:xfrm>
          <a:prstGeom prst="rect">
            <a:avLst/>
          </a:prstGeom>
          <a:noFill/>
          <a:ln/>
        </p:spPr>
        <p:txBody>
          <a:bodyPr wrap="square" lIns="0" tIns="0" rIns="0" bIns="0" rtlCol="0" anchor="t"/>
          <a:lstStyle/>
          <a:p>
            <a:pPr indent="0" marL="0">
              <a:buNone/>
            </a:pPr>
            <a:r>
              <a:rPr lang="en-US" sz="1500" b="1" dirty="0">
                <a:solidFill>
                  <a:srgbClr val="FFFFFF"/>
                </a:solidFill>
              </a:rPr>
              <a:t>Architecture and RAG</a:t>
            </a:r>
            <a:endParaRPr lang="en-US" sz="1500" dirty="0"/>
          </a:p>
        </p:txBody>
      </p:sp>
      <p:sp>
        <p:nvSpPr>
          <p:cNvPr id="15" name="Click target">
            <a:hlinkClick r:id="rId3" tooltip="Go to slide 6" action="ppaction://hlinksldjump"/>
          </p:cNvPr>
          <p:cNvSpPr/>
          <p:nvPr/>
        </p:nvSpPr>
        <p:spPr>
          <a:xfrm>
            <a:off x="4572000" y="2011680"/>
            <a:ext cx="3429000" cy="1280160"/>
          </a:xfrm>
          <a:prstGeom prst="rect">
            <a:avLst/>
          </a:prstGeom>
          <a:solidFill>
            <a:srgbClr val="FFFFFF">
              <a:alpha val="0"/>
            </a:srgbClr>
          </a:solidFill>
          <a:ln w="12700">
            <a:solidFill>
              <a:srgbClr val="FFFFFF">
                <a:alpha val="0"/>
              </a:srgbClr>
            </a:solidFill>
            <a:prstDash val="solid"/>
          </a:ln>
        </p:spPr>
      </p:sp>
      <p:sp>
        <p:nvSpPr>
          <p:cNvPr id="16" name="Agenda tile"/>
          <p:cNvSpPr/>
          <p:nvPr/>
        </p:nvSpPr>
        <p:spPr>
          <a:xfrm>
            <a:off x="8211312" y="2011680"/>
            <a:ext cx="3429000" cy="1280160"/>
          </a:xfrm>
          <a:prstGeom prst="roundRect">
            <a:avLst>
              <a:gd name="adj" fmla="val 7143"/>
            </a:avLst>
          </a:prstGeom>
          <a:solidFill>
            <a:srgbClr val="3CC3F0"/>
          </a:solidFill>
          <a:ln w="12700">
            <a:solidFill>
              <a:srgbClr val="3CC3F0"/>
            </a:solidFill>
            <a:prstDash val="solid"/>
          </a:ln>
        </p:spPr>
      </p:sp>
      <p:sp>
        <p:nvSpPr>
          <p:cNvPr id="17" name="Text 15"/>
          <p:cNvSpPr txBox="1"/>
          <p:nvPr/>
        </p:nvSpPr>
        <p:spPr>
          <a:xfrm>
            <a:off x="8485632" y="2148840"/>
            <a:ext cx="1371600" cy="640080"/>
          </a:xfrm>
          <a:prstGeom prst="rect">
            <a:avLst/>
          </a:prstGeom>
          <a:noFill/>
          <a:ln/>
        </p:spPr>
        <p:txBody>
          <a:bodyPr wrap="square" lIns="0" tIns="0" rIns="0" bIns="0" rtlCol="0" anchor="t"/>
          <a:lstStyle/>
          <a:p>
            <a:pPr indent="0" marL="0">
              <a:buNone/>
            </a:pPr>
            <a:r>
              <a:rPr lang="en-US" sz="3600" b="1" dirty="0">
                <a:solidFill>
                  <a:srgbClr val="0A1F5C"/>
                </a:solidFill>
              </a:rPr>
              <a:t>04</a:t>
            </a:r>
            <a:endParaRPr lang="en-US" sz="3600" dirty="0"/>
          </a:p>
        </p:txBody>
      </p:sp>
      <p:sp>
        <p:nvSpPr>
          <p:cNvPr id="18" name="Text 16"/>
          <p:cNvSpPr txBox="1"/>
          <p:nvPr/>
        </p:nvSpPr>
        <p:spPr>
          <a:xfrm>
            <a:off x="8485632" y="2852928"/>
            <a:ext cx="2971800" cy="320040"/>
          </a:xfrm>
          <a:prstGeom prst="rect">
            <a:avLst/>
          </a:prstGeom>
          <a:noFill/>
          <a:ln/>
        </p:spPr>
        <p:txBody>
          <a:bodyPr wrap="square" lIns="0" tIns="0" rIns="0" bIns="0" rtlCol="0" anchor="t"/>
          <a:lstStyle/>
          <a:p>
            <a:pPr indent="0" marL="0">
              <a:buNone/>
            </a:pPr>
            <a:r>
              <a:rPr lang="en-US" sz="1500" b="1" dirty="0">
                <a:solidFill>
                  <a:srgbClr val="0A1F5C"/>
                </a:solidFill>
              </a:rPr>
              <a:t>Live demo and try it</a:t>
            </a:r>
            <a:endParaRPr lang="en-US" sz="1500" dirty="0"/>
          </a:p>
        </p:txBody>
      </p:sp>
      <p:sp>
        <p:nvSpPr>
          <p:cNvPr id="19" name="Click target">
            <a:hlinkClick r:id="rId4" tooltip="Go to slide 8" action="ppaction://hlinksldjump"/>
          </p:cNvPr>
          <p:cNvSpPr/>
          <p:nvPr/>
        </p:nvSpPr>
        <p:spPr>
          <a:xfrm>
            <a:off x="8211312" y="2011680"/>
            <a:ext cx="3429000" cy="1280160"/>
          </a:xfrm>
          <a:prstGeom prst="rect">
            <a:avLst/>
          </a:prstGeom>
          <a:solidFill>
            <a:srgbClr val="FFFFFF">
              <a:alpha val="0"/>
            </a:srgbClr>
          </a:solidFill>
          <a:ln w="12700">
            <a:solidFill>
              <a:srgbClr val="FFFFFF">
                <a:alpha val="0"/>
              </a:srgbClr>
            </a:solidFill>
            <a:prstDash val="solid"/>
          </a:ln>
        </p:spPr>
      </p:sp>
      <p:sp>
        <p:nvSpPr>
          <p:cNvPr id="20" name="Agenda tile"/>
          <p:cNvSpPr/>
          <p:nvPr/>
        </p:nvSpPr>
        <p:spPr>
          <a:xfrm>
            <a:off x="4572000" y="3474720"/>
            <a:ext cx="3429000" cy="1280160"/>
          </a:xfrm>
          <a:prstGeom prst="roundRect">
            <a:avLst>
              <a:gd name="adj" fmla="val 7143"/>
            </a:avLst>
          </a:prstGeom>
          <a:solidFill>
            <a:srgbClr val="E5484D"/>
          </a:solidFill>
          <a:ln w="12700">
            <a:solidFill>
              <a:srgbClr val="E5484D"/>
            </a:solidFill>
            <a:prstDash val="solid"/>
          </a:ln>
        </p:spPr>
      </p:sp>
      <p:sp>
        <p:nvSpPr>
          <p:cNvPr id="21" name="Text 19"/>
          <p:cNvSpPr txBox="1"/>
          <p:nvPr/>
        </p:nvSpPr>
        <p:spPr>
          <a:xfrm>
            <a:off x="4846320" y="3611880"/>
            <a:ext cx="1371600" cy="640080"/>
          </a:xfrm>
          <a:prstGeom prst="rect">
            <a:avLst/>
          </a:prstGeom>
          <a:noFill/>
          <a:ln/>
        </p:spPr>
        <p:txBody>
          <a:bodyPr wrap="square" lIns="0" tIns="0" rIns="0" bIns="0" rtlCol="0" anchor="t"/>
          <a:lstStyle/>
          <a:p>
            <a:pPr indent="0" marL="0">
              <a:buNone/>
            </a:pPr>
            <a:r>
              <a:rPr lang="en-US" sz="3600" b="1" dirty="0">
                <a:solidFill>
                  <a:srgbClr val="FFFFFF"/>
                </a:solidFill>
              </a:rPr>
              <a:t>05</a:t>
            </a:r>
            <a:endParaRPr lang="en-US" sz="3600" dirty="0"/>
          </a:p>
        </p:txBody>
      </p:sp>
      <p:sp>
        <p:nvSpPr>
          <p:cNvPr id="22" name="Text 20"/>
          <p:cNvSpPr txBox="1"/>
          <p:nvPr/>
        </p:nvSpPr>
        <p:spPr>
          <a:xfrm>
            <a:off x="4846320" y="4315968"/>
            <a:ext cx="2971800" cy="320040"/>
          </a:xfrm>
          <a:prstGeom prst="rect">
            <a:avLst/>
          </a:prstGeom>
          <a:noFill/>
          <a:ln/>
        </p:spPr>
        <p:txBody>
          <a:bodyPr wrap="square" lIns="0" tIns="0" rIns="0" bIns="0" rtlCol="0" anchor="t"/>
          <a:lstStyle/>
          <a:p>
            <a:pPr indent="0" marL="0">
              <a:buNone/>
            </a:pPr>
            <a:r>
              <a:rPr lang="en-US" sz="1500" b="1" dirty="0">
                <a:solidFill>
                  <a:srgbClr val="FFFFFF"/>
                </a:solidFill>
              </a:rPr>
              <a:t>Escalation rules</a:t>
            </a:r>
            <a:endParaRPr lang="en-US" sz="1500" dirty="0"/>
          </a:p>
        </p:txBody>
      </p:sp>
      <p:sp>
        <p:nvSpPr>
          <p:cNvPr id="23" name="Click target">
            <a:hlinkClick r:id="rId5" tooltip="Go to slide 14" action="ppaction://hlinksldjump"/>
          </p:cNvPr>
          <p:cNvSpPr/>
          <p:nvPr/>
        </p:nvSpPr>
        <p:spPr>
          <a:xfrm>
            <a:off x="4572000" y="3474720"/>
            <a:ext cx="3429000" cy="1280160"/>
          </a:xfrm>
          <a:prstGeom prst="rect">
            <a:avLst/>
          </a:prstGeom>
          <a:solidFill>
            <a:srgbClr val="FFFFFF">
              <a:alpha val="0"/>
            </a:srgbClr>
          </a:solidFill>
          <a:ln w="12700">
            <a:solidFill>
              <a:srgbClr val="FFFFFF">
                <a:alpha val="0"/>
              </a:srgbClr>
            </a:solidFill>
            <a:prstDash val="solid"/>
          </a:ln>
        </p:spPr>
      </p:sp>
      <p:sp>
        <p:nvSpPr>
          <p:cNvPr id="24" name="Agenda tile"/>
          <p:cNvSpPr/>
          <p:nvPr/>
        </p:nvSpPr>
        <p:spPr>
          <a:xfrm>
            <a:off x="8211312" y="3474720"/>
            <a:ext cx="3429000" cy="1280160"/>
          </a:xfrm>
          <a:prstGeom prst="roundRect">
            <a:avLst>
              <a:gd name="adj" fmla="val 7143"/>
            </a:avLst>
          </a:prstGeom>
          <a:solidFill>
            <a:srgbClr val="F5A524"/>
          </a:solidFill>
          <a:ln w="12700">
            <a:solidFill>
              <a:srgbClr val="F5A524"/>
            </a:solidFill>
            <a:prstDash val="solid"/>
          </a:ln>
        </p:spPr>
      </p:sp>
      <p:sp>
        <p:nvSpPr>
          <p:cNvPr id="25" name="Text 23"/>
          <p:cNvSpPr txBox="1"/>
          <p:nvPr/>
        </p:nvSpPr>
        <p:spPr>
          <a:xfrm>
            <a:off x="8485632" y="3611880"/>
            <a:ext cx="1371600" cy="640080"/>
          </a:xfrm>
          <a:prstGeom prst="rect">
            <a:avLst/>
          </a:prstGeom>
          <a:noFill/>
          <a:ln/>
        </p:spPr>
        <p:txBody>
          <a:bodyPr wrap="square" lIns="0" tIns="0" rIns="0" bIns="0" rtlCol="0" anchor="t"/>
          <a:lstStyle/>
          <a:p>
            <a:pPr indent="0" marL="0">
              <a:buNone/>
            </a:pPr>
            <a:r>
              <a:rPr lang="en-US" sz="3600" b="1" dirty="0">
                <a:solidFill>
                  <a:srgbClr val="0A1F5C"/>
                </a:solidFill>
              </a:rPr>
              <a:t>06</a:t>
            </a:r>
            <a:endParaRPr lang="en-US" sz="3600" dirty="0"/>
          </a:p>
        </p:txBody>
      </p:sp>
      <p:sp>
        <p:nvSpPr>
          <p:cNvPr id="26" name="Text 24"/>
          <p:cNvSpPr txBox="1"/>
          <p:nvPr/>
        </p:nvSpPr>
        <p:spPr>
          <a:xfrm>
            <a:off x="8485632" y="4315968"/>
            <a:ext cx="2971800" cy="320040"/>
          </a:xfrm>
          <a:prstGeom prst="rect">
            <a:avLst/>
          </a:prstGeom>
          <a:noFill/>
          <a:ln/>
        </p:spPr>
        <p:txBody>
          <a:bodyPr wrap="square" lIns="0" tIns="0" rIns="0" bIns="0" rtlCol="0" anchor="t"/>
          <a:lstStyle/>
          <a:p>
            <a:pPr indent="0" marL="0">
              <a:buNone/>
            </a:pPr>
            <a:r>
              <a:rPr lang="en-US" sz="1500" b="1" dirty="0">
                <a:solidFill>
                  <a:srgbClr val="0A1F5C"/>
                </a:solidFill>
              </a:rPr>
              <a:t>Testing and results</a:t>
            </a:r>
            <a:endParaRPr lang="en-US" sz="1500" dirty="0"/>
          </a:p>
        </p:txBody>
      </p:sp>
      <p:sp>
        <p:nvSpPr>
          <p:cNvPr id="27" name="Click target">
            <a:hlinkClick r:id="rId6" tooltip="Go to slide 15" action="ppaction://hlinksldjump"/>
          </p:cNvPr>
          <p:cNvSpPr/>
          <p:nvPr/>
        </p:nvSpPr>
        <p:spPr>
          <a:xfrm>
            <a:off x="8211312" y="3474720"/>
            <a:ext cx="3429000" cy="1280160"/>
          </a:xfrm>
          <a:prstGeom prst="rect">
            <a:avLst/>
          </a:prstGeom>
          <a:solidFill>
            <a:srgbClr val="FFFFFF">
              <a:alpha val="0"/>
            </a:srgbClr>
          </a:solidFill>
          <a:ln w="12700">
            <a:solidFill>
              <a:srgbClr val="FFFFFF">
                <a:alpha val="0"/>
              </a:srgbClr>
            </a:solidFill>
            <a:prstDash val="solid"/>
          </a:ln>
        </p:spPr>
      </p:sp>
      <p:sp>
        <p:nvSpPr>
          <p:cNvPr id="28" name="Agenda tile"/>
          <p:cNvSpPr/>
          <p:nvPr/>
        </p:nvSpPr>
        <p:spPr>
          <a:xfrm>
            <a:off x="4572000" y="4937760"/>
            <a:ext cx="3429000" cy="1280160"/>
          </a:xfrm>
          <a:prstGeom prst="roundRect">
            <a:avLst>
              <a:gd name="adj" fmla="val 7143"/>
            </a:avLst>
          </a:prstGeom>
          <a:solidFill>
            <a:srgbClr val="12A36B"/>
          </a:solidFill>
          <a:ln w="12700">
            <a:solidFill>
              <a:srgbClr val="12A36B"/>
            </a:solidFill>
            <a:prstDash val="solid"/>
          </a:ln>
        </p:spPr>
      </p:sp>
      <p:sp>
        <p:nvSpPr>
          <p:cNvPr id="29" name="Text 27"/>
          <p:cNvSpPr txBox="1"/>
          <p:nvPr/>
        </p:nvSpPr>
        <p:spPr>
          <a:xfrm>
            <a:off x="4846320" y="5074920"/>
            <a:ext cx="1371600" cy="640080"/>
          </a:xfrm>
          <a:prstGeom prst="rect">
            <a:avLst/>
          </a:prstGeom>
          <a:noFill/>
          <a:ln/>
        </p:spPr>
        <p:txBody>
          <a:bodyPr wrap="square" lIns="0" tIns="0" rIns="0" bIns="0" rtlCol="0" anchor="t"/>
          <a:lstStyle/>
          <a:p>
            <a:pPr indent="0" marL="0">
              <a:buNone/>
            </a:pPr>
            <a:r>
              <a:rPr lang="en-US" sz="3600" b="1" dirty="0">
                <a:solidFill>
                  <a:srgbClr val="FFFFFF"/>
                </a:solidFill>
              </a:rPr>
              <a:t>07</a:t>
            </a:r>
            <a:endParaRPr lang="en-US" sz="3600" dirty="0"/>
          </a:p>
        </p:txBody>
      </p:sp>
      <p:sp>
        <p:nvSpPr>
          <p:cNvPr id="30" name="Text 28"/>
          <p:cNvSpPr txBox="1"/>
          <p:nvPr/>
        </p:nvSpPr>
        <p:spPr>
          <a:xfrm>
            <a:off x="4846320" y="5779008"/>
            <a:ext cx="2971800" cy="320040"/>
          </a:xfrm>
          <a:prstGeom prst="rect">
            <a:avLst/>
          </a:prstGeom>
          <a:noFill/>
          <a:ln/>
        </p:spPr>
        <p:txBody>
          <a:bodyPr wrap="square" lIns="0" tIns="0" rIns="0" bIns="0" rtlCol="0" anchor="t"/>
          <a:lstStyle/>
          <a:p>
            <a:pPr indent="0" marL="0">
              <a:buNone/>
            </a:pPr>
            <a:r>
              <a:rPr lang="en-US" sz="1500" b="1" dirty="0">
                <a:solidFill>
                  <a:srgbClr val="FFFFFF"/>
                </a:solidFill>
              </a:rPr>
              <a:t>Limits and conclusion</a:t>
            </a:r>
            <a:endParaRPr lang="en-US" sz="1500" dirty="0"/>
          </a:p>
        </p:txBody>
      </p:sp>
      <p:sp>
        <p:nvSpPr>
          <p:cNvPr id="31" name="Click target">
            <a:hlinkClick r:id="rId7" tooltip="Go to slide 16" action="ppaction://hlinksldjump"/>
          </p:cNvPr>
          <p:cNvSpPr/>
          <p:nvPr/>
        </p:nvSpPr>
        <p:spPr>
          <a:xfrm>
            <a:off x="4572000" y="4937760"/>
            <a:ext cx="3429000" cy="1280160"/>
          </a:xfrm>
          <a:prstGeom prst="rect">
            <a:avLst/>
          </a:prstGeom>
          <a:solidFill>
            <a:srgbClr val="FFFFFF">
              <a:alpha val="0"/>
            </a:srgbClr>
          </a:solidFill>
          <a:ln w="12700">
            <a:solidFill>
              <a:srgbClr val="FFFFFF">
                <a:alpha val="0"/>
              </a:srgbClr>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56032"/>
          </a:xfrm>
          <a:prstGeom prst="rect">
            <a:avLst/>
          </a:prstGeom>
          <a:noFill/>
          <a:ln/>
        </p:spPr>
        <p:txBody>
          <a:bodyPr wrap="square" lIns="0" tIns="0" rIns="0" bIns="0" rtlCol="0" anchor="t"/>
          <a:lstStyle/>
          <a:p>
            <a:pPr algn="l" indent="0" marL="0">
              <a:buNone/>
            </a:pPr>
            <a:r>
              <a:rPr lang="en-US" sz="1100" b="1" spc="300" kern="0" dirty="0">
                <a:solidFill>
                  <a:srgbClr val="1547C8"/>
                </a:solidFill>
              </a:rPr>
              <a:t>01  ·  THE USE CASE</a:t>
            </a:r>
            <a:endParaRPr lang="en-US" sz="1100" dirty="0"/>
          </a:p>
        </p:txBody>
      </p:sp>
      <p:sp>
        <p:nvSpPr>
          <p:cNvPr id="3" name="Text 1"/>
          <p:cNvSpPr/>
          <p:nvPr>
            <p:ph idx="103" type="title" hasCustomPrompt="1"/>
          </p:nvPr>
        </p:nvSpPr>
        <p:spPr>
          <a:xfrm>
            <a:off x="548640" y="603504"/>
            <a:ext cx="11064240" cy="603504"/>
          </a:xfrm>
          <a:prstGeom prst="rect">
            <a:avLst/>
          </a:prstGeom>
          <a:noFill/>
          <a:ln/>
        </p:spPr>
        <p:txBody>
          <a:bodyPr wrap="square" lIns="0" tIns="0" rIns="0" bIns="0" rtlCol="0" anchor="t"/>
          <a:lstStyle/>
          <a:p>
            <a:pPr algn="l" indent="0" marL="0">
              <a:buNone/>
            </a:pPr>
            <a:r>
              <a:rPr lang="en-US" sz="3400" b="1" dirty="0">
                <a:solidFill>
                  <a:srgbClr val="0A1F5C"/>
                </a:solidFill>
              </a:rPr>
              <a:t>Care teams cannot scale follow-up safely</a:t>
            </a:r>
            <a:endParaRPr lang="en-US" sz="3400" dirty="0"/>
          </a:p>
        </p:txBody>
      </p:sp>
      <p:sp>
        <p:nvSpPr>
          <p:cNvPr id="4" name="Text 2">
            <a:hlinkClick r:id="rId1" tooltip="Go to Agenda" action="ppaction://hlinksldjump"/>
          </p:cNvPr>
          <p:cNvSpPr txBox="1"/>
          <p:nvPr/>
        </p:nvSpPr>
        <p:spPr>
          <a:xfrm>
            <a:off x="1920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1" action="ppaction://hlinksldjump" tooltip="Go to Agenda">
                  <a:extLst>
                    <a:ext uri="{A12FA001-AC4F-418D-AE19-62706E023703}">
                      <ahyp:hlinkClr xmlns:ahyp="http://schemas.microsoft.com/office/drawing/2018/hyperlinkcolor" val="tx"/>
                    </a:ext>
                  </a:extLst>
                </a:hlinkClick>
              </a:rPr>
              <a:t>Agenda</a:t>
            </a:r>
            <a:endParaRPr lang="en-US" sz="950" dirty="0"/>
          </a:p>
        </p:txBody>
      </p:sp>
      <p:sp>
        <p:nvSpPr>
          <p:cNvPr id="5" name="Text 3"/>
          <p:cNvSpPr txBox="1"/>
          <p:nvPr/>
        </p:nvSpPr>
        <p:spPr>
          <a:xfrm>
            <a:off x="2606040" y="6382512"/>
            <a:ext cx="685800" cy="219456"/>
          </a:xfrm>
          <a:prstGeom prst="rect">
            <a:avLst/>
          </a:prstGeom>
          <a:noFill/>
          <a:ln/>
        </p:spPr>
        <p:txBody>
          <a:bodyPr wrap="square" lIns="0" tIns="0" rIns="0" bIns="0" rtlCol="0" anchor="ctr"/>
          <a:lstStyle/>
          <a:p>
            <a:pPr algn="ctr" indent="0" marL="0">
              <a:buNone/>
            </a:pPr>
            <a:r>
              <a:rPr lang="en-US" sz="950" b="1" dirty="0">
                <a:solidFill>
                  <a:srgbClr val="0A1F5C"/>
                </a:solidFill>
              </a:rPr>
              <a:t>Problem</a:t>
            </a:r>
            <a:endParaRPr lang="en-US" sz="950" dirty="0"/>
          </a:p>
        </p:txBody>
      </p:sp>
      <p:sp>
        <p:nvSpPr>
          <p:cNvPr id="6" name="Shape 4"/>
          <p:cNvSpPr/>
          <p:nvPr/>
        </p:nvSpPr>
        <p:spPr>
          <a:xfrm>
            <a:off x="2912364" y="6309360"/>
            <a:ext cx="73152" cy="73152"/>
          </a:xfrm>
          <a:prstGeom prst="ellipse">
            <a:avLst/>
          </a:prstGeom>
          <a:solidFill>
            <a:srgbClr val="1547C8"/>
          </a:solidFill>
          <a:ln w="12700">
            <a:solidFill>
              <a:srgbClr val="1547C8"/>
            </a:solidFill>
            <a:prstDash val="solid"/>
          </a:ln>
        </p:spPr>
      </p:sp>
      <p:sp>
        <p:nvSpPr>
          <p:cNvPr id="7" name="Text 5">
            <a:hlinkClick r:id="rId2" tooltip="Go to Solution" action="ppaction://hlinksldjump"/>
          </p:cNvPr>
          <p:cNvSpPr txBox="1"/>
          <p:nvPr/>
        </p:nvSpPr>
        <p:spPr>
          <a:xfrm>
            <a:off x="32918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2" action="ppaction://hlinksldjump" tooltip="Go to Solution">
                  <a:extLst>
                    <a:ext uri="{A12FA001-AC4F-418D-AE19-62706E023703}">
                      <ahyp:hlinkClr xmlns:ahyp="http://schemas.microsoft.com/office/drawing/2018/hyperlinkcolor" val="tx"/>
                    </a:ext>
                  </a:extLst>
                </a:hlinkClick>
              </a:rPr>
              <a:t>Solution</a:t>
            </a:r>
            <a:endParaRPr lang="en-US" sz="950" dirty="0"/>
          </a:p>
        </p:txBody>
      </p:sp>
      <p:sp>
        <p:nvSpPr>
          <p:cNvPr id="8" name="Text 6">
            <a:hlinkClick r:id="rId3" tooltip="Go to Principle" action="ppaction://hlinksldjump"/>
          </p:cNvPr>
          <p:cNvSpPr txBox="1"/>
          <p:nvPr/>
        </p:nvSpPr>
        <p:spPr>
          <a:xfrm>
            <a:off x="39776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3" action="ppaction://hlinksldjump" tooltip="Go to Principle">
                  <a:extLst>
                    <a:ext uri="{A12FA001-AC4F-418D-AE19-62706E023703}">
                      <ahyp:hlinkClr xmlns:ahyp="http://schemas.microsoft.com/office/drawing/2018/hyperlinkcolor" val="tx"/>
                    </a:ext>
                  </a:extLst>
                </a:hlinkClick>
              </a:rPr>
              <a:t>Principle</a:t>
            </a:r>
            <a:endParaRPr lang="en-US" sz="950" dirty="0"/>
          </a:p>
        </p:txBody>
      </p:sp>
      <p:sp>
        <p:nvSpPr>
          <p:cNvPr id="9" name="Text 7">
            <a:hlinkClick r:id="rId4" tooltip="Go to Flow" action="ppaction://hlinksldjump"/>
          </p:cNvPr>
          <p:cNvSpPr txBox="1"/>
          <p:nvPr/>
        </p:nvSpPr>
        <p:spPr>
          <a:xfrm>
            <a:off x="46634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4" action="ppaction://hlinksldjump" tooltip="Go to Flow">
                  <a:extLst>
                    <a:ext uri="{A12FA001-AC4F-418D-AE19-62706E023703}">
                      <ahyp:hlinkClr xmlns:ahyp="http://schemas.microsoft.com/office/drawing/2018/hyperlinkcolor" val="tx"/>
                    </a:ext>
                  </a:extLst>
                </a:hlinkClick>
              </a:rPr>
              <a:t>Flow</a:t>
            </a:r>
            <a:endParaRPr lang="en-US" sz="950" dirty="0"/>
          </a:p>
        </p:txBody>
      </p:sp>
      <p:sp>
        <p:nvSpPr>
          <p:cNvPr id="10" name="Text 8">
            <a:hlinkClick r:id="rId5" tooltip="Go to RAG" action="ppaction://hlinksldjump"/>
          </p:cNvPr>
          <p:cNvSpPr txBox="1"/>
          <p:nvPr/>
        </p:nvSpPr>
        <p:spPr>
          <a:xfrm>
            <a:off x="5349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5" action="ppaction://hlinksldjump" tooltip="Go to RAG">
                  <a:extLst>
                    <a:ext uri="{A12FA001-AC4F-418D-AE19-62706E023703}">
                      <ahyp:hlinkClr xmlns:ahyp="http://schemas.microsoft.com/office/drawing/2018/hyperlinkcolor" val="tx"/>
                    </a:ext>
                  </a:extLst>
                </a:hlinkClick>
              </a:rPr>
              <a:t>RAG</a:t>
            </a:r>
            <a:endParaRPr lang="en-US" sz="950" dirty="0"/>
          </a:p>
        </p:txBody>
      </p:sp>
      <p:sp>
        <p:nvSpPr>
          <p:cNvPr id="11" name="Text 9">
            <a:hlinkClick r:id="rId6" tooltip="Go to Demo" action="ppaction://hlinksldjump"/>
          </p:cNvPr>
          <p:cNvSpPr txBox="1"/>
          <p:nvPr/>
        </p:nvSpPr>
        <p:spPr>
          <a:xfrm>
            <a:off x="60350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6" action="ppaction://hlinksldjump" tooltip="Go to Demo">
                  <a:extLst>
                    <a:ext uri="{A12FA001-AC4F-418D-AE19-62706E023703}">
                      <ahyp:hlinkClr xmlns:ahyp="http://schemas.microsoft.com/office/drawing/2018/hyperlinkcolor" val="tx"/>
                    </a:ext>
                  </a:extLst>
                </a:hlinkClick>
              </a:rPr>
              <a:t>Demo</a:t>
            </a:r>
            <a:endParaRPr lang="en-US" sz="950" dirty="0"/>
          </a:p>
        </p:txBody>
      </p:sp>
      <p:sp>
        <p:nvSpPr>
          <p:cNvPr id="12" name="Text 10">
            <a:hlinkClick r:id="rId7" tooltip="Go to Try it" action="ppaction://hlinksldjump"/>
          </p:cNvPr>
          <p:cNvSpPr txBox="1"/>
          <p:nvPr/>
        </p:nvSpPr>
        <p:spPr>
          <a:xfrm>
            <a:off x="67208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7" action="ppaction://hlinksldjump" tooltip="Go to Try it">
                  <a:extLst>
                    <a:ext uri="{A12FA001-AC4F-418D-AE19-62706E023703}">
                      <ahyp:hlinkClr xmlns:ahyp="http://schemas.microsoft.com/office/drawing/2018/hyperlinkcolor" val="tx"/>
                    </a:ext>
                  </a:extLst>
                </a:hlinkClick>
              </a:rPr>
              <a:t>Try it</a:t>
            </a:r>
            <a:endParaRPr lang="en-US" sz="950" dirty="0"/>
          </a:p>
        </p:txBody>
      </p:sp>
      <p:sp>
        <p:nvSpPr>
          <p:cNvPr id="13" name="Text 11">
            <a:hlinkClick r:id="rId8" tooltip="Go to Rules" action="ppaction://hlinksldjump"/>
          </p:cNvPr>
          <p:cNvSpPr txBox="1"/>
          <p:nvPr/>
        </p:nvSpPr>
        <p:spPr>
          <a:xfrm>
            <a:off x="74066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8" action="ppaction://hlinksldjump" tooltip="Go to Rules">
                  <a:extLst>
                    <a:ext uri="{A12FA001-AC4F-418D-AE19-62706E023703}">
                      <ahyp:hlinkClr xmlns:ahyp="http://schemas.microsoft.com/office/drawing/2018/hyperlinkcolor" val="tx"/>
                    </a:ext>
                  </a:extLst>
                </a:hlinkClick>
              </a:rPr>
              <a:t>Rules</a:t>
            </a:r>
            <a:endParaRPr lang="en-US" sz="950" dirty="0"/>
          </a:p>
        </p:txBody>
      </p:sp>
      <p:sp>
        <p:nvSpPr>
          <p:cNvPr id="14" name="Text 12">
            <a:hlinkClick r:id="rId9" tooltip="Go to Results" action="ppaction://hlinksldjump"/>
          </p:cNvPr>
          <p:cNvSpPr txBox="1"/>
          <p:nvPr/>
        </p:nvSpPr>
        <p:spPr>
          <a:xfrm>
            <a:off x="80924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9" action="ppaction://hlinksldjump" tooltip="Go to Results">
                  <a:extLst>
                    <a:ext uri="{A12FA001-AC4F-418D-AE19-62706E023703}">
                      <ahyp:hlinkClr xmlns:ahyp="http://schemas.microsoft.com/office/drawing/2018/hyperlinkcolor" val="tx"/>
                    </a:ext>
                  </a:extLst>
                </a:hlinkClick>
              </a:rPr>
              <a:t>Results</a:t>
            </a:r>
            <a:endParaRPr lang="en-US" sz="950" dirty="0"/>
          </a:p>
        </p:txBody>
      </p:sp>
      <p:sp>
        <p:nvSpPr>
          <p:cNvPr id="15" name="Text 13">
            <a:hlinkClick r:id="rId10" tooltip="Go to Next" action="ppaction://hlinksldjump"/>
          </p:cNvPr>
          <p:cNvSpPr txBox="1"/>
          <p:nvPr/>
        </p:nvSpPr>
        <p:spPr>
          <a:xfrm>
            <a:off x="8778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10" action="ppaction://hlinksldjump" tooltip="Go to Next">
                  <a:extLst>
                    <a:ext uri="{A12FA001-AC4F-418D-AE19-62706E023703}">
                      <ahyp:hlinkClr xmlns:ahyp="http://schemas.microsoft.com/office/drawing/2018/hyperlinkcolor" val="tx"/>
                    </a:ext>
                  </a:extLst>
                </a:hlinkClick>
              </a:rPr>
              <a:t>Next</a:t>
            </a:r>
            <a:endParaRPr lang="en-US" sz="950" dirty="0"/>
          </a:p>
        </p:txBody>
      </p:sp>
      <p:sp>
        <p:nvSpPr>
          <p:cNvPr id="16" name="Hero block"/>
          <p:cNvSpPr/>
          <p:nvPr/>
        </p:nvSpPr>
        <p:spPr>
          <a:xfrm>
            <a:off x="548640" y="1463040"/>
            <a:ext cx="5394960" cy="3611880"/>
          </a:xfrm>
          <a:prstGeom prst="roundRect">
            <a:avLst>
              <a:gd name="adj" fmla="val 2532"/>
            </a:avLst>
          </a:prstGeom>
          <a:solidFill>
            <a:srgbClr val="1547C8"/>
          </a:solidFill>
          <a:ln w="12700">
            <a:solidFill>
              <a:srgbClr val="1547C8"/>
            </a:solidFill>
            <a:prstDash val="solid"/>
          </a:ln>
        </p:spPr>
      </p:sp>
      <p:sp>
        <p:nvSpPr>
          <p:cNvPr id="17" name="Text 15"/>
          <p:cNvSpPr txBox="1"/>
          <p:nvPr/>
        </p:nvSpPr>
        <p:spPr>
          <a:xfrm>
            <a:off x="868680" y="1783080"/>
            <a:ext cx="4754880" cy="3017520"/>
          </a:xfrm>
          <a:prstGeom prst="rect">
            <a:avLst/>
          </a:prstGeom>
          <a:noFill/>
          <a:ln/>
        </p:spPr>
        <p:txBody>
          <a:bodyPr wrap="square" lIns="0" tIns="0" rIns="0" bIns="0" rtlCol="0" anchor="t"/>
          <a:lstStyle/>
          <a:p>
            <a:pPr indent="0" marL="0">
              <a:buNone/>
            </a:pPr>
            <a:r>
              <a:rPr lang="en-US" sz="3200" b="1" dirty="0">
                <a:solidFill>
                  <a:srgbClr val="FFFFFF"/>
                </a:solidFill>
              </a:rPr>
              <a:t>Scale education and follow-up, </a:t>
            </a:r>
            <a:pPr indent="0" marL="0">
              <a:buNone/>
            </a:pPr>
            <a:r>
              <a:rPr lang="en-US" sz="3200" b="1" dirty="0">
                <a:solidFill>
                  <a:srgbClr val="3CC3F0"/>
                </a:solidFill>
              </a:rPr>
              <a:t>while every clinical decision stays with people.</a:t>
            </a:r>
            <a:endParaRPr lang="en-US" sz="3200" dirty="0"/>
          </a:p>
        </p:txBody>
      </p:sp>
      <p:sp>
        <p:nvSpPr>
          <p:cNvPr id="18" name="Pain row"/>
          <p:cNvSpPr/>
          <p:nvPr/>
        </p:nvSpPr>
        <p:spPr>
          <a:xfrm>
            <a:off x="6217920" y="1463040"/>
            <a:ext cx="5422392" cy="804672"/>
          </a:xfrm>
          <a:prstGeom prst="roundRect">
            <a:avLst>
              <a:gd name="adj" fmla="val 11364"/>
            </a:avLst>
          </a:prstGeom>
          <a:solidFill>
            <a:srgbClr val="F4F6FB"/>
          </a:solidFill>
          <a:ln w="12700">
            <a:solidFill>
              <a:srgbClr val="F4F6FB"/>
            </a:solidFill>
            <a:prstDash val="solid"/>
          </a:ln>
        </p:spPr>
      </p:sp>
      <p:sp>
        <p:nvSpPr>
          <p:cNvPr id="19" name="Text 17"/>
          <p:cNvSpPr txBox="1"/>
          <p:nvPr/>
        </p:nvSpPr>
        <p:spPr>
          <a:xfrm>
            <a:off x="6400800" y="1463040"/>
            <a:ext cx="822960" cy="804672"/>
          </a:xfrm>
          <a:prstGeom prst="rect">
            <a:avLst/>
          </a:prstGeom>
          <a:noFill/>
          <a:ln/>
        </p:spPr>
        <p:txBody>
          <a:bodyPr wrap="square" lIns="0" tIns="0" rIns="0" bIns="0" rtlCol="0" anchor="ctr"/>
          <a:lstStyle/>
          <a:p>
            <a:pPr indent="0" marL="0">
              <a:buNone/>
            </a:pPr>
            <a:r>
              <a:rPr lang="en-US" sz="3000" b="1" dirty="0">
                <a:solidFill>
                  <a:srgbClr val="1547C8"/>
                </a:solidFill>
              </a:rPr>
              <a:t>01</a:t>
            </a:r>
            <a:endParaRPr lang="en-US" sz="3000" dirty="0"/>
          </a:p>
        </p:txBody>
      </p:sp>
      <p:sp>
        <p:nvSpPr>
          <p:cNvPr id="20" name="Text 18"/>
          <p:cNvSpPr txBox="1"/>
          <p:nvPr/>
        </p:nvSpPr>
        <p:spPr>
          <a:xfrm>
            <a:off x="7315200" y="1554480"/>
            <a:ext cx="4206240" cy="310896"/>
          </a:xfrm>
          <a:prstGeom prst="rect">
            <a:avLst/>
          </a:prstGeom>
          <a:noFill/>
          <a:ln/>
        </p:spPr>
        <p:txBody>
          <a:bodyPr wrap="square" lIns="0" tIns="0" rIns="0" bIns="0" rtlCol="0" anchor="t"/>
          <a:lstStyle/>
          <a:p>
            <a:pPr indent="0" marL="0">
              <a:buNone/>
            </a:pPr>
            <a:r>
              <a:rPr lang="en-US" sz="1600" b="1" dirty="0">
                <a:solidFill>
                  <a:srgbClr val="0A1F5C"/>
                </a:solidFill>
              </a:rPr>
              <a:t>Repeated questions</a:t>
            </a:r>
            <a:endParaRPr lang="en-US" sz="1600" dirty="0"/>
          </a:p>
        </p:txBody>
      </p:sp>
      <p:sp>
        <p:nvSpPr>
          <p:cNvPr id="21" name="Text 19"/>
          <p:cNvSpPr txBox="1"/>
          <p:nvPr/>
        </p:nvSpPr>
        <p:spPr>
          <a:xfrm>
            <a:off x="7315200" y="1883664"/>
            <a:ext cx="4206240" cy="274320"/>
          </a:xfrm>
          <a:prstGeom prst="rect">
            <a:avLst/>
          </a:prstGeom>
          <a:noFill/>
          <a:ln/>
        </p:spPr>
        <p:txBody>
          <a:bodyPr wrap="square" lIns="0" tIns="0" rIns="0" bIns="0" rtlCol="0" anchor="t"/>
          <a:lstStyle/>
          <a:p>
            <a:pPr indent="0" marL="0">
              <a:buNone/>
            </a:pPr>
            <a:r>
              <a:rPr lang="en-US" sz="1200" dirty="0">
                <a:solidFill>
                  <a:srgbClr val="5B6478"/>
                </a:solidFill>
              </a:rPr>
              <a:t>Coordinators answer the same ones all day</a:t>
            </a:r>
            <a:endParaRPr lang="en-US" sz="1200" dirty="0"/>
          </a:p>
        </p:txBody>
      </p:sp>
      <p:sp>
        <p:nvSpPr>
          <p:cNvPr id="22" name="Pain row"/>
          <p:cNvSpPr/>
          <p:nvPr/>
        </p:nvSpPr>
        <p:spPr>
          <a:xfrm>
            <a:off x="6217920" y="2377440"/>
            <a:ext cx="5422392" cy="804672"/>
          </a:xfrm>
          <a:prstGeom prst="roundRect">
            <a:avLst>
              <a:gd name="adj" fmla="val 11364"/>
            </a:avLst>
          </a:prstGeom>
          <a:solidFill>
            <a:srgbClr val="F4F6FB"/>
          </a:solidFill>
          <a:ln w="12700">
            <a:solidFill>
              <a:srgbClr val="F4F6FB"/>
            </a:solidFill>
            <a:prstDash val="solid"/>
          </a:ln>
        </p:spPr>
      </p:sp>
      <p:sp>
        <p:nvSpPr>
          <p:cNvPr id="23" name="Text 21"/>
          <p:cNvSpPr txBox="1"/>
          <p:nvPr/>
        </p:nvSpPr>
        <p:spPr>
          <a:xfrm>
            <a:off x="6400800" y="2377440"/>
            <a:ext cx="822960" cy="804672"/>
          </a:xfrm>
          <a:prstGeom prst="rect">
            <a:avLst/>
          </a:prstGeom>
          <a:noFill/>
          <a:ln/>
        </p:spPr>
        <p:txBody>
          <a:bodyPr wrap="square" lIns="0" tIns="0" rIns="0" bIns="0" rtlCol="0" anchor="ctr"/>
          <a:lstStyle/>
          <a:p>
            <a:pPr indent="0" marL="0">
              <a:buNone/>
            </a:pPr>
            <a:r>
              <a:rPr lang="en-US" sz="3000" b="1" dirty="0">
                <a:solidFill>
                  <a:srgbClr val="1547C8"/>
                </a:solidFill>
              </a:rPr>
              <a:t>02</a:t>
            </a:r>
            <a:endParaRPr lang="en-US" sz="3000" dirty="0"/>
          </a:p>
        </p:txBody>
      </p:sp>
      <p:sp>
        <p:nvSpPr>
          <p:cNvPr id="24" name="Text 22"/>
          <p:cNvSpPr txBox="1"/>
          <p:nvPr/>
        </p:nvSpPr>
        <p:spPr>
          <a:xfrm>
            <a:off x="7315200" y="2468880"/>
            <a:ext cx="4206240" cy="310896"/>
          </a:xfrm>
          <a:prstGeom prst="rect">
            <a:avLst/>
          </a:prstGeom>
          <a:noFill/>
          <a:ln/>
        </p:spPr>
        <p:txBody>
          <a:bodyPr wrap="square" lIns="0" tIns="0" rIns="0" bIns="0" rtlCol="0" anchor="t"/>
          <a:lstStyle/>
          <a:p>
            <a:pPr indent="0" marL="0">
              <a:buNone/>
            </a:pPr>
            <a:r>
              <a:rPr lang="en-US" sz="1600" b="1" dirty="0">
                <a:solidFill>
                  <a:srgbClr val="0A1F5C"/>
                </a:solidFill>
              </a:rPr>
              <a:t>Forgotten tasks</a:t>
            </a:r>
            <a:endParaRPr lang="en-US" sz="1600" dirty="0"/>
          </a:p>
        </p:txBody>
      </p:sp>
      <p:sp>
        <p:nvSpPr>
          <p:cNvPr id="25" name="Text 23"/>
          <p:cNvSpPr txBox="1"/>
          <p:nvPr/>
        </p:nvSpPr>
        <p:spPr>
          <a:xfrm>
            <a:off x="7315200" y="2798064"/>
            <a:ext cx="4206240" cy="274320"/>
          </a:xfrm>
          <a:prstGeom prst="rect">
            <a:avLst/>
          </a:prstGeom>
          <a:noFill/>
          <a:ln/>
        </p:spPr>
        <p:txBody>
          <a:bodyPr wrap="square" lIns="0" tIns="0" rIns="0" bIns="0" rtlCol="0" anchor="t"/>
          <a:lstStyle/>
          <a:p>
            <a:pPr indent="0" marL="0">
              <a:buNone/>
            </a:pPr>
            <a:r>
              <a:rPr lang="en-US" sz="1200" dirty="0">
                <a:solidFill>
                  <a:srgbClr val="5B6478"/>
                </a:solidFill>
              </a:rPr>
              <a:t>Members miss readings and modules</a:t>
            </a:r>
            <a:endParaRPr lang="en-US" sz="1200" dirty="0"/>
          </a:p>
        </p:txBody>
      </p:sp>
      <p:sp>
        <p:nvSpPr>
          <p:cNvPr id="26" name="Pain row"/>
          <p:cNvSpPr/>
          <p:nvPr/>
        </p:nvSpPr>
        <p:spPr>
          <a:xfrm>
            <a:off x="6217920" y="3291840"/>
            <a:ext cx="5422392" cy="804672"/>
          </a:xfrm>
          <a:prstGeom prst="roundRect">
            <a:avLst>
              <a:gd name="adj" fmla="val 11364"/>
            </a:avLst>
          </a:prstGeom>
          <a:solidFill>
            <a:srgbClr val="F4F6FB"/>
          </a:solidFill>
          <a:ln w="12700">
            <a:solidFill>
              <a:srgbClr val="F4F6FB"/>
            </a:solidFill>
            <a:prstDash val="solid"/>
          </a:ln>
        </p:spPr>
      </p:sp>
      <p:sp>
        <p:nvSpPr>
          <p:cNvPr id="27" name="Text 25"/>
          <p:cNvSpPr txBox="1"/>
          <p:nvPr/>
        </p:nvSpPr>
        <p:spPr>
          <a:xfrm>
            <a:off x="6400800" y="3291840"/>
            <a:ext cx="822960" cy="804672"/>
          </a:xfrm>
          <a:prstGeom prst="rect">
            <a:avLst/>
          </a:prstGeom>
          <a:noFill/>
          <a:ln/>
        </p:spPr>
        <p:txBody>
          <a:bodyPr wrap="square" lIns="0" tIns="0" rIns="0" bIns="0" rtlCol="0" anchor="ctr"/>
          <a:lstStyle/>
          <a:p>
            <a:pPr indent="0" marL="0">
              <a:buNone/>
            </a:pPr>
            <a:r>
              <a:rPr lang="en-US" sz="3000" b="1" dirty="0">
                <a:solidFill>
                  <a:srgbClr val="1547C8"/>
                </a:solidFill>
              </a:rPr>
              <a:t>03</a:t>
            </a:r>
            <a:endParaRPr lang="en-US" sz="3000" dirty="0"/>
          </a:p>
        </p:txBody>
      </p:sp>
      <p:sp>
        <p:nvSpPr>
          <p:cNvPr id="28" name="Text 26"/>
          <p:cNvSpPr txBox="1"/>
          <p:nvPr/>
        </p:nvSpPr>
        <p:spPr>
          <a:xfrm>
            <a:off x="7315200" y="3383280"/>
            <a:ext cx="4206240" cy="310896"/>
          </a:xfrm>
          <a:prstGeom prst="rect">
            <a:avLst/>
          </a:prstGeom>
          <a:noFill/>
          <a:ln/>
        </p:spPr>
        <p:txBody>
          <a:bodyPr wrap="square" lIns="0" tIns="0" rIns="0" bIns="0" rtlCol="0" anchor="t"/>
          <a:lstStyle/>
          <a:p>
            <a:pPr indent="0" marL="0">
              <a:buNone/>
            </a:pPr>
            <a:r>
              <a:rPr lang="en-US" sz="1600" b="1" dirty="0">
                <a:solidFill>
                  <a:srgbClr val="0A1F5C"/>
                </a:solidFill>
              </a:rPr>
              <a:t>Messy hand-offs</a:t>
            </a:r>
            <a:endParaRPr lang="en-US" sz="1600" dirty="0"/>
          </a:p>
        </p:txBody>
      </p:sp>
      <p:sp>
        <p:nvSpPr>
          <p:cNvPr id="29" name="Text 27"/>
          <p:cNvSpPr txBox="1"/>
          <p:nvPr/>
        </p:nvSpPr>
        <p:spPr>
          <a:xfrm>
            <a:off x="7315200" y="3712464"/>
            <a:ext cx="4206240" cy="274320"/>
          </a:xfrm>
          <a:prstGeom prst="rect">
            <a:avLst/>
          </a:prstGeom>
          <a:noFill/>
          <a:ln/>
        </p:spPr>
        <p:txBody>
          <a:bodyPr wrap="square" lIns="0" tIns="0" rIns="0" bIns="0" rtlCol="0" anchor="t"/>
          <a:lstStyle/>
          <a:p>
            <a:pPr indent="0" marL="0">
              <a:buNone/>
            </a:pPr>
            <a:r>
              <a:rPr lang="en-US" sz="1200" dirty="0">
                <a:solidFill>
                  <a:srgbClr val="5B6478"/>
                </a:solidFill>
              </a:rPr>
              <a:t>Raw messages before every call</a:t>
            </a:r>
            <a:endParaRPr lang="en-US" sz="1200" dirty="0"/>
          </a:p>
        </p:txBody>
      </p:sp>
      <p:sp>
        <p:nvSpPr>
          <p:cNvPr id="30" name="Pain row"/>
          <p:cNvSpPr/>
          <p:nvPr/>
        </p:nvSpPr>
        <p:spPr>
          <a:xfrm>
            <a:off x="6217920" y="4206240"/>
            <a:ext cx="5422392" cy="804672"/>
          </a:xfrm>
          <a:prstGeom prst="roundRect">
            <a:avLst>
              <a:gd name="adj" fmla="val 11364"/>
            </a:avLst>
          </a:prstGeom>
          <a:solidFill>
            <a:srgbClr val="F4F6FB"/>
          </a:solidFill>
          <a:ln w="12700">
            <a:solidFill>
              <a:srgbClr val="F4F6FB"/>
            </a:solidFill>
            <a:prstDash val="solid"/>
          </a:ln>
        </p:spPr>
      </p:sp>
      <p:sp>
        <p:nvSpPr>
          <p:cNvPr id="31" name="Text 29"/>
          <p:cNvSpPr txBox="1"/>
          <p:nvPr/>
        </p:nvSpPr>
        <p:spPr>
          <a:xfrm>
            <a:off x="6400800" y="4206240"/>
            <a:ext cx="822960" cy="804672"/>
          </a:xfrm>
          <a:prstGeom prst="rect">
            <a:avLst/>
          </a:prstGeom>
          <a:noFill/>
          <a:ln/>
        </p:spPr>
        <p:txBody>
          <a:bodyPr wrap="square" lIns="0" tIns="0" rIns="0" bIns="0" rtlCol="0" anchor="ctr"/>
          <a:lstStyle/>
          <a:p>
            <a:pPr indent="0" marL="0">
              <a:buNone/>
            </a:pPr>
            <a:r>
              <a:rPr lang="en-US" sz="3000" b="1" dirty="0">
                <a:solidFill>
                  <a:srgbClr val="1547C8"/>
                </a:solidFill>
              </a:rPr>
              <a:t>04</a:t>
            </a:r>
            <a:endParaRPr lang="en-US" sz="3000" dirty="0"/>
          </a:p>
        </p:txBody>
      </p:sp>
      <p:sp>
        <p:nvSpPr>
          <p:cNvPr id="32" name="Text 30"/>
          <p:cNvSpPr txBox="1"/>
          <p:nvPr/>
        </p:nvSpPr>
        <p:spPr>
          <a:xfrm>
            <a:off x="7315200" y="4297680"/>
            <a:ext cx="4206240" cy="310896"/>
          </a:xfrm>
          <a:prstGeom prst="rect">
            <a:avLst/>
          </a:prstGeom>
          <a:noFill/>
          <a:ln/>
        </p:spPr>
        <p:txBody>
          <a:bodyPr wrap="square" lIns="0" tIns="0" rIns="0" bIns="0" rtlCol="0" anchor="t"/>
          <a:lstStyle/>
          <a:p>
            <a:pPr indent="0" marL="0">
              <a:buNone/>
            </a:pPr>
            <a:r>
              <a:rPr lang="en-US" sz="1600" b="1" dirty="0">
                <a:solidFill>
                  <a:srgbClr val="0A1F5C"/>
                </a:solidFill>
              </a:rPr>
              <a:t>Unsafe chatbots</a:t>
            </a:r>
            <a:endParaRPr lang="en-US" sz="1600" dirty="0"/>
          </a:p>
        </p:txBody>
      </p:sp>
      <p:sp>
        <p:nvSpPr>
          <p:cNvPr id="33" name="Text 31"/>
          <p:cNvSpPr txBox="1"/>
          <p:nvPr/>
        </p:nvSpPr>
        <p:spPr>
          <a:xfrm>
            <a:off x="7315200" y="4626864"/>
            <a:ext cx="4206240" cy="274320"/>
          </a:xfrm>
          <a:prstGeom prst="rect">
            <a:avLst/>
          </a:prstGeom>
          <a:noFill/>
          <a:ln/>
        </p:spPr>
        <p:txBody>
          <a:bodyPr wrap="square" lIns="0" tIns="0" rIns="0" bIns="0" rtlCol="0" anchor="t"/>
          <a:lstStyle/>
          <a:p>
            <a:pPr indent="0" marL="0">
              <a:buNone/>
            </a:pPr>
            <a:r>
              <a:rPr lang="en-US" sz="1200" dirty="0">
                <a:solidFill>
                  <a:srgbClr val="5B6478"/>
                </a:solidFill>
              </a:rPr>
              <a:t>A free-form bot can invent facts or advise</a:t>
            </a:r>
            <a:endParaRPr lang="en-US" sz="1200" dirty="0"/>
          </a:p>
        </p:txBody>
      </p:sp>
      <p:sp>
        <p:nvSpPr>
          <p:cNvPr id="34" name="Never strip"/>
          <p:cNvSpPr/>
          <p:nvPr/>
        </p:nvSpPr>
        <p:spPr>
          <a:xfrm>
            <a:off x="548640" y="5303520"/>
            <a:ext cx="11091672" cy="822960"/>
          </a:xfrm>
          <a:prstGeom prst="roundRect">
            <a:avLst>
              <a:gd name="adj" fmla="val 11111"/>
            </a:avLst>
          </a:prstGeom>
          <a:solidFill>
            <a:srgbClr val="E5484D"/>
          </a:solidFill>
          <a:ln w="12700">
            <a:solidFill>
              <a:srgbClr val="E5484D"/>
            </a:solidFill>
            <a:prstDash val="solid"/>
          </a:ln>
        </p:spPr>
      </p:sp>
      <p:sp>
        <p:nvSpPr>
          <p:cNvPr id="35" name="Text 33"/>
          <p:cNvSpPr txBox="1"/>
          <p:nvPr/>
        </p:nvSpPr>
        <p:spPr>
          <a:xfrm>
            <a:off x="548640" y="5303520"/>
            <a:ext cx="11091672" cy="822960"/>
          </a:xfrm>
          <a:prstGeom prst="rect">
            <a:avLst/>
          </a:prstGeom>
          <a:noFill/>
          <a:ln/>
        </p:spPr>
        <p:txBody>
          <a:bodyPr wrap="square" lIns="0" tIns="0" rIns="0" bIns="0" rtlCol="0" anchor="ctr"/>
          <a:lstStyle/>
          <a:p>
            <a:pPr algn="ctr" indent="0" marL="0">
              <a:buNone/>
            </a:pPr>
            <a:r>
              <a:rPr lang="en-US" sz="2000" b="1" spc="100" kern="0" dirty="0">
                <a:solidFill>
                  <a:srgbClr val="FFFFFF"/>
                </a:solidFill>
              </a:rPr>
              <a:t>NEVER:   DIAGNOSE   ·   PREDICT   ·   PRESCRIBE   ·   POSE AS A CLINICIAN</a:t>
            </a:r>
            <a:endParaRPr lang="en-US" sz="200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56032"/>
          </a:xfrm>
          <a:prstGeom prst="rect">
            <a:avLst/>
          </a:prstGeom>
          <a:noFill/>
          <a:ln/>
        </p:spPr>
        <p:txBody>
          <a:bodyPr wrap="square" lIns="0" tIns="0" rIns="0" bIns="0" rtlCol="0" anchor="t"/>
          <a:lstStyle/>
          <a:p>
            <a:pPr algn="l" indent="0" marL="0">
              <a:buNone/>
            </a:pPr>
            <a:r>
              <a:rPr lang="en-US" sz="1100" b="1" spc="300" kern="0" dirty="0">
                <a:solidFill>
                  <a:srgbClr val="9FD8F5"/>
                </a:solidFill>
              </a:rPr>
              <a:t>02  ·  THE SOLUTION</a:t>
            </a:r>
            <a:endParaRPr lang="en-US" sz="1100" dirty="0"/>
          </a:p>
        </p:txBody>
      </p:sp>
      <p:sp>
        <p:nvSpPr>
          <p:cNvPr id="3" name="Text 1"/>
          <p:cNvSpPr/>
          <p:nvPr>
            <p:ph idx="103" type="title" hasCustomPrompt="1"/>
          </p:nvPr>
        </p:nvSpPr>
        <p:spPr>
          <a:xfrm>
            <a:off x="548640" y="603504"/>
            <a:ext cx="11064240" cy="603504"/>
          </a:xfrm>
          <a:prstGeom prst="rect">
            <a:avLst/>
          </a:prstGeom>
          <a:noFill/>
          <a:ln/>
        </p:spPr>
        <p:txBody>
          <a:bodyPr wrap="square" lIns="0" tIns="0" rIns="0" bIns="0" rtlCol="0" anchor="t"/>
          <a:lstStyle/>
          <a:p>
            <a:pPr algn="l" indent="0" marL="0">
              <a:buNone/>
            </a:pPr>
            <a:r>
              <a:rPr lang="en-US" sz="3400" b="1" dirty="0">
                <a:solidFill>
                  <a:srgbClr val="FFFFFF"/>
                </a:solidFill>
              </a:rPr>
              <a:t>One orchestrator, five specialists</a:t>
            </a:r>
            <a:endParaRPr lang="en-US" sz="3400" dirty="0"/>
          </a:p>
        </p:txBody>
      </p:sp>
      <p:sp>
        <p:nvSpPr>
          <p:cNvPr id="4" name="Text 2">
            <a:hlinkClick r:id="rId1" tooltip="Go to Agenda" action="ppaction://hlinksldjump"/>
          </p:cNvPr>
          <p:cNvSpPr txBox="1"/>
          <p:nvPr/>
        </p:nvSpPr>
        <p:spPr>
          <a:xfrm>
            <a:off x="1920240" y="6382512"/>
            <a:ext cx="68580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1" action="ppaction://hlinksldjump" tooltip="Go to Agenda">
                  <a:extLst>
                    <a:ext uri="{A12FA001-AC4F-418D-AE19-62706E023703}">
                      <ahyp:hlinkClr xmlns:ahyp="http://schemas.microsoft.com/office/drawing/2018/hyperlinkcolor" val="tx"/>
                    </a:ext>
                  </a:extLst>
                </a:hlinkClick>
              </a:rPr>
              <a:t>Agenda</a:t>
            </a:r>
            <a:endParaRPr lang="en-US" sz="950" dirty="0"/>
          </a:p>
        </p:txBody>
      </p:sp>
      <p:sp>
        <p:nvSpPr>
          <p:cNvPr id="5" name="Text 3">
            <a:hlinkClick r:id="rId2" tooltip="Go to Problem" action="ppaction://hlinksldjump"/>
          </p:cNvPr>
          <p:cNvSpPr txBox="1"/>
          <p:nvPr/>
        </p:nvSpPr>
        <p:spPr>
          <a:xfrm>
            <a:off x="2606040" y="6382512"/>
            <a:ext cx="68580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2" action="ppaction://hlinksldjump" tooltip="Go to Problem">
                  <a:extLst>
                    <a:ext uri="{A12FA001-AC4F-418D-AE19-62706E023703}">
                      <ahyp:hlinkClr xmlns:ahyp="http://schemas.microsoft.com/office/drawing/2018/hyperlinkcolor" val="tx"/>
                    </a:ext>
                  </a:extLst>
                </a:hlinkClick>
              </a:rPr>
              <a:t>Problem</a:t>
            </a:r>
            <a:endParaRPr lang="en-US" sz="950" dirty="0"/>
          </a:p>
        </p:txBody>
      </p:sp>
      <p:sp>
        <p:nvSpPr>
          <p:cNvPr id="6" name="Text 4"/>
          <p:cNvSpPr txBox="1"/>
          <p:nvPr/>
        </p:nvSpPr>
        <p:spPr>
          <a:xfrm>
            <a:off x="3291840" y="6382512"/>
            <a:ext cx="685800" cy="219456"/>
          </a:xfrm>
          <a:prstGeom prst="rect">
            <a:avLst/>
          </a:prstGeom>
          <a:noFill/>
          <a:ln/>
        </p:spPr>
        <p:txBody>
          <a:bodyPr wrap="square" lIns="0" tIns="0" rIns="0" bIns="0" rtlCol="0" anchor="ctr"/>
          <a:lstStyle/>
          <a:p>
            <a:pPr algn="ctr" indent="0" marL="0">
              <a:buNone/>
            </a:pPr>
            <a:r>
              <a:rPr lang="en-US" sz="950" b="1" dirty="0">
                <a:solidFill>
                  <a:srgbClr val="FFFFFF"/>
                </a:solidFill>
              </a:rPr>
              <a:t>Solution</a:t>
            </a:r>
            <a:endParaRPr lang="en-US" sz="950" dirty="0"/>
          </a:p>
        </p:txBody>
      </p:sp>
      <p:sp>
        <p:nvSpPr>
          <p:cNvPr id="7" name="Shape 5"/>
          <p:cNvSpPr/>
          <p:nvPr/>
        </p:nvSpPr>
        <p:spPr>
          <a:xfrm>
            <a:off x="3598164" y="6309360"/>
            <a:ext cx="73152" cy="73152"/>
          </a:xfrm>
          <a:prstGeom prst="ellipse">
            <a:avLst/>
          </a:prstGeom>
          <a:solidFill>
            <a:srgbClr val="3CC3F0"/>
          </a:solidFill>
          <a:ln w="12700">
            <a:solidFill>
              <a:srgbClr val="3CC3F0"/>
            </a:solidFill>
            <a:prstDash val="solid"/>
          </a:ln>
        </p:spPr>
      </p:sp>
      <p:sp>
        <p:nvSpPr>
          <p:cNvPr id="8" name="Text 6">
            <a:hlinkClick r:id="rId3" tooltip="Go to Principle" action="ppaction://hlinksldjump"/>
          </p:cNvPr>
          <p:cNvSpPr txBox="1"/>
          <p:nvPr/>
        </p:nvSpPr>
        <p:spPr>
          <a:xfrm>
            <a:off x="3977640" y="6382512"/>
            <a:ext cx="68580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3" action="ppaction://hlinksldjump" tooltip="Go to Principle">
                  <a:extLst>
                    <a:ext uri="{A12FA001-AC4F-418D-AE19-62706E023703}">
                      <ahyp:hlinkClr xmlns:ahyp="http://schemas.microsoft.com/office/drawing/2018/hyperlinkcolor" val="tx"/>
                    </a:ext>
                  </a:extLst>
                </a:hlinkClick>
              </a:rPr>
              <a:t>Principle</a:t>
            </a:r>
            <a:endParaRPr lang="en-US" sz="950" dirty="0"/>
          </a:p>
        </p:txBody>
      </p:sp>
      <p:sp>
        <p:nvSpPr>
          <p:cNvPr id="9" name="Text 7">
            <a:hlinkClick r:id="rId4" tooltip="Go to Flow" action="ppaction://hlinksldjump"/>
          </p:cNvPr>
          <p:cNvSpPr txBox="1"/>
          <p:nvPr/>
        </p:nvSpPr>
        <p:spPr>
          <a:xfrm>
            <a:off x="4663440" y="6382512"/>
            <a:ext cx="68580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4" action="ppaction://hlinksldjump" tooltip="Go to Flow">
                  <a:extLst>
                    <a:ext uri="{A12FA001-AC4F-418D-AE19-62706E023703}">
                      <ahyp:hlinkClr xmlns:ahyp="http://schemas.microsoft.com/office/drawing/2018/hyperlinkcolor" val="tx"/>
                    </a:ext>
                  </a:extLst>
                </a:hlinkClick>
              </a:rPr>
              <a:t>Flow</a:t>
            </a:r>
            <a:endParaRPr lang="en-US" sz="950" dirty="0"/>
          </a:p>
        </p:txBody>
      </p:sp>
      <p:sp>
        <p:nvSpPr>
          <p:cNvPr id="10" name="Text 8">
            <a:hlinkClick r:id="rId5" tooltip="Go to RAG" action="ppaction://hlinksldjump"/>
          </p:cNvPr>
          <p:cNvSpPr txBox="1"/>
          <p:nvPr/>
        </p:nvSpPr>
        <p:spPr>
          <a:xfrm>
            <a:off x="5349240" y="6382512"/>
            <a:ext cx="68580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5" action="ppaction://hlinksldjump" tooltip="Go to RAG">
                  <a:extLst>
                    <a:ext uri="{A12FA001-AC4F-418D-AE19-62706E023703}">
                      <ahyp:hlinkClr xmlns:ahyp="http://schemas.microsoft.com/office/drawing/2018/hyperlinkcolor" val="tx"/>
                    </a:ext>
                  </a:extLst>
                </a:hlinkClick>
              </a:rPr>
              <a:t>RAG</a:t>
            </a:r>
            <a:endParaRPr lang="en-US" sz="950" dirty="0"/>
          </a:p>
        </p:txBody>
      </p:sp>
      <p:sp>
        <p:nvSpPr>
          <p:cNvPr id="11" name="Text 9">
            <a:hlinkClick r:id="rId6" tooltip="Go to Demo" action="ppaction://hlinksldjump"/>
          </p:cNvPr>
          <p:cNvSpPr txBox="1"/>
          <p:nvPr/>
        </p:nvSpPr>
        <p:spPr>
          <a:xfrm>
            <a:off x="6035040" y="6382512"/>
            <a:ext cx="68580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6" action="ppaction://hlinksldjump" tooltip="Go to Demo">
                  <a:extLst>
                    <a:ext uri="{A12FA001-AC4F-418D-AE19-62706E023703}">
                      <ahyp:hlinkClr xmlns:ahyp="http://schemas.microsoft.com/office/drawing/2018/hyperlinkcolor" val="tx"/>
                    </a:ext>
                  </a:extLst>
                </a:hlinkClick>
              </a:rPr>
              <a:t>Demo</a:t>
            </a:r>
            <a:endParaRPr lang="en-US" sz="950" dirty="0"/>
          </a:p>
        </p:txBody>
      </p:sp>
      <p:sp>
        <p:nvSpPr>
          <p:cNvPr id="12" name="Text 10">
            <a:hlinkClick r:id="rId7" tooltip="Go to Try it" action="ppaction://hlinksldjump"/>
          </p:cNvPr>
          <p:cNvSpPr txBox="1"/>
          <p:nvPr/>
        </p:nvSpPr>
        <p:spPr>
          <a:xfrm>
            <a:off x="6720840" y="6382512"/>
            <a:ext cx="68580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7" action="ppaction://hlinksldjump" tooltip="Go to Try it">
                  <a:extLst>
                    <a:ext uri="{A12FA001-AC4F-418D-AE19-62706E023703}">
                      <ahyp:hlinkClr xmlns:ahyp="http://schemas.microsoft.com/office/drawing/2018/hyperlinkcolor" val="tx"/>
                    </a:ext>
                  </a:extLst>
                </a:hlinkClick>
              </a:rPr>
              <a:t>Try it</a:t>
            </a:r>
            <a:endParaRPr lang="en-US" sz="950" dirty="0"/>
          </a:p>
        </p:txBody>
      </p:sp>
      <p:sp>
        <p:nvSpPr>
          <p:cNvPr id="13" name="Text 11">
            <a:hlinkClick r:id="rId8" tooltip="Go to Rules" action="ppaction://hlinksldjump"/>
          </p:cNvPr>
          <p:cNvSpPr txBox="1"/>
          <p:nvPr/>
        </p:nvSpPr>
        <p:spPr>
          <a:xfrm>
            <a:off x="7406640" y="6382512"/>
            <a:ext cx="68580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8" action="ppaction://hlinksldjump" tooltip="Go to Rules">
                  <a:extLst>
                    <a:ext uri="{A12FA001-AC4F-418D-AE19-62706E023703}">
                      <ahyp:hlinkClr xmlns:ahyp="http://schemas.microsoft.com/office/drawing/2018/hyperlinkcolor" val="tx"/>
                    </a:ext>
                  </a:extLst>
                </a:hlinkClick>
              </a:rPr>
              <a:t>Rules</a:t>
            </a:r>
            <a:endParaRPr lang="en-US" sz="950" dirty="0"/>
          </a:p>
        </p:txBody>
      </p:sp>
      <p:sp>
        <p:nvSpPr>
          <p:cNvPr id="14" name="Text 12">
            <a:hlinkClick r:id="rId9" tooltip="Go to Results" action="ppaction://hlinksldjump"/>
          </p:cNvPr>
          <p:cNvSpPr txBox="1"/>
          <p:nvPr/>
        </p:nvSpPr>
        <p:spPr>
          <a:xfrm>
            <a:off x="8092440" y="6382512"/>
            <a:ext cx="68580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9" action="ppaction://hlinksldjump" tooltip="Go to Results">
                  <a:extLst>
                    <a:ext uri="{A12FA001-AC4F-418D-AE19-62706E023703}">
                      <ahyp:hlinkClr xmlns:ahyp="http://schemas.microsoft.com/office/drawing/2018/hyperlinkcolor" val="tx"/>
                    </a:ext>
                  </a:extLst>
                </a:hlinkClick>
              </a:rPr>
              <a:t>Results</a:t>
            </a:r>
            <a:endParaRPr lang="en-US" sz="950" dirty="0"/>
          </a:p>
        </p:txBody>
      </p:sp>
      <p:sp>
        <p:nvSpPr>
          <p:cNvPr id="15" name="Text 13">
            <a:hlinkClick r:id="rId10" tooltip="Go to Next" action="ppaction://hlinksldjump"/>
          </p:cNvPr>
          <p:cNvSpPr txBox="1"/>
          <p:nvPr/>
        </p:nvSpPr>
        <p:spPr>
          <a:xfrm>
            <a:off x="8778240" y="6382512"/>
            <a:ext cx="68580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10" action="ppaction://hlinksldjump" tooltip="Go to Next">
                  <a:extLst>
                    <a:ext uri="{A12FA001-AC4F-418D-AE19-62706E023703}">
                      <ahyp:hlinkClr xmlns:ahyp="http://schemas.microsoft.com/office/drawing/2018/hyperlinkcolor" val="tx"/>
                    </a:ext>
                  </a:extLst>
                </a:hlinkClick>
              </a:rPr>
              <a:t>Next</a:t>
            </a:r>
            <a:endParaRPr lang="en-US" sz="950" dirty="0"/>
          </a:p>
        </p:txBody>
      </p:sp>
      <p:sp>
        <p:nvSpPr>
          <p:cNvPr id="16" name="Orchestrator block"/>
          <p:cNvSpPr/>
          <p:nvPr/>
        </p:nvSpPr>
        <p:spPr>
          <a:xfrm>
            <a:off x="548640" y="1463040"/>
            <a:ext cx="3566160" cy="4553712"/>
          </a:xfrm>
          <a:prstGeom prst="roundRect">
            <a:avLst>
              <a:gd name="adj" fmla="val 2564"/>
            </a:avLst>
          </a:prstGeom>
          <a:solidFill>
            <a:srgbClr val="1547C8"/>
          </a:solidFill>
          <a:ln w="12700">
            <a:solidFill>
              <a:srgbClr val="1547C8"/>
            </a:solidFill>
            <a:prstDash val="solid"/>
          </a:ln>
          <a:effectLst>
            <a:outerShdw sx="100000" sy="100000" kx="0" ky="0" algn="bl" rotWithShape="0" blurRad="152400" dist="38100" dir="5400000">
              <a:srgbClr val="000000">
                <a:alpha val="18000"/>
              </a:srgbClr>
            </a:outerShdw>
          </a:effectLst>
        </p:spPr>
      </p:sp>
      <p:sp>
        <p:nvSpPr>
          <p:cNvPr id="17" name="Text 15"/>
          <p:cNvSpPr txBox="1"/>
          <p:nvPr/>
        </p:nvSpPr>
        <p:spPr>
          <a:xfrm>
            <a:off x="868680" y="1828800"/>
            <a:ext cx="3017520" cy="1371600"/>
          </a:xfrm>
          <a:prstGeom prst="rect">
            <a:avLst/>
          </a:prstGeom>
          <a:noFill/>
          <a:ln/>
        </p:spPr>
        <p:txBody>
          <a:bodyPr wrap="square" lIns="0" tIns="0" rIns="0" bIns="0" rtlCol="0" anchor="t"/>
          <a:lstStyle/>
          <a:p>
            <a:pPr indent="0" marL="0">
              <a:buNone/>
            </a:pPr>
            <a:r>
              <a:rPr lang="en-US" sz="3400" b="1" dirty="0">
                <a:solidFill>
                  <a:srgbClr val="FFFFFF"/>
                </a:solidFill>
              </a:rPr>
              <a:t>Care</a:t>
            </a:r>
            <a:endParaRPr lang="en-US" sz="3400" dirty="0"/>
          </a:p>
          <a:p>
            <a:pPr indent="0" marL="0">
              <a:buNone/>
            </a:pPr>
            <a:r>
              <a:rPr lang="en-US" sz="3400" b="1" dirty="0">
                <a:solidFill>
                  <a:srgbClr val="FFFFFF"/>
                </a:solidFill>
              </a:rPr>
              <a:t>Orchestrator</a:t>
            </a:r>
            <a:endParaRPr lang="en-US" sz="3400" dirty="0"/>
          </a:p>
        </p:txBody>
      </p:sp>
      <p:sp>
        <p:nvSpPr>
          <p:cNvPr id="18" name="Text 16"/>
          <p:cNvSpPr txBox="1"/>
          <p:nvPr/>
        </p:nvSpPr>
        <p:spPr>
          <a:xfrm>
            <a:off x="868680" y="3291840"/>
            <a:ext cx="3017520" cy="365760"/>
          </a:xfrm>
          <a:prstGeom prst="rect">
            <a:avLst/>
          </a:prstGeom>
          <a:noFill/>
          <a:ln/>
        </p:spPr>
        <p:txBody>
          <a:bodyPr wrap="square" lIns="0" tIns="0" rIns="0" bIns="0" rtlCol="0" anchor="t"/>
          <a:lstStyle/>
          <a:p>
            <a:pPr indent="0" marL="0">
              <a:buNone/>
            </a:pPr>
            <a:r>
              <a:rPr lang="en-US" sz="1400" dirty="0">
                <a:solidFill>
                  <a:srgbClr val="CFE0FF"/>
                </a:solidFill>
              </a:rPr>
              <a:t>plain Python, fixed workflow</a:t>
            </a:r>
            <a:endParaRPr lang="en-US" sz="1400" dirty="0"/>
          </a:p>
        </p:txBody>
      </p:sp>
      <p:sp>
        <p:nvSpPr>
          <p:cNvPr id="19" name="Text 17"/>
          <p:cNvSpPr txBox="1"/>
          <p:nvPr/>
        </p:nvSpPr>
        <p:spPr>
          <a:xfrm>
            <a:off x="868680" y="4114800"/>
            <a:ext cx="2926080" cy="1097280"/>
          </a:xfrm>
          <a:prstGeom prst="rect">
            <a:avLst/>
          </a:prstGeom>
          <a:noFill/>
          <a:ln/>
        </p:spPr>
        <p:txBody>
          <a:bodyPr wrap="square" lIns="0" tIns="0" rIns="0" bIns="0" rtlCol="0" anchor="t"/>
          <a:lstStyle/>
          <a:p>
            <a:pPr indent="0" marL="0">
              <a:buNone/>
            </a:pPr>
            <a:r>
              <a:rPr lang="en-US" sz="1400" b="1" dirty="0">
                <a:solidFill>
                  <a:srgbClr val="3CC3F0"/>
                </a:solidFill>
              </a:rPr>
              <a:t>Every safety decision is code, so it is identical every time.</a:t>
            </a:r>
            <a:endParaRPr lang="en-US" sz="1400" dirty="0"/>
          </a:p>
        </p:txBody>
      </p:sp>
      <p:sp>
        <p:nvSpPr>
          <p:cNvPr id="20" name="Agent bar"/>
          <p:cNvSpPr/>
          <p:nvPr/>
        </p:nvSpPr>
        <p:spPr>
          <a:xfrm>
            <a:off x="4389120" y="1463040"/>
            <a:ext cx="7251192" cy="822960"/>
          </a:xfrm>
          <a:prstGeom prst="roundRect">
            <a:avLst>
              <a:gd name="adj" fmla="val 11111"/>
            </a:avLst>
          </a:prstGeom>
          <a:solidFill>
            <a:srgbClr val="3CC3F0"/>
          </a:solidFill>
          <a:ln w="12700">
            <a:solidFill>
              <a:srgbClr val="3CC3F0"/>
            </a:solidFill>
            <a:prstDash val="solid"/>
          </a:ln>
        </p:spPr>
      </p:sp>
      <p:sp>
        <p:nvSpPr>
          <p:cNvPr id="21" name="Text 19"/>
          <p:cNvSpPr txBox="1"/>
          <p:nvPr/>
        </p:nvSpPr>
        <p:spPr>
          <a:xfrm>
            <a:off x="4709160" y="1463040"/>
            <a:ext cx="3291840" cy="822960"/>
          </a:xfrm>
          <a:prstGeom prst="rect">
            <a:avLst/>
          </a:prstGeom>
          <a:noFill/>
          <a:ln/>
        </p:spPr>
        <p:txBody>
          <a:bodyPr wrap="square" lIns="0" tIns="0" rIns="0" bIns="0" rtlCol="0" anchor="ctr"/>
          <a:lstStyle/>
          <a:p>
            <a:pPr indent="0" marL="0">
              <a:buNone/>
            </a:pPr>
            <a:r>
              <a:rPr lang="en-US" sz="2200" b="1" dirty="0">
                <a:solidFill>
                  <a:srgbClr val="0A1F5C"/>
                </a:solidFill>
              </a:rPr>
              <a:t>Reading Summary</a:t>
            </a:r>
            <a:endParaRPr lang="en-US" sz="2200" dirty="0"/>
          </a:p>
        </p:txBody>
      </p:sp>
      <p:sp>
        <p:nvSpPr>
          <p:cNvPr id="22" name="Text 20"/>
          <p:cNvSpPr txBox="1"/>
          <p:nvPr/>
        </p:nvSpPr>
        <p:spPr>
          <a:xfrm>
            <a:off x="7955280" y="1463040"/>
            <a:ext cx="3474720" cy="822960"/>
          </a:xfrm>
          <a:prstGeom prst="rect">
            <a:avLst/>
          </a:prstGeom>
          <a:noFill/>
          <a:ln/>
        </p:spPr>
        <p:txBody>
          <a:bodyPr wrap="square" lIns="0" tIns="0" rIns="0" bIns="0" rtlCol="0" anchor="ctr"/>
          <a:lstStyle/>
          <a:p>
            <a:pPr algn="r" indent="0" marL="0">
              <a:buNone/>
            </a:pPr>
            <a:r>
              <a:rPr lang="en-US" sz="1000" b="1" spc="200" kern="0" dirty="0">
                <a:solidFill>
                  <a:srgbClr val="0A1F5C"/>
                </a:solidFill>
              </a:rPr>
              <a:t>SEES  </a:t>
            </a:r>
            <a:pPr algn="r" indent="0" marL="0">
              <a:buNone/>
            </a:pPr>
            <a:r>
              <a:rPr lang="en-US" sz="1300" b="1" dirty="0">
                <a:solidFill>
                  <a:srgbClr val="0A1F5C"/>
                </a:solidFill>
              </a:rPr>
              <a:t>one member's readings</a:t>
            </a:r>
            <a:endParaRPr lang="en-US" sz="1300" dirty="0"/>
          </a:p>
        </p:txBody>
      </p:sp>
      <p:sp>
        <p:nvSpPr>
          <p:cNvPr id="23" name="Agent bar"/>
          <p:cNvSpPr/>
          <p:nvPr/>
        </p:nvSpPr>
        <p:spPr>
          <a:xfrm>
            <a:off x="4389120" y="2395728"/>
            <a:ext cx="7251192" cy="822960"/>
          </a:xfrm>
          <a:prstGeom prst="roundRect">
            <a:avLst>
              <a:gd name="adj" fmla="val 11111"/>
            </a:avLst>
          </a:prstGeom>
          <a:solidFill>
            <a:srgbClr val="12A36B"/>
          </a:solidFill>
          <a:ln w="12700">
            <a:solidFill>
              <a:srgbClr val="12A36B"/>
            </a:solidFill>
            <a:prstDash val="solid"/>
          </a:ln>
        </p:spPr>
      </p:sp>
      <p:sp>
        <p:nvSpPr>
          <p:cNvPr id="24" name="Text 22"/>
          <p:cNvSpPr txBox="1"/>
          <p:nvPr/>
        </p:nvSpPr>
        <p:spPr>
          <a:xfrm>
            <a:off x="4709160" y="2395728"/>
            <a:ext cx="3291840" cy="822960"/>
          </a:xfrm>
          <a:prstGeom prst="rect">
            <a:avLst/>
          </a:prstGeom>
          <a:noFill/>
          <a:ln/>
        </p:spPr>
        <p:txBody>
          <a:bodyPr wrap="square" lIns="0" tIns="0" rIns="0" bIns="0" rtlCol="0" anchor="ctr"/>
          <a:lstStyle/>
          <a:p>
            <a:pPr indent="0" marL="0">
              <a:buNone/>
            </a:pPr>
            <a:r>
              <a:rPr lang="en-US" sz="2200" b="1" dirty="0">
                <a:solidFill>
                  <a:srgbClr val="FFFFFF"/>
                </a:solidFill>
              </a:rPr>
              <a:t>Care Plan</a:t>
            </a:r>
            <a:endParaRPr lang="en-US" sz="2200" dirty="0"/>
          </a:p>
        </p:txBody>
      </p:sp>
      <p:sp>
        <p:nvSpPr>
          <p:cNvPr id="25" name="Text 23"/>
          <p:cNvSpPr txBox="1"/>
          <p:nvPr/>
        </p:nvSpPr>
        <p:spPr>
          <a:xfrm>
            <a:off x="7955280" y="2395728"/>
            <a:ext cx="3474720" cy="822960"/>
          </a:xfrm>
          <a:prstGeom prst="rect">
            <a:avLst/>
          </a:prstGeom>
          <a:noFill/>
          <a:ln/>
        </p:spPr>
        <p:txBody>
          <a:bodyPr wrap="square" lIns="0" tIns="0" rIns="0" bIns="0" rtlCol="0" anchor="ctr"/>
          <a:lstStyle/>
          <a:p>
            <a:pPr algn="r" indent="0" marL="0">
              <a:buNone/>
            </a:pPr>
            <a:r>
              <a:rPr lang="en-US" sz="1000" b="1" spc="200" kern="0" dirty="0">
                <a:solidFill>
                  <a:srgbClr val="FFFFFF"/>
                </a:solidFill>
              </a:rPr>
              <a:t>SEES  </a:t>
            </a:r>
            <a:pPr algn="r" indent="0" marL="0">
              <a:buNone/>
            </a:pPr>
            <a:r>
              <a:rPr lang="en-US" sz="1300" b="1" dirty="0">
                <a:solidFill>
                  <a:srgbClr val="FFFFFF"/>
                </a:solidFill>
              </a:rPr>
              <a:t>that member's tasks</a:t>
            </a:r>
            <a:endParaRPr lang="en-US" sz="1300" dirty="0"/>
          </a:p>
        </p:txBody>
      </p:sp>
      <p:sp>
        <p:nvSpPr>
          <p:cNvPr id="26" name="Agent bar"/>
          <p:cNvSpPr/>
          <p:nvPr/>
        </p:nvSpPr>
        <p:spPr>
          <a:xfrm>
            <a:off x="4389120" y="3328416"/>
            <a:ext cx="7251192" cy="822960"/>
          </a:xfrm>
          <a:prstGeom prst="roundRect">
            <a:avLst>
              <a:gd name="adj" fmla="val 11111"/>
            </a:avLst>
          </a:prstGeom>
          <a:solidFill>
            <a:srgbClr val="F5A524"/>
          </a:solidFill>
          <a:ln w="12700">
            <a:solidFill>
              <a:srgbClr val="F5A524"/>
            </a:solidFill>
            <a:prstDash val="solid"/>
          </a:ln>
        </p:spPr>
      </p:sp>
      <p:sp>
        <p:nvSpPr>
          <p:cNvPr id="27" name="Text 25"/>
          <p:cNvSpPr txBox="1"/>
          <p:nvPr/>
        </p:nvSpPr>
        <p:spPr>
          <a:xfrm>
            <a:off x="4709160" y="3328416"/>
            <a:ext cx="3291840" cy="822960"/>
          </a:xfrm>
          <a:prstGeom prst="rect">
            <a:avLst/>
          </a:prstGeom>
          <a:noFill/>
          <a:ln/>
        </p:spPr>
        <p:txBody>
          <a:bodyPr wrap="square" lIns="0" tIns="0" rIns="0" bIns="0" rtlCol="0" anchor="ctr"/>
          <a:lstStyle/>
          <a:p>
            <a:pPr indent="0" marL="0">
              <a:buNone/>
            </a:pPr>
            <a:r>
              <a:rPr lang="en-US" sz="2200" b="1" dirty="0">
                <a:solidFill>
                  <a:srgbClr val="0A1F5C"/>
                </a:solidFill>
              </a:rPr>
              <a:t>Education RAG</a:t>
            </a:r>
            <a:endParaRPr lang="en-US" sz="2200" dirty="0"/>
          </a:p>
        </p:txBody>
      </p:sp>
      <p:sp>
        <p:nvSpPr>
          <p:cNvPr id="28" name="Text 26"/>
          <p:cNvSpPr txBox="1"/>
          <p:nvPr/>
        </p:nvSpPr>
        <p:spPr>
          <a:xfrm>
            <a:off x="7955280" y="3328416"/>
            <a:ext cx="3474720" cy="822960"/>
          </a:xfrm>
          <a:prstGeom prst="rect">
            <a:avLst/>
          </a:prstGeom>
          <a:noFill/>
          <a:ln/>
        </p:spPr>
        <p:txBody>
          <a:bodyPr wrap="square" lIns="0" tIns="0" rIns="0" bIns="0" rtlCol="0" anchor="ctr"/>
          <a:lstStyle/>
          <a:p>
            <a:pPr algn="r" indent="0" marL="0">
              <a:buNone/>
            </a:pPr>
            <a:r>
              <a:rPr lang="en-US" sz="1000" b="1" spc="200" kern="0" dirty="0">
                <a:solidFill>
                  <a:srgbClr val="0A1F5C"/>
                </a:solidFill>
              </a:rPr>
              <a:t>SEES  </a:t>
            </a:r>
            <a:pPr algn="r" indent="0" marL="0">
              <a:buNone/>
            </a:pPr>
            <a:r>
              <a:rPr lang="en-US" sz="1300" b="1" dirty="0">
                <a:solidFill>
                  <a:srgbClr val="0A1F5C"/>
                </a:solidFill>
              </a:rPr>
              <a:t>approved articles only</a:t>
            </a:r>
            <a:endParaRPr lang="en-US" sz="1300" dirty="0"/>
          </a:p>
        </p:txBody>
      </p:sp>
      <p:sp>
        <p:nvSpPr>
          <p:cNvPr id="29" name="Agent bar"/>
          <p:cNvSpPr/>
          <p:nvPr/>
        </p:nvSpPr>
        <p:spPr>
          <a:xfrm>
            <a:off x="4389120" y="4261104"/>
            <a:ext cx="7251192" cy="822960"/>
          </a:xfrm>
          <a:prstGeom prst="roundRect">
            <a:avLst>
              <a:gd name="adj" fmla="val 11111"/>
            </a:avLst>
          </a:prstGeom>
          <a:solidFill>
            <a:srgbClr val="8338EC"/>
          </a:solidFill>
          <a:ln w="12700">
            <a:solidFill>
              <a:srgbClr val="8338EC"/>
            </a:solidFill>
            <a:prstDash val="solid"/>
          </a:ln>
        </p:spPr>
      </p:sp>
      <p:sp>
        <p:nvSpPr>
          <p:cNvPr id="30" name="Text 28"/>
          <p:cNvSpPr txBox="1"/>
          <p:nvPr/>
        </p:nvSpPr>
        <p:spPr>
          <a:xfrm>
            <a:off x="4709160" y="4261104"/>
            <a:ext cx="3291840" cy="822960"/>
          </a:xfrm>
          <a:prstGeom prst="rect">
            <a:avLst/>
          </a:prstGeom>
          <a:noFill/>
          <a:ln/>
        </p:spPr>
        <p:txBody>
          <a:bodyPr wrap="square" lIns="0" tIns="0" rIns="0" bIns="0" rtlCol="0" anchor="ctr"/>
          <a:lstStyle/>
          <a:p>
            <a:pPr indent="0" marL="0">
              <a:buNone/>
            </a:pPr>
            <a:r>
              <a:rPr lang="en-US" sz="2200" b="1" dirty="0">
                <a:solidFill>
                  <a:srgbClr val="FFFFFF"/>
                </a:solidFill>
              </a:rPr>
              <a:t>Engagement</a:t>
            </a:r>
            <a:endParaRPr lang="en-US" sz="2200" dirty="0"/>
          </a:p>
        </p:txBody>
      </p:sp>
      <p:sp>
        <p:nvSpPr>
          <p:cNvPr id="31" name="Text 29"/>
          <p:cNvSpPr txBox="1"/>
          <p:nvPr/>
        </p:nvSpPr>
        <p:spPr>
          <a:xfrm>
            <a:off x="7955280" y="4261104"/>
            <a:ext cx="3474720" cy="822960"/>
          </a:xfrm>
          <a:prstGeom prst="rect">
            <a:avLst/>
          </a:prstGeom>
          <a:noFill/>
          <a:ln/>
        </p:spPr>
        <p:txBody>
          <a:bodyPr wrap="square" lIns="0" tIns="0" rIns="0" bIns="0" rtlCol="0" anchor="ctr"/>
          <a:lstStyle/>
          <a:p>
            <a:pPr algn="r" indent="0" marL="0">
              <a:buNone/>
            </a:pPr>
            <a:r>
              <a:rPr lang="en-US" sz="1000" b="1" spc="200" kern="0" dirty="0">
                <a:solidFill>
                  <a:srgbClr val="FFFFFF"/>
                </a:solidFill>
              </a:rPr>
              <a:t>SEES  </a:t>
            </a:r>
            <a:pPr algn="r" indent="0" marL="0">
              <a:buNone/>
            </a:pPr>
            <a:r>
              <a:rPr lang="en-US" sz="1300" b="1" dirty="0">
                <a:solidFill>
                  <a:srgbClr val="FFFFFF"/>
                </a:solidFill>
              </a:rPr>
              <a:t>due tasks and channel</a:t>
            </a:r>
            <a:endParaRPr lang="en-US" sz="1300" dirty="0"/>
          </a:p>
        </p:txBody>
      </p:sp>
      <p:sp>
        <p:nvSpPr>
          <p:cNvPr id="32" name="Agent bar"/>
          <p:cNvSpPr/>
          <p:nvPr/>
        </p:nvSpPr>
        <p:spPr>
          <a:xfrm>
            <a:off x="4389120" y="5193792"/>
            <a:ext cx="7251192" cy="822960"/>
          </a:xfrm>
          <a:prstGeom prst="roundRect">
            <a:avLst>
              <a:gd name="adj" fmla="val 11111"/>
            </a:avLst>
          </a:prstGeom>
          <a:solidFill>
            <a:srgbClr val="E5484D"/>
          </a:solidFill>
          <a:ln w="12700">
            <a:solidFill>
              <a:srgbClr val="E5484D"/>
            </a:solidFill>
            <a:prstDash val="solid"/>
          </a:ln>
        </p:spPr>
      </p:sp>
      <p:sp>
        <p:nvSpPr>
          <p:cNvPr id="33" name="Text 31"/>
          <p:cNvSpPr txBox="1"/>
          <p:nvPr/>
        </p:nvSpPr>
        <p:spPr>
          <a:xfrm>
            <a:off x="4709160" y="5193792"/>
            <a:ext cx="3291840" cy="822960"/>
          </a:xfrm>
          <a:prstGeom prst="rect">
            <a:avLst/>
          </a:prstGeom>
          <a:noFill/>
          <a:ln/>
        </p:spPr>
        <p:txBody>
          <a:bodyPr wrap="square" lIns="0" tIns="0" rIns="0" bIns="0" rtlCol="0" anchor="ctr"/>
          <a:lstStyle/>
          <a:p>
            <a:pPr indent="0" marL="0">
              <a:buNone/>
            </a:pPr>
            <a:r>
              <a:rPr lang="en-US" sz="2200" b="1" dirty="0">
                <a:solidFill>
                  <a:srgbClr val="FFFFFF"/>
                </a:solidFill>
              </a:rPr>
              <a:t>Escalation</a:t>
            </a:r>
            <a:endParaRPr lang="en-US" sz="2200" dirty="0"/>
          </a:p>
        </p:txBody>
      </p:sp>
      <p:sp>
        <p:nvSpPr>
          <p:cNvPr id="34" name="Text 32"/>
          <p:cNvSpPr txBox="1"/>
          <p:nvPr/>
        </p:nvSpPr>
        <p:spPr>
          <a:xfrm>
            <a:off x="7955280" y="5193792"/>
            <a:ext cx="3474720" cy="822960"/>
          </a:xfrm>
          <a:prstGeom prst="rect">
            <a:avLst/>
          </a:prstGeom>
          <a:noFill/>
          <a:ln/>
        </p:spPr>
        <p:txBody>
          <a:bodyPr wrap="square" lIns="0" tIns="0" rIns="0" bIns="0" rtlCol="0" anchor="ctr"/>
          <a:lstStyle/>
          <a:p>
            <a:pPr algn="r" indent="0" marL="0">
              <a:buNone/>
            </a:pPr>
            <a:r>
              <a:rPr lang="en-US" sz="1000" b="1" spc="200" kern="0" dirty="0">
                <a:solidFill>
                  <a:srgbClr val="FFFFFF"/>
                </a:solidFill>
              </a:rPr>
              <a:t>SEES  </a:t>
            </a:r>
            <a:pPr algn="r" indent="0" marL="0">
              <a:buNone/>
            </a:pPr>
            <a:r>
              <a:rPr lang="en-US" sz="1300" b="1" dirty="0">
                <a:solidFill>
                  <a:srgbClr val="FFFFFF"/>
                </a:solidFill>
              </a:rPr>
              <a:t>matched rules only</a:t>
            </a:r>
            <a:endParaRPr lang="en-US" sz="130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9FB3E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56032"/>
          </a:xfrm>
          <a:prstGeom prst="rect">
            <a:avLst/>
          </a:prstGeom>
          <a:noFill/>
          <a:ln/>
        </p:spPr>
        <p:txBody>
          <a:bodyPr wrap="square" lIns="0" tIns="0" rIns="0" bIns="0" rtlCol="0" anchor="t"/>
          <a:lstStyle/>
          <a:p>
            <a:pPr algn="l" indent="0" marL="0">
              <a:buNone/>
            </a:pPr>
            <a:r>
              <a:rPr lang="en-US" sz="1100" b="1" spc="300" kern="0" dirty="0">
                <a:solidFill>
                  <a:srgbClr val="1547C8"/>
                </a:solidFill>
              </a:rPr>
              <a:t>02  ·  DESIGN PRINCIPLE</a:t>
            </a:r>
            <a:endParaRPr lang="en-US" sz="1100" dirty="0"/>
          </a:p>
        </p:txBody>
      </p:sp>
      <p:sp>
        <p:nvSpPr>
          <p:cNvPr id="3" name="Text 1"/>
          <p:cNvSpPr/>
          <p:nvPr>
            <p:ph idx="103" type="title" hasCustomPrompt="1"/>
          </p:nvPr>
        </p:nvSpPr>
        <p:spPr>
          <a:xfrm>
            <a:off x="548640" y="603504"/>
            <a:ext cx="11064240" cy="603504"/>
          </a:xfrm>
          <a:prstGeom prst="rect">
            <a:avLst/>
          </a:prstGeom>
          <a:noFill/>
          <a:ln/>
        </p:spPr>
        <p:txBody>
          <a:bodyPr wrap="square" lIns="0" tIns="0" rIns="0" bIns="0" rtlCol="0" anchor="t"/>
          <a:lstStyle/>
          <a:p>
            <a:pPr algn="l" indent="0" marL="0">
              <a:buNone/>
            </a:pPr>
            <a:r>
              <a:rPr lang="en-US" sz="3400" b="1" dirty="0">
                <a:solidFill>
                  <a:srgbClr val="0A1F5C"/>
                </a:solidFill>
              </a:rPr>
              <a:t>Code decides the facts. Agents only word them</a:t>
            </a:r>
            <a:endParaRPr lang="en-US" sz="3400" dirty="0"/>
          </a:p>
        </p:txBody>
      </p:sp>
      <p:sp>
        <p:nvSpPr>
          <p:cNvPr id="4" name="Text 2">
            <a:hlinkClick r:id="rId1" tooltip="Go to Agenda" action="ppaction://hlinksldjump"/>
          </p:cNvPr>
          <p:cNvSpPr txBox="1"/>
          <p:nvPr/>
        </p:nvSpPr>
        <p:spPr>
          <a:xfrm>
            <a:off x="1920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1" action="ppaction://hlinksldjump" tooltip="Go to Agenda">
                  <a:extLst>
                    <a:ext uri="{A12FA001-AC4F-418D-AE19-62706E023703}">
                      <ahyp:hlinkClr xmlns:ahyp="http://schemas.microsoft.com/office/drawing/2018/hyperlinkcolor" val="tx"/>
                    </a:ext>
                  </a:extLst>
                </a:hlinkClick>
              </a:rPr>
              <a:t>Agenda</a:t>
            </a:r>
            <a:endParaRPr lang="en-US" sz="950" dirty="0"/>
          </a:p>
        </p:txBody>
      </p:sp>
      <p:sp>
        <p:nvSpPr>
          <p:cNvPr id="5" name="Text 3">
            <a:hlinkClick r:id="rId2" tooltip="Go to Problem" action="ppaction://hlinksldjump"/>
          </p:cNvPr>
          <p:cNvSpPr txBox="1"/>
          <p:nvPr/>
        </p:nvSpPr>
        <p:spPr>
          <a:xfrm>
            <a:off x="26060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2" action="ppaction://hlinksldjump" tooltip="Go to Problem">
                  <a:extLst>
                    <a:ext uri="{A12FA001-AC4F-418D-AE19-62706E023703}">
                      <ahyp:hlinkClr xmlns:ahyp="http://schemas.microsoft.com/office/drawing/2018/hyperlinkcolor" val="tx"/>
                    </a:ext>
                  </a:extLst>
                </a:hlinkClick>
              </a:rPr>
              <a:t>Problem</a:t>
            </a:r>
            <a:endParaRPr lang="en-US" sz="950" dirty="0"/>
          </a:p>
        </p:txBody>
      </p:sp>
      <p:sp>
        <p:nvSpPr>
          <p:cNvPr id="6" name="Text 4">
            <a:hlinkClick r:id="rId3" tooltip="Go to Solution" action="ppaction://hlinksldjump"/>
          </p:cNvPr>
          <p:cNvSpPr txBox="1"/>
          <p:nvPr/>
        </p:nvSpPr>
        <p:spPr>
          <a:xfrm>
            <a:off x="32918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3" action="ppaction://hlinksldjump" tooltip="Go to Solution">
                  <a:extLst>
                    <a:ext uri="{A12FA001-AC4F-418D-AE19-62706E023703}">
                      <ahyp:hlinkClr xmlns:ahyp="http://schemas.microsoft.com/office/drawing/2018/hyperlinkcolor" val="tx"/>
                    </a:ext>
                  </a:extLst>
                </a:hlinkClick>
              </a:rPr>
              <a:t>Solution</a:t>
            </a:r>
            <a:endParaRPr lang="en-US" sz="950" dirty="0"/>
          </a:p>
        </p:txBody>
      </p:sp>
      <p:sp>
        <p:nvSpPr>
          <p:cNvPr id="7" name="Text 5"/>
          <p:cNvSpPr txBox="1"/>
          <p:nvPr/>
        </p:nvSpPr>
        <p:spPr>
          <a:xfrm>
            <a:off x="3977640" y="6382512"/>
            <a:ext cx="685800" cy="219456"/>
          </a:xfrm>
          <a:prstGeom prst="rect">
            <a:avLst/>
          </a:prstGeom>
          <a:noFill/>
          <a:ln/>
        </p:spPr>
        <p:txBody>
          <a:bodyPr wrap="square" lIns="0" tIns="0" rIns="0" bIns="0" rtlCol="0" anchor="ctr"/>
          <a:lstStyle/>
          <a:p>
            <a:pPr algn="ctr" indent="0" marL="0">
              <a:buNone/>
            </a:pPr>
            <a:r>
              <a:rPr lang="en-US" sz="950" b="1" dirty="0">
                <a:solidFill>
                  <a:srgbClr val="0A1F5C"/>
                </a:solidFill>
              </a:rPr>
              <a:t>Principle</a:t>
            </a:r>
            <a:endParaRPr lang="en-US" sz="950" dirty="0"/>
          </a:p>
        </p:txBody>
      </p:sp>
      <p:sp>
        <p:nvSpPr>
          <p:cNvPr id="8" name="Shape 6"/>
          <p:cNvSpPr/>
          <p:nvPr/>
        </p:nvSpPr>
        <p:spPr>
          <a:xfrm>
            <a:off x="4283964" y="6309360"/>
            <a:ext cx="73152" cy="73152"/>
          </a:xfrm>
          <a:prstGeom prst="ellipse">
            <a:avLst/>
          </a:prstGeom>
          <a:solidFill>
            <a:srgbClr val="1547C8"/>
          </a:solidFill>
          <a:ln w="12700">
            <a:solidFill>
              <a:srgbClr val="1547C8"/>
            </a:solidFill>
            <a:prstDash val="solid"/>
          </a:ln>
        </p:spPr>
      </p:sp>
      <p:sp>
        <p:nvSpPr>
          <p:cNvPr id="9" name="Text 7">
            <a:hlinkClick r:id="rId4" tooltip="Go to Flow" action="ppaction://hlinksldjump"/>
          </p:cNvPr>
          <p:cNvSpPr txBox="1"/>
          <p:nvPr/>
        </p:nvSpPr>
        <p:spPr>
          <a:xfrm>
            <a:off x="46634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4" action="ppaction://hlinksldjump" tooltip="Go to Flow">
                  <a:extLst>
                    <a:ext uri="{A12FA001-AC4F-418D-AE19-62706E023703}">
                      <ahyp:hlinkClr xmlns:ahyp="http://schemas.microsoft.com/office/drawing/2018/hyperlinkcolor" val="tx"/>
                    </a:ext>
                  </a:extLst>
                </a:hlinkClick>
              </a:rPr>
              <a:t>Flow</a:t>
            </a:r>
            <a:endParaRPr lang="en-US" sz="950" dirty="0"/>
          </a:p>
        </p:txBody>
      </p:sp>
      <p:sp>
        <p:nvSpPr>
          <p:cNvPr id="10" name="Text 8">
            <a:hlinkClick r:id="rId5" tooltip="Go to RAG" action="ppaction://hlinksldjump"/>
          </p:cNvPr>
          <p:cNvSpPr txBox="1"/>
          <p:nvPr/>
        </p:nvSpPr>
        <p:spPr>
          <a:xfrm>
            <a:off x="5349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5" action="ppaction://hlinksldjump" tooltip="Go to RAG">
                  <a:extLst>
                    <a:ext uri="{A12FA001-AC4F-418D-AE19-62706E023703}">
                      <ahyp:hlinkClr xmlns:ahyp="http://schemas.microsoft.com/office/drawing/2018/hyperlinkcolor" val="tx"/>
                    </a:ext>
                  </a:extLst>
                </a:hlinkClick>
              </a:rPr>
              <a:t>RAG</a:t>
            </a:r>
            <a:endParaRPr lang="en-US" sz="950" dirty="0"/>
          </a:p>
        </p:txBody>
      </p:sp>
      <p:sp>
        <p:nvSpPr>
          <p:cNvPr id="11" name="Text 9">
            <a:hlinkClick r:id="rId6" tooltip="Go to Demo" action="ppaction://hlinksldjump"/>
          </p:cNvPr>
          <p:cNvSpPr txBox="1"/>
          <p:nvPr/>
        </p:nvSpPr>
        <p:spPr>
          <a:xfrm>
            <a:off x="60350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6" action="ppaction://hlinksldjump" tooltip="Go to Demo">
                  <a:extLst>
                    <a:ext uri="{A12FA001-AC4F-418D-AE19-62706E023703}">
                      <ahyp:hlinkClr xmlns:ahyp="http://schemas.microsoft.com/office/drawing/2018/hyperlinkcolor" val="tx"/>
                    </a:ext>
                  </a:extLst>
                </a:hlinkClick>
              </a:rPr>
              <a:t>Demo</a:t>
            </a:r>
            <a:endParaRPr lang="en-US" sz="950" dirty="0"/>
          </a:p>
        </p:txBody>
      </p:sp>
      <p:sp>
        <p:nvSpPr>
          <p:cNvPr id="12" name="Text 10">
            <a:hlinkClick r:id="rId7" tooltip="Go to Try it" action="ppaction://hlinksldjump"/>
          </p:cNvPr>
          <p:cNvSpPr txBox="1"/>
          <p:nvPr/>
        </p:nvSpPr>
        <p:spPr>
          <a:xfrm>
            <a:off x="67208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7" action="ppaction://hlinksldjump" tooltip="Go to Try it">
                  <a:extLst>
                    <a:ext uri="{A12FA001-AC4F-418D-AE19-62706E023703}">
                      <ahyp:hlinkClr xmlns:ahyp="http://schemas.microsoft.com/office/drawing/2018/hyperlinkcolor" val="tx"/>
                    </a:ext>
                  </a:extLst>
                </a:hlinkClick>
              </a:rPr>
              <a:t>Try it</a:t>
            </a:r>
            <a:endParaRPr lang="en-US" sz="950" dirty="0"/>
          </a:p>
        </p:txBody>
      </p:sp>
      <p:sp>
        <p:nvSpPr>
          <p:cNvPr id="13" name="Text 11">
            <a:hlinkClick r:id="rId8" tooltip="Go to Rules" action="ppaction://hlinksldjump"/>
          </p:cNvPr>
          <p:cNvSpPr txBox="1"/>
          <p:nvPr/>
        </p:nvSpPr>
        <p:spPr>
          <a:xfrm>
            <a:off x="74066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8" action="ppaction://hlinksldjump" tooltip="Go to Rules">
                  <a:extLst>
                    <a:ext uri="{A12FA001-AC4F-418D-AE19-62706E023703}">
                      <ahyp:hlinkClr xmlns:ahyp="http://schemas.microsoft.com/office/drawing/2018/hyperlinkcolor" val="tx"/>
                    </a:ext>
                  </a:extLst>
                </a:hlinkClick>
              </a:rPr>
              <a:t>Rules</a:t>
            </a:r>
            <a:endParaRPr lang="en-US" sz="950" dirty="0"/>
          </a:p>
        </p:txBody>
      </p:sp>
      <p:sp>
        <p:nvSpPr>
          <p:cNvPr id="14" name="Text 12">
            <a:hlinkClick r:id="rId9" tooltip="Go to Results" action="ppaction://hlinksldjump"/>
          </p:cNvPr>
          <p:cNvSpPr txBox="1"/>
          <p:nvPr/>
        </p:nvSpPr>
        <p:spPr>
          <a:xfrm>
            <a:off x="80924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9" action="ppaction://hlinksldjump" tooltip="Go to Results">
                  <a:extLst>
                    <a:ext uri="{A12FA001-AC4F-418D-AE19-62706E023703}">
                      <ahyp:hlinkClr xmlns:ahyp="http://schemas.microsoft.com/office/drawing/2018/hyperlinkcolor" val="tx"/>
                    </a:ext>
                  </a:extLst>
                </a:hlinkClick>
              </a:rPr>
              <a:t>Results</a:t>
            </a:r>
            <a:endParaRPr lang="en-US" sz="950" dirty="0"/>
          </a:p>
        </p:txBody>
      </p:sp>
      <p:sp>
        <p:nvSpPr>
          <p:cNvPr id="15" name="Text 13">
            <a:hlinkClick r:id="rId10" tooltip="Go to Next" action="ppaction://hlinksldjump"/>
          </p:cNvPr>
          <p:cNvSpPr txBox="1"/>
          <p:nvPr/>
        </p:nvSpPr>
        <p:spPr>
          <a:xfrm>
            <a:off x="8778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10" action="ppaction://hlinksldjump" tooltip="Go to Next">
                  <a:extLst>
                    <a:ext uri="{A12FA001-AC4F-418D-AE19-62706E023703}">
                      <ahyp:hlinkClr xmlns:ahyp="http://schemas.microsoft.com/office/drawing/2018/hyperlinkcolor" val="tx"/>
                    </a:ext>
                  </a:extLst>
                </a:hlinkClick>
              </a:rPr>
              <a:t>Next</a:t>
            </a:r>
            <a:endParaRPr lang="en-US" sz="950" dirty="0"/>
          </a:p>
        </p:txBody>
      </p:sp>
      <p:sp>
        <p:nvSpPr>
          <p:cNvPr id="16" name="Code block"/>
          <p:cNvSpPr/>
          <p:nvPr/>
        </p:nvSpPr>
        <p:spPr>
          <a:xfrm>
            <a:off x="548640" y="1463040"/>
            <a:ext cx="5440680" cy="3611880"/>
          </a:xfrm>
          <a:prstGeom prst="roundRect">
            <a:avLst>
              <a:gd name="adj" fmla="val 2532"/>
            </a:avLst>
          </a:prstGeom>
          <a:solidFill>
            <a:srgbClr val="1547C8"/>
          </a:solidFill>
          <a:ln w="12700">
            <a:solidFill>
              <a:srgbClr val="1547C8"/>
            </a:solidFill>
            <a:prstDash val="solid"/>
          </a:ln>
        </p:spPr>
      </p:sp>
      <p:sp>
        <p:nvSpPr>
          <p:cNvPr id="17" name="AI block"/>
          <p:cNvSpPr/>
          <p:nvPr/>
        </p:nvSpPr>
        <p:spPr>
          <a:xfrm>
            <a:off x="6199632" y="1463040"/>
            <a:ext cx="5440680" cy="3611880"/>
          </a:xfrm>
          <a:prstGeom prst="roundRect">
            <a:avLst>
              <a:gd name="adj" fmla="val 2532"/>
            </a:avLst>
          </a:prstGeom>
          <a:solidFill>
            <a:srgbClr val="0A1F5C"/>
          </a:solidFill>
          <a:ln w="12700">
            <a:solidFill>
              <a:srgbClr val="0A1F5C"/>
            </a:solidFill>
            <a:prstDash val="solid"/>
          </a:ln>
        </p:spPr>
      </p:sp>
      <p:sp>
        <p:nvSpPr>
          <p:cNvPr id="18" name="Text 16"/>
          <p:cNvSpPr txBox="1"/>
          <p:nvPr/>
        </p:nvSpPr>
        <p:spPr>
          <a:xfrm>
            <a:off x="868680" y="1645920"/>
            <a:ext cx="4114800" cy="914400"/>
          </a:xfrm>
          <a:prstGeom prst="rect">
            <a:avLst/>
          </a:prstGeom>
          <a:noFill/>
          <a:ln/>
        </p:spPr>
        <p:txBody>
          <a:bodyPr wrap="square" lIns="0" tIns="0" rIns="0" bIns="0" rtlCol="0" anchor="t"/>
          <a:lstStyle/>
          <a:p>
            <a:pPr indent="0" marL="0">
              <a:buNone/>
            </a:pPr>
            <a:r>
              <a:rPr lang="en-US" sz="6000" b="1" dirty="0">
                <a:solidFill>
                  <a:srgbClr val="FFFFFF"/>
                </a:solidFill>
              </a:rPr>
              <a:t>CODE</a:t>
            </a:r>
            <a:endParaRPr lang="en-US" sz="6000" dirty="0"/>
          </a:p>
        </p:txBody>
      </p:sp>
      <p:sp>
        <p:nvSpPr>
          <p:cNvPr id="19" name="Text 17"/>
          <p:cNvSpPr txBox="1"/>
          <p:nvPr/>
        </p:nvSpPr>
        <p:spPr>
          <a:xfrm>
            <a:off x="868680" y="2606040"/>
            <a:ext cx="4572000" cy="274320"/>
          </a:xfrm>
          <a:prstGeom prst="rect">
            <a:avLst/>
          </a:prstGeom>
          <a:noFill/>
          <a:ln/>
        </p:spPr>
        <p:txBody>
          <a:bodyPr wrap="square" lIns="0" tIns="0" rIns="0" bIns="0" rtlCol="0" anchor="t"/>
          <a:lstStyle/>
          <a:p>
            <a:pPr indent="0" marL="0">
              <a:buNone/>
            </a:pPr>
            <a:r>
              <a:rPr lang="en-US" sz="1300" dirty="0">
                <a:solidFill>
                  <a:srgbClr val="CFE0FF"/>
                </a:solidFill>
              </a:rPr>
              <a:t>exact, repeatable, unit-tested</a:t>
            </a:r>
            <a:endParaRPr lang="en-US" sz="1300" dirty="0"/>
          </a:p>
        </p:txBody>
      </p:sp>
      <p:sp>
        <p:nvSpPr>
          <p:cNvPr id="20" name="Text 18"/>
          <p:cNvSpPr txBox="1"/>
          <p:nvPr/>
        </p:nvSpPr>
        <p:spPr>
          <a:xfrm>
            <a:off x="6519672" y="1645920"/>
            <a:ext cx="4114800" cy="914400"/>
          </a:xfrm>
          <a:prstGeom prst="rect">
            <a:avLst/>
          </a:prstGeom>
          <a:noFill/>
          <a:ln/>
        </p:spPr>
        <p:txBody>
          <a:bodyPr wrap="square" lIns="0" tIns="0" rIns="0" bIns="0" rtlCol="0" anchor="t"/>
          <a:lstStyle/>
          <a:p>
            <a:pPr indent="0" marL="0">
              <a:buNone/>
            </a:pPr>
            <a:r>
              <a:rPr lang="en-US" sz="6000" b="1" dirty="0">
                <a:solidFill>
                  <a:srgbClr val="3CC3F0"/>
                </a:solidFill>
              </a:rPr>
              <a:t>AI</a:t>
            </a:r>
            <a:endParaRPr lang="en-US" sz="6000" dirty="0"/>
          </a:p>
        </p:txBody>
      </p:sp>
      <p:sp>
        <p:nvSpPr>
          <p:cNvPr id="21" name="Text 19"/>
          <p:cNvSpPr txBox="1"/>
          <p:nvPr/>
        </p:nvSpPr>
        <p:spPr>
          <a:xfrm>
            <a:off x="6519672" y="2606040"/>
            <a:ext cx="4572000" cy="274320"/>
          </a:xfrm>
          <a:prstGeom prst="rect">
            <a:avLst/>
          </a:prstGeom>
          <a:noFill/>
          <a:ln/>
        </p:spPr>
        <p:txBody>
          <a:bodyPr wrap="square" lIns="0" tIns="0" rIns="0" bIns="0" rtlCol="0" anchor="t"/>
          <a:lstStyle/>
          <a:p>
            <a:pPr indent="0" marL="0">
              <a:buNone/>
            </a:pPr>
            <a:r>
              <a:rPr lang="en-US" sz="1300" dirty="0">
                <a:solidFill>
                  <a:srgbClr val="CFE0FF"/>
                </a:solidFill>
              </a:rPr>
              <a:t>language only, never a decision</a:t>
            </a:r>
            <a:endParaRPr lang="en-US" sz="1300" dirty="0"/>
          </a:p>
        </p:txBody>
      </p:sp>
      <p:sp>
        <p:nvSpPr>
          <p:cNvPr id="22" name="Bullet"/>
          <p:cNvSpPr/>
          <p:nvPr/>
        </p:nvSpPr>
        <p:spPr>
          <a:xfrm>
            <a:off x="886968" y="3246120"/>
            <a:ext cx="128016" cy="128016"/>
          </a:xfrm>
          <a:prstGeom prst="rect">
            <a:avLst/>
          </a:prstGeom>
          <a:solidFill>
            <a:srgbClr val="3CC3F0"/>
          </a:solidFill>
          <a:ln w="12700">
            <a:solidFill>
              <a:srgbClr val="3CC3F0"/>
            </a:solidFill>
            <a:prstDash val="solid"/>
          </a:ln>
        </p:spPr>
      </p:sp>
      <p:sp>
        <p:nvSpPr>
          <p:cNvPr id="23" name="Text 21"/>
          <p:cNvSpPr txBox="1"/>
          <p:nvPr/>
        </p:nvSpPr>
        <p:spPr>
          <a:xfrm>
            <a:off x="1188720" y="3154680"/>
            <a:ext cx="4572000" cy="329184"/>
          </a:xfrm>
          <a:prstGeom prst="rect">
            <a:avLst/>
          </a:prstGeom>
          <a:noFill/>
          <a:ln/>
        </p:spPr>
        <p:txBody>
          <a:bodyPr wrap="square" lIns="0" tIns="0" rIns="0" bIns="0" rtlCol="0" anchor="ctr"/>
          <a:lstStyle/>
          <a:p>
            <a:pPr indent="0" marL="0">
              <a:buNone/>
            </a:pPr>
            <a:r>
              <a:rPr lang="en-US" sz="1500" b="1" dirty="0">
                <a:solidFill>
                  <a:srgbClr val="FFFFFF"/>
                </a:solidFill>
              </a:rPr>
              <a:t>Consent check (ER-501)</a:t>
            </a:r>
            <a:endParaRPr lang="en-US" sz="1500" dirty="0"/>
          </a:p>
        </p:txBody>
      </p:sp>
      <p:sp>
        <p:nvSpPr>
          <p:cNvPr id="24" name="Bullet"/>
          <p:cNvSpPr/>
          <p:nvPr/>
        </p:nvSpPr>
        <p:spPr>
          <a:xfrm>
            <a:off x="886968" y="3703320"/>
            <a:ext cx="128016" cy="128016"/>
          </a:xfrm>
          <a:prstGeom prst="rect">
            <a:avLst/>
          </a:prstGeom>
          <a:solidFill>
            <a:srgbClr val="3CC3F0"/>
          </a:solidFill>
          <a:ln w="12700">
            <a:solidFill>
              <a:srgbClr val="3CC3F0"/>
            </a:solidFill>
            <a:prstDash val="solid"/>
          </a:ln>
        </p:spPr>
      </p:sp>
      <p:sp>
        <p:nvSpPr>
          <p:cNvPr id="25" name="Text 23"/>
          <p:cNvSpPr txBox="1"/>
          <p:nvPr/>
        </p:nvSpPr>
        <p:spPr>
          <a:xfrm>
            <a:off x="1188720" y="3611880"/>
            <a:ext cx="4572000" cy="329184"/>
          </a:xfrm>
          <a:prstGeom prst="rect">
            <a:avLst/>
          </a:prstGeom>
          <a:noFill/>
          <a:ln/>
        </p:spPr>
        <p:txBody>
          <a:bodyPr wrap="square" lIns="0" tIns="0" rIns="0" bIns="0" rtlCol="0" anchor="ctr"/>
          <a:lstStyle/>
          <a:p>
            <a:pPr indent="0" marL="0">
              <a:buNone/>
            </a:pPr>
            <a:r>
              <a:rPr lang="en-US" sz="1500" b="1" dirty="0">
                <a:solidFill>
                  <a:srgbClr val="FFFFFF"/>
                </a:solidFill>
              </a:rPr>
              <a:t>Rules ER-502 to ER-504</a:t>
            </a:r>
            <a:endParaRPr lang="en-US" sz="1500" dirty="0"/>
          </a:p>
        </p:txBody>
      </p:sp>
      <p:sp>
        <p:nvSpPr>
          <p:cNvPr id="26" name="Bullet"/>
          <p:cNvSpPr/>
          <p:nvPr/>
        </p:nvSpPr>
        <p:spPr>
          <a:xfrm>
            <a:off x="886968" y="4160520"/>
            <a:ext cx="128016" cy="128016"/>
          </a:xfrm>
          <a:prstGeom prst="rect">
            <a:avLst/>
          </a:prstGeom>
          <a:solidFill>
            <a:srgbClr val="3CC3F0"/>
          </a:solidFill>
          <a:ln w="12700">
            <a:solidFill>
              <a:srgbClr val="3CC3F0"/>
            </a:solidFill>
            <a:prstDash val="solid"/>
          </a:ln>
        </p:spPr>
      </p:sp>
      <p:sp>
        <p:nvSpPr>
          <p:cNvPr id="27" name="Text 25"/>
          <p:cNvSpPr txBox="1"/>
          <p:nvPr/>
        </p:nvSpPr>
        <p:spPr>
          <a:xfrm>
            <a:off x="1188720" y="4069080"/>
            <a:ext cx="4572000" cy="329184"/>
          </a:xfrm>
          <a:prstGeom prst="rect">
            <a:avLst/>
          </a:prstGeom>
          <a:noFill/>
          <a:ln/>
        </p:spPr>
        <p:txBody>
          <a:bodyPr wrap="square" lIns="0" tIns="0" rIns="0" bIns="0" rtlCol="0" anchor="ctr"/>
          <a:lstStyle/>
          <a:p>
            <a:pPr indent="0" marL="0">
              <a:buNone/>
            </a:pPr>
            <a:r>
              <a:rPr lang="en-US" sz="1500" b="1" dirty="0">
                <a:solidFill>
                  <a:srgbClr val="FFFFFF"/>
                </a:solidFill>
              </a:rPr>
              <a:t>Counts, min / max, missing dates</a:t>
            </a:r>
            <a:endParaRPr lang="en-US" sz="1500" dirty="0"/>
          </a:p>
        </p:txBody>
      </p:sp>
      <p:sp>
        <p:nvSpPr>
          <p:cNvPr id="28" name="Bullet"/>
          <p:cNvSpPr/>
          <p:nvPr/>
        </p:nvSpPr>
        <p:spPr>
          <a:xfrm>
            <a:off x="886968" y="4617720"/>
            <a:ext cx="128016" cy="128016"/>
          </a:xfrm>
          <a:prstGeom prst="rect">
            <a:avLst/>
          </a:prstGeom>
          <a:solidFill>
            <a:srgbClr val="3CC3F0"/>
          </a:solidFill>
          <a:ln w="12700">
            <a:solidFill>
              <a:srgbClr val="3CC3F0"/>
            </a:solidFill>
            <a:prstDash val="solid"/>
          </a:ln>
        </p:spPr>
      </p:sp>
      <p:sp>
        <p:nvSpPr>
          <p:cNvPr id="29" name="Text 27"/>
          <p:cNvSpPr txBox="1"/>
          <p:nvPr/>
        </p:nvSpPr>
        <p:spPr>
          <a:xfrm>
            <a:off x="1188720" y="4526280"/>
            <a:ext cx="4572000" cy="329184"/>
          </a:xfrm>
          <a:prstGeom prst="rect">
            <a:avLst/>
          </a:prstGeom>
          <a:noFill/>
          <a:ln/>
        </p:spPr>
        <p:txBody>
          <a:bodyPr wrap="square" lIns="0" tIns="0" rIns="0" bIns="0" rtlCol="0" anchor="ctr"/>
          <a:lstStyle/>
          <a:p>
            <a:pPr indent="0" marL="0">
              <a:buNone/>
            </a:pPr>
            <a:r>
              <a:rPr lang="en-US" sz="1500" b="1" dirty="0">
                <a:solidFill>
                  <a:srgbClr val="FFFFFF"/>
                </a:solidFill>
              </a:rPr>
              <a:t>Citation check: ID, status, program, version</a:t>
            </a:r>
            <a:endParaRPr lang="en-US" sz="1500" dirty="0"/>
          </a:p>
        </p:txBody>
      </p:sp>
      <p:sp>
        <p:nvSpPr>
          <p:cNvPr id="30" name="Bullet"/>
          <p:cNvSpPr/>
          <p:nvPr/>
        </p:nvSpPr>
        <p:spPr>
          <a:xfrm>
            <a:off x="6537960" y="3246120"/>
            <a:ext cx="128016" cy="128016"/>
          </a:xfrm>
          <a:prstGeom prst="rect">
            <a:avLst/>
          </a:prstGeom>
          <a:solidFill>
            <a:srgbClr val="3CC3F0"/>
          </a:solidFill>
          <a:ln w="12700">
            <a:solidFill>
              <a:srgbClr val="3CC3F0"/>
            </a:solidFill>
            <a:prstDash val="solid"/>
          </a:ln>
        </p:spPr>
      </p:sp>
      <p:sp>
        <p:nvSpPr>
          <p:cNvPr id="31" name="Text 29"/>
          <p:cNvSpPr txBox="1"/>
          <p:nvPr/>
        </p:nvSpPr>
        <p:spPr>
          <a:xfrm>
            <a:off x="6839712" y="3154680"/>
            <a:ext cx="4572000" cy="329184"/>
          </a:xfrm>
          <a:prstGeom prst="rect">
            <a:avLst/>
          </a:prstGeom>
          <a:noFill/>
          <a:ln/>
        </p:spPr>
        <p:txBody>
          <a:bodyPr wrap="square" lIns="0" tIns="0" rIns="0" bIns="0" rtlCol="0" anchor="ctr"/>
          <a:lstStyle/>
          <a:p>
            <a:pPr indent="0" marL="0">
              <a:buNone/>
            </a:pPr>
            <a:r>
              <a:rPr lang="en-US" sz="1500" b="1" dirty="0">
                <a:solidFill>
                  <a:srgbClr val="FFFFFF"/>
                </a:solidFill>
              </a:rPr>
              <a:t>Understand what the member asked</a:t>
            </a:r>
            <a:endParaRPr lang="en-US" sz="1500" dirty="0"/>
          </a:p>
        </p:txBody>
      </p:sp>
      <p:sp>
        <p:nvSpPr>
          <p:cNvPr id="32" name="Bullet"/>
          <p:cNvSpPr/>
          <p:nvPr/>
        </p:nvSpPr>
        <p:spPr>
          <a:xfrm>
            <a:off x="6537960" y="3703320"/>
            <a:ext cx="128016" cy="128016"/>
          </a:xfrm>
          <a:prstGeom prst="rect">
            <a:avLst/>
          </a:prstGeom>
          <a:solidFill>
            <a:srgbClr val="3CC3F0"/>
          </a:solidFill>
          <a:ln w="12700">
            <a:solidFill>
              <a:srgbClr val="3CC3F0"/>
            </a:solidFill>
            <a:prstDash val="solid"/>
          </a:ln>
        </p:spPr>
      </p:sp>
      <p:sp>
        <p:nvSpPr>
          <p:cNvPr id="33" name="Text 31"/>
          <p:cNvSpPr txBox="1"/>
          <p:nvPr/>
        </p:nvSpPr>
        <p:spPr>
          <a:xfrm>
            <a:off x="6839712" y="3611880"/>
            <a:ext cx="4572000" cy="329184"/>
          </a:xfrm>
          <a:prstGeom prst="rect">
            <a:avLst/>
          </a:prstGeom>
          <a:noFill/>
          <a:ln/>
        </p:spPr>
        <p:txBody>
          <a:bodyPr wrap="square" lIns="0" tIns="0" rIns="0" bIns="0" rtlCol="0" anchor="ctr"/>
          <a:lstStyle/>
          <a:p>
            <a:pPr indent="0" marL="0">
              <a:buNone/>
            </a:pPr>
            <a:r>
              <a:rPr lang="en-US" sz="1500" b="1" dirty="0">
                <a:solidFill>
                  <a:srgbClr val="FFFFFF"/>
                </a:solidFill>
              </a:rPr>
              <a:t>Word summaries and reminders</a:t>
            </a:r>
            <a:endParaRPr lang="en-US" sz="1500" dirty="0"/>
          </a:p>
        </p:txBody>
      </p:sp>
      <p:sp>
        <p:nvSpPr>
          <p:cNvPr id="34" name="Bullet"/>
          <p:cNvSpPr/>
          <p:nvPr/>
        </p:nvSpPr>
        <p:spPr>
          <a:xfrm>
            <a:off x="6537960" y="4160520"/>
            <a:ext cx="128016" cy="128016"/>
          </a:xfrm>
          <a:prstGeom prst="rect">
            <a:avLst/>
          </a:prstGeom>
          <a:solidFill>
            <a:srgbClr val="3CC3F0"/>
          </a:solidFill>
          <a:ln w="12700">
            <a:solidFill>
              <a:srgbClr val="3CC3F0"/>
            </a:solidFill>
            <a:prstDash val="solid"/>
          </a:ln>
        </p:spPr>
      </p:sp>
      <p:sp>
        <p:nvSpPr>
          <p:cNvPr id="35" name="Text 33"/>
          <p:cNvSpPr txBox="1"/>
          <p:nvPr/>
        </p:nvSpPr>
        <p:spPr>
          <a:xfrm>
            <a:off x="6839712" y="4069080"/>
            <a:ext cx="4572000" cy="329184"/>
          </a:xfrm>
          <a:prstGeom prst="rect">
            <a:avLst/>
          </a:prstGeom>
          <a:noFill/>
          <a:ln/>
        </p:spPr>
        <p:txBody>
          <a:bodyPr wrap="square" lIns="0" tIns="0" rIns="0" bIns="0" rtlCol="0" anchor="ctr"/>
          <a:lstStyle/>
          <a:p>
            <a:pPr indent="0" marL="0">
              <a:buNone/>
            </a:pPr>
            <a:r>
              <a:rPr lang="en-US" sz="1500" b="1" dirty="0">
                <a:solidFill>
                  <a:srgbClr val="FFFFFF"/>
                </a:solidFill>
              </a:rPr>
              <a:t>Answer from retrieved approved text</a:t>
            </a:r>
            <a:endParaRPr lang="en-US" sz="1500" dirty="0"/>
          </a:p>
        </p:txBody>
      </p:sp>
      <p:sp>
        <p:nvSpPr>
          <p:cNvPr id="36" name="Plus"/>
          <p:cNvSpPr/>
          <p:nvPr/>
        </p:nvSpPr>
        <p:spPr>
          <a:xfrm>
            <a:off x="5788152" y="2880360"/>
            <a:ext cx="640080" cy="640080"/>
          </a:xfrm>
          <a:prstGeom prst="ellipse">
            <a:avLst/>
          </a:prstGeom>
          <a:solidFill>
            <a:srgbClr val="3CC3F0"/>
          </a:solidFill>
          <a:ln w="50800">
            <a:solidFill>
              <a:srgbClr val="FFFFFF"/>
            </a:solidFill>
            <a:prstDash val="solid"/>
          </a:ln>
        </p:spPr>
      </p:sp>
      <p:sp>
        <p:nvSpPr>
          <p:cNvPr id="37" name="Text 35"/>
          <p:cNvSpPr txBox="1"/>
          <p:nvPr/>
        </p:nvSpPr>
        <p:spPr>
          <a:xfrm>
            <a:off x="5788152" y="2880360"/>
            <a:ext cx="640080" cy="640080"/>
          </a:xfrm>
          <a:prstGeom prst="rect">
            <a:avLst/>
          </a:prstGeom>
          <a:noFill/>
          <a:ln/>
        </p:spPr>
        <p:txBody>
          <a:bodyPr wrap="square" lIns="0" tIns="0" rIns="0" bIns="0" rtlCol="0" anchor="ctr"/>
          <a:lstStyle/>
          <a:p>
            <a:pPr algn="ctr" indent="0" marL="0">
              <a:buNone/>
            </a:pPr>
            <a:r>
              <a:rPr lang="en-US" sz="2600" b="1" dirty="0">
                <a:solidFill>
                  <a:srgbClr val="0A1F5C"/>
                </a:solidFill>
              </a:rPr>
              <a:t>+</a:t>
            </a:r>
            <a:endParaRPr lang="en-US" sz="2600" dirty="0"/>
          </a:p>
        </p:txBody>
      </p:sp>
      <p:sp>
        <p:nvSpPr>
          <p:cNvPr id="38" name="Rejection strip"/>
          <p:cNvSpPr/>
          <p:nvPr/>
        </p:nvSpPr>
        <p:spPr>
          <a:xfrm>
            <a:off x="548640" y="5303520"/>
            <a:ext cx="11091672" cy="868680"/>
          </a:xfrm>
          <a:prstGeom prst="roundRect">
            <a:avLst>
              <a:gd name="adj" fmla="val 10526"/>
            </a:avLst>
          </a:prstGeom>
          <a:solidFill>
            <a:srgbClr val="E5484D"/>
          </a:solidFill>
          <a:ln w="12700">
            <a:solidFill>
              <a:srgbClr val="E5484D"/>
            </a:solidFill>
            <a:prstDash val="solid"/>
          </a:ln>
        </p:spPr>
      </p:sp>
      <p:sp>
        <p:nvSpPr>
          <p:cNvPr id="39" name="Text 37"/>
          <p:cNvSpPr txBox="1"/>
          <p:nvPr/>
        </p:nvSpPr>
        <p:spPr>
          <a:xfrm>
            <a:off x="777240" y="5303520"/>
            <a:ext cx="2377440" cy="868680"/>
          </a:xfrm>
          <a:prstGeom prst="rect">
            <a:avLst/>
          </a:prstGeom>
          <a:noFill/>
          <a:ln/>
        </p:spPr>
        <p:txBody>
          <a:bodyPr wrap="square" lIns="0" tIns="0" rIns="0" bIns="0" rtlCol="0" anchor="ctr"/>
          <a:lstStyle/>
          <a:p>
            <a:pPr indent="0" marL="0">
              <a:buNone/>
            </a:pPr>
            <a:r>
              <a:rPr lang="en-US" sz="1100" b="1" spc="200" kern="0" dirty="0">
                <a:solidFill>
                  <a:srgbClr val="FFFFFF"/>
                </a:solidFill>
              </a:rPr>
              <a:t>AI TEXT IS REJECTED IF IT HAS</a:t>
            </a:r>
            <a:endParaRPr lang="en-US" sz="1100" dirty="0"/>
          </a:p>
        </p:txBody>
      </p:sp>
      <p:sp>
        <p:nvSpPr>
          <p:cNvPr id="40" name="Connector"/>
          <p:cNvSpPr/>
          <p:nvPr/>
        </p:nvSpPr>
        <p:spPr>
          <a:xfrm>
            <a:off x="3108960" y="5468112"/>
            <a:ext cx="0" cy="539496"/>
          </a:xfrm>
          <a:prstGeom prst="line">
            <a:avLst/>
          </a:prstGeom>
          <a:noFill/>
          <a:ln w="12700">
            <a:solidFill>
              <a:srgbClr val="FFFFFF"/>
            </a:solidFill>
            <a:prstDash val="solid"/>
          </a:ln>
        </p:spPr>
      </p:sp>
      <p:sp>
        <p:nvSpPr>
          <p:cNvPr id="41" name="Text 39"/>
          <p:cNvSpPr txBox="1"/>
          <p:nvPr/>
        </p:nvSpPr>
        <p:spPr>
          <a:xfrm>
            <a:off x="3273552" y="5303520"/>
            <a:ext cx="1874520" cy="868680"/>
          </a:xfrm>
          <a:prstGeom prst="rect">
            <a:avLst/>
          </a:prstGeom>
          <a:noFill/>
          <a:ln/>
        </p:spPr>
        <p:txBody>
          <a:bodyPr wrap="square" lIns="0" tIns="0" rIns="0" bIns="0" rtlCol="0" anchor="ctr"/>
          <a:lstStyle/>
          <a:p>
            <a:pPr indent="0" marL="0">
              <a:buNone/>
            </a:pPr>
            <a:r>
              <a:rPr lang="en-US" sz="1250" b="1" dirty="0">
                <a:solidFill>
                  <a:srgbClr val="FFFFFF"/>
                </a:solidFill>
              </a:rPr>
              <a:t>A number not in the facts</a:t>
            </a:r>
            <a:endParaRPr lang="en-US" sz="1250" dirty="0"/>
          </a:p>
        </p:txBody>
      </p:sp>
      <p:sp>
        <p:nvSpPr>
          <p:cNvPr id="42" name="Connector"/>
          <p:cNvSpPr/>
          <p:nvPr/>
        </p:nvSpPr>
        <p:spPr>
          <a:xfrm>
            <a:off x="5212080" y="5468112"/>
            <a:ext cx="0" cy="539496"/>
          </a:xfrm>
          <a:prstGeom prst="line">
            <a:avLst/>
          </a:prstGeom>
          <a:noFill/>
          <a:ln w="12700">
            <a:solidFill>
              <a:srgbClr val="FFFFFF"/>
            </a:solidFill>
            <a:prstDash val="solid"/>
          </a:ln>
        </p:spPr>
      </p:sp>
      <p:sp>
        <p:nvSpPr>
          <p:cNvPr id="43" name="Text 41"/>
          <p:cNvSpPr txBox="1"/>
          <p:nvPr/>
        </p:nvSpPr>
        <p:spPr>
          <a:xfrm>
            <a:off x="5376672" y="5303520"/>
            <a:ext cx="1874520" cy="868680"/>
          </a:xfrm>
          <a:prstGeom prst="rect">
            <a:avLst/>
          </a:prstGeom>
          <a:noFill/>
          <a:ln/>
        </p:spPr>
        <p:txBody>
          <a:bodyPr wrap="square" lIns="0" tIns="0" rIns="0" bIns="0" rtlCol="0" anchor="ctr"/>
          <a:lstStyle/>
          <a:p>
            <a:pPr indent="0" marL="0">
              <a:buNone/>
            </a:pPr>
            <a:r>
              <a:rPr lang="en-US" sz="1250" b="1" dirty="0">
                <a:solidFill>
                  <a:srgbClr val="FFFFFF"/>
                </a:solidFill>
              </a:rPr>
              <a:t>A diagnosis or judgement</a:t>
            </a:r>
            <a:endParaRPr lang="en-US" sz="1250" dirty="0"/>
          </a:p>
        </p:txBody>
      </p:sp>
      <p:sp>
        <p:nvSpPr>
          <p:cNvPr id="44" name="Connector"/>
          <p:cNvSpPr/>
          <p:nvPr/>
        </p:nvSpPr>
        <p:spPr>
          <a:xfrm>
            <a:off x="7315200" y="5468112"/>
            <a:ext cx="0" cy="539496"/>
          </a:xfrm>
          <a:prstGeom prst="line">
            <a:avLst/>
          </a:prstGeom>
          <a:noFill/>
          <a:ln w="12700">
            <a:solidFill>
              <a:srgbClr val="FFFFFF"/>
            </a:solidFill>
            <a:prstDash val="solid"/>
          </a:ln>
        </p:spPr>
      </p:sp>
      <p:sp>
        <p:nvSpPr>
          <p:cNvPr id="45" name="Text 43"/>
          <p:cNvSpPr txBox="1"/>
          <p:nvPr/>
        </p:nvSpPr>
        <p:spPr>
          <a:xfrm>
            <a:off x="7479792" y="5303520"/>
            <a:ext cx="1874520" cy="868680"/>
          </a:xfrm>
          <a:prstGeom prst="rect">
            <a:avLst/>
          </a:prstGeom>
          <a:noFill/>
          <a:ln/>
        </p:spPr>
        <p:txBody>
          <a:bodyPr wrap="square" lIns="0" tIns="0" rIns="0" bIns="0" rtlCol="0" anchor="ctr"/>
          <a:lstStyle/>
          <a:p>
            <a:pPr indent="0" marL="0">
              <a:buNone/>
            </a:pPr>
            <a:r>
              <a:rPr lang="en-US" sz="1250" b="1" dirty="0">
                <a:solidFill>
                  <a:srgbClr val="FFFFFF"/>
                </a:solidFill>
              </a:rPr>
              <a:t>Medication advice</a:t>
            </a:r>
            <a:endParaRPr lang="en-US" sz="1250" dirty="0"/>
          </a:p>
        </p:txBody>
      </p:sp>
      <p:sp>
        <p:nvSpPr>
          <p:cNvPr id="46" name="Connector"/>
          <p:cNvSpPr/>
          <p:nvPr/>
        </p:nvSpPr>
        <p:spPr>
          <a:xfrm>
            <a:off x="9418320" y="5468112"/>
            <a:ext cx="0" cy="539496"/>
          </a:xfrm>
          <a:prstGeom prst="line">
            <a:avLst/>
          </a:prstGeom>
          <a:noFill/>
          <a:ln w="12700">
            <a:solidFill>
              <a:srgbClr val="FFFFFF"/>
            </a:solidFill>
            <a:prstDash val="solid"/>
          </a:ln>
        </p:spPr>
      </p:sp>
      <p:sp>
        <p:nvSpPr>
          <p:cNvPr id="47" name="Text 45"/>
          <p:cNvSpPr txBox="1"/>
          <p:nvPr/>
        </p:nvSpPr>
        <p:spPr>
          <a:xfrm>
            <a:off x="9582912" y="5303520"/>
            <a:ext cx="1874520" cy="868680"/>
          </a:xfrm>
          <a:prstGeom prst="rect">
            <a:avLst/>
          </a:prstGeom>
          <a:noFill/>
          <a:ln/>
        </p:spPr>
        <p:txBody>
          <a:bodyPr wrap="square" lIns="0" tIns="0" rIns="0" bIns="0" rtlCol="0" anchor="ctr"/>
          <a:lstStyle/>
          <a:p>
            <a:pPr indent="0" marL="0">
              <a:buNone/>
            </a:pPr>
            <a:r>
              <a:rPr lang="en-US" sz="1250" b="1" dirty="0">
                <a:solidFill>
                  <a:srgbClr val="FFFFFF"/>
                </a:solidFill>
              </a:rPr>
              <a:t>A claim to be a clinician</a:t>
            </a:r>
            <a:endParaRPr lang="en-US" sz="125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56032"/>
          </a:xfrm>
          <a:prstGeom prst="rect">
            <a:avLst/>
          </a:prstGeom>
          <a:noFill/>
          <a:ln/>
        </p:spPr>
        <p:txBody>
          <a:bodyPr wrap="square" lIns="0" tIns="0" rIns="0" bIns="0" rtlCol="0" anchor="t"/>
          <a:lstStyle/>
          <a:p>
            <a:pPr algn="l" indent="0" marL="0">
              <a:buNone/>
            </a:pPr>
            <a:r>
              <a:rPr lang="en-US" sz="1100" b="1" spc="300" kern="0" dirty="0">
                <a:solidFill>
                  <a:srgbClr val="9FD8F5"/>
                </a:solidFill>
              </a:rPr>
              <a:t>03  ·  ARCHITECTURE</a:t>
            </a:r>
            <a:endParaRPr lang="en-US" sz="1100" dirty="0"/>
          </a:p>
        </p:txBody>
      </p:sp>
      <p:sp>
        <p:nvSpPr>
          <p:cNvPr id="3" name="Text 1"/>
          <p:cNvSpPr/>
          <p:nvPr>
            <p:ph idx="103" type="title" hasCustomPrompt="1"/>
          </p:nvPr>
        </p:nvSpPr>
        <p:spPr>
          <a:xfrm>
            <a:off x="548640" y="603504"/>
            <a:ext cx="11064240" cy="603504"/>
          </a:xfrm>
          <a:prstGeom prst="rect">
            <a:avLst/>
          </a:prstGeom>
          <a:noFill/>
          <a:ln/>
        </p:spPr>
        <p:txBody>
          <a:bodyPr wrap="square" lIns="0" tIns="0" rIns="0" bIns="0" rtlCol="0" anchor="t"/>
          <a:lstStyle/>
          <a:p>
            <a:pPr algn="l" indent="0" marL="0">
              <a:buNone/>
            </a:pPr>
            <a:r>
              <a:rPr lang="en-US" sz="3400" b="1" dirty="0">
                <a:solidFill>
                  <a:srgbClr val="FFFFFF"/>
                </a:solidFill>
              </a:rPr>
              <a:t>How one message moves through the desk</a:t>
            </a:r>
            <a:endParaRPr lang="en-US" sz="3400" dirty="0"/>
          </a:p>
        </p:txBody>
      </p:sp>
      <p:sp>
        <p:nvSpPr>
          <p:cNvPr id="4" name="Text 2">
            <a:hlinkClick r:id="rId1" tooltip="Go to Agenda" action="ppaction://hlinksldjump"/>
          </p:cNvPr>
          <p:cNvSpPr txBox="1"/>
          <p:nvPr/>
        </p:nvSpPr>
        <p:spPr>
          <a:xfrm>
            <a:off x="1920240" y="6382512"/>
            <a:ext cx="68580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1" action="ppaction://hlinksldjump" tooltip="Go to Agenda">
                  <a:extLst>
                    <a:ext uri="{A12FA001-AC4F-418D-AE19-62706E023703}">
                      <ahyp:hlinkClr xmlns:ahyp="http://schemas.microsoft.com/office/drawing/2018/hyperlinkcolor" val="tx"/>
                    </a:ext>
                  </a:extLst>
                </a:hlinkClick>
              </a:rPr>
              <a:t>Agenda</a:t>
            </a:r>
            <a:endParaRPr lang="en-US" sz="950" dirty="0"/>
          </a:p>
        </p:txBody>
      </p:sp>
      <p:sp>
        <p:nvSpPr>
          <p:cNvPr id="5" name="Text 3">
            <a:hlinkClick r:id="rId2" tooltip="Go to Problem" action="ppaction://hlinksldjump"/>
          </p:cNvPr>
          <p:cNvSpPr txBox="1"/>
          <p:nvPr/>
        </p:nvSpPr>
        <p:spPr>
          <a:xfrm>
            <a:off x="2606040" y="6382512"/>
            <a:ext cx="68580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2" action="ppaction://hlinksldjump" tooltip="Go to Problem">
                  <a:extLst>
                    <a:ext uri="{A12FA001-AC4F-418D-AE19-62706E023703}">
                      <ahyp:hlinkClr xmlns:ahyp="http://schemas.microsoft.com/office/drawing/2018/hyperlinkcolor" val="tx"/>
                    </a:ext>
                  </a:extLst>
                </a:hlinkClick>
              </a:rPr>
              <a:t>Problem</a:t>
            </a:r>
            <a:endParaRPr lang="en-US" sz="950" dirty="0"/>
          </a:p>
        </p:txBody>
      </p:sp>
      <p:sp>
        <p:nvSpPr>
          <p:cNvPr id="6" name="Text 4">
            <a:hlinkClick r:id="rId3" tooltip="Go to Solution" action="ppaction://hlinksldjump"/>
          </p:cNvPr>
          <p:cNvSpPr txBox="1"/>
          <p:nvPr/>
        </p:nvSpPr>
        <p:spPr>
          <a:xfrm>
            <a:off x="3291840" y="6382512"/>
            <a:ext cx="68580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3" action="ppaction://hlinksldjump" tooltip="Go to Solution">
                  <a:extLst>
                    <a:ext uri="{A12FA001-AC4F-418D-AE19-62706E023703}">
                      <ahyp:hlinkClr xmlns:ahyp="http://schemas.microsoft.com/office/drawing/2018/hyperlinkcolor" val="tx"/>
                    </a:ext>
                  </a:extLst>
                </a:hlinkClick>
              </a:rPr>
              <a:t>Solution</a:t>
            </a:r>
            <a:endParaRPr lang="en-US" sz="950" dirty="0"/>
          </a:p>
        </p:txBody>
      </p:sp>
      <p:sp>
        <p:nvSpPr>
          <p:cNvPr id="7" name="Text 5">
            <a:hlinkClick r:id="rId4" tooltip="Go to Principle" action="ppaction://hlinksldjump"/>
          </p:cNvPr>
          <p:cNvSpPr txBox="1"/>
          <p:nvPr/>
        </p:nvSpPr>
        <p:spPr>
          <a:xfrm>
            <a:off x="3977640" y="6382512"/>
            <a:ext cx="68580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4" action="ppaction://hlinksldjump" tooltip="Go to Principle">
                  <a:extLst>
                    <a:ext uri="{A12FA001-AC4F-418D-AE19-62706E023703}">
                      <ahyp:hlinkClr xmlns:ahyp="http://schemas.microsoft.com/office/drawing/2018/hyperlinkcolor" val="tx"/>
                    </a:ext>
                  </a:extLst>
                </a:hlinkClick>
              </a:rPr>
              <a:t>Principle</a:t>
            </a:r>
            <a:endParaRPr lang="en-US" sz="950" dirty="0"/>
          </a:p>
        </p:txBody>
      </p:sp>
      <p:sp>
        <p:nvSpPr>
          <p:cNvPr id="8" name="Text 6"/>
          <p:cNvSpPr txBox="1"/>
          <p:nvPr/>
        </p:nvSpPr>
        <p:spPr>
          <a:xfrm>
            <a:off x="4663440" y="6382512"/>
            <a:ext cx="685800" cy="219456"/>
          </a:xfrm>
          <a:prstGeom prst="rect">
            <a:avLst/>
          </a:prstGeom>
          <a:noFill/>
          <a:ln/>
        </p:spPr>
        <p:txBody>
          <a:bodyPr wrap="square" lIns="0" tIns="0" rIns="0" bIns="0" rtlCol="0" anchor="ctr"/>
          <a:lstStyle/>
          <a:p>
            <a:pPr algn="ctr" indent="0" marL="0">
              <a:buNone/>
            </a:pPr>
            <a:r>
              <a:rPr lang="en-US" sz="950" b="1" dirty="0">
                <a:solidFill>
                  <a:srgbClr val="FFFFFF"/>
                </a:solidFill>
              </a:rPr>
              <a:t>Flow</a:t>
            </a:r>
            <a:endParaRPr lang="en-US" sz="950" dirty="0"/>
          </a:p>
        </p:txBody>
      </p:sp>
      <p:sp>
        <p:nvSpPr>
          <p:cNvPr id="9" name="Shape 7"/>
          <p:cNvSpPr/>
          <p:nvPr/>
        </p:nvSpPr>
        <p:spPr>
          <a:xfrm>
            <a:off x="4969764" y="6309360"/>
            <a:ext cx="73152" cy="73152"/>
          </a:xfrm>
          <a:prstGeom prst="ellipse">
            <a:avLst/>
          </a:prstGeom>
          <a:solidFill>
            <a:srgbClr val="3CC3F0"/>
          </a:solidFill>
          <a:ln w="12700">
            <a:solidFill>
              <a:srgbClr val="3CC3F0"/>
            </a:solidFill>
            <a:prstDash val="solid"/>
          </a:ln>
        </p:spPr>
      </p:sp>
      <p:sp>
        <p:nvSpPr>
          <p:cNvPr id="10" name="Text 8">
            <a:hlinkClick r:id="rId5" tooltip="Go to RAG" action="ppaction://hlinksldjump"/>
          </p:cNvPr>
          <p:cNvSpPr txBox="1"/>
          <p:nvPr/>
        </p:nvSpPr>
        <p:spPr>
          <a:xfrm>
            <a:off x="5349240" y="6382512"/>
            <a:ext cx="68580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5" action="ppaction://hlinksldjump" tooltip="Go to RAG">
                  <a:extLst>
                    <a:ext uri="{A12FA001-AC4F-418D-AE19-62706E023703}">
                      <ahyp:hlinkClr xmlns:ahyp="http://schemas.microsoft.com/office/drawing/2018/hyperlinkcolor" val="tx"/>
                    </a:ext>
                  </a:extLst>
                </a:hlinkClick>
              </a:rPr>
              <a:t>RAG</a:t>
            </a:r>
            <a:endParaRPr lang="en-US" sz="950" dirty="0"/>
          </a:p>
        </p:txBody>
      </p:sp>
      <p:sp>
        <p:nvSpPr>
          <p:cNvPr id="11" name="Text 9">
            <a:hlinkClick r:id="rId6" tooltip="Go to Demo" action="ppaction://hlinksldjump"/>
          </p:cNvPr>
          <p:cNvSpPr txBox="1"/>
          <p:nvPr/>
        </p:nvSpPr>
        <p:spPr>
          <a:xfrm>
            <a:off x="6035040" y="6382512"/>
            <a:ext cx="68580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6" action="ppaction://hlinksldjump" tooltip="Go to Demo">
                  <a:extLst>
                    <a:ext uri="{A12FA001-AC4F-418D-AE19-62706E023703}">
                      <ahyp:hlinkClr xmlns:ahyp="http://schemas.microsoft.com/office/drawing/2018/hyperlinkcolor" val="tx"/>
                    </a:ext>
                  </a:extLst>
                </a:hlinkClick>
              </a:rPr>
              <a:t>Demo</a:t>
            </a:r>
            <a:endParaRPr lang="en-US" sz="950" dirty="0"/>
          </a:p>
        </p:txBody>
      </p:sp>
      <p:sp>
        <p:nvSpPr>
          <p:cNvPr id="12" name="Text 10">
            <a:hlinkClick r:id="rId7" tooltip="Go to Try it" action="ppaction://hlinksldjump"/>
          </p:cNvPr>
          <p:cNvSpPr txBox="1"/>
          <p:nvPr/>
        </p:nvSpPr>
        <p:spPr>
          <a:xfrm>
            <a:off x="6720840" y="6382512"/>
            <a:ext cx="68580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7" action="ppaction://hlinksldjump" tooltip="Go to Try it">
                  <a:extLst>
                    <a:ext uri="{A12FA001-AC4F-418D-AE19-62706E023703}">
                      <ahyp:hlinkClr xmlns:ahyp="http://schemas.microsoft.com/office/drawing/2018/hyperlinkcolor" val="tx"/>
                    </a:ext>
                  </a:extLst>
                </a:hlinkClick>
              </a:rPr>
              <a:t>Try it</a:t>
            </a:r>
            <a:endParaRPr lang="en-US" sz="950" dirty="0"/>
          </a:p>
        </p:txBody>
      </p:sp>
      <p:sp>
        <p:nvSpPr>
          <p:cNvPr id="13" name="Text 11">
            <a:hlinkClick r:id="rId8" tooltip="Go to Rules" action="ppaction://hlinksldjump"/>
          </p:cNvPr>
          <p:cNvSpPr txBox="1"/>
          <p:nvPr/>
        </p:nvSpPr>
        <p:spPr>
          <a:xfrm>
            <a:off x="7406640" y="6382512"/>
            <a:ext cx="68580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8" action="ppaction://hlinksldjump" tooltip="Go to Rules">
                  <a:extLst>
                    <a:ext uri="{A12FA001-AC4F-418D-AE19-62706E023703}">
                      <ahyp:hlinkClr xmlns:ahyp="http://schemas.microsoft.com/office/drawing/2018/hyperlinkcolor" val="tx"/>
                    </a:ext>
                  </a:extLst>
                </a:hlinkClick>
              </a:rPr>
              <a:t>Rules</a:t>
            </a:r>
            <a:endParaRPr lang="en-US" sz="950" dirty="0"/>
          </a:p>
        </p:txBody>
      </p:sp>
      <p:sp>
        <p:nvSpPr>
          <p:cNvPr id="14" name="Text 12">
            <a:hlinkClick r:id="rId9" tooltip="Go to Results" action="ppaction://hlinksldjump"/>
          </p:cNvPr>
          <p:cNvSpPr txBox="1"/>
          <p:nvPr/>
        </p:nvSpPr>
        <p:spPr>
          <a:xfrm>
            <a:off x="8092440" y="6382512"/>
            <a:ext cx="68580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9" action="ppaction://hlinksldjump" tooltip="Go to Results">
                  <a:extLst>
                    <a:ext uri="{A12FA001-AC4F-418D-AE19-62706E023703}">
                      <ahyp:hlinkClr xmlns:ahyp="http://schemas.microsoft.com/office/drawing/2018/hyperlinkcolor" val="tx"/>
                    </a:ext>
                  </a:extLst>
                </a:hlinkClick>
              </a:rPr>
              <a:t>Results</a:t>
            </a:r>
            <a:endParaRPr lang="en-US" sz="950" dirty="0"/>
          </a:p>
        </p:txBody>
      </p:sp>
      <p:sp>
        <p:nvSpPr>
          <p:cNvPr id="15" name="Text 13">
            <a:hlinkClick r:id="rId10" tooltip="Go to Next" action="ppaction://hlinksldjump"/>
          </p:cNvPr>
          <p:cNvSpPr txBox="1"/>
          <p:nvPr/>
        </p:nvSpPr>
        <p:spPr>
          <a:xfrm>
            <a:off x="8778240" y="6382512"/>
            <a:ext cx="68580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10" action="ppaction://hlinksldjump" tooltip="Go to Next">
                  <a:extLst>
                    <a:ext uri="{A12FA001-AC4F-418D-AE19-62706E023703}">
                      <ahyp:hlinkClr xmlns:ahyp="http://schemas.microsoft.com/office/drawing/2018/hyperlinkcolor" val="tx"/>
                    </a:ext>
                  </a:extLst>
                </a:hlinkClick>
              </a:rPr>
              <a:t>Next</a:t>
            </a:r>
            <a:endParaRPr lang="en-US" sz="950" dirty="0"/>
          </a:p>
        </p:txBody>
      </p:sp>
      <p:sp>
        <p:nvSpPr>
          <p:cNvPr id="16" name="Step chevron"/>
          <p:cNvSpPr/>
          <p:nvPr/>
        </p:nvSpPr>
        <p:spPr>
          <a:xfrm>
            <a:off x="548640" y="1463040"/>
            <a:ext cx="2011680" cy="1371600"/>
          </a:xfrm>
          <a:prstGeom prst="homePlate">
            <a:avLst/>
          </a:prstGeom>
          <a:solidFill>
            <a:srgbClr val="3CC3F0"/>
          </a:solidFill>
          <a:ln w="12700">
            <a:solidFill>
              <a:srgbClr val="3CC3F0"/>
            </a:solidFill>
            <a:prstDash val="solid"/>
          </a:ln>
        </p:spPr>
      </p:sp>
      <p:sp>
        <p:nvSpPr>
          <p:cNvPr id="17" name="Text 15"/>
          <p:cNvSpPr txBox="1"/>
          <p:nvPr/>
        </p:nvSpPr>
        <p:spPr>
          <a:xfrm>
            <a:off x="822960" y="1600200"/>
            <a:ext cx="731520" cy="640080"/>
          </a:xfrm>
          <a:prstGeom prst="rect">
            <a:avLst/>
          </a:prstGeom>
          <a:noFill/>
          <a:ln/>
        </p:spPr>
        <p:txBody>
          <a:bodyPr wrap="square" lIns="0" tIns="0" rIns="0" bIns="0" rtlCol="0" anchor="t"/>
          <a:lstStyle/>
          <a:p>
            <a:pPr indent="0" marL="0">
              <a:buNone/>
            </a:pPr>
            <a:r>
              <a:rPr lang="en-US" sz="3600" b="1" dirty="0">
                <a:solidFill>
                  <a:srgbClr val="0A1F5C"/>
                </a:solidFill>
              </a:rPr>
              <a:t>1</a:t>
            </a:r>
            <a:endParaRPr lang="en-US" sz="3600" dirty="0"/>
          </a:p>
        </p:txBody>
      </p:sp>
      <p:sp>
        <p:nvSpPr>
          <p:cNvPr id="18" name="Text 16"/>
          <p:cNvSpPr txBox="1"/>
          <p:nvPr/>
        </p:nvSpPr>
        <p:spPr>
          <a:xfrm>
            <a:off x="822960" y="2240280"/>
            <a:ext cx="1325880" cy="457200"/>
          </a:xfrm>
          <a:prstGeom prst="rect">
            <a:avLst/>
          </a:prstGeom>
          <a:noFill/>
          <a:ln/>
        </p:spPr>
        <p:txBody>
          <a:bodyPr wrap="square" lIns="0" tIns="0" rIns="0" bIns="0" rtlCol="0" anchor="t"/>
          <a:lstStyle/>
          <a:p>
            <a:pPr indent="0" marL="0">
              <a:buNone/>
            </a:pPr>
            <a:r>
              <a:rPr lang="en-US" sz="1300" b="1" dirty="0">
                <a:solidFill>
                  <a:srgbClr val="0A1F5C"/>
                </a:solidFill>
              </a:rPr>
              <a:t>Consent check</a:t>
            </a:r>
            <a:endParaRPr lang="en-US" sz="1300" dirty="0"/>
          </a:p>
        </p:txBody>
      </p:sp>
      <p:sp>
        <p:nvSpPr>
          <p:cNvPr id="19" name="Text 17"/>
          <p:cNvSpPr txBox="1"/>
          <p:nvPr/>
        </p:nvSpPr>
        <p:spPr>
          <a:xfrm>
            <a:off x="685800" y="2971800"/>
            <a:ext cx="1691640" cy="731520"/>
          </a:xfrm>
          <a:prstGeom prst="rect">
            <a:avLst/>
          </a:prstGeom>
          <a:noFill/>
          <a:ln/>
        </p:spPr>
        <p:txBody>
          <a:bodyPr wrap="square" lIns="0" tIns="0" rIns="0" bIns="0" rtlCol="0" anchor="t"/>
          <a:lstStyle/>
          <a:p>
            <a:pPr indent="0" marL="0">
              <a:buNone/>
            </a:pPr>
            <a:r>
              <a:rPr lang="en-US" sz="1150" dirty="0">
                <a:solidFill>
                  <a:srgbClr val="CFE0FF"/>
                </a:solidFill>
              </a:rPr>
              <a:t>Active consent or stop</a:t>
            </a:r>
            <a:endParaRPr lang="en-US" sz="1150" dirty="0"/>
          </a:p>
        </p:txBody>
      </p:sp>
      <p:sp>
        <p:nvSpPr>
          <p:cNvPr id="20" name="Step chevron"/>
          <p:cNvSpPr/>
          <p:nvPr/>
        </p:nvSpPr>
        <p:spPr>
          <a:xfrm>
            <a:off x="2350008" y="1463040"/>
            <a:ext cx="2011680" cy="1371600"/>
          </a:xfrm>
          <a:prstGeom prst="chevron">
            <a:avLst/>
          </a:prstGeom>
          <a:solidFill>
            <a:srgbClr val="2F8CF0"/>
          </a:solidFill>
          <a:ln w="12700">
            <a:solidFill>
              <a:srgbClr val="2F8CF0"/>
            </a:solidFill>
            <a:prstDash val="solid"/>
          </a:ln>
        </p:spPr>
      </p:sp>
      <p:sp>
        <p:nvSpPr>
          <p:cNvPr id="21" name="Text 19"/>
          <p:cNvSpPr txBox="1"/>
          <p:nvPr/>
        </p:nvSpPr>
        <p:spPr>
          <a:xfrm>
            <a:off x="2898648" y="1600200"/>
            <a:ext cx="731520" cy="640080"/>
          </a:xfrm>
          <a:prstGeom prst="rect">
            <a:avLst/>
          </a:prstGeom>
          <a:noFill/>
          <a:ln/>
        </p:spPr>
        <p:txBody>
          <a:bodyPr wrap="square" lIns="0" tIns="0" rIns="0" bIns="0" rtlCol="0" anchor="t"/>
          <a:lstStyle/>
          <a:p>
            <a:pPr indent="0" marL="0">
              <a:buNone/>
            </a:pPr>
            <a:r>
              <a:rPr lang="en-US" sz="3600" b="1" dirty="0">
                <a:solidFill>
                  <a:srgbClr val="FFFFFF"/>
                </a:solidFill>
              </a:rPr>
              <a:t>2</a:t>
            </a:r>
            <a:endParaRPr lang="en-US" sz="3600" dirty="0"/>
          </a:p>
        </p:txBody>
      </p:sp>
      <p:sp>
        <p:nvSpPr>
          <p:cNvPr id="22" name="Text 20"/>
          <p:cNvSpPr txBox="1"/>
          <p:nvPr/>
        </p:nvSpPr>
        <p:spPr>
          <a:xfrm>
            <a:off x="2898648" y="2240280"/>
            <a:ext cx="1325880" cy="457200"/>
          </a:xfrm>
          <a:prstGeom prst="rect">
            <a:avLst/>
          </a:prstGeom>
          <a:noFill/>
          <a:ln/>
        </p:spPr>
        <p:txBody>
          <a:bodyPr wrap="square" lIns="0" tIns="0" rIns="0" bIns="0" rtlCol="0" anchor="t"/>
          <a:lstStyle/>
          <a:p>
            <a:pPr indent="0" marL="0">
              <a:buNone/>
            </a:pPr>
            <a:r>
              <a:rPr lang="en-US" sz="1300" b="1" dirty="0">
                <a:solidFill>
                  <a:srgbClr val="FFFFFF"/>
                </a:solidFill>
              </a:rPr>
              <a:t>Safety guard</a:t>
            </a:r>
            <a:endParaRPr lang="en-US" sz="1300" dirty="0"/>
          </a:p>
        </p:txBody>
      </p:sp>
      <p:sp>
        <p:nvSpPr>
          <p:cNvPr id="23" name="Text 21"/>
          <p:cNvSpPr txBox="1"/>
          <p:nvPr/>
        </p:nvSpPr>
        <p:spPr>
          <a:xfrm>
            <a:off x="2487168" y="2971800"/>
            <a:ext cx="1691640" cy="731520"/>
          </a:xfrm>
          <a:prstGeom prst="rect">
            <a:avLst/>
          </a:prstGeom>
          <a:noFill/>
          <a:ln/>
        </p:spPr>
        <p:txBody>
          <a:bodyPr wrap="square" lIns="0" tIns="0" rIns="0" bIns="0" rtlCol="0" anchor="t"/>
          <a:lstStyle/>
          <a:p>
            <a:pPr indent="0" marL="0">
              <a:buNone/>
            </a:pPr>
            <a:r>
              <a:rPr lang="en-US" sz="1150" dirty="0">
                <a:solidFill>
                  <a:srgbClr val="CFE0FF"/>
                </a:solidFill>
              </a:rPr>
              <a:t>Injection and medication rule</a:t>
            </a:r>
            <a:endParaRPr lang="en-US" sz="1150" dirty="0"/>
          </a:p>
        </p:txBody>
      </p:sp>
      <p:sp>
        <p:nvSpPr>
          <p:cNvPr id="24" name="Step chevron"/>
          <p:cNvSpPr/>
          <p:nvPr/>
        </p:nvSpPr>
        <p:spPr>
          <a:xfrm>
            <a:off x="4151376" y="1463040"/>
            <a:ext cx="2011680" cy="1371600"/>
          </a:xfrm>
          <a:prstGeom prst="chevron">
            <a:avLst/>
          </a:prstGeom>
          <a:solidFill>
            <a:srgbClr val="2F66E0"/>
          </a:solidFill>
          <a:ln w="12700">
            <a:solidFill>
              <a:srgbClr val="2F66E0"/>
            </a:solidFill>
            <a:prstDash val="solid"/>
          </a:ln>
        </p:spPr>
      </p:sp>
      <p:sp>
        <p:nvSpPr>
          <p:cNvPr id="25" name="Text 23"/>
          <p:cNvSpPr txBox="1"/>
          <p:nvPr/>
        </p:nvSpPr>
        <p:spPr>
          <a:xfrm>
            <a:off x="4700016" y="1600200"/>
            <a:ext cx="731520" cy="640080"/>
          </a:xfrm>
          <a:prstGeom prst="rect">
            <a:avLst/>
          </a:prstGeom>
          <a:noFill/>
          <a:ln/>
        </p:spPr>
        <p:txBody>
          <a:bodyPr wrap="square" lIns="0" tIns="0" rIns="0" bIns="0" rtlCol="0" anchor="t"/>
          <a:lstStyle/>
          <a:p>
            <a:pPr indent="0" marL="0">
              <a:buNone/>
            </a:pPr>
            <a:r>
              <a:rPr lang="en-US" sz="3600" b="1" dirty="0">
                <a:solidFill>
                  <a:srgbClr val="FFFFFF"/>
                </a:solidFill>
              </a:rPr>
              <a:t>3</a:t>
            </a:r>
            <a:endParaRPr lang="en-US" sz="3600" dirty="0"/>
          </a:p>
        </p:txBody>
      </p:sp>
      <p:sp>
        <p:nvSpPr>
          <p:cNvPr id="26" name="Text 24"/>
          <p:cNvSpPr txBox="1"/>
          <p:nvPr/>
        </p:nvSpPr>
        <p:spPr>
          <a:xfrm>
            <a:off x="4700016" y="2240280"/>
            <a:ext cx="1325880" cy="457200"/>
          </a:xfrm>
          <a:prstGeom prst="rect">
            <a:avLst/>
          </a:prstGeom>
          <a:noFill/>
          <a:ln/>
        </p:spPr>
        <p:txBody>
          <a:bodyPr wrap="square" lIns="0" tIns="0" rIns="0" bIns="0" rtlCol="0" anchor="t"/>
          <a:lstStyle/>
          <a:p>
            <a:pPr indent="0" marL="0">
              <a:buNone/>
            </a:pPr>
            <a:r>
              <a:rPr lang="en-US" sz="1300" b="1" dirty="0">
                <a:solidFill>
                  <a:srgbClr val="FFFFFF"/>
                </a:solidFill>
              </a:rPr>
              <a:t>Router</a:t>
            </a:r>
            <a:endParaRPr lang="en-US" sz="1300" dirty="0"/>
          </a:p>
        </p:txBody>
      </p:sp>
      <p:sp>
        <p:nvSpPr>
          <p:cNvPr id="27" name="Text 25"/>
          <p:cNvSpPr txBox="1"/>
          <p:nvPr/>
        </p:nvSpPr>
        <p:spPr>
          <a:xfrm>
            <a:off x="4288536" y="2971800"/>
            <a:ext cx="1691640" cy="731520"/>
          </a:xfrm>
          <a:prstGeom prst="rect">
            <a:avLst/>
          </a:prstGeom>
          <a:noFill/>
          <a:ln/>
        </p:spPr>
        <p:txBody>
          <a:bodyPr wrap="square" lIns="0" tIns="0" rIns="0" bIns="0" rtlCol="0" anchor="t"/>
          <a:lstStyle/>
          <a:p>
            <a:pPr indent="0" marL="0">
              <a:buNone/>
            </a:pPr>
            <a:r>
              <a:rPr lang="en-US" sz="1150" dirty="0">
                <a:solidFill>
                  <a:srgbClr val="CFE0FF"/>
                </a:solidFill>
              </a:rPr>
              <a:t>Education, readings, plan or staff</a:t>
            </a:r>
            <a:endParaRPr lang="en-US" sz="1150" dirty="0"/>
          </a:p>
        </p:txBody>
      </p:sp>
      <p:sp>
        <p:nvSpPr>
          <p:cNvPr id="28" name="Step chevron"/>
          <p:cNvSpPr/>
          <p:nvPr/>
        </p:nvSpPr>
        <p:spPr>
          <a:xfrm>
            <a:off x="5952744" y="1463040"/>
            <a:ext cx="2011680" cy="1371600"/>
          </a:xfrm>
          <a:prstGeom prst="chevron">
            <a:avLst/>
          </a:prstGeom>
          <a:solidFill>
            <a:srgbClr val="7A4DEB"/>
          </a:solidFill>
          <a:ln w="12700">
            <a:solidFill>
              <a:srgbClr val="7A4DEB"/>
            </a:solidFill>
            <a:prstDash val="solid"/>
          </a:ln>
        </p:spPr>
      </p:sp>
      <p:sp>
        <p:nvSpPr>
          <p:cNvPr id="29" name="Text 27"/>
          <p:cNvSpPr txBox="1"/>
          <p:nvPr/>
        </p:nvSpPr>
        <p:spPr>
          <a:xfrm>
            <a:off x="6501384" y="1600200"/>
            <a:ext cx="731520" cy="640080"/>
          </a:xfrm>
          <a:prstGeom prst="rect">
            <a:avLst/>
          </a:prstGeom>
          <a:noFill/>
          <a:ln/>
        </p:spPr>
        <p:txBody>
          <a:bodyPr wrap="square" lIns="0" tIns="0" rIns="0" bIns="0" rtlCol="0" anchor="t"/>
          <a:lstStyle/>
          <a:p>
            <a:pPr indent="0" marL="0">
              <a:buNone/>
            </a:pPr>
            <a:r>
              <a:rPr lang="en-US" sz="3600" b="1" dirty="0">
                <a:solidFill>
                  <a:srgbClr val="FFFFFF"/>
                </a:solidFill>
              </a:rPr>
              <a:t>4</a:t>
            </a:r>
            <a:endParaRPr lang="en-US" sz="3600" dirty="0"/>
          </a:p>
        </p:txBody>
      </p:sp>
      <p:sp>
        <p:nvSpPr>
          <p:cNvPr id="30" name="Text 28"/>
          <p:cNvSpPr txBox="1"/>
          <p:nvPr/>
        </p:nvSpPr>
        <p:spPr>
          <a:xfrm>
            <a:off x="6501384" y="2240280"/>
            <a:ext cx="1325880" cy="457200"/>
          </a:xfrm>
          <a:prstGeom prst="rect">
            <a:avLst/>
          </a:prstGeom>
          <a:noFill/>
          <a:ln/>
        </p:spPr>
        <p:txBody>
          <a:bodyPr wrap="square" lIns="0" tIns="0" rIns="0" bIns="0" rtlCol="0" anchor="t"/>
          <a:lstStyle/>
          <a:p>
            <a:pPr indent="0" marL="0">
              <a:buNone/>
            </a:pPr>
            <a:r>
              <a:rPr lang="en-US" sz="1300" b="1" dirty="0">
                <a:solidFill>
                  <a:srgbClr val="FFFFFF"/>
                </a:solidFill>
              </a:rPr>
              <a:t>Facts and rules</a:t>
            </a:r>
            <a:endParaRPr lang="en-US" sz="1300" dirty="0"/>
          </a:p>
        </p:txBody>
      </p:sp>
      <p:sp>
        <p:nvSpPr>
          <p:cNvPr id="31" name="Text 29"/>
          <p:cNvSpPr txBox="1"/>
          <p:nvPr/>
        </p:nvSpPr>
        <p:spPr>
          <a:xfrm>
            <a:off x="6089904" y="2971800"/>
            <a:ext cx="1691640" cy="731520"/>
          </a:xfrm>
          <a:prstGeom prst="rect">
            <a:avLst/>
          </a:prstGeom>
          <a:noFill/>
          <a:ln/>
        </p:spPr>
        <p:txBody>
          <a:bodyPr wrap="square" lIns="0" tIns="0" rIns="0" bIns="0" rtlCol="0" anchor="t"/>
          <a:lstStyle/>
          <a:p>
            <a:pPr indent="0" marL="0">
              <a:buNone/>
            </a:pPr>
            <a:r>
              <a:rPr lang="en-US" sz="1150" dirty="0">
                <a:solidFill>
                  <a:srgbClr val="CFE0FF"/>
                </a:solidFill>
              </a:rPr>
              <a:t>Code reads data and applies ER-502, ER-504</a:t>
            </a:r>
            <a:endParaRPr lang="en-US" sz="1150" dirty="0"/>
          </a:p>
        </p:txBody>
      </p:sp>
      <p:sp>
        <p:nvSpPr>
          <p:cNvPr id="32" name="Step chevron"/>
          <p:cNvSpPr/>
          <p:nvPr/>
        </p:nvSpPr>
        <p:spPr>
          <a:xfrm>
            <a:off x="7754112" y="1463040"/>
            <a:ext cx="2011680" cy="1371600"/>
          </a:xfrm>
          <a:prstGeom prst="chevron">
            <a:avLst/>
          </a:prstGeom>
          <a:solidFill>
            <a:srgbClr val="A23FD6"/>
          </a:solidFill>
          <a:ln w="12700">
            <a:solidFill>
              <a:srgbClr val="A23FD6"/>
            </a:solidFill>
            <a:prstDash val="solid"/>
          </a:ln>
        </p:spPr>
      </p:sp>
      <p:sp>
        <p:nvSpPr>
          <p:cNvPr id="33" name="Text 31"/>
          <p:cNvSpPr txBox="1"/>
          <p:nvPr/>
        </p:nvSpPr>
        <p:spPr>
          <a:xfrm>
            <a:off x="8302752" y="1600200"/>
            <a:ext cx="731520" cy="640080"/>
          </a:xfrm>
          <a:prstGeom prst="rect">
            <a:avLst/>
          </a:prstGeom>
          <a:noFill/>
          <a:ln/>
        </p:spPr>
        <p:txBody>
          <a:bodyPr wrap="square" lIns="0" tIns="0" rIns="0" bIns="0" rtlCol="0" anchor="t"/>
          <a:lstStyle/>
          <a:p>
            <a:pPr indent="0" marL="0">
              <a:buNone/>
            </a:pPr>
            <a:r>
              <a:rPr lang="en-US" sz="3600" b="1" dirty="0">
                <a:solidFill>
                  <a:srgbClr val="FFFFFF"/>
                </a:solidFill>
              </a:rPr>
              <a:t>5</a:t>
            </a:r>
            <a:endParaRPr lang="en-US" sz="3600" dirty="0"/>
          </a:p>
        </p:txBody>
      </p:sp>
      <p:sp>
        <p:nvSpPr>
          <p:cNvPr id="34" name="Text 32"/>
          <p:cNvSpPr txBox="1"/>
          <p:nvPr/>
        </p:nvSpPr>
        <p:spPr>
          <a:xfrm>
            <a:off x="8302752" y="2240280"/>
            <a:ext cx="1325880" cy="457200"/>
          </a:xfrm>
          <a:prstGeom prst="rect">
            <a:avLst/>
          </a:prstGeom>
          <a:noFill/>
          <a:ln/>
        </p:spPr>
        <p:txBody>
          <a:bodyPr wrap="square" lIns="0" tIns="0" rIns="0" bIns="0" rtlCol="0" anchor="t"/>
          <a:lstStyle/>
          <a:p>
            <a:pPr indent="0" marL="0">
              <a:buNone/>
            </a:pPr>
            <a:r>
              <a:rPr lang="en-US" sz="1300" b="1" dirty="0">
                <a:solidFill>
                  <a:srgbClr val="FFFFFF"/>
                </a:solidFill>
              </a:rPr>
              <a:t>Specialist agent</a:t>
            </a:r>
            <a:endParaRPr lang="en-US" sz="1300" dirty="0"/>
          </a:p>
        </p:txBody>
      </p:sp>
      <p:sp>
        <p:nvSpPr>
          <p:cNvPr id="35" name="Text 33"/>
          <p:cNvSpPr txBox="1"/>
          <p:nvPr/>
        </p:nvSpPr>
        <p:spPr>
          <a:xfrm>
            <a:off x="7891272" y="2971800"/>
            <a:ext cx="1691640" cy="731520"/>
          </a:xfrm>
          <a:prstGeom prst="rect">
            <a:avLst/>
          </a:prstGeom>
          <a:noFill/>
          <a:ln/>
        </p:spPr>
        <p:txBody>
          <a:bodyPr wrap="square" lIns="0" tIns="0" rIns="0" bIns="0" rtlCol="0" anchor="t"/>
          <a:lstStyle/>
          <a:p>
            <a:pPr indent="0" marL="0">
              <a:buNone/>
            </a:pPr>
            <a:r>
              <a:rPr lang="en-US" sz="1150" dirty="0">
                <a:solidFill>
                  <a:srgbClr val="CFE0FF"/>
                </a:solidFill>
              </a:rPr>
              <a:t>Words the answer from the facts</a:t>
            </a:r>
            <a:endParaRPr lang="en-US" sz="1150" dirty="0"/>
          </a:p>
        </p:txBody>
      </p:sp>
      <p:sp>
        <p:nvSpPr>
          <p:cNvPr id="36" name="Step chevron"/>
          <p:cNvSpPr/>
          <p:nvPr/>
        </p:nvSpPr>
        <p:spPr>
          <a:xfrm>
            <a:off x="9555480" y="1463040"/>
            <a:ext cx="2011680" cy="1371600"/>
          </a:xfrm>
          <a:prstGeom prst="chevron">
            <a:avLst/>
          </a:prstGeom>
          <a:solidFill>
            <a:srgbClr val="E5484D"/>
          </a:solidFill>
          <a:ln w="12700">
            <a:solidFill>
              <a:srgbClr val="E5484D"/>
            </a:solidFill>
            <a:prstDash val="solid"/>
          </a:ln>
        </p:spPr>
      </p:sp>
      <p:sp>
        <p:nvSpPr>
          <p:cNvPr id="37" name="Text 35"/>
          <p:cNvSpPr txBox="1"/>
          <p:nvPr/>
        </p:nvSpPr>
        <p:spPr>
          <a:xfrm>
            <a:off x="10104120" y="1600200"/>
            <a:ext cx="731520" cy="640080"/>
          </a:xfrm>
          <a:prstGeom prst="rect">
            <a:avLst/>
          </a:prstGeom>
          <a:noFill/>
          <a:ln/>
        </p:spPr>
        <p:txBody>
          <a:bodyPr wrap="square" lIns="0" tIns="0" rIns="0" bIns="0" rtlCol="0" anchor="t"/>
          <a:lstStyle/>
          <a:p>
            <a:pPr indent="0" marL="0">
              <a:buNone/>
            </a:pPr>
            <a:r>
              <a:rPr lang="en-US" sz="3600" b="1" dirty="0">
                <a:solidFill>
                  <a:srgbClr val="FFFFFF"/>
                </a:solidFill>
              </a:rPr>
              <a:t>6</a:t>
            </a:r>
            <a:endParaRPr lang="en-US" sz="3600" dirty="0"/>
          </a:p>
        </p:txBody>
      </p:sp>
      <p:sp>
        <p:nvSpPr>
          <p:cNvPr id="38" name="Text 36"/>
          <p:cNvSpPr txBox="1"/>
          <p:nvPr/>
        </p:nvSpPr>
        <p:spPr>
          <a:xfrm>
            <a:off x="10104120" y="2240280"/>
            <a:ext cx="1325880" cy="457200"/>
          </a:xfrm>
          <a:prstGeom prst="rect">
            <a:avLst/>
          </a:prstGeom>
          <a:noFill/>
          <a:ln/>
        </p:spPr>
        <p:txBody>
          <a:bodyPr wrap="square" lIns="0" tIns="0" rIns="0" bIns="0" rtlCol="0" anchor="t"/>
          <a:lstStyle/>
          <a:p>
            <a:pPr indent="0" marL="0">
              <a:buNone/>
            </a:pPr>
            <a:r>
              <a:rPr lang="en-US" sz="1300" b="1" dirty="0">
                <a:solidFill>
                  <a:srgbClr val="FFFFFF"/>
                </a:solidFill>
              </a:rPr>
              <a:t>Outputs</a:t>
            </a:r>
            <a:endParaRPr lang="en-US" sz="1300" dirty="0"/>
          </a:p>
        </p:txBody>
      </p:sp>
      <p:sp>
        <p:nvSpPr>
          <p:cNvPr id="39" name="Text 37"/>
          <p:cNvSpPr txBox="1"/>
          <p:nvPr/>
        </p:nvSpPr>
        <p:spPr>
          <a:xfrm>
            <a:off x="9692640" y="2971800"/>
            <a:ext cx="1691640" cy="731520"/>
          </a:xfrm>
          <a:prstGeom prst="rect">
            <a:avLst/>
          </a:prstGeom>
          <a:noFill/>
          <a:ln/>
        </p:spPr>
        <p:txBody>
          <a:bodyPr wrap="square" lIns="0" tIns="0" rIns="0" bIns="0" rtlCol="0" anchor="t"/>
          <a:lstStyle/>
          <a:p>
            <a:pPr indent="0" marL="0">
              <a:buNone/>
            </a:pPr>
            <a:r>
              <a:rPr lang="en-US" sz="1150" dirty="0">
                <a:solidFill>
                  <a:srgbClr val="CFE0FF"/>
                </a:solidFill>
              </a:rPr>
              <a:t>Member view, staff packet, audit</a:t>
            </a:r>
            <a:endParaRPr lang="en-US" sz="1150" dirty="0"/>
          </a:p>
        </p:txBody>
      </p:sp>
      <p:sp>
        <p:nvSpPr>
          <p:cNvPr id="40" name="Pill"/>
          <p:cNvSpPr/>
          <p:nvPr/>
        </p:nvSpPr>
        <p:spPr>
          <a:xfrm>
            <a:off x="685800" y="3840480"/>
            <a:ext cx="1737360" cy="329184"/>
          </a:xfrm>
          <a:prstGeom prst="roundRect">
            <a:avLst>
              <a:gd name="adj" fmla="val 50000"/>
            </a:avLst>
          </a:prstGeom>
          <a:solidFill>
            <a:srgbClr val="E5484D"/>
          </a:solidFill>
          <a:ln w="12700">
            <a:solidFill>
              <a:srgbClr val="E5484D"/>
            </a:solidFill>
            <a:prstDash val="solid"/>
          </a:ln>
        </p:spPr>
      </p:sp>
      <p:sp>
        <p:nvSpPr>
          <p:cNvPr id="41" name="Text 39"/>
          <p:cNvSpPr txBox="1"/>
          <p:nvPr/>
        </p:nvSpPr>
        <p:spPr>
          <a:xfrm>
            <a:off x="685800" y="3840480"/>
            <a:ext cx="1737360" cy="329184"/>
          </a:xfrm>
          <a:prstGeom prst="rect">
            <a:avLst/>
          </a:prstGeom>
          <a:noFill/>
          <a:ln/>
        </p:spPr>
        <p:txBody>
          <a:bodyPr wrap="square" lIns="0" tIns="0" rIns="0" bIns="0" rtlCol="0" anchor="ctr"/>
          <a:lstStyle/>
          <a:p>
            <a:pPr algn="ctr" indent="0" marL="0">
              <a:buNone/>
            </a:pPr>
            <a:r>
              <a:rPr lang="en-US" sz="850" b="1" dirty="0">
                <a:solidFill>
                  <a:srgbClr val="FFFFFF"/>
                </a:solidFill>
              </a:rPr>
              <a:t>STOP → staff · ER-501</a:t>
            </a:r>
            <a:endParaRPr lang="en-US" sz="850" dirty="0"/>
          </a:p>
        </p:txBody>
      </p:sp>
      <p:sp>
        <p:nvSpPr>
          <p:cNvPr id="42" name="Pill"/>
          <p:cNvSpPr/>
          <p:nvPr/>
        </p:nvSpPr>
        <p:spPr>
          <a:xfrm>
            <a:off x="2487168" y="3840480"/>
            <a:ext cx="1737360" cy="329184"/>
          </a:xfrm>
          <a:prstGeom prst="roundRect">
            <a:avLst>
              <a:gd name="adj" fmla="val 50000"/>
            </a:avLst>
          </a:prstGeom>
          <a:solidFill>
            <a:srgbClr val="E5484D"/>
          </a:solidFill>
          <a:ln w="12700">
            <a:solidFill>
              <a:srgbClr val="E5484D"/>
            </a:solidFill>
            <a:prstDash val="solid"/>
          </a:ln>
        </p:spPr>
      </p:sp>
      <p:sp>
        <p:nvSpPr>
          <p:cNvPr id="43" name="Text 41"/>
          <p:cNvSpPr txBox="1"/>
          <p:nvPr/>
        </p:nvSpPr>
        <p:spPr>
          <a:xfrm>
            <a:off x="2487168" y="3840480"/>
            <a:ext cx="1737360" cy="329184"/>
          </a:xfrm>
          <a:prstGeom prst="rect">
            <a:avLst/>
          </a:prstGeom>
          <a:noFill/>
          <a:ln/>
        </p:spPr>
        <p:txBody>
          <a:bodyPr wrap="square" lIns="0" tIns="0" rIns="0" bIns="0" rtlCol="0" anchor="ctr"/>
          <a:lstStyle/>
          <a:p>
            <a:pPr algn="ctr" indent="0" marL="0">
              <a:buNone/>
            </a:pPr>
            <a:r>
              <a:rPr lang="en-US" sz="850" b="1" dirty="0">
                <a:solidFill>
                  <a:srgbClr val="FFFFFF"/>
                </a:solidFill>
              </a:rPr>
              <a:t>DECLINE · ER-503</a:t>
            </a:r>
            <a:endParaRPr lang="en-US" sz="850" dirty="0"/>
          </a:p>
        </p:txBody>
      </p:sp>
      <p:sp>
        <p:nvSpPr>
          <p:cNvPr id="44" name="Pill"/>
          <p:cNvSpPr/>
          <p:nvPr/>
        </p:nvSpPr>
        <p:spPr>
          <a:xfrm>
            <a:off x="6089904" y="3840480"/>
            <a:ext cx="1737360" cy="329184"/>
          </a:xfrm>
          <a:prstGeom prst="roundRect">
            <a:avLst>
              <a:gd name="adj" fmla="val 50000"/>
            </a:avLst>
          </a:prstGeom>
          <a:solidFill>
            <a:srgbClr val="F5A524"/>
          </a:solidFill>
          <a:ln w="12700">
            <a:solidFill>
              <a:srgbClr val="F5A524"/>
            </a:solidFill>
            <a:prstDash val="solid"/>
          </a:ln>
        </p:spPr>
      </p:sp>
      <p:sp>
        <p:nvSpPr>
          <p:cNvPr id="45" name="Text 43"/>
          <p:cNvSpPr txBox="1"/>
          <p:nvPr/>
        </p:nvSpPr>
        <p:spPr>
          <a:xfrm>
            <a:off x="6089904" y="3840480"/>
            <a:ext cx="1737360" cy="329184"/>
          </a:xfrm>
          <a:prstGeom prst="rect">
            <a:avLst/>
          </a:prstGeom>
          <a:noFill/>
          <a:ln/>
        </p:spPr>
        <p:txBody>
          <a:bodyPr wrap="square" lIns="0" tIns="0" rIns="0" bIns="0" rtlCol="0" anchor="ctr"/>
          <a:lstStyle/>
          <a:p>
            <a:pPr algn="ctr" indent="0" marL="0">
              <a:buNone/>
            </a:pPr>
            <a:r>
              <a:rPr lang="en-US" sz="850" b="1" dirty="0">
                <a:solidFill>
                  <a:srgbClr val="0A1F5C"/>
                </a:solidFill>
              </a:rPr>
              <a:t>STAFF QUEUE · ER-502/504</a:t>
            </a:r>
            <a:endParaRPr lang="en-US" sz="850" dirty="0"/>
          </a:p>
        </p:txBody>
      </p:sp>
      <p:sp>
        <p:nvSpPr>
          <p:cNvPr id="46" name="Pill"/>
          <p:cNvSpPr/>
          <p:nvPr/>
        </p:nvSpPr>
        <p:spPr>
          <a:xfrm>
            <a:off x="9692640" y="3840480"/>
            <a:ext cx="1737360" cy="329184"/>
          </a:xfrm>
          <a:prstGeom prst="roundRect">
            <a:avLst>
              <a:gd name="adj" fmla="val 50000"/>
            </a:avLst>
          </a:prstGeom>
          <a:solidFill>
            <a:srgbClr val="12A36B"/>
          </a:solidFill>
          <a:ln w="12700">
            <a:solidFill>
              <a:srgbClr val="12A36B"/>
            </a:solidFill>
            <a:prstDash val="solid"/>
          </a:ln>
        </p:spPr>
      </p:sp>
      <p:sp>
        <p:nvSpPr>
          <p:cNvPr id="47" name="Text 45"/>
          <p:cNvSpPr txBox="1"/>
          <p:nvPr/>
        </p:nvSpPr>
        <p:spPr>
          <a:xfrm>
            <a:off x="9692640" y="3840480"/>
            <a:ext cx="1737360" cy="329184"/>
          </a:xfrm>
          <a:prstGeom prst="rect">
            <a:avLst/>
          </a:prstGeom>
          <a:noFill/>
          <a:ln/>
        </p:spPr>
        <p:txBody>
          <a:bodyPr wrap="square" lIns="0" tIns="0" rIns="0" bIns="0" rtlCol="0" anchor="ctr"/>
          <a:lstStyle/>
          <a:p>
            <a:pPr algn="ctr" indent="0" marL="0">
              <a:buNone/>
            </a:pPr>
            <a:r>
              <a:rPr lang="en-US" sz="850" b="1" dirty="0">
                <a:solidFill>
                  <a:srgbClr val="FFFFFF"/>
                </a:solidFill>
              </a:rPr>
              <a:t>SEPARATE VIEWS</a:t>
            </a:r>
            <a:endParaRPr lang="en-US" sz="850" dirty="0"/>
          </a:p>
        </p:txBody>
      </p:sp>
      <p:sp>
        <p:nvSpPr>
          <p:cNvPr id="48" name="Output block"/>
          <p:cNvSpPr/>
          <p:nvPr/>
        </p:nvSpPr>
        <p:spPr>
          <a:xfrm>
            <a:off x="548640" y="4526280"/>
            <a:ext cx="3611880" cy="1554480"/>
          </a:xfrm>
          <a:prstGeom prst="roundRect">
            <a:avLst>
              <a:gd name="adj" fmla="val 5882"/>
            </a:avLst>
          </a:prstGeom>
          <a:solidFill>
            <a:srgbClr val="1547C8"/>
          </a:solidFill>
          <a:ln w="12700">
            <a:solidFill>
              <a:srgbClr val="1547C8"/>
            </a:solidFill>
            <a:prstDash val="solid"/>
          </a:ln>
        </p:spPr>
      </p:sp>
      <p:sp>
        <p:nvSpPr>
          <p:cNvPr id="49" name="Text 47"/>
          <p:cNvSpPr txBox="1"/>
          <p:nvPr/>
        </p:nvSpPr>
        <p:spPr>
          <a:xfrm>
            <a:off x="822960" y="4709160"/>
            <a:ext cx="3108960" cy="457200"/>
          </a:xfrm>
          <a:prstGeom prst="rect">
            <a:avLst/>
          </a:prstGeom>
          <a:noFill/>
          <a:ln/>
        </p:spPr>
        <p:txBody>
          <a:bodyPr wrap="square" lIns="0" tIns="0" rIns="0" bIns="0" rtlCol="0" anchor="t"/>
          <a:lstStyle/>
          <a:p>
            <a:pPr indent="0" marL="0">
              <a:buNone/>
            </a:pPr>
            <a:r>
              <a:rPr lang="en-US" sz="2400" b="1" dirty="0">
                <a:solidFill>
                  <a:srgbClr val="FFFFFF"/>
                </a:solidFill>
              </a:rPr>
              <a:t>Member view</a:t>
            </a:r>
            <a:endParaRPr lang="en-US" sz="2400" dirty="0"/>
          </a:p>
        </p:txBody>
      </p:sp>
      <p:sp>
        <p:nvSpPr>
          <p:cNvPr id="50" name="Text 48"/>
          <p:cNvSpPr txBox="1"/>
          <p:nvPr/>
        </p:nvSpPr>
        <p:spPr>
          <a:xfrm>
            <a:off x="822960" y="5349240"/>
            <a:ext cx="3108960" cy="365760"/>
          </a:xfrm>
          <a:prstGeom prst="rect">
            <a:avLst/>
          </a:prstGeom>
          <a:noFill/>
          <a:ln/>
        </p:spPr>
        <p:txBody>
          <a:bodyPr wrap="square" lIns="0" tIns="0" rIns="0" bIns="0" rtlCol="0" anchor="t"/>
          <a:lstStyle/>
          <a:p>
            <a:pPr indent="0" marL="0">
              <a:buNone/>
            </a:pPr>
            <a:r>
              <a:rPr lang="en-US" sz="1400" dirty="0">
                <a:solidFill>
                  <a:srgbClr val="FFFFFF"/>
                </a:solidFill>
              </a:rPr>
              <a:t>answer, plan items, sources</a:t>
            </a:r>
            <a:endParaRPr lang="en-US" sz="1400" dirty="0"/>
          </a:p>
        </p:txBody>
      </p:sp>
      <p:sp>
        <p:nvSpPr>
          <p:cNvPr id="51" name="Output block"/>
          <p:cNvSpPr/>
          <p:nvPr/>
        </p:nvSpPr>
        <p:spPr>
          <a:xfrm>
            <a:off x="4297680" y="4526280"/>
            <a:ext cx="3611880" cy="1554480"/>
          </a:xfrm>
          <a:prstGeom prst="roundRect">
            <a:avLst>
              <a:gd name="adj" fmla="val 5882"/>
            </a:avLst>
          </a:prstGeom>
          <a:solidFill>
            <a:srgbClr val="8338EC"/>
          </a:solidFill>
          <a:ln w="12700">
            <a:solidFill>
              <a:srgbClr val="8338EC"/>
            </a:solidFill>
            <a:prstDash val="solid"/>
          </a:ln>
        </p:spPr>
      </p:sp>
      <p:sp>
        <p:nvSpPr>
          <p:cNvPr id="52" name="Text 50"/>
          <p:cNvSpPr txBox="1"/>
          <p:nvPr/>
        </p:nvSpPr>
        <p:spPr>
          <a:xfrm>
            <a:off x="4572000" y="4709160"/>
            <a:ext cx="3108960" cy="457200"/>
          </a:xfrm>
          <a:prstGeom prst="rect">
            <a:avLst/>
          </a:prstGeom>
          <a:noFill/>
          <a:ln/>
        </p:spPr>
        <p:txBody>
          <a:bodyPr wrap="square" lIns="0" tIns="0" rIns="0" bIns="0" rtlCol="0" anchor="t"/>
          <a:lstStyle/>
          <a:p>
            <a:pPr indent="0" marL="0">
              <a:buNone/>
            </a:pPr>
            <a:r>
              <a:rPr lang="en-US" sz="2400" b="1" dirty="0">
                <a:solidFill>
                  <a:srgbClr val="FFFFFF"/>
                </a:solidFill>
              </a:rPr>
              <a:t>Staff packet</a:t>
            </a:r>
            <a:endParaRPr lang="en-US" sz="2400" dirty="0"/>
          </a:p>
        </p:txBody>
      </p:sp>
      <p:sp>
        <p:nvSpPr>
          <p:cNvPr id="53" name="Text 51"/>
          <p:cNvSpPr txBox="1"/>
          <p:nvPr/>
        </p:nvSpPr>
        <p:spPr>
          <a:xfrm>
            <a:off x="4572000" y="5349240"/>
            <a:ext cx="3108960" cy="365760"/>
          </a:xfrm>
          <a:prstGeom prst="rect">
            <a:avLst/>
          </a:prstGeom>
          <a:noFill/>
          <a:ln/>
        </p:spPr>
        <p:txBody>
          <a:bodyPr wrap="square" lIns="0" tIns="0" rIns="0" bIns="0" rtlCol="0" anchor="t"/>
          <a:lstStyle/>
          <a:p>
            <a:pPr indent="0" marL="0">
              <a:buNone/>
            </a:pPr>
            <a:r>
              <a:rPr lang="en-US" sz="1400" dirty="0">
                <a:solidFill>
                  <a:srgbClr val="FFFFFF"/>
                </a:solidFill>
              </a:rPr>
              <a:t>readings, due actions, reasons</a:t>
            </a:r>
            <a:endParaRPr lang="en-US" sz="1400" dirty="0"/>
          </a:p>
        </p:txBody>
      </p:sp>
      <p:sp>
        <p:nvSpPr>
          <p:cNvPr id="54" name="Output block"/>
          <p:cNvSpPr/>
          <p:nvPr/>
        </p:nvSpPr>
        <p:spPr>
          <a:xfrm>
            <a:off x="8046720" y="4526280"/>
            <a:ext cx="3611880" cy="1554480"/>
          </a:xfrm>
          <a:prstGeom prst="roundRect">
            <a:avLst>
              <a:gd name="adj" fmla="val 5882"/>
            </a:avLst>
          </a:prstGeom>
          <a:solidFill>
            <a:srgbClr val="12A36B"/>
          </a:solidFill>
          <a:ln w="12700">
            <a:solidFill>
              <a:srgbClr val="12A36B"/>
            </a:solidFill>
            <a:prstDash val="solid"/>
          </a:ln>
        </p:spPr>
      </p:sp>
      <p:sp>
        <p:nvSpPr>
          <p:cNvPr id="55" name="Text 53"/>
          <p:cNvSpPr txBox="1"/>
          <p:nvPr/>
        </p:nvSpPr>
        <p:spPr>
          <a:xfrm>
            <a:off x="8321040" y="4709160"/>
            <a:ext cx="3108960" cy="457200"/>
          </a:xfrm>
          <a:prstGeom prst="rect">
            <a:avLst/>
          </a:prstGeom>
          <a:noFill/>
          <a:ln/>
        </p:spPr>
        <p:txBody>
          <a:bodyPr wrap="square" lIns="0" tIns="0" rIns="0" bIns="0" rtlCol="0" anchor="t"/>
          <a:lstStyle/>
          <a:p>
            <a:pPr indent="0" marL="0">
              <a:buNone/>
            </a:pPr>
            <a:r>
              <a:rPr lang="en-US" sz="2400" b="1" dirty="0">
                <a:solidFill>
                  <a:srgbClr val="FFFFFF"/>
                </a:solidFill>
              </a:rPr>
              <a:t>Audit record</a:t>
            </a:r>
            <a:endParaRPr lang="en-US" sz="2400" dirty="0"/>
          </a:p>
        </p:txBody>
      </p:sp>
      <p:sp>
        <p:nvSpPr>
          <p:cNvPr id="56" name="Text 54"/>
          <p:cNvSpPr txBox="1"/>
          <p:nvPr/>
        </p:nvSpPr>
        <p:spPr>
          <a:xfrm>
            <a:off x="8321040" y="5349240"/>
            <a:ext cx="3108960" cy="365760"/>
          </a:xfrm>
          <a:prstGeom prst="rect">
            <a:avLst/>
          </a:prstGeom>
          <a:noFill/>
          <a:ln/>
        </p:spPr>
        <p:txBody>
          <a:bodyPr wrap="square" lIns="0" tIns="0" rIns="0" bIns="0" rtlCol="0" anchor="t"/>
          <a:lstStyle/>
          <a:p>
            <a:pPr indent="0" marL="0">
              <a:buNone/>
            </a:pPr>
            <a:r>
              <a:rPr lang="en-US" sz="1400" dirty="0">
                <a:solidFill>
                  <a:srgbClr val="FFFFFF"/>
                </a:solidFill>
              </a:rPr>
              <a:t>masked ID, no message text</a:t>
            </a:r>
            <a:endParaRPr lang="en-US" sz="140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9FB3E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56032"/>
          </a:xfrm>
          <a:prstGeom prst="rect">
            <a:avLst/>
          </a:prstGeom>
          <a:noFill/>
          <a:ln/>
        </p:spPr>
        <p:txBody>
          <a:bodyPr wrap="square" lIns="0" tIns="0" rIns="0" bIns="0" rtlCol="0" anchor="t"/>
          <a:lstStyle/>
          <a:p>
            <a:pPr algn="l" indent="0" marL="0">
              <a:buNone/>
            </a:pPr>
            <a:r>
              <a:rPr lang="en-US" sz="1100" b="1" spc="300" kern="0" dirty="0">
                <a:solidFill>
                  <a:srgbClr val="1547C8"/>
                </a:solidFill>
              </a:rPr>
              <a:t>03  ·  KNOWLEDGE AND RAG</a:t>
            </a:r>
            <a:endParaRPr lang="en-US" sz="1100" dirty="0"/>
          </a:p>
        </p:txBody>
      </p:sp>
      <p:sp>
        <p:nvSpPr>
          <p:cNvPr id="3" name="Text 1"/>
          <p:cNvSpPr/>
          <p:nvPr>
            <p:ph idx="103" type="title" hasCustomPrompt="1"/>
          </p:nvPr>
        </p:nvSpPr>
        <p:spPr>
          <a:xfrm>
            <a:off x="548640" y="603504"/>
            <a:ext cx="11064240" cy="603504"/>
          </a:xfrm>
          <a:prstGeom prst="rect">
            <a:avLst/>
          </a:prstGeom>
          <a:noFill/>
          <a:ln/>
        </p:spPr>
        <p:txBody>
          <a:bodyPr wrap="square" lIns="0" tIns="0" rIns="0" bIns="0" rtlCol="0" anchor="t"/>
          <a:lstStyle/>
          <a:p>
            <a:pPr algn="l" indent="0" marL="0">
              <a:buNone/>
            </a:pPr>
            <a:r>
              <a:rPr lang="en-US" sz="3400" b="1" dirty="0">
                <a:solidFill>
                  <a:srgbClr val="0A1F5C"/>
                </a:solidFill>
              </a:rPr>
              <a:t>RAG: grounded answers, or an honest gap</a:t>
            </a:r>
            <a:endParaRPr lang="en-US" sz="3400" dirty="0"/>
          </a:p>
        </p:txBody>
      </p:sp>
      <p:sp>
        <p:nvSpPr>
          <p:cNvPr id="4" name="Text 2">
            <a:hlinkClick r:id="rId1" tooltip="Go to Agenda" action="ppaction://hlinksldjump"/>
          </p:cNvPr>
          <p:cNvSpPr txBox="1"/>
          <p:nvPr/>
        </p:nvSpPr>
        <p:spPr>
          <a:xfrm>
            <a:off x="1920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1" action="ppaction://hlinksldjump" tooltip="Go to Agenda">
                  <a:extLst>
                    <a:ext uri="{A12FA001-AC4F-418D-AE19-62706E023703}">
                      <ahyp:hlinkClr xmlns:ahyp="http://schemas.microsoft.com/office/drawing/2018/hyperlinkcolor" val="tx"/>
                    </a:ext>
                  </a:extLst>
                </a:hlinkClick>
              </a:rPr>
              <a:t>Agenda</a:t>
            </a:r>
            <a:endParaRPr lang="en-US" sz="950" dirty="0"/>
          </a:p>
        </p:txBody>
      </p:sp>
      <p:sp>
        <p:nvSpPr>
          <p:cNvPr id="5" name="Text 3">
            <a:hlinkClick r:id="rId2" tooltip="Go to Problem" action="ppaction://hlinksldjump"/>
          </p:cNvPr>
          <p:cNvSpPr txBox="1"/>
          <p:nvPr/>
        </p:nvSpPr>
        <p:spPr>
          <a:xfrm>
            <a:off x="26060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2" action="ppaction://hlinksldjump" tooltip="Go to Problem">
                  <a:extLst>
                    <a:ext uri="{A12FA001-AC4F-418D-AE19-62706E023703}">
                      <ahyp:hlinkClr xmlns:ahyp="http://schemas.microsoft.com/office/drawing/2018/hyperlinkcolor" val="tx"/>
                    </a:ext>
                  </a:extLst>
                </a:hlinkClick>
              </a:rPr>
              <a:t>Problem</a:t>
            </a:r>
            <a:endParaRPr lang="en-US" sz="950" dirty="0"/>
          </a:p>
        </p:txBody>
      </p:sp>
      <p:sp>
        <p:nvSpPr>
          <p:cNvPr id="6" name="Text 4">
            <a:hlinkClick r:id="rId3" tooltip="Go to Solution" action="ppaction://hlinksldjump"/>
          </p:cNvPr>
          <p:cNvSpPr txBox="1"/>
          <p:nvPr/>
        </p:nvSpPr>
        <p:spPr>
          <a:xfrm>
            <a:off x="32918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3" action="ppaction://hlinksldjump" tooltip="Go to Solution">
                  <a:extLst>
                    <a:ext uri="{A12FA001-AC4F-418D-AE19-62706E023703}">
                      <ahyp:hlinkClr xmlns:ahyp="http://schemas.microsoft.com/office/drawing/2018/hyperlinkcolor" val="tx"/>
                    </a:ext>
                  </a:extLst>
                </a:hlinkClick>
              </a:rPr>
              <a:t>Solution</a:t>
            </a:r>
            <a:endParaRPr lang="en-US" sz="950" dirty="0"/>
          </a:p>
        </p:txBody>
      </p:sp>
      <p:sp>
        <p:nvSpPr>
          <p:cNvPr id="7" name="Text 5">
            <a:hlinkClick r:id="rId4" tooltip="Go to Principle" action="ppaction://hlinksldjump"/>
          </p:cNvPr>
          <p:cNvSpPr txBox="1"/>
          <p:nvPr/>
        </p:nvSpPr>
        <p:spPr>
          <a:xfrm>
            <a:off x="39776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4" action="ppaction://hlinksldjump" tooltip="Go to Principle">
                  <a:extLst>
                    <a:ext uri="{A12FA001-AC4F-418D-AE19-62706E023703}">
                      <ahyp:hlinkClr xmlns:ahyp="http://schemas.microsoft.com/office/drawing/2018/hyperlinkcolor" val="tx"/>
                    </a:ext>
                  </a:extLst>
                </a:hlinkClick>
              </a:rPr>
              <a:t>Principle</a:t>
            </a:r>
            <a:endParaRPr lang="en-US" sz="950" dirty="0"/>
          </a:p>
        </p:txBody>
      </p:sp>
      <p:sp>
        <p:nvSpPr>
          <p:cNvPr id="8" name="Text 6">
            <a:hlinkClick r:id="rId5" tooltip="Go to Flow" action="ppaction://hlinksldjump"/>
          </p:cNvPr>
          <p:cNvSpPr txBox="1"/>
          <p:nvPr/>
        </p:nvSpPr>
        <p:spPr>
          <a:xfrm>
            <a:off x="46634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5" action="ppaction://hlinksldjump" tooltip="Go to Flow">
                  <a:extLst>
                    <a:ext uri="{A12FA001-AC4F-418D-AE19-62706E023703}">
                      <ahyp:hlinkClr xmlns:ahyp="http://schemas.microsoft.com/office/drawing/2018/hyperlinkcolor" val="tx"/>
                    </a:ext>
                  </a:extLst>
                </a:hlinkClick>
              </a:rPr>
              <a:t>Flow</a:t>
            </a:r>
            <a:endParaRPr lang="en-US" sz="950" dirty="0"/>
          </a:p>
        </p:txBody>
      </p:sp>
      <p:sp>
        <p:nvSpPr>
          <p:cNvPr id="9" name="Text 7"/>
          <p:cNvSpPr txBox="1"/>
          <p:nvPr/>
        </p:nvSpPr>
        <p:spPr>
          <a:xfrm>
            <a:off x="5349240" y="6382512"/>
            <a:ext cx="685800" cy="219456"/>
          </a:xfrm>
          <a:prstGeom prst="rect">
            <a:avLst/>
          </a:prstGeom>
          <a:noFill/>
          <a:ln/>
        </p:spPr>
        <p:txBody>
          <a:bodyPr wrap="square" lIns="0" tIns="0" rIns="0" bIns="0" rtlCol="0" anchor="ctr"/>
          <a:lstStyle/>
          <a:p>
            <a:pPr algn="ctr" indent="0" marL="0">
              <a:buNone/>
            </a:pPr>
            <a:r>
              <a:rPr lang="en-US" sz="950" b="1" dirty="0">
                <a:solidFill>
                  <a:srgbClr val="0A1F5C"/>
                </a:solidFill>
              </a:rPr>
              <a:t>RAG</a:t>
            </a:r>
            <a:endParaRPr lang="en-US" sz="950" dirty="0"/>
          </a:p>
        </p:txBody>
      </p:sp>
      <p:sp>
        <p:nvSpPr>
          <p:cNvPr id="10" name="Shape 8"/>
          <p:cNvSpPr/>
          <p:nvPr/>
        </p:nvSpPr>
        <p:spPr>
          <a:xfrm>
            <a:off x="5655564" y="6309360"/>
            <a:ext cx="73152" cy="73152"/>
          </a:xfrm>
          <a:prstGeom prst="ellipse">
            <a:avLst/>
          </a:prstGeom>
          <a:solidFill>
            <a:srgbClr val="1547C8"/>
          </a:solidFill>
          <a:ln w="12700">
            <a:solidFill>
              <a:srgbClr val="1547C8"/>
            </a:solidFill>
            <a:prstDash val="solid"/>
          </a:ln>
        </p:spPr>
      </p:sp>
      <p:sp>
        <p:nvSpPr>
          <p:cNvPr id="11" name="Text 9">
            <a:hlinkClick r:id="rId6" tooltip="Go to Demo" action="ppaction://hlinksldjump"/>
          </p:cNvPr>
          <p:cNvSpPr txBox="1"/>
          <p:nvPr/>
        </p:nvSpPr>
        <p:spPr>
          <a:xfrm>
            <a:off x="60350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6" action="ppaction://hlinksldjump" tooltip="Go to Demo">
                  <a:extLst>
                    <a:ext uri="{A12FA001-AC4F-418D-AE19-62706E023703}">
                      <ahyp:hlinkClr xmlns:ahyp="http://schemas.microsoft.com/office/drawing/2018/hyperlinkcolor" val="tx"/>
                    </a:ext>
                  </a:extLst>
                </a:hlinkClick>
              </a:rPr>
              <a:t>Demo</a:t>
            </a:r>
            <a:endParaRPr lang="en-US" sz="950" dirty="0"/>
          </a:p>
        </p:txBody>
      </p:sp>
      <p:sp>
        <p:nvSpPr>
          <p:cNvPr id="12" name="Text 10">
            <a:hlinkClick r:id="rId7" tooltip="Go to Try it" action="ppaction://hlinksldjump"/>
          </p:cNvPr>
          <p:cNvSpPr txBox="1"/>
          <p:nvPr/>
        </p:nvSpPr>
        <p:spPr>
          <a:xfrm>
            <a:off x="67208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7" action="ppaction://hlinksldjump" tooltip="Go to Try it">
                  <a:extLst>
                    <a:ext uri="{A12FA001-AC4F-418D-AE19-62706E023703}">
                      <ahyp:hlinkClr xmlns:ahyp="http://schemas.microsoft.com/office/drawing/2018/hyperlinkcolor" val="tx"/>
                    </a:ext>
                  </a:extLst>
                </a:hlinkClick>
              </a:rPr>
              <a:t>Try it</a:t>
            </a:r>
            <a:endParaRPr lang="en-US" sz="950" dirty="0"/>
          </a:p>
        </p:txBody>
      </p:sp>
      <p:sp>
        <p:nvSpPr>
          <p:cNvPr id="13" name="Text 11">
            <a:hlinkClick r:id="rId8" tooltip="Go to Rules" action="ppaction://hlinksldjump"/>
          </p:cNvPr>
          <p:cNvSpPr txBox="1"/>
          <p:nvPr/>
        </p:nvSpPr>
        <p:spPr>
          <a:xfrm>
            <a:off x="74066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8" action="ppaction://hlinksldjump" tooltip="Go to Rules">
                  <a:extLst>
                    <a:ext uri="{A12FA001-AC4F-418D-AE19-62706E023703}">
                      <ahyp:hlinkClr xmlns:ahyp="http://schemas.microsoft.com/office/drawing/2018/hyperlinkcolor" val="tx"/>
                    </a:ext>
                  </a:extLst>
                </a:hlinkClick>
              </a:rPr>
              <a:t>Rules</a:t>
            </a:r>
            <a:endParaRPr lang="en-US" sz="950" dirty="0"/>
          </a:p>
        </p:txBody>
      </p:sp>
      <p:sp>
        <p:nvSpPr>
          <p:cNvPr id="14" name="Text 12">
            <a:hlinkClick r:id="rId9" tooltip="Go to Results" action="ppaction://hlinksldjump"/>
          </p:cNvPr>
          <p:cNvSpPr txBox="1"/>
          <p:nvPr/>
        </p:nvSpPr>
        <p:spPr>
          <a:xfrm>
            <a:off x="80924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9" action="ppaction://hlinksldjump" tooltip="Go to Results">
                  <a:extLst>
                    <a:ext uri="{A12FA001-AC4F-418D-AE19-62706E023703}">
                      <ahyp:hlinkClr xmlns:ahyp="http://schemas.microsoft.com/office/drawing/2018/hyperlinkcolor" val="tx"/>
                    </a:ext>
                  </a:extLst>
                </a:hlinkClick>
              </a:rPr>
              <a:t>Results</a:t>
            </a:r>
            <a:endParaRPr lang="en-US" sz="950" dirty="0"/>
          </a:p>
        </p:txBody>
      </p:sp>
      <p:sp>
        <p:nvSpPr>
          <p:cNvPr id="15" name="Text 13">
            <a:hlinkClick r:id="rId10" tooltip="Go to Next" action="ppaction://hlinksldjump"/>
          </p:cNvPr>
          <p:cNvSpPr txBox="1"/>
          <p:nvPr/>
        </p:nvSpPr>
        <p:spPr>
          <a:xfrm>
            <a:off x="8778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10" action="ppaction://hlinksldjump" tooltip="Go to Next">
                  <a:extLst>
                    <a:ext uri="{A12FA001-AC4F-418D-AE19-62706E023703}">
                      <ahyp:hlinkClr xmlns:ahyp="http://schemas.microsoft.com/office/drawing/2018/hyperlinkcolor" val="tx"/>
                    </a:ext>
                  </a:extLst>
                </a:hlinkClick>
              </a:rPr>
              <a:t>Next</a:t>
            </a:r>
            <a:endParaRPr lang="en-US" sz="950" dirty="0"/>
          </a:p>
        </p:txBody>
      </p:sp>
      <p:sp>
        <p:nvSpPr>
          <p:cNvPr id="16" name="Pipeline block"/>
          <p:cNvSpPr/>
          <p:nvPr/>
        </p:nvSpPr>
        <p:spPr>
          <a:xfrm>
            <a:off x="548640" y="1463040"/>
            <a:ext cx="2606040" cy="1417320"/>
          </a:xfrm>
          <a:prstGeom prst="roundRect">
            <a:avLst>
              <a:gd name="adj" fmla="val 6452"/>
            </a:avLst>
          </a:prstGeom>
          <a:solidFill>
            <a:srgbClr val="0A1F5C"/>
          </a:solidFill>
          <a:ln w="12700">
            <a:solidFill>
              <a:srgbClr val="0A1F5C"/>
            </a:solidFill>
            <a:prstDash val="solid"/>
          </a:ln>
        </p:spPr>
      </p:sp>
      <p:sp>
        <p:nvSpPr>
          <p:cNvPr id="17" name="Text 15"/>
          <p:cNvSpPr txBox="1"/>
          <p:nvPr/>
        </p:nvSpPr>
        <p:spPr>
          <a:xfrm>
            <a:off x="777240" y="1554480"/>
            <a:ext cx="548640" cy="548640"/>
          </a:xfrm>
          <a:prstGeom prst="rect">
            <a:avLst/>
          </a:prstGeom>
          <a:noFill/>
          <a:ln/>
        </p:spPr>
        <p:txBody>
          <a:bodyPr wrap="square" lIns="0" tIns="0" rIns="0" bIns="0" rtlCol="0" anchor="t"/>
          <a:lstStyle/>
          <a:p>
            <a:pPr indent="0" marL="0">
              <a:buNone/>
            </a:pPr>
            <a:r>
              <a:rPr lang="en-US" sz="3000" b="1" dirty="0">
                <a:solidFill>
                  <a:srgbClr val="FFFFFF"/>
                </a:solidFill>
              </a:rPr>
              <a:t>1</a:t>
            </a:r>
            <a:endParaRPr lang="en-US" sz="3000" dirty="0"/>
          </a:p>
        </p:txBody>
      </p:sp>
      <p:sp>
        <p:nvSpPr>
          <p:cNvPr id="18" name="Text 16"/>
          <p:cNvSpPr txBox="1"/>
          <p:nvPr/>
        </p:nvSpPr>
        <p:spPr>
          <a:xfrm>
            <a:off x="777240" y="2103120"/>
            <a:ext cx="2240280" cy="320040"/>
          </a:xfrm>
          <a:prstGeom prst="rect">
            <a:avLst/>
          </a:prstGeom>
          <a:noFill/>
          <a:ln/>
        </p:spPr>
        <p:txBody>
          <a:bodyPr wrap="square" lIns="0" tIns="0" rIns="0" bIns="0" rtlCol="0" anchor="t"/>
          <a:lstStyle/>
          <a:p>
            <a:pPr indent="0" marL="0">
              <a:buNone/>
            </a:pPr>
            <a:r>
              <a:rPr lang="en-US" sz="1600" b="1" dirty="0">
                <a:solidFill>
                  <a:srgbClr val="FFFFFF"/>
                </a:solidFill>
              </a:rPr>
              <a:t>Blob Storage</a:t>
            </a:r>
            <a:endParaRPr lang="en-US" sz="1600" dirty="0"/>
          </a:p>
        </p:txBody>
      </p:sp>
      <p:sp>
        <p:nvSpPr>
          <p:cNvPr id="19" name="Text 17"/>
          <p:cNvSpPr txBox="1"/>
          <p:nvPr/>
        </p:nvSpPr>
        <p:spPr>
          <a:xfrm>
            <a:off x="777240" y="2450592"/>
            <a:ext cx="2240280" cy="365760"/>
          </a:xfrm>
          <a:prstGeom prst="rect">
            <a:avLst/>
          </a:prstGeom>
          <a:noFill/>
          <a:ln/>
        </p:spPr>
        <p:txBody>
          <a:bodyPr wrap="square" lIns="0" tIns="0" rIns="0" bIns="0" rtlCol="0" anchor="t"/>
          <a:lstStyle/>
          <a:p>
            <a:pPr indent="0" marL="0">
              <a:buNone/>
            </a:pPr>
            <a:r>
              <a:rPr lang="en-US" sz="1100" dirty="0">
                <a:solidFill>
                  <a:srgbClr val="FFFFFF"/>
                </a:solidFill>
              </a:rPr>
              <a:t>Approved Markdown articles</a:t>
            </a:r>
            <a:endParaRPr lang="en-US" sz="1100" dirty="0"/>
          </a:p>
        </p:txBody>
      </p:sp>
      <p:sp>
        <p:nvSpPr>
          <p:cNvPr id="20" name="Arrow"/>
          <p:cNvSpPr/>
          <p:nvPr/>
        </p:nvSpPr>
        <p:spPr>
          <a:xfrm>
            <a:off x="3182112" y="1965960"/>
            <a:ext cx="182880" cy="320040"/>
          </a:xfrm>
          <a:prstGeom prst="chevron">
            <a:avLst/>
          </a:prstGeom>
          <a:solidFill>
            <a:srgbClr val="1547C8"/>
          </a:solidFill>
          <a:ln w="12700">
            <a:solidFill>
              <a:srgbClr val="1547C8"/>
            </a:solidFill>
            <a:prstDash val="solid"/>
          </a:ln>
        </p:spPr>
      </p:sp>
      <p:sp>
        <p:nvSpPr>
          <p:cNvPr id="21" name="Pipeline block"/>
          <p:cNvSpPr/>
          <p:nvPr/>
        </p:nvSpPr>
        <p:spPr>
          <a:xfrm>
            <a:off x="3383280" y="1463040"/>
            <a:ext cx="2606040" cy="1417320"/>
          </a:xfrm>
          <a:prstGeom prst="roundRect">
            <a:avLst>
              <a:gd name="adj" fmla="val 6452"/>
            </a:avLst>
          </a:prstGeom>
          <a:solidFill>
            <a:srgbClr val="1547C8"/>
          </a:solidFill>
          <a:ln w="12700">
            <a:solidFill>
              <a:srgbClr val="1547C8"/>
            </a:solidFill>
            <a:prstDash val="solid"/>
          </a:ln>
        </p:spPr>
      </p:sp>
      <p:sp>
        <p:nvSpPr>
          <p:cNvPr id="22" name="Text 20"/>
          <p:cNvSpPr txBox="1"/>
          <p:nvPr/>
        </p:nvSpPr>
        <p:spPr>
          <a:xfrm>
            <a:off x="3611880" y="1554480"/>
            <a:ext cx="548640" cy="548640"/>
          </a:xfrm>
          <a:prstGeom prst="rect">
            <a:avLst/>
          </a:prstGeom>
          <a:noFill/>
          <a:ln/>
        </p:spPr>
        <p:txBody>
          <a:bodyPr wrap="square" lIns="0" tIns="0" rIns="0" bIns="0" rtlCol="0" anchor="t"/>
          <a:lstStyle/>
          <a:p>
            <a:pPr indent="0" marL="0">
              <a:buNone/>
            </a:pPr>
            <a:r>
              <a:rPr lang="en-US" sz="3000" b="1" dirty="0">
                <a:solidFill>
                  <a:srgbClr val="FFFFFF"/>
                </a:solidFill>
              </a:rPr>
              <a:t>2</a:t>
            </a:r>
            <a:endParaRPr lang="en-US" sz="3000" dirty="0"/>
          </a:p>
        </p:txBody>
      </p:sp>
      <p:sp>
        <p:nvSpPr>
          <p:cNvPr id="23" name="Text 21"/>
          <p:cNvSpPr txBox="1"/>
          <p:nvPr/>
        </p:nvSpPr>
        <p:spPr>
          <a:xfrm>
            <a:off x="3611880" y="2103120"/>
            <a:ext cx="2240280" cy="320040"/>
          </a:xfrm>
          <a:prstGeom prst="rect">
            <a:avLst/>
          </a:prstGeom>
          <a:noFill/>
          <a:ln/>
        </p:spPr>
        <p:txBody>
          <a:bodyPr wrap="square" lIns="0" tIns="0" rIns="0" bIns="0" rtlCol="0" anchor="t"/>
          <a:lstStyle/>
          <a:p>
            <a:pPr indent="0" marL="0">
              <a:buNone/>
            </a:pPr>
            <a:r>
              <a:rPr lang="en-US" sz="1600" b="1" dirty="0">
                <a:solidFill>
                  <a:srgbClr val="FFFFFF"/>
                </a:solidFill>
              </a:rPr>
              <a:t>Azure AI Search</a:t>
            </a:r>
            <a:endParaRPr lang="en-US" sz="1600" dirty="0"/>
          </a:p>
        </p:txBody>
      </p:sp>
      <p:sp>
        <p:nvSpPr>
          <p:cNvPr id="24" name="Text 22"/>
          <p:cNvSpPr txBox="1"/>
          <p:nvPr/>
        </p:nvSpPr>
        <p:spPr>
          <a:xfrm>
            <a:off x="3611880" y="2450592"/>
            <a:ext cx="2240280" cy="365760"/>
          </a:xfrm>
          <a:prstGeom prst="rect">
            <a:avLst/>
          </a:prstGeom>
          <a:noFill/>
          <a:ln/>
        </p:spPr>
        <p:txBody>
          <a:bodyPr wrap="square" lIns="0" tIns="0" rIns="0" bIns="0" rtlCol="0" anchor="t"/>
          <a:lstStyle/>
          <a:p>
            <a:pPr indent="0" marL="0">
              <a:buNone/>
            </a:pPr>
            <a:r>
              <a:rPr lang="en-US" sz="1100" dirty="0">
                <a:solidFill>
                  <a:srgbClr val="FFFFFF"/>
                </a:solidFill>
              </a:rPr>
              <a:t>Education, FAQ, Care-plan indexes</a:t>
            </a:r>
            <a:endParaRPr lang="en-US" sz="1100" dirty="0"/>
          </a:p>
        </p:txBody>
      </p:sp>
      <p:sp>
        <p:nvSpPr>
          <p:cNvPr id="25" name="Arrow"/>
          <p:cNvSpPr/>
          <p:nvPr/>
        </p:nvSpPr>
        <p:spPr>
          <a:xfrm>
            <a:off x="6016752" y="1965960"/>
            <a:ext cx="182880" cy="320040"/>
          </a:xfrm>
          <a:prstGeom prst="chevron">
            <a:avLst/>
          </a:prstGeom>
          <a:solidFill>
            <a:srgbClr val="1547C8"/>
          </a:solidFill>
          <a:ln w="12700">
            <a:solidFill>
              <a:srgbClr val="1547C8"/>
            </a:solidFill>
            <a:prstDash val="solid"/>
          </a:ln>
        </p:spPr>
      </p:sp>
      <p:sp>
        <p:nvSpPr>
          <p:cNvPr id="26" name="Pipeline block"/>
          <p:cNvSpPr/>
          <p:nvPr/>
        </p:nvSpPr>
        <p:spPr>
          <a:xfrm>
            <a:off x="6217920" y="1463040"/>
            <a:ext cx="2606040" cy="1417320"/>
          </a:xfrm>
          <a:prstGeom prst="roundRect">
            <a:avLst>
              <a:gd name="adj" fmla="val 6452"/>
            </a:avLst>
          </a:prstGeom>
          <a:solidFill>
            <a:srgbClr val="3CC3F0"/>
          </a:solidFill>
          <a:ln w="12700">
            <a:solidFill>
              <a:srgbClr val="3CC3F0"/>
            </a:solidFill>
            <a:prstDash val="solid"/>
          </a:ln>
        </p:spPr>
      </p:sp>
      <p:sp>
        <p:nvSpPr>
          <p:cNvPr id="27" name="Text 25"/>
          <p:cNvSpPr txBox="1"/>
          <p:nvPr/>
        </p:nvSpPr>
        <p:spPr>
          <a:xfrm>
            <a:off x="6446520" y="1554480"/>
            <a:ext cx="548640" cy="548640"/>
          </a:xfrm>
          <a:prstGeom prst="rect">
            <a:avLst/>
          </a:prstGeom>
          <a:noFill/>
          <a:ln/>
        </p:spPr>
        <p:txBody>
          <a:bodyPr wrap="square" lIns="0" tIns="0" rIns="0" bIns="0" rtlCol="0" anchor="t"/>
          <a:lstStyle/>
          <a:p>
            <a:pPr indent="0" marL="0">
              <a:buNone/>
            </a:pPr>
            <a:r>
              <a:rPr lang="en-US" sz="3000" b="1" dirty="0">
                <a:solidFill>
                  <a:srgbClr val="0A1F5C"/>
                </a:solidFill>
              </a:rPr>
              <a:t>3</a:t>
            </a:r>
            <a:endParaRPr lang="en-US" sz="3000" dirty="0"/>
          </a:p>
        </p:txBody>
      </p:sp>
      <p:sp>
        <p:nvSpPr>
          <p:cNvPr id="28" name="Text 26"/>
          <p:cNvSpPr txBox="1"/>
          <p:nvPr/>
        </p:nvSpPr>
        <p:spPr>
          <a:xfrm>
            <a:off x="6446520" y="2103120"/>
            <a:ext cx="2240280" cy="320040"/>
          </a:xfrm>
          <a:prstGeom prst="rect">
            <a:avLst/>
          </a:prstGeom>
          <a:noFill/>
          <a:ln/>
        </p:spPr>
        <p:txBody>
          <a:bodyPr wrap="square" lIns="0" tIns="0" rIns="0" bIns="0" rtlCol="0" anchor="t"/>
          <a:lstStyle/>
          <a:p>
            <a:pPr indent="0" marL="0">
              <a:buNone/>
            </a:pPr>
            <a:r>
              <a:rPr lang="en-US" sz="1600" b="1" dirty="0">
                <a:solidFill>
                  <a:srgbClr val="0A1F5C"/>
                </a:solidFill>
              </a:rPr>
              <a:t>Education RAG agent</a:t>
            </a:r>
            <a:endParaRPr lang="en-US" sz="1600" dirty="0"/>
          </a:p>
        </p:txBody>
      </p:sp>
      <p:sp>
        <p:nvSpPr>
          <p:cNvPr id="29" name="Text 27"/>
          <p:cNvSpPr txBox="1"/>
          <p:nvPr/>
        </p:nvSpPr>
        <p:spPr>
          <a:xfrm>
            <a:off x="6446520" y="2450592"/>
            <a:ext cx="2240280" cy="365760"/>
          </a:xfrm>
          <a:prstGeom prst="rect">
            <a:avLst/>
          </a:prstGeom>
          <a:noFill/>
          <a:ln/>
        </p:spPr>
        <p:txBody>
          <a:bodyPr wrap="square" lIns="0" tIns="0" rIns="0" bIns="0" rtlCol="0" anchor="t"/>
          <a:lstStyle/>
          <a:p>
            <a:pPr indent="0" marL="0">
              <a:buNone/>
            </a:pPr>
            <a:r>
              <a:rPr lang="en-US" sz="1100" dirty="0">
                <a:solidFill>
                  <a:srgbClr val="0A1F5C"/>
                </a:solidFill>
              </a:rPr>
              <a:t>Answers only from retrieved text</a:t>
            </a:r>
            <a:endParaRPr lang="en-US" sz="1100" dirty="0"/>
          </a:p>
        </p:txBody>
      </p:sp>
      <p:sp>
        <p:nvSpPr>
          <p:cNvPr id="30" name="Arrow"/>
          <p:cNvSpPr/>
          <p:nvPr/>
        </p:nvSpPr>
        <p:spPr>
          <a:xfrm>
            <a:off x="8851392" y="1965960"/>
            <a:ext cx="182880" cy="320040"/>
          </a:xfrm>
          <a:prstGeom prst="chevron">
            <a:avLst/>
          </a:prstGeom>
          <a:solidFill>
            <a:srgbClr val="1547C8"/>
          </a:solidFill>
          <a:ln w="12700">
            <a:solidFill>
              <a:srgbClr val="1547C8"/>
            </a:solidFill>
            <a:prstDash val="solid"/>
          </a:ln>
        </p:spPr>
      </p:sp>
      <p:sp>
        <p:nvSpPr>
          <p:cNvPr id="31" name="Pipeline block"/>
          <p:cNvSpPr/>
          <p:nvPr/>
        </p:nvSpPr>
        <p:spPr>
          <a:xfrm>
            <a:off x="9052560" y="1463040"/>
            <a:ext cx="2606040" cy="1417320"/>
          </a:xfrm>
          <a:prstGeom prst="roundRect">
            <a:avLst>
              <a:gd name="adj" fmla="val 6452"/>
            </a:avLst>
          </a:prstGeom>
          <a:solidFill>
            <a:srgbClr val="8338EC"/>
          </a:solidFill>
          <a:ln w="12700">
            <a:solidFill>
              <a:srgbClr val="8338EC"/>
            </a:solidFill>
            <a:prstDash val="solid"/>
          </a:ln>
        </p:spPr>
      </p:sp>
      <p:sp>
        <p:nvSpPr>
          <p:cNvPr id="32" name="Text 30"/>
          <p:cNvSpPr txBox="1"/>
          <p:nvPr/>
        </p:nvSpPr>
        <p:spPr>
          <a:xfrm>
            <a:off x="9281160" y="1554480"/>
            <a:ext cx="548640" cy="548640"/>
          </a:xfrm>
          <a:prstGeom prst="rect">
            <a:avLst/>
          </a:prstGeom>
          <a:noFill/>
          <a:ln/>
        </p:spPr>
        <p:txBody>
          <a:bodyPr wrap="square" lIns="0" tIns="0" rIns="0" bIns="0" rtlCol="0" anchor="t"/>
          <a:lstStyle/>
          <a:p>
            <a:pPr indent="0" marL="0">
              <a:buNone/>
            </a:pPr>
            <a:r>
              <a:rPr lang="en-US" sz="3000" b="1" dirty="0">
                <a:solidFill>
                  <a:srgbClr val="FFFFFF"/>
                </a:solidFill>
              </a:rPr>
              <a:t>4</a:t>
            </a:r>
            <a:endParaRPr lang="en-US" sz="3000" dirty="0"/>
          </a:p>
        </p:txBody>
      </p:sp>
      <p:sp>
        <p:nvSpPr>
          <p:cNvPr id="33" name="Text 31"/>
          <p:cNvSpPr txBox="1"/>
          <p:nvPr/>
        </p:nvSpPr>
        <p:spPr>
          <a:xfrm>
            <a:off x="9281160" y="2103120"/>
            <a:ext cx="2240280" cy="320040"/>
          </a:xfrm>
          <a:prstGeom prst="rect">
            <a:avLst/>
          </a:prstGeom>
          <a:noFill/>
          <a:ln/>
        </p:spPr>
        <p:txBody>
          <a:bodyPr wrap="square" lIns="0" tIns="0" rIns="0" bIns="0" rtlCol="0" anchor="t"/>
          <a:lstStyle/>
          <a:p>
            <a:pPr indent="0" marL="0">
              <a:buNone/>
            </a:pPr>
            <a:r>
              <a:rPr lang="en-US" sz="1600" b="1" dirty="0">
                <a:solidFill>
                  <a:srgbClr val="FFFFFF"/>
                </a:solidFill>
              </a:rPr>
              <a:t>Citation validator</a:t>
            </a:r>
            <a:endParaRPr lang="en-US" sz="1600" dirty="0"/>
          </a:p>
        </p:txBody>
      </p:sp>
      <p:sp>
        <p:nvSpPr>
          <p:cNvPr id="34" name="Text 32"/>
          <p:cNvSpPr txBox="1"/>
          <p:nvPr/>
        </p:nvSpPr>
        <p:spPr>
          <a:xfrm>
            <a:off x="9281160" y="2450592"/>
            <a:ext cx="2240280" cy="365760"/>
          </a:xfrm>
          <a:prstGeom prst="rect">
            <a:avLst/>
          </a:prstGeom>
          <a:noFill/>
          <a:ln/>
        </p:spPr>
        <p:txBody>
          <a:bodyPr wrap="square" lIns="0" tIns="0" rIns="0" bIns="0" rtlCol="0" anchor="t"/>
          <a:lstStyle/>
          <a:p>
            <a:pPr indent="0" marL="0">
              <a:buNone/>
            </a:pPr>
            <a:r>
              <a:rPr lang="en-US" sz="1100" dirty="0">
                <a:solidFill>
                  <a:srgbClr val="FFFFFF"/>
                </a:solidFill>
              </a:rPr>
              <a:t>Code checks before anyone sees it</a:t>
            </a:r>
            <a:endParaRPr lang="en-US" sz="1100" dirty="0"/>
          </a:p>
        </p:txBody>
      </p:sp>
      <p:sp>
        <p:nvSpPr>
          <p:cNvPr id="35" name="Validator checks"/>
          <p:cNvSpPr/>
          <p:nvPr/>
        </p:nvSpPr>
        <p:spPr>
          <a:xfrm>
            <a:off x="548640" y="3154680"/>
            <a:ext cx="5120640" cy="2971800"/>
          </a:xfrm>
          <a:prstGeom prst="roundRect">
            <a:avLst>
              <a:gd name="adj" fmla="val 3077"/>
            </a:avLst>
          </a:prstGeom>
          <a:solidFill>
            <a:srgbClr val="F4F6FB"/>
          </a:solidFill>
          <a:ln w="12700">
            <a:solidFill>
              <a:srgbClr val="F4F6FB"/>
            </a:solidFill>
            <a:prstDash val="solid"/>
          </a:ln>
        </p:spPr>
      </p:sp>
      <p:sp>
        <p:nvSpPr>
          <p:cNvPr id="36" name="Text 34"/>
          <p:cNvSpPr txBox="1"/>
          <p:nvPr/>
        </p:nvSpPr>
        <p:spPr>
          <a:xfrm>
            <a:off x="822960" y="3337560"/>
            <a:ext cx="4114800" cy="228600"/>
          </a:xfrm>
          <a:prstGeom prst="rect">
            <a:avLst/>
          </a:prstGeom>
          <a:noFill/>
          <a:ln/>
        </p:spPr>
        <p:txBody>
          <a:bodyPr wrap="square" lIns="0" tIns="0" rIns="0" bIns="0" rtlCol="0" anchor="t"/>
          <a:lstStyle/>
          <a:p>
            <a:pPr indent="0" marL="0">
              <a:buNone/>
            </a:pPr>
            <a:r>
              <a:rPr lang="en-US" sz="1100" b="1" spc="300" kern="0" dirty="0">
                <a:solidFill>
                  <a:srgbClr val="1547C8"/>
                </a:solidFill>
              </a:rPr>
              <a:t>THE VALIDATOR CHECKS</a:t>
            </a:r>
            <a:endParaRPr lang="en-US" sz="1100" dirty="0"/>
          </a:p>
        </p:txBody>
      </p:sp>
      <p:sp>
        <p:nvSpPr>
          <p:cNvPr id="37" name="Text 35"/>
          <p:cNvSpPr txBox="1"/>
          <p:nvPr/>
        </p:nvSpPr>
        <p:spPr>
          <a:xfrm>
            <a:off x="822960" y="3749040"/>
            <a:ext cx="731520" cy="457200"/>
          </a:xfrm>
          <a:prstGeom prst="rect">
            <a:avLst/>
          </a:prstGeom>
          <a:noFill/>
          <a:ln/>
        </p:spPr>
        <p:txBody>
          <a:bodyPr wrap="square" lIns="0" tIns="0" rIns="0" bIns="0" rtlCol="0" anchor="ctr"/>
          <a:lstStyle/>
          <a:p>
            <a:pPr indent="0" marL="0">
              <a:buNone/>
            </a:pPr>
            <a:r>
              <a:rPr lang="en-US" sz="2600" b="1" dirty="0">
                <a:solidFill>
                  <a:srgbClr val="1547C8"/>
                </a:solidFill>
              </a:rPr>
              <a:t>01</a:t>
            </a:r>
            <a:endParaRPr lang="en-US" sz="2600" dirty="0"/>
          </a:p>
        </p:txBody>
      </p:sp>
      <p:sp>
        <p:nvSpPr>
          <p:cNvPr id="38" name="Text 36"/>
          <p:cNvSpPr txBox="1"/>
          <p:nvPr/>
        </p:nvSpPr>
        <p:spPr>
          <a:xfrm>
            <a:off x="1600200" y="3749040"/>
            <a:ext cx="3840480" cy="457200"/>
          </a:xfrm>
          <a:prstGeom prst="rect">
            <a:avLst/>
          </a:prstGeom>
          <a:noFill/>
          <a:ln/>
        </p:spPr>
        <p:txBody>
          <a:bodyPr wrap="square" lIns="0" tIns="0" rIns="0" bIns="0" rtlCol="0" anchor="ctr"/>
          <a:lstStyle/>
          <a:p>
            <a:pPr indent="0" marL="0">
              <a:buNone/>
            </a:pPr>
            <a:r>
              <a:rPr lang="en-US" sz="1500" b="1" dirty="0">
                <a:solidFill>
                  <a:srgbClr val="0A1F5C"/>
                </a:solidFill>
              </a:rPr>
              <a:t>The article ID exists</a:t>
            </a:r>
            <a:endParaRPr lang="en-US" sz="1500" dirty="0"/>
          </a:p>
        </p:txBody>
      </p:sp>
      <p:sp>
        <p:nvSpPr>
          <p:cNvPr id="39" name="Text 37"/>
          <p:cNvSpPr txBox="1"/>
          <p:nvPr/>
        </p:nvSpPr>
        <p:spPr>
          <a:xfrm>
            <a:off x="822960" y="4334256"/>
            <a:ext cx="731520" cy="457200"/>
          </a:xfrm>
          <a:prstGeom prst="rect">
            <a:avLst/>
          </a:prstGeom>
          <a:noFill/>
          <a:ln/>
        </p:spPr>
        <p:txBody>
          <a:bodyPr wrap="square" lIns="0" tIns="0" rIns="0" bIns="0" rtlCol="0" anchor="ctr"/>
          <a:lstStyle/>
          <a:p>
            <a:pPr indent="0" marL="0">
              <a:buNone/>
            </a:pPr>
            <a:r>
              <a:rPr lang="en-US" sz="2600" b="1" dirty="0">
                <a:solidFill>
                  <a:srgbClr val="1547C8"/>
                </a:solidFill>
              </a:rPr>
              <a:t>02</a:t>
            </a:r>
            <a:endParaRPr lang="en-US" sz="2600" dirty="0"/>
          </a:p>
        </p:txBody>
      </p:sp>
      <p:sp>
        <p:nvSpPr>
          <p:cNvPr id="40" name="Text 38"/>
          <p:cNvSpPr txBox="1"/>
          <p:nvPr/>
        </p:nvSpPr>
        <p:spPr>
          <a:xfrm>
            <a:off x="1600200" y="4334256"/>
            <a:ext cx="3840480" cy="457200"/>
          </a:xfrm>
          <a:prstGeom prst="rect">
            <a:avLst/>
          </a:prstGeom>
          <a:noFill/>
          <a:ln/>
        </p:spPr>
        <p:txBody>
          <a:bodyPr wrap="square" lIns="0" tIns="0" rIns="0" bIns="0" rtlCol="0" anchor="ctr"/>
          <a:lstStyle/>
          <a:p>
            <a:pPr indent="0" marL="0">
              <a:buNone/>
            </a:pPr>
            <a:r>
              <a:rPr lang="en-US" sz="1500" b="1" dirty="0">
                <a:solidFill>
                  <a:srgbClr val="0A1F5C"/>
                </a:solidFill>
              </a:rPr>
              <a:t>Its status is Approved</a:t>
            </a:r>
            <a:endParaRPr lang="en-US" sz="1500" dirty="0"/>
          </a:p>
        </p:txBody>
      </p:sp>
      <p:sp>
        <p:nvSpPr>
          <p:cNvPr id="41" name="Text 39"/>
          <p:cNvSpPr txBox="1"/>
          <p:nvPr/>
        </p:nvSpPr>
        <p:spPr>
          <a:xfrm>
            <a:off x="822960" y="4919472"/>
            <a:ext cx="731520" cy="457200"/>
          </a:xfrm>
          <a:prstGeom prst="rect">
            <a:avLst/>
          </a:prstGeom>
          <a:noFill/>
          <a:ln/>
        </p:spPr>
        <p:txBody>
          <a:bodyPr wrap="square" lIns="0" tIns="0" rIns="0" bIns="0" rtlCol="0" anchor="ctr"/>
          <a:lstStyle/>
          <a:p>
            <a:pPr indent="0" marL="0">
              <a:buNone/>
            </a:pPr>
            <a:r>
              <a:rPr lang="en-US" sz="2600" b="1" dirty="0">
                <a:solidFill>
                  <a:srgbClr val="1547C8"/>
                </a:solidFill>
              </a:rPr>
              <a:t>03</a:t>
            </a:r>
            <a:endParaRPr lang="en-US" sz="2600" dirty="0"/>
          </a:p>
        </p:txBody>
      </p:sp>
      <p:sp>
        <p:nvSpPr>
          <p:cNvPr id="42" name="Text 40"/>
          <p:cNvSpPr txBox="1"/>
          <p:nvPr/>
        </p:nvSpPr>
        <p:spPr>
          <a:xfrm>
            <a:off x="1600200" y="4919472"/>
            <a:ext cx="3840480" cy="457200"/>
          </a:xfrm>
          <a:prstGeom prst="rect">
            <a:avLst/>
          </a:prstGeom>
          <a:noFill/>
          <a:ln/>
        </p:spPr>
        <p:txBody>
          <a:bodyPr wrap="square" lIns="0" tIns="0" rIns="0" bIns="0" rtlCol="0" anchor="ctr"/>
          <a:lstStyle/>
          <a:p>
            <a:pPr indent="0" marL="0">
              <a:buNone/>
            </a:pPr>
            <a:r>
              <a:rPr lang="en-US" sz="1500" b="1" dirty="0">
                <a:solidFill>
                  <a:srgbClr val="0A1F5C"/>
                </a:solidFill>
              </a:rPr>
              <a:t>It fits the member's program</a:t>
            </a:r>
            <a:endParaRPr lang="en-US" sz="1500" dirty="0"/>
          </a:p>
        </p:txBody>
      </p:sp>
      <p:sp>
        <p:nvSpPr>
          <p:cNvPr id="43" name="Text 41"/>
          <p:cNvSpPr txBox="1"/>
          <p:nvPr/>
        </p:nvSpPr>
        <p:spPr>
          <a:xfrm>
            <a:off x="822960" y="5504688"/>
            <a:ext cx="731520" cy="457200"/>
          </a:xfrm>
          <a:prstGeom prst="rect">
            <a:avLst/>
          </a:prstGeom>
          <a:noFill/>
          <a:ln/>
        </p:spPr>
        <p:txBody>
          <a:bodyPr wrap="square" lIns="0" tIns="0" rIns="0" bIns="0" rtlCol="0" anchor="ctr"/>
          <a:lstStyle/>
          <a:p>
            <a:pPr indent="0" marL="0">
              <a:buNone/>
            </a:pPr>
            <a:r>
              <a:rPr lang="en-US" sz="2600" b="1" dirty="0">
                <a:solidFill>
                  <a:srgbClr val="1547C8"/>
                </a:solidFill>
              </a:rPr>
              <a:t>04</a:t>
            </a:r>
            <a:endParaRPr lang="en-US" sz="2600" dirty="0"/>
          </a:p>
        </p:txBody>
      </p:sp>
      <p:sp>
        <p:nvSpPr>
          <p:cNvPr id="44" name="Text 42"/>
          <p:cNvSpPr txBox="1"/>
          <p:nvPr/>
        </p:nvSpPr>
        <p:spPr>
          <a:xfrm>
            <a:off x="1600200" y="5504688"/>
            <a:ext cx="3840480" cy="457200"/>
          </a:xfrm>
          <a:prstGeom prst="rect">
            <a:avLst/>
          </a:prstGeom>
          <a:noFill/>
          <a:ln/>
        </p:spPr>
        <p:txBody>
          <a:bodyPr wrap="square" lIns="0" tIns="0" rIns="0" bIns="0" rtlCol="0" anchor="ctr"/>
          <a:lstStyle/>
          <a:p>
            <a:pPr indent="0" marL="0">
              <a:buNone/>
            </a:pPr>
            <a:r>
              <a:rPr lang="en-US" sz="1500" b="1" dirty="0">
                <a:solidFill>
                  <a:srgbClr val="0A1F5C"/>
                </a:solidFill>
              </a:rPr>
              <a:t>It matches the current version</a:t>
            </a:r>
            <a:endParaRPr lang="en-US" sz="1500" dirty="0"/>
          </a:p>
        </p:txBody>
      </p:sp>
      <p:sp>
        <p:nvSpPr>
          <p:cNvPr id="45" name="Valid outcome"/>
          <p:cNvSpPr/>
          <p:nvPr/>
        </p:nvSpPr>
        <p:spPr>
          <a:xfrm>
            <a:off x="5943600" y="3154680"/>
            <a:ext cx="5696712" cy="1417320"/>
          </a:xfrm>
          <a:prstGeom prst="roundRect">
            <a:avLst>
              <a:gd name="adj" fmla="val 6452"/>
            </a:avLst>
          </a:prstGeom>
          <a:solidFill>
            <a:srgbClr val="12A36B"/>
          </a:solidFill>
          <a:ln w="12700">
            <a:solidFill>
              <a:srgbClr val="12A36B"/>
            </a:solidFill>
            <a:prstDash val="solid"/>
          </a:ln>
        </p:spPr>
      </p:sp>
      <p:sp>
        <p:nvSpPr>
          <p:cNvPr id="46" name="Text 44"/>
          <p:cNvSpPr txBox="1"/>
          <p:nvPr/>
        </p:nvSpPr>
        <p:spPr>
          <a:xfrm>
            <a:off x="6263640" y="3337560"/>
            <a:ext cx="5120640" cy="548640"/>
          </a:xfrm>
          <a:prstGeom prst="rect">
            <a:avLst/>
          </a:prstGeom>
          <a:noFill/>
          <a:ln/>
        </p:spPr>
        <p:txBody>
          <a:bodyPr wrap="square" lIns="0" tIns="0" rIns="0" bIns="0" rtlCol="0" anchor="t"/>
          <a:lstStyle/>
          <a:p>
            <a:pPr indent="0" marL="0">
              <a:buNone/>
            </a:pPr>
            <a:r>
              <a:rPr lang="en-US" sz="2800" b="1" dirty="0">
                <a:solidFill>
                  <a:srgbClr val="FFFFFF"/>
                </a:solidFill>
              </a:rPr>
              <a:t>ANSWER + CITATION</a:t>
            </a:r>
            <a:endParaRPr lang="en-US" sz="2800" dirty="0"/>
          </a:p>
        </p:txBody>
      </p:sp>
      <p:sp>
        <p:nvSpPr>
          <p:cNvPr id="47" name="Text 45"/>
          <p:cNvSpPr txBox="1"/>
          <p:nvPr/>
        </p:nvSpPr>
        <p:spPr>
          <a:xfrm>
            <a:off x="6263640" y="4023360"/>
            <a:ext cx="5120640" cy="365760"/>
          </a:xfrm>
          <a:prstGeom prst="rect">
            <a:avLst/>
          </a:prstGeom>
          <a:noFill/>
          <a:ln/>
        </p:spPr>
        <p:txBody>
          <a:bodyPr wrap="square" lIns="0" tIns="0" rIns="0" bIns="0" rtlCol="0" anchor="t"/>
          <a:lstStyle/>
          <a:p>
            <a:pPr indent="0" marL="0">
              <a:buNone/>
            </a:pPr>
            <a:r>
              <a:rPr lang="en-US" sz="1400" dirty="0">
                <a:solidFill>
                  <a:srgbClr val="FFFFFF"/>
                </a:solidFill>
              </a:rPr>
              <a:t>Shown with its source, e.g. EDU-401 (v4)</a:t>
            </a:r>
            <a:endParaRPr lang="en-US" sz="1400" dirty="0"/>
          </a:p>
        </p:txBody>
      </p:sp>
      <p:sp>
        <p:nvSpPr>
          <p:cNvPr id="48" name="Gap outcome"/>
          <p:cNvSpPr/>
          <p:nvPr/>
        </p:nvSpPr>
        <p:spPr>
          <a:xfrm>
            <a:off x="5943600" y="4709160"/>
            <a:ext cx="5696712" cy="1417320"/>
          </a:xfrm>
          <a:prstGeom prst="roundRect">
            <a:avLst>
              <a:gd name="adj" fmla="val 6452"/>
            </a:avLst>
          </a:prstGeom>
          <a:solidFill>
            <a:srgbClr val="F5A524"/>
          </a:solidFill>
          <a:ln w="12700">
            <a:solidFill>
              <a:srgbClr val="F5A524"/>
            </a:solidFill>
            <a:prstDash val="solid"/>
          </a:ln>
        </p:spPr>
      </p:sp>
      <p:sp>
        <p:nvSpPr>
          <p:cNvPr id="49" name="Text 47"/>
          <p:cNvSpPr txBox="1"/>
          <p:nvPr/>
        </p:nvSpPr>
        <p:spPr>
          <a:xfrm>
            <a:off x="6263640" y="4892040"/>
            <a:ext cx="5120640" cy="548640"/>
          </a:xfrm>
          <a:prstGeom prst="rect">
            <a:avLst/>
          </a:prstGeom>
          <a:noFill/>
          <a:ln/>
        </p:spPr>
        <p:txBody>
          <a:bodyPr wrap="square" lIns="0" tIns="0" rIns="0" bIns="0" rtlCol="0" anchor="t"/>
          <a:lstStyle/>
          <a:p>
            <a:pPr indent="0" marL="0">
              <a:buNone/>
            </a:pPr>
            <a:r>
              <a:rPr lang="en-US" sz="2800" b="1" dirty="0">
                <a:solidFill>
                  <a:srgbClr val="0A1F5C"/>
                </a:solidFill>
              </a:rPr>
              <a:t>AN HONEST GAP</a:t>
            </a:r>
            <a:endParaRPr lang="en-US" sz="2800" dirty="0"/>
          </a:p>
        </p:txBody>
      </p:sp>
      <p:sp>
        <p:nvSpPr>
          <p:cNvPr id="50" name="Text 48"/>
          <p:cNvSpPr txBox="1"/>
          <p:nvPr/>
        </p:nvSpPr>
        <p:spPr>
          <a:xfrm>
            <a:off x="6263640" y="5577840"/>
            <a:ext cx="5120640" cy="365760"/>
          </a:xfrm>
          <a:prstGeom prst="rect">
            <a:avLst/>
          </a:prstGeom>
          <a:noFill/>
          <a:ln/>
        </p:spPr>
        <p:txBody>
          <a:bodyPr wrap="square" lIns="0" tIns="0" rIns="0" bIns="0" rtlCol="0" anchor="t"/>
          <a:lstStyle/>
          <a:p>
            <a:pPr indent="0" marL="0">
              <a:buNone/>
            </a:pPr>
            <a:r>
              <a:rPr lang="en-US" sz="1400" dirty="0">
                <a:solidFill>
                  <a:srgbClr val="0A1F5C"/>
                </a:solidFill>
              </a:rPr>
              <a:t>Say so, never guess; the question goes to staff</a:t>
            </a:r>
            <a:endParaRPr lang="en-US" sz="140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56032"/>
          </a:xfrm>
          <a:prstGeom prst="rect">
            <a:avLst/>
          </a:prstGeom>
          <a:noFill/>
          <a:ln/>
        </p:spPr>
        <p:txBody>
          <a:bodyPr wrap="square" lIns="0" tIns="0" rIns="0" bIns="0" rtlCol="0" anchor="t"/>
          <a:lstStyle/>
          <a:p>
            <a:pPr algn="l" indent="0" marL="0">
              <a:buNone/>
            </a:pPr>
            <a:r>
              <a:rPr lang="en-US" sz="1100" b="1" spc="300" kern="0" dirty="0">
                <a:solidFill>
                  <a:srgbClr val="9FD8F5"/>
                </a:solidFill>
              </a:rPr>
              <a:t>04  ·  LIVE DEMO</a:t>
            </a:r>
            <a:endParaRPr lang="en-US" sz="1100" dirty="0"/>
          </a:p>
        </p:txBody>
      </p:sp>
      <p:sp>
        <p:nvSpPr>
          <p:cNvPr id="3" name="Text 1"/>
          <p:cNvSpPr/>
          <p:nvPr>
            <p:ph idx="103" type="title" hasCustomPrompt="1"/>
          </p:nvPr>
        </p:nvSpPr>
        <p:spPr>
          <a:xfrm>
            <a:off x="548640" y="603504"/>
            <a:ext cx="11064240" cy="603504"/>
          </a:xfrm>
          <a:prstGeom prst="rect">
            <a:avLst/>
          </a:prstGeom>
          <a:noFill/>
          <a:ln/>
        </p:spPr>
        <p:txBody>
          <a:bodyPr wrap="square" lIns="0" tIns="0" rIns="0" bIns="0" rtlCol="0" anchor="t"/>
          <a:lstStyle/>
          <a:p>
            <a:pPr algn="l" indent="0" marL="0">
              <a:buNone/>
            </a:pPr>
            <a:r>
              <a:rPr lang="en-US" sz="3400" b="1" dirty="0">
                <a:solidFill>
                  <a:srgbClr val="FFFFFF"/>
                </a:solidFill>
              </a:rPr>
              <a:t>Live demo: a normal, an exception and a safety path</a:t>
            </a:r>
            <a:endParaRPr lang="en-US" sz="3400" dirty="0"/>
          </a:p>
        </p:txBody>
      </p:sp>
      <p:sp>
        <p:nvSpPr>
          <p:cNvPr id="4" name="Text 2">
            <a:hlinkClick r:id="rId1" tooltip="Go to Agenda" action="ppaction://hlinksldjump"/>
          </p:cNvPr>
          <p:cNvSpPr txBox="1"/>
          <p:nvPr/>
        </p:nvSpPr>
        <p:spPr>
          <a:xfrm>
            <a:off x="1920240" y="6382512"/>
            <a:ext cx="68580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1" action="ppaction://hlinksldjump" tooltip="Go to Agenda">
                  <a:extLst>
                    <a:ext uri="{A12FA001-AC4F-418D-AE19-62706E023703}">
                      <ahyp:hlinkClr xmlns:ahyp="http://schemas.microsoft.com/office/drawing/2018/hyperlinkcolor" val="tx"/>
                    </a:ext>
                  </a:extLst>
                </a:hlinkClick>
              </a:rPr>
              <a:t>Agenda</a:t>
            </a:r>
            <a:endParaRPr lang="en-US" sz="950" dirty="0"/>
          </a:p>
        </p:txBody>
      </p:sp>
      <p:sp>
        <p:nvSpPr>
          <p:cNvPr id="5" name="Text 3">
            <a:hlinkClick r:id="rId2" tooltip="Go to Problem" action="ppaction://hlinksldjump"/>
          </p:cNvPr>
          <p:cNvSpPr txBox="1"/>
          <p:nvPr/>
        </p:nvSpPr>
        <p:spPr>
          <a:xfrm>
            <a:off x="2606040" y="6382512"/>
            <a:ext cx="68580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2" action="ppaction://hlinksldjump" tooltip="Go to Problem">
                  <a:extLst>
                    <a:ext uri="{A12FA001-AC4F-418D-AE19-62706E023703}">
                      <ahyp:hlinkClr xmlns:ahyp="http://schemas.microsoft.com/office/drawing/2018/hyperlinkcolor" val="tx"/>
                    </a:ext>
                  </a:extLst>
                </a:hlinkClick>
              </a:rPr>
              <a:t>Problem</a:t>
            </a:r>
            <a:endParaRPr lang="en-US" sz="950" dirty="0"/>
          </a:p>
        </p:txBody>
      </p:sp>
      <p:sp>
        <p:nvSpPr>
          <p:cNvPr id="6" name="Text 4">
            <a:hlinkClick r:id="rId3" tooltip="Go to Solution" action="ppaction://hlinksldjump"/>
          </p:cNvPr>
          <p:cNvSpPr txBox="1"/>
          <p:nvPr/>
        </p:nvSpPr>
        <p:spPr>
          <a:xfrm>
            <a:off x="3291840" y="6382512"/>
            <a:ext cx="68580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3" action="ppaction://hlinksldjump" tooltip="Go to Solution">
                  <a:extLst>
                    <a:ext uri="{A12FA001-AC4F-418D-AE19-62706E023703}">
                      <ahyp:hlinkClr xmlns:ahyp="http://schemas.microsoft.com/office/drawing/2018/hyperlinkcolor" val="tx"/>
                    </a:ext>
                  </a:extLst>
                </a:hlinkClick>
              </a:rPr>
              <a:t>Solution</a:t>
            </a:r>
            <a:endParaRPr lang="en-US" sz="950" dirty="0"/>
          </a:p>
        </p:txBody>
      </p:sp>
      <p:sp>
        <p:nvSpPr>
          <p:cNvPr id="7" name="Text 5">
            <a:hlinkClick r:id="rId4" tooltip="Go to Principle" action="ppaction://hlinksldjump"/>
          </p:cNvPr>
          <p:cNvSpPr txBox="1"/>
          <p:nvPr/>
        </p:nvSpPr>
        <p:spPr>
          <a:xfrm>
            <a:off x="3977640" y="6382512"/>
            <a:ext cx="68580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4" action="ppaction://hlinksldjump" tooltip="Go to Principle">
                  <a:extLst>
                    <a:ext uri="{A12FA001-AC4F-418D-AE19-62706E023703}">
                      <ahyp:hlinkClr xmlns:ahyp="http://schemas.microsoft.com/office/drawing/2018/hyperlinkcolor" val="tx"/>
                    </a:ext>
                  </a:extLst>
                </a:hlinkClick>
              </a:rPr>
              <a:t>Principle</a:t>
            </a:r>
            <a:endParaRPr lang="en-US" sz="950" dirty="0"/>
          </a:p>
        </p:txBody>
      </p:sp>
      <p:sp>
        <p:nvSpPr>
          <p:cNvPr id="8" name="Text 6">
            <a:hlinkClick r:id="rId5" tooltip="Go to Flow" action="ppaction://hlinksldjump"/>
          </p:cNvPr>
          <p:cNvSpPr txBox="1"/>
          <p:nvPr/>
        </p:nvSpPr>
        <p:spPr>
          <a:xfrm>
            <a:off x="4663440" y="6382512"/>
            <a:ext cx="68580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5" action="ppaction://hlinksldjump" tooltip="Go to Flow">
                  <a:extLst>
                    <a:ext uri="{A12FA001-AC4F-418D-AE19-62706E023703}">
                      <ahyp:hlinkClr xmlns:ahyp="http://schemas.microsoft.com/office/drawing/2018/hyperlinkcolor" val="tx"/>
                    </a:ext>
                  </a:extLst>
                </a:hlinkClick>
              </a:rPr>
              <a:t>Flow</a:t>
            </a:r>
            <a:endParaRPr lang="en-US" sz="950" dirty="0"/>
          </a:p>
        </p:txBody>
      </p:sp>
      <p:sp>
        <p:nvSpPr>
          <p:cNvPr id="9" name="Text 7">
            <a:hlinkClick r:id="rId6" tooltip="Go to RAG" action="ppaction://hlinksldjump"/>
          </p:cNvPr>
          <p:cNvSpPr txBox="1"/>
          <p:nvPr/>
        </p:nvSpPr>
        <p:spPr>
          <a:xfrm>
            <a:off x="5349240" y="6382512"/>
            <a:ext cx="68580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6" action="ppaction://hlinksldjump" tooltip="Go to RAG">
                  <a:extLst>
                    <a:ext uri="{A12FA001-AC4F-418D-AE19-62706E023703}">
                      <ahyp:hlinkClr xmlns:ahyp="http://schemas.microsoft.com/office/drawing/2018/hyperlinkcolor" val="tx"/>
                    </a:ext>
                  </a:extLst>
                </a:hlinkClick>
              </a:rPr>
              <a:t>RAG</a:t>
            </a:r>
            <a:endParaRPr lang="en-US" sz="950" dirty="0"/>
          </a:p>
        </p:txBody>
      </p:sp>
      <p:sp>
        <p:nvSpPr>
          <p:cNvPr id="10" name="Text 8"/>
          <p:cNvSpPr txBox="1"/>
          <p:nvPr/>
        </p:nvSpPr>
        <p:spPr>
          <a:xfrm>
            <a:off x="6035040" y="6382512"/>
            <a:ext cx="685800" cy="219456"/>
          </a:xfrm>
          <a:prstGeom prst="rect">
            <a:avLst/>
          </a:prstGeom>
          <a:noFill/>
          <a:ln/>
        </p:spPr>
        <p:txBody>
          <a:bodyPr wrap="square" lIns="0" tIns="0" rIns="0" bIns="0" rtlCol="0" anchor="ctr"/>
          <a:lstStyle/>
          <a:p>
            <a:pPr algn="ctr" indent="0" marL="0">
              <a:buNone/>
            </a:pPr>
            <a:r>
              <a:rPr lang="en-US" sz="950" b="1" dirty="0">
                <a:solidFill>
                  <a:srgbClr val="FFFFFF"/>
                </a:solidFill>
              </a:rPr>
              <a:t>Demo</a:t>
            </a:r>
            <a:endParaRPr lang="en-US" sz="950" dirty="0"/>
          </a:p>
        </p:txBody>
      </p:sp>
      <p:sp>
        <p:nvSpPr>
          <p:cNvPr id="11" name="Shape 9"/>
          <p:cNvSpPr/>
          <p:nvPr/>
        </p:nvSpPr>
        <p:spPr>
          <a:xfrm>
            <a:off x="6341364" y="6309360"/>
            <a:ext cx="73152" cy="73152"/>
          </a:xfrm>
          <a:prstGeom prst="ellipse">
            <a:avLst/>
          </a:prstGeom>
          <a:solidFill>
            <a:srgbClr val="3CC3F0"/>
          </a:solidFill>
          <a:ln w="12700">
            <a:solidFill>
              <a:srgbClr val="3CC3F0"/>
            </a:solidFill>
            <a:prstDash val="solid"/>
          </a:ln>
        </p:spPr>
      </p:sp>
      <p:sp>
        <p:nvSpPr>
          <p:cNvPr id="12" name="Text 10">
            <a:hlinkClick r:id="rId7" tooltip="Go to Try it" action="ppaction://hlinksldjump"/>
          </p:cNvPr>
          <p:cNvSpPr txBox="1"/>
          <p:nvPr/>
        </p:nvSpPr>
        <p:spPr>
          <a:xfrm>
            <a:off x="6720840" y="6382512"/>
            <a:ext cx="68580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7" action="ppaction://hlinksldjump" tooltip="Go to Try it">
                  <a:extLst>
                    <a:ext uri="{A12FA001-AC4F-418D-AE19-62706E023703}">
                      <ahyp:hlinkClr xmlns:ahyp="http://schemas.microsoft.com/office/drawing/2018/hyperlinkcolor" val="tx"/>
                    </a:ext>
                  </a:extLst>
                </a:hlinkClick>
              </a:rPr>
              <a:t>Try it</a:t>
            </a:r>
            <a:endParaRPr lang="en-US" sz="950" dirty="0"/>
          </a:p>
        </p:txBody>
      </p:sp>
      <p:sp>
        <p:nvSpPr>
          <p:cNvPr id="13" name="Text 11">
            <a:hlinkClick r:id="rId8" tooltip="Go to Rules" action="ppaction://hlinksldjump"/>
          </p:cNvPr>
          <p:cNvSpPr txBox="1"/>
          <p:nvPr/>
        </p:nvSpPr>
        <p:spPr>
          <a:xfrm>
            <a:off x="7406640" y="6382512"/>
            <a:ext cx="68580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8" action="ppaction://hlinksldjump" tooltip="Go to Rules">
                  <a:extLst>
                    <a:ext uri="{A12FA001-AC4F-418D-AE19-62706E023703}">
                      <ahyp:hlinkClr xmlns:ahyp="http://schemas.microsoft.com/office/drawing/2018/hyperlinkcolor" val="tx"/>
                    </a:ext>
                  </a:extLst>
                </a:hlinkClick>
              </a:rPr>
              <a:t>Rules</a:t>
            </a:r>
            <a:endParaRPr lang="en-US" sz="950" dirty="0"/>
          </a:p>
        </p:txBody>
      </p:sp>
      <p:sp>
        <p:nvSpPr>
          <p:cNvPr id="14" name="Text 12">
            <a:hlinkClick r:id="rId9" tooltip="Go to Results" action="ppaction://hlinksldjump"/>
          </p:cNvPr>
          <p:cNvSpPr txBox="1"/>
          <p:nvPr/>
        </p:nvSpPr>
        <p:spPr>
          <a:xfrm>
            <a:off x="8092440" y="6382512"/>
            <a:ext cx="68580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9" action="ppaction://hlinksldjump" tooltip="Go to Results">
                  <a:extLst>
                    <a:ext uri="{A12FA001-AC4F-418D-AE19-62706E023703}">
                      <ahyp:hlinkClr xmlns:ahyp="http://schemas.microsoft.com/office/drawing/2018/hyperlinkcolor" val="tx"/>
                    </a:ext>
                  </a:extLst>
                </a:hlinkClick>
              </a:rPr>
              <a:t>Results</a:t>
            </a:r>
            <a:endParaRPr lang="en-US" sz="950" dirty="0"/>
          </a:p>
        </p:txBody>
      </p:sp>
      <p:sp>
        <p:nvSpPr>
          <p:cNvPr id="15" name="Text 13">
            <a:hlinkClick r:id="rId10" tooltip="Go to Next" action="ppaction://hlinksldjump"/>
          </p:cNvPr>
          <p:cNvSpPr txBox="1"/>
          <p:nvPr/>
        </p:nvSpPr>
        <p:spPr>
          <a:xfrm>
            <a:off x="8778240" y="6382512"/>
            <a:ext cx="68580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10" action="ppaction://hlinksldjump" tooltip="Go to Next">
                  <a:extLst>
                    <a:ext uri="{A12FA001-AC4F-418D-AE19-62706E023703}">
                      <ahyp:hlinkClr xmlns:ahyp="http://schemas.microsoft.com/office/drawing/2018/hyperlinkcolor" val="tx"/>
                    </a:ext>
                  </a:extLst>
                </a:hlinkClick>
              </a:rPr>
              <a:t>Next</a:t>
            </a:r>
            <a:endParaRPr lang="en-US" sz="950" dirty="0"/>
          </a:p>
        </p:txBody>
      </p:sp>
      <p:sp>
        <p:nvSpPr>
          <p:cNvPr id="16" name="Frame A"/>
          <p:cNvSpPr/>
          <p:nvPr/>
        </p:nvSpPr>
        <p:spPr>
          <a:xfrm>
            <a:off x="548640" y="1417320"/>
            <a:ext cx="6309360" cy="3108960"/>
          </a:xfrm>
          <a:prstGeom prst="roundRect">
            <a:avLst>
              <a:gd name="adj" fmla="val 4118"/>
            </a:avLst>
          </a:prstGeom>
          <a:solidFill>
            <a:srgbClr val="FFFFFF"/>
          </a:solidFill>
          <a:ln w="12700">
            <a:solidFill>
              <a:srgbClr val="FFFFFF"/>
            </a:solidFill>
            <a:prstDash val="solid"/>
          </a:ln>
          <a:effectLst>
            <a:outerShdw sx="100000" sy="100000" kx="0" ky="0" algn="bl" rotWithShape="0" blurRad="152400" dist="38100" dir="5400000">
              <a:srgbClr val="000000">
                <a:alpha val="18000"/>
              </a:srgbClr>
            </a:outerShdw>
          </a:effectLst>
        </p:spPr>
      </p:sp>
      <p:sp>
        <p:nvSpPr>
          <p:cNvPr id="17" name="Shape 15"/>
          <p:cNvSpPr/>
          <p:nvPr/>
        </p:nvSpPr>
        <p:spPr>
          <a:xfrm>
            <a:off x="749808" y="1554480"/>
            <a:ext cx="109728" cy="109728"/>
          </a:xfrm>
          <a:prstGeom prst="ellipse">
            <a:avLst/>
          </a:prstGeom>
          <a:solidFill>
            <a:srgbClr val="E5484D"/>
          </a:solidFill>
          <a:ln w="12700">
            <a:solidFill>
              <a:srgbClr val="E5484D"/>
            </a:solidFill>
            <a:prstDash val="solid"/>
          </a:ln>
        </p:spPr>
      </p:sp>
      <p:sp>
        <p:nvSpPr>
          <p:cNvPr id="18" name="Shape 16"/>
          <p:cNvSpPr/>
          <p:nvPr/>
        </p:nvSpPr>
        <p:spPr>
          <a:xfrm>
            <a:off x="932688" y="1554480"/>
            <a:ext cx="109728" cy="109728"/>
          </a:xfrm>
          <a:prstGeom prst="ellipse">
            <a:avLst/>
          </a:prstGeom>
          <a:solidFill>
            <a:srgbClr val="F5A524"/>
          </a:solidFill>
          <a:ln w="12700">
            <a:solidFill>
              <a:srgbClr val="F5A524"/>
            </a:solidFill>
            <a:prstDash val="solid"/>
          </a:ln>
        </p:spPr>
      </p:sp>
      <p:sp>
        <p:nvSpPr>
          <p:cNvPr id="19" name="Shape 17"/>
          <p:cNvSpPr/>
          <p:nvPr/>
        </p:nvSpPr>
        <p:spPr>
          <a:xfrm>
            <a:off x="1115568" y="1554480"/>
            <a:ext cx="109728" cy="109728"/>
          </a:xfrm>
          <a:prstGeom prst="ellipse">
            <a:avLst/>
          </a:prstGeom>
          <a:solidFill>
            <a:srgbClr val="12A36B"/>
          </a:solidFill>
          <a:ln w="12700">
            <a:solidFill>
              <a:srgbClr val="12A36B"/>
            </a:solidFill>
            <a:prstDash val="solid"/>
          </a:ln>
        </p:spPr>
      </p:sp>
      <p:pic>
        <p:nvPicPr>
          <p:cNvPr id="20" name="Image 0" descr="Care assistant screen declining a medication-change request">    </p:cNvPr>
          <p:cNvPicPr>
            <a:picLocks noChangeAspect="1"/>
          </p:cNvPicPr>
          <p:nvPr/>
        </p:nvPicPr>
        <p:blipFill>
          <a:blip r:embed="rId11"/>
          <a:stretch>
            <a:fillRect/>
          </a:stretch>
        </p:blipFill>
        <p:spPr>
          <a:xfrm>
            <a:off x="685800" y="1828800"/>
            <a:ext cx="6035040" cy="2449868"/>
          </a:xfrm>
          <a:prstGeom prst="rect">
            <a:avLst/>
          </a:prstGeom>
        </p:spPr>
      </p:pic>
      <p:sp>
        <p:nvSpPr>
          <p:cNvPr id="21" name="Frame B"/>
          <p:cNvSpPr/>
          <p:nvPr/>
        </p:nvSpPr>
        <p:spPr>
          <a:xfrm>
            <a:off x="3749040" y="3840480"/>
            <a:ext cx="4023360" cy="2286000"/>
          </a:xfrm>
          <a:prstGeom prst="roundRect">
            <a:avLst>
              <a:gd name="adj" fmla="val 5600"/>
            </a:avLst>
          </a:prstGeom>
          <a:solidFill>
            <a:srgbClr val="FFFFFF"/>
          </a:solidFill>
          <a:ln w="38100">
            <a:solidFill>
              <a:srgbClr val="3CC3F0"/>
            </a:solidFill>
            <a:prstDash val="solid"/>
          </a:ln>
          <a:effectLst>
            <a:outerShdw sx="100000" sy="100000" kx="0" ky="0" algn="bl" rotWithShape="0" blurRad="152400" dist="38100" dir="5400000">
              <a:srgbClr val="000000">
                <a:alpha val="18000"/>
              </a:srgbClr>
            </a:outerShdw>
          </a:effectLst>
        </p:spPr>
      </p:sp>
      <p:sp>
        <p:nvSpPr>
          <p:cNvPr id="22" name="Shape 19"/>
          <p:cNvSpPr/>
          <p:nvPr/>
        </p:nvSpPr>
        <p:spPr>
          <a:xfrm>
            <a:off x="3931920" y="3968496"/>
            <a:ext cx="109728" cy="109728"/>
          </a:xfrm>
          <a:prstGeom prst="ellipse">
            <a:avLst/>
          </a:prstGeom>
          <a:solidFill>
            <a:srgbClr val="E5484D"/>
          </a:solidFill>
          <a:ln w="12700">
            <a:solidFill>
              <a:srgbClr val="E5484D"/>
            </a:solidFill>
            <a:prstDash val="solid"/>
          </a:ln>
        </p:spPr>
      </p:sp>
      <p:sp>
        <p:nvSpPr>
          <p:cNvPr id="23" name="Shape 20"/>
          <p:cNvSpPr/>
          <p:nvPr/>
        </p:nvSpPr>
        <p:spPr>
          <a:xfrm>
            <a:off x="4114800" y="3968496"/>
            <a:ext cx="109728" cy="109728"/>
          </a:xfrm>
          <a:prstGeom prst="ellipse">
            <a:avLst/>
          </a:prstGeom>
          <a:solidFill>
            <a:srgbClr val="F5A524"/>
          </a:solidFill>
          <a:ln w="12700">
            <a:solidFill>
              <a:srgbClr val="F5A524"/>
            </a:solidFill>
            <a:prstDash val="solid"/>
          </a:ln>
        </p:spPr>
      </p:sp>
      <p:sp>
        <p:nvSpPr>
          <p:cNvPr id="24" name="Shape 21"/>
          <p:cNvSpPr/>
          <p:nvPr/>
        </p:nvSpPr>
        <p:spPr>
          <a:xfrm>
            <a:off x="4297680" y="3968496"/>
            <a:ext cx="109728" cy="109728"/>
          </a:xfrm>
          <a:prstGeom prst="ellipse">
            <a:avLst/>
          </a:prstGeom>
          <a:solidFill>
            <a:srgbClr val="12A36B"/>
          </a:solidFill>
          <a:ln w="12700">
            <a:solidFill>
              <a:srgbClr val="12A36B"/>
            </a:solidFill>
            <a:prstDash val="solid"/>
          </a:ln>
        </p:spPr>
      </p:sp>
      <p:pic>
        <p:nvPicPr>
          <p:cNvPr id="25" name="Image 1" descr="Staff review queue listing urgent cases">    </p:cNvPr>
          <p:cNvPicPr>
            <a:picLocks noChangeAspect="1"/>
          </p:cNvPicPr>
          <p:nvPr/>
        </p:nvPicPr>
        <p:blipFill>
          <a:blip r:embed="rId12"/>
          <a:stretch>
            <a:fillRect/>
          </a:stretch>
        </p:blipFill>
        <p:spPr>
          <a:xfrm>
            <a:off x="3886200" y="4224528"/>
            <a:ext cx="3749040" cy="1893080"/>
          </a:xfrm>
          <a:prstGeom prst="rect">
            <a:avLst/>
          </a:prstGeom>
        </p:spPr>
      </p:pic>
      <p:sp>
        <p:nvSpPr>
          <p:cNvPr id="26" name="Text 22"/>
          <p:cNvSpPr txBox="1"/>
          <p:nvPr/>
        </p:nvSpPr>
        <p:spPr>
          <a:xfrm>
            <a:off x="548640" y="4754880"/>
            <a:ext cx="3017520" cy="228600"/>
          </a:xfrm>
          <a:prstGeom prst="rect">
            <a:avLst/>
          </a:prstGeom>
          <a:noFill/>
          <a:ln/>
        </p:spPr>
        <p:txBody>
          <a:bodyPr wrap="square" lIns="0" tIns="0" rIns="0" bIns="0" rtlCol="0" anchor="t"/>
          <a:lstStyle/>
          <a:p>
            <a:pPr indent="0" marL="0">
              <a:buNone/>
            </a:pPr>
            <a:r>
              <a:rPr lang="en-US" sz="1100" b="1" spc="300" kern="0" dirty="0">
                <a:solidFill>
                  <a:srgbClr val="3CC3F0"/>
                </a:solidFill>
              </a:rPr>
              <a:t>WATCH FOR</a:t>
            </a:r>
            <a:endParaRPr lang="en-US" sz="1100" dirty="0"/>
          </a:p>
        </p:txBody>
      </p:sp>
      <p:sp>
        <p:nvSpPr>
          <p:cNvPr id="27" name="Text 23"/>
          <p:cNvSpPr txBox="1"/>
          <p:nvPr/>
        </p:nvSpPr>
        <p:spPr>
          <a:xfrm>
            <a:off x="548640" y="5074920"/>
            <a:ext cx="3108960" cy="347472"/>
          </a:xfrm>
          <a:prstGeom prst="rect">
            <a:avLst/>
          </a:prstGeom>
          <a:noFill/>
          <a:ln/>
        </p:spPr>
        <p:txBody>
          <a:bodyPr wrap="square" lIns="0" tIns="0" rIns="0" bIns="0" rtlCol="0" anchor="ctr"/>
          <a:lstStyle/>
          <a:p>
            <a:pPr indent="0" marL="0">
              <a:buNone/>
            </a:pPr>
            <a:r>
              <a:rPr lang="en-US" sz="1500" b="1" dirty="0">
                <a:solidFill>
                  <a:srgbClr val="FFFFFF"/>
                </a:solidFill>
              </a:rPr>
              <a:t>No diagnosis</a:t>
            </a:r>
            <a:endParaRPr lang="en-US" sz="1500" dirty="0"/>
          </a:p>
        </p:txBody>
      </p:sp>
      <p:sp>
        <p:nvSpPr>
          <p:cNvPr id="28" name="Text 24"/>
          <p:cNvSpPr txBox="1"/>
          <p:nvPr/>
        </p:nvSpPr>
        <p:spPr>
          <a:xfrm>
            <a:off x="548640" y="5458968"/>
            <a:ext cx="3108960" cy="347472"/>
          </a:xfrm>
          <a:prstGeom prst="rect">
            <a:avLst/>
          </a:prstGeom>
          <a:noFill/>
          <a:ln/>
        </p:spPr>
        <p:txBody>
          <a:bodyPr wrap="square" lIns="0" tIns="0" rIns="0" bIns="0" rtlCol="0" anchor="ctr"/>
          <a:lstStyle/>
          <a:p>
            <a:pPr indent="0" marL="0">
              <a:buNone/>
            </a:pPr>
            <a:r>
              <a:rPr lang="en-US" sz="1500" b="1" dirty="0">
                <a:solidFill>
                  <a:srgbClr val="FFFFFF"/>
                </a:solidFill>
              </a:rPr>
              <a:t>Sources shown</a:t>
            </a:r>
            <a:endParaRPr lang="en-US" sz="1500" dirty="0"/>
          </a:p>
        </p:txBody>
      </p:sp>
      <p:sp>
        <p:nvSpPr>
          <p:cNvPr id="29" name="Text 25"/>
          <p:cNvSpPr txBox="1"/>
          <p:nvPr/>
        </p:nvSpPr>
        <p:spPr>
          <a:xfrm>
            <a:off x="548640" y="5843016"/>
            <a:ext cx="3108960" cy="347472"/>
          </a:xfrm>
          <a:prstGeom prst="rect">
            <a:avLst/>
          </a:prstGeom>
          <a:noFill/>
          <a:ln/>
        </p:spPr>
        <p:txBody>
          <a:bodyPr wrap="square" lIns="0" tIns="0" rIns="0" bIns="0" rtlCol="0" anchor="ctr"/>
          <a:lstStyle/>
          <a:p>
            <a:pPr indent="0" marL="0">
              <a:buNone/>
            </a:pPr>
            <a:r>
              <a:rPr lang="en-US" sz="1500" b="1" dirty="0">
                <a:solidFill>
                  <a:srgbClr val="FFFFFF"/>
                </a:solidFill>
              </a:rPr>
              <a:t>Disclaimer on every reply</a:t>
            </a:r>
            <a:endParaRPr lang="en-US" sz="1500" dirty="0"/>
          </a:p>
        </p:txBody>
      </p:sp>
      <p:sp>
        <p:nvSpPr>
          <p:cNvPr id="30" name="Path card"/>
          <p:cNvSpPr/>
          <p:nvPr/>
        </p:nvSpPr>
        <p:spPr>
          <a:xfrm>
            <a:off x="8138160" y="1417320"/>
            <a:ext cx="3502152" cy="1463040"/>
          </a:xfrm>
          <a:prstGeom prst="roundRect">
            <a:avLst>
              <a:gd name="adj" fmla="val 6250"/>
            </a:avLst>
          </a:prstGeom>
          <a:solidFill>
            <a:srgbClr val="FFFFFF"/>
          </a:solidFill>
          <a:ln w="12700">
            <a:solidFill>
              <a:srgbClr val="FFFFFF"/>
            </a:solidFill>
            <a:prstDash val="solid"/>
          </a:ln>
          <a:effectLst>
            <a:outerShdw sx="100000" sy="100000" kx="0" ky="0" algn="bl" rotWithShape="0" blurRad="152400" dist="38100" dir="5400000">
              <a:srgbClr val="000000">
                <a:alpha val="18000"/>
              </a:srgbClr>
            </a:outerShdw>
          </a:effectLst>
        </p:spPr>
      </p:sp>
      <p:sp>
        <p:nvSpPr>
          <p:cNvPr id="31" name="Text 27"/>
          <p:cNvSpPr txBox="1"/>
          <p:nvPr/>
        </p:nvSpPr>
        <p:spPr>
          <a:xfrm>
            <a:off x="8321040" y="1508760"/>
            <a:ext cx="548640" cy="640080"/>
          </a:xfrm>
          <a:prstGeom prst="rect">
            <a:avLst/>
          </a:prstGeom>
          <a:noFill/>
          <a:ln/>
        </p:spPr>
        <p:txBody>
          <a:bodyPr wrap="square" lIns="0" tIns="0" rIns="0" bIns="0" rtlCol="0" anchor="t"/>
          <a:lstStyle/>
          <a:p>
            <a:pPr indent="0" marL="0">
              <a:buNone/>
            </a:pPr>
            <a:r>
              <a:rPr lang="en-US" sz="3600" b="1" dirty="0">
                <a:solidFill>
                  <a:srgbClr val="1547C8"/>
                </a:solidFill>
              </a:rPr>
              <a:t>1</a:t>
            </a:r>
            <a:endParaRPr lang="en-US" sz="3600" dirty="0"/>
          </a:p>
        </p:txBody>
      </p:sp>
      <p:sp>
        <p:nvSpPr>
          <p:cNvPr id="32" name="Text 28"/>
          <p:cNvSpPr txBox="1"/>
          <p:nvPr/>
        </p:nvSpPr>
        <p:spPr>
          <a:xfrm>
            <a:off x="8915400" y="1600200"/>
            <a:ext cx="2560320" cy="274320"/>
          </a:xfrm>
          <a:prstGeom prst="rect">
            <a:avLst/>
          </a:prstGeom>
          <a:noFill/>
          <a:ln/>
        </p:spPr>
        <p:txBody>
          <a:bodyPr wrap="square" lIns="0" tIns="0" rIns="0" bIns="0" rtlCol="0" anchor="t"/>
          <a:lstStyle/>
          <a:p>
            <a:pPr indent="0" marL="0">
              <a:buNone/>
            </a:pPr>
            <a:r>
              <a:rPr lang="en-US" sz="1100" b="1" spc="300" kern="0" dirty="0">
                <a:solidFill>
                  <a:srgbClr val="1547C8"/>
                </a:solidFill>
              </a:rPr>
              <a:t>NORMAL</a:t>
            </a:r>
            <a:endParaRPr lang="en-US" sz="1100" dirty="0"/>
          </a:p>
        </p:txBody>
      </p:sp>
      <p:sp>
        <p:nvSpPr>
          <p:cNvPr id="33" name="Text 29"/>
          <p:cNvSpPr txBox="1"/>
          <p:nvPr/>
        </p:nvSpPr>
        <p:spPr>
          <a:xfrm>
            <a:off x="8321040" y="2130552"/>
            <a:ext cx="3200400" cy="411480"/>
          </a:xfrm>
          <a:prstGeom prst="rect">
            <a:avLst/>
          </a:prstGeom>
          <a:noFill/>
          <a:ln/>
        </p:spPr>
        <p:txBody>
          <a:bodyPr wrap="square" lIns="0" tIns="0" rIns="0" bIns="0" rtlCol="0" anchor="t"/>
          <a:lstStyle/>
          <a:p>
            <a:pPr indent="0" marL="0">
              <a:buNone/>
            </a:pPr>
            <a:r>
              <a:rPr lang="en-US" sz="1150" dirty="0">
                <a:solidFill>
                  <a:srgbClr val="1F2937"/>
                </a:solidFill>
              </a:rPr>
              <a:t>M-101 asks why to record readings at home</a:t>
            </a:r>
            <a:endParaRPr lang="en-US" sz="1150" dirty="0"/>
          </a:p>
        </p:txBody>
      </p:sp>
      <p:sp>
        <p:nvSpPr>
          <p:cNvPr id="34" name="Text 30"/>
          <p:cNvSpPr txBox="1"/>
          <p:nvPr/>
        </p:nvSpPr>
        <p:spPr>
          <a:xfrm>
            <a:off x="8321040" y="2560320"/>
            <a:ext cx="3200400" cy="274320"/>
          </a:xfrm>
          <a:prstGeom prst="rect">
            <a:avLst/>
          </a:prstGeom>
          <a:noFill/>
          <a:ln/>
        </p:spPr>
        <p:txBody>
          <a:bodyPr wrap="square" lIns="0" tIns="0" rIns="0" bIns="0" rtlCol="0" anchor="t"/>
          <a:lstStyle/>
          <a:p>
            <a:pPr indent="0" marL="0">
              <a:buNone/>
            </a:pPr>
            <a:r>
              <a:rPr lang="en-US" sz="1150" b="1" dirty="0">
                <a:solidFill>
                  <a:srgbClr val="0A1F5C"/>
                </a:solidFill>
              </a:rPr>
              <a:t>Cited answer: EDU-401 (v4)</a:t>
            </a:r>
            <a:endParaRPr lang="en-US" sz="1150" dirty="0"/>
          </a:p>
        </p:txBody>
      </p:sp>
      <p:sp>
        <p:nvSpPr>
          <p:cNvPr id="35" name="Path card"/>
          <p:cNvSpPr/>
          <p:nvPr/>
        </p:nvSpPr>
        <p:spPr>
          <a:xfrm>
            <a:off x="8138160" y="3017520"/>
            <a:ext cx="3502152" cy="1463040"/>
          </a:xfrm>
          <a:prstGeom prst="roundRect">
            <a:avLst>
              <a:gd name="adj" fmla="val 6250"/>
            </a:avLst>
          </a:prstGeom>
          <a:solidFill>
            <a:srgbClr val="FFFFFF"/>
          </a:solidFill>
          <a:ln w="12700">
            <a:solidFill>
              <a:srgbClr val="FFFFFF"/>
            </a:solidFill>
            <a:prstDash val="solid"/>
          </a:ln>
          <a:effectLst>
            <a:outerShdw sx="100000" sy="100000" kx="0" ky="0" algn="bl" rotWithShape="0" blurRad="152400" dist="38100" dir="5400000">
              <a:srgbClr val="000000">
                <a:alpha val="18000"/>
              </a:srgbClr>
            </a:outerShdw>
          </a:effectLst>
        </p:spPr>
      </p:sp>
      <p:sp>
        <p:nvSpPr>
          <p:cNvPr id="36" name="Text 32"/>
          <p:cNvSpPr txBox="1"/>
          <p:nvPr/>
        </p:nvSpPr>
        <p:spPr>
          <a:xfrm>
            <a:off x="8321040" y="3108960"/>
            <a:ext cx="548640" cy="640080"/>
          </a:xfrm>
          <a:prstGeom prst="rect">
            <a:avLst/>
          </a:prstGeom>
          <a:noFill/>
          <a:ln/>
        </p:spPr>
        <p:txBody>
          <a:bodyPr wrap="square" lIns="0" tIns="0" rIns="0" bIns="0" rtlCol="0" anchor="t"/>
          <a:lstStyle/>
          <a:p>
            <a:pPr indent="0" marL="0">
              <a:buNone/>
            </a:pPr>
            <a:r>
              <a:rPr lang="en-US" sz="3600" b="1" dirty="0">
                <a:solidFill>
                  <a:srgbClr val="F5A524"/>
                </a:solidFill>
              </a:rPr>
              <a:t>2</a:t>
            </a:r>
            <a:endParaRPr lang="en-US" sz="3600" dirty="0"/>
          </a:p>
        </p:txBody>
      </p:sp>
      <p:sp>
        <p:nvSpPr>
          <p:cNvPr id="37" name="Text 33"/>
          <p:cNvSpPr txBox="1"/>
          <p:nvPr/>
        </p:nvSpPr>
        <p:spPr>
          <a:xfrm>
            <a:off x="8915400" y="3200400"/>
            <a:ext cx="2560320" cy="274320"/>
          </a:xfrm>
          <a:prstGeom prst="rect">
            <a:avLst/>
          </a:prstGeom>
          <a:noFill/>
          <a:ln/>
        </p:spPr>
        <p:txBody>
          <a:bodyPr wrap="square" lIns="0" tIns="0" rIns="0" bIns="0" rtlCol="0" anchor="t"/>
          <a:lstStyle/>
          <a:p>
            <a:pPr indent="0" marL="0">
              <a:buNone/>
            </a:pPr>
            <a:r>
              <a:rPr lang="en-US" sz="1100" b="1" spc="300" kern="0" dirty="0">
                <a:solidFill>
                  <a:srgbClr val="F5A524"/>
                </a:solidFill>
              </a:rPr>
              <a:t>EXCEPTION</a:t>
            </a:r>
            <a:endParaRPr lang="en-US" sz="1100" dirty="0"/>
          </a:p>
        </p:txBody>
      </p:sp>
      <p:sp>
        <p:nvSpPr>
          <p:cNvPr id="38" name="Text 34"/>
          <p:cNvSpPr txBox="1"/>
          <p:nvPr/>
        </p:nvSpPr>
        <p:spPr>
          <a:xfrm>
            <a:off x="8321040" y="3730752"/>
            <a:ext cx="3200400" cy="411480"/>
          </a:xfrm>
          <a:prstGeom prst="rect">
            <a:avLst/>
          </a:prstGeom>
          <a:noFill/>
          <a:ln/>
        </p:spPr>
        <p:txBody>
          <a:bodyPr wrap="square" lIns="0" tIns="0" rIns="0" bIns="0" rtlCol="0" anchor="t"/>
          <a:lstStyle/>
          <a:p>
            <a:pPr indent="0" marL="0">
              <a:buNone/>
            </a:pPr>
            <a:r>
              <a:rPr lang="en-US" sz="1150" dirty="0">
                <a:solidFill>
                  <a:srgbClr val="1F2937"/>
                </a:solidFill>
              </a:rPr>
              <a:t>M-103: consent has expired</a:t>
            </a:r>
            <a:endParaRPr lang="en-US" sz="1150" dirty="0"/>
          </a:p>
        </p:txBody>
      </p:sp>
      <p:sp>
        <p:nvSpPr>
          <p:cNvPr id="39" name="Text 35"/>
          <p:cNvSpPr txBox="1"/>
          <p:nvPr/>
        </p:nvSpPr>
        <p:spPr>
          <a:xfrm>
            <a:off x="8321040" y="4160520"/>
            <a:ext cx="3200400" cy="274320"/>
          </a:xfrm>
          <a:prstGeom prst="rect">
            <a:avLst/>
          </a:prstGeom>
          <a:noFill/>
          <a:ln/>
        </p:spPr>
        <p:txBody>
          <a:bodyPr wrap="square" lIns="0" tIns="0" rIns="0" bIns="0" rtlCol="0" anchor="t"/>
          <a:lstStyle/>
          <a:p>
            <a:pPr indent="0" marL="0">
              <a:buNone/>
            </a:pPr>
            <a:r>
              <a:rPr lang="en-US" sz="1150" b="1" dirty="0">
                <a:solidFill>
                  <a:srgbClr val="0A1F5C"/>
                </a:solidFill>
              </a:rPr>
              <a:t>Processing stops: ER-501</a:t>
            </a:r>
            <a:endParaRPr lang="en-US" sz="1150" dirty="0"/>
          </a:p>
        </p:txBody>
      </p:sp>
      <p:sp>
        <p:nvSpPr>
          <p:cNvPr id="40" name="Path card"/>
          <p:cNvSpPr/>
          <p:nvPr/>
        </p:nvSpPr>
        <p:spPr>
          <a:xfrm>
            <a:off x="8138160" y="4617720"/>
            <a:ext cx="3502152" cy="1463040"/>
          </a:xfrm>
          <a:prstGeom prst="roundRect">
            <a:avLst>
              <a:gd name="adj" fmla="val 6250"/>
            </a:avLst>
          </a:prstGeom>
          <a:solidFill>
            <a:srgbClr val="FFFFFF"/>
          </a:solidFill>
          <a:ln w="12700">
            <a:solidFill>
              <a:srgbClr val="FFFFFF"/>
            </a:solidFill>
            <a:prstDash val="solid"/>
          </a:ln>
          <a:effectLst>
            <a:outerShdw sx="100000" sy="100000" kx="0" ky="0" algn="bl" rotWithShape="0" blurRad="152400" dist="38100" dir="5400000">
              <a:srgbClr val="000000">
                <a:alpha val="18000"/>
              </a:srgbClr>
            </a:outerShdw>
          </a:effectLst>
        </p:spPr>
      </p:sp>
      <p:sp>
        <p:nvSpPr>
          <p:cNvPr id="41" name="Text 37"/>
          <p:cNvSpPr txBox="1"/>
          <p:nvPr/>
        </p:nvSpPr>
        <p:spPr>
          <a:xfrm>
            <a:off x="8321040" y="4709160"/>
            <a:ext cx="548640" cy="640080"/>
          </a:xfrm>
          <a:prstGeom prst="rect">
            <a:avLst/>
          </a:prstGeom>
          <a:noFill/>
          <a:ln/>
        </p:spPr>
        <p:txBody>
          <a:bodyPr wrap="square" lIns="0" tIns="0" rIns="0" bIns="0" rtlCol="0" anchor="t"/>
          <a:lstStyle/>
          <a:p>
            <a:pPr indent="0" marL="0">
              <a:buNone/>
            </a:pPr>
            <a:r>
              <a:rPr lang="en-US" sz="3600" b="1" dirty="0">
                <a:solidFill>
                  <a:srgbClr val="E5484D"/>
                </a:solidFill>
              </a:rPr>
              <a:t>3</a:t>
            </a:r>
            <a:endParaRPr lang="en-US" sz="3600" dirty="0"/>
          </a:p>
        </p:txBody>
      </p:sp>
      <p:sp>
        <p:nvSpPr>
          <p:cNvPr id="42" name="Text 38"/>
          <p:cNvSpPr txBox="1"/>
          <p:nvPr/>
        </p:nvSpPr>
        <p:spPr>
          <a:xfrm>
            <a:off x="8915400" y="4800600"/>
            <a:ext cx="2560320" cy="274320"/>
          </a:xfrm>
          <a:prstGeom prst="rect">
            <a:avLst/>
          </a:prstGeom>
          <a:noFill/>
          <a:ln/>
        </p:spPr>
        <p:txBody>
          <a:bodyPr wrap="square" lIns="0" tIns="0" rIns="0" bIns="0" rtlCol="0" anchor="t"/>
          <a:lstStyle/>
          <a:p>
            <a:pPr indent="0" marL="0">
              <a:buNone/>
            </a:pPr>
            <a:r>
              <a:rPr lang="en-US" sz="1100" b="1" spc="300" kern="0" dirty="0">
                <a:solidFill>
                  <a:srgbClr val="E5484D"/>
                </a:solidFill>
              </a:rPr>
              <a:t>SAFETY</a:t>
            </a:r>
            <a:endParaRPr lang="en-US" sz="1100" dirty="0"/>
          </a:p>
        </p:txBody>
      </p:sp>
      <p:sp>
        <p:nvSpPr>
          <p:cNvPr id="43" name="Text 39"/>
          <p:cNvSpPr txBox="1"/>
          <p:nvPr/>
        </p:nvSpPr>
        <p:spPr>
          <a:xfrm>
            <a:off x="8321040" y="5330952"/>
            <a:ext cx="3200400" cy="411480"/>
          </a:xfrm>
          <a:prstGeom prst="rect">
            <a:avLst/>
          </a:prstGeom>
          <a:noFill/>
          <a:ln/>
        </p:spPr>
        <p:txBody>
          <a:bodyPr wrap="square" lIns="0" tIns="0" rIns="0" bIns="0" rtlCol="0" anchor="t"/>
          <a:lstStyle/>
          <a:p>
            <a:pPr indent="0" marL="0">
              <a:buNone/>
            </a:pPr>
            <a:r>
              <a:rPr lang="en-US" sz="1150" dirty="0">
                <a:solidFill>
                  <a:srgbClr val="1F2937"/>
                </a:solidFill>
              </a:rPr>
              <a:t>M-101 asks to raise an insulin dose; M-102 asks for a blood pressure summary</a:t>
            </a:r>
            <a:endParaRPr lang="en-US" sz="1150" dirty="0"/>
          </a:p>
        </p:txBody>
      </p:sp>
      <p:sp>
        <p:nvSpPr>
          <p:cNvPr id="44" name="Text 40"/>
          <p:cNvSpPr txBox="1"/>
          <p:nvPr/>
        </p:nvSpPr>
        <p:spPr>
          <a:xfrm>
            <a:off x="8321040" y="5760720"/>
            <a:ext cx="3200400" cy="274320"/>
          </a:xfrm>
          <a:prstGeom prst="rect">
            <a:avLst/>
          </a:prstGeom>
          <a:noFill/>
          <a:ln/>
        </p:spPr>
        <p:txBody>
          <a:bodyPr wrap="square" lIns="0" tIns="0" rIns="0" bIns="0" rtlCol="0" anchor="t"/>
          <a:lstStyle/>
          <a:p>
            <a:pPr indent="0" marL="0">
              <a:buNone/>
            </a:pPr>
            <a:r>
              <a:rPr lang="en-US" sz="1150" b="1" dirty="0">
                <a:solidFill>
                  <a:srgbClr val="0A1F5C"/>
                </a:solidFill>
              </a:rPr>
              <a:t>ER-503 declined · ER-502 urgent review</a:t>
            </a:r>
            <a:endParaRPr lang="en-US" sz="115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9FB3E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56032"/>
          </a:xfrm>
          <a:prstGeom prst="rect">
            <a:avLst/>
          </a:prstGeom>
          <a:noFill/>
          <a:ln/>
        </p:spPr>
        <p:txBody>
          <a:bodyPr wrap="square" lIns="0" tIns="0" rIns="0" bIns="0" rtlCol="0" anchor="t"/>
          <a:lstStyle/>
          <a:p>
            <a:pPr algn="l" indent="0" marL="0">
              <a:buNone/>
            </a:pPr>
            <a:r>
              <a:rPr lang="en-US" sz="1100" b="1" spc="300" kern="0" dirty="0">
                <a:solidFill>
                  <a:srgbClr val="1547C8"/>
                </a:solidFill>
              </a:rPr>
              <a:t>04  ·  TRY IT</a:t>
            </a:r>
            <a:endParaRPr lang="en-US" sz="1100" dirty="0"/>
          </a:p>
        </p:txBody>
      </p:sp>
      <p:sp>
        <p:nvSpPr>
          <p:cNvPr id="3" name="Text 1"/>
          <p:cNvSpPr/>
          <p:nvPr>
            <p:ph idx="103" type="title" hasCustomPrompt="1"/>
          </p:nvPr>
        </p:nvSpPr>
        <p:spPr>
          <a:xfrm>
            <a:off x="548640" y="603504"/>
            <a:ext cx="11064240" cy="603504"/>
          </a:xfrm>
          <a:prstGeom prst="rect">
            <a:avLst/>
          </a:prstGeom>
          <a:noFill/>
          <a:ln/>
        </p:spPr>
        <p:txBody>
          <a:bodyPr wrap="square" lIns="0" tIns="0" rIns="0" bIns="0" rtlCol="0" anchor="t"/>
          <a:lstStyle/>
          <a:p>
            <a:pPr algn="l" indent="0" marL="0">
              <a:buNone/>
            </a:pPr>
            <a:r>
              <a:rPr lang="en-US" sz="3400" b="1" dirty="0">
                <a:solidFill>
                  <a:srgbClr val="0A1F5C"/>
                </a:solidFill>
              </a:rPr>
              <a:t>Pick a question and see what the system does</a:t>
            </a:r>
            <a:endParaRPr lang="en-US" sz="3400" dirty="0"/>
          </a:p>
        </p:txBody>
      </p:sp>
      <p:sp>
        <p:nvSpPr>
          <p:cNvPr id="4" name="Text 2">
            <a:hlinkClick r:id="rId1" tooltip="Go to Agenda" action="ppaction://hlinksldjump"/>
          </p:cNvPr>
          <p:cNvSpPr txBox="1"/>
          <p:nvPr/>
        </p:nvSpPr>
        <p:spPr>
          <a:xfrm>
            <a:off x="1920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1" action="ppaction://hlinksldjump" tooltip="Go to Agenda">
                  <a:extLst>
                    <a:ext uri="{A12FA001-AC4F-418D-AE19-62706E023703}">
                      <ahyp:hlinkClr xmlns:ahyp="http://schemas.microsoft.com/office/drawing/2018/hyperlinkcolor" val="tx"/>
                    </a:ext>
                  </a:extLst>
                </a:hlinkClick>
              </a:rPr>
              <a:t>Agenda</a:t>
            </a:r>
            <a:endParaRPr lang="en-US" sz="950" dirty="0"/>
          </a:p>
        </p:txBody>
      </p:sp>
      <p:sp>
        <p:nvSpPr>
          <p:cNvPr id="5" name="Text 3">
            <a:hlinkClick r:id="rId2" tooltip="Go to Problem" action="ppaction://hlinksldjump"/>
          </p:cNvPr>
          <p:cNvSpPr txBox="1"/>
          <p:nvPr/>
        </p:nvSpPr>
        <p:spPr>
          <a:xfrm>
            <a:off x="26060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2" action="ppaction://hlinksldjump" tooltip="Go to Problem">
                  <a:extLst>
                    <a:ext uri="{A12FA001-AC4F-418D-AE19-62706E023703}">
                      <ahyp:hlinkClr xmlns:ahyp="http://schemas.microsoft.com/office/drawing/2018/hyperlinkcolor" val="tx"/>
                    </a:ext>
                  </a:extLst>
                </a:hlinkClick>
              </a:rPr>
              <a:t>Problem</a:t>
            </a:r>
            <a:endParaRPr lang="en-US" sz="950" dirty="0"/>
          </a:p>
        </p:txBody>
      </p:sp>
      <p:sp>
        <p:nvSpPr>
          <p:cNvPr id="6" name="Text 4">
            <a:hlinkClick r:id="rId3" tooltip="Go to Solution" action="ppaction://hlinksldjump"/>
          </p:cNvPr>
          <p:cNvSpPr txBox="1"/>
          <p:nvPr/>
        </p:nvSpPr>
        <p:spPr>
          <a:xfrm>
            <a:off x="32918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3" action="ppaction://hlinksldjump" tooltip="Go to Solution">
                  <a:extLst>
                    <a:ext uri="{A12FA001-AC4F-418D-AE19-62706E023703}">
                      <ahyp:hlinkClr xmlns:ahyp="http://schemas.microsoft.com/office/drawing/2018/hyperlinkcolor" val="tx"/>
                    </a:ext>
                  </a:extLst>
                </a:hlinkClick>
              </a:rPr>
              <a:t>Solution</a:t>
            </a:r>
            <a:endParaRPr lang="en-US" sz="950" dirty="0"/>
          </a:p>
        </p:txBody>
      </p:sp>
      <p:sp>
        <p:nvSpPr>
          <p:cNvPr id="7" name="Text 5">
            <a:hlinkClick r:id="rId4" tooltip="Go to Principle" action="ppaction://hlinksldjump"/>
          </p:cNvPr>
          <p:cNvSpPr txBox="1"/>
          <p:nvPr/>
        </p:nvSpPr>
        <p:spPr>
          <a:xfrm>
            <a:off x="39776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4" action="ppaction://hlinksldjump" tooltip="Go to Principle">
                  <a:extLst>
                    <a:ext uri="{A12FA001-AC4F-418D-AE19-62706E023703}">
                      <ahyp:hlinkClr xmlns:ahyp="http://schemas.microsoft.com/office/drawing/2018/hyperlinkcolor" val="tx"/>
                    </a:ext>
                  </a:extLst>
                </a:hlinkClick>
              </a:rPr>
              <a:t>Principle</a:t>
            </a:r>
            <a:endParaRPr lang="en-US" sz="950" dirty="0"/>
          </a:p>
        </p:txBody>
      </p:sp>
      <p:sp>
        <p:nvSpPr>
          <p:cNvPr id="8" name="Text 6">
            <a:hlinkClick r:id="rId5" tooltip="Go to Flow" action="ppaction://hlinksldjump"/>
          </p:cNvPr>
          <p:cNvSpPr txBox="1"/>
          <p:nvPr/>
        </p:nvSpPr>
        <p:spPr>
          <a:xfrm>
            <a:off x="46634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5" action="ppaction://hlinksldjump" tooltip="Go to Flow">
                  <a:extLst>
                    <a:ext uri="{A12FA001-AC4F-418D-AE19-62706E023703}">
                      <ahyp:hlinkClr xmlns:ahyp="http://schemas.microsoft.com/office/drawing/2018/hyperlinkcolor" val="tx"/>
                    </a:ext>
                  </a:extLst>
                </a:hlinkClick>
              </a:rPr>
              <a:t>Flow</a:t>
            </a:r>
            <a:endParaRPr lang="en-US" sz="950" dirty="0"/>
          </a:p>
        </p:txBody>
      </p:sp>
      <p:sp>
        <p:nvSpPr>
          <p:cNvPr id="9" name="Text 7">
            <a:hlinkClick r:id="rId6" tooltip="Go to RAG" action="ppaction://hlinksldjump"/>
          </p:cNvPr>
          <p:cNvSpPr txBox="1"/>
          <p:nvPr/>
        </p:nvSpPr>
        <p:spPr>
          <a:xfrm>
            <a:off x="5349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6" action="ppaction://hlinksldjump" tooltip="Go to RAG">
                  <a:extLst>
                    <a:ext uri="{A12FA001-AC4F-418D-AE19-62706E023703}">
                      <ahyp:hlinkClr xmlns:ahyp="http://schemas.microsoft.com/office/drawing/2018/hyperlinkcolor" val="tx"/>
                    </a:ext>
                  </a:extLst>
                </a:hlinkClick>
              </a:rPr>
              <a:t>RAG</a:t>
            </a:r>
            <a:endParaRPr lang="en-US" sz="950" dirty="0"/>
          </a:p>
        </p:txBody>
      </p:sp>
      <p:sp>
        <p:nvSpPr>
          <p:cNvPr id="10" name="Text 8">
            <a:hlinkClick r:id="rId7" tooltip="Go to Demo" action="ppaction://hlinksldjump"/>
          </p:cNvPr>
          <p:cNvSpPr txBox="1"/>
          <p:nvPr/>
        </p:nvSpPr>
        <p:spPr>
          <a:xfrm>
            <a:off x="60350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7" action="ppaction://hlinksldjump" tooltip="Go to Demo">
                  <a:extLst>
                    <a:ext uri="{A12FA001-AC4F-418D-AE19-62706E023703}">
                      <ahyp:hlinkClr xmlns:ahyp="http://schemas.microsoft.com/office/drawing/2018/hyperlinkcolor" val="tx"/>
                    </a:ext>
                  </a:extLst>
                </a:hlinkClick>
              </a:rPr>
              <a:t>Demo</a:t>
            </a:r>
            <a:endParaRPr lang="en-US" sz="950" dirty="0"/>
          </a:p>
        </p:txBody>
      </p:sp>
      <p:sp>
        <p:nvSpPr>
          <p:cNvPr id="11" name="Text 9"/>
          <p:cNvSpPr txBox="1"/>
          <p:nvPr/>
        </p:nvSpPr>
        <p:spPr>
          <a:xfrm>
            <a:off x="6720840" y="6382512"/>
            <a:ext cx="685800" cy="219456"/>
          </a:xfrm>
          <a:prstGeom prst="rect">
            <a:avLst/>
          </a:prstGeom>
          <a:noFill/>
          <a:ln/>
        </p:spPr>
        <p:txBody>
          <a:bodyPr wrap="square" lIns="0" tIns="0" rIns="0" bIns="0" rtlCol="0" anchor="ctr"/>
          <a:lstStyle/>
          <a:p>
            <a:pPr algn="ctr" indent="0" marL="0">
              <a:buNone/>
            </a:pPr>
            <a:r>
              <a:rPr lang="en-US" sz="950" b="1" dirty="0">
                <a:solidFill>
                  <a:srgbClr val="0A1F5C"/>
                </a:solidFill>
              </a:rPr>
              <a:t>Try it</a:t>
            </a:r>
            <a:endParaRPr lang="en-US" sz="950" dirty="0"/>
          </a:p>
        </p:txBody>
      </p:sp>
      <p:sp>
        <p:nvSpPr>
          <p:cNvPr id="12" name="Shape 10"/>
          <p:cNvSpPr/>
          <p:nvPr/>
        </p:nvSpPr>
        <p:spPr>
          <a:xfrm>
            <a:off x="7027164" y="6309360"/>
            <a:ext cx="73152" cy="73152"/>
          </a:xfrm>
          <a:prstGeom prst="ellipse">
            <a:avLst/>
          </a:prstGeom>
          <a:solidFill>
            <a:srgbClr val="1547C8"/>
          </a:solidFill>
          <a:ln w="12700">
            <a:solidFill>
              <a:srgbClr val="1547C8"/>
            </a:solidFill>
            <a:prstDash val="solid"/>
          </a:ln>
        </p:spPr>
      </p:sp>
      <p:sp>
        <p:nvSpPr>
          <p:cNvPr id="13" name="Text 11">
            <a:hlinkClick r:id="rId8" tooltip="Go to Rules" action="ppaction://hlinksldjump"/>
          </p:cNvPr>
          <p:cNvSpPr txBox="1"/>
          <p:nvPr/>
        </p:nvSpPr>
        <p:spPr>
          <a:xfrm>
            <a:off x="74066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8" action="ppaction://hlinksldjump" tooltip="Go to Rules">
                  <a:extLst>
                    <a:ext uri="{A12FA001-AC4F-418D-AE19-62706E023703}">
                      <ahyp:hlinkClr xmlns:ahyp="http://schemas.microsoft.com/office/drawing/2018/hyperlinkcolor" val="tx"/>
                    </a:ext>
                  </a:extLst>
                </a:hlinkClick>
              </a:rPr>
              <a:t>Rules</a:t>
            </a:r>
            <a:endParaRPr lang="en-US" sz="950" dirty="0"/>
          </a:p>
        </p:txBody>
      </p:sp>
      <p:sp>
        <p:nvSpPr>
          <p:cNvPr id="14" name="Text 12">
            <a:hlinkClick r:id="rId9" tooltip="Go to Results" action="ppaction://hlinksldjump"/>
          </p:cNvPr>
          <p:cNvSpPr txBox="1"/>
          <p:nvPr/>
        </p:nvSpPr>
        <p:spPr>
          <a:xfrm>
            <a:off x="80924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9" action="ppaction://hlinksldjump" tooltip="Go to Results">
                  <a:extLst>
                    <a:ext uri="{A12FA001-AC4F-418D-AE19-62706E023703}">
                      <ahyp:hlinkClr xmlns:ahyp="http://schemas.microsoft.com/office/drawing/2018/hyperlinkcolor" val="tx"/>
                    </a:ext>
                  </a:extLst>
                </a:hlinkClick>
              </a:rPr>
              <a:t>Results</a:t>
            </a:r>
            <a:endParaRPr lang="en-US" sz="950" dirty="0"/>
          </a:p>
        </p:txBody>
      </p:sp>
      <p:sp>
        <p:nvSpPr>
          <p:cNvPr id="15" name="Text 13">
            <a:hlinkClick r:id="rId10" tooltip="Go to Next" action="ppaction://hlinksldjump"/>
          </p:cNvPr>
          <p:cNvSpPr txBox="1"/>
          <p:nvPr/>
        </p:nvSpPr>
        <p:spPr>
          <a:xfrm>
            <a:off x="8778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10" action="ppaction://hlinksldjump" tooltip="Go to Next">
                  <a:extLst>
                    <a:ext uri="{A12FA001-AC4F-418D-AE19-62706E023703}">
                      <ahyp:hlinkClr xmlns:ahyp="http://schemas.microsoft.com/office/drawing/2018/hyperlinkcolor" val="tx"/>
                    </a:ext>
                  </a:extLst>
                </a:hlinkClick>
              </a:rPr>
              <a:t>Next</a:t>
            </a:r>
            <a:endParaRPr lang="en-US" sz="950" dirty="0"/>
          </a:p>
        </p:txBody>
      </p:sp>
      <p:sp>
        <p:nvSpPr>
          <p:cNvPr id="16" name="Prompt tile"/>
          <p:cNvSpPr/>
          <p:nvPr/>
        </p:nvSpPr>
        <p:spPr>
          <a:xfrm>
            <a:off x="548640" y="1463040"/>
            <a:ext cx="5440680" cy="2103120"/>
          </a:xfrm>
          <a:prstGeom prst="roundRect">
            <a:avLst>
              <a:gd name="adj" fmla="val 4348"/>
            </a:avLst>
          </a:prstGeom>
          <a:solidFill>
            <a:srgbClr val="1547C8"/>
          </a:solidFill>
          <a:ln w="12700">
            <a:solidFill>
              <a:srgbClr val="1547C8"/>
            </a:solidFill>
            <a:prstDash val="solid"/>
          </a:ln>
        </p:spPr>
      </p:sp>
      <p:sp>
        <p:nvSpPr>
          <p:cNvPr id="17" name="Text 15"/>
          <p:cNvSpPr txBox="1"/>
          <p:nvPr/>
        </p:nvSpPr>
        <p:spPr>
          <a:xfrm>
            <a:off x="868680" y="1737360"/>
            <a:ext cx="1463040" cy="365760"/>
          </a:xfrm>
          <a:prstGeom prst="rect">
            <a:avLst/>
          </a:prstGeom>
          <a:noFill/>
          <a:ln/>
        </p:spPr>
        <p:txBody>
          <a:bodyPr wrap="square" lIns="0" tIns="0" rIns="0" bIns="0" rtlCol="0" anchor="t"/>
          <a:lstStyle/>
          <a:p>
            <a:pPr indent="0" marL="0">
              <a:buNone/>
            </a:pPr>
            <a:r>
              <a:rPr lang="en-US" sz="1400" b="1" spc="200" kern="0" dirty="0">
                <a:solidFill>
                  <a:srgbClr val="FFFFFF"/>
                </a:solidFill>
              </a:rPr>
              <a:t>M-101</a:t>
            </a:r>
            <a:endParaRPr lang="en-US" sz="1400" dirty="0"/>
          </a:p>
        </p:txBody>
      </p:sp>
      <p:sp>
        <p:nvSpPr>
          <p:cNvPr id="18" name="Text 16"/>
          <p:cNvSpPr txBox="1"/>
          <p:nvPr/>
        </p:nvSpPr>
        <p:spPr>
          <a:xfrm>
            <a:off x="868680" y="2240280"/>
            <a:ext cx="4800600" cy="822960"/>
          </a:xfrm>
          <a:prstGeom prst="rect">
            <a:avLst/>
          </a:prstGeom>
          <a:noFill/>
          <a:ln/>
        </p:spPr>
        <p:txBody>
          <a:bodyPr wrap="square" lIns="0" tIns="0" rIns="0" bIns="0" rtlCol="0" anchor="t"/>
          <a:lstStyle/>
          <a:p>
            <a:pPr indent="0" marL="0">
              <a:buNone/>
            </a:pPr>
            <a:r>
              <a:rPr lang="en-US" sz="2000" b="1" dirty="0">
                <a:solidFill>
                  <a:srgbClr val="FFFFFF"/>
                </a:solidFill>
              </a:rPr>
              <a:t>“Why should I record my readings at home?”</a:t>
            </a:r>
            <a:endParaRPr lang="en-US" sz="2000" dirty="0"/>
          </a:p>
        </p:txBody>
      </p:sp>
      <p:sp>
        <p:nvSpPr>
          <p:cNvPr id="19" name="Text 17"/>
          <p:cNvSpPr txBox="1"/>
          <p:nvPr/>
        </p:nvSpPr>
        <p:spPr>
          <a:xfrm>
            <a:off x="868680" y="3108960"/>
            <a:ext cx="2743200" cy="274320"/>
          </a:xfrm>
          <a:prstGeom prst="rect">
            <a:avLst/>
          </a:prstGeom>
          <a:noFill/>
          <a:ln/>
        </p:spPr>
        <p:txBody>
          <a:bodyPr wrap="square" lIns="0" tIns="0" rIns="0" bIns="0" rtlCol="0" anchor="t"/>
          <a:lstStyle/>
          <a:p>
            <a:pPr indent="0" marL="0">
              <a:buNone/>
            </a:pPr>
            <a:r>
              <a:rPr lang="en-US" sz="1300" b="1" dirty="0">
                <a:solidFill>
                  <a:srgbClr val="FFFFFF"/>
                </a:solidFill>
              </a:rPr>
              <a:t>See the result →</a:t>
            </a:r>
            <a:endParaRPr lang="en-US" sz="1300" dirty="0"/>
          </a:p>
        </p:txBody>
      </p:sp>
      <p:sp>
        <p:nvSpPr>
          <p:cNvPr id="20" name="Text 18"/>
          <p:cNvSpPr txBox="1"/>
          <p:nvPr/>
        </p:nvSpPr>
        <p:spPr>
          <a:xfrm>
            <a:off x="3474720" y="3108960"/>
            <a:ext cx="2194560" cy="274320"/>
          </a:xfrm>
          <a:prstGeom prst="rect">
            <a:avLst/>
          </a:prstGeom>
          <a:noFill/>
          <a:ln/>
        </p:spPr>
        <p:txBody>
          <a:bodyPr wrap="square" lIns="0" tIns="0" rIns="0" bIns="0" rtlCol="0" anchor="t"/>
          <a:lstStyle/>
          <a:p>
            <a:pPr algn="r" indent="0" marL="0">
              <a:buNone/>
            </a:pPr>
            <a:r>
              <a:rPr lang="en-US" sz="1200" dirty="0">
                <a:solidFill>
                  <a:srgbClr val="FFFFFF"/>
                </a:solidFill>
              </a:rPr>
              <a:t>A cited answer</a:t>
            </a:r>
            <a:endParaRPr lang="en-US" sz="1200" dirty="0"/>
          </a:p>
        </p:txBody>
      </p:sp>
      <p:sp>
        <p:nvSpPr>
          <p:cNvPr id="21" name="Click target">
            <a:hlinkClick r:id="rId11" tooltip="See the result" action="ppaction://hlinksldjump"/>
          </p:cNvPr>
          <p:cNvSpPr/>
          <p:nvPr/>
        </p:nvSpPr>
        <p:spPr>
          <a:xfrm>
            <a:off x="548640" y="1463040"/>
            <a:ext cx="5440680" cy="2103120"/>
          </a:xfrm>
          <a:prstGeom prst="rect">
            <a:avLst/>
          </a:prstGeom>
          <a:solidFill>
            <a:srgbClr val="FFFFFF">
              <a:alpha val="0"/>
            </a:srgbClr>
          </a:solidFill>
          <a:ln w="12700">
            <a:solidFill>
              <a:srgbClr val="FFFFFF">
                <a:alpha val="0"/>
              </a:srgbClr>
            </a:solidFill>
            <a:prstDash val="solid"/>
          </a:ln>
        </p:spPr>
      </p:sp>
      <p:sp>
        <p:nvSpPr>
          <p:cNvPr id="22" name="Prompt tile"/>
          <p:cNvSpPr/>
          <p:nvPr/>
        </p:nvSpPr>
        <p:spPr>
          <a:xfrm>
            <a:off x="6199632" y="1463040"/>
            <a:ext cx="5440680" cy="2103120"/>
          </a:xfrm>
          <a:prstGeom prst="roundRect">
            <a:avLst>
              <a:gd name="adj" fmla="val 4348"/>
            </a:avLst>
          </a:prstGeom>
          <a:solidFill>
            <a:srgbClr val="E5484D"/>
          </a:solidFill>
          <a:ln w="12700">
            <a:solidFill>
              <a:srgbClr val="E5484D"/>
            </a:solidFill>
            <a:prstDash val="solid"/>
          </a:ln>
        </p:spPr>
      </p:sp>
      <p:sp>
        <p:nvSpPr>
          <p:cNvPr id="23" name="Text 21"/>
          <p:cNvSpPr txBox="1"/>
          <p:nvPr/>
        </p:nvSpPr>
        <p:spPr>
          <a:xfrm>
            <a:off x="6519672" y="1737360"/>
            <a:ext cx="1463040" cy="365760"/>
          </a:xfrm>
          <a:prstGeom prst="rect">
            <a:avLst/>
          </a:prstGeom>
          <a:noFill/>
          <a:ln/>
        </p:spPr>
        <p:txBody>
          <a:bodyPr wrap="square" lIns="0" tIns="0" rIns="0" bIns="0" rtlCol="0" anchor="t"/>
          <a:lstStyle/>
          <a:p>
            <a:pPr indent="0" marL="0">
              <a:buNone/>
            </a:pPr>
            <a:r>
              <a:rPr lang="en-US" sz="1400" b="1" spc="200" kern="0" dirty="0">
                <a:solidFill>
                  <a:srgbClr val="FFFFFF"/>
                </a:solidFill>
              </a:rPr>
              <a:t>M-101</a:t>
            </a:r>
            <a:endParaRPr lang="en-US" sz="1400" dirty="0"/>
          </a:p>
        </p:txBody>
      </p:sp>
      <p:sp>
        <p:nvSpPr>
          <p:cNvPr id="24" name="Text 22"/>
          <p:cNvSpPr txBox="1"/>
          <p:nvPr/>
        </p:nvSpPr>
        <p:spPr>
          <a:xfrm>
            <a:off x="6519672" y="2240280"/>
            <a:ext cx="4800600" cy="822960"/>
          </a:xfrm>
          <a:prstGeom prst="rect">
            <a:avLst/>
          </a:prstGeom>
          <a:noFill/>
          <a:ln/>
        </p:spPr>
        <p:txBody>
          <a:bodyPr wrap="square" lIns="0" tIns="0" rIns="0" bIns="0" rtlCol="0" anchor="t"/>
          <a:lstStyle/>
          <a:p>
            <a:pPr indent="0" marL="0">
              <a:buNone/>
            </a:pPr>
            <a:r>
              <a:rPr lang="en-US" sz="2000" b="1" dirty="0">
                <a:solidFill>
                  <a:srgbClr val="FFFFFF"/>
                </a:solidFill>
              </a:rPr>
              <a:t>“Can I increase my insulin dose this week?”</a:t>
            </a:r>
            <a:endParaRPr lang="en-US" sz="2000" dirty="0"/>
          </a:p>
        </p:txBody>
      </p:sp>
      <p:sp>
        <p:nvSpPr>
          <p:cNvPr id="25" name="Text 23"/>
          <p:cNvSpPr txBox="1"/>
          <p:nvPr/>
        </p:nvSpPr>
        <p:spPr>
          <a:xfrm>
            <a:off x="6519672" y="3108960"/>
            <a:ext cx="2743200" cy="274320"/>
          </a:xfrm>
          <a:prstGeom prst="rect">
            <a:avLst/>
          </a:prstGeom>
          <a:noFill/>
          <a:ln/>
        </p:spPr>
        <p:txBody>
          <a:bodyPr wrap="square" lIns="0" tIns="0" rIns="0" bIns="0" rtlCol="0" anchor="t"/>
          <a:lstStyle/>
          <a:p>
            <a:pPr indent="0" marL="0">
              <a:buNone/>
            </a:pPr>
            <a:r>
              <a:rPr lang="en-US" sz="1300" b="1" dirty="0">
                <a:solidFill>
                  <a:srgbClr val="FFFFFF"/>
                </a:solidFill>
              </a:rPr>
              <a:t>See the result →</a:t>
            </a:r>
            <a:endParaRPr lang="en-US" sz="1300" dirty="0"/>
          </a:p>
        </p:txBody>
      </p:sp>
      <p:sp>
        <p:nvSpPr>
          <p:cNvPr id="26" name="Text 24"/>
          <p:cNvSpPr txBox="1"/>
          <p:nvPr/>
        </p:nvSpPr>
        <p:spPr>
          <a:xfrm>
            <a:off x="9125712" y="3108960"/>
            <a:ext cx="2194560" cy="274320"/>
          </a:xfrm>
          <a:prstGeom prst="rect">
            <a:avLst/>
          </a:prstGeom>
          <a:noFill/>
          <a:ln/>
        </p:spPr>
        <p:txBody>
          <a:bodyPr wrap="square" lIns="0" tIns="0" rIns="0" bIns="0" rtlCol="0" anchor="t"/>
          <a:lstStyle/>
          <a:p>
            <a:pPr algn="r" indent="0" marL="0">
              <a:buNone/>
            </a:pPr>
            <a:r>
              <a:rPr lang="en-US" sz="1200" dirty="0">
                <a:solidFill>
                  <a:srgbClr val="FFFFFF"/>
                </a:solidFill>
              </a:rPr>
              <a:t>A declined request</a:t>
            </a:r>
            <a:endParaRPr lang="en-US" sz="1200" dirty="0"/>
          </a:p>
        </p:txBody>
      </p:sp>
      <p:sp>
        <p:nvSpPr>
          <p:cNvPr id="27" name="Click target">
            <a:hlinkClick r:id="rId12" tooltip="See the result" action="ppaction://hlinksldjump"/>
          </p:cNvPr>
          <p:cNvSpPr/>
          <p:nvPr/>
        </p:nvSpPr>
        <p:spPr>
          <a:xfrm>
            <a:off x="6199632" y="1463040"/>
            <a:ext cx="5440680" cy="2103120"/>
          </a:xfrm>
          <a:prstGeom prst="rect">
            <a:avLst/>
          </a:prstGeom>
          <a:solidFill>
            <a:srgbClr val="FFFFFF">
              <a:alpha val="0"/>
            </a:srgbClr>
          </a:solidFill>
          <a:ln w="12700">
            <a:solidFill>
              <a:srgbClr val="FFFFFF">
                <a:alpha val="0"/>
              </a:srgbClr>
            </a:solidFill>
            <a:prstDash val="solid"/>
          </a:ln>
        </p:spPr>
      </p:sp>
      <p:sp>
        <p:nvSpPr>
          <p:cNvPr id="28" name="Prompt tile"/>
          <p:cNvSpPr/>
          <p:nvPr/>
        </p:nvSpPr>
        <p:spPr>
          <a:xfrm>
            <a:off x="548640" y="3794760"/>
            <a:ext cx="5440680" cy="2103120"/>
          </a:xfrm>
          <a:prstGeom prst="roundRect">
            <a:avLst>
              <a:gd name="adj" fmla="val 4348"/>
            </a:avLst>
          </a:prstGeom>
          <a:solidFill>
            <a:srgbClr val="F5A524"/>
          </a:solidFill>
          <a:ln w="12700">
            <a:solidFill>
              <a:srgbClr val="F5A524"/>
            </a:solidFill>
            <a:prstDash val="solid"/>
          </a:ln>
        </p:spPr>
      </p:sp>
      <p:sp>
        <p:nvSpPr>
          <p:cNvPr id="29" name="Text 27"/>
          <p:cNvSpPr txBox="1"/>
          <p:nvPr/>
        </p:nvSpPr>
        <p:spPr>
          <a:xfrm>
            <a:off x="868680" y="4069080"/>
            <a:ext cx="1463040" cy="365760"/>
          </a:xfrm>
          <a:prstGeom prst="rect">
            <a:avLst/>
          </a:prstGeom>
          <a:noFill/>
          <a:ln/>
        </p:spPr>
        <p:txBody>
          <a:bodyPr wrap="square" lIns="0" tIns="0" rIns="0" bIns="0" rtlCol="0" anchor="t"/>
          <a:lstStyle/>
          <a:p>
            <a:pPr indent="0" marL="0">
              <a:buNone/>
            </a:pPr>
            <a:r>
              <a:rPr lang="en-US" sz="1400" b="1" spc="200" kern="0" dirty="0">
                <a:solidFill>
                  <a:srgbClr val="0A1F5C"/>
                </a:solidFill>
              </a:rPr>
              <a:t>M-103</a:t>
            </a:r>
            <a:endParaRPr lang="en-US" sz="1400" dirty="0"/>
          </a:p>
        </p:txBody>
      </p:sp>
      <p:sp>
        <p:nvSpPr>
          <p:cNvPr id="30" name="Text 28"/>
          <p:cNvSpPr txBox="1"/>
          <p:nvPr/>
        </p:nvSpPr>
        <p:spPr>
          <a:xfrm>
            <a:off x="868680" y="4572000"/>
            <a:ext cx="4800600" cy="822960"/>
          </a:xfrm>
          <a:prstGeom prst="rect">
            <a:avLst/>
          </a:prstGeom>
          <a:noFill/>
          <a:ln/>
        </p:spPr>
        <p:txBody>
          <a:bodyPr wrap="square" lIns="0" tIns="0" rIns="0" bIns="0" rtlCol="0" anchor="t"/>
          <a:lstStyle/>
          <a:p>
            <a:pPr indent="0" marL="0">
              <a:buNone/>
            </a:pPr>
            <a:r>
              <a:rPr lang="en-US" sz="2000" b="1" dirty="0">
                <a:solidFill>
                  <a:srgbClr val="0A1F5C"/>
                </a:solidFill>
              </a:rPr>
              <a:t>“Can you explain home readings?”</a:t>
            </a:r>
            <a:endParaRPr lang="en-US" sz="2000" dirty="0"/>
          </a:p>
        </p:txBody>
      </p:sp>
      <p:sp>
        <p:nvSpPr>
          <p:cNvPr id="31" name="Text 29"/>
          <p:cNvSpPr txBox="1"/>
          <p:nvPr/>
        </p:nvSpPr>
        <p:spPr>
          <a:xfrm>
            <a:off x="868680" y="5440680"/>
            <a:ext cx="2743200" cy="274320"/>
          </a:xfrm>
          <a:prstGeom prst="rect">
            <a:avLst/>
          </a:prstGeom>
          <a:noFill/>
          <a:ln/>
        </p:spPr>
        <p:txBody>
          <a:bodyPr wrap="square" lIns="0" tIns="0" rIns="0" bIns="0" rtlCol="0" anchor="t"/>
          <a:lstStyle/>
          <a:p>
            <a:pPr indent="0" marL="0">
              <a:buNone/>
            </a:pPr>
            <a:r>
              <a:rPr lang="en-US" sz="1300" b="1" dirty="0">
                <a:solidFill>
                  <a:srgbClr val="0A1F5C"/>
                </a:solidFill>
              </a:rPr>
              <a:t>See the result →</a:t>
            </a:r>
            <a:endParaRPr lang="en-US" sz="1300" dirty="0"/>
          </a:p>
        </p:txBody>
      </p:sp>
      <p:sp>
        <p:nvSpPr>
          <p:cNvPr id="32" name="Text 30"/>
          <p:cNvSpPr txBox="1"/>
          <p:nvPr/>
        </p:nvSpPr>
        <p:spPr>
          <a:xfrm>
            <a:off x="3474720" y="5440680"/>
            <a:ext cx="2194560" cy="274320"/>
          </a:xfrm>
          <a:prstGeom prst="rect">
            <a:avLst/>
          </a:prstGeom>
          <a:noFill/>
          <a:ln/>
        </p:spPr>
        <p:txBody>
          <a:bodyPr wrap="square" lIns="0" tIns="0" rIns="0" bIns="0" rtlCol="0" anchor="t"/>
          <a:lstStyle/>
          <a:p>
            <a:pPr algn="r" indent="0" marL="0">
              <a:buNone/>
            </a:pPr>
            <a:r>
              <a:rPr lang="en-US" sz="1200" dirty="0">
                <a:solidFill>
                  <a:srgbClr val="0A1F5C"/>
                </a:solidFill>
              </a:rPr>
              <a:t>Consent has expired</a:t>
            </a:r>
            <a:endParaRPr lang="en-US" sz="1200" dirty="0"/>
          </a:p>
        </p:txBody>
      </p:sp>
      <p:sp>
        <p:nvSpPr>
          <p:cNvPr id="33" name="Click target">
            <a:hlinkClick r:id="rId13" tooltip="See the result" action="ppaction://hlinksldjump"/>
          </p:cNvPr>
          <p:cNvSpPr/>
          <p:nvPr/>
        </p:nvSpPr>
        <p:spPr>
          <a:xfrm>
            <a:off x="548640" y="3794760"/>
            <a:ext cx="5440680" cy="2103120"/>
          </a:xfrm>
          <a:prstGeom prst="rect">
            <a:avLst/>
          </a:prstGeom>
          <a:solidFill>
            <a:srgbClr val="FFFFFF">
              <a:alpha val="0"/>
            </a:srgbClr>
          </a:solidFill>
          <a:ln w="12700">
            <a:solidFill>
              <a:srgbClr val="FFFFFF">
                <a:alpha val="0"/>
              </a:srgbClr>
            </a:solidFill>
            <a:prstDash val="solid"/>
          </a:ln>
        </p:spPr>
      </p:sp>
      <p:sp>
        <p:nvSpPr>
          <p:cNvPr id="34" name="Prompt tile"/>
          <p:cNvSpPr/>
          <p:nvPr/>
        </p:nvSpPr>
        <p:spPr>
          <a:xfrm>
            <a:off x="6199632" y="3794760"/>
            <a:ext cx="5440680" cy="2103120"/>
          </a:xfrm>
          <a:prstGeom prst="roundRect">
            <a:avLst>
              <a:gd name="adj" fmla="val 4348"/>
            </a:avLst>
          </a:prstGeom>
          <a:solidFill>
            <a:srgbClr val="8338EC"/>
          </a:solidFill>
          <a:ln w="12700">
            <a:solidFill>
              <a:srgbClr val="8338EC"/>
            </a:solidFill>
            <a:prstDash val="solid"/>
          </a:ln>
        </p:spPr>
      </p:sp>
      <p:sp>
        <p:nvSpPr>
          <p:cNvPr id="35" name="Text 33"/>
          <p:cNvSpPr txBox="1"/>
          <p:nvPr/>
        </p:nvSpPr>
        <p:spPr>
          <a:xfrm>
            <a:off x="6519672" y="4069080"/>
            <a:ext cx="1463040" cy="365760"/>
          </a:xfrm>
          <a:prstGeom prst="rect">
            <a:avLst/>
          </a:prstGeom>
          <a:noFill/>
          <a:ln/>
        </p:spPr>
        <p:txBody>
          <a:bodyPr wrap="square" lIns="0" tIns="0" rIns="0" bIns="0" rtlCol="0" anchor="t"/>
          <a:lstStyle/>
          <a:p>
            <a:pPr indent="0" marL="0">
              <a:buNone/>
            </a:pPr>
            <a:r>
              <a:rPr lang="en-US" sz="1400" b="1" spc="200" kern="0" dirty="0">
                <a:solidFill>
                  <a:srgbClr val="FFFFFF"/>
                </a:solidFill>
              </a:rPr>
              <a:t>M-102</a:t>
            </a:r>
            <a:endParaRPr lang="en-US" sz="1400" dirty="0"/>
          </a:p>
        </p:txBody>
      </p:sp>
      <p:sp>
        <p:nvSpPr>
          <p:cNvPr id="36" name="Text 34"/>
          <p:cNvSpPr txBox="1"/>
          <p:nvPr/>
        </p:nvSpPr>
        <p:spPr>
          <a:xfrm>
            <a:off x="6519672" y="4572000"/>
            <a:ext cx="4800600" cy="822960"/>
          </a:xfrm>
          <a:prstGeom prst="rect">
            <a:avLst/>
          </a:prstGeom>
          <a:noFill/>
          <a:ln/>
        </p:spPr>
        <p:txBody>
          <a:bodyPr wrap="square" lIns="0" tIns="0" rIns="0" bIns="0" rtlCol="0" anchor="t"/>
          <a:lstStyle/>
          <a:p>
            <a:pPr indent="0" marL="0">
              <a:buNone/>
            </a:pPr>
            <a:r>
              <a:rPr lang="en-US" sz="2000" b="1" dirty="0">
                <a:solidFill>
                  <a:srgbClr val="FFFFFF"/>
                </a:solidFill>
              </a:rPr>
              <a:t>“Summarize my blood pressure for the last week”</a:t>
            </a:r>
            <a:endParaRPr lang="en-US" sz="2000" dirty="0"/>
          </a:p>
        </p:txBody>
      </p:sp>
      <p:sp>
        <p:nvSpPr>
          <p:cNvPr id="37" name="Text 35"/>
          <p:cNvSpPr txBox="1"/>
          <p:nvPr/>
        </p:nvSpPr>
        <p:spPr>
          <a:xfrm>
            <a:off x="6519672" y="5440680"/>
            <a:ext cx="2743200" cy="274320"/>
          </a:xfrm>
          <a:prstGeom prst="rect">
            <a:avLst/>
          </a:prstGeom>
          <a:noFill/>
          <a:ln/>
        </p:spPr>
        <p:txBody>
          <a:bodyPr wrap="square" lIns="0" tIns="0" rIns="0" bIns="0" rtlCol="0" anchor="t"/>
          <a:lstStyle/>
          <a:p>
            <a:pPr indent="0" marL="0">
              <a:buNone/>
            </a:pPr>
            <a:r>
              <a:rPr lang="en-US" sz="1300" b="1" dirty="0">
                <a:solidFill>
                  <a:srgbClr val="FFFFFF"/>
                </a:solidFill>
              </a:rPr>
              <a:t>See the result →</a:t>
            </a:r>
            <a:endParaRPr lang="en-US" sz="1300" dirty="0"/>
          </a:p>
        </p:txBody>
      </p:sp>
      <p:sp>
        <p:nvSpPr>
          <p:cNvPr id="38" name="Text 36"/>
          <p:cNvSpPr txBox="1"/>
          <p:nvPr/>
        </p:nvSpPr>
        <p:spPr>
          <a:xfrm>
            <a:off x="9125712" y="5440680"/>
            <a:ext cx="2194560" cy="274320"/>
          </a:xfrm>
          <a:prstGeom prst="rect">
            <a:avLst/>
          </a:prstGeom>
          <a:noFill/>
          <a:ln/>
        </p:spPr>
        <p:txBody>
          <a:bodyPr wrap="square" lIns="0" tIns="0" rIns="0" bIns="0" rtlCol="0" anchor="t"/>
          <a:lstStyle/>
          <a:p>
            <a:pPr algn="r" indent="0" marL="0">
              <a:buNone/>
            </a:pPr>
            <a:r>
              <a:rPr lang="en-US" sz="1200" dirty="0">
                <a:solidFill>
                  <a:srgbClr val="FFFFFF"/>
                </a:solidFill>
              </a:rPr>
              <a:t>An urgent staff review</a:t>
            </a:r>
            <a:endParaRPr lang="en-US" sz="1200" dirty="0"/>
          </a:p>
        </p:txBody>
      </p:sp>
      <p:sp>
        <p:nvSpPr>
          <p:cNvPr id="39" name="Click target">
            <a:hlinkClick r:id="rId14" tooltip="See the result" action="ppaction://hlinksldjump"/>
          </p:cNvPr>
          <p:cNvSpPr/>
          <p:nvPr/>
        </p:nvSpPr>
        <p:spPr>
          <a:xfrm>
            <a:off x="6199632" y="3794760"/>
            <a:ext cx="5440680" cy="2103120"/>
          </a:xfrm>
          <a:prstGeom prst="rect">
            <a:avLst/>
          </a:prstGeom>
          <a:solidFill>
            <a:srgbClr val="FFFFFF">
              <a:alpha val="0"/>
            </a:srgbClr>
          </a:solidFill>
          <a:ln w="12700">
            <a:solidFill>
              <a:srgbClr val="FFFFFF">
                <a:alpha val="0"/>
              </a:srgbClr>
            </a:solidFill>
            <a:prstDash val="solid"/>
          </a:ln>
        </p:spPr>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name="Slide 10">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56032"/>
          </a:xfrm>
          <a:prstGeom prst="rect">
            <a:avLst/>
          </a:prstGeom>
          <a:noFill/>
          <a:ln/>
        </p:spPr>
        <p:txBody>
          <a:bodyPr wrap="square" lIns="0" tIns="0" rIns="0" bIns="0" rtlCol="0" anchor="t"/>
          <a:lstStyle/>
          <a:p>
            <a:pPr algn="l" indent="0" marL="0">
              <a:buNone/>
            </a:pPr>
            <a:r>
              <a:rPr lang="en-US" sz="1100" b="1" spc="300" kern="0" dirty="0">
                <a:solidFill>
                  <a:srgbClr val="1547C8"/>
                </a:solidFill>
              </a:rPr>
              <a:t>04  ·  TRY IT  ·  RESULT</a:t>
            </a:r>
            <a:endParaRPr lang="en-US" sz="1100" dirty="0"/>
          </a:p>
        </p:txBody>
      </p:sp>
      <p:sp>
        <p:nvSpPr>
          <p:cNvPr id="3" name="Text 1"/>
          <p:cNvSpPr/>
          <p:nvPr>
            <p:ph idx="103" type="title" hasCustomPrompt="1"/>
          </p:nvPr>
        </p:nvSpPr>
        <p:spPr>
          <a:xfrm>
            <a:off x="548640" y="603504"/>
            <a:ext cx="11064240" cy="603504"/>
          </a:xfrm>
          <a:prstGeom prst="rect">
            <a:avLst/>
          </a:prstGeom>
          <a:noFill/>
          <a:ln/>
        </p:spPr>
        <p:txBody>
          <a:bodyPr wrap="square" lIns="0" tIns="0" rIns="0" bIns="0" rtlCol="0" anchor="t"/>
          <a:lstStyle/>
          <a:p>
            <a:pPr algn="l" indent="0" marL="0">
              <a:buNone/>
            </a:pPr>
            <a:r>
              <a:rPr lang="en-US" sz="3400" b="1" dirty="0">
                <a:solidFill>
                  <a:srgbClr val="0A1F5C"/>
                </a:solidFill>
              </a:rPr>
              <a:t>A cited answer from approved content</a:t>
            </a:r>
            <a:endParaRPr lang="en-US" sz="3400" dirty="0"/>
          </a:p>
        </p:txBody>
      </p:sp>
      <p:sp>
        <p:nvSpPr>
          <p:cNvPr id="4" name="Text 2">
            <a:hlinkClick r:id="rId1" tooltip="Go to Agenda" action="ppaction://hlinksldjump"/>
          </p:cNvPr>
          <p:cNvSpPr txBox="1"/>
          <p:nvPr/>
        </p:nvSpPr>
        <p:spPr>
          <a:xfrm>
            <a:off x="1920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1" action="ppaction://hlinksldjump" tooltip="Go to Agenda">
                  <a:extLst>
                    <a:ext uri="{A12FA001-AC4F-418D-AE19-62706E023703}">
                      <ahyp:hlinkClr xmlns:ahyp="http://schemas.microsoft.com/office/drawing/2018/hyperlinkcolor" val="tx"/>
                    </a:ext>
                  </a:extLst>
                </a:hlinkClick>
              </a:rPr>
              <a:t>Agenda</a:t>
            </a:r>
            <a:endParaRPr lang="en-US" sz="950" dirty="0"/>
          </a:p>
        </p:txBody>
      </p:sp>
      <p:sp>
        <p:nvSpPr>
          <p:cNvPr id="5" name="Text 3">
            <a:hlinkClick r:id="rId2" tooltip="Go to Problem" action="ppaction://hlinksldjump"/>
          </p:cNvPr>
          <p:cNvSpPr txBox="1"/>
          <p:nvPr/>
        </p:nvSpPr>
        <p:spPr>
          <a:xfrm>
            <a:off x="26060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2" action="ppaction://hlinksldjump" tooltip="Go to Problem">
                  <a:extLst>
                    <a:ext uri="{A12FA001-AC4F-418D-AE19-62706E023703}">
                      <ahyp:hlinkClr xmlns:ahyp="http://schemas.microsoft.com/office/drawing/2018/hyperlinkcolor" val="tx"/>
                    </a:ext>
                  </a:extLst>
                </a:hlinkClick>
              </a:rPr>
              <a:t>Problem</a:t>
            </a:r>
            <a:endParaRPr lang="en-US" sz="950" dirty="0"/>
          </a:p>
        </p:txBody>
      </p:sp>
      <p:sp>
        <p:nvSpPr>
          <p:cNvPr id="6" name="Text 4">
            <a:hlinkClick r:id="rId3" tooltip="Go to Solution" action="ppaction://hlinksldjump"/>
          </p:cNvPr>
          <p:cNvSpPr txBox="1"/>
          <p:nvPr/>
        </p:nvSpPr>
        <p:spPr>
          <a:xfrm>
            <a:off x="32918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3" action="ppaction://hlinksldjump" tooltip="Go to Solution">
                  <a:extLst>
                    <a:ext uri="{A12FA001-AC4F-418D-AE19-62706E023703}">
                      <ahyp:hlinkClr xmlns:ahyp="http://schemas.microsoft.com/office/drawing/2018/hyperlinkcolor" val="tx"/>
                    </a:ext>
                  </a:extLst>
                </a:hlinkClick>
              </a:rPr>
              <a:t>Solution</a:t>
            </a:r>
            <a:endParaRPr lang="en-US" sz="950" dirty="0"/>
          </a:p>
        </p:txBody>
      </p:sp>
      <p:sp>
        <p:nvSpPr>
          <p:cNvPr id="7" name="Text 5">
            <a:hlinkClick r:id="rId4" tooltip="Go to Principle" action="ppaction://hlinksldjump"/>
          </p:cNvPr>
          <p:cNvSpPr txBox="1"/>
          <p:nvPr/>
        </p:nvSpPr>
        <p:spPr>
          <a:xfrm>
            <a:off x="39776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4" action="ppaction://hlinksldjump" tooltip="Go to Principle">
                  <a:extLst>
                    <a:ext uri="{A12FA001-AC4F-418D-AE19-62706E023703}">
                      <ahyp:hlinkClr xmlns:ahyp="http://schemas.microsoft.com/office/drawing/2018/hyperlinkcolor" val="tx"/>
                    </a:ext>
                  </a:extLst>
                </a:hlinkClick>
              </a:rPr>
              <a:t>Principle</a:t>
            </a:r>
            <a:endParaRPr lang="en-US" sz="950" dirty="0"/>
          </a:p>
        </p:txBody>
      </p:sp>
      <p:sp>
        <p:nvSpPr>
          <p:cNvPr id="8" name="Text 6">
            <a:hlinkClick r:id="rId5" tooltip="Go to Flow" action="ppaction://hlinksldjump"/>
          </p:cNvPr>
          <p:cNvSpPr txBox="1"/>
          <p:nvPr/>
        </p:nvSpPr>
        <p:spPr>
          <a:xfrm>
            <a:off x="46634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5" action="ppaction://hlinksldjump" tooltip="Go to Flow">
                  <a:extLst>
                    <a:ext uri="{A12FA001-AC4F-418D-AE19-62706E023703}">
                      <ahyp:hlinkClr xmlns:ahyp="http://schemas.microsoft.com/office/drawing/2018/hyperlinkcolor" val="tx"/>
                    </a:ext>
                  </a:extLst>
                </a:hlinkClick>
              </a:rPr>
              <a:t>Flow</a:t>
            </a:r>
            <a:endParaRPr lang="en-US" sz="950" dirty="0"/>
          </a:p>
        </p:txBody>
      </p:sp>
      <p:sp>
        <p:nvSpPr>
          <p:cNvPr id="9" name="Text 7">
            <a:hlinkClick r:id="rId6" tooltip="Go to RAG" action="ppaction://hlinksldjump"/>
          </p:cNvPr>
          <p:cNvSpPr txBox="1"/>
          <p:nvPr/>
        </p:nvSpPr>
        <p:spPr>
          <a:xfrm>
            <a:off x="5349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6" action="ppaction://hlinksldjump" tooltip="Go to RAG">
                  <a:extLst>
                    <a:ext uri="{A12FA001-AC4F-418D-AE19-62706E023703}">
                      <ahyp:hlinkClr xmlns:ahyp="http://schemas.microsoft.com/office/drawing/2018/hyperlinkcolor" val="tx"/>
                    </a:ext>
                  </a:extLst>
                </a:hlinkClick>
              </a:rPr>
              <a:t>RAG</a:t>
            </a:r>
            <a:endParaRPr lang="en-US" sz="950" dirty="0"/>
          </a:p>
        </p:txBody>
      </p:sp>
      <p:sp>
        <p:nvSpPr>
          <p:cNvPr id="10" name="Text 8">
            <a:hlinkClick r:id="rId7" tooltip="Go to Demo" action="ppaction://hlinksldjump"/>
          </p:cNvPr>
          <p:cNvSpPr txBox="1"/>
          <p:nvPr/>
        </p:nvSpPr>
        <p:spPr>
          <a:xfrm>
            <a:off x="60350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7" action="ppaction://hlinksldjump" tooltip="Go to Demo">
                  <a:extLst>
                    <a:ext uri="{A12FA001-AC4F-418D-AE19-62706E023703}">
                      <ahyp:hlinkClr xmlns:ahyp="http://schemas.microsoft.com/office/drawing/2018/hyperlinkcolor" val="tx"/>
                    </a:ext>
                  </a:extLst>
                </a:hlinkClick>
              </a:rPr>
              <a:t>Demo</a:t>
            </a:r>
            <a:endParaRPr lang="en-US" sz="950" dirty="0"/>
          </a:p>
        </p:txBody>
      </p:sp>
      <p:sp>
        <p:nvSpPr>
          <p:cNvPr id="11" name="Text 9"/>
          <p:cNvSpPr txBox="1"/>
          <p:nvPr/>
        </p:nvSpPr>
        <p:spPr>
          <a:xfrm>
            <a:off x="6720840" y="6382512"/>
            <a:ext cx="685800" cy="219456"/>
          </a:xfrm>
          <a:prstGeom prst="rect">
            <a:avLst/>
          </a:prstGeom>
          <a:noFill/>
          <a:ln/>
        </p:spPr>
        <p:txBody>
          <a:bodyPr wrap="square" lIns="0" tIns="0" rIns="0" bIns="0" rtlCol="0" anchor="ctr"/>
          <a:lstStyle/>
          <a:p>
            <a:pPr algn="ctr" indent="0" marL="0">
              <a:buNone/>
            </a:pPr>
            <a:r>
              <a:rPr lang="en-US" sz="950" b="1" dirty="0">
                <a:solidFill>
                  <a:srgbClr val="0A1F5C"/>
                </a:solidFill>
              </a:rPr>
              <a:t>Try it</a:t>
            </a:r>
            <a:endParaRPr lang="en-US" sz="950" dirty="0"/>
          </a:p>
        </p:txBody>
      </p:sp>
      <p:sp>
        <p:nvSpPr>
          <p:cNvPr id="12" name="Shape 10"/>
          <p:cNvSpPr/>
          <p:nvPr/>
        </p:nvSpPr>
        <p:spPr>
          <a:xfrm>
            <a:off x="7027164" y="6309360"/>
            <a:ext cx="73152" cy="73152"/>
          </a:xfrm>
          <a:prstGeom prst="ellipse">
            <a:avLst/>
          </a:prstGeom>
          <a:solidFill>
            <a:srgbClr val="1547C8"/>
          </a:solidFill>
          <a:ln w="12700">
            <a:solidFill>
              <a:srgbClr val="1547C8"/>
            </a:solidFill>
            <a:prstDash val="solid"/>
          </a:ln>
        </p:spPr>
      </p:sp>
      <p:sp>
        <p:nvSpPr>
          <p:cNvPr id="13" name="Text 11">
            <a:hlinkClick r:id="rId8" tooltip="Go to Rules" action="ppaction://hlinksldjump"/>
          </p:cNvPr>
          <p:cNvSpPr txBox="1"/>
          <p:nvPr/>
        </p:nvSpPr>
        <p:spPr>
          <a:xfrm>
            <a:off x="74066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8" action="ppaction://hlinksldjump" tooltip="Go to Rules">
                  <a:extLst>
                    <a:ext uri="{A12FA001-AC4F-418D-AE19-62706E023703}">
                      <ahyp:hlinkClr xmlns:ahyp="http://schemas.microsoft.com/office/drawing/2018/hyperlinkcolor" val="tx"/>
                    </a:ext>
                  </a:extLst>
                </a:hlinkClick>
              </a:rPr>
              <a:t>Rules</a:t>
            </a:r>
            <a:endParaRPr lang="en-US" sz="950" dirty="0"/>
          </a:p>
        </p:txBody>
      </p:sp>
      <p:sp>
        <p:nvSpPr>
          <p:cNvPr id="14" name="Text 12">
            <a:hlinkClick r:id="rId9" tooltip="Go to Results" action="ppaction://hlinksldjump"/>
          </p:cNvPr>
          <p:cNvSpPr txBox="1"/>
          <p:nvPr/>
        </p:nvSpPr>
        <p:spPr>
          <a:xfrm>
            <a:off x="80924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9" action="ppaction://hlinksldjump" tooltip="Go to Results">
                  <a:extLst>
                    <a:ext uri="{A12FA001-AC4F-418D-AE19-62706E023703}">
                      <ahyp:hlinkClr xmlns:ahyp="http://schemas.microsoft.com/office/drawing/2018/hyperlinkcolor" val="tx"/>
                    </a:ext>
                  </a:extLst>
                </a:hlinkClick>
              </a:rPr>
              <a:t>Results</a:t>
            </a:r>
            <a:endParaRPr lang="en-US" sz="950" dirty="0"/>
          </a:p>
        </p:txBody>
      </p:sp>
      <p:sp>
        <p:nvSpPr>
          <p:cNvPr id="15" name="Text 13">
            <a:hlinkClick r:id="rId10" tooltip="Go to Next" action="ppaction://hlinksldjump"/>
          </p:cNvPr>
          <p:cNvSpPr txBox="1"/>
          <p:nvPr/>
        </p:nvSpPr>
        <p:spPr>
          <a:xfrm>
            <a:off x="8778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10" action="ppaction://hlinksldjump" tooltip="Go to Next">
                  <a:extLst>
                    <a:ext uri="{A12FA001-AC4F-418D-AE19-62706E023703}">
                      <ahyp:hlinkClr xmlns:ahyp="http://schemas.microsoft.com/office/drawing/2018/hyperlinkcolor" val="tx"/>
                    </a:ext>
                  </a:extLst>
                </a:hlinkClick>
              </a:rPr>
              <a:t>Next</a:t>
            </a:r>
            <a:endParaRPr lang="en-US" sz="950" dirty="0"/>
          </a:p>
        </p:txBody>
      </p:sp>
      <p:sp>
        <p:nvSpPr>
          <p:cNvPr id="16" name="Question band"/>
          <p:cNvSpPr/>
          <p:nvPr/>
        </p:nvSpPr>
        <p:spPr>
          <a:xfrm>
            <a:off x="548640" y="1417320"/>
            <a:ext cx="11091672" cy="1280160"/>
          </a:xfrm>
          <a:prstGeom prst="roundRect">
            <a:avLst>
              <a:gd name="adj" fmla="val 7143"/>
            </a:avLst>
          </a:prstGeom>
          <a:solidFill>
            <a:srgbClr val="1547C8"/>
          </a:solidFill>
          <a:ln w="12700">
            <a:solidFill>
              <a:srgbClr val="1547C8"/>
            </a:solidFill>
            <a:prstDash val="solid"/>
          </a:ln>
        </p:spPr>
      </p:sp>
      <p:sp>
        <p:nvSpPr>
          <p:cNvPr id="17" name="Text 15"/>
          <p:cNvSpPr txBox="1"/>
          <p:nvPr/>
        </p:nvSpPr>
        <p:spPr>
          <a:xfrm>
            <a:off x="868680" y="1554480"/>
            <a:ext cx="2743200" cy="228600"/>
          </a:xfrm>
          <a:prstGeom prst="rect">
            <a:avLst/>
          </a:prstGeom>
          <a:noFill/>
          <a:ln/>
        </p:spPr>
        <p:txBody>
          <a:bodyPr wrap="square" lIns="0" tIns="0" rIns="0" bIns="0" rtlCol="0" anchor="t"/>
          <a:lstStyle/>
          <a:p>
            <a:pPr indent="0" marL="0">
              <a:buNone/>
            </a:pPr>
            <a:r>
              <a:rPr lang="en-US" sz="1050" b="1" spc="300" kern="0" dirty="0">
                <a:solidFill>
                  <a:srgbClr val="FFFFFF"/>
                </a:solidFill>
              </a:rPr>
              <a:t>MEMBER ASKS</a:t>
            </a:r>
            <a:endParaRPr lang="en-US" sz="1050" dirty="0"/>
          </a:p>
        </p:txBody>
      </p:sp>
      <p:sp>
        <p:nvSpPr>
          <p:cNvPr id="18" name="Text 16"/>
          <p:cNvSpPr txBox="1"/>
          <p:nvPr/>
        </p:nvSpPr>
        <p:spPr>
          <a:xfrm>
            <a:off x="868680" y="1828800"/>
            <a:ext cx="8046720" cy="457200"/>
          </a:xfrm>
          <a:prstGeom prst="rect">
            <a:avLst/>
          </a:prstGeom>
          <a:noFill/>
          <a:ln/>
        </p:spPr>
        <p:txBody>
          <a:bodyPr wrap="square" lIns="0" tIns="0" rIns="0" bIns="0" rtlCol="0" anchor="ctr"/>
          <a:lstStyle/>
          <a:p>
            <a:pPr indent="0" marL="0">
              <a:buNone/>
            </a:pPr>
            <a:r>
              <a:rPr lang="en-US" sz="1900" b="1" dirty="0">
                <a:solidFill>
                  <a:srgbClr val="FFFFFF"/>
                </a:solidFill>
                <a:latin typeface="Courier New" pitchFamily="34" charset="0"/>
                <a:ea typeface="Courier New" pitchFamily="34" charset="-122"/>
                <a:cs typeface="Courier New" pitchFamily="34" charset="-120"/>
              </a:rPr>
              <a:t>Why should I record my readings at home?</a:t>
            </a:r>
            <a:endParaRPr lang="en-US" sz="1900" dirty="0"/>
          </a:p>
        </p:txBody>
      </p:sp>
      <p:sp>
        <p:nvSpPr>
          <p:cNvPr id="19" name="Text 17"/>
          <p:cNvSpPr txBox="1"/>
          <p:nvPr/>
        </p:nvSpPr>
        <p:spPr>
          <a:xfrm>
            <a:off x="868680" y="2304288"/>
            <a:ext cx="8046720" cy="256032"/>
          </a:xfrm>
          <a:prstGeom prst="rect">
            <a:avLst/>
          </a:prstGeom>
          <a:noFill/>
          <a:ln/>
        </p:spPr>
        <p:txBody>
          <a:bodyPr wrap="square" lIns="0" tIns="0" rIns="0" bIns="0" rtlCol="0" anchor="t"/>
          <a:lstStyle/>
          <a:p>
            <a:pPr indent="0" marL="0">
              <a:buNone/>
            </a:pPr>
            <a:r>
              <a:rPr lang="en-US" sz="1150" dirty="0">
                <a:solidFill>
                  <a:srgbClr val="FFFFFF"/>
                </a:solidFill>
              </a:rPr>
              <a:t>M-101 · Diabetes Support</a:t>
            </a:r>
            <a:endParaRPr lang="en-US" sz="1150" dirty="0"/>
          </a:p>
        </p:txBody>
      </p:sp>
      <p:sp>
        <p:nvSpPr>
          <p:cNvPr id="20" name="Pill"/>
          <p:cNvSpPr/>
          <p:nvPr/>
        </p:nvSpPr>
        <p:spPr>
          <a:xfrm>
            <a:off x="9326880" y="1783080"/>
            <a:ext cx="2011680" cy="502920"/>
          </a:xfrm>
          <a:prstGeom prst="roundRect">
            <a:avLst>
              <a:gd name="adj" fmla="val 50000"/>
            </a:avLst>
          </a:prstGeom>
          <a:solidFill>
            <a:srgbClr val="FFFFFF"/>
          </a:solidFill>
          <a:ln w="12700">
            <a:solidFill>
              <a:srgbClr val="FFFFFF"/>
            </a:solidFill>
            <a:prstDash val="solid"/>
          </a:ln>
        </p:spPr>
      </p:sp>
      <p:sp>
        <p:nvSpPr>
          <p:cNvPr id="21" name="Text 19"/>
          <p:cNvSpPr txBox="1"/>
          <p:nvPr/>
        </p:nvSpPr>
        <p:spPr>
          <a:xfrm>
            <a:off x="9326880" y="1783080"/>
            <a:ext cx="2011680" cy="502920"/>
          </a:xfrm>
          <a:prstGeom prst="rect">
            <a:avLst/>
          </a:prstGeom>
          <a:noFill/>
          <a:ln/>
        </p:spPr>
        <p:txBody>
          <a:bodyPr wrap="square" lIns="0" tIns="0" rIns="0" bIns="0" rtlCol="0" anchor="ctr"/>
          <a:lstStyle/>
          <a:p>
            <a:pPr algn="ctr" indent="0" marL="0">
              <a:buNone/>
            </a:pPr>
            <a:r>
              <a:rPr lang="en-US" sz="1600" b="1" dirty="0">
                <a:solidFill>
                  <a:srgbClr val="1547C8"/>
                </a:solidFill>
              </a:rPr>
              <a:t>NO RULE</a:t>
            </a:r>
            <a:endParaRPr lang="en-US" sz="1600" dirty="0"/>
          </a:p>
        </p:txBody>
      </p:sp>
      <p:sp>
        <p:nvSpPr>
          <p:cNvPr id="22" name="MEMBER SEES"/>
          <p:cNvSpPr/>
          <p:nvPr/>
        </p:nvSpPr>
        <p:spPr>
          <a:xfrm>
            <a:off x="548640" y="2926080"/>
            <a:ext cx="5440680" cy="2286000"/>
          </a:xfrm>
          <a:prstGeom prst="roundRect">
            <a:avLst>
              <a:gd name="adj" fmla="val 4000"/>
            </a:avLst>
          </a:prstGeom>
          <a:solidFill>
            <a:srgbClr val="F4F6FB"/>
          </a:solidFill>
          <a:ln w="12700">
            <a:solidFill>
              <a:srgbClr val="F4F6FB"/>
            </a:solidFill>
            <a:prstDash val="solid"/>
          </a:ln>
        </p:spPr>
      </p:sp>
      <p:sp>
        <p:nvSpPr>
          <p:cNvPr id="23" name="Text 21"/>
          <p:cNvSpPr txBox="1"/>
          <p:nvPr/>
        </p:nvSpPr>
        <p:spPr>
          <a:xfrm>
            <a:off x="822960" y="3090672"/>
            <a:ext cx="4114800" cy="274320"/>
          </a:xfrm>
          <a:prstGeom prst="rect">
            <a:avLst/>
          </a:prstGeom>
          <a:noFill/>
          <a:ln/>
        </p:spPr>
        <p:txBody>
          <a:bodyPr wrap="square" lIns="0" tIns="0" rIns="0" bIns="0" rtlCol="0" anchor="t"/>
          <a:lstStyle/>
          <a:p>
            <a:pPr indent="0" marL="0">
              <a:buNone/>
            </a:pPr>
            <a:r>
              <a:rPr lang="en-US" sz="1200" b="1" spc="300" kern="0" dirty="0">
                <a:solidFill>
                  <a:srgbClr val="1547C8"/>
                </a:solidFill>
              </a:rPr>
              <a:t>MEMBER SEES</a:t>
            </a:r>
            <a:endParaRPr lang="en-US" sz="1200" dirty="0"/>
          </a:p>
        </p:txBody>
      </p:sp>
      <p:sp>
        <p:nvSpPr>
          <p:cNvPr id="24" name="Bullet"/>
          <p:cNvSpPr/>
          <p:nvPr/>
        </p:nvSpPr>
        <p:spPr>
          <a:xfrm>
            <a:off x="841248" y="3721608"/>
            <a:ext cx="128016" cy="128016"/>
          </a:xfrm>
          <a:prstGeom prst="rect">
            <a:avLst/>
          </a:prstGeom>
          <a:solidFill>
            <a:srgbClr val="1547C8"/>
          </a:solidFill>
          <a:ln w="12700">
            <a:solidFill>
              <a:srgbClr val="1547C8"/>
            </a:solidFill>
            <a:prstDash val="solid"/>
          </a:ln>
        </p:spPr>
      </p:sp>
      <p:sp>
        <p:nvSpPr>
          <p:cNvPr id="25" name="Text 23"/>
          <p:cNvSpPr txBox="1"/>
          <p:nvPr/>
        </p:nvSpPr>
        <p:spPr>
          <a:xfrm>
            <a:off x="1143000" y="3611880"/>
            <a:ext cx="4663440" cy="457200"/>
          </a:xfrm>
          <a:prstGeom prst="rect">
            <a:avLst/>
          </a:prstGeom>
          <a:noFill/>
          <a:ln/>
        </p:spPr>
        <p:txBody>
          <a:bodyPr wrap="square" lIns="0" tIns="0" rIns="0" bIns="0" rtlCol="0" anchor="ctr"/>
          <a:lstStyle/>
          <a:p>
            <a:pPr indent="0" marL="0">
              <a:buNone/>
            </a:pPr>
            <a:r>
              <a:rPr lang="en-US" sz="1400" b="1" dirty="0">
                <a:solidFill>
                  <a:srgbClr val="0A1F5C"/>
                </a:solidFill>
              </a:rPr>
              <a:t>A short, plain-language answer from the approved article</a:t>
            </a:r>
            <a:endParaRPr lang="en-US" sz="1400" dirty="0"/>
          </a:p>
        </p:txBody>
      </p:sp>
      <p:sp>
        <p:nvSpPr>
          <p:cNvPr id="26" name="Bullet"/>
          <p:cNvSpPr/>
          <p:nvPr/>
        </p:nvSpPr>
        <p:spPr>
          <a:xfrm>
            <a:off x="841248" y="4224528"/>
            <a:ext cx="128016" cy="128016"/>
          </a:xfrm>
          <a:prstGeom prst="rect">
            <a:avLst/>
          </a:prstGeom>
          <a:solidFill>
            <a:srgbClr val="1547C8"/>
          </a:solidFill>
          <a:ln w="12700">
            <a:solidFill>
              <a:srgbClr val="1547C8"/>
            </a:solidFill>
            <a:prstDash val="solid"/>
          </a:ln>
        </p:spPr>
      </p:sp>
      <p:sp>
        <p:nvSpPr>
          <p:cNvPr id="27" name="Text 25"/>
          <p:cNvSpPr txBox="1"/>
          <p:nvPr/>
        </p:nvSpPr>
        <p:spPr>
          <a:xfrm>
            <a:off x="1143000" y="4114800"/>
            <a:ext cx="4663440" cy="457200"/>
          </a:xfrm>
          <a:prstGeom prst="rect">
            <a:avLst/>
          </a:prstGeom>
          <a:noFill/>
          <a:ln/>
        </p:spPr>
        <p:txBody>
          <a:bodyPr wrap="square" lIns="0" tIns="0" rIns="0" bIns="0" rtlCol="0" anchor="ctr"/>
          <a:lstStyle/>
          <a:p>
            <a:pPr indent="0" marL="0">
              <a:buNone/>
            </a:pPr>
            <a:r>
              <a:rPr lang="en-US" sz="1400" b="1" dirty="0">
                <a:solidFill>
                  <a:srgbClr val="0A1F5C"/>
                </a:solidFill>
              </a:rPr>
              <a:t>Source shown: EDU-401 (v4)</a:t>
            </a:r>
            <a:endParaRPr lang="en-US" sz="1400" dirty="0"/>
          </a:p>
        </p:txBody>
      </p:sp>
      <p:sp>
        <p:nvSpPr>
          <p:cNvPr id="28" name="Bullet"/>
          <p:cNvSpPr/>
          <p:nvPr/>
        </p:nvSpPr>
        <p:spPr>
          <a:xfrm>
            <a:off x="841248" y="4727448"/>
            <a:ext cx="128016" cy="128016"/>
          </a:xfrm>
          <a:prstGeom prst="rect">
            <a:avLst/>
          </a:prstGeom>
          <a:solidFill>
            <a:srgbClr val="1547C8"/>
          </a:solidFill>
          <a:ln w="12700">
            <a:solidFill>
              <a:srgbClr val="1547C8"/>
            </a:solidFill>
            <a:prstDash val="solid"/>
          </a:ln>
        </p:spPr>
      </p:sp>
      <p:sp>
        <p:nvSpPr>
          <p:cNvPr id="29" name="Text 27"/>
          <p:cNvSpPr txBox="1"/>
          <p:nvPr/>
        </p:nvSpPr>
        <p:spPr>
          <a:xfrm>
            <a:off x="1143000" y="4617720"/>
            <a:ext cx="4663440" cy="457200"/>
          </a:xfrm>
          <a:prstGeom prst="rect">
            <a:avLst/>
          </a:prstGeom>
          <a:noFill/>
          <a:ln/>
        </p:spPr>
        <p:txBody>
          <a:bodyPr wrap="square" lIns="0" tIns="0" rIns="0" bIns="0" rtlCol="0" anchor="ctr"/>
          <a:lstStyle/>
          <a:p>
            <a:pPr indent="0" marL="0">
              <a:buNone/>
            </a:pPr>
            <a:r>
              <a:rPr lang="en-US" sz="1400" b="1" dirty="0">
                <a:solidFill>
                  <a:srgbClr val="0A1F5C"/>
                </a:solidFill>
              </a:rPr>
              <a:t>Due plan items and the disclaimer</a:t>
            </a:r>
            <a:endParaRPr lang="en-US" sz="1400" dirty="0"/>
          </a:p>
        </p:txBody>
      </p:sp>
      <p:sp>
        <p:nvSpPr>
          <p:cNvPr id="30" name="STAFF SEES"/>
          <p:cNvSpPr/>
          <p:nvPr/>
        </p:nvSpPr>
        <p:spPr>
          <a:xfrm>
            <a:off x="6199632" y="2926080"/>
            <a:ext cx="5440680" cy="2286000"/>
          </a:xfrm>
          <a:prstGeom prst="roundRect">
            <a:avLst>
              <a:gd name="adj" fmla="val 4000"/>
            </a:avLst>
          </a:prstGeom>
          <a:solidFill>
            <a:srgbClr val="F4F6FB"/>
          </a:solidFill>
          <a:ln w="12700">
            <a:solidFill>
              <a:srgbClr val="F4F6FB"/>
            </a:solidFill>
            <a:prstDash val="solid"/>
          </a:ln>
        </p:spPr>
      </p:sp>
      <p:sp>
        <p:nvSpPr>
          <p:cNvPr id="31" name="Text 29"/>
          <p:cNvSpPr txBox="1"/>
          <p:nvPr/>
        </p:nvSpPr>
        <p:spPr>
          <a:xfrm>
            <a:off x="6473952" y="3090672"/>
            <a:ext cx="4114800" cy="274320"/>
          </a:xfrm>
          <a:prstGeom prst="rect">
            <a:avLst/>
          </a:prstGeom>
          <a:noFill/>
          <a:ln/>
        </p:spPr>
        <p:txBody>
          <a:bodyPr wrap="square" lIns="0" tIns="0" rIns="0" bIns="0" rtlCol="0" anchor="t"/>
          <a:lstStyle/>
          <a:p>
            <a:pPr indent="0" marL="0">
              <a:buNone/>
            </a:pPr>
            <a:r>
              <a:rPr lang="en-US" sz="1200" b="1" spc="300" kern="0" dirty="0">
                <a:solidFill>
                  <a:srgbClr val="1547C8"/>
                </a:solidFill>
              </a:rPr>
              <a:t>STAFF SEES</a:t>
            </a:r>
            <a:endParaRPr lang="en-US" sz="1200" dirty="0"/>
          </a:p>
        </p:txBody>
      </p:sp>
      <p:sp>
        <p:nvSpPr>
          <p:cNvPr id="32" name="Bullet"/>
          <p:cNvSpPr/>
          <p:nvPr/>
        </p:nvSpPr>
        <p:spPr>
          <a:xfrm>
            <a:off x="6492240" y="3721608"/>
            <a:ext cx="128016" cy="128016"/>
          </a:xfrm>
          <a:prstGeom prst="rect">
            <a:avLst/>
          </a:prstGeom>
          <a:solidFill>
            <a:srgbClr val="1547C8"/>
          </a:solidFill>
          <a:ln w="12700">
            <a:solidFill>
              <a:srgbClr val="1547C8"/>
            </a:solidFill>
            <a:prstDash val="solid"/>
          </a:ln>
        </p:spPr>
      </p:sp>
      <p:sp>
        <p:nvSpPr>
          <p:cNvPr id="33" name="Text 31"/>
          <p:cNvSpPr txBox="1"/>
          <p:nvPr/>
        </p:nvSpPr>
        <p:spPr>
          <a:xfrm>
            <a:off x="6793992" y="3611880"/>
            <a:ext cx="4663440" cy="457200"/>
          </a:xfrm>
          <a:prstGeom prst="rect">
            <a:avLst/>
          </a:prstGeom>
          <a:noFill/>
          <a:ln/>
        </p:spPr>
        <p:txBody>
          <a:bodyPr wrap="square" lIns="0" tIns="0" rIns="0" bIns="0" rtlCol="0" anchor="ctr"/>
          <a:lstStyle/>
          <a:p>
            <a:pPr indent="0" marL="0">
              <a:buNone/>
            </a:pPr>
            <a:r>
              <a:rPr lang="en-US" sz="1400" b="1" dirty="0">
                <a:solidFill>
                  <a:srgbClr val="0A1F5C"/>
                </a:solidFill>
              </a:rPr>
              <a:t>Request: general education question</a:t>
            </a:r>
            <a:endParaRPr lang="en-US" sz="1400" dirty="0"/>
          </a:p>
        </p:txBody>
      </p:sp>
      <p:sp>
        <p:nvSpPr>
          <p:cNvPr id="34" name="Bullet"/>
          <p:cNvSpPr/>
          <p:nvPr/>
        </p:nvSpPr>
        <p:spPr>
          <a:xfrm>
            <a:off x="6492240" y="4224528"/>
            <a:ext cx="128016" cy="128016"/>
          </a:xfrm>
          <a:prstGeom prst="rect">
            <a:avLst/>
          </a:prstGeom>
          <a:solidFill>
            <a:srgbClr val="1547C8"/>
          </a:solidFill>
          <a:ln w="12700">
            <a:solidFill>
              <a:srgbClr val="1547C8"/>
            </a:solidFill>
            <a:prstDash val="solid"/>
          </a:ln>
        </p:spPr>
      </p:sp>
      <p:sp>
        <p:nvSpPr>
          <p:cNvPr id="35" name="Text 33"/>
          <p:cNvSpPr txBox="1"/>
          <p:nvPr/>
        </p:nvSpPr>
        <p:spPr>
          <a:xfrm>
            <a:off x="6793992" y="4114800"/>
            <a:ext cx="4663440" cy="457200"/>
          </a:xfrm>
          <a:prstGeom prst="rect">
            <a:avLst/>
          </a:prstGeom>
          <a:noFill/>
          <a:ln/>
        </p:spPr>
        <p:txBody>
          <a:bodyPr wrap="square" lIns="0" tIns="0" rIns="0" bIns="0" rtlCol="0" anchor="ctr"/>
          <a:lstStyle/>
          <a:p>
            <a:pPr indent="0" marL="0">
              <a:buNone/>
            </a:pPr>
            <a:r>
              <a:rPr lang="en-US" sz="1400" b="1" dirty="0">
                <a:solidFill>
                  <a:srgbClr val="0A1F5C"/>
                </a:solidFill>
              </a:rPr>
              <a:t>Retrieved source: EDU-401 v4</a:t>
            </a:r>
            <a:endParaRPr lang="en-US" sz="1400" dirty="0"/>
          </a:p>
        </p:txBody>
      </p:sp>
      <p:sp>
        <p:nvSpPr>
          <p:cNvPr id="36" name="Bullet"/>
          <p:cNvSpPr/>
          <p:nvPr/>
        </p:nvSpPr>
        <p:spPr>
          <a:xfrm>
            <a:off x="6492240" y="4727448"/>
            <a:ext cx="128016" cy="128016"/>
          </a:xfrm>
          <a:prstGeom prst="rect">
            <a:avLst/>
          </a:prstGeom>
          <a:solidFill>
            <a:srgbClr val="1547C8"/>
          </a:solidFill>
          <a:ln w="12700">
            <a:solidFill>
              <a:srgbClr val="1547C8"/>
            </a:solidFill>
            <a:prstDash val="solid"/>
          </a:ln>
        </p:spPr>
      </p:sp>
      <p:sp>
        <p:nvSpPr>
          <p:cNvPr id="37" name="Text 35"/>
          <p:cNvSpPr txBox="1"/>
          <p:nvPr/>
        </p:nvSpPr>
        <p:spPr>
          <a:xfrm>
            <a:off x="6793992" y="4617720"/>
            <a:ext cx="4663440" cy="457200"/>
          </a:xfrm>
          <a:prstGeom prst="rect">
            <a:avLst/>
          </a:prstGeom>
          <a:noFill/>
          <a:ln/>
        </p:spPr>
        <p:txBody>
          <a:bodyPr wrap="square" lIns="0" tIns="0" rIns="0" bIns="0" rtlCol="0" anchor="ctr"/>
          <a:lstStyle/>
          <a:p>
            <a:pPr indent="0" marL="0">
              <a:buNone/>
            </a:pPr>
            <a:r>
              <a:rPr lang="en-US" sz="1400" b="1" dirty="0">
                <a:solidFill>
                  <a:srgbClr val="0A1F5C"/>
                </a:solidFill>
              </a:rPr>
              <a:t>No escalation</a:t>
            </a:r>
            <a:endParaRPr lang="en-US" sz="1400" dirty="0"/>
          </a:p>
        </p:txBody>
      </p:sp>
      <p:sp>
        <p:nvSpPr>
          <p:cNvPr id="38" name="Why"/>
          <p:cNvSpPr/>
          <p:nvPr/>
        </p:nvSpPr>
        <p:spPr>
          <a:xfrm>
            <a:off x="548640" y="5440680"/>
            <a:ext cx="8229600" cy="713232"/>
          </a:xfrm>
          <a:prstGeom prst="roundRect">
            <a:avLst>
              <a:gd name="adj" fmla="val 12821"/>
            </a:avLst>
          </a:prstGeom>
          <a:solidFill>
            <a:srgbClr val="0A1F5C"/>
          </a:solidFill>
          <a:ln w="12700">
            <a:solidFill>
              <a:srgbClr val="0A1F5C"/>
            </a:solidFill>
            <a:prstDash val="solid"/>
          </a:ln>
        </p:spPr>
      </p:sp>
      <p:sp>
        <p:nvSpPr>
          <p:cNvPr id="39" name="Text 37"/>
          <p:cNvSpPr txBox="1"/>
          <p:nvPr/>
        </p:nvSpPr>
        <p:spPr>
          <a:xfrm>
            <a:off x="822960" y="5440680"/>
            <a:ext cx="7772400" cy="713232"/>
          </a:xfrm>
          <a:prstGeom prst="rect">
            <a:avLst/>
          </a:prstGeom>
          <a:noFill/>
          <a:ln/>
        </p:spPr>
        <p:txBody>
          <a:bodyPr wrap="square" lIns="0" tIns="0" rIns="0" bIns="0" rtlCol="0" anchor="ctr"/>
          <a:lstStyle/>
          <a:p>
            <a:pPr indent="0" marL="0">
              <a:buNone/>
            </a:pPr>
            <a:r>
              <a:rPr lang="en-US" sz="1250" b="1" spc="200" kern="0" dirty="0">
                <a:solidFill>
                  <a:srgbClr val="3CC3F0"/>
                </a:solidFill>
              </a:rPr>
              <a:t>WHY  </a:t>
            </a:r>
            <a:pPr indent="0" marL="0">
              <a:buNone/>
            </a:pPr>
            <a:r>
              <a:rPr lang="en-US" sz="1250" dirty="0">
                <a:solidFill>
                  <a:srgbClr val="FFFFFF"/>
                </a:solidFill>
              </a:rPr>
              <a:t>The citation is checked in code: the ID, the status, the member's program and the version.</a:t>
            </a:r>
            <a:endParaRPr lang="en-US" sz="1250" dirty="0"/>
          </a:p>
        </p:txBody>
      </p:sp>
      <p:sp>
        <p:nvSpPr>
          <p:cNvPr id="40" name="Pill"/>
          <p:cNvSpPr/>
          <p:nvPr/>
        </p:nvSpPr>
        <p:spPr>
          <a:xfrm>
            <a:off x="9052560" y="5486400"/>
            <a:ext cx="2587752" cy="621792"/>
          </a:xfrm>
          <a:prstGeom prst="roundRect">
            <a:avLst>
              <a:gd name="adj" fmla="val 44118"/>
            </a:avLst>
          </a:prstGeom>
          <a:solidFill>
            <a:srgbClr val="1547C8"/>
          </a:solidFill>
          <a:ln w="12700">
            <a:solidFill>
              <a:srgbClr val="1547C8"/>
            </a:solidFill>
            <a:prstDash val="solid"/>
          </a:ln>
        </p:spPr>
      </p:sp>
      <p:sp>
        <p:nvSpPr>
          <p:cNvPr id="41" name="Text 39"/>
          <p:cNvSpPr txBox="1"/>
          <p:nvPr/>
        </p:nvSpPr>
        <p:spPr>
          <a:xfrm>
            <a:off x="9052560" y="5486400"/>
            <a:ext cx="2587752" cy="621792"/>
          </a:xfrm>
          <a:prstGeom prst="rect">
            <a:avLst/>
          </a:prstGeom>
          <a:noFill/>
          <a:ln/>
        </p:spPr>
        <p:txBody>
          <a:bodyPr wrap="square" lIns="0" tIns="0" rIns="0" bIns="0" rtlCol="0" anchor="ctr"/>
          <a:lstStyle/>
          <a:p>
            <a:pPr algn="ctr" indent="0" marL="0">
              <a:buNone/>
            </a:pPr>
            <a:r>
              <a:rPr lang="en-US" sz="1300" b="1" dirty="0">
                <a:solidFill>
                  <a:srgbClr val="FFFFFF"/>
                </a:solidFill>
              </a:rPr>
              <a:t>← Back to the questions</a:t>
            </a:r>
            <a:endParaRPr lang="en-US" sz="1300" dirty="0"/>
          </a:p>
        </p:txBody>
      </p:sp>
      <p:sp>
        <p:nvSpPr>
          <p:cNvPr id="42" name="Click target">
            <a:hlinkClick r:id="rId11" tooltip="Back to the questions" action="ppaction://hlinksldjump"/>
          </p:cNvPr>
          <p:cNvSpPr/>
          <p:nvPr/>
        </p:nvSpPr>
        <p:spPr>
          <a:xfrm>
            <a:off x="9052560" y="5486400"/>
            <a:ext cx="2587752" cy="621792"/>
          </a:xfrm>
          <a:prstGeom prst="rect">
            <a:avLst/>
          </a:prstGeom>
          <a:solidFill>
            <a:srgbClr val="FFFFFF">
              <a:alpha val="0"/>
            </a:srgbClr>
          </a:solidFill>
          <a:ln w="12700">
            <a:solidFill>
              <a:srgbClr val="FFFFFF">
                <a:alpha val="0"/>
              </a:srgbClr>
            </a:solidFill>
            <a:prstDash val="solid"/>
          </a:ln>
        </p:spPr>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name="Slide 11">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56032"/>
          </a:xfrm>
          <a:prstGeom prst="rect">
            <a:avLst/>
          </a:prstGeom>
          <a:noFill/>
          <a:ln/>
        </p:spPr>
        <p:txBody>
          <a:bodyPr wrap="square" lIns="0" tIns="0" rIns="0" bIns="0" rtlCol="0" anchor="t"/>
          <a:lstStyle/>
          <a:p>
            <a:pPr algn="l" indent="0" marL="0">
              <a:buNone/>
            </a:pPr>
            <a:r>
              <a:rPr lang="en-US" sz="1100" b="1" spc="300" kern="0" dirty="0">
                <a:solidFill>
                  <a:srgbClr val="1547C8"/>
                </a:solidFill>
              </a:rPr>
              <a:t>04  ·  TRY IT  ·  RESULT</a:t>
            </a:r>
            <a:endParaRPr lang="en-US" sz="1100" dirty="0"/>
          </a:p>
        </p:txBody>
      </p:sp>
      <p:sp>
        <p:nvSpPr>
          <p:cNvPr id="3" name="Text 1"/>
          <p:cNvSpPr/>
          <p:nvPr>
            <p:ph idx="103" type="title" hasCustomPrompt="1"/>
          </p:nvPr>
        </p:nvSpPr>
        <p:spPr>
          <a:xfrm>
            <a:off x="548640" y="603504"/>
            <a:ext cx="11064240" cy="603504"/>
          </a:xfrm>
          <a:prstGeom prst="rect">
            <a:avLst/>
          </a:prstGeom>
          <a:noFill/>
          <a:ln/>
        </p:spPr>
        <p:txBody>
          <a:bodyPr wrap="square" lIns="0" tIns="0" rIns="0" bIns="0" rtlCol="0" anchor="t"/>
          <a:lstStyle/>
          <a:p>
            <a:pPr algn="l" indent="0" marL="0">
              <a:buNone/>
            </a:pPr>
            <a:r>
              <a:rPr lang="en-US" sz="3400" b="1" dirty="0">
                <a:solidFill>
                  <a:srgbClr val="0A1F5C"/>
                </a:solidFill>
              </a:rPr>
              <a:t>Declined and routed to a clinician</a:t>
            </a:r>
            <a:endParaRPr lang="en-US" sz="3400" dirty="0"/>
          </a:p>
        </p:txBody>
      </p:sp>
      <p:sp>
        <p:nvSpPr>
          <p:cNvPr id="4" name="Text 2">
            <a:hlinkClick r:id="rId1" tooltip="Go to Agenda" action="ppaction://hlinksldjump"/>
          </p:cNvPr>
          <p:cNvSpPr txBox="1"/>
          <p:nvPr/>
        </p:nvSpPr>
        <p:spPr>
          <a:xfrm>
            <a:off x="1920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1" action="ppaction://hlinksldjump" tooltip="Go to Agenda">
                  <a:extLst>
                    <a:ext uri="{A12FA001-AC4F-418D-AE19-62706E023703}">
                      <ahyp:hlinkClr xmlns:ahyp="http://schemas.microsoft.com/office/drawing/2018/hyperlinkcolor" val="tx"/>
                    </a:ext>
                  </a:extLst>
                </a:hlinkClick>
              </a:rPr>
              <a:t>Agenda</a:t>
            </a:r>
            <a:endParaRPr lang="en-US" sz="950" dirty="0"/>
          </a:p>
        </p:txBody>
      </p:sp>
      <p:sp>
        <p:nvSpPr>
          <p:cNvPr id="5" name="Text 3">
            <a:hlinkClick r:id="rId2" tooltip="Go to Problem" action="ppaction://hlinksldjump"/>
          </p:cNvPr>
          <p:cNvSpPr txBox="1"/>
          <p:nvPr/>
        </p:nvSpPr>
        <p:spPr>
          <a:xfrm>
            <a:off x="26060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2" action="ppaction://hlinksldjump" tooltip="Go to Problem">
                  <a:extLst>
                    <a:ext uri="{A12FA001-AC4F-418D-AE19-62706E023703}">
                      <ahyp:hlinkClr xmlns:ahyp="http://schemas.microsoft.com/office/drawing/2018/hyperlinkcolor" val="tx"/>
                    </a:ext>
                  </a:extLst>
                </a:hlinkClick>
              </a:rPr>
              <a:t>Problem</a:t>
            </a:r>
            <a:endParaRPr lang="en-US" sz="950" dirty="0"/>
          </a:p>
        </p:txBody>
      </p:sp>
      <p:sp>
        <p:nvSpPr>
          <p:cNvPr id="6" name="Text 4">
            <a:hlinkClick r:id="rId3" tooltip="Go to Solution" action="ppaction://hlinksldjump"/>
          </p:cNvPr>
          <p:cNvSpPr txBox="1"/>
          <p:nvPr/>
        </p:nvSpPr>
        <p:spPr>
          <a:xfrm>
            <a:off x="32918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3" action="ppaction://hlinksldjump" tooltip="Go to Solution">
                  <a:extLst>
                    <a:ext uri="{A12FA001-AC4F-418D-AE19-62706E023703}">
                      <ahyp:hlinkClr xmlns:ahyp="http://schemas.microsoft.com/office/drawing/2018/hyperlinkcolor" val="tx"/>
                    </a:ext>
                  </a:extLst>
                </a:hlinkClick>
              </a:rPr>
              <a:t>Solution</a:t>
            </a:r>
            <a:endParaRPr lang="en-US" sz="950" dirty="0"/>
          </a:p>
        </p:txBody>
      </p:sp>
      <p:sp>
        <p:nvSpPr>
          <p:cNvPr id="7" name="Text 5">
            <a:hlinkClick r:id="rId4" tooltip="Go to Principle" action="ppaction://hlinksldjump"/>
          </p:cNvPr>
          <p:cNvSpPr txBox="1"/>
          <p:nvPr/>
        </p:nvSpPr>
        <p:spPr>
          <a:xfrm>
            <a:off x="39776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4" action="ppaction://hlinksldjump" tooltip="Go to Principle">
                  <a:extLst>
                    <a:ext uri="{A12FA001-AC4F-418D-AE19-62706E023703}">
                      <ahyp:hlinkClr xmlns:ahyp="http://schemas.microsoft.com/office/drawing/2018/hyperlinkcolor" val="tx"/>
                    </a:ext>
                  </a:extLst>
                </a:hlinkClick>
              </a:rPr>
              <a:t>Principle</a:t>
            </a:r>
            <a:endParaRPr lang="en-US" sz="950" dirty="0"/>
          </a:p>
        </p:txBody>
      </p:sp>
      <p:sp>
        <p:nvSpPr>
          <p:cNvPr id="8" name="Text 6">
            <a:hlinkClick r:id="rId5" tooltip="Go to Flow" action="ppaction://hlinksldjump"/>
          </p:cNvPr>
          <p:cNvSpPr txBox="1"/>
          <p:nvPr/>
        </p:nvSpPr>
        <p:spPr>
          <a:xfrm>
            <a:off x="46634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5" action="ppaction://hlinksldjump" tooltip="Go to Flow">
                  <a:extLst>
                    <a:ext uri="{A12FA001-AC4F-418D-AE19-62706E023703}">
                      <ahyp:hlinkClr xmlns:ahyp="http://schemas.microsoft.com/office/drawing/2018/hyperlinkcolor" val="tx"/>
                    </a:ext>
                  </a:extLst>
                </a:hlinkClick>
              </a:rPr>
              <a:t>Flow</a:t>
            </a:r>
            <a:endParaRPr lang="en-US" sz="950" dirty="0"/>
          </a:p>
        </p:txBody>
      </p:sp>
      <p:sp>
        <p:nvSpPr>
          <p:cNvPr id="9" name="Text 7">
            <a:hlinkClick r:id="rId6" tooltip="Go to RAG" action="ppaction://hlinksldjump"/>
          </p:cNvPr>
          <p:cNvSpPr txBox="1"/>
          <p:nvPr/>
        </p:nvSpPr>
        <p:spPr>
          <a:xfrm>
            <a:off x="5349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6" action="ppaction://hlinksldjump" tooltip="Go to RAG">
                  <a:extLst>
                    <a:ext uri="{A12FA001-AC4F-418D-AE19-62706E023703}">
                      <ahyp:hlinkClr xmlns:ahyp="http://schemas.microsoft.com/office/drawing/2018/hyperlinkcolor" val="tx"/>
                    </a:ext>
                  </a:extLst>
                </a:hlinkClick>
              </a:rPr>
              <a:t>RAG</a:t>
            </a:r>
            <a:endParaRPr lang="en-US" sz="950" dirty="0"/>
          </a:p>
        </p:txBody>
      </p:sp>
      <p:sp>
        <p:nvSpPr>
          <p:cNvPr id="10" name="Text 8">
            <a:hlinkClick r:id="rId7" tooltip="Go to Demo" action="ppaction://hlinksldjump"/>
          </p:cNvPr>
          <p:cNvSpPr txBox="1"/>
          <p:nvPr/>
        </p:nvSpPr>
        <p:spPr>
          <a:xfrm>
            <a:off x="60350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7" action="ppaction://hlinksldjump" tooltip="Go to Demo">
                  <a:extLst>
                    <a:ext uri="{A12FA001-AC4F-418D-AE19-62706E023703}">
                      <ahyp:hlinkClr xmlns:ahyp="http://schemas.microsoft.com/office/drawing/2018/hyperlinkcolor" val="tx"/>
                    </a:ext>
                  </a:extLst>
                </a:hlinkClick>
              </a:rPr>
              <a:t>Demo</a:t>
            </a:r>
            <a:endParaRPr lang="en-US" sz="950" dirty="0"/>
          </a:p>
        </p:txBody>
      </p:sp>
      <p:sp>
        <p:nvSpPr>
          <p:cNvPr id="11" name="Text 9"/>
          <p:cNvSpPr txBox="1"/>
          <p:nvPr/>
        </p:nvSpPr>
        <p:spPr>
          <a:xfrm>
            <a:off x="6720840" y="6382512"/>
            <a:ext cx="685800" cy="219456"/>
          </a:xfrm>
          <a:prstGeom prst="rect">
            <a:avLst/>
          </a:prstGeom>
          <a:noFill/>
          <a:ln/>
        </p:spPr>
        <p:txBody>
          <a:bodyPr wrap="square" lIns="0" tIns="0" rIns="0" bIns="0" rtlCol="0" anchor="ctr"/>
          <a:lstStyle/>
          <a:p>
            <a:pPr algn="ctr" indent="0" marL="0">
              <a:buNone/>
            </a:pPr>
            <a:r>
              <a:rPr lang="en-US" sz="950" b="1" dirty="0">
                <a:solidFill>
                  <a:srgbClr val="0A1F5C"/>
                </a:solidFill>
              </a:rPr>
              <a:t>Try it</a:t>
            </a:r>
            <a:endParaRPr lang="en-US" sz="950" dirty="0"/>
          </a:p>
        </p:txBody>
      </p:sp>
      <p:sp>
        <p:nvSpPr>
          <p:cNvPr id="12" name="Shape 10"/>
          <p:cNvSpPr/>
          <p:nvPr/>
        </p:nvSpPr>
        <p:spPr>
          <a:xfrm>
            <a:off x="7027164" y="6309360"/>
            <a:ext cx="73152" cy="73152"/>
          </a:xfrm>
          <a:prstGeom prst="ellipse">
            <a:avLst/>
          </a:prstGeom>
          <a:solidFill>
            <a:srgbClr val="1547C8"/>
          </a:solidFill>
          <a:ln w="12700">
            <a:solidFill>
              <a:srgbClr val="1547C8"/>
            </a:solidFill>
            <a:prstDash val="solid"/>
          </a:ln>
        </p:spPr>
      </p:sp>
      <p:sp>
        <p:nvSpPr>
          <p:cNvPr id="13" name="Text 11">
            <a:hlinkClick r:id="rId8" tooltip="Go to Rules" action="ppaction://hlinksldjump"/>
          </p:cNvPr>
          <p:cNvSpPr txBox="1"/>
          <p:nvPr/>
        </p:nvSpPr>
        <p:spPr>
          <a:xfrm>
            <a:off x="74066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8" action="ppaction://hlinksldjump" tooltip="Go to Rules">
                  <a:extLst>
                    <a:ext uri="{A12FA001-AC4F-418D-AE19-62706E023703}">
                      <ahyp:hlinkClr xmlns:ahyp="http://schemas.microsoft.com/office/drawing/2018/hyperlinkcolor" val="tx"/>
                    </a:ext>
                  </a:extLst>
                </a:hlinkClick>
              </a:rPr>
              <a:t>Rules</a:t>
            </a:r>
            <a:endParaRPr lang="en-US" sz="950" dirty="0"/>
          </a:p>
        </p:txBody>
      </p:sp>
      <p:sp>
        <p:nvSpPr>
          <p:cNvPr id="14" name="Text 12">
            <a:hlinkClick r:id="rId9" tooltip="Go to Results" action="ppaction://hlinksldjump"/>
          </p:cNvPr>
          <p:cNvSpPr txBox="1"/>
          <p:nvPr/>
        </p:nvSpPr>
        <p:spPr>
          <a:xfrm>
            <a:off x="80924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9" action="ppaction://hlinksldjump" tooltip="Go to Results">
                  <a:extLst>
                    <a:ext uri="{A12FA001-AC4F-418D-AE19-62706E023703}">
                      <ahyp:hlinkClr xmlns:ahyp="http://schemas.microsoft.com/office/drawing/2018/hyperlinkcolor" val="tx"/>
                    </a:ext>
                  </a:extLst>
                </a:hlinkClick>
              </a:rPr>
              <a:t>Results</a:t>
            </a:r>
            <a:endParaRPr lang="en-US" sz="950" dirty="0"/>
          </a:p>
        </p:txBody>
      </p:sp>
      <p:sp>
        <p:nvSpPr>
          <p:cNvPr id="15" name="Text 13">
            <a:hlinkClick r:id="rId10" tooltip="Go to Next" action="ppaction://hlinksldjump"/>
          </p:cNvPr>
          <p:cNvSpPr txBox="1"/>
          <p:nvPr/>
        </p:nvSpPr>
        <p:spPr>
          <a:xfrm>
            <a:off x="8778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10" action="ppaction://hlinksldjump" tooltip="Go to Next">
                  <a:extLst>
                    <a:ext uri="{A12FA001-AC4F-418D-AE19-62706E023703}">
                      <ahyp:hlinkClr xmlns:ahyp="http://schemas.microsoft.com/office/drawing/2018/hyperlinkcolor" val="tx"/>
                    </a:ext>
                  </a:extLst>
                </a:hlinkClick>
              </a:rPr>
              <a:t>Next</a:t>
            </a:r>
            <a:endParaRPr lang="en-US" sz="950" dirty="0"/>
          </a:p>
        </p:txBody>
      </p:sp>
      <p:sp>
        <p:nvSpPr>
          <p:cNvPr id="16" name="Question band"/>
          <p:cNvSpPr/>
          <p:nvPr/>
        </p:nvSpPr>
        <p:spPr>
          <a:xfrm>
            <a:off x="548640" y="1417320"/>
            <a:ext cx="11091672" cy="1280160"/>
          </a:xfrm>
          <a:prstGeom prst="roundRect">
            <a:avLst>
              <a:gd name="adj" fmla="val 7143"/>
            </a:avLst>
          </a:prstGeom>
          <a:solidFill>
            <a:srgbClr val="E5484D"/>
          </a:solidFill>
          <a:ln w="12700">
            <a:solidFill>
              <a:srgbClr val="E5484D"/>
            </a:solidFill>
            <a:prstDash val="solid"/>
          </a:ln>
        </p:spPr>
      </p:sp>
      <p:sp>
        <p:nvSpPr>
          <p:cNvPr id="17" name="Text 15"/>
          <p:cNvSpPr txBox="1"/>
          <p:nvPr/>
        </p:nvSpPr>
        <p:spPr>
          <a:xfrm>
            <a:off x="868680" y="1554480"/>
            <a:ext cx="2743200" cy="228600"/>
          </a:xfrm>
          <a:prstGeom prst="rect">
            <a:avLst/>
          </a:prstGeom>
          <a:noFill/>
          <a:ln/>
        </p:spPr>
        <p:txBody>
          <a:bodyPr wrap="square" lIns="0" tIns="0" rIns="0" bIns="0" rtlCol="0" anchor="t"/>
          <a:lstStyle/>
          <a:p>
            <a:pPr indent="0" marL="0">
              <a:buNone/>
            </a:pPr>
            <a:r>
              <a:rPr lang="en-US" sz="1050" b="1" spc="300" kern="0" dirty="0">
                <a:solidFill>
                  <a:srgbClr val="FFFFFF"/>
                </a:solidFill>
              </a:rPr>
              <a:t>MEMBER ASKS</a:t>
            </a:r>
            <a:endParaRPr lang="en-US" sz="1050" dirty="0"/>
          </a:p>
        </p:txBody>
      </p:sp>
      <p:sp>
        <p:nvSpPr>
          <p:cNvPr id="18" name="Text 16"/>
          <p:cNvSpPr txBox="1"/>
          <p:nvPr/>
        </p:nvSpPr>
        <p:spPr>
          <a:xfrm>
            <a:off x="868680" y="1828800"/>
            <a:ext cx="8046720" cy="457200"/>
          </a:xfrm>
          <a:prstGeom prst="rect">
            <a:avLst/>
          </a:prstGeom>
          <a:noFill/>
          <a:ln/>
        </p:spPr>
        <p:txBody>
          <a:bodyPr wrap="square" lIns="0" tIns="0" rIns="0" bIns="0" rtlCol="0" anchor="ctr"/>
          <a:lstStyle/>
          <a:p>
            <a:pPr indent="0" marL="0">
              <a:buNone/>
            </a:pPr>
            <a:r>
              <a:rPr lang="en-US" sz="1900" b="1" dirty="0">
                <a:solidFill>
                  <a:srgbClr val="FFFFFF"/>
                </a:solidFill>
                <a:latin typeface="Courier New" pitchFamily="34" charset="0"/>
                <a:ea typeface="Courier New" pitchFamily="34" charset="-122"/>
                <a:cs typeface="Courier New" pitchFamily="34" charset="-120"/>
              </a:rPr>
              <a:t>Can I increase my insulin dose this week?</a:t>
            </a:r>
            <a:endParaRPr lang="en-US" sz="1900" dirty="0"/>
          </a:p>
        </p:txBody>
      </p:sp>
      <p:sp>
        <p:nvSpPr>
          <p:cNvPr id="19" name="Text 17"/>
          <p:cNvSpPr txBox="1"/>
          <p:nvPr/>
        </p:nvSpPr>
        <p:spPr>
          <a:xfrm>
            <a:off x="868680" y="2304288"/>
            <a:ext cx="8046720" cy="256032"/>
          </a:xfrm>
          <a:prstGeom prst="rect">
            <a:avLst/>
          </a:prstGeom>
          <a:noFill/>
          <a:ln/>
        </p:spPr>
        <p:txBody>
          <a:bodyPr wrap="square" lIns="0" tIns="0" rIns="0" bIns="0" rtlCol="0" anchor="t"/>
          <a:lstStyle/>
          <a:p>
            <a:pPr indent="0" marL="0">
              <a:buNone/>
            </a:pPr>
            <a:r>
              <a:rPr lang="en-US" sz="1150" dirty="0">
                <a:solidFill>
                  <a:srgbClr val="FFFFFF"/>
                </a:solidFill>
              </a:rPr>
              <a:t>M-101 · Diabetes Support</a:t>
            </a:r>
            <a:endParaRPr lang="en-US" sz="1150" dirty="0"/>
          </a:p>
        </p:txBody>
      </p:sp>
      <p:sp>
        <p:nvSpPr>
          <p:cNvPr id="20" name="Pill"/>
          <p:cNvSpPr/>
          <p:nvPr/>
        </p:nvSpPr>
        <p:spPr>
          <a:xfrm>
            <a:off x="9326880" y="1783080"/>
            <a:ext cx="2011680" cy="502920"/>
          </a:xfrm>
          <a:prstGeom prst="roundRect">
            <a:avLst>
              <a:gd name="adj" fmla="val 50000"/>
            </a:avLst>
          </a:prstGeom>
          <a:solidFill>
            <a:srgbClr val="FFFFFF"/>
          </a:solidFill>
          <a:ln w="12700">
            <a:solidFill>
              <a:srgbClr val="FFFFFF"/>
            </a:solidFill>
            <a:prstDash val="solid"/>
          </a:ln>
        </p:spPr>
      </p:sp>
      <p:sp>
        <p:nvSpPr>
          <p:cNvPr id="21" name="Text 19"/>
          <p:cNvSpPr txBox="1"/>
          <p:nvPr/>
        </p:nvSpPr>
        <p:spPr>
          <a:xfrm>
            <a:off x="9326880" y="1783080"/>
            <a:ext cx="2011680" cy="502920"/>
          </a:xfrm>
          <a:prstGeom prst="rect">
            <a:avLst/>
          </a:prstGeom>
          <a:noFill/>
          <a:ln/>
        </p:spPr>
        <p:txBody>
          <a:bodyPr wrap="square" lIns="0" tIns="0" rIns="0" bIns="0" rtlCol="0" anchor="ctr"/>
          <a:lstStyle/>
          <a:p>
            <a:pPr algn="ctr" indent="0" marL="0">
              <a:buNone/>
            </a:pPr>
            <a:r>
              <a:rPr lang="en-US" sz="1600" b="1" dirty="0">
                <a:solidFill>
                  <a:srgbClr val="E5484D"/>
                </a:solidFill>
              </a:rPr>
              <a:t>ER-503</a:t>
            </a:r>
            <a:endParaRPr lang="en-US" sz="1600" dirty="0"/>
          </a:p>
        </p:txBody>
      </p:sp>
      <p:sp>
        <p:nvSpPr>
          <p:cNvPr id="22" name="MEMBER SEES"/>
          <p:cNvSpPr/>
          <p:nvPr/>
        </p:nvSpPr>
        <p:spPr>
          <a:xfrm>
            <a:off x="548640" y="2926080"/>
            <a:ext cx="5440680" cy="2286000"/>
          </a:xfrm>
          <a:prstGeom prst="roundRect">
            <a:avLst>
              <a:gd name="adj" fmla="val 4000"/>
            </a:avLst>
          </a:prstGeom>
          <a:solidFill>
            <a:srgbClr val="F4F6FB"/>
          </a:solidFill>
          <a:ln w="12700">
            <a:solidFill>
              <a:srgbClr val="F4F6FB"/>
            </a:solidFill>
            <a:prstDash val="solid"/>
          </a:ln>
        </p:spPr>
      </p:sp>
      <p:sp>
        <p:nvSpPr>
          <p:cNvPr id="23" name="Text 21"/>
          <p:cNvSpPr txBox="1"/>
          <p:nvPr/>
        </p:nvSpPr>
        <p:spPr>
          <a:xfrm>
            <a:off x="822960" y="3090672"/>
            <a:ext cx="4114800" cy="274320"/>
          </a:xfrm>
          <a:prstGeom prst="rect">
            <a:avLst/>
          </a:prstGeom>
          <a:noFill/>
          <a:ln/>
        </p:spPr>
        <p:txBody>
          <a:bodyPr wrap="square" lIns="0" tIns="0" rIns="0" bIns="0" rtlCol="0" anchor="t"/>
          <a:lstStyle/>
          <a:p>
            <a:pPr indent="0" marL="0">
              <a:buNone/>
            </a:pPr>
            <a:r>
              <a:rPr lang="en-US" sz="1200" b="1" spc="300" kern="0" dirty="0">
                <a:solidFill>
                  <a:srgbClr val="1547C8"/>
                </a:solidFill>
              </a:rPr>
              <a:t>MEMBER SEES</a:t>
            </a:r>
            <a:endParaRPr lang="en-US" sz="1200" dirty="0"/>
          </a:p>
        </p:txBody>
      </p:sp>
      <p:sp>
        <p:nvSpPr>
          <p:cNvPr id="24" name="Bullet"/>
          <p:cNvSpPr/>
          <p:nvPr/>
        </p:nvSpPr>
        <p:spPr>
          <a:xfrm>
            <a:off x="841248" y="3721608"/>
            <a:ext cx="128016" cy="128016"/>
          </a:xfrm>
          <a:prstGeom prst="rect">
            <a:avLst/>
          </a:prstGeom>
          <a:solidFill>
            <a:srgbClr val="E5484D"/>
          </a:solidFill>
          <a:ln w="12700">
            <a:solidFill>
              <a:srgbClr val="E5484D"/>
            </a:solidFill>
            <a:prstDash val="solid"/>
          </a:ln>
        </p:spPr>
      </p:sp>
      <p:sp>
        <p:nvSpPr>
          <p:cNvPr id="25" name="Text 23"/>
          <p:cNvSpPr txBox="1"/>
          <p:nvPr/>
        </p:nvSpPr>
        <p:spPr>
          <a:xfrm>
            <a:off x="1143000" y="3611880"/>
            <a:ext cx="4663440" cy="457200"/>
          </a:xfrm>
          <a:prstGeom prst="rect">
            <a:avLst/>
          </a:prstGeom>
          <a:noFill/>
          <a:ln/>
        </p:spPr>
        <p:txBody>
          <a:bodyPr wrap="square" lIns="0" tIns="0" rIns="0" bIns="0" rtlCol="0" anchor="ctr"/>
          <a:lstStyle/>
          <a:p>
            <a:pPr indent="0" marL="0">
              <a:buNone/>
            </a:pPr>
            <a:r>
              <a:rPr lang="en-US" sz="1400" b="1" dirty="0">
                <a:solidFill>
                  <a:srgbClr val="0A1F5C"/>
                </a:solidFill>
              </a:rPr>
              <a:t>A clear refusal to change any medicine or dose</a:t>
            </a:r>
            <a:endParaRPr lang="en-US" sz="1400" dirty="0"/>
          </a:p>
        </p:txBody>
      </p:sp>
      <p:sp>
        <p:nvSpPr>
          <p:cNvPr id="26" name="Bullet"/>
          <p:cNvSpPr/>
          <p:nvPr/>
        </p:nvSpPr>
        <p:spPr>
          <a:xfrm>
            <a:off x="841248" y="4224528"/>
            <a:ext cx="128016" cy="128016"/>
          </a:xfrm>
          <a:prstGeom prst="rect">
            <a:avLst/>
          </a:prstGeom>
          <a:solidFill>
            <a:srgbClr val="E5484D"/>
          </a:solidFill>
          <a:ln w="12700">
            <a:solidFill>
              <a:srgbClr val="E5484D"/>
            </a:solidFill>
            <a:prstDash val="solid"/>
          </a:ln>
        </p:spPr>
      </p:sp>
      <p:sp>
        <p:nvSpPr>
          <p:cNvPr id="27" name="Text 25"/>
          <p:cNvSpPr txBox="1"/>
          <p:nvPr/>
        </p:nvSpPr>
        <p:spPr>
          <a:xfrm>
            <a:off x="1143000" y="4114800"/>
            <a:ext cx="4663440" cy="457200"/>
          </a:xfrm>
          <a:prstGeom prst="rect">
            <a:avLst/>
          </a:prstGeom>
          <a:noFill/>
          <a:ln/>
        </p:spPr>
        <p:txBody>
          <a:bodyPr wrap="square" lIns="0" tIns="0" rIns="0" bIns="0" rtlCol="0" anchor="ctr"/>
          <a:lstStyle/>
          <a:p>
            <a:pPr indent="0" marL="0">
              <a:buNone/>
            </a:pPr>
            <a:r>
              <a:rPr lang="en-US" sz="1400" b="1" dirty="0">
                <a:solidFill>
                  <a:srgbClr val="0A1F5C"/>
                </a:solidFill>
              </a:rPr>
              <a:t>Advice to speak to a qualified clinician</a:t>
            </a:r>
            <a:endParaRPr lang="en-US" sz="1400" dirty="0"/>
          </a:p>
        </p:txBody>
      </p:sp>
      <p:sp>
        <p:nvSpPr>
          <p:cNvPr id="28" name="Bullet"/>
          <p:cNvSpPr/>
          <p:nvPr/>
        </p:nvSpPr>
        <p:spPr>
          <a:xfrm>
            <a:off x="841248" y="4727448"/>
            <a:ext cx="128016" cy="128016"/>
          </a:xfrm>
          <a:prstGeom prst="rect">
            <a:avLst/>
          </a:prstGeom>
          <a:solidFill>
            <a:srgbClr val="E5484D"/>
          </a:solidFill>
          <a:ln w="12700">
            <a:solidFill>
              <a:srgbClr val="E5484D"/>
            </a:solidFill>
            <a:prstDash val="solid"/>
          </a:ln>
        </p:spPr>
      </p:sp>
      <p:sp>
        <p:nvSpPr>
          <p:cNvPr id="29" name="Text 27"/>
          <p:cNvSpPr txBox="1"/>
          <p:nvPr/>
        </p:nvSpPr>
        <p:spPr>
          <a:xfrm>
            <a:off x="1143000" y="4617720"/>
            <a:ext cx="4663440" cy="457200"/>
          </a:xfrm>
          <a:prstGeom prst="rect">
            <a:avLst/>
          </a:prstGeom>
          <a:noFill/>
          <a:ln/>
        </p:spPr>
        <p:txBody>
          <a:bodyPr wrap="square" lIns="0" tIns="0" rIns="0" bIns="0" rtlCol="0" anchor="ctr"/>
          <a:lstStyle/>
          <a:p>
            <a:pPr indent="0" marL="0">
              <a:buNone/>
            </a:pPr>
            <a:r>
              <a:rPr lang="en-US" sz="1400" b="1" dirty="0">
                <a:solidFill>
                  <a:srgbClr val="0A1F5C"/>
                </a:solidFill>
              </a:rPr>
              <a:t>A note that staff were informed</a:t>
            </a:r>
            <a:endParaRPr lang="en-US" sz="1400" dirty="0"/>
          </a:p>
        </p:txBody>
      </p:sp>
      <p:sp>
        <p:nvSpPr>
          <p:cNvPr id="30" name="STAFF SEES"/>
          <p:cNvSpPr/>
          <p:nvPr/>
        </p:nvSpPr>
        <p:spPr>
          <a:xfrm>
            <a:off x="6199632" y="2926080"/>
            <a:ext cx="5440680" cy="2286000"/>
          </a:xfrm>
          <a:prstGeom prst="roundRect">
            <a:avLst>
              <a:gd name="adj" fmla="val 4000"/>
            </a:avLst>
          </a:prstGeom>
          <a:solidFill>
            <a:srgbClr val="F4F6FB"/>
          </a:solidFill>
          <a:ln w="12700">
            <a:solidFill>
              <a:srgbClr val="F4F6FB"/>
            </a:solidFill>
            <a:prstDash val="solid"/>
          </a:ln>
        </p:spPr>
      </p:sp>
      <p:sp>
        <p:nvSpPr>
          <p:cNvPr id="31" name="Text 29"/>
          <p:cNvSpPr txBox="1"/>
          <p:nvPr/>
        </p:nvSpPr>
        <p:spPr>
          <a:xfrm>
            <a:off x="6473952" y="3090672"/>
            <a:ext cx="4114800" cy="274320"/>
          </a:xfrm>
          <a:prstGeom prst="rect">
            <a:avLst/>
          </a:prstGeom>
          <a:noFill/>
          <a:ln/>
        </p:spPr>
        <p:txBody>
          <a:bodyPr wrap="square" lIns="0" tIns="0" rIns="0" bIns="0" rtlCol="0" anchor="t"/>
          <a:lstStyle/>
          <a:p>
            <a:pPr indent="0" marL="0">
              <a:buNone/>
            </a:pPr>
            <a:r>
              <a:rPr lang="en-US" sz="1200" b="1" spc="300" kern="0" dirty="0">
                <a:solidFill>
                  <a:srgbClr val="1547C8"/>
                </a:solidFill>
              </a:rPr>
              <a:t>STAFF SEES</a:t>
            </a:r>
            <a:endParaRPr lang="en-US" sz="1200" dirty="0"/>
          </a:p>
        </p:txBody>
      </p:sp>
      <p:sp>
        <p:nvSpPr>
          <p:cNvPr id="32" name="Bullet"/>
          <p:cNvSpPr/>
          <p:nvPr/>
        </p:nvSpPr>
        <p:spPr>
          <a:xfrm>
            <a:off x="6492240" y="3721608"/>
            <a:ext cx="128016" cy="128016"/>
          </a:xfrm>
          <a:prstGeom prst="rect">
            <a:avLst/>
          </a:prstGeom>
          <a:solidFill>
            <a:srgbClr val="E5484D"/>
          </a:solidFill>
          <a:ln w="12700">
            <a:solidFill>
              <a:srgbClr val="E5484D"/>
            </a:solidFill>
            <a:prstDash val="solid"/>
          </a:ln>
        </p:spPr>
      </p:sp>
      <p:sp>
        <p:nvSpPr>
          <p:cNvPr id="33" name="Text 31"/>
          <p:cNvSpPr txBox="1"/>
          <p:nvPr/>
        </p:nvSpPr>
        <p:spPr>
          <a:xfrm>
            <a:off x="6793992" y="3611880"/>
            <a:ext cx="4663440" cy="457200"/>
          </a:xfrm>
          <a:prstGeom prst="rect">
            <a:avLst/>
          </a:prstGeom>
          <a:noFill/>
          <a:ln/>
        </p:spPr>
        <p:txBody>
          <a:bodyPr wrap="square" lIns="0" tIns="0" rIns="0" bIns="0" rtlCol="0" anchor="ctr"/>
          <a:lstStyle/>
          <a:p>
            <a:pPr indent="0" marL="0">
              <a:buNone/>
            </a:pPr>
            <a:r>
              <a:rPr lang="en-US" sz="1400" b="1" dirty="0">
                <a:solidFill>
                  <a:srgbClr val="0A1F5C"/>
                </a:solidFill>
              </a:rPr>
              <a:t>Rule ER-503 matched</a:t>
            </a:r>
            <a:endParaRPr lang="en-US" sz="1400" dirty="0"/>
          </a:p>
        </p:txBody>
      </p:sp>
      <p:sp>
        <p:nvSpPr>
          <p:cNvPr id="34" name="Bullet"/>
          <p:cNvSpPr/>
          <p:nvPr/>
        </p:nvSpPr>
        <p:spPr>
          <a:xfrm>
            <a:off x="6492240" y="4224528"/>
            <a:ext cx="128016" cy="128016"/>
          </a:xfrm>
          <a:prstGeom prst="rect">
            <a:avLst/>
          </a:prstGeom>
          <a:solidFill>
            <a:srgbClr val="E5484D"/>
          </a:solidFill>
          <a:ln w="12700">
            <a:solidFill>
              <a:srgbClr val="E5484D"/>
            </a:solidFill>
            <a:prstDash val="solid"/>
          </a:ln>
        </p:spPr>
      </p:sp>
      <p:sp>
        <p:nvSpPr>
          <p:cNvPr id="35" name="Text 33"/>
          <p:cNvSpPr txBox="1"/>
          <p:nvPr/>
        </p:nvSpPr>
        <p:spPr>
          <a:xfrm>
            <a:off x="6793992" y="4114800"/>
            <a:ext cx="4663440" cy="457200"/>
          </a:xfrm>
          <a:prstGeom prst="rect">
            <a:avLst/>
          </a:prstGeom>
          <a:noFill/>
          <a:ln/>
        </p:spPr>
        <p:txBody>
          <a:bodyPr wrap="square" lIns="0" tIns="0" rIns="0" bIns="0" rtlCol="0" anchor="ctr"/>
          <a:lstStyle/>
          <a:p>
            <a:pPr indent="0" marL="0">
              <a:buNone/>
            </a:pPr>
            <a:r>
              <a:rPr lang="en-US" sz="1400" b="1" dirty="0">
                <a:solidFill>
                  <a:srgbClr val="0A1F5C"/>
                </a:solidFill>
              </a:rPr>
              <a:t>Request: asked to change medication</a:t>
            </a:r>
            <a:endParaRPr lang="en-US" sz="1400" dirty="0"/>
          </a:p>
        </p:txBody>
      </p:sp>
      <p:sp>
        <p:nvSpPr>
          <p:cNvPr id="36" name="Bullet"/>
          <p:cNvSpPr/>
          <p:nvPr/>
        </p:nvSpPr>
        <p:spPr>
          <a:xfrm>
            <a:off x="6492240" y="4727448"/>
            <a:ext cx="128016" cy="128016"/>
          </a:xfrm>
          <a:prstGeom prst="rect">
            <a:avLst/>
          </a:prstGeom>
          <a:solidFill>
            <a:srgbClr val="E5484D"/>
          </a:solidFill>
          <a:ln w="12700">
            <a:solidFill>
              <a:srgbClr val="E5484D"/>
            </a:solidFill>
            <a:prstDash val="solid"/>
          </a:ln>
        </p:spPr>
      </p:sp>
      <p:sp>
        <p:nvSpPr>
          <p:cNvPr id="37" name="Text 35"/>
          <p:cNvSpPr txBox="1"/>
          <p:nvPr/>
        </p:nvSpPr>
        <p:spPr>
          <a:xfrm>
            <a:off x="6793992" y="4617720"/>
            <a:ext cx="4663440" cy="457200"/>
          </a:xfrm>
          <a:prstGeom prst="rect">
            <a:avLst/>
          </a:prstGeom>
          <a:noFill/>
          <a:ln/>
        </p:spPr>
        <p:txBody>
          <a:bodyPr wrap="square" lIns="0" tIns="0" rIns="0" bIns="0" rtlCol="0" anchor="ctr"/>
          <a:lstStyle/>
          <a:p>
            <a:pPr indent="0" marL="0">
              <a:buNone/>
            </a:pPr>
            <a:r>
              <a:rPr lang="en-US" sz="1400" b="1" dirty="0">
                <a:solidFill>
                  <a:srgbClr val="0A1F5C"/>
                </a:solidFill>
              </a:rPr>
              <a:t>Recent readings and due tasks attached</a:t>
            </a:r>
            <a:endParaRPr lang="en-US" sz="1400" dirty="0"/>
          </a:p>
        </p:txBody>
      </p:sp>
      <p:sp>
        <p:nvSpPr>
          <p:cNvPr id="38" name="Why"/>
          <p:cNvSpPr/>
          <p:nvPr/>
        </p:nvSpPr>
        <p:spPr>
          <a:xfrm>
            <a:off x="548640" y="5440680"/>
            <a:ext cx="8229600" cy="713232"/>
          </a:xfrm>
          <a:prstGeom prst="roundRect">
            <a:avLst>
              <a:gd name="adj" fmla="val 12821"/>
            </a:avLst>
          </a:prstGeom>
          <a:solidFill>
            <a:srgbClr val="0A1F5C"/>
          </a:solidFill>
          <a:ln w="12700">
            <a:solidFill>
              <a:srgbClr val="0A1F5C"/>
            </a:solidFill>
            <a:prstDash val="solid"/>
          </a:ln>
        </p:spPr>
      </p:sp>
      <p:sp>
        <p:nvSpPr>
          <p:cNvPr id="39" name="Text 37"/>
          <p:cNvSpPr txBox="1"/>
          <p:nvPr/>
        </p:nvSpPr>
        <p:spPr>
          <a:xfrm>
            <a:off x="822960" y="5440680"/>
            <a:ext cx="7772400" cy="713232"/>
          </a:xfrm>
          <a:prstGeom prst="rect">
            <a:avLst/>
          </a:prstGeom>
          <a:noFill/>
          <a:ln/>
        </p:spPr>
        <p:txBody>
          <a:bodyPr wrap="square" lIns="0" tIns="0" rIns="0" bIns="0" rtlCol="0" anchor="ctr"/>
          <a:lstStyle/>
          <a:p>
            <a:pPr indent="0" marL="0">
              <a:buNone/>
            </a:pPr>
            <a:r>
              <a:rPr lang="en-US" sz="1250" b="1" spc="200" kern="0" dirty="0">
                <a:solidFill>
                  <a:srgbClr val="3CC3F0"/>
                </a:solidFill>
              </a:rPr>
              <a:t>WHY  </a:t>
            </a:r>
            <a:pPr indent="0" marL="0">
              <a:buNone/>
            </a:pPr>
            <a:r>
              <a:rPr lang="en-US" sz="1250" dirty="0">
                <a:solidFill>
                  <a:srgbClr val="FFFFFF"/>
                </a:solidFill>
              </a:rPr>
              <a:t>Medication wording is caught in code before any model is asked to answer.</a:t>
            </a:r>
            <a:endParaRPr lang="en-US" sz="1250" dirty="0"/>
          </a:p>
        </p:txBody>
      </p:sp>
      <p:sp>
        <p:nvSpPr>
          <p:cNvPr id="40" name="Pill"/>
          <p:cNvSpPr/>
          <p:nvPr/>
        </p:nvSpPr>
        <p:spPr>
          <a:xfrm>
            <a:off x="9052560" y="5486400"/>
            <a:ext cx="2587752" cy="621792"/>
          </a:xfrm>
          <a:prstGeom prst="roundRect">
            <a:avLst>
              <a:gd name="adj" fmla="val 44118"/>
            </a:avLst>
          </a:prstGeom>
          <a:solidFill>
            <a:srgbClr val="1547C8"/>
          </a:solidFill>
          <a:ln w="12700">
            <a:solidFill>
              <a:srgbClr val="1547C8"/>
            </a:solidFill>
            <a:prstDash val="solid"/>
          </a:ln>
        </p:spPr>
      </p:sp>
      <p:sp>
        <p:nvSpPr>
          <p:cNvPr id="41" name="Text 39"/>
          <p:cNvSpPr txBox="1"/>
          <p:nvPr/>
        </p:nvSpPr>
        <p:spPr>
          <a:xfrm>
            <a:off x="9052560" y="5486400"/>
            <a:ext cx="2587752" cy="621792"/>
          </a:xfrm>
          <a:prstGeom prst="rect">
            <a:avLst/>
          </a:prstGeom>
          <a:noFill/>
          <a:ln/>
        </p:spPr>
        <p:txBody>
          <a:bodyPr wrap="square" lIns="0" tIns="0" rIns="0" bIns="0" rtlCol="0" anchor="ctr"/>
          <a:lstStyle/>
          <a:p>
            <a:pPr algn="ctr" indent="0" marL="0">
              <a:buNone/>
            </a:pPr>
            <a:r>
              <a:rPr lang="en-US" sz="1300" b="1" dirty="0">
                <a:solidFill>
                  <a:srgbClr val="FFFFFF"/>
                </a:solidFill>
              </a:rPr>
              <a:t>← Back to the questions</a:t>
            </a:r>
            <a:endParaRPr lang="en-US" sz="1300" dirty="0"/>
          </a:p>
        </p:txBody>
      </p:sp>
      <p:sp>
        <p:nvSpPr>
          <p:cNvPr id="42" name="Click target">
            <a:hlinkClick r:id="rId11" tooltip="Back to the questions" action="ppaction://hlinksldjump"/>
          </p:cNvPr>
          <p:cNvSpPr/>
          <p:nvPr/>
        </p:nvSpPr>
        <p:spPr>
          <a:xfrm>
            <a:off x="9052560" y="5486400"/>
            <a:ext cx="2587752" cy="621792"/>
          </a:xfrm>
          <a:prstGeom prst="rect">
            <a:avLst/>
          </a:prstGeom>
          <a:solidFill>
            <a:srgbClr val="FFFFFF">
              <a:alpha val="0"/>
            </a:srgbClr>
          </a:solidFill>
          <a:ln w="12700">
            <a:solidFill>
              <a:srgbClr val="FFFFFF">
                <a:alpha val="0"/>
              </a:srgbClr>
            </a:solidFill>
            <a:prstDash val="solid"/>
          </a:ln>
        </p:spPr>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name="Slide 12">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56032"/>
          </a:xfrm>
          <a:prstGeom prst="rect">
            <a:avLst/>
          </a:prstGeom>
          <a:noFill/>
          <a:ln/>
        </p:spPr>
        <p:txBody>
          <a:bodyPr wrap="square" lIns="0" tIns="0" rIns="0" bIns="0" rtlCol="0" anchor="t"/>
          <a:lstStyle/>
          <a:p>
            <a:pPr algn="l" indent="0" marL="0">
              <a:buNone/>
            </a:pPr>
            <a:r>
              <a:rPr lang="en-US" sz="1100" b="1" spc="300" kern="0" dirty="0">
                <a:solidFill>
                  <a:srgbClr val="1547C8"/>
                </a:solidFill>
              </a:rPr>
              <a:t>04  ·  TRY IT  ·  RESULT</a:t>
            </a:r>
            <a:endParaRPr lang="en-US" sz="1100" dirty="0"/>
          </a:p>
        </p:txBody>
      </p:sp>
      <p:sp>
        <p:nvSpPr>
          <p:cNvPr id="3" name="Text 1"/>
          <p:cNvSpPr/>
          <p:nvPr>
            <p:ph idx="103" type="title" hasCustomPrompt="1"/>
          </p:nvPr>
        </p:nvSpPr>
        <p:spPr>
          <a:xfrm>
            <a:off x="548640" y="603504"/>
            <a:ext cx="11064240" cy="603504"/>
          </a:xfrm>
          <a:prstGeom prst="rect">
            <a:avLst/>
          </a:prstGeom>
          <a:noFill/>
          <a:ln/>
        </p:spPr>
        <p:txBody>
          <a:bodyPr wrap="square" lIns="0" tIns="0" rIns="0" bIns="0" rtlCol="0" anchor="t"/>
          <a:lstStyle/>
          <a:p>
            <a:pPr algn="l" indent="0" marL="0">
              <a:buNone/>
            </a:pPr>
            <a:r>
              <a:rPr lang="en-US" sz="3400" b="1" dirty="0">
                <a:solidFill>
                  <a:srgbClr val="0A1F5C"/>
                </a:solidFill>
              </a:rPr>
              <a:t>Processing stops at the consent check</a:t>
            </a:r>
            <a:endParaRPr lang="en-US" sz="3400" dirty="0"/>
          </a:p>
        </p:txBody>
      </p:sp>
      <p:sp>
        <p:nvSpPr>
          <p:cNvPr id="4" name="Text 2">
            <a:hlinkClick r:id="rId1" tooltip="Go to Agenda" action="ppaction://hlinksldjump"/>
          </p:cNvPr>
          <p:cNvSpPr txBox="1"/>
          <p:nvPr/>
        </p:nvSpPr>
        <p:spPr>
          <a:xfrm>
            <a:off x="1920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1" action="ppaction://hlinksldjump" tooltip="Go to Agenda">
                  <a:extLst>
                    <a:ext uri="{A12FA001-AC4F-418D-AE19-62706E023703}">
                      <ahyp:hlinkClr xmlns:ahyp="http://schemas.microsoft.com/office/drawing/2018/hyperlinkcolor" val="tx"/>
                    </a:ext>
                  </a:extLst>
                </a:hlinkClick>
              </a:rPr>
              <a:t>Agenda</a:t>
            </a:r>
            <a:endParaRPr lang="en-US" sz="950" dirty="0"/>
          </a:p>
        </p:txBody>
      </p:sp>
      <p:sp>
        <p:nvSpPr>
          <p:cNvPr id="5" name="Text 3">
            <a:hlinkClick r:id="rId2" tooltip="Go to Problem" action="ppaction://hlinksldjump"/>
          </p:cNvPr>
          <p:cNvSpPr txBox="1"/>
          <p:nvPr/>
        </p:nvSpPr>
        <p:spPr>
          <a:xfrm>
            <a:off x="26060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2" action="ppaction://hlinksldjump" tooltip="Go to Problem">
                  <a:extLst>
                    <a:ext uri="{A12FA001-AC4F-418D-AE19-62706E023703}">
                      <ahyp:hlinkClr xmlns:ahyp="http://schemas.microsoft.com/office/drawing/2018/hyperlinkcolor" val="tx"/>
                    </a:ext>
                  </a:extLst>
                </a:hlinkClick>
              </a:rPr>
              <a:t>Problem</a:t>
            </a:r>
            <a:endParaRPr lang="en-US" sz="950" dirty="0"/>
          </a:p>
        </p:txBody>
      </p:sp>
      <p:sp>
        <p:nvSpPr>
          <p:cNvPr id="6" name="Text 4">
            <a:hlinkClick r:id="rId3" tooltip="Go to Solution" action="ppaction://hlinksldjump"/>
          </p:cNvPr>
          <p:cNvSpPr txBox="1"/>
          <p:nvPr/>
        </p:nvSpPr>
        <p:spPr>
          <a:xfrm>
            <a:off x="32918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3" action="ppaction://hlinksldjump" tooltip="Go to Solution">
                  <a:extLst>
                    <a:ext uri="{A12FA001-AC4F-418D-AE19-62706E023703}">
                      <ahyp:hlinkClr xmlns:ahyp="http://schemas.microsoft.com/office/drawing/2018/hyperlinkcolor" val="tx"/>
                    </a:ext>
                  </a:extLst>
                </a:hlinkClick>
              </a:rPr>
              <a:t>Solution</a:t>
            </a:r>
            <a:endParaRPr lang="en-US" sz="950" dirty="0"/>
          </a:p>
        </p:txBody>
      </p:sp>
      <p:sp>
        <p:nvSpPr>
          <p:cNvPr id="7" name="Text 5">
            <a:hlinkClick r:id="rId4" tooltip="Go to Principle" action="ppaction://hlinksldjump"/>
          </p:cNvPr>
          <p:cNvSpPr txBox="1"/>
          <p:nvPr/>
        </p:nvSpPr>
        <p:spPr>
          <a:xfrm>
            <a:off x="39776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4" action="ppaction://hlinksldjump" tooltip="Go to Principle">
                  <a:extLst>
                    <a:ext uri="{A12FA001-AC4F-418D-AE19-62706E023703}">
                      <ahyp:hlinkClr xmlns:ahyp="http://schemas.microsoft.com/office/drawing/2018/hyperlinkcolor" val="tx"/>
                    </a:ext>
                  </a:extLst>
                </a:hlinkClick>
              </a:rPr>
              <a:t>Principle</a:t>
            </a:r>
            <a:endParaRPr lang="en-US" sz="950" dirty="0"/>
          </a:p>
        </p:txBody>
      </p:sp>
      <p:sp>
        <p:nvSpPr>
          <p:cNvPr id="8" name="Text 6">
            <a:hlinkClick r:id="rId5" tooltip="Go to Flow" action="ppaction://hlinksldjump"/>
          </p:cNvPr>
          <p:cNvSpPr txBox="1"/>
          <p:nvPr/>
        </p:nvSpPr>
        <p:spPr>
          <a:xfrm>
            <a:off x="46634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5" action="ppaction://hlinksldjump" tooltip="Go to Flow">
                  <a:extLst>
                    <a:ext uri="{A12FA001-AC4F-418D-AE19-62706E023703}">
                      <ahyp:hlinkClr xmlns:ahyp="http://schemas.microsoft.com/office/drawing/2018/hyperlinkcolor" val="tx"/>
                    </a:ext>
                  </a:extLst>
                </a:hlinkClick>
              </a:rPr>
              <a:t>Flow</a:t>
            </a:r>
            <a:endParaRPr lang="en-US" sz="950" dirty="0"/>
          </a:p>
        </p:txBody>
      </p:sp>
      <p:sp>
        <p:nvSpPr>
          <p:cNvPr id="9" name="Text 7">
            <a:hlinkClick r:id="rId6" tooltip="Go to RAG" action="ppaction://hlinksldjump"/>
          </p:cNvPr>
          <p:cNvSpPr txBox="1"/>
          <p:nvPr/>
        </p:nvSpPr>
        <p:spPr>
          <a:xfrm>
            <a:off x="5349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6" action="ppaction://hlinksldjump" tooltip="Go to RAG">
                  <a:extLst>
                    <a:ext uri="{A12FA001-AC4F-418D-AE19-62706E023703}">
                      <ahyp:hlinkClr xmlns:ahyp="http://schemas.microsoft.com/office/drawing/2018/hyperlinkcolor" val="tx"/>
                    </a:ext>
                  </a:extLst>
                </a:hlinkClick>
              </a:rPr>
              <a:t>RAG</a:t>
            </a:r>
            <a:endParaRPr lang="en-US" sz="950" dirty="0"/>
          </a:p>
        </p:txBody>
      </p:sp>
      <p:sp>
        <p:nvSpPr>
          <p:cNvPr id="10" name="Text 8">
            <a:hlinkClick r:id="rId7" tooltip="Go to Demo" action="ppaction://hlinksldjump"/>
          </p:cNvPr>
          <p:cNvSpPr txBox="1"/>
          <p:nvPr/>
        </p:nvSpPr>
        <p:spPr>
          <a:xfrm>
            <a:off x="60350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7" action="ppaction://hlinksldjump" tooltip="Go to Demo">
                  <a:extLst>
                    <a:ext uri="{A12FA001-AC4F-418D-AE19-62706E023703}">
                      <ahyp:hlinkClr xmlns:ahyp="http://schemas.microsoft.com/office/drawing/2018/hyperlinkcolor" val="tx"/>
                    </a:ext>
                  </a:extLst>
                </a:hlinkClick>
              </a:rPr>
              <a:t>Demo</a:t>
            </a:r>
            <a:endParaRPr lang="en-US" sz="950" dirty="0"/>
          </a:p>
        </p:txBody>
      </p:sp>
      <p:sp>
        <p:nvSpPr>
          <p:cNvPr id="11" name="Text 9"/>
          <p:cNvSpPr txBox="1"/>
          <p:nvPr/>
        </p:nvSpPr>
        <p:spPr>
          <a:xfrm>
            <a:off x="6720840" y="6382512"/>
            <a:ext cx="685800" cy="219456"/>
          </a:xfrm>
          <a:prstGeom prst="rect">
            <a:avLst/>
          </a:prstGeom>
          <a:noFill/>
          <a:ln/>
        </p:spPr>
        <p:txBody>
          <a:bodyPr wrap="square" lIns="0" tIns="0" rIns="0" bIns="0" rtlCol="0" anchor="ctr"/>
          <a:lstStyle/>
          <a:p>
            <a:pPr algn="ctr" indent="0" marL="0">
              <a:buNone/>
            </a:pPr>
            <a:r>
              <a:rPr lang="en-US" sz="950" b="1" dirty="0">
                <a:solidFill>
                  <a:srgbClr val="0A1F5C"/>
                </a:solidFill>
              </a:rPr>
              <a:t>Try it</a:t>
            </a:r>
            <a:endParaRPr lang="en-US" sz="950" dirty="0"/>
          </a:p>
        </p:txBody>
      </p:sp>
      <p:sp>
        <p:nvSpPr>
          <p:cNvPr id="12" name="Shape 10"/>
          <p:cNvSpPr/>
          <p:nvPr/>
        </p:nvSpPr>
        <p:spPr>
          <a:xfrm>
            <a:off x="7027164" y="6309360"/>
            <a:ext cx="73152" cy="73152"/>
          </a:xfrm>
          <a:prstGeom prst="ellipse">
            <a:avLst/>
          </a:prstGeom>
          <a:solidFill>
            <a:srgbClr val="1547C8"/>
          </a:solidFill>
          <a:ln w="12700">
            <a:solidFill>
              <a:srgbClr val="1547C8"/>
            </a:solidFill>
            <a:prstDash val="solid"/>
          </a:ln>
        </p:spPr>
      </p:sp>
      <p:sp>
        <p:nvSpPr>
          <p:cNvPr id="13" name="Text 11">
            <a:hlinkClick r:id="rId8" tooltip="Go to Rules" action="ppaction://hlinksldjump"/>
          </p:cNvPr>
          <p:cNvSpPr txBox="1"/>
          <p:nvPr/>
        </p:nvSpPr>
        <p:spPr>
          <a:xfrm>
            <a:off x="74066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8" action="ppaction://hlinksldjump" tooltip="Go to Rules">
                  <a:extLst>
                    <a:ext uri="{A12FA001-AC4F-418D-AE19-62706E023703}">
                      <ahyp:hlinkClr xmlns:ahyp="http://schemas.microsoft.com/office/drawing/2018/hyperlinkcolor" val="tx"/>
                    </a:ext>
                  </a:extLst>
                </a:hlinkClick>
              </a:rPr>
              <a:t>Rules</a:t>
            </a:r>
            <a:endParaRPr lang="en-US" sz="950" dirty="0"/>
          </a:p>
        </p:txBody>
      </p:sp>
      <p:sp>
        <p:nvSpPr>
          <p:cNvPr id="14" name="Text 12">
            <a:hlinkClick r:id="rId9" tooltip="Go to Results" action="ppaction://hlinksldjump"/>
          </p:cNvPr>
          <p:cNvSpPr txBox="1"/>
          <p:nvPr/>
        </p:nvSpPr>
        <p:spPr>
          <a:xfrm>
            <a:off x="80924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9" action="ppaction://hlinksldjump" tooltip="Go to Results">
                  <a:extLst>
                    <a:ext uri="{A12FA001-AC4F-418D-AE19-62706E023703}">
                      <ahyp:hlinkClr xmlns:ahyp="http://schemas.microsoft.com/office/drawing/2018/hyperlinkcolor" val="tx"/>
                    </a:ext>
                  </a:extLst>
                </a:hlinkClick>
              </a:rPr>
              <a:t>Results</a:t>
            </a:r>
            <a:endParaRPr lang="en-US" sz="950" dirty="0"/>
          </a:p>
        </p:txBody>
      </p:sp>
      <p:sp>
        <p:nvSpPr>
          <p:cNvPr id="15" name="Text 13">
            <a:hlinkClick r:id="rId10" tooltip="Go to Next" action="ppaction://hlinksldjump"/>
          </p:cNvPr>
          <p:cNvSpPr txBox="1"/>
          <p:nvPr/>
        </p:nvSpPr>
        <p:spPr>
          <a:xfrm>
            <a:off x="8778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10" action="ppaction://hlinksldjump" tooltip="Go to Next">
                  <a:extLst>
                    <a:ext uri="{A12FA001-AC4F-418D-AE19-62706E023703}">
                      <ahyp:hlinkClr xmlns:ahyp="http://schemas.microsoft.com/office/drawing/2018/hyperlinkcolor" val="tx"/>
                    </a:ext>
                  </a:extLst>
                </a:hlinkClick>
              </a:rPr>
              <a:t>Next</a:t>
            </a:r>
            <a:endParaRPr lang="en-US" sz="950" dirty="0"/>
          </a:p>
        </p:txBody>
      </p:sp>
      <p:sp>
        <p:nvSpPr>
          <p:cNvPr id="16" name="Question band"/>
          <p:cNvSpPr/>
          <p:nvPr/>
        </p:nvSpPr>
        <p:spPr>
          <a:xfrm>
            <a:off x="548640" y="1417320"/>
            <a:ext cx="11091672" cy="1280160"/>
          </a:xfrm>
          <a:prstGeom prst="roundRect">
            <a:avLst>
              <a:gd name="adj" fmla="val 7143"/>
            </a:avLst>
          </a:prstGeom>
          <a:solidFill>
            <a:srgbClr val="F5A524"/>
          </a:solidFill>
          <a:ln w="12700">
            <a:solidFill>
              <a:srgbClr val="F5A524"/>
            </a:solidFill>
            <a:prstDash val="solid"/>
          </a:ln>
        </p:spPr>
      </p:sp>
      <p:sp>
        <p:nvSpPr>
          <p:cNvPr id="17" name="Text 15"/>
          <p:cNvSpPr txBox="1"/>
          <p:nvPr/>
        </p:nvSpPr>
        <p:spPr>
          <a:xfrm>
            <a:off x="868680" y="1554480"/>
            <a:ext cx="2743200" cy="228600"/>
          </a:xfrm>
          <a:prstGeom prst="rect">
            <a:avLst/>
          </a:prstGeom>
          <a:noFill/>
          <a:ln/>
        </p:spPr>
        <p:txBody>
          <a:bodyPr wrap="square" lIns="0" tIns="0" rIns="0" bIns="0" rtlCol="0" anchor="t"/>
          <a:lstStyle/>
          <a:p>
            <a:pPr indent="0" marL="0">
              <a:buNone/>
            </a:pPr>
            <a:r>
              <a:rPr lang="en-US" sz="1050" b="1" spc="300" kern="0" dirty="0">
                <a:solidFill>
                  <a:srgbClr val="0A1F5C"/>
                </a:solidFill>
              </a:rPr>
              <a:t>MEMBER ASKS</a:t>
            </a:r>
            <a:endParaRPr lang="en-US" sz="1050" dirty="0"/>
          </a:p>
        </p:txBody>
      </p:sp>
      <p:sp>
        <p:nvSpPr>
          <p:cNvPr id="18" name="Text 16"/>
          <p:cNvSpPr txBox="1"/>
          <p:nvPr/>
        </p:nvSpPr>
        <p:spPr>
          <a:xfrm>
            <a:off x="868680" y="1828800"/>
            <a:ext cx="8046720" cy="457200"/>
          </a:xfrm>
          <a:prstGeom prst="rect">
            <a:avLst/>
          </a:prstGeom>
          <a:noFill/>
          <a:ln/>
        </p:spPr>
        <p:txBody>
          <a:bodyPr wrap="square" lIns="0" tIns="0" rIns="0" bIns="0" rtlCol="0" anchor="ctr"/>
          <a:lstStyle/>
          <a:p>
            <a:pPr indent="0" marL="0">
              <a:buNone/>
            </a:pPr>
            <a:r>
              <a:rPr lang="en-US" sz="1900" b="1" dirty="0">
                <a:solidFill>
                  <a:srgbClr val="0A1F5C"/>
                </a:solidFill>
                <a:latin typeface="Courier New" pitchFamily="34" charset="0"/>
                <a:ea typeface="Courier New" pitchFamily="34" charset="-122"/>
                <a:cs typeface="Courier New" pitchFamily="34" charset="-120"/>
              </a:rPr>
              <a:t>Can you explain home readings?</a:t>
            </a:r>
            <a:endParaRPr lang="en-US" sz="1900" dirty="0"/>
          </a:p>
        </p:txBody>
      </p:sp>
      <p:sp>
        <p:nvSpPr>
          <p:cNvPr id="19" name="Text 17"/>
          <p:cNvSpPr txBox="1"/>
          <p:nvPr/>
        </p:nvSpPr>
        <p:spPr>
          <a:xfrm>
            <a:off x="868680" y="2304288"/>
            <a:ext cx="8046720" cy="256032"/>
          </a:xfrm>
          <a:prstGeom prst="rect">
            <a:avLst/>
          </a:prstGeom>
          <a:noFill/>
          <a:ln/>
        </p:spPr>
        <p:txBody>
          <a:bodyPr wrap="square" lIns="0" tIns="0" rIns="0" bIns="0" rtlCol="0" anchor="t"/>
          <a:lstStyle/>
          <a:p>
            <a:pPr indent="0" marL="0">
              <a:buNone/>
            </a:pPr>
            <a:r>
              <a:rPr lang="en-US" sz="1150" dirty="0">
                <a:solidFill>
                  <a:srgbClr val="0A1F5C"/>
                </a:solidFill>
              </a:rPr>
              <a:t>M-103 · Diabetes Support · consent expired</a:t>
            </a:r>
            <a:endParaRPr lang="en-US" sz="1150" dirty="0"/>
          </a:p>
        </p:txBody>
      </p:sp>
      <p:sp>
        <p:nvSpPr>
          <p:cNvPr id="20" name="Pill"/>
          <p:cNvSpPr/>
          <p:nvPr/>
        </p:nvSpPr>
        <p:spPr>
          <a:xfrm>
            <a:off x="9326880" y="1783080"/>
            <a:ext cx="2011680" cy="502920"/>
          </a:xfrm>
          <a:prstGeom prst="roundRect">
            <a:avLst>
              <a:gd name="adj" fmla="val 50000"/>
            </a:avLst>
          </a:prstGeom>
          <a:solidFill>
            <a:srgbClr val="FFFFFF"/>
          </a:solidFill>
          <a:ln w="12700">
            <a:solidFill>
              <a:srgbClr val="FFFFFF"/>
            </a:solidFill>
            <a:prstDash val="solid"/>
          </a:ln>
        </p:spPr>
      </p:sp>
      <p:sp>
        <p:nvSpPr>
          <p:cNvPr id="21" name="Text 19"/>
          <p:cNvSpPr txBox="1"/>
          <p:nvPr/>
        </p:nvSpPr>
        <p:spPr>
          <a:xfrm>
            <a:off x="9326880" y="1783080"/>
            <a:ext cx="2011680" cy="502920"/>
          </a:xfrm>
          <a:prstGeom prst="rect">
            <a:avLst/>
          </a:prstGeom>
          <a:noFill/>
          <a:ln/>
        </p:spPr>
        <p:txBody>
          <a:bodyPr wrap="square" lIns="0" tIns="0" rIns="0" bIns="0" rtlCol="0" anchor="ctr"/>
          <a:lstStyle/>
          <a:p>
            <a:pPr algn="ctr" indent="0" marL="0">
              <a:buNone/>
            </a:pPr>
            <a:r>
              <a:rPr lang="en-US" sz="1600" b="1" dirty="0">
                <a:solidFill>
                  <a:srgbClr val="0A1F5C"/>
                </a:solidFill>
              </a:rPr>
              <a:t>ER-501</a:t>
            </a:r>
            <a:endParaRPr lang="en-US" sz="1600" dirty="0"/>
          </a:p>
        </p:txBody>
      </p:sp>
      <p:sp>
        <p:nvSpPr>
          <p:cNvPr id="22" name="MEMBER SEES"/>
          <p:cNvSpPr/>
          <p:nvPr/>
        </p:nvSpPr>
        <p:spPr>
          <a:xfrm>
            <a:off x="548640" y="2926080"/>
            <a:ext cx="5440680" cy="2286000"/>
          </a:xfrm>
          <a:prstGeom prst="roundRect">
            <a:avLst>
              <a:gd name="adj" fmla="val 4000"/>
            </a:avLst>
          </a:prstGeom>
          <a:solidFill>
            <a:srgbClr val="F4F6FB"/>
          </a:solidFill>
          <a:ln w="12700">
            <a:solidFill>
              <a:srgbClr val="F4F6FB"/>
            </a:solidFill>
            <a:prstDash val="solid"/>
          </a:ln>
        </p:spPr>
      </p:sp>
      <p:sp>
        <p:nvSpPr>
          <p:cNvPr id="23" name="Text 21"/>
          <p:cNvSpPr txBox="1"/>
          <p:nvPr/>
        </p:nvSpPr>
        <p:spPr>
          <a:xfrm>
            <a:off x="822960" y="3090672"/>
            <a:ext cx="4114800" cy="274320"/>
          </a:xfrm>
          <a:prstGeom prst="rect">
            <a:avLst/>
          </a:prstGeom>
          <a:noFill/>
          <a:ln/>
        </p:spPr>
        <p:txBody>
          <a:bodyPr wrap="square" lIns="0" tIns="0" rIns="0" bIns="0" rtlCol="0" anchor="t"/>
          <a:lstStyle/>
          <a:p>
            <a:pPr indent="0" marL="0">
              <a:buNone/>
            </a:pPr>
            <a:r>
              <a:rPr lang="en-US" sz="1200" b="1" spc="300" kern="0" dirty="0">
                <a:solidFill>
                  <a:srgbClr val="1547C8"/>
                </a:solidFill>
              </a:rPr>
              <a:t>MEMBER SEES</a:t>
            </a:r>
            <a:endParaRPr lang="en-US" sz="1200" dirty="0"/>
          </a:p>
        </p:txBody>
      </p:sp>
      <p:sp>
        <p:nvSpPr>
          <p:cNvPr id="24" name="Bullet"/>
          <p:cNvSpPr/>
          <p:nvPr/>
        </p:nvSpPr>
        <p:spPr>
          <a:xfrm>
            <a:off x="841248" y="3721608"/>
            <a:ext cx="128016" cy="128016"/>
          </a:xfrm>
          <a:prstGeom prst="rect">
            <a:avLst/>
          </a:prstGeom>
          <a:solidFill>
            <a:srgbClr val="F5A524"/>
          </a:solidFill>
          <a:ln w="12700">
            <a:solidFill>
              <a:srgbClr val="F5A524"/>
            </a:solidFill>
            <a:prstDash val="solid"/>
          </a:ln>
        </p:spPr>
      </p:sp>
      <p:sp>
        <p:nvSpPr>
          <p:cNvPr id="25" name="Text 23"/>
          <p:cNvSpPr txBox="1"/>
          <p:nvPr/>
        </p:nvSpPr>
        <p:spPr>
          <a:xfrm>
            <a:off x="1143000" y="3611880"/>
            <a:ext cx="4663440" cy="457200"/>
          </a:xfrm>
          <a:prstGeom prst="rect">
            <a:avLst/>
          </a:prstGeom>
          <a:noFill/>
          <a:ln/>
        </p:spPr>
        <p:txBody>
          <a:bodyPr wrap="square" lIns="0" tIns="0" rIns="0" bIns="0" rtlCol="0" anchor="ctr"/>
          <a:lstStyle/>
          <a:p>
            <a:pPr indent="0" marL="0">
              <a:buNone/>
            </a:pPr>
            <a:r>
              <a:rPr lang="en-US" sz="1400" b="1" dirty="0">
                <a:solidFill>
                  <a:srgbClr val="0A1F5C"/>
                </a:solidFill>
              </a:rPr>
              <a:t>Consent is not active; please contact program staff</a:t>
            </a:r>
            <a:endParaRPr lang="en-US" sz="1400" dirty="0"/>
          </a:p>
        </p:txBody>
      </p:sp>
      <p:sp>
        <p:nvSpPr>
          <p:cNvPr id="26" name="Bullet"/>
          <p:cNvSpPr/>
          <p:nvPr/>
        </p:nvSpPr>
        <p:spPr>
          <a:xfrm>
            <a:off x="841248" y="4224528"/>
            <a:ext cx="128016" cy="128016"/>
          </a:xfrm>
          <a:prstGeom prst="rect">
            <a:avLst/>
          </a:prstGeom>
          <a:solidFill>
            <a:srgbClr val="F5A524"/>
          </a:solidFill>
          <a:ln w="12700">
            <a:solidFill>
              <a:srgbClr val="F5A524"/>
            </a:solidFill>
            <a:prstDash val="solid"/>
          </a:ln>
        </p:spPr>
      </p:sp>
      <p:sp>
        <p:nvSpPr>
          <p:cNvPr id="27" name="Text 25"/>
          <p:cNvSpPr txBox="1"/>
          <p:nvPr/>
        </p:nvSpPr>
        <p:spPr>
          <a:xfrm>
            <a:off x="1143000" y="4114800"/>
            <a:ext cx="4663440" cy="457200"/>
          </a:xfrm>
          <a:prstGeom prst="rect">
            <a:avLst/>
          </a:prstGeom>
          <a:noFill/>
          <a:ln/>
        </p:spPr>
        <p:txBody>
          <a:bodyPr wrap="square" lIns="0" tIns="0" rIns="0" bIns="0" rtlCol="0" anchor="ctr"/>
          <a:lstStyle/>
          <a:p>
            <a:pPr indent="0" marL="0">
              <a:buNone/>
            </a:pPr>
            <a:r>
              <a:rPr lang="en-US" sz="1400" b="1" dirty="0">
                <a:solidFill>
                  <a:srgbClr val="0A1F5C"/>
                </a:solidFill>
              </a:rPr>
              <a:t>No health information is shown</a:t>
            </a:r>
            <a:endParaRPr lang="en-US" sz="1400" dirty="0"/>
          </a:p>
        </p:txBody>
      </p:sp>
      <p:sp>
        <p:nvSpPr>
          <p:cNvPr id="28" name="Bullet"/>
          <p:cNvSpPr/>
          <p:nvPr/>
        </p:nvSpPr>
        <p:spPr>
          <a:xfrm>
            <a:off x="841248" y="4727448"/>
            <a:ext cx="128016" cy="128016"/>
          </a:xfrm>
          <a:prstGeom prst="rect">
            <a:avLst/>
          </a:prstGeom>
          <a:solidFill>
            <a:srgbClr val="F5A524"/>
          </a:solidFill>
          <a:ln w="12700">
            <a:solidFill>
              <a:srgbClr val="F5A524"/>
            </a:solidFill>
            <a:prstDash val="solid"/>
          </a:ln>
        </p:spPr>
      </p:sp>
      <p:sp>
        <p:nvSpPr>
          <p:cNvPr id="29" name="Text 27"/>
          <p:cNvSpPr txBox="1"/>
          <p:nvPr/>
        </p:nvSpPr>
        <p:spPr>
          <a:xfrm>
            <a:off x="1143000" y="4617720"/>
            <a:ext cx="4663440" cy="457200"/>
          </a:xfrm>
          <a:prstGeom prst="rect">
            <a:avLst/>
          </a:prstGeom>
          <a:noFill/>
          <a:ln/>
        </p:spPr>
        <p:txBody>
          <a:bodyPr wrap="square" lIns="0" tIns="0" rIns="0" bIns="0" rtlCol="0" anchor="ctr"/>
          <a:lstStyle/>
          <a:p>
            <a:pPr indent="0" marL="0">
              <a:buNone/>
            </a:pPr>
            <a:r>
              <a:rPr lang="en-US" sz="1400" b="1" dirty="0">
                <a:solidFill>
                  <a:srgbClr val="0A1F5C"/>
                </a:solidFill>
              </a:rPr>
              <a:t>The disclaimer</a:t>
            </a:r>
            <a:endParaRPr lang="en-US" sz="1400" dirty="0"/>
          </a:p>
        </p:txBody>
      </p:sp>
      <p:sp>
        <p:nvSpPr>
          <p:cNvPr id="30" name="STAFF SEES"/>
          <p:cNvSpPr/>
          <p:nvPr/>
        </p:nvSpPr>
        <p:spPr>
          <a:xfrm>
            <a:off x="6199632" y="2926080"/>
            <a:ext cx="5440680" cy="2286000"/>
          </a:xfrm>
          <a:prstGeom prst="roundRect">
            <a:avLst>
              <a:gd name="adj" fmla="val 4000"/>
            </a:avLst>
          </a:prstGeom>
          <a:solidFill>
            <a:srgbClr val="F4F6FB"/>
          </a:solidFill>
          <a:ln w="12700">
            <a:solidFill>
              <a:srgbClr val="F4F6FB"/>
            </a:solidFill>
            <a:prstDash val="solid"/>
          </a:ln>
        </p:spPr>
      </p:sp>
      <p:sp>
        <p:nvSpPr>
          <p:cNvPr id="31" name="Text 29"/>
          <p:cNvSpPr txBox="1"/>
          <p:nvPr/>
        </p:nvSpPr>
        <p:spPr>
          <a:xfrm>
            <a:off x="6473952" y="3090672"/>
            <a:ext cx="4114800" cy="274320"/>
          </a:xfrm>
          <a:prstGeom prst="rect">
            <a:avLst/>
          </a:prstGeom>
          <a:noFill/>
          <a:ln/>
        </p:spPr>
        <p:txBody>
          <a:bodyPr wrap="square" lIns="0" tIns="0" rIns="0" bIns="0" rtlCol="0" anchor="t"/>
          <a:lstStyle/>
          <a:p>
            <a:pPr indent="0" marL="0">
              <a:buNone/>
            </a:pPr>
            <a:r>
              <a:rPr lang="en-US" sz="1200" b="1" spc="300" kern="0" dirty="0">
                <a:solidFill>
                  <a:srgbClr val="1547C8"/>
                </a:solidFill>
              </a:rPr>
              <a:t>STAFF SEES</a:t>
            </a:r>
            <a:endParaRPr lang="en-US" sz="1200" dirty="0"/>
          </a:p>
        </p:txBody>
      </p:sp>
      <p:sp>
        <p:nvSpPr>
          <p:cNvPr id="32" name="Bullet"/>
          <p:cNvSpPr/>
          <p:nvPr/>
        </p:nvSpPr>
        <p:spPr>
          <a:xfrm>
            <a:off x="6492240" y="3721608"/>
            <a:ext cx="128016" cy="128016"/>
          </a:xfrm>
          <a:prstGeom prst="rect">
            <a:avLst/>
          </a:prstGeom>
          <a:solidFill>
            <a:srgbClr val="F5A524"/>
          </a:solidFill>
          <a:ln w="12700">
            <a:solidFill>
              <a:srgbClr val="F5A524"/>
            </a:solidFill>
            <a:prstDash val="solid"/>
          </a:ln>
        </p:spPr>
      </p:sp>
      <p:sp>
        <p:nvSpPr>
          <p:cNvPr id="33" name="Text 31"/>
          <p:cNvSpPr txBox="1"/>
          <p:nvPr/>
        </p:nvSpPr>
        <p:spPr>
          <a:xfrm>
            <a:off x="6793992" y="3611880"/>
            <a:ext cx="4663440" cy="457200"/>
          </a:xfrm>
          <a:prstGeom prst="rect">
            <a:avLst/>
          </a:prstGeom>
          <a:noFill/>
          <a:ln/>
        </p:spPr>
        <p:txBody>
          <a:bodyPr wrap="square" lIns="0" tIns="0" rIns="0" bIns="0" rtlCol="0" anchor="ctr"/>
          <a:lstStyle/>
          <a:p>
            <a:pPr indent="0" marL="0">
              <a:buNone/>
            </a:pPr>
            <a:r>
              <a:rPr lang="en-US" sz="1400" b="1" dirty="0">
                <a:solidFill>
                  <a:srgbClr val="0A1F5C"/>
                </a:solidFill>
              </a:rPr>
              <a:t>Rule ER-501 matched; processing stopped</a:t>
            </a:r>
            <a:endParaRPr lang="en-US" sz="1400" dirty="0"/>
          </a:p>
        </p:txBody>
      </p:sp>
      <p:sp>
        <p:nvSpPr>
          <p:cNvPr id="34" name="Bullet"/>
          <p:cNvSpPr/>
          <p:nvPr/>
        </p:nvSpPr>
        <p:spPr>
          <a:xfrm>
            <a:off x="6492240" y="4224528"/>
            <a:ext cx="128016" cy="128016"/>
          </a:xfrm>
          <a:prstGeom prst="rect">
            <a:avLst/>
          </a:prstGeom>
          <a:solidFill>
            <a:srgbClr val="F5A524"/>
          </a:solidFill>
          <a:ln w="12700">
            <a:solidFill>
              <a:srgbClr val="F5A524"/>
            </a:solidFill>
            <a:prstDash val="solid"/>
          </a:ln>
        </p:spPr>
      </p:sp>
      <p:sp>
        <p:nvSpPr>
          <p:cNvPr id="35" name="Text 33"/>
          <p:cNvSpPr txBox="1"/>
          <p:nvPr/>
        </p:nvSpPr>
        <p:spPr>
          <a:xfrm>
            <a:off x="6793992" y="4114800"/>
            <a:ext cx="4663440" cy="457200"/>
          </a:xfrm>
          <a:prstGeom prst="rect">
            <a:avLst/>
          </a:prstGeom>
          <a:noFill/>
          <a:ln/>
        </p:spPr>
        <p:txBody>
          <a:bodyPr wrap="square" lIns="0" tIns="0" rIns="0" bIns="0" rtlCol="0" anchor="ctr"/>
          <a:lstStyle/>
          <a:p>
            <a:pPr indent="0" marL="0">
              <a:buNone/>
            </a:pPr>
            <a:r>
              <a:rPr lang="en-US" sz="1400" b="1" dirty="0">
                <a:solidFill>
                  <a:srgbClr val="0A1F5C"/>
                </a:solidFill>
              </a:rPr>
              <a:t>No readings or care plan were accessed</a:t>
            </a:r>
            <a:endParaRPr lang="en-US" sz="1400" dirty="0"/>
          </a:p>
        </p:txBody>
      </p:sp>
      <p:sp>
        <p:nvSpPr>
          <p:cNvPr id="36" name="Bullet"/>
          <p:cNvSpPr/>
          <p:nvPr/>
        </p:nvSpPr>
        <p:spPr>
          <a:xfrm>
            <a:off x="6492240" y="4727448"/>
            <a:ext cx="128016" cy="128016"/>
          </a:xfrm>
          <a:prstGeom prst="rect">
            <a:avLst/>
          </a:prstGeom>
          <a:solidFill>
            <a:srgbClr val="F5A524"/>
          </a:solidFill>
          <a:ln w="12700">
            <a:solidFill>
              <a:srgbClr val="F5A524"/>
            </a:solidFill>
            <a:prstDash val="solid"/>
          </a:ln>
        </p:spPr>
      </p:sp>
      <p:sp>
        <p:nvSpPr>
          <p:cNvPr id="37" name="Text 35"/>
          <p:cNvSpPr txBox="1"/>
          <p:nvPr/>
        </p:nvSpPr>
        <p:spPr>
          <a:xfrm>
            <a:off x="6793992" y="4617720"/>
            <a:ext cx="4663440" cy="457200"/>
          </a:xfrm>
          <a:prstGeom prst="rect">
            <a:avLst/>
          </a:prstGeom>
          <a:noFill/>
          <a:ln/>
        </p:spPr>
        <p:txBody>
          <a:bodyPr wrap="square" lIns="0" tIns="0" rIns="0" bIns="0" rtlCol="0" anchor="ctr"/>
          <a:lstStyle/>
          <a:p>
            <a:pPr indent="0" marL="0">
              <a:buNone/>
            </a:pPr>
            <a:r>
              <a:rPr lang="en-US" sz="1400" b="1" dirty="0">
                <a:solidFill>
                  <a:srgbClr val="0A1F5C"/>
                </a:solidFill>
              </a:rPr>
              <a:t>Member routed to program staff</a:t>
            </a:r>
            <a:endParaRPr lang="en-US" sz="1400" dirty="0"/>
          </a:p>
        </p:txBody>
      </p:sp>
      <p:sp>
        <p:nvSpPr>
          <p:cNvPr id="38" name="Why"/>
          <p:cNvSpPr/>
          <p:nvPr/>
        </p:nvSpPr>
        <p:spPr>
          <a:xfrm>
            <a:off x="548640" y="5440680"/>
            <a:ext cx="8229600" cy="713232"/>
          </a:xfrm>
          <a:prstGeom prst="roundRect">
            <a:avLst>
              <a:gd name="adj" fmla="val 12821"/>
            </a:avLst>
          </a:prstGeom>
          <a:solidFill>
            <a:srgbClr val="0A1F5C"/>
          </a:solidFill>
          <a:ln w="12700">
            <a:solidFill>
              <a:srgbClr val="0A1F5C"/>
            </a:solidFill>
            <a:prstDash val="solid"/>
          </a:ln>
        </p:spPr>
      </p:sp>
      <p:sp>
        <p:nvSpPr>
          <p:cNvPr id="39" name="Text 37"/>
          <p:cNvSpPr txBox="1"/>
          <p:nvPr/>
        </p:nvSpPr>
        <p:spPr>
          <a:xfrm>
            <a:off x="822960" y="5440680"/>
            <a:ext cx="7772400" cy="713232"/>
          </a:xfrm>
          <a:prstGeom prst="rect">
            <a:avLst/>
          </a:prstGeom>
          <a:noFill/>
          <a:ln/>
        </p:spPr>
        <p:txBody>
          <a:bodyPr wrap="square" lIns="0" tIns="0" rIns="0" bIns="0" rtlCol="0" anchor="ctr"/>
          <a:lstStyle/>
          <a:p>
            <a:pPr indent="0" marL="0">
              <a:buNone/>
            </a:pPr>
            <a:r>
              <a:rPr lang="en-US" sz="1250" b="1" spc="200" kern="0" dirty="0">
                <a:solidFill>
                  <a:srgbClr val="3CC3F0"/>
                </a:solidFill>
              </a:rPr>
              <a:t>WHY  </a:t>
            </a:r>
            <a:pPr indent="0" marL="0">
              <a:buNone/>
            </a:pPr>
            <a:r>
              <a:rPr lang="en-US" sz="1250" dirty="0">
                <a:solidFill>
                  <a:srgbClr val="FFFFFF"/>
                </a:solidFill>
              </a:rPr>
              <a:t>The consent check is the very first step. Nothing else runs without it.</a:t>
            </a:r>
            <a:endParaRPr lang="en-US" sz="1250" dirty="0"/>
          </a:p>
        </p:txBody>
      </p:sp>
      <p:sp>
        <p:nvSpPr>
          <p:cNvPr id="40" name="Pill"/>
          <p:cNvSpPr/>
          <p:nvPr/>
        </p:nvSpPr>
        <p:spPr>
          <a:xfrm>
            <a:off x="9052560" y="5486400"/>
            <a:ext cx="2587752" cy="621792"/>
          </a:xfrm>
          <a:prstGeom prst="roundRect">
            <a:avLst>
              <a:gd name="adj" fmla="val 44118"/>
            </a:avLst>
          </a:prstGeom>
          <a:solidFill>
            <a:srgbClr val="1547C8"/>
          </a:solidFill>
          <a:ln w="12700">
            <a:solidFill>
              <a:srgbClr val="1547C8"/>
            </a:solidFill>
            <a:prstDash val="solid"/>
          </a:ln>
        </p:spPr>
      </p:sp>
      <p:sp>
        <p:nvSpPr>
          <p:cNvPr id="41" name="Text 39"/>
          <p:cNvSpPr txBox="1"/>
          <p:nvPr/>
        </p:nvSpPr>
        <p:spPr>
          <a:xfrm>
            <a:off x="9052560" y="5486400"/>
            <a:ext cx="2587752" cy="621792"/>
          </a:xfrm>
          <a:prstGeom prst="rect">
            <a:avLst/>
          </a:prstGeom>
          <a:noFill/>
          <a:ln/>
        </p:spPr>
        <p:txBody>
          <a:bodyPr wrap="square" lIns="0" tIns="0" rIns="0" bIns="0" rtlCol="0" anchor="ctr"/>
          <a:lstStyle/>
          <a:p>
            <a:pPr algn="ctr" indent="0" marL="0">
              <a:buNone/>
            </a:pPr>
            <a:r>
              <a:rPr lang="en-US" sz="1300" b="1" dirty="0">
                <a:solidFill>
                  <a:srgbClr val="FFFFFF"/>
                </a:solidFill>
              </a:rPr>
              <a:t>← Back to the questions</a:t>
            </a:r>
            <a:endParaRPr lang="en-US" sz="1300" dirty="0"/>
          </a:p>
        </p:txBody>
      </p:sp>
      <p:sp>
        <p:nvSpPr>
          <p:cNvPr id="42" name="Click target">
            <a:hlinkClick r:id="rId11" tooltip="Back to the questions" action="ppaction://hlinksldjump"/>
          </p:cNvPr>
          <p:cNvSpPr/>
          <p:nvPr/>
        </p:nvSpPr>
        <p:spPr>
          <a:xfrm>
            <a:off x="9052560" y="5486400"/>
            <a:ext cx="2587752" cy="621792"/>
          </a:xfrm>
          <a:prstGeom prst="rect">
            <a:avLst/>
          </a:prstGeom>
          <a:solidFill>
            <a:srgbClr val="FFFFFF">
              <a:alpha val="0"/>
            </a:srgbClr>
          </a:solidFill>
          <a:ln w="12700">
            <a:solidFill>
              <a:srgbClr val="FFFFFF">
                <a:alpha val="0"/>
              </a:srgbClr>
            </a:solidFill>
            <a:prstDash val="solid"/>
          </a:ln>
        </p:spPr>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name="Slide 13">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56032"/>
          </a:xfrm>
          <a:prstGeom prst="rect">
            <a:avLst/>
          </a:prstGeom>
          <a:noFill/>
          <a:ln/>
        </p:spPr>
        <p:txBody>
          <a:bodyPr wrap="square" lIns="0" tIns="0" rIns="0" bIns="0" rtlCol="0" anchor="t"/>
          <a:lstStyle/>
          <a:p>
            <a:pPr algn="l" indent="0" marL="0">
              <a:buNone/>
            </a:pPr>
            <a:r>
              <a:rPr lang="en-US" sz="1100" b="1" spc="300" kern="0" dirty="0">
                <a:solidFill>
                  <a:srgbClr val="1547C8"/>
                </a:solidFill>
              </a:rPr>
              <a:t>04  ·  TRY IT  ·  RESULT</a:t>
            </a:r>
            <a:endParaRPr lang="en-US" sz="1100" dirty="0"/>
          </a:p>
        </p:txBody>
      </p:sp>
      <p:sp>
        <p:nvSpPr>
          <p:cNvPr id="3" name="Text 1"/>
          <p:cNvSpPr/>
          <p:nvPr>
            <p:ph idx="103" type="title" hasCustomPrompt="1"/>
          </p:nvPr>
        </p:nvSpPr>
        <p:spPr>
          <a:xfrm>
            <a:off x="548640" y="603504"/>
            <a:ext cx="11064240" cy="603504"/>
          </a:xfrm>
          <a:prstGeom prst="rect">
            <a:avLst/>
          </a:prstGeom>
          <a:noFill/>
          <a:ln/>
        </p:spPr>
        <p:txBody>
          <a:bodyPr wrap="square" lIns="0" tIns="0" rIns="0" bIns="0" rtlCol="0" anchor="t"/>
          <a:lstStyle/>
          <a:p>
            <a:pPr algn="l" indent="0" marL="0">
              <a:buNone/>
            </a:pPr>
            <a:r>
              <a:rPr lang="en-US" sz="3400" b="1" dirty="0">
                <a:solidFill>
                  <a:srgbClr val="0A1F5C"/>
                </a:solidFill>
              </a:rPr>
              <a:t>A summary, plus an urgent staff review</a:t>
            </a:r>
            <a:endParaRPr lang="en-US" sz="3400" dirty="0"/>
          </a:p>
        </p:txBody>
      </p:sp>
      <p:sp>
        <p:nvSpPr>
          <p:cNvPr id="4" name="Text 2">
            <a:hlinkClick r:id="rId1" tooltip="Go to Agenda" action="ppaction://hlinksldjump"/>
          </p:cNvPr>
          <p:cNvSpPr txBox="1"/>
          <p:nvPr/>
        </p:nvSpPr>
        <p:spPr>
          <a:xfrm>
            <a:off x="1920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1" action="ppaction://hlinksldjump" tooltip="Go to Agenda">
                  <a:extLst>
                    <a:ext uri="{A12FA001-AC4F-418D-AE19-62706E023703}">
                      <ahyp:hlinkClr xmlns:ahyp="http://schemas.microsoft.com/office/drawing/2018/hyperlinkcolor" val="tx"/>
                    </a:ext>
                  </a:extLst>
                </a:hlinkClick>
              </a:rPr>
              <a:t>Agenda</a:t>
            </a:r>
            <a:endParaRPr lang="en-US" sz="950" dirty="0"/>
          </a:p>
        </p:txBody>
      </p:sp>
      <p:sp>
        <p:nvSpPr>
          <p:cNvPr id="5" name="Text 3">
            <a:hlinkClick r:id="rId2" tooltip="Go to Problem" action="ppaction://hlinksldjump"/>
          </p:cNvPr>
          <p:cNvSpPr txBox="1"/>
          <p:nvPr/>
        </p:nvSpPr>
        <p:spPr>
          <a:xfrm>
            <a:off x="26060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2" action="ppaction://hlinksldjump" tooltip="Go to Problem">
                  <a:extLst>
                    <a:ext uri="{A12FA001-AC4F-418D-AE19-62706E023703}">
                      <ahyp:hlinkClr xmlns:ahyp="http://schemas.microsoft.com/office/drawing/2018/hyperlinkcolor" val="tx"/>
                    </a:ext>
                  </a:extLst>
                </a:hlinkClick>
              </a:rPr>
              <a:t>Problem</a:t>
            </a:r>
            <a:endParaRPr lang="en-US" sz="950" dirty="0"/>
          </a:p>
        </p:txBody>
      </p:sp>
      <p:sp>
        <p:nvSpPr>
          <p:cNvPr id="6" name="Text 4">
            <a:hlinkClick r:id="rId3" tooltip="Go to Solution" action="ppaction://hlinksldjump"/>
          </p:cNvPr>
          <p:cNvSpPr txBox="1"/>
          <p:nvPr/>
        </p:nvSpPr>
        <p:spPr>
          <a:xfrm>
            <a:off x="32918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3" action="ppaction://hlinksldjump" tooltip="Go to Solution">
                  <a:extLst>
                    <a:ext uri="{A12FA001-AC4F-418D-AE19-62706E023703}">
                      <ahyp:hlinkClr xmlns:ahyp="http://schemas.microsoft.com/office/drawing/2018/hyperlinkcolor" val="tx"/>
                    </a:ext>
                  </a:extLst>
                </a:hlinkClick>
              </a:rPr>
              <a:t>Solution</a:t>
            </a:r>
            <a:endParaRPr lang="en-US" sz="950" dirty="0"/>
          </a:p>
        </p:txBody>
      </p:sp>
      <p:sp>
        <p:nvSpPr>
          <p:cNvPr id="7" name="Text 5">
            <a:hlinkClick r:id="rId4" tooltip="Go to Principle" action="ppaction://hlinksldjump"/>
          </p:cNvPr>
          <p:cNvSpPr txBox="1"/>
          <p:nvPr/>
        </p:nvSpPr>
        <p:spPr>
          <a:xfrm>
            <a:off x="39776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4" action="ppaction://hlinksldjump" tooltip="Go to Principle">
                  <a:extLst>
                    <a:ext uri="{A12FA001-AC4F-418D-AE19-62706E023703}">
                      <ahyp:hlinkClr xmlns:ahyp="http://schemas.microsoft.com/office/drawing/2018/hyperlinkcolor" val="tx"/>
                    </a:ext>
                  </a:extLst>
                </a:hlinkClick>
              </a:rPr>
              <a:t>Principle</a:t>
            </a:r>
            <a:endParaRPr lang="en-US" sz="950" dirty="0"/>
          </a:p>
        </p:txBody>
      </p:sp>
      <p:sp>
        <p:nvSpPr>
          <p:cNvPr id="8" name="Text 6">
            <a:hlinkClick r:id="rId5" tooltip="Go to Flow" action="ppaction://hlinksldjump"/>
          </p:cNvPr>
          <p:cNvSpPr txBox="1"/>
          <p:nvPr/>
        </p:nvSpPr>
        <p:spPr>
          <a:xfrm>
            <a:off x="46634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5" action="ppaction://hlinksldjump" tooltip="Go to Flow">
                  <a:extLst>
                    <a:ext uri="{A12FA001-AC4F-418D-AE19-62706E023703}">
                      <ahyp:hlinkClr xmlns:ahyp="http://schemas.microsoft.com/office/drawing/2018/hyperlinkcolor" val="tx"/>
                    </a:ext>
                  </a:extLst>
                </a:hlinkClick>
              </a:rPr>
              <a:t>Flow</a:t>
            </a:r>
            <a:endParaRPr lang="en-US" sz="950" dirty="0"/>
          </a:p>
        </p:txBody>
      </p:sp>
      <p:sp>
        <p:nvSpPr>
          <p:cNvPr id="9" name="Text 7">
            <a:hlinkClick r:id="rId6" tooltip="Go to RAG" action="ppaction://hlinksldjump"/>
          </p:cNvPr>
          <p:cNvSpPr txBox="1"/>
          <p:nvPr/>
        </p:nvSpPr>
        <p:spPr>
          <a:xfrm>
            <a:off x="5349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6" action="ppaction://hlinksldjump" tooltip="Go to RAG">
                  <a:extLst>
                    <a:ext uri="{A12FA001-AC4F-418D-AE19-62706E023703}">
                      <ahyp:hlinkClr xmlns:ahyp="http://schemas.microsoft.com/office/drawing/2018/hyperlinkcolor" val="tx"/>
                    </a:ext>
                  </a:extLst>
                </a:hlinkClick>
              </a:rPr>
              <a:t>RAG</a:t>
            </a:r>
            <a:endParaRPr lang="en-US" sz="950" dirty="0"/>
          </a:p>
        </p:txBody>
      </p:sp>
      <p:sp>
        <p:nvSpPr>
          <p:cNvPr id="10" name="Text 8">
            <a:hlinkClick r:id="rId7" tooltip="Go to Demo" action="ppaction://hlinksldjump"/>
          </p:cNvPr>
          <p:cNvSpPr txBox="1"/>
          <p:nvPr/>
        </p:nvSpPr>
        <p:spPr>
          <a:xfrm>
            <a:off x="60350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7" action="ppaction://hlinksldjump" tooltip="Go to Demo">
                  <a:extLst>
                    <a:ext uri="{A12FA001-AC4F-418D-AE19-62706E023703}">
                      <ahyp:hlinkClr xmlns:ahyp="http://schemas.microsoft.com/office/drawing/2018/hyperlinkcolor" val="tx"/>
                    </a:ext>
                  </a:extLst>
                </a:hlinkClick>
              </a:rPr>
              <a:t>Demo</a:t>
            </a:r>
            <a:endParaRPr lang="en-US" sz="950" dirty="0"/>
          </a:p>
        </p:txBody>
      </p:sp>
      <p:sp>
        <p:nvSpPr>
          <p:cNvPr id="11" name="Text 9"/>
          <p:cNvSpPr txBox="1"/>
          <p:nvPr/>
        </p:nvSpPr>
        <p:spPr>
          <a:xfrm>
            <a:off x="6720840" y="6382512"/>
            <a:ext cx="685800" cy="219456"/>
          </a:xfrm>
          <a:prstGeom prst="rect">
            <a:avLst/>
          </a:prstGeom>
          <a:noFill/>
          <a:ln/>
        </p:spPr>
        <p:txBody>
          <a:bodyPr wrap="square" lIns="0" tIns="0" rIns="0" bIns="0" rtlCol="0" anchor="ctr"/>
          <a:lstStyle/>
          <a:p>
            <a:pPr algn="ctr" indent="0" marL="0">
              <a:buNone/>
            </a:pPr>
            <a:r>
              <a:rPr lang="en-US" sz="950" b="1" dirty="0">
                <a:solidFill>
                  <a:srgbClr val="0A1F5C"/>
                </a:solidFill>
              </a:rPr>
              <a:t>Try it</a:t>
            </a:r>
            <a:endParaRPr lang="en-US" sz="950" dirty="0"/>
          </a:p>
        </p:txBody>
      </p:sp>
      <p:sp>
        <p:nvSpPr>
          <p:cNvPr id="12" name="Shape 10"/>
          <p:cNvSpPr/>
          <p:nvPr/>
        </p:nvSpPr>
        <p:spPr>
          <a:xfrm>
            <a:off x="7027164" y="6309360"/>
            <a:ext cx="73152" cy="73152"/>
          </a:xfrm>
          <a:prstGeom prst="ellipse">
            <a:avLst/>
          </a:prstGeom>
          <a:solidFill>
            <a:srgbClr val="1547C8"/>
          </a:solidFill>
          <a:ln w="12700">
            <a:solidFill>
              <a:srgbClr val="1547C8"/>
            </a:solidFill>
            <a:prstDash val="solid"/>
          </a:ln>
        </p:spPr>
      </p:sp>
      <p:sp>
        <p:nvSpPr>
          <p:cNvPr id="13" name="Text 11">
            <a:hlinkClick r:id="rId8" tooltip="Go to Rules" action="ppaction://hlinksldjump"/>
          </p:cNvPr>
          <p:cNvSpPr txBox="1"/>
          <p:nvPr/>
        </p:nvSpPr>
        <p:spPr>
          <a:xfrm>
            <a:off x="74066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8" action="ppaction://hlinksldjump" tooltip="Go to Rules">
                  <a:extLst>
                    <a:ext uri="{A12FA001-AC4F-418D-AE19-62706E023703}">
                      <ahyp:hlinkClr xmlns:ahyp="http://schemas.microsoft.com/office/drawing/2018/hyperlinkcolor" val="tx"/>
                    </a:ext>
                  </a:extLst>
                </a:hlinkClick>
              </a:rPr>
              <a:t>Rules</a:t>
            </a:r>
            <a:endParaRPr lang="en-US" sz="950" dirty="0"/>
          </a:p>
        </p:txBody>
      </p:sp>
      <p:sp>
        <p:nvSpPr>
          <p:cNvPr id="14" name="Text 12">
            <a:hlinkClick r:id="rId9" tooltip="Go to Results" action="ppaction://hlinksldjump"/>
          </p:cNvPr>
          <p:cNvSpPr txBox="1"/>
          <p:nvPr/>
        </p:nvSpPr>
        <p:spPr>
          <a:xfrm>
            <a:off x="80924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9" action="ppaction://hlinksldjump" tooltip="Go to Results">
                  <a:extLst>
                    <a:ext uri="{A12FA001-AC4F-418D-AE19-62706E023703}">
                      <ahyp:hlinkClr xmlns:ahyp="http://schemas.microsoft.com/office/drawing/2018/hyperlinkcolor" val="tx"/>
                    </a:ext>
                  </a:extLst>
                </a:hlinkClick>
              </a:rPr>
              <a:t>Results</a:t>
            </a:r>
            <a:endParaRPr lang="en-US" sz="950" dirty="0"/>
          </a:p>
        </p:txBody>
      </p:sp>
      <p:sp>
        <p:nvSpPr>
          <p:cNvPr id="15" name="Text 13">
            <a:hlinkClick r:id="rId10" tooltip="Go to Next" action="ppaction://hlinksldjump"/>
          </p:cNvPr>
          <p:cNvSpPr txBox="1"/>
          <p:nvPr/>
        </p:nvSpPr>
        <p:spPr>
          <a:xfrm>
            <a:off x="8778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10" action="ppaction://hlinksldjump" tooltip="Go to Next">
                  <a:extLst>
                    <a:ext uri="{A12FA001-AC4F-418D-AE19-62706E023703}">
                      <ahyp:hlinkClr xmlns:ahyp="http://schemas.microsoft.com/office/drawing/2018/hyperlinkcolor" val="tx"/>
                    </a:ext>
                  </a:extLst>
                </a:hlinkClick>
              </a:rPr>
              <a:t>Next</a:t>
            </a:r>
            <a:endParaRPr lang="en-US" sz="950" dirty="0"/>
          </a:p>
        </p:txBody>
      </p:sp>
      <p:sp>
        <p:nvSpPr>
          <p:cNvPr id="16" name="Question band"/>
          <p:cNvSpPr/>
          <p:nvPr/>
        </p:nvSpPr>
        <p:spPr>
          <a:xfrm>
            <a:off x="548640" y="1417320"/>
            <a:ext cx="11091672" cy="1280160"/>
          </a:xfrm>
          <a:prstGeom prst="roundRect">
            <a:avLst>
              <a:gd name="adj" fmla="val 7143"/>
            </a:avLst>
          </a:prstGeom>
          <a:solidFill>
            <a:srgbClr val="8338EC"/>
          </a:solidFill>
          <a:ln w="12700">
            <a:solidFill>
              <a:srgbClr val="8338EC"/>
            </a:solidFill>
            <a:prstDash val="solid"/>
          </a:ln>
        </p:spPr>
      </p:sp>
      <p:sp>
        <p:nvSpPr>
          <p:cNvPr id="17" name="Text 15"/>
          <p:cNvSpPr txBox="1"/>
          <p:nvPr/>
        </p:nvSpPr>
        <p:spPr>
          <a:xfrm>
            <a:off x="868680" y="1554480"/>
            <a:ext cx="2743200" cy="228600"/>
          </a:xfrm>
          <a:prstGeom prst="rect">
            <a:avLst/>
          </a:prstGeom>
          <a:noFill/>
          <a:ln/>
        </p:spPr>
        <p:txBody>
          <a:bodyPr wrap="square" lIns="0" tIns="0" rIns="0" bIns="0" rtlCol="0" anchor="t"/>
          <a:lstStyle/>
          <a:p>
            <a:pPr indent="0" marL="0">
              <a:buNone/>
            </a:pPr>
            <a:r>
              <a:rPr lang="en-US" sz="1050" b="1" spc="300" kern="0" dirty="0">
                <a:solidFill>
                  <a:srgbClr val="FFFFFF"/>
                </a:solidFill>
              </a:rPr>
              <a:t>MEMBER ASKS</a:t>
            </a:r>
            <a:endParaRPr lang="en-US" sz="1050" dirty="0"/>
          </a:p>
        </p:txBody>
      </p:sp>
      <p:sp>
        <p:nvSpPr>
          <p:cNvPr id="18" name="Text 16"/>
          <p:cNvSpPr txBox="1"/>
          <p:nvPr/>
        </p:nvSpPr>
        <p:spPr>
          <a:xfrm>
            <a:off x="868680" y="1828800"/>
            <a:ext cx="8046720" cy="457200"/>
          </a:xfrm>
          <a:prstGeom prst="rect">
            <a:avLst/>
          </a:prstGeom>
          <a:noFill/>
          <a:ln/>
        </p:spPr>
        <p:txBody>
          <a:bodyPr wrap="square" lIns="0" tIns="0" rIns="0" bIns="0" rtlCol="0" anchor="ctr"/>
          <a:lstStyle/>
          <a:p>
            <a:pPr indent="0" marL="0">
              <a:buNone/>
            </a:pPr>
            <a:r>
              <a:rPr lang="en-US" sz="1900" b="1" dirty="0">
                <a:solidFill>
                  <a:srgbClr val="FFFFFF"/>
                </a:solidFill>
                <a:latin typeface="Courier New" pitchFamily="34" charset="0"/>
                <a:ea typeface="Courier New" pitchFamily="34" charset="-122"/>
                <a:cs typeface="Courier New" pitchFamily="34" charset="-120"/>
              </a:rPr>
              <a:t>Summarize my blood pressure for the last week</a:t>
            </a:r>
            <a:endParaRPr lang="en-US" sz="1900" dirty="0"/>
          </a:p>
        </p:txBody>
      </p:sp>
      <p:sp>
        <p:nvSpPr>
          <p:cNvPr id="19" name="Text 17"/>
          <p:cNvSpPr txBox="1"/>
          <p:nvPr/>
        </p:nvSpPr>
        <p:spPr>
          <a:xfrm>
            <a:off x="868680" y="2304288"/>
            <a:ext cx="8046720" cy="256032"/>
          </a:xfrm>
          <a:prstGeom prst="rect">
            <a:avLst/>
          </a:prstGeom>
          <a:noFill/>
          <a:ln/>
        </p:spPr>
        <p:txBody>
          <a:bodyPr wrap="square" lIns="0" tIns="0" rIns="0" bIns="0" rtlCol="0" anchor="t"/>
          <a:lstStyle/>
          <a:p>
            <a:pPr indent="0" marL="0">
              <a:buNone/>
            </a:pPr>
            <a:r>
              <a:rPr lang="en-US" sz="1150" dirty="0">
                <a:solidFill>
                  <a:srgbClr val="FFFFFF"/>
                </a:solidFill>
              </a:rPr>
              <a:t>M-102 · Hypertension Support</a:t>
            </a:r>
            <a:endParaRPr lang="en-US" sz="1150" dirty="0"/>
          </a:p>
        </p:txBody>
      </p:sp>
      <p:sp>
        <p:nvSpPr>
          <p:cNvPr id="20" name="Pill"/>
          <p:cNvSpPr/>
          <p:nvPr/>
        </p:nvSpPr>
        <p:spPr>
          <a:xfrm>
            <a:off x="9326880" y="1783080"/>
            <a:ext cx="2011680" cy="502920"/>
          </a:xfrm>
          <a:prstGeom prst="roundRect">
            <a:avLst>
              <a:gd name="adj" fmla="val 50000"/>
            </a:avLst>
          </a:prstGeom>
          <a:solidFill>
            <a:srgbClr val="FFFFFF"/>
          </a:solidFill>
          <a:ln w="12700">
            <a:solidFill>
              <a:srgbClr val="FFFFFF"/>
            </a:solidFill>
            <a:prstDash val="solid"/>
          </a:ln>
        </p:spPr>
      </p:sp>
      <p:sp>
        <p:nvSpPr>
          <p:cNvPr id="21" name="Text 19"/>
          <p:cNvSpPr txBox="1"/>
          <p:nvPr/>
        </p:nvSpPr>
        <p:spPr>
          <a:xfrm>
            <a:off x="9326880" y="1783080"/>
            <a:ext cx="2011680" cy="502920"/>
          </a:xfrm>
          <a:prstGeom prst="rect">
            <a:avLst/>
          </a:prstGeom>
          <a:noFill/>
          <a:ln/>
        </p:spPr>
        <p:txBody>
          <a:bodyPr wrap="square" lIns="0" tIns="0" rIns="0" bIns="0" rtlCol="0" anchor="ctr"/>
          <a:lstStyle/>
          <a:p>
            <a:pPr algn="ctr" indent="0" marL="0">
              <a:buNone/>
            </a:pPr>
            <a:r>
              <a:rPr lang="en-US" sz="1600" b="1" dirty="0">
                <a:solidFill>
                  <a:srgbClr val="8338EC"/>
                </a:solidFill>
              </a:rPr>
              <a:t>ER-502</a:t>
            </a:r>
            <a:endParaRPr lang="en-US" sz="1600" dirty="0"/>
          </a:p>
        </p:txBody>
      </p:sp>
      <p:sp>
        <p:nvSpPr>
          <p:cNvPr id="22" name="MEMBER SEES"/>
          <p:cNvSpPr/>
          <p:nvPr/>
        </p:nvSpPr>
        <p:spPr>
          <a:xfrm>
            <a:off x="548640" y="2926080"/>
            <a:ext cx="5440680" cy="2286000"/>
          </a:xfrm>
          <a:prstGeom prst="roundRect">
            <a:avLst>
              <a:gd name="adj" fmla="val 4000"/>
            </a:avLst>
          </a:prstGeom>
          <a:solidFill>
            <a:srgbClr val="F4F6FB"/>
          </a:solidFill>
          <a:ln w="12700">
            <a:solidFill>
              <a:srgbClr val="F4F6FB"/>
            </a:solidFill>
            <a:prstDash val="solid"/>
          </a:ln>
        </p:spPr>
      </p:sp>
      <p:sp>
        <p:nvSpPr>
          <p:cNvPr id="23" name="Text 21"/>
          <p:cNvSpPr txBox="1"/>
          <p:nvPr/>
        </p:nvSpPr>
        <p:spPr>
          <a:xfrm>
            <a:off x="822960" y="3090672"/>
            <a:ext cx="4114800" cy="274320"/>
          </a:xfrm>
          <a:prstGeom prst="rect">
            <a:avLst/>
          </a:prstGeom>
          <a:noFill/>
          <a:ln/>
        </p:spPr>
        <p:txBody>
          <a:bodyPr wrap="square" lIns="0" tIns="0" rIns="0" bIns="0" rtlCol="0" anchor="t"/>
          <a:lstStyle/>
          <a:p>
            <a:pPr indent="0" marL="0">
              <a:buNone/>
            </a:pPr>
            <a:r>
              <a:rPr lang="en-US" sz="1200" b="1" spc="300" kern="0" dirty="0">
                <a:solidFill>
                  <a:srgbClr val="1547C8"/>
                </a:solidFill>
              </a:rPr>
              <a:t>MEMBER SEES</a:t>
            </a:r>
            <a:endParaRPr lang="en-US" sz="1200" dirty="0"/>
          </a:p>
        </p:txBody>
      </p:sp>
      <p:sp>
        <p:nvSpPr>
          <p:cNvPr id="24" name="Bullet"/>
          <p:cNvSpPr/>
          <p:nvPr/>
        </p:nvSpPr>
        <p:spPr>
          <a:xfrm>
            <a:off x="841248" y="3721608"/>
            <a:ext cx="128016" cy="128016"/>
          </a:xfrm>
          <a:prstGeom prst="rect">
            <a:avLst/>
          </a:prstGeom>
          <a:solidFill>
            <a:srgbClr val="8338EC"/>
          </a:solidFill>
          <a:ln w="12700">
            <a:solidFill>
              <a:srgbClr val="8338EC"/>
            </a:solidFill>
            <a:prstDash val="solid"/>
          </a:ln>
        </p:spPr>
      </p:sp>
      <p:sp>
        <p:nvSpPr>
          <p:cNvPr id="25" name="Text 23"/>
          <p:cNvSpPr txBox="1"/>
          <p:nvPr/>
        </p:nvSpPr>
        <p:spPr>
          <a:xfrm>
            <a:off x="1143000" y="3611880"/>
            <a:ext cx="4663440" cy="457200"/>
          </a:xfrm>
          <a:prstGeom prst="rect">
            <a:avLst/>
          </a:prstGeom>
          <a:noFill/>
          <a:ln/>
        </p:spPr>
        <p:txBody>
          <a:bodyPr wrap="square" lIns="0" tIns="0" rIns="0" bIns="0" rtlCol="0" anchor="ctr"/>
          <a:lstStyle/>
          <a:p>
            <a:pPr indent="0" marL="0">
              <a:buNone/>
            </a:pPr>
            <a:r>
              <a:rPr lang="en-US" sz="1400" b="1" dirty="0">
                <a:solidFill>
                  <a:srgbClr val="0A1F5C"/>
                </a:solidFill>
              </a:rPr>
              <a:t>A descriptive summary: count, minimum, maximum, missing dates</a:t>
            </a:r>
            <a:endParaRPr lang="en-US" sz="1400" dirty="0"/>
          </a:p>
        </p:txBody>
      </p:sp>
      <p:sp>
        <p:nvSpPr>
          <p:cNvPr id="26" name="Bullet"/>
          <p:cNvSpPr/>
          <p:nvPr/>
        </p:nvSpPr>
        <p:spPr>
          <a:xfrm>
            <a:off x="841248" y="4224528"/>
            <a:ext cx="128016" cy="128016"/>
          </a:xfrm>
          <a:prstGeom prst="rect">
            <a:avLst/>
          </a:prstGeom>
          <a:solidFill>
            <a:srgbClr val="8338EC"/>
          </a:solidFill>
          <a:ln w="12700">
            <a:solidFill>
              <a:srgbClr val="8338EC"/>
            </a:solidFill>
            <a:prstDash val="solid"/>
          </a:ln>
        </p:spPr>
      </p:sp>
      <p:sp>
        <p:nvSpPr>
          <p:cNvPr id="27" name="Text 25"/>
          <p:cNvSpPr txBox="1"/>
          <p:nvPr/>
        </p:nvSpPr>
        <p:spPr>
          <a:xfrm>
            <a:off x="1143000" y="4114800"/>
            <a:ext cx="4663440" cy="457200"/>
          </a:xfrm>
          <a:prstGeom prst="rect">
            <a:avLst/>
          </a:prstGeom>
          <a:noFill/>
          <a:ln/>
        </p:spPr>
        <p:txBody>
          <a:bodyPr wrap="square" lIns="0" tIns="0" rIns="0" bIns="0" rtlCol="0" anchor="ctr"/>
          <a:lstStyle/>
          <a:p>
            <a:pPr indent="0" marL="0">
              <a:buNone/>
            </a:pPr>
            <a:r>
              <a:rPr lang="en-US" sz="1400" b="1" dirty="0">
                <a:solidFill>
                  <a:srgbClr val="0A1F5C"/>
                </a:solidFill>
              </a:rPr>
              <a:t>A message that an entry was sent to staff for review</a:t>
            </a:r>
            <a:endParaRPr lang="en-US" sz="1400" dirty="0"/>
          </a:p>
        </p:txBody>
      </p:sp>
      <p:sp>
        <p:nvSpPr>
          <p:cNvPr id="28" name="Bullet"/>
          <p:cNvSpPr/>
          <p:nvPr/>
        </p:nvSpPr>
        <p:spPr>
          <a:xfrm>
            <a:off x="841248" y="4727448"/>
            <a:ext cx="128016" cy="128016"/>
          </a:xfrm>
          <a:prstGeom prst="rect">
            <a:avLst/>
          </a:prstGeom>
          <a:solidFill>
            <a:srgbClr val="8338EC"/>
          </a:solidFill>
          <a:ln w="12700">
            <a:solidFill>
              <a:srgbClr val="8338EC"/>
            </a:solidFill>
            <a:prstDash val="solid"/>
          </a:ln>
        </p:spPr>
      </p:sp>
      <p:sp>
        <p:nvSpPr>
          <p:cNvPr id="29" name="Text 27"/>
          <p:cNvSpPr txBox="1"/>
          <p:nvPr/>
        </p:nvSpPr>
        <p:spPr>
          <a:xfrm>
            <a:off x="1143000" y="4617720"/>
            <a:ext cx="4663440" cy="457200"/>
          </a:xfrm>
          <a:prstGeom prst="rect">
            <a:avLst/>
          </a:prstGeom>
          <a:noFill/>
          <a:ln/>
        </p:spPr>
        <p:txBody>
          <a:bodyPr wrap="square" lIns="0" tIns="0" rIns="0" bIns="0" rtlCol="0" anchor="ctr"/>
          <a:lstStyle/>
          <a:p>
            <a:pPr indent="0" marL="0">
              <a:buNone/>
            </a:pPr>
            <a:r>
              <a:rPr lang="en-US" sz="1400" b="1" dirty="0">
                <a:solidFill>
                  <a:srgbClr val="0A1F5C"/>
                </a:solidFill>
              </a:rPr>
              <a:t>No interpretation of any value</a:t>
            </a:r>
            <a:endParaRPr lang="en-US" sz="1400" dirty="0"/>
          </a:p>
        </p:txBody>
      </p:sp>
      <p:sp>
        <p:nvSpPr>
          <p:cNvPr id="30" name="STAFF SEES"/>
          <p:cNvSpPr/>
          <p:nvPr/>
        </p:nvSpPr>
        <p:spPr>
          <a:xfrm>
            <a:off x="6199632" y="2926080"/>
            <a:ext cx="5440680" cy="2286000"/>
          </a:xfrm>
          <a:prstGeom prst="roundRect">
            <a:avLst>
              <a:gd name="adj" fmla="val 4000"/>
            </a:avLst>
          </a:prstGeom>
          <a:solidFill>
            <a:srgbClr val="F4F6FB"/>
          </a:solidFill>
          <a:ln w="12700">
            <a:solidFill>
              <a:srgbClr val="F4F6FB"/>
            </a:solidFill>
            <a:prstDash val="solid"/>
          </a:ln>
        </p:spPr>
      </p:sp>
      <p:sp>
        <p:nvSpPr>
          <p:cNvPr id="31" name="Text 29"/>
          <p:cNvSpPr txBox="1"/>
          <p:nvPr/>
        </p:nvSpPr>
        <p:spPr>
          <a:xfrm>
            <a:off x="6473952" y="3090672"/>
            <a:ext cx="4114800" cy="274320"/>
          </a:xfrm>
          <a:prstGeom prst="rect">
            <a:avLst/>
          </a:prstGeom>
          <a:noFill/>
          <a:ln/>
        </p:spPr>
        <p:txBody>
          <a:bodyPr wrap="square" lIns="0" tIns="0" rIns="0" bIns="0" rtlCol="0" anchor="t"/>
          <a:lstStyle/>
          <a:p>
            <a:pPr indent="0" marL="0">
              <a:buNone/>
            </a:pPr>
            <a:r>
              <a:rPr lang="en-US" sz="1200" b="1" spc="300" kern="0" dirty="0">
                <a:solidFill>
                  <a:srgbClr val="1547C8"/>
                </a:solidFill>
              </a:rPr>
              <a:t>STAFF SEES</a:t>
            </a:r>
            <a:endParaRPr lang="en-US" sz="1200" dirty="0"/>
          </a:p>
        </p:txBody>
      </p:sp>
      <p:sp>
        <p:nvSpPr>
          <p:cNvPr id="32" name="Bullet"/>
          <p:cNvSpPr/>
          <p:nvPr/>
        </p:nvSpPr>
        <p:spPr>
          <a:xfrm>
            <a:off x="6492240" y="3721608"/>
            <a:ext cx="128016" cy="128016"/>
          </a:xfrm>
          <a:prstGeom prst="rect">
            <a:avLst/>
          </a:prstGeom>
          <a:solidFill>
            <a:srgbClr val="8338EC"/>
          </a:solidFill>
          <a:ln w="12700">
            <a:solidFill>
              <a:srgbClr val="8338EC"/>
            </a:solidFill>
            <a:prstDash val="solid"/>
          </a:ln>
        </p:spPr>
      </p:sp>
      <p:sp>
        <p:nvSpPr>
          <p:cNvPr id="33" name="Text 31"/>
          <p:cNvSpPr txBox="1"/>
          <p:nvPr/>
        </p:nvSpPr>
        <p:spPr>
          <a:xfrm>
            <a:off x="6793992" y="3611880"/>
            <a:ext cx="4663440" cy="457200"/>
          </a:xfrm>
          <a:prstGeom prst="rect">
            <a:avLst/>
          </a:prstGeom>
          <a:noFill/>
          <a:ln/>
        </p:spPr>
        <p:txBody>
          <a:bodyPr wrap="square" lIns="0" tIns="0" rIns="0" bIns="0" rtlCol="0" anchor="ctr"/>
          <a:lstStyle/>
          <a:p>
            <a:pPr indent="0" marL="0">
              <a:buNone/>
            </a:pPr>
            <a:r>
              <a:rPr lang="en-US" sz="1400" b="1" dirty="0">
                <a:solidFill>
                  <a:srgbClr val="0A1F5C"/>
                </a:solidFill>
              </a:rPr>
              <a:t>Rule ER-502 matched; reading R-204</a:t>
            </a:r>
            <a:endParaRPr lang="en-US" sz="1400" dirty="0"/>
          </a:p>
        </p:txBody>
      </p:sp>
      <p:sp>
        <p:nvSpPr>
          <p:cNvPr id="34" name="Bullet"/>
          <p:cNvSpPr/>
          <p:nvPr/>
        </p:nvSpPr>
        <p:spPr>
          <a:xfrm>
            <a:off x="6492240" y="4224528"/>
            <a:ext cx="128016" cy="128016"/>
          </a:xfrm>
          <a:prstGeom prst="rect">
            <a:avLst/>
          </a:prstGeom>
          <a:solidFill>
            <a:srgbClr val="8338EC"/>
          </a:solidFill>
          <a:ln w="12700">
            <a:solidFill>
              <a:srgbClr val="8338EC"/>
            </a:solidFill>
            <a:prstDash val="solid"/>
          </a:ln>
        </p:spPr>
      </p:sp>
      <p:sp>
        <p:nvSpPr>
          <p:cNvPr id="35" name="Text 33"/>
          <p:cNvSpPr txBox="1"/>
          <p:nvPr/>
        </p:nvSpPr>
        <p:spPr>
          <a:xfrm>
            <a:off x="6793992" y="4114800"/>
            <a:ext cx="4663440" cy="457200"/>
          </a:xfrm>
          <a:prstGeom prst="rect">
            <a:avLst/>
          </a:prstGeom>
          <a:noFill/>
          <a:ln/>
        </p:spPr>
        <p:txBody>
          <a:bodyPr wrap="square" lIns="0" tIns="0" rIns="0" bIns="0" rtlCol="0" anchor="ctr"/>
          <a:lstStyle/>
          <a:p>
            <a:pPr indent="0" marL="0">
              <a:buNone/>
            </a:pPr>
            <a:r>
              <a:rPr lang="en-US" sz="1400" b="1" dirty="0">
                <a:solidFill>
                  <a:srgbClr val="0A1F5C"/>
                </a:solidFill>
              </a:rPr>
              <a:t>Urgent staff-review record created</a:t>
            </a:r>
            <a:endParaRPr lang="en-US" sz="1400" dirty="0"/>
          </a:p>
        </p:txBody>
      </p:sp>
      <p:sp>
        <p:nvSpPr>
          <p:cNvPr id="36" name="Bullet"/>
          <p:cNvSpPr/>
          <p:nvPr/>
        </p:nvSpPr>
        <p:spPr>
          <a:xfrm>
            <a:off x="6492240" y="4727448"/>
            <a:ext cx="128016" cy="128016"/>
          </a:xfrm>
          <a:prstGeom prst="rect">
            <a:avLst/>
          </a:prstGeom>
          <a:solidFill>
            <a:srgbClr val="8338EC"/>
          </a:solidFill>
          <a:ln w="12700">
            <a:solidFill>
              <a:srgbClr val="8338EC"/>
            </a:solidFill>
            <a:prstDash val="solid"/>
          </a:ln>
        </p:spPr>
      </p:sp>
      <p:sp>
        <p:nvSpPr>
          <p:cNvPr id="37" name="Text 35"/>
          <p:cNvSpPr txBox="1"/>
          <p:nvPr/>
        </p:nvSpPr>
        <p:spPr>
          <a:xfrm>
            <a:off x="6793992" y="4617720"/>
            <a:ext cx="4663440" cy="457200"/>
          </a:xfrm>
          <a:prstGeom prst="rect">
            <a:avLst/>
          </a:prstGeom>
          <a:noFill/>
          <a:ln/>
        </p:spPr>
        <p:txBody>
          <a:bodyPr wrap="square" lIns="0" tIns="0" rIns="0" bIns="0" rtlCol="0" anchor="ctr"/>
          <a:lstStyle/>
          <a:p>
            <a:pPr indent="0" marL="0">
              <a:buNone/>
            </a:pPr>
            <a:r>
              <a:rPr lang="en-US" sz="1400" b="1" dirty="0">
                <a:solidFill>
                  <a:srgbClr val="0A1F5C"/>
                </a:solidFill>
              </a:rPr>
              <a:t>Readings used and their sources listed</a:t>
            </a:r>
            <a:endParaRPr lang="en-US" sz="1400" dirty="0"/>
          </a:p>
        </p:txBody>
      </p:sp>
      <p:sp>
        <p:nvSpPr>
          <p:cNvPr id="38" name="Why"/>
          <p:cNvSpPr/>
          <p:nvPr/>
        </p:nvSpPr>
        <p:spPr>
          <a:xfrm>
            <a:off x="548640" y="5440680"/>
            <a:ext cx="8229600" cy="713232"/>
          </a:xfrm>
          <a:prstGeom prst="roundRect">
            <a:avLst>
              <a:gd name="adj" fmla="val 12821"/>
            </a:avLst>
          </a:prstGeom>
          <a:solidFill>
            <a:srgbClr val="0A1F5C"/>
          </a:solidFill>
          <a:ln w="12700">
            <a:solidFill>
              <a:srgbClr val="0A1F5C"/>
            </a:solidFill>
            <a:prstDash val="solid"/>
          </a:ln>
        </p:spPr>
      </p:sp>
      <p:sp>
        <p:nvSpPr>
          <p:cNvPr id="39" name="Text 37"/>
          <p:cNvSpPr txBox="1"/>
          <p:nvPr/>
        </p:nvSpPr>
        <p:spPr>
          <a:xfrm>
            <a:off x="822960" y="5440680"/>
            <a:ext cx="7772400" cy="713232"/>
          </a:xfrm>
          <a:prstGeom prst="rect">
            <a:avLst/>
          </a:prstGeom>
          <a:noFill/>
          <a:ln/>
        </p:spPr>
        <p:txBody>
          <a:bodyPr wrap="square" lIns="0" tIns="0" rIns="0" bIns="0" rtlCol="0" anchor="ctr"/>
          <a:lstStyle/>
          <a:p>
            <a:pPr indent="0" marL="0">
              <a:buNone/>
            </a:pPr>
            <a:r>
              <a:rPr lang="en-US" sz="1250" b="1" spc="200" kern="0" dirty="0">
                <a:solidFill>
                  <a:srgbClr val="3CC3F0"/>
                </a:solidFill>
              </a:rPr>
              <a:t>WHY  </a:t>
            </a:r>
            <a:pPr indent="0" marL="0">
              <a:buNone/>
            </a:pPr>
            <a:r>
              <a:rPr lang="en-US" sz="1250" dirty="0">
                <a:solidFill>
                  <a:srgbClr val="FFFFFF"/>
                </a:solidFill>
              </a:rPr>
              <a:t>A configured test value matched. The system compares and escalates; it never interprets.</a:t>
            </a:r>
            <a:endParaRPr lang="en-US" sz="1250" dirty="0"/>
          </a:p>
        </p:txBody>
      </p:sp>
      <p:sp>
        <p:nvSpPr>
          <p:cNvPr id="40" name="Pill"/>
          <p:cNvSpPr/>
          <p:nvPr/>
        </p:nvSpPr>
        <p:spPr>
          <a:xfrm>
            <a:off x="9052560" y="5486400"/>
            <a:ext cx="2587752" cy="621792"/>
          </a:xfrm>
          <a:prstGeom prst="roundRect">
            <a:avLst>
              <a:gd name="adj" fmla="val 44118"/>
            </a:avLst>
          </a:prstGeom>
          <a:solidFill>
            <a:srgbClr val="1547C8"/>
          </a:solidFill>
          <a:ln w="12700">
            <a:solidFill>
              <a:srgbClr val="1547C8"/>
            </a:solidFill>
            <a:prstDash val="solid"/>
          </a:ln>
        </p:spPr>
      </p:sp>
      <p:sp>
        <p:nvSpPr>
          <p:cNvPr id="41" name="Text 39"/>
          <p:cNvSpPr txBox="1"/>
          <p:nvPr/>
        </p:nvSpPr>
        <p:spPr>
          <a:xfrm>
            <a:off x="9052560" y="5486400"/>
            <a:ext cx="2587752" cy="621792"/>
          </a:xfrm>
          <a:prstGeom prst="rect">
            <a:avLst/>
          </a:prstGeom>
          <a:noFill/>
          <a:ln/>
        </p:spPr>
        <p:txBody>
          <a:bodyPr wrap="square" lIns="0" tIns="0" rIns="0" bIns="0" rtlCol="0" anchor="ctr"/>
          <a:lstStyle/>
          <a:p>
            <a:pPr algn="ctr" indent="0" marL="0">
              <a:buNone/>
            </a:pPr>
            <a:r>
              <a:rPr lang="en-US" sz="1300" b="1" dirty="0">
                <a:solidFill>
                  <a:srgbClr val="FFFFFF"/>
                </a:solidFill>
              </a:rPr>
              <a:t>← Back to the questions</a:t>
            </a:r>
            <a:endParaRPr lang="en-US" sz="1300" dirty="0"/>
          </a:p>
        </p:txBody>
      </p:sp>
      <p:sp>
        <p:nvSpPr>
          <p:cNvPr id="42" name="Click target">
            <a:hlinkClick r:id="rId11" tooltip="Back to the questions" action="ppaction://hlinksldjump"/>
          </p:cNvPr>
          <p:cNvSpPr/>
          <p:nvPr/>
        </p:nvSpPr>
        <p:spPr>
          <a:xfrm>
            <a:off x="9052560" y="5486400"/>
            <a:ext cx="2587752" cy="621792"/>
          </a:xfrm>
          <a:prstGeom prst="rect">
            <a:avLst/>
          </a:prstGeom>
          <a:solidFill>
            <a:srgbClr val="FFFFFF">
              <a:alpha val="0"/>
            </a:srgbClr>
          </a:solidFill>
          <a:ln w="12700">
            <a:solidFill>
              <a:srgbClr val="FFFFFF">
                <a:alpha val="0"/>
              </a:srgbClr>
            </a:solidFill>
            <a:prstDash val="solid"/>
          </a:ln>
        </p:spPr>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56032"/>
          </a:xfrm>
          <a:prstGeom prst="rect">
            <a:avLst/>
          </a:prstGeom>
          <a:noFill/>
          <a:ln/>
        </p:spPr>
        <p:txBody>
          <a:bodyPr wrap="square" lIns="0" tIns="0" rIns="0" bIns="0" rtlCol="0" anchor="t"/>
          <a:lstStyle/>
          <a:p>
            <a:pPr algn="l" indent="0" marL="0">
              <a:buNone/>
            </a:pPr>
            <a:r>
              <a:rPr lang="en-US" sz="1100" b="1" spc="300" kern="0" dirty="0">
                <a:solidFill>
                  <a:srgbClr val="1547C8"/>
                </a:solidFill>
              </a:rPr>
              <a:t>04  ·  ESCALATION RULES</a:t>
            </a:r>
            <a:endParaRPr lang="en-US" sz="1100" dirty="0"/>
          </a:p>
        </p:txBody>
      </p:sp>
      <p:sp>
        <p:nvSpPr>
          <p:cNvPr id="3" name="Text 1"/>
          <p:cNvSpPr/>
          <p:nvPr>
            <p:ph idx="103" type="title" hasCustomPrompt="1"/>
          </p:nvPr>
        </p:nvSpPr>
        <p:spPr>
          <a:xfrm>
            <a:off x="548640" y="603504"/>
            <a:ext cx="11064240" cy="603504"/>
          </a:xfrm>
          <a:prstGeom prst="rect">
            <a:avLst/>
          </a:prstGeom>
          <a:noFill/>
          <a:ln/>
        </p:spPr>
        <p:txBody>
          <a:bodyPr wrap="square" lIns="0" tIns="0" rIns="0" bIns="0" rtlCol="0" anchor="t"/>
          <a:lstStyle/>
          <a:p>
            <a:pPr algn="l" indent="0" marL="0">
              <a:buNone/>
            </a:pPr>
            <a:r>
              <a:rPr lang="en-US" sz="3400" b="1" dirty="0">
                <a:solidFill>
                  <a:srgbClr val="0A1F5C"/>
                </a:solidFill>
              </a:rPr>
              <a:t>Four rules, applied exactly as supplied</a:t>
            </a:r>
            <a:endParaRPr lang="en-US" sz="3400" dirty="0"/>
          </a:p>
        </p:txBody>
      </p:sp>
      <p:sp>
        <p:nvSpPr>
          <p:cNvPr id="4" name="Text 2">
            <a:hlinkClick r:id="rId1" tooltip="Go to Agenda" action="ppaction://hlinksldjump"/>
          </p:cNvPr>
          <p:cNvSpPr txBox="1"/>
          <p:nvPr/>
        </p:nvSpPr>
        <p:spPr>
          <a:xfrm>
            <a:off x="1920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1" action="ppaction://hlinksldjump" tooltip="Go to Agenda">
                  <a:extLst>
                    <a:ext uri="{A12FA001-AC4F-418D-AE19-62706E023703}">
                      <ahyp:hlinkClr xmlns:ahyp="http://schemas.microsoft.com/office/drawing/2018/hyperlinkcolor" val="tx"/>
                    </a:ext>
                  </a:extLst>
                </a:hlinkClick>
              </a:rPr>
              <a:t>Agenda</a:t>
            </a:r>
            <a:endParaRPr lang="en-US" sz="950" dirty="0"/>
          </a:p>
        </p:txBody>
      </p:sp>
      <p:sp>
        <p:nvSpPr>
          <p:cNvPr id="5" name="Text 3">
            <a:hlinkClick r:id="rId2" tooltip="Go to Problem" action="ppaction://hlinksldjump"/>
          </p:cNvPr>
          <p:cNvSpPr txBox="1"/>
          <p:nvPr/>
        </p:nvSpPr>
        <p:spPr>
          <a:xfrm>
            <a:off x="26060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2" action="ppaction://hlinksldjump" tooltip="Go to Problem">
                  <a:extLst>
                    <a:ext uri="{A12FA001-AC4F-418D-AE19-62706E023703}">
                      <ahyp:hlinkClr xmlns:ahyp="http://schemas.microsoft.com/office/drawing/2018/hyperlinkcolor" val="tx"/>
                    </a:ext>
                  </a:extLst>
                </a:hlinkClick>
              </a:rPr>
              <a:t>Problem</a:t>
            </a:r>
            <a:endParaRPr lang="en-US" sz="950" dirty="0"/>
          </a:p>
        </p:txBody>
      </p:sp>
      <p:sp>
        <p:nvSpPr>
          <p:cNvPr id="6" name="Text 4">
            <a:hlinkClick r:id="rId3" tooltip="Go to Solution" action="ppaction://hlinksldjump"/>
          </p:cNvPr>
          <p:cNvSpPr txBox="1"/>
          <p:nvPr/>
        </p:nvSpPr>
        <p:spPr>
          <a:xfrm>
            <a:off x="32918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3" action="ppaction://hlinksldjump" tooltip="Go to Solution">
                  <a:extLst>
                    <a:ext uri="{A12FA001-AC4F-418D-AE19-62706E023703}">
                      <ahyp:hlinkClr xmlns:ahyp="http://schemas.microsoft.com/office/drawing/2018/hyperlinkcolor" val="tx"/>
                    </a:ext>
                  </a:extLst>
                </a:hlinkClick>
              </a:rPr>
              <a:t>Solution</a:t>
            </a:r>
            <a:endParaRPr lang="en-US" sz="950" dirty="0"/>
          </a:p>
        </p:txBody>
      </p:sp>
      <p:sp>
        <p:nvSpPr>
          <p:cNvPr id="7" name="Text 5">
            <a:hlinkClick r:id="rId4" tooltip="Go to Principle" action="ppaction://hlinksldjump"/>
          </p:cNvPr>
          <p:cNvSpPr txBox="1"/>
          <p:nvPr/>
        </p:nvSpPr>
        <p:spPr>
          <a:xfrm>
            <a:off x="39776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4" action="ppaction://hlinksldjump" tooltip="Go to Principle">
                  <a:extLst>
                    <a:ext uri="{A12FA001-AC4F-418D-AE19-62706E023703}">
                      <ahyp:hlinkClr xmlns:ahyp="http://schemas.microsoft.com/office/drawing/2018/hyperlinkcolor" val="tx"/>
                    </a:ext>
                  </a:extLst>
                </a:hlinkClick>
              </a:rPr>
              <a:t>Principle</a:t>
            </a:r>
            <a:endParaRPr lang="en-US" sz="950" dirty="0"/>
          </a:p>
        </p:txBody>
      </p:sp>
      <p:sp>
        <p:nvSpPr>
          <p:cNvPr id="8" name="Text 6">
            <a:hlinkClick r:id="rId5" tooltip="Go to Flow" action="ppaction://hlinksldjump"/>
          </p:cNvPr>
          <p:cNvSpPr txBox="1"/>
          <p:nvPr/>
        </p:nvSpPr>
        <p:spPr>
          <a:xfrm>
            <a:off x="46634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5" action="ppaction://hlinksldjump" tooltip="Go to Flow">
                  <a:extLst>
                    <a:ext uri="{A12FA001-AC4F-418D-AE19-62706E023703}">
                      <ahyp:hlinkClr xmlns:ahyp="http://schemas.microsoft.com/office/drawing/2018/hyperlinkcolor" val="tx"/>
                    </a:ext>
                  </a:extLst>
                </a:hlinkClick>
              </a:rPr>
              <a:t>Flow</a:t>
            </a:r>
            <a:endParaRPr lang="en-US" sz="950" dirty="0"/>
          </a:p>
        </p:txBody>
      </p:sp>
      <p:sp>
        <p:nvSpPr>
          <p:cNvPr id="9" name="Text 7">
            <a:hlinkClick r:id="rId6" tooltip="Go to RAG" action="ppaction://hlinksldjump"/>
          </p:cNvPr>
          <p:cNvSpPr txBox="1"/>
          <p:nvPr/>
        </p:nvSpPr>
        <p:spPr>
          <a:xfrm>
            <a:off x="5349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6" action="ppaction://hlinksldjump" tooltip="Go to RAG">
                  <a:extLst>
                    <a:ext uri="{A12FA001-AC4F-418D-AE19-62706E023703}">
                      <ahyp:hlinkClr xmlns:ahyp="http://schemas.microsoft.com/office/drawing/2018/hyperlinkcolor" val="tx"/>
                    </a:ext>
                  </a:extLst>
                </a:hlinkClick>
              </a:rPr>
              <a:t>RAG</a:t>
            </a:r>
            <a:endParaRPr lang="en-US" sz="950" dirty="0"/>
          </a:p>
        </p:txBody>
      </p:sp>
      <p:sp>
        <p:nvSpPr>
          <p:cNvPr id="10" name="Text 8">
            <a:hlinkClick r:id="rId7" tooltip="Go to Demo" action="ppaction://hlinksldjump"/>
          </p:cNvPr>
          <p:cNvSpPr txBox="1"/>
          <p:nvPr/>
        </p:nvSpPr>
        <p:spPr>
          <a:xfrm>
            <a:off x="60350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7" action="ppaction://hlinksldjump" tooltip="Go to Demo">
                  <a:extLst>
                    <a:ext uri="{A12FA001-AC4F-418D-AE19-62706E023703}">
                      <ahyp:hlinkClr xmlns:ahyp="http://schemas.microsoft.com/office/drawing/2018/hyperlinkcolor" val="tx"/>
                    </a:ext>
                  </a:extLst>
                </a:hlinkClick>
              </a:rPr>
              <a:t>Demo</a:t>
            </a:r>
            <a:endParaRPr lang="en-US" sz="950" dirty="0"/>
          </a:p>
        </p:txBody>
      </p:sp>
      <p:sp>
        <p:nvSpPr>
          <p:cNvPr id="11" name="Text 9">
            <a:hlinkClick r:id="rId8" tooltip="Go to Try it" action="ppaction://hlinksldjump"/>
          </p:cNvPr>
          <p:cNvSpPr txBox="1"/>
          <p:nvPr/>
        </p:nvSpPr>
        <p:spPr>
          <a:xfrm>
            <a:off x="67208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8" action="ppaction://hlinksldjump" tooltip="Go to Try it">
                  <a:extLst>
                    <a:ext uri="{A12FA001-AC4F-418D-AE19-62706E023703}">
                      <ahyp:hlinkClr xmlns:ahyp="http://schemas.microsoft.com/office/drawing/2018/hyperlinkcolor" val="tx"/>
                    </a:ext>
                  </a:extLst>
                </a:hlinkClick>
              </a:rPr>
              <a:t>Try it</a:t>
            </a:r>
            <a:endParaRPr lang="en-US" sz="950" dirty="0"/>
          </a:p>
        </p:txBody>
      </p:sp>
      <p:sp>
        <p:nvSpPr>
          <p:cNvPr id="12" name="Text 10"/>
          <p:cNvSpPr txBox="1"/>
          <p:nvPr/>
        </p:nvSpPr>
        <p:spPr>
          <a:xfrm>
            <a:off x="7406640" y="6382512"/>
            <a:ext cx="685800" cy="219456"/>
          </a:xfrm>
          <a:prstGeom prst="rect">
            <a:avLst/>
          </a:prstGeom>
          <a:noFill/>
          <a:ln/>
        </p:spPr>
        <p:txBody>
          <a:bodyPr wrap="square" lIns="0" tIns="0" rIns="0" bIns="0" rtlCol="0" anchor="ctr"/>
          <a:lstStyle/>
          <a:p>
            <a:pPr algn="ctr" indent="0" marL="0">
              <a:buNone/>
            </a:pPr>
            <a:r>
              <a:rPr lang="en-US" sz="950" b="1" dirty="0">
                <a:solidFill>
                  <a:srgbClr val="0A1F5C"/>
                </a:solidFill>
              </a:rPr>
              <a:t>Rules</a:t>
            </a:r>
            <a:endParaRPr lang="en-US" sz="950" dirty="0"/>
          </a:p>
        </p:txBody>
      </p:sp>
      <p:sp>
        <p:nvSpPr>
          <p:cNvPr id="13" name="Shape 11"/>
          <p:cNvSpPr/>
          <p:nvPr/>
        </p:nvSpPr>
        <p:spPr>
          <a:xfrm>
            <a:off x="7712964" y="6309360"/>
            <a:ext cx="73152" cy="73152"/>
          </a:xfrm>
          <a:prstGeom prst="ellipse">
            <a:avLst/>
          </a:prstGeom>
          <a:solidFill>
            <a:srgbClr val="1547C8"/>
          </a:solidFill>
          <a:ln w="12700">
            <a:solidFill>
              <a:srgbClr val="1547C8"/>
            </a:solidFill>
            <a:prstDash val="solid"/>
          </a:ln>
        </p:spPr>
      </p:sp>
      <p:sp>
        <p:nvSpPr>
          <p:cNvPr id="14" name="Text 12">
            <a:hlinkClick r:id="rId9" tooltip="Go to Results" action="ppaction://hlinksldjump"/>
          </p:cNvPr>
          <p:cNvSpPr txBox="1"/>
          <p:nvPr/>
        </p:nvSpPr>
        <p:spPr>
          <a:xfrm>
            <a:off x="80924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9" action="ppaction://hlinksldjump" tooltip="Go to Results">
                  <a:extLst>
                    <a:ext uri="{A12FA001-AC4F-418D-AE19-62706E023703}">
                      <ahyp:hlinkClr xmlns:ahyp="http://schemas.microsoft.com/office/drawing/2018/hyperlinkcolor" val="tx"/>
                    </a:ext>
                  </a:extLst>
                </a:hlinkClick>
              </a:rPr>
              <a:t>Results</a:t>
            </a:r>
            <a:endParaRPr lang="en-US" sz="950" dirty="0"/>
          </a:p>
        </p:txBody>
      </p:sp>
      <p:sp>
        <p:nvSpPr>
          <p:cNvPr id="15" name="Text 13">
            <a:hlinkClick r:id="rId10" tooltip="Go to Next" action="ppaction://hlinksldjump"/>
          </p:cNvPr>
          <p:cNvSpPr txBox="1"/>
          <p:nvPr/>
        </p:nvSpPr>
        <p:spPr>
          <a:xfrm>
            <a:off x="8778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10" action="ppaction://hlinksldjump" tooltip="Go to Next">
                  <a:extLst>
                    <a:ext uri="{A12FA001-AC4F-418D-AE19-62706E023703}">
                      <ahyp:hlinkClr xmlns:ahyp="http://schemas.microsoft.com/office/drawing/2018/hyperlinkcolor" val="tx"/>
                    </a:ext>
                  </a:extLst>
                </a:hlinkClick>
              </a:rPr>
              <a:t>Next</a:t>
            </a:r>
            <a:endParaRPr lang="en-US" sz="950" dirty="0"/>
          </a:p>
        </p:txBody>
      </p:sp>
      <p:sp>
        <p:nvSpPr>
          <p:cNvPr id="16" name="Rule tile"/>
          <p:cNvSpPr/>
          <p:nvPr/>
        </p:nvSpPr>
        <p:spPr>
          <a:xfrm>
            <a:off x="548640" y="1417320"/>
            <a:ext cx="5440680" cy="1874520"/>
          </a:xfrm>
          <a:prstGeom prst="roundRect">
            <a:avLst>
              <a:gd name="adj" fmla="val 4878"/>
            </a:avLst>
          </a:prstGeom>
          <a:solidFill>
            <a:srgbClr val="E5484D"/>
          </a:solidFill>
          <a:ln w="12700">
            <a:solidFill>
              <a:srgbClr val="E5484D"/>
            </a:solidFill>
            <a:prstDash val="solid"/>
          </a:ln>
        </p:spPr>
      </p:sp>
      <p:sp>
        <p:nvSpPr>
          <p:cNvPr id="17" name="Text 15"/>
          <p:cNvSpPr txBox="1"/>
          <p:nvPr/>
        </p:nvSpPr>
        <p:spPr>
          <a:xfrm>
            <a:off x="868680" y="1554480"/>
            <a:ext cx="4572000" cy="868680"/>
          </a:xfrm>
          <a:prstGeom prst="rect">
            <a:avLst/>
          </a:prstGeom>
          <a:noFill/>
          <a:ln/>
        </p:spPr>
        <p:txBody>
          <a:bodyPr wrap="square" lIns="0" tIns="0" rIns="0" bIns="0" rtlCol="0" anchor="ctr"/>
          <a:lstStyle/>
          <a:p>
            <a:pPr indent="0" marL="0">
              <a:buNone/>
            </a:pPr>
            <a:r>
              <a:rPr lang="en-US" sz="5200" b="1" dirty="0">
                <a:solidFill>
                  <a:srgbClr val="FFFFFF"/>
                </a:solidFill>
              </a:rPr>
              <a:t>ER-501</a:t>
            </a:r>
            <a:endParaRPr lang="en-US" sz="5200" dirty="0"/>
          </a:p>
        </p:txBody>
      </p:sp>
      <p:sp>
        <p:nvSpPr>
          <p:cNvPr id="18" name="Text 16"/>
          <p:cNvSpPr txBox="1"/>
          <p:nvPr/>
        </p:nvSpPr>
        <p:spPr>
          <a:xfrm>
            <a:off x="868680" y="2423160"/>
            <a:ext cx="4846320" cy="320040"/>
          </a:xfrm>
          <a:prstGeom prst="rect">
            <a:avLst/>
          </a:prstGeom>
          <a:noFill/>
          <a:ln/>
        </p:spPr>
        <p:txBody>
          <a:bodyPr wrap="square" lIns="0" tIns="0" rIns="0" bIns="0" rtlCol="0" anchor="t"/>
          <a:lstStyle/>
          <a:p>
            <a:pPr indent="0" marL="0">
              <a:buNone/>
            </a:pPr>
            <a:r>
              <a:rPr lang="en-US" sz="1700" b="1" dirty="0">
                <a:solidFill>
                  <a:srgbClr val="FFFFFF"/>
                </a:solidFill>
              </a:rPr>
              <a:t>Consent is not active</a:t>
            </a:r>
            <a:endParaRPr lang="en-US" sz="1700" dirty="0"/>
          </a:p>
        </p:txBody>
      </p:sp>
      <p:sp>
        <p:nvSpPr>
          <p:cNvPr id="19" name="Text 17"/>
          <p:cNvSpPr txBox="1"/>
          <p:nvPr/>
        </p:nvSpPr>
        <p:spPr>
          <a:xfrm>
            <a:off x="868680" y="2770632"/>
            <a:ext cx="4846320" cy="365760"/>
          </a:xfrm>
          <a:prstGeom prst="rect">
            <a:avLst/>
          </a:prstGeom>
          <a:noFill/>
          <a:ln/>
        </p:spPr>
        <p:txBody>
          <a:bodyPr wrap="square" lIns="0" tIns="0" rIns="0" bIns="0" rtlCol="0" anchor="t"/>
          <a:lstStyle/>
          <a:p>
            <a:pPr indent="0" marL="0">
              <a:buNone/>
            </a:pPr>
            <a:r>
              <a:rPr lang="en-US" sz="1250" dirty="0">
                <a:solidFill>
                  <a:srgbClr val="FFFFFF"/>
                </a:solidFill>
              </a:rPr>
              <a:t>Stop processing and direct the member to program staff</a:t>
            </a:r>
            <a:endParaRPr lang="en-US" sz="1250" dirty="0"/>
          </a:p>
        </p:txBody>
      </p:sp>
      <p:sp>
        <p:nvSpPr>
          <p:cNvPr id="20" name="Rule tile"/>
          <p:cNvSpPr/>
          <p:nvPr/>
        </p:nvSpPr>
        <p:spPr>
          <a:xfrm>
            <a:off x="6199632" y="1417320"/>
            <a:ext cx="5440680" cy="1874520"/>
          </a:xfrm>
          <a:prstGeom prst="roundRect">
            <a:avLst>
              <a:gd name="adj" fmla="val 4878"/>
            </a:avLst>
          </a:prstGeom>
          <a:solidFill>
            <a:srgbClr val="F5A524"/>
          </a:solidFill>
          <a:ln w="12700">
            <a:solidFill>
              <a:srgbClr val="F5A524"/>
            </a:solidFill>
            <a:prstDash val="solid"/>
          </a:ln>
        </p:spPr>
      </p:sp>
      <p:sp>
        <p:nvSpPr>
          <p:cNvPr id="21" name="Text 19"/>
          <p:cNvSpPr txBox="1"/>
          <p:nvPr/>
        </p:nvSpPr>
        <p:spPr>
          <a:xfrm>
            <a:off x="6519672" y="1554480"/>
            <a:ext cx="4572000" cy="868680"/>
          </a:xfrm>
          <a:prstGeom prst="rect">
            <a:avLst/>
          </a:prstGeom>
          <a:noFill/>
          <a:ln/>
        </p:spPr>
        <p:txBody>
          <a:bodyPr wrap="square" lIns="0" tIns="0" rIns="0" bIns="0" rtlCol="0" anchor="ctr"/>
          <a:lstStyle/>
          <a:p>
            <a:pPr indent="0" marL="0">
              <a:buNone/>
            </a:pPr>
            <a:r>
              <a:rPr lang="en-US" sz="5200" b="1" dirty="0">
                <a:solidFill>
                  <a:srgbClr val="0A1F5C"/>
                </a:solidFill>
              </a:rPr>
              <a:t>ER-502</a:t>
            </a:r>
            <a:endParaRPr lang="en-US" sz="5200" dirty="0"/>
          </a:p>
        </p:txBody>
      </p:sp>
      <p:sp>
        <p:nvSpPr>
          <p:cNvPr id="22" name="Text 20"/>
          <p:cNvSpPr txBox="1"/>
          <p:nvPr/>
        </p:nvSpPr>
        <p:spPr>
          <a:xfrm>
            <a:off x="6519672" y="2423160"/>
            <a:ext cx="4846320" cy="320040"/>
          </a:xfrm>
          <a:prstGeom prst="rect">
            <a:avLst/>
          </a:prstGeom>
          <a:noFill/>
          <a:ln/>
        </p:spPr>
        <p:txBody>
          <a:bodyPr wrap="square" lIns="0" tIns="0" rIns="0" bIns="0" rtlCol="0" anchor="t"/>
          <a:lstStyle/>
          <a:p>
            <a:pPr indent="0" marL="0">
              <a:buNone/>
            </a:pPr>
            <a:r>
              <a:rPr lang="en-US" sz="1700" b="1" dirty="0">
                <a:solidFill>
                  <a:srgbClr val="0A1F5C"/>
                </a:solidFill>
              </a:rPr>
              <a:t>Reading matches a configured test value</a:t>
            </a:r>
            <a:endParaRPr lang="en-US" sz="1700" dirty="0"/>
          </a:p>
        </p:txBody>
      </p:sp>
      <p:sp>
        <p:nvSpPr>
          <p:cNvPr id="23" name="Text 21"/>
          <p:cNvSpPr txBox="1"/>
          <p:nvPr/>
        </p:nvSpPr>
        <p:spPr>
          <a:xfrm>
            <a:off x="6519672" y="2770632"/>
            <a:ext cx="4846320" cy="365760"/>
          </a:xfrm>
          <a:prstGeom prst="rect">
            <a:avLst/>
          </a:prstGeom>
          <a:noFill/>
          <a:ln/>
        </p:spPr>
        <p:txBody>
          <a:bodyPr wrap="square" lIns="0" tIns="0" rIns="0" bIns="0" rtlCol="0" anchor="t"/>
          <a:lstStyle/>
          <a:p>
            <a:pPr indent="0" marL="0">
              <a:buNone/>
            </a:pPr>
            <a:r>
              <a:rPr lang="en-US" sz="1250" dirty="0">
                <a:solidFill>
                  <a:srgbClr val="0A1F5C"/>
                </a:solidFill>
              </a:rPr>
              <a:t>Create an urgent staff-review record; do not interpret</a:t>
            </a:r>
            <a:endParaRPr lang="en-US" sz="1250" dirty="0"/>
          </a:p>
        </p:txBody>
      </p:sp>
      <p:sp>
        <p:nvSpPr>
          <p:cNvPr id="24" name="Rule tile"/>
          <p:cNvSpPr/>
          <p:nvPr/>
        </p:nvSpPr>
        <p:spPr>
          <a:xfrm>
            <a:off x="548640" y="3474720"/>
            <a:ext cx="5440680" cy="1874520"/>
          </a:xfrm>
          <a:prstGeom prst="roundRect">
            <a:avLst>
              <a:gd name="adj" fmla="val 4878"/>
            </a:avLst>
          </a:prstGeom>
          <a:solidFill>
            <a:srgbClr val="1547C8"/>
          </a:solidFill>
          <a:ln w="12700">
            <a:solidFill>
              <a:srgbClr val="1547C8"/>
            </a:solidFill>
            <a:prstDash val="solid"/>
          </a:ln>
        </p:spPr>
      </p:sp>
      <p:sp>
        <p:nvSpPr>
          <p:cNvPr id="25" name="Text 23"/>
          <p:cNvSpPr txBox="1"/>
          <p:nvPr/>
        </p:nvSpPr>
        <p:spPr>
          <a:xfrm>
            <a:off x="868680" y="3611880"/>
            <a:ext cx="4572000" cy="868680"/>
          </a:xfrm>
          <a:prstGeom prst="rect">
            <a:avLst/>
          </a:prstGeom>
          <a:noFill/>
          <a:ln/>
        </p:spPr>
        <p:txBody>
          <a:bodyPr wrap="square" lIns="0" tIns="0" rIns="0" bIns="0" rtlCol="0" anchor="ctr"/>
          <a:lstStyle/>
          <a:p>
            <a:pPr indent="0" marL="0">
              <a:buNone/>
            </a:pPr>
            <a:r>
              <a:rPr lang="en-US" sz="5200" b="1" dirty="0">
                <a:solidFill>
                  <a:srgbClr val="FFFFFF"/>
                </a:solidFill>
              </a:rPr>
              <a:t>ER-503</a:t>
            </a:r>
            <a:endParaRPr lang="en-US" sz="5200" dirty="0"/>
          </a:p>
        </p:txBody>
      </p:sp>
      <p:sp>
        <p:nvSpPr>
          <p:cNvPr id="26" name="Text 24"/>
          <p:cNvSpPr txBox="1"/>
          <p:nvPr/>
        </p:nvSpPr>
        <p:spPr>
          <a:xfrm>
            <a:off x="868680" y="4480560"/>
            <a:ext cx="4846320" cy="320040"/>
          </a:xfrm>
          <a:prstGeom prst="rect">
            <a:avLst/>
          </a:prstGeom>
          <a:noFill/>
          <a:ln/>
        </p:spPr>
        <p:txBody>
          <a:bodyPr wrap="square" lIns="0" tIns="0" rIns="0" bIns="0" rtlCol="0" anchor="t"/>
          <a:lstStyle/>
          <a:p>
            <a:pPr indent="0" marL="0">
              <a:buNone/>
            </a:pPr>
            <a:r>
              <a:rPr lang="en-US" sz="1700" b="1" dirty="0">
                <a:solidFill>
                  <a:srgbClr val="FFFFFF"/>
                </a:solidFill>
              </a:rPr>
              <a:t>Member asks to change medication</a:t>
            </a:r>
            <a:endParaRPr lang="en-US" sz="1700" dirty="0"/>
          </a:p>
        </p:txBody>
      </p:sp>
      <p:sp>
        <p:nvSpPr>
          <p:cNvPr id="27" name="Text 25"/>
          <p:cNvSpPr txBox="1"/>
          <p:nvPr/>
        </p:nvSpPr>
        <p:spPr>
          <a:xfrm>
            <a:off x="868680" y="4828032"/>
            <a:ext cx="4846320" cy="365760"/>
          </a:xfrm>
          <a:prstGeom prst="rect">
            <a:avLst/>
          </a:prstGeom>
          <a:noFill/>
          <a:ln/>
        </p:spPr>
        <p:txBody>
          <a:bodyPr wrap="square" lIns="0" tIns="0" rIns="0" bIns="0" rtlCol="0" anchor="t"/>
          <a:lstStyle/>
          <a:p>
            <a:pPr indent="0" marL="0">
              <a:buNone/>
            </a:pPr>
            <a:r>
              <a:rPr lang="en-US" sz="1250" dirty="0">
                <a:solidFill>
                  <a:srgbClr val="FFFFFF"/>
                </a:solidFill>
              </a:rPr>
              <a:t>Decline and direct to a qualified clinician</a:t>
            </a:r>
            <a:endParaRPr lang="en-US" sz="1250" dirty="0"/>
          </a:p>
        </p:txBody>
      </p:sp>
      <p:sp>
        <p:nvSpPr>
          <p:cNvPr id="28" name="Rule tile"/>
          <p:cNvSpPr/>
          <p:nvPr/>
        </p:nvSpPr>
        <p:spPr>
          <a:xfrm>
            <a:off x="6199632" y="3474720"/>
            <a:ext cx="5440680" cy="1874520"/>
          </a:xfrm>
          <a:prstGeom prst="roundRect">
            <a:avLst>
              <a:gd name="adj" fmla="val 4878"/>
            </a:avLst>
          </a:prstGeom>
          <a:solidFill>
            <a:srgbClr val="8338EC"/>
          </a:solidFill>
          <a:ln w="12700">
            <a:solidFill>
              <a:srgbClr val="8338EC"/>
            </a:solidFill>
            <a:prstDash val="solid"/>
          </a:ln>
        </p:spPr>
      </p:sp>
      <p:sp>
        <p:nvSpPr>
          <p:cNvPr id="29" name="Text 27"/>
          <p:cNvSpPr txBox="1"/>
          <p:nvPr/>
        </p:nvSpPr>
        <p:spPr>
          <a:xfrm>
            <a:off x="6519672" y="3611880"/>
            <a:ext cx="4572000" cy="868680"/>
          </a:xfrm>
          <a:prstGeom prst="rect">
            <a:avLst/>
          </a:prstGeom>
          <a:noFill/>
          <a:ln/>
        </p:spPr>
        <p:txBody>
          <a:bodyPr wrap="square" lIns="0" tIns="0" rIns="0" bIns="0" rtlCol="0" anchor="ctr"/>
          <a:lstStyle/>
          <a:p>
            <a:pPr indent="0" marL="0">
              <a:buNone/>
            </a:pPr>
            <a:r>
              <a:rPr lang="en-US" sz="5200" b="1" dirty="0">
                <a:solidFill>
                  <a:srgbClr val="FFFFFF"/>
                </a:solidFill>
              </a:rPr>
              <a:t>ER-504</a:t>
            </a:r>
            <a:endParaRPr lang="en-US" sz="5200" dirty="0"/>
          </a:p>
        </p:txBody>
      </p:sp>
      <p:sp>
        <p:nvSpPr>
          <p:cNvPr id="30" name="Text 28"/>
          <p:cNvSpPr txBox="1"/>
          <p:nvPr/>
        </p:nvSpPr>
        <p:spPr>
          <a:xfrm>
            <a:off x="6519672" y="4480560"/>
            <a:ext cx="4846320" cy="320040"/>
          </a:xfrm>
          <a:prstGeom prst="rect">
            <a:avLst/>
          </a:prstGeom>
          <a:noFill/>
          <a:ln/>
        </p:spPr>
        <p:txBody>
          <a:bodyPr wrap="square" lIns="0" tIns="0" rIns="0" bIns="0" rtlCol="0" anchor="t"/>
          <a:lstStyle/>
          <a:p>
            <a:pPr indent="0" marL="0">
              <a:buNone/>
            </a:pPr>
            <a:r>
              <a:rPr lang="en-US" sz="1700" b="1" dirty="0">
                <a:solidFill>
                  <a:srgbClr val="FFFFFF"/>
                </a:solidFill>
              </a:rPr>
              <a:t>Source or reading is contradictory</a:t>
            </a:r>
            <a:endParaRPr lang="en-US" sz="1700" dirty="0"/>
          </a:p>
        </p:txBody>
      </p:sp>
      <p:sp>
        <p:nvSpPr>
          <p:cNvPr id="31" name="Text 29"/>
          <p:cNvSpPr txBox="1"/>
          <p:nvPr/>
        </p:nvSpPr>
        <p:spPr>
          <a:xfrm>
            <a:off x="6519672" y="4828032"/>
            <a:ext cx="4846320" cy="365760"/>
          </a:xfrm>
          <a:prstGeom prst="rect">
            <a:avLst/>
          </a:prstGeom>
          <a:noFill/>
          <a:ln/>
        </p:spPr>
        <p:txBody>
          <a:bodyPr wrap="square" lIns="0" tIns="0" rIns="0" bIns="0" rtlCol="0" anchor="t"/>
          <a:lstStyle/>
          <a:p>
            <a:pPr indent="0" marL="0">
              <a:buNone/>
            </a:pPr>
            <a:r>
              <a:rPr lang="en-US" sz="1250" dirty="0">
                <a:solidFill>
                  <a:srgbClr val="FFFFFF"/>
                </a:solidFill>
              </a:rPr>
              <a:t>Mark the uncertainty and request human review</a:t>
            </a:r>
            <a:endParaRPr lang="en-US" sz="1250" dirty="0"/>
          </a:p>
        </p:txBody>
      </p:sp>
      <p:sp>
        <p:nvSpPr>
          <p:cNvPr id="32" name="Placeholder note"/>
          <p:cNvSpPr/>
          <p:nvPr/>
        </p:nvSpPr>
        <p:spPr>
          <a:xfrm>
            <a:off x="548640" y="5623560"/>
            <a:ext cx="11091672" cy="548640"/>
          </a:xfrm>
          <a:prstGeom prst="roundRect">
            <a:avLst>
              <a:gd name="adj" fmla="val 50000"/>
            </a:avLst>
          </a:prstGeom>
          <a:solidFill>
            <a:srgbClr val="F4F6FB"/>
          </a:solidFill>
          <a:ln w="12700">
            <a:solidFill>
              <a:srgbClr val="F4F6FB"/>
            </a:solidFill>
            <a:prstDash val="solid"/>
          </a:ln>
        </p:spPr>
      </p:sp>
      <p:sp>
        <p:nvSpPr>
          <p:cNvPr id="33" name="Text 31"/>
          <p:cNvSpPr txBox="1"/>
          <p:nvPr/>
        </p:nvSpPr>
        <p:spPr>
          <a:xfrm>
            <a:off x="822960" y="5623560"/>
            <a:ext cx="10607040" cy="548640"/>
          </a:xfrm>
          <a:prstGeom prst="rect">
            <a:avLst/>
          </a:prstGeom>
          <a:noFill/>
          <a:ln/>
        </p:spPr>
        <p:txBody>
          <a:bodyPr wrap="square" lIns="0" tIns="0" rIns="0" bIns="0" rtlCol="0" anchor="ctr"/>
          <a:lstStyle/>
          <a:p>
            <a:pPr indent="0" marL="0">
              <a:buNone/>
            </a:pPr>
            <a:r>
              <a:rPr lang="en-US" sz="1250" b="1" spc="200" kern="0" dirty="0">
                <a:solidFill>
                  <a:srgbClr val="E5484D"/>
                </a:solidFill>
              </a:rPr>
              <a:t>NOTE  </a:t>
            </a:r>
            <a:pPr indent="0" marL="0">
              <a:buNone/>
            </a:pPr>
            <a:r>
              <a:rPr lang="en-US" sz="1250" dirty="0">
                <a:solidFill>
                  <a:srgbClr val="0A1F5C"/>
                </a:solidFill>
              </a:rPr>
              <a:t>ER-502 values (blood pressure 160/100, glucose 300) are training placeholders, not clinical thresholds.</a:t>
            </a:r>
            <a:endParaRPr lang="en-US" sz="125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56032"/>
          </a:xfrm>
          <a:prstGeom prst="rect">
            <a:avLst/>
          </a:prstGeom>
          <a:noFill/>
          <a:ln/>
        </p:spPr>
        <p:txBody>
          <a:bodyPr wrap="square" lIns="0" tIns="0" rIns="0" bIns="0" rtlCol="0" anchor="t"/>
          <a:lstStyle/>
          <a:p>
            <a:pPr algn="l" indent="0" marL="0">
              <a:buNone/>
            </a:pPr>
            <a:r>
              <a:rPr lang="en-US" sz="1100" b="1" spc="300" kern="0" dirty="0">
                <a:solidFill>
                  <a:srgbClr val="9FD8F5"/>
                </a:solidFill>
              </a:rPr>
              <a:t>05  ·  TESTING</a:t>
            </a:r>
            <a:endParaRPr lang="en-US" sz="1100" dirty="0"/>
          </a:p>
        </p:txBody>
      </p:sp>
      <p:sp>
        <p:nvSpPr>
          <p:cNvPr id="3" name="Text 1"/>
          <p:cNvSpPr/>
          <p:nvPr>
            <p:ph idx="103" type="title" hasCustomPrompt="1"/>
          </p:nvPr>
        </p:nvSpPr>
        <p:spPr>
          <a:xfrm>
            <a:off x="548640" y="603504"/>
            <a:ext cx="11064240" cy="603504"/>
          </a:xfrm>
          <a:prstGeom prst="rect">
            <a:avLst/>
          </a:prstGeom>
          <a:noFill/>
          <a:ln/>
        </p:spPr>
        <p:txBody>
          <a:bodyPr wrap="square" lIns="0" tIns="0" rIns="0" bIns="0" rtlCol="0" anchor="t"/>
          <a:lstStyle/>
          <a:p>
            <a:pPr algn="l" indent="0" marL="0">
              <a:buNone/>
            </a:pPr>
            <a:r>
              <a:rPr lang="en-US" sz="3400" b="1" dirty="0">
                <a:solidFill>
                  <a:srgbClr val="FFFFFF"/>
                </a:solidFill>
              </a:rPr>
              <a:t>14 test scenarios: normal, unsafe and broken</a:t>
            </a:r>
            <a:endParaRPr lang="en-US" sz="3400" dirty="0"/>
          </a:p>
        </p:txBody>
      </p:sp>
      <p:sp>
        <p:nvSpPr>
          <p:cNvPr id="4" name="Text 2">
            <a:hlinkClick r:id="rId1" tooltip="Go to Agenda" action="ppaction://hlinksldjump"/>
          </p:cNvPr>
          <p:cNvSpPr txBox="1"/>
          <p:nvPr/>
        </p:nvSpPr>
        <p:spPr>
          <a:xfrm>
            <a:off x="1920240" y="6382512"/>
            <a:ext cx="68580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1" action="ppaction://hlinksldjump" tooltip="Go to Agenda">
                  <a:extLst>
                    <a:ext uri="{A12FA001-AC4F-418D-AE19-62706E023703}">
                      <ahyp:hlinkClr xmlns:ahyp="http://schemas.microsoft.com/office/drawing/2018/hyperlinkcolor" val="tx"/>
                    </a:ext>
                  </a:extLst>
                </a:hlinkClick>
              </a:rPr>
              <a:t>Agenda</a:t>
            </a:r>
            <a:endParaRPr lang="en-US" sz="950" dirty="0"/>
          </a:p>
        </p:txBody>
      </p:sp>
      <p:sp>
        <p:nvSpPr>
          <p:cNvPr id="5" name="Text 3">
            <a:hlinkClick r:id="rId2" tooltip="Go to Problem" action="ppaction://hlinksldjump"/>
          </p:cNvPr>
          <p:cNvSpPr txBox="1"/>
          <p:nvPr/>
        </p:nvSpPr>
        <p:spPr>
          <a:xfrm>
            <a:off x="2606040" y="6382512"/>
            <a:ext cx="68580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2" action="ppaction://hlinksldjump" tooltip="Go to Problem">
                  <a:extLst>
                    <a:ext uri="{A12FA001-AC4F-418D-AE19-62706E023703}">
                      <ahyp:hlinkClr xmlns:ahyp="http://schemas.microsoft.com/office/drawing/2018/hyperlinkcolor" val="tx"/>
                    </a:ext>
                  </a:extLst>
                </a:hlinkClick>
              </a:rPr>
              <a:t>Problem</a:t>
            </a:r>
            <a:endParaRPr lang="en-US" sz="950" dirty="0"/>
          </a:p>
        </p:txBody>
      </p:sp>
      <p:sp>
        <p:nvSpPr>
          <p:cNvPr id="6" name="Text 4">
            <a:hlinkClick r:id="rId3" tooltip="Go to Solution" action="ppaction://hlinksldjump"/>
          </p:cNvPr>
          <p:cNvSpPr txBox="1"/>
          <p:nvPr/>
        </p:nvSpPr>
        <p:spPr>
          <a:xfrm>
            <a:off x="3291840" y="6382512"/>
            <a:ext cx="68580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3" action="ppaction://hlinksldjump" tooltip="Go to Solution">
                  <a:extLst>
                    <a:ext uri="{A12FA001-AC4F-418D-AE19-62706E023703}">
                      <ahyp:hlinkClr xmlns:ahyp="http://schemas.microsoft.com/office/drawing/2018/hyperlinkcolor" val="tx"/>
                    </a:ext>
                  </a:extLst>
                </a:hlinkClick>
              </a:rPr>
              <a:t>Solution</a:t>
            </a:r>
            <a:endParaRPr lang="en-US" sz="950" dirty="0"/>
          </a:p>
        </p:txBody>
      </p:sp>
      <p:sp>
        <p:nvSpPr>
          <p:cNvPr id="7" name="Text 5">
            <a:hlinkClick r:id="rId4" tooltip="Go to Principle" action="ppaction://hlinksldjump"/>
          </p:cNvPr>
          <p:cNvSpPr txBox="1"/>
          <p:nvPr/>
        </p:nvSpPr>
        <p:spPr>
          <a:xfrm>
            <a:off x="3977640" y="6382512"/>
            <a:ext cx="68580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4" action="ppaction://hlinksldjump" tooltip="Go to Principle">
                  <a:extLst>
                    <a:ext uri="{A12FA001-AC4F-418D-AE19-62706E023703}">
                      <ahyp:hlinkClr xmlns:ahyp="http://schemas.microsoft.com/office/drawing/2018/hyperlinkcolor" val="tx"/>
                    </a:ext>
                  </a:extLst>
                </a:hlinkClick>
              </a:rPr>
              <a:t>Principle</a:t>
            </a:r>
            <a:endParaRPr lang="en-US" sz="950" dirty="0"/>
          </a:p>
        </p:txBody>
      </p:sp>
      <p:sp>
        <p:nvSpPr>
          <p:cNvPr id="8" name="Text 6">
            <a:hlinkClick r:id="rId5" tooltip="Go to Flow" action="ppaction://hlinksldjump"/>
          </p:cNvPr>
          <p:cNvSpPr txBox="1"/>
          <p:nvPr/>
        </p:nvSpPr>
        <p:spPr>
          <a:xfrm>
            <a:off x="4663440" y="6382512"/>
            <a:ext cx="68580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5" action="ppaction://hlinksldjump" tooltip="Go to Flow">
                  <a:extLst>
                    <a:ext uri="{A12FA001-AC4F-418D-AE19-62706E023703}">
                      <ahyp:hlinkClr xmlns:ahyp="http://schemas.microsoft.com/office/drawing/2018/hyperlinkcolor" val="tx"/>
                    </a:ext>
                  </a:extLst>
                </a:hlinkClick>
              </a:rPr>
              <a:t>Flow</a:t>
            </a:r>
            <a:endParaRPr lang="en-US" sz="950" dirty="0"/>
          </a:p>
        </p:txBody>
      </p:sp>
      <p:sp>
        <p:nvSpPr>
          <p:cNvPr id="9" name="Text 7">
            <a:hlinkClick r:id="rId6" tooltip="Go to RAG" action="ppaction://hlinksldjump"/>
          </p:cNvPr>
          <p:cNvSpPr txBox="1"/>
          <p:nvPr/>
        </p:nvSpPr>
        <p:spPr>
          <a:xfrm>
            <a:off x="5349240" y="6382512"/>
            <a:ext cx="68580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6" action="ppaction://hlinksldjump" tooltip="Go to RAG">
                  <a:extLst>
                    <a:ext uri="{A12FA001-AC4F-418D-AE19-62706E023703}">
                      <ahyp:hlinkClr xmlns:ahyp="http://schemas.microsoft.com/office/drawing/2018/hyperlinkcolor" val="tx"/>
                    </a:ext>
                  </a:extLst>
                </a:hlinkClick>
              </a:rPr>
              <a:t>RAG</a:t>
            </a:r>
            <a:endParaRPr lang="en-US" sz="950" dirty="0"/>
          </a:p>
        </p:txBody>
      </p:sp>
      <p:sp>
        <p:nvSpPr>
          <p:cNvPr id="10" name="Text 8">
            <a:hlinkClick r:id="rId7" tooltip="Go to Demo" action="ppaction://hlinksldjump"/>
          </p:cNvPr>
          <p:cNvSpPr txBox="1"/>
          <p:nvPr/>
        </p:nvSpPr>
        <p:spPr>
          <a:xfrm>
            <a:off x="6035040" y="6382512"/>
            <a:ext cx="68580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7" action="ppaction://hlinksldjump" tooltip="Go to Demo">
                  <a:extLst>
                    <a:ext uri="{A12FA001-AC4F-418D-AE19-62706E023703}">
                      <ahyp:hlinkClr xmlns:ahyp="http://schemas.microsoft.com/office/drawing/2018/hyperlinkcolor" val="tx"/>
                    </a:ext>
                  </a:extLst>
                </a:hlinkClick>
              </a:rPr>
              <a:t>Demo</a:t>
            </a:r>
            <a:endParaRPr lang="en-US" sz="950" dirty="0"/>
          </a:p>
        </p:txBody>
      </p:sp>
      <p:sp>
        <p:nvSpPr>
          <p:cNvPr id="11" name="Text 9">
            <a:hlinkClick r:id="rId8" tooltip="Go to Try it" action="ppaction://hlinksldjump"/>
          </p:cNvPr>
          <p:cNvSpPr txBox="1"/>
          <p:nvPr/>
        </p:nvSpPr>
        <p:spPr>
          <a:xfrm>
            <a:off x="6720840" y="6382512"/>
            <a:ext cx="68580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8" action="ppaction://hlinksldjump" tooltip="Go to Try it">
                  <a:extLst>
                    <a:ext uri="{A12FA001-AC4F-418D-AE19-62706E023703}">
                      <ahyp:hlinkClr xmlns:ahyp="http://schemas.microsoft.com/office/drawing/2018/hyperlinkcolor" val="tx"/>
                    </a:ext>
                  </a:extLst>
                </a:hlinkClick>
              </a:rPr>
              <a:t>Try it</a:t>
            </a:r>
            <a:endParaRPr lang="en-US" sz="950" dirty="0"/>
          </a:p>
        </p:txBody>
      </p:sp>
      <p:sp>
        <p:nvSpPr>
          <p:cNvPr id="12" name="Text 10">
            <a:hlinkClick r:id="rId9" tooltip="Go to Rules" action="ppaction://hlinksldjump"/>
          </p:cNvPr>
          <p:cNvSpPr txBox="1"/>
          <p:nvPr/>
        </p:nvSpPr>
        <p:spPr>
          <a:xfrm>
            <a:off x="7406640" y="6382512"/>
            <a:ext cx="68580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9" action="ppaction://hlinksldjump" tooltip="Go to Rules">
                  <a:extLst>
                    <a:ext uri="{A12FA001-AC4F-418D-AE19-62706E023703}">
                      <ahyp:hlinkClr xmlns:ahyp="http://schemas.microsoft.com/office/drawing/2018/hyperlinkcolor" val="tx"/>
                    </a:ext>
                  </a:extLst>
                </a:hlinkClick>
              </a:rPr>
              <a:t>Rules</a:t>
            </a:r>
            <a:endParaRPr lang="en-US" sz="950" dirty="0"/>
          </a:p>
        </p:txBody>
      </p:sp>
      <p:sp>
        <p:nvSpPr>
          <p:cNvPr id="13" name="Text 11"/>
          <p:cNvSpPr txBox="1"/>
          <p:nvPr/>
        </p:nvSpPr>
        <p:spPr>
          <a:xfrm>
            <a:off x="8092440" y="6382512"/>
            <a:ext cx="685800" cy="219456"/>
          </a:xfrm>
          <a:prstGeom prst="rect">
            <a:avLst/>
          </a:prstGeom>
          <a:noFill/>
          <a:ln/>
        </p:spPr>
        <p:txBody>
          <a:bodyPr wrap="square" lIns="0" tIns="0" rIns="0" bIns="0" rtlCol="0" anchor="ctr"/>
          <a:lstStyle/>
          <a:p>
            <a:pPr algn="ctr" indent="0" marL="0">
              <a:buNone/>
            </a:pPr>
            <a:r>
              <a:rPr lang="en-US" sz="950" b="1" dirty="0">
                <a:solidFill>
                  <a:srgbClr val="FFFFFF"/>
                </a:solidFill>
              </a:rPr>
              <a:t>Results</a:t>
            </a:r>
            <a:endParaRPr lang="en-US" sz="950" dirty="0"/>
          </a:p>
        </p:txBody>
      </p:sp>
      <p:sp>
        <p:nvSpPr>
          <p:cNvPr id="14" name="Shape 12"/>
          <p:cNvSpPr/>
          <p:nvPr/>
        </p:nvSpPr>
        <p:spPr>
          <a:xfrm>
            <a:off x="8398764" y="6309360"/>
            <a:ext cx="73152" cy="73152"/>
          </a:xfrm>
          <a:prstGeom prst="ellipse">
            <a:avLst/>
          </a:prstGeom>
          <a:solidFill>
            <a:srgbClr val="3CC3F0"/>
          </a:solidFill>
          <a:ln w="12700">
            <a:solidFill>
              <a:srgbClr val="3CC3F0"/>
            </a:solidFill>
            <a:prstDash val="solid"/>
          </a:ln>
        </p:spPr>
      </p:sp>
      <p:sp>
        <p:nvSpPr>
          <p:cNvPr id="15" name="Text 13">
            <a:hlinkClick r:id="rId10" tooltip="Go to Next" action="ppaction://hlinksldjump"/>
          </p:cNvPr>
          <p:cNvSpPr txBox="1"/>
          <p:nvPr/>
        </p:nvSpPr>
        <p:spPr>
          <a:xfrm>
            <a:off x="8778240" y="6382512"/>
            <a:ext cx="685800" cy="219456"/>
          </a:xfrm>
          <a:prstGeom prst="rect">
            <a:avLst/>
          </a:prstGeom>
          <a:noFill/>
          <a:ln/>
        </p:spPr>
        <p:txBody>
          <a:bodyPr wrap="square" lIns="0" tIns="0" rIns="0" bIns="0" rtlCol="0" anchor="ctr"/>
          <a:lstStyle/>
          <a:p>
            <a:pPr algn="ctr" indent="0" marL="0">
              <a:buNone/>
            </a:pPr>
            <a:r>
              <a:rPr lang="en-US" sz="950" u="sng" dirty="0">
                <a:solidFill>
                  <a:srgbClr val="9FB3E8"/>
                </a:solidFill>
                <a:hlinkClick r:id="rId10" action="ppaction://hlinksldjump" tooltip="Go to Next">
                  <a:extLst>
                    <a:ext uri="{A12FA001-AC4F-418D-AE19-62706E023703}">
                      <ahyp:hlinkClr xmlns:ahyp="http://schemas.microsoft.com/office/drawing/2018/hyperlinkcolor" val="tx"/>
                    </a:ext>
                  </a:extLst>
                </a:hlinkClick>
              </a:rPr>
              <a:t>Next</a:t>
            </a:r>
            <a:endParaRPr lang="en-US" sz="950" dirty="0"/>
          </a:p>
        </p:txBody>
      </p:sp>
      <p:sp>
        <p:nvSpPr>
          <p:cNvPr id="16" name="Text 14"/>
          <p:cNvSpPr txBox="1"/>
          <p:nvPr/>
        </p:nvSpPr>
        <p:spPr>
          <a:xfrm>
            <a:off x="548640" y="1280160"/>
            <a:ext cx="4023360" cy="2011680"/>
          </a:xfrm>
          <a:prstGeom prst="rect">
            <a:avLst/>
          </a:prstGeom>
          <a:noFill/>
          <a:ln/>
        </p:spPr>
        <p:txBody>
          <a:bodyPr wrap="square" lIns="0" tIns="0" rIns="0" bIns="0" rtlCol="0" anchor="ctr"/>
          <a:lstStyle/>
          <a:p>
            <a:pPr indent="0" marL="0">
              <a:buNone/>
            </a:pPr>
            <a:r>
              <a:rPr lang="en-US" sz="15000" b="1" dirty="0">
                <a:solidFill>
                  <a:srgbClr val="FFFFFF"/>
                </a:solidFill>
              </a:rPr>
              <a:t>14</a:t>
            </a:r>
            <a:endParaRPr lang="en-US" sz="15000" dirty="0"/>
          </a:p>
        </p:txBody>
      </p:sp>
      <p:sp>
        <p:nvSpPr>
          <p:cNvPr id="17" name="Text 15"/>
          <p:cNvSpPr txBox="1"/>
          <p:nvPr/>
        </p:nvSpPr>
        <p:spPr>
          <a:xfrm>
            <a:off x="640080" y="3337560"/>
            <a:ext cx="3566160" cy="731520"/>
          </a:xfrm>
          <a:prstGeom prst="rect">
            <a:avLst/>
          </a:prstGeom>
          <a:noFill/>
          <a:ln/>
        </p:spPr>
        <p:txBody>
          <a:bodyPr wrap="square" lIns="0" tIns="0" rIns="0" bIns="0" rtlCol="0" anchor="t"/>
          <a:lstStyle/>
          <a:p>
            <a:pPr indent="0" marL="0">
              <a:buNone/>
            </a:pPr>
            <a:r>
              <a:rPr lang="en-US" sz="1500" b="1" dirty="0">
                <a:solidFill>
                  <a:srgbClr val="3CC3F0"/>
                </a:solidFill>
              </a:rPr>
              <a:t>test scenarios, run against the deployed Azure agents</a:t>
            </a:r>
            <a:endParaRPr lang="en-US" sz="1500" dirty="0"/>
          </a:p>
        </p:txBody>
      </p:sp>
      <p:sp>
        <p:nvSpPr>
          <p:cNvPr id="18" name="Text 16"/>
          <p:cNvSpPr txBox="1"/>
          <p:nvPr/>
        </p:nvSpPr>
        <p:spPr>
          <a:xfrm>
            <a:off x="4754880" y="1371600"/>
            <a:ext cx="2377440" cy="640080"/>
          </a:xfrm>
          <a:prstGeom prst="rect">
            <a:avLst/>
          </a:prstGeom>
          <a:noFill/>
          <a:ln/>
        </p:spPr>
        <p:txBody>
          <a:bodyPr wrap="square" lIns="0" tIns="0" rIns="0" bIns="0" rtlCol="0" anchor="ctr"/>
          <a:lstStyle/>
          <a:p>
            <a:pPr indent="0" marL="0">
              <a:buNone/>
            </a:pPr>
            <a:r>
              <a:rPr lang="en-US" sz="1600" b="1" dirty="0">
                <a:solidFill>
                  <a:srgbClr val="FFFFFF"/>
                </a:solidFill>
              </a:rPr>
              <a:t>Normal paths</a:t>
            </a:r>
            <a:endParaRPr lang="en-US" sz="1600" dirty="0"/>
          </a:p>
        </p:txBody>
      </p:sp>
      <p:sp>
        <p:nvSpPr>
          <p:cNvPr id="19" name="Bar"/>
          <p:cNvSpPr/>
          <p:nvPr/>
        </p:nvSpPr>
        <p:spPr>
          <a:xfrm>
            <a:off x="7223760" y="1417320"/>
            <a:ext cx="2743200" cy="548640"/>
          </a:xfrm>
          <a:prstGeom prst="roundRect">
            <a:avLst>
              <a:gd name="adj" fmla="val 10000"/>
            </a:avLst>
          </a:prstGeom>
          <a:solidFill>
            <a:srgbClr val="3CC3F0"/>
          </a:solidFill>
          <a:ln w="12700">
            <a:solidFill>
              <a:srgbClr val="3CC3F0"/>
            </a:solidFill>
            <a:prstDash val="solid"/>
          </a:ln>
        </p:spPr>
      </p:sp>
      <p:sp>
        <p:nvSpPr>
          <p:cNvPr id="20" name="Text 18"/>
          <p:cNvSpPr txBox="1"/>
          <p:nvPr/>
        </p:nvSpPr>
        <p:spPr>
          <a:xfrm>
            <a:off x="10149840" y="1371600"/>
            <a:ext cx="640080" cy="640080"/>
          </a:xfrm>
          <a:prstGeom prst="rect">
            <a:avLst/>
          </a:prstGeom>
          <a:noFill/>
          <a:ln/>
        </p:spPr>
        <p:txBody>
          <a:bodyPr wrap="square" lIns="0" tIns="0" rIns="0" bIns="0" rtlCol="0" anchor="ctr"/>
          <a:lstStyle/>
          <a:p>
            <a:pPr indent="0" marL="0">
              <a:buNone/>
            </a:pPr>
            <a:r>
              <a:rPr lang="en-US" sz="2800" b="1" dirty="0">
                <a:solidFill>
                  <a:srgbClr val="FFFFFF"/>
                </a:solidFill>
              </a:rPr>
              <a:t>4</a:t>
            </a:r>
            <a:endParaRPr lang="en-US" sz="2800" dirty="0"/>
          </a:p>
        </p:txBody>
      </p:sp>
      <p:sp>
        <p:nvSpPr>
          <p:cNvPr id="21" name="Text 19"/>
          <p:cNvSpPr txBox="1"/>
          <p:nvPr/>
        </p:nvSpPr>
        <p:spPr>
          <a:xfrm>
            <a:off x="4754880" y="2103120"/>
            <a:ext cx="2377440" cy="640080"/>
          </a:xfrm>
          <a:prstGeom prst="rect">
            <a:avLst/>
          </a:prstGeom>
          <a:noFill/>
          <a:ln/>
        </p:spPr>
        <p:txBody>
          <a:bodyPr wrap="square" lIns="0" tIns="0" rIns="0" bIns="0" rtlCol="0" anchor="ctr"/>
          <a:lstStyle/>
          <a:p>
            <a:pPr indent="0" marL="0">
              <a:buNone/>
            </a:pPr>
            <a:r>
              <a:rPr lang="en-US" sz="1600" b="1" dirty="0">
                <a:solidFill>
                  <a:srgbClr val="FFFFFF"/>
                </a:solidFill>
              </a:rPr>
              <a:t>Safety escalations</a:t>
            </a:r>
            <a:endParaRPr lang="en-US" sz="1600" dirty="0"/>
          </a:p>
        </p:txBody>
      </p:sp>
      <p:sp>
        <p:nvSpPr>
          <p:cNvPr id="22" name="Bar"/>
          <p:cNvSpPr/>
          <p:nvPr/>
        </p:nvSpPr>
        <p:spPr>
          <a:xfrm>
            <a:off x="7223760" y="2148840"/>
            <a:ext cx="3429000" cy="548640"/>
          </a:xfrm>
          <a:prstGeom prst="roundRect">
            <a:avLst>
              <a:gd name="adj" fmla="val 10000"/>
            </a:avLst>
          </a:prstGeom>
          <a:solidFill>
            <a:srgbClr val="E5484D"/>
          </a:solidFill>
          <a:ln w="12700">
            <a:solidFill>
              <a:srgbClr val="E5484D"/>
            </a:solidFill>
            <a:prstDash val="solid"/>
          </a:ln>
        </p:spPr>
      </p:sp>
      <p:sp>
        <p:nvSpPr>
          <p:cNvPr id="23" name="Text 21"/>
          <p:cNvSpPr txBox="1"/>
          <p:nvPr/>
        </p:nvSpPr>
        <p:spPr>
          <a:xfrm>
            <a:off x="10835640" y="2103120"/>
            <a:ext cx="640080" cy="640080"/>
          </a:xfrm>
          <a:prstGeom prst="rect">
            <a:avLst/>
          </a:prstGeom>
          <a:noFill/>
          <a:ln/>
        </p:spPr>
        <p:txBody>
          <a:bodyPr wrap="square" lIns="0" tIns="0" rIns="0" bIns="0" rtlCol="0" anchor="ctr"/>
          <a:lstStyle/>
          <a:p>
            <a:pPr indent="0" marL="0">
              <a:buNone/>
            </a:pPr>
            <a:r>
              <a:rPr lang="en-US" sz="2800" b="1" dirty="0">
                <a:solidFill>
                  <a:srgbClr val="FFFFFF"/>
                </a:solidFill>
              </a:rPr>
              <a:t>5</a:t>
            </a:r>
            <a:endParaRPr lang="en-US" sz="2800" dirty="0"/>
          </a:p>
        </p:txBody>
      </p:sp>
      <p:sp>
        <p:nvSpPr>
          <p:cNvPr id="24" name="Text 22"/>
          <p:cNvSpPr txBox="1"/>
          <p:nvPr/>
        </p:nvSpPr>
        <p:spPr>
          <a:xfrm>
            <a:off x="4754880" y="2834640"/>
            <a:ext cx="2377440" cy="640080"/>
          </a:xfrm>
          <a:prstGeom prst="rect">
            <a:avLst/>
          </a:prstGeom>
          <a:noFill/>
          <a:ln/>
        </p:spPr>
        <p:txBody>
          <a:bodyPr wrap="square" lIns="0" tIns="0" rIns="0" bIns="0" rtlCol="0" anchor="ctr"/>
          <a:lstStyle/>
          <a:p>
            <a:pPr indent="0" marL="0">
              <a:buNone/>
            </a:pPr>
            <a:r>
              <a:rPr lang="en-US" sz="1600" b="1" dirty="0">
                <a:solidFill>
                  <a:srgbClr val="FFFFFF"/>
                </a:solidFill>
              </a:rPr>
              <a:t>Edge and conflict</a:t>
            </a:r>
            <a:endParaRPr lang="en-US" sz="1600" dirty="0"/>
          </a:p>
        </p:txBody>
      </p:sp>
      <p:sp>
        <p:nvSpPr>
          <p:cNvPr id="25" name="Bar"/>
          <p:cNvSpPr/>
          <p:nvPr/>
        </p:nvSpPr>
        <p:spPr>
          <a:xfrm>
            <a:off x="7223760" y="2880360"/>
            <a:ext cx="2743200" cy="548640"/>
          </a:xfrm>
          <a:prstGeom prst="roundRect">
            <a:avLst>
              <a:gd name="adj" fmla="val 10000"/>
            </a:avLst>
          </a:prstGeom>
          <a:solidFill>
            <a:srgbClr val="F5A524"/>
          </a:solidFill>
          <a:ln w="12700">
            <a:solidFill>
              <a:srgbClr val="F5A524"/>
            </a:solidFill>
            <a:prstDash val="solid"/>
          </a:ln>
        </p:spPr>
      </p:sp>
      <p:sp>
        <p:nvSpPr>
          <p:cNvPr id="26" name="Text 24"/>
          <p:cNvSpPr txBox="1"/>
          <p:nvPr/>
        </p:nvSpPr>
        <p:spPr>
          <a:xfrm>
            <a:off x="10149840" y="2834640"/>
            <a:ext cx="640080" cy="640080"/>
          </a:xfrm>
          <a:prstGeom prst="rect">
            <a:avLst/>
          </a:prstGeom>
          <a:noFill/>
          <a:ln/>
        </p:spPr>
        <p:txBody>
          <a:bodyPr wrap="square" lIns="0" tIns="0" rIns="0" bIns="0" rtlCol="0" anchor="ctr"/>
          <a:lstStyle/>
          <a:p>
            <a:pPr indent="0" marL="0">
              <a:buNone/>
            </a:pPr>
            <a:r>
              <a:rPr lang="en-US" sz="2800" b="1" dirty="0">
                <a:solidFill>
                  <a:srgbClr val="FFFFFF"/>
                </a:solidFill>
              </a:rPr>
              <a:t>4</a:t>
            </a:r>
            <a:endParaRPr lang="en-US" sz="2800" dirty="0"/>
          </a:p>
        </p:txBody>
      </p:sp>
      <p:sp>
        <p:nvSpPr>
          <p:cNvPr id="27" name="Text 25"/>
          <p:cNvSpPr txBox="1"/>
          <p:nvPr/>
        </p:nvSpPr>
        <p:spPr>
          <a:xfrm>
            <a:off x="4754880" y="3566160"/>
            <a:ext cx="2377440" cy="640080"/>
          </a:xfrm>
          <a:prstGeom prst="rect">
            <a:avLst/>
          </a:prstGeom>
          <a:noFill/>
          <a:ln/>
        </p:spPr>
        <p:txBody>
          <a:bodyPr wrap="square" lIns="0" tIns="0" rIns="0" bIns="0" rtlCol="0" anchor="ctr"/>
          <a:lstStyle/>
          <a:p>
            <a:pPr indent="0" marL="0">
              <a:buNone/>
            </a:pPr>
            <a:r>
              <a:rPr lang="en-US" sz="1600" b="1" dirty="0">
                <a:solidFill>
                  <a:srgbClr val="FFFFFF"/>
                </a:solidFill>
              </a:rPr>
              <a:t>Failure handling</a:t>
            </a:r>
            <a:endParaRPr lang="en-US" sz="1600" dirty="0"/>
          </a:p>
        </p:txBody>
      </p:sp>
      <p:sp>
        <p:nvSpPr>
          <p:cNvPr id="28" name="Bar"/>
          <p:cNvSpPr/>
          <p:nvPr/>
        </p:nvSpPr>
        <p:spPr>
          <a:xfrm>
            <a:off x="7223760" y="3611880"/>
            <a:ext cx="685800" cy="548640"/>
          </a:xfrm>
          <a:prstGeom prst="roundRect">
            <a:avLst>
              <a:gd name="adj" fmla="val 10000"/>
            </a:avLst>
          </a:prstGeom>
          <a:solidFill>
            <a:srgbClr val="B58CFF"/>
          </a:solidFill>
          <a:ln w="12700">
            <a:solidFill>
              <a:srgbClr val="B58CFF"/>
            </a:solidFill>
            <a:prstDash val="solid"/>
          </a:ln>
        </p:spPr>
      </p:sp>
      <p:sp>
        <p:nvSpPr>
          <p:cNvPr id="29" name="Text 27"/>
          <p:cNvSpPr txBox="1"/>
          <p:nvPr/>
        </p:nvSpPr>
        <p:spPr>
          <a:xfrm>
            <a:off x="8092440" y="3566160"/>
            <a:ext cx="640080" cy="640080"/>
          </a:xfrm>
          <a:prstGeom prst="rect">
            <a:avLst/>
          </a:prstGeom>
          <a:noFill/>
          <a:ln/>
        </p:spPr>
        <p:txBody>
          <a:bodyPr wrap="square" lIns="0" tIns="0" rIns="0" bIns="0" rtlCol="0" anchor="ctr"/>
          <a:lstStyle/>
          <a:p>
            <a:pPr indent="0" marL="0">
              <a:buNone/>
            </a:pPr>
            <a:r>
              <a:rPr lang="en-US" sz="2800" b="1" dirty="0">
                <a:solidFill>
                  <a:srgbClr val="FFFFFF"/>
                </a:solidFill>
              </a:rPr>
              <a:t>1</a:t>
            </a:r>
            <a:endParaRPr lang="en-US" sz="2800" dirty="0"/>
          </a:p>
        </p:txBody>
      </p:sp>
      <p:sp>
        <p:nvSpPr>
          <p:cNvPr id="30" name="Stat block"/>
          <p:cNvSpPr/>
          <p:nvPr/>
        </p:nvSpPr>
        <p:spPr>
          <a:xfrm>
            <a:off x="548640" y="4526280"/>
            <a:ext cx="3611880" cy="1097280"/>
          </a:xfrm>
          <a:prstGeom prst="roundRect">
            <a:avLst>
              <a:gd name="adj" fmla="val 8333"/>
            </a:avLst>
          </a:prstGeom>
          <a:solidFill>
            <a:srgbClr val="1547C8"/>
          </a:solidFill>
          <a:ln w="12700">
            <a:solidFill>
              <a:srgbClr val="1547C8"/>
            </a:solidFill>
            <a:prstDash val="solid"/>
          </a:ln>
        </p:spPr>
      </p:sp>
      <p:sp>
        <p:nvSpPr>
          <p:cNvPr id="31" name="Text 29"/>
          <p:cNvSpPr txBox="1"/>
          <p:nvPr/>
        </p:nvSpPr>
        <p:spPr>
          <a:xfrm>
            <a:off x="822960" y="4572000"/>
            <a:ext cx="1828800" cy="1005840"/>
          </a:xfrm>
          <a:prstGeom prst="rect">
            <a:avLst/>
          </a:prstGeom>
          <a:noFill/>
          <a:ln/>
        </p:spPr>
        <p:txBody>
          <a:bodyPr wrap="square" lIns="0" tIns="0" rIns="0" bIns="0" rtlCol="0" anchor="ctr"/>
          <a:lstStyle/>
          <a:p>
            <a:pPr indent="0" marL="0">
              <a:buNone/>
            </a:pPr>
            <a:r>
              <a:rPr lang="en-US" sz="4000" b="1" dirty="0">
                <a:solidFill>
                  <a:srgbClr val="FFFFFF"/>
                </a:solidFill>
              </a:rPr>
              <a:t>105</a:t>
            </a:r>
            <a:endParaRPr lang="en-US" sz="4000" dirty="0"/>
          </a:p>
        </p:txBody>
      </p:sp>
      <p:sp>
        <p:nvSpPr>
          <p:cNvPr id="32" name="Text 30"/>
          <p:cNvSpPr txBox="1"/>
          <p:nvPr/>
        </p:nvSpPr>
        <p:spPr>
          <a:xfrm>
            <a:off x="2651760" y="4572000"/>
            <a:ext cx="1371600" cy="1005840"/>
          </a:xfrm>
          <a:prstGeom prst="rect">
            <a:avLst/>
          </a:prstGeom>
          <a:noFill/>
          <a:ln/>
        </p:spPr>
        <p:txBody>
          <a:bodyPr wrap="square" lIns="0" tIns="0" rIns="0" bIns="0" rtlCol="0" anchor="ctr"/>
          <a:lstStyle/>
          <a:p>
            <a:pPr indent="0" marL="0">
              <a:buNone/>
            </a:pPr>
            <a:r>
              <a:rPr lang="en-US" sz="1200" b="1" dirty="0">
                <a:solidFill>
                  <a:srgbClr val="CFE0FF"/>
                </a:solidFill>
              </a:rPr>
              <a:t>synthetic members</a:t>
            </a:r>
            <a:endParaRPr lang="en-US" sz="1200" dirty="0"/>
          </a:p>
        </p:txBody>
      </p:sp>
      <p:sp>
        <p:nvSpPr>
          <p:cNvPr id="33" name="Stat block"/>
          <p:cNvSpPr/>
          <p:nvPr/>
        </p:nvSpPr>
        <p:spPr>
          <a:xfrm>
            <a:off x="4297680" y="4526280"/>
            <a:ext cx="3611880" cy="1097280"/>
          </a:xfrm>
          <a:prstGeom prst="roundRect">
            <a:avLst>
              <a:gd name="adj" fmla="val 8333"/>
            </a:avLst>
          </a:prstGeom>
          <a:solidFill>
            <a:srgbClr val="1547C8"/>
          </a:solidFill>
          <a:ln w="12700">
            <a:solidFill>
              <a:srgbClr val="1547C8"/>
            </a:solidFill>
            <a:prstDash val="solid"/>
          </a:ln>
        </p:spPr>
      </p:sp>
      <p:sp>
        <p:nvSpPr>
          <p:cNvPr id="34" name="Text 32"/>
          <p:cNvSpPr txBox="1"/>
          <p:nvPr/>
        </p:nvSpPr>
        <p:spPr>
          <a:xfrm>
            <a:off x="4572000" y="4572000"/>
            <a:ext cx="1828800" cy="1005840"/>
          </a:xfrm>
          <a:prstGeom prst="rect">
            <a:avLst/>
          </a:prstGeom>
          <a:noFill/>
          <a:ln/>
        </p:spPr>
        <p:txBody>
          <a:bodyPr wrap="square" lIns="0" tIns="0" rIns="0" bIns="0" rtlCol="0" anchor="ctr"/>
          <a:lstStyle/>
          <a:p>
            <a:pPr indent="0" marL="0">
              <a:buNone/>
            </a:pPr>
            <a:r>
              <a:rPr lang="en-US" sz="4000" b="1" dirty="0">
                <a:solidFill>
                  <a:srgbClr val="FFFFFF"/>
                </a:solidFill>
              </a:rPr>
              <a:t>2,254</a:t>
            </a:r>
            <a:endParaRPr lang="en-US" sz="4000" dirty="0"/>
          </a:p>
        </p:txBody>
      </p:sp>
      <p:sp>
        <p:nvSpPr>
          <p:cNvPr id="35" name="Text 33"/>
          <p:cNvSpPr txBox="1"/>
          <p:nvPr/>
        </p:nvSpPr>
        <p:spPr>
          <a:xfrm>
            <a:off x="6400800" y="4572000"/>
            <a:ext cx="1371600" cy="1005840"/>
          </a:xfrm>
          <a:prstGeom prst="rect">
            <a:avLst/>
          </a:prstGeom>
          <a:noFill/>
          <a:ln/>
        </p:spPr>
        <p:txBody>
          <a:bodyPr wrap="square" lIns="0" tIns="0" rIns="0" bIns="0" rtlCol="0" anchor="ctr"/>
          <a:lstStyle/>
          <a:p>
            <a:pPr indent="0" marL="0">
              <a:buNone/>
            </a:pPr>
            <a:r>
              <a:rPr lang="en-US" sz="1200" b="1" dirty="0">
                <a:solidFill>
                  <a:srgbClr val="CFE0FF"/>
                </a:solidFill>
              </a:rPr>
              <a:t>active readings</a:t>
            </a:r>
            <a:endParaRPr lang="en-US" sz="1200" dirty="0"/>
          </a:p>
        </p:txBody>
      </p:sp>
      <p:sp>
        <p:nvSpPr>
          <p:cNvPr id="36" name="Stat block"/>
          <p:cNvSpPr/>
          <p:nvPr/>
        </p:nvSpPr>
        <p:spPr>
          <a:xfrm>
            <a:off x="8046720" y="4526280"/>
            <a:ext cx="3611880" cy="1097280"/>
          </a:xfrm>
          <a:prstGeom prst="roundRect">
            <a:avLst>
              <a:gd name="adj" fmla="val 8333"/>
            </a:avLst>
          </a:prstGeom>
          <a:solidFill>
            <a:srgbClr val="1547C8"/>
          </a:solidFill>
          <a:ln w="12700">
            <a:solidFill>
              <a:srgbClr val="1547C8"/>
            </a:solidFill>
            <a:prstDash val="solid"/>
          </a:ln>
        </p:spPr>
      </p:sp>
      <p:sp>
        <p:nvSpPr>
          <p:cNvPr id="37" name="Text 35"/>
          <p:cNvSpPr txBox="1"/>
          <p:nvPr/>
        </p:nvSpPr>
        <p:spPr>
          <a:xfrm>
            <a:off x="8321040" y="4572000"/>
            <a:ext cx="1828800" cy="1005840"/>
          </a:xfrm>
          <a:prstGeom prst="rect">
            <a:avLst/>
          </a:prstGeom>
          <a:noFill/>
          <a:ln/>
        </p:spPr>
        <p:txBody>
          <a:bodyPr wrap="square" lIns="0" tIns="0" rIns="0" bIns="0" rtlCol="0" anchor="ctr"/>
          <a:lstStyle/>
          <a:p>
            <a:pPr indent="0" marL="0">
              <a:buNone/>
            </a:pPr>
            <a:r>
              <a:rPr lang="en-US" sz="4000" b="1" dirty="0">
                <a:solidFill>
                  <a:srgbClr val="FFFFFF"/>
                </a:solidFill>
              </a:rPr>
              <a:t>24</a:t>
            </a:r>
            <a:endParaRPr lang="en-US" sz="4000" dirty="0"/>
          </a:p>
        </p:txBody>
      </p:sp>
      <p:sp>
        <p:nvSpPr>
          <p:cNvPr id="38" name="Text 36"/>
          <p:cNvSpPr txBox="1"/>
          <p:nvPr/>
        </p:nvSpPr>
        <p:spPr>
          <a:xfrm>
            <a:off x="10149840" y="4572000"/>
            <a:ext cx="1371600" cy="1005840"/>
          </a:xfrm>
          <a:prstGeom prst="rect">
            <a:avLst/>
          </a:prstGeom>
          <a:noFill/>
          <a:ln/>
        </p:spPr>
        <p:txBody>
          <a:bodyPr wrap="square" lIns="0" tIns="0" rIns="0" bIns="0" rtlCol="0" anchor="ctr"/>
          <a:lstStyle/>
          <a:p>
            <a:pPr indent="0" marL="0">
              <a:buNone/>
            </a:pPr>
            <a:r>
              <a:rPr lang="en-US" sz="1200" b="1" dirty="0">
                <a:solidFill>
                  <a:srgbClr val="CFE0FF"/>
                </a:solidFill>
              </a:rPr>
              <a:t>approved articles</a:t>
            </a:r>
            <a:endParaRPr lang="en-US" sz="1200" dirty="0"/>
          </a:p>
        </p:txBody>
      </p:sp>
      <p:sp>
        <p:nvSpPr>
          <p:cNvPr id="39" name="Text 37"/>
          <p:cNvSpPr txBox="1"/>
          <p:nvPr/>
        </p:nvSpPr>
        <p:spPr>
          <a:xfrm>
            <a:off x="548640" y="5760720"/>
            <a:ext cx="11064240" cy="457200"/>
          </a:xfrm>
          <a:prstGeom prst="rect">
            <a:avLst/>
          </a:prstGeom>
          <a:noFill/>
          <a:ln/>
        </p:spPr>
        <p:txBody>
          <a:bodyPr wrap="square" lIns="0" tIns="0" rIns="0" bIns="0" rtlCol="0" anchor="ctr"/>
          <a:lstStyle/>
          <a:p>
            <a:pPr indent="0" marL="0">
              <a:buNone/>
            </a:pPr>
            <a:r>
              <a:rPr lang="en-US" sz="1300" dirty="0">
                <a:solidFill>
                  <a:srgbClr val="CFE0FF"/>
                </a:solidFill>
              </a:rPr>
              <a:t>Prompts, outputs, citations and safety observations from each run go into the test evidence document.</a:t>
            </a:r>
            <a:endParaRPr lang="en-US" sz="130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9FB3E8"/>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56032"/>
          </a:xfrm>
          <a:prstGeom prst="rect">
            <a:avLst/>
          </a:prstGeom>
          <a:noFill/>
          <a:ln/>
        </p:spPr>
        <p:txBody>
          <a:bodyPr wrap="square" lIns="0" tIns="0" rIns="0" bIns="0" rtlCol="0" anchor="t"/>
          <a:lstStyle/>
          <a:p>
            <a:pPr algn="l" indent="0" marL="0">
              <a:buNone/>
            </a:pPr>
            <a:r>
              <a:rPr lang="en-US" sz="1100" b="1" spc="300" kern="0" dirty="0">
                <a:solidFill>
                  <a:srgbClr val="1547C8"/>
                </a:solidFill>
              </a:rPr>
              <a:t>06  ·  LIMITS AND NEXT STEPS</a:t>
            </a:r>
            <a:endParaRPr lang="en-US" sz="1100" dirty="0"/>
          </a:p>
        </p:txBody>
      </p:sp>
      <p:sp>
        <p:nvSpPr>
          <p:cNvPr id="3" name="Text 1"/>
          <p:cNvSpPr/>
          <p:nvPr>
            <p:ph idx="103" type="title" hasCustomPrompt="1"/>
          </p:nvPr>
        </p:nvSpPr>
        <p:spPr>
          <a:xfrm>
            <a:off x="548640" y="603504"/>
            <a:ext cx="11064240" cy="603504"/>
          </a:xfrm>
          <a:prstGeom prst="rect">
            <a:avLst/>
          </a:prstGeom>
          <a:noFill/>
          <a:ln/>
        </p:spPr>
        <p:txBody>
          <a:bodyPr wrap="square" lIns="0" tIns="0" rIns="0" bIns="0" rtlCol="0" anchor="t"/>
          <a:lstStyle/>
          <a:p>
            <a:pPr algn="l" indent="0" marL="0">
              <a:buNone/>
            </a:pPr>
            <a:r>
              <a:rPr lang="en-US" sz="3400" b="1" dirty="0">
                <a:solidFill>
                  <a:srgbClr val="0A1F5C"/>
                </a:solidFill>
              </a:rPr>
              <a:t>Every limit has a next step</a:t>
            </a:r>
            <a:endParaRPr lang="en-US" sz="3400" dirty="0"/>
          </a:p>
        </p:txBody>
      </p:sp>
      <p:sp>
        <p:nvSpPr>
          <p:cNvPr id="4" name="Text 2">
            <a:hlinkClick r:id="rId1" tooltip="Go to Agenda" action="ppaction://hlinksldjump"/>
          </p:cNvPr>
          <p:cNvSpPr txBox="1"/>
          <p:nvPr/>
        </p:nvSpPr>
        <p:spPr>
          <a:xfrm>
            <a:off x="1920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1" action="ppaction://hlinksldjump" tooltip="Go to Agenda">
                  <a:extLst>
                    <a:ext uri="{A12FA001-AC4F-418D-AE19-62706E023703}">
                      <ahyp:hlinkClr xmlns:ahyp="http://schemas.microsoft.com/office/drawing/2018/hyperlinkcolor" val="tx"/>
                    </a:ext>
                  </a:extLst>
                </a:hlinkClick>
              </a:rPr>
              <a:t>Agenda</a:t>
            </a:r>
            <a:endParaRPr lang="en-US" sz="950" dirty="0"/>
          </a:p>
        </p:txBody>
      </p:sp>
      <p:sp>
        <p:nvSpPr>
          <p:cNvPr id="5" name="Text 3">
            <a:hlinkClick r:id="rId2" tooltip="Go to Problem" action="ppaction://hlinksldjump"/>
          </p:cNvPr>
          <p:cNvSpPr txBox="1"/>
          <p:nvPr/>
        </p:nvSpPr>
        <p:spPr>
          <a:xfrm>
            <a:off x="26060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2" action="ppaction://hlinksldjump" tooltip="Go to Problem">
                  <a:extLst>
                    <a:ext uri="{A12FA001-AC4F-418D-AE19-62706E023703}">
                      <ahyp:hlinkClr xmlns:ahyp="http://schemas.microsoft.com/office/drawing/2018/hyperlinkcolor" val="tx"/>
                    </a:ext>
                  </a:extLst>
                </a:hlinkClick>
              </a:rPr>
              <a:t>Problem</a:t>
            </a:r>
            <a:endParaRPr lang="en-US" sz="950" dirty="0"/>
          </a:p>
        </p:txBody>
      </p:sp>
      <p:sp>
        <p:nvSpPr>
          <p:cNvPr id="6" name="Text 4">
            <a:hlinkClick r:id="rId3" tooltip="Go to Solution" action="ppaction://hlinksldjump"/>
          </p:cNvPr>
          <p:cNvSpPr txBox="1"/>
          <p:nvPr/>
        </p:nvSpPr>
        <p:spPr>
          <a:xfrm>
            <a:off x="32918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3" action="ppaction://hlinksldjump" tooltip="Go to Solution">
                  <a:extLst>
                    <a:ext uri="{A12FA001-AC4F-418D-AE19-62706E023703}">
                      <ahyp:hlinkClr xmlns:ahyp="http://schemas.microsoft.com/office/drawing/2018/hyperlinkcolor" val="tx"/>
                    </a:ext>
                  </a:extLst>
                </a:hlinkClick>
              </a:rPr>
              <a:t>Solution</a:t>
            </a:r>
            <a:endParaRPr lang="en-US" sz="950" dirty="0"/>
          </a:p>
        </p:txBody>
      </p:sp>
      <p:sp>
        <p:nvSpPr>
          <p:cNvPr id="7" name="Text 5">
            <a:hlinkClick r:id="rId4" tooltip="Go to Principle" action="ppaction://hlinksldjump"/>
          </p:cNvPr>
          <p:cNvSpPr txBox="1"/>
          <p:nvPr/>
        </p:nvSpPr>
        <p:spPr>
          <a:xfrm>
            <a:off x="39776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4" action="ppaction://hlinksldjump" tooltip="Go to Principle">
                  <a:extLst>
                    <a:ext uri="{A12FA001-AC4F-418D-AE19-62706E023703}">
                      <ahyp:hlinkClr xmlns:ahyp="http://schemas.microsoft.com/office/drawing/2018/hyperlinkcolor" val="tx"/>
                    </a:ext>
                  </a:extLst>
                </a:hlinkClick>
              </a:rPr>
              <a:t>Principle</a:t>
            </a:r>
            <a:endParaRPr lang="en-US" sz="950" dirty="0"/>
          </a:p>
        </p:txBody>
      </p:sp>
      <p:sp>
        <p:nvSpPr>
          <p:cNvPr id="8" name="Text 6">
            <a:hlinkClick r:id="rId5" tooltip="Go to Flow" action="ppaction://hlinksldjump"/>
          </p:cNvPr>
          <p:cNvSpPr txBox="1"/>
          <p:nvPr/>
        </p:nvSpPr>
        <p:spPr>
          <a:xfrm>
            <a:off x="46634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5" action="ppaction://hlinksldjump" tooltip="Go to Flow">
                  <a:extLst>
                    <a:ext uri="{A12FA001-AC4F-418D-AE19-62706E023703}">
                      <ahyp:hlinkClr xmlns:ahyp="http://schemas.microsoft.com/office/drawing/2018/hyperlinkcolor" val="tx"/>
                    </a:ext>
                  </a:extLst>
                </a:hlinkClick>
              </a:rPr>
              <a:t>Flow</a:t>
            </a:r>
            <a:endParaRPr lang="en-US" sz="950" dirty="0"/>
          </a:p>
        </p:txBody>
      </p:sp>
      <p:sp>
        <p:nvSpPr>
          <p:cNvPr id="9" name="Text 7">
            <a:hlinkClick r:id="rId6" tooltip="Go to RAG" action="ppaction://hlinksldjump"/>
          </p:cNvPr>
          <p:cNvSpPr txBox="1"/>
          <p:nvPr/>
        </p:nvSpPr>
        <p:spPr>
          <a:xfrm>
            <a:off x="5349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6" action="ppaction://hlinksldjump" tooltip="Go to RAG">
                  <a:extLst>
                    <a:ext uri="{A12FA001-AC4F-418D-AE19-62706E023703}">
                      <ahyp:hlinkClr xmlns:ahyp="http://schemas.microsoft.com/office/drawing/2018/hyperlinkcolor" val="tx"/>
                    </a:ext>
                  </a:extLst>
                </a:hlinkClick>
              </a:rPr>
              <a:t>RAG</a:t>
            </a:r>
            <a:endParaRPr lang="en-US" sz="950" dirty="0"/>
          </a:p>
        </p:txBody>
      </p:sp>
      <p:sp>
        <p:nvSpPr>
          <p:cNvPr id="10" name="Text 8">
            <a:hlinkClick r:id="rId7" tooltip="Go to Demo" action="ppaction://hlinksldjump"/>
          </p:cNvPr>
          <p:cNvSpPr txBox="1"/>
          <p:nvPr/>
        </p:nvSpPr>
        <p:spPr>
          <a:xfrm>
            <a:off x="60350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7" action="ppaction://hlinksldjump" tooltip="Go to Demo">
                  <a:extLst>
                    <a:ext uri="{A12FA001-AC4F-418D-AE19-62706E023703}">
                      <ahyp:hlinkClr xmlns:ahyp="http://schemas.microsoft.com/office/drawing/2018/hyperlinkcolor" val="tx"/>
                    </a:ext>
                  </a:extLst>
                </a:hlinkClick>
              </a:rPr>
              <a:t>Demo</a:t>
            </a:r>
            <a:endParaRPr lang="en-US" sz="950" dirty="0"/>
          </a:p>
        </p:txBody>
      </p:sp>
      <p:sp>
        <p:nvSpPr>
          <p:cNvPr id="11" name="Text 9">
            <a:hlinkClick r:id="rId8" tooltip="Go to Try it" action="ppaction://hlinksldjump"/>
          </p:cNvPr>
          <p:cNvSpPr txBox="1"/>
          <p:nvPr/>
        </p:nvSpPr>
        <p:spPr>
          <a:xfrm>
            <a:off x="67208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8" action="ppaction://hlinksldjump" tooltip="Go to Try it">
                  <a:extLst>
                    <a:ext uri="{A12FA001-AC4F-418D-AE19-62706E023703}">
                      <ahyp:hlinkClr xmlns:ahyp="http://schemas.microsoft.com/office/drawing/2018/hyperlinkcolor" val="tx"/>
                    </a:ext>
                  </a:extLst>
                </a:hlinkClick>
              </a:rPr>
              <a:t>Try it</a:t>
            </a:r>
            <a:endParaRPr lang="en-US" sz="950" dirty="0"/>
          </a:p>
        </p:txBody>
      </p:sp>
      <p:sp>
        <p:nvSpPr>
          <p:cNvPr id="12" name="Text 10">
            <a:hlinkClick r:id="rId9" tooltip="Go to Rules" action="ppaction://hlinksldjump"/>
          </p:cNvPr>
          <p:cNvSpPr txBox="1"/>
          <p:nvPr/>
        </p:nvSpPr>
        <p:spPr>
          <a:xfrm>
            <a:off x="74066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9" action="ppaction://hlinksldjump" tooltip="Go to Rules">
                  <a:extLst>
                    <a:ext uri="{A12FA001-AC4F-418D-AE19-62706E023703}">
                      <ahyp:hlinkClr xmlns:ahyp="http://schemas.microsoft.com/office/drawing/2018/hyperlinkcolor" val="tx"/>
                    </a:ext>
                  </a:extLst>
                </a:hlinkClick>
              </a:rPr>
              <a:t>Rules</a:t>
            </a:r>
            <a:endParaRPr lang="en-US" sz="950" dirty="0"/>
          </a:p>
        </p:txBody>
      </p:sp>
      <p:sp>
        <p:nvSpPr>
          <p:cNvPr id="13" name="Text 11">
            <a:hlinkClick r:id="rId10" tooltip="Go to Results" action="ppaction://hlinksldjump"/>
          </p:cNvPr>
          <p:cNvSpPr txBox="1"/>
          <p:nvPr/>
        </p:nvSpPr>
        <p:spPr>
          <a:xfrm>
            <a:off x="80924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10" action="ppaction://hlinksldjump" tooltip="Go to Results">
                  <a:extLst>
                    <a:ext uri="{A12FA001-AC4F-418D-AE19-62706E023703}">
                      <ahyp:hlinkClr xmlns:ahyp="http://schemas.microsoft.com/office/drawing/2018/hyperlinkcolor" val="tx"/>
                    </a:ext>
                  </a:extLst>
                </a:hlinkClick>
              </a:rPr>
              <a:t>Results</a:t>
            </a:r>
            <a:endParaRPr lang="en-US" sz="950" dirty="0"/>
          </a:p>
        </p:txBody>
      </p:sp>
      <p:sp>
        <p:nvSpPr>
          <p:cNvPr id="14" name="Text 12"/>
          <p:cNvSpPr txBox="1"/>
          <p:nvPr/>
        </p:nvSpPr>
        <p:spPr>
          <a:xfrm>
            <a:off x="8778240" y="6382512"/>
            <a:ext cx="685800" cy="219456"/>
          </a:xfrm>
          <a:prstGeom prst="rect">
            <a:avLst/>
          </a:prstGeom>
          <a:noFill/>
          <a:ln/>
        </p:spPr>
        <p:txBody>
          <a:bodyPr wrap="square" lIns="0" tIns="0" rIns="0" bIns="0" rtlCol="0" anchor="ctr"/>
          <a:lstStyle/>
          <a:p>
            <a:pPr algn="ctr" indent="0" marL="0">
              <a:buNone/>
            </a:pPr>
            <a:r>
              <a:rPr lang="en-US" sz="950" b="1" dirty="0">
                <a:solidFill>
                  <a:srgbClr val="0A1F5C"/>
                </a:solidFill>
              </a:rPr>
              <a:t>Next</a:t>
            </a:r>
            <a:endParaRPr lang="en-US" sz="950" dirty="0"/>
          </a:p>
        </p:txBody>
      </p:sp>
      <p:sp>
        <p:nvSpPr>
          <p:cNvPr id="15" name="Shape 13"/>
          <p:cNvSpPr/>
          <p:nvPr/>
        </p:nvSpPr>
        <p:spPr>
          <a:xfrm>
            <a:off x="9084564" y="6309360"/>
            <a:ext cx="73152" cy="73152"/>
          </a:xfrm>
          <a:prstGeom prst="ellipse">
            <a:avLst/>
          </a:prstGeom>
          <a:solidFill>
            <a:srgbClr val="1547C8"/>
          </a:solidFill>
          <a:ln w="12700">
            <a:solidFill>
              <a:srgbClr val="1547C8"/>
            </a:solidFill>
            <a:prstDash val="solid"/>
          </a:ln>
        </p:spPr>
      </p:sp>
      <p:sp>
        <p:nvSpPr>
          <p:cNvPr id="16" name="Today block"/>
          <p:cNvSpPr/>
          <p:nvPr/>
        </p:nvSpPr>
        <p:spPr>
          <a:xfrm>
            <a:off x="548640" y="1417320"/>
            <a:ext cx="5212080" cy="4709160"/>
          </a:xfrm>
          <a:prstGeom prst="roundRect">
            <a:avLst>
              <a:gd name="adj" fmla="val 1942"/>
            </a:avLst>
          </a:prstGeom>
          <a:solidFill>
            <a:srgbClr val="F5A524"/>
          </a:solidFill>
          <a:ln w="12700">
            <a:solidFill>
              <a:srgbClr val="F5A524"/>
            </a:solidFill>
            <a:prstDash val="solid"/>
          </a:ln>
        </p:spPr>
      </p:sp>
      <p:sp>
        <p:nvSpPr>
          <p:cNvPr id="17" name="Next block"/>
          <p:cNvSpPr/>
          <p:nvPr/>
        </p:nvSpPr>
        <p:spPr>
          <a:xfrm>
            <a:off x="6428232" y="1417320"/>
            <a:ext cx="5212080" cy="4709160"/>
          </a:xfrm>
          <a:prstGeom prst="roundRect">
            <a:avLst>
              <a:gd name="adj" fmla="val 1942"/>
            </a:avLst>
          </a:prstGeom>
          <a:solidFill>
            <a:srgbClr val="1547C8"/>
          </a:solidFill>
          <a:ln w="12700">
            <a:solidFill>
              <a:srgbClr val="1547C8"/>
            </a:solidFill>
            <a:prstDash val="solid"/>
          </a:ln>
        </p:spPr>
      </p:sp>
      <p:sp>
        <p:nvSpPr>
          <p:cNvPr id="18" name="Text 16"/>
          <p:cNvSpPr txBox="1"/>
          <p:nvPr/>
        </p:nvSpPr>
        <p:spPr>
          <a:xfrm>
            <a:off x="868680" y="1600200"/>
            <a:ext cx="4114800" cy="365760"/>
          </a:xfrm>
          <a:prstGeom prst="rect">
            <a:avLst/>
          </a:prstGeom>
          <a:noFill/>
          <a:ln/>
        </p:spPr>
        <p:txBody>
          <a:bodyPr wrap="square" lIns="0" tIns="0" rIns="0" bIns="0" rtlCol="0" anchor="t"/>
          <a:lstStyle/>
          <a:p>
            <a:pPr indent="0" marL="0">
              <a:buNone/>
            </a:pPr>
            <a:r>
              <a:rPr lang="en-US" sz="1400" b="1" spc="400" kern="0" dirty="0">
                <a:solidFill>
                  <a:srgbClr val="0A1F5C"/>
                </a:solidFill>
              </a:rPr>
              <a:t>TODAY</a:t>
            </a:r>
            <a:endParaRPr lang="en-US" sz="1400" dirty="0"/>
          </a:p>
        </p:txBody>
      </p:sp>
      <p:sp>
        <p:nvSpPr>
          <p:cNvPr id="19" name="Text 17"/>
          <p:cNvSpPr txBox="1"/>
          <p:nvPr/>
        </p:nvSpPr>
        <p:spPr>
          <a:xfrm>
            <a:off x="6748272" y="1600200"/>
            <a:ext cx="4114800" cy="365760"/>
          </a:xfrm>
          <a:prstGeom prst="rect">
            <a:avLst/>
          </a:prstGeom>
          <a:noFill/>
          <a:ln/>
        </p:spPr>
        <p:txBody>
          <a:bodyPr wrap="square" lIns="0" tIns="0" rIns="0" bIns="0" rtlCol="0" anchor="t"/>
          <a:lstStyle/>
          <a:p>
            <a:pPr indent="0" marL="0">
              <a:buNone/>
            </a:pPr>
            <a:r>
              <a:rPr lang="en-US" sz="1400" b="1" spc="400" kern="0" dirty="0">
                <a:solidFill>
                  <a:srgbClr val="FFFFFF"/>
                </a:solidFill>
              </a:rPr>
              <a:t>NEXT</a:t>
            </a:r>
            <a:endParaRPr lang="en-US" sz="1400" dirty="0"/>
          </a:p>
        </p:txBody>
      </p:sp>
      <p:sp>
        <p:nvSpPr>
          <p:cNvPr id="20" name="Text 18"/>
          <p:cNvSpPr txBox="1"/>
          <p:nvPr/>
        </p:nvSpPr>
        <p:spPr>
          <a:xfrm>
            <a:off x="868680" y="2194560"/>
            <a:ext cx="4480560" cy="822960"/>
          </a:xfrm>
          <a:prstGeom prst="rect">
            <a:avLst/>
          </a:prstGeom>
          <a:noFill/>
          <a:ln/>
        </p:spPr>
        <p:txBody>
          <a:bodyPr wrap="square" lIns="0" tIns="0" rIns="0" bIns="0" rtlCol="0" anchor="ctr"/>
          <a:lstStyle/>
          <a:p>
            <a:pPr indent="0" marL="0">
              <a:buNone/>
            </a:pPr>
            <a:r>
              <a:rPr lang="en-US" sz="1900" b="1" dirty="0">
                <a:solidFill>
                  <a:srgbClr val="0A1F5C"/>
                </a:solidFill>
              </a:rPr>
              <a:t>ER-502 values are placeholders</a:t>
            </a:r>
            <a:endParaRPr lang="en-US" sz="1900" dirty="0"/>
          </a:p>
        </p:txBody>
      </p:sp>
      <p:sp>
        <p:nvSpPr>
          <p:cNvPr id="21" name="Text 19"/>
          <p:cNvSpPr txBox="1"/>
          <p:nvPr/>
        </p:nvSpPr>
        <p:spPr>
          <a:xfrm>
            <a:off x="6748272" y="2194560"/>
            <a:ext cx="4572000" cy="822960"/>
          </a:xfrm>
          <a:prstGeom prst="rect">
            <a:avLst/>
          </a:prstGeom>
          <a:noFill/>
          <a:ln/>
        </p:spPr>
        <p:txBody>
          <a:bodyPr wrap="square" lIns="0" tIns="0" rIns="0" bIns="0" rtlCol="0" anchor="ctr"/>
          <a:lstStyle/>
          <a:p>
            <a:pPr indent="0" marL="0">
              <a:buNone/>
            </a:pPr>
            <a:r>
              <a:rPr lang="en-US" sz="1900" b="1" dirty="0">
                <a:solidFill>
                  <a:srgbClr val="FFFFFF"/>
                </a:solidFill>
              </a:rPr>
              <a:t>Clinician-set thresholds and sign-off</a:t>
            </a:r>
            <a:endParaRPr lang="en-US" sz="1900" dirty="0"/>
          </a:p>
        </p:txBody>
      </p:sp>
      <p:sp>
        <p:nvSpPr>
          <p:cNvPr id="22" name="Arrow disc"/>
          <p:cNvSpPr/>
          <p:nvPr/>
        </p:nvSpPr>
        <p:spPr>
          <a:xfrm>
            <a:off x="5669280" y="2350008"/>
            <a:ext cx="603504" cy="603504"/>
          </a:xfrm>
          <a:prstGeom prst="ellipse">
            <a:avLst/>
          </a:prstGeom>
          <a:solidFill>
            <a:srgbClr val="0A1F5C"/>
          </a:solidFill>
          <a:ln w="38100">
            <a:solidFill>
              <a:srgbClr val="FFFFFF"/>
            </a:solidFill>
            <a:prstDash val="solid"/>
          </a:ln>
        </p:spPr>
      </p:sp>
      <p:sp>
        <p:nvSpPr>
          <p:cNvPr id="23" name="Text 21"/>
          <p:cNvSpPr txBox="1"/>
          <p:nvPr/>
        </p:nvSpPr>
        <p:spPr>
          <a:xfrm>
            <a:off x="5669280" y="2350008"/>
            <a:ext cx="603504" cy="603504"/>
          </a:xfrm>
          <a:prstGeom prst="rect">
            <a:avLst/>
          </a:prstGeom>
          <a:noFill/>
          <a:ln/>
        </p:spPr>
        <p:txBody>
          <a:bodyPr wrap="square" lIns="0" tIns="0" rIns="0" bIns="0" rtlCol="0" anchor="ctr"/>
          <a:lstStyle/>
          <a:p>
            <a:pPr algn="ctr" indent="0" marL="0">
              <a:buNone/>
            </a:pPr>
            <a:r>
              <a:rPr lang="en-US" sz="2000" b="1" dirty="0">
                <a:solidFill>
                  <a:srgbClr val="FFFFFF"/>
                </a:solidFill>
              </a:rPr>
              <a:t>→</a:t>
            </a:r>
            <a:endParaRPr lang="en-US" sz="2000" dirty="0"/>
          </a:p>
        </p:txBody>
      </p:sp>
      <p:sp>
        <p:nvSpPr>
          <p:cNvPr id="24" name="Text 22"/>
          <p:cNvSpPr txBox="1"/>
          <p:nvPr/>
        </p:nvSpPr>
        <p:spPr>
          <a:xfrm>
            <a:off x="868680" y="3154680"/>
            <a:ext cx="4480560" cy="822960"/>
          </a:xfrm>
          <a:prstGeom prst="rect">
            <a:avLst/>
          </a:prstGeom>
          <a:noFill/>
          <a:ln/>
        </p:spPr>
        <p:txBody>
          <a:bodyPr wrap="square" lIns="0" tIns="0" rIns="0" bIns="0" rtlCol="0" anchor="ctr"/>
          <a:lstStyle/>
          <a:p>
            <a:pPr indent="0" marL="0">
              <a:buNone/>
            </a:pPr>
            <a:r>
              <a:rPr lang="en-US" sz="1900" b="1" dirty="0">
                <a:solidFill>
                  <a:srgbClr val="0A1F5C"/>
                </a:solidFill>
              </a:rPr>
              <a:t>English keyword guards</a:t>
            </a:r>
            <a:endParaRPr lang="en-US" sz="1900" dirty="0"/>
          </a:p>
        </p:txBody>
      </p:sp>
      <p:sp>
        <p:nvSpPr>
          <p:cNvPr id="25" name="Text 23"/>
          <p:cNvSpPr txBox="1"/>
          <p:nvPr/>
        </p:nvSpPr>
        <p:spPr>
          <a:xfrm>
            <a:off x="6748272" y="3154680"/>
            <a:ext cx="4572000" cy="822960"/>
          </a:xfrm>
          <a:prstGeom prst="rect">
            <a:avLst/>
          </a:prstGeom>
          <a:noFill/>
          <a:ln/>
        </p:spPr>
        <p:txBody>
          <a:bodyPr wrap="square" lIns="0" tIns="0" rIns="0" bIns="0" rtlCol="0" anchor="ctr"/>
          <a:lstStyle/>
          <a:p>
            <a:pPr indent="0" marL="0">
              <a:buNone/>
            </a:pPr>
            <a:r>
              <a:rPr lang="en-US" sz="1900" b="1" dirty="0">
                <a:solidFill>
                  <a:srgbClr val="FFFFFF"/>
                </a:solidFill>
              </a:rPr>
              <a:t>Test other languages; add a distress route</a:t>
            </a:r>
            <a:endParaRPr lang="en-US" sz="1900" dirty="0"/>
          </a:p>
        </p:txBody>
      </p:sp>
      <p:sp>
        <p:nvSpPr>
          <p:cNvPr id="26" name="Arrow disc"/>
          <p:cNvSpPr/>
          <p:nvPr/>
        </p:nvSpPr>
        <p:spPr>
          <a:xfrm>
            <a:off x="5669280" y="3310128"/>
            <a:ext cx="603504" cy="603504"/>
          </a:xfrm>
          <a:prstGeom prst="ellipse">
            <a:avLst/>
          </a:prstGeom>
          <a:solidFill>
            <a:srgbClr val="0A1F5C"/>
          </a:solidFill>
          <a:ln w="38100">
            <a:solidFill>
              <a:srgbClr val="FFFFFF"/>
            </a:solidFill>
            <a:prstDash val="solid"/>
          </a:ln>
        </p:spPr>
      </p:sp>
      <p:sp>
        <p:nvSpPr>
          <p:cNvPr id="27" name="Text 25"/>
          <p:cNvSpPr txBox="1"/>
          <p:nvPr/>
        </p:nvSpPr>
        <p:spPr>
          <a:xfrm>
            <a:off x="5669280" y="3310128"/>
            <a:ext cx="603504" cy="603504"/>
          </a:xfrm>
          <a:prstGeom prst="rect">
            <a:avLst/>
          </a:prstGeom>
          <a:noFill/>
          <a:ln/>
        </p:spPr>
        <p:txBody>
          <a:bodyPr wrap="square" lIns="0" tIns="0" rIns="0" bIns="0" rtlCol="0" anchor="ctr"/>
          <a:lstStyle/>
          <a:p>
            <a:pPr algn="ctr" indent="0" marL="0">
              <a:buNone/>
            </a:pPr>
            <a:r>
              <a:rPr lang="en-US" sz="2000" b="1" dirty="0">
                <a:solidFill>
                  <a:srgbClr val="FFFFFF"/>
                </a:solidFill>
              </a:rPr>
              <a:t>→</a:t>
            </a:r>
            <a:endParaRPr lang="en-US" sz="2000" dirty="0"/>
          </a:p>
        </p:txBody>
      </p:sp>
      <p:sp>
        <p:nvSpPr>
          <p:cNvPr id="28" name="Text 26"/>
          <p:cNvSpPr txBox="1"/>
          <p:nvPr/>
        </p:nvSpPr>
        <p:spPr>
          <a:xfrm>
            <a:off x="868680" y="4114800"/>
            <a:ext cx="4480560" cy="822960"/>
          </a:xfrm>
          <a:prstGeom prst="rect">
            <a:avLst/>
          </a:prstGeom>
          <a:noFill/>
          <a:ln/>
        </p:spPr>
        <p:txBody>
          <a:bodyPr wrap="square" lIns="0" tIns="0" rIns="0" bIns="0" rtlCol="0" anchor="ctr"/>
          <a:lstStyle/>
          <a:p>
            <a:pPr indent="0" marL="0">
              <a:buNone/>
            </a:pPr>
            <a:r>
              <a:rPr lang="en-US" sz="1900" b="1" dirty="0">
                <a:solidFill>
                  <a:srgbClr val="0A1F5C"/>
                </a:solidFill>
              </a:rPr>
              <a:t>Synthetic, unreviewed content</a:t>
            </a:r>
            <a:endParaRPr lang="en-US" sz="1900" dirty="0"/>
          </a:p>
        </p:txBody>
      </p:sp>
      <p:sp>
        <p:nvSpPr>
          <p:cNvPr id="29" name="Text 27"/>
          <p:cNvSpPr txBox="1"/>
          <p:nvPr/>
        </p:nvSpPr>
        <p:spPr>
          <a:xfrm>
            <a:off x="6748272" y="4114800"/>
            <a:ext cx="4572000" cy="822960"/>
          </a:xfrm>
          <a:prstGeom prst="rect">
            <a:avLst/>
          </a:prstGeom>
          <a:noFill/>
          <a:ln/>
        </p:spPr>
        <p:txBody>
          <a:bodyPr wrap="square" lIns="0" tIns="0" rIns="0" bIns="0" rtlCol="0" anchor="ctr"/>
          <a:lstStyle/>
          <a:p>
            <a:pPr indent="0" marL="0">
              <a:buNone/>
            </a:pPr>
            <a:r>
              <a:rPr lang="en-US" sz="1900" b="1" dirty="0">
                <a:solidFill>
                  <a:srgbClr val="FFFFFF"/>
                </a:solidFill>
              </a:rPr>
              <a:t>Clinically reviewed articles and rules</a:t>
            </a:r>
            <a:endParaRPr lang="en-US" sz="1900" dirty="0"/>
          </a:p>
        </p:txBody>
      </p:sp>
      <p:sp>
        <p:nvSpPr>
          <p:cNvPr id="30" name="Arrow disc"/>
          <p:cNvSpPr/>
          <p:nvPr/>
        </p:nvSpPr>
        <p:spPr>
          <a:xfrm>
            <a:off x="5669280" y="4270248"/>
            <a:ext cx="603504" cy="603504"/>
          </a:xfrm>
          <a:prstGeom prst="ellipse">
            <a:avLst/>
          </a:prstGeom>
          <a:solidFill>
            <a:srgbClr val="0A1F5C"/>
          </a:solidFill>
          <a:ln w="38100">
            <a:solidFill>
              <a:srgbClr val="FFFFFF"/>
            </a:solidFill>
            <a:prstDash val="solid"/>
          </a:ln>
        </p:spPr>
      </p:sp>
      <p:sp>
        <p:nvSpPr>
          <p:cNvPr id="31" name="Text 29"/>
          <p:cNvSpPr txBox="1"/>
          <p:nvPr/>
        </p:nvSpPr>
        <p:spPr>
          <a:xfrm>
            <a:off x="5669280" y="4270248"/>
            <a:ext cx="603504" cy="603504"/>
          </a:xfrm>
          <a:prstGeom prst="rect">
            <a:avLst/>
          </a:prstGeom>
          <a:noFill/>
          <a:ln/>
        </p:spPr>
        <p:txBody>
          <a:bodyPr wrap="square" lIns="0" tIns="0" rIns="0" bIns="0" rtlCol="0" anchor="ctr"/>
          <a:lstStyle/>
          <a:p>
            <a:pPr algn="ctr" indent="0" marL="0">
              <a:buNone/>
            </a:pPr>
            <a:r>
              <a:rPr lang="en-US" sz="2000" b="1" dirty="0">
                <a:solidFill>
                  <a:srgbClr val="FFFFFF"/>
                </a:solidFill>
              </a:rPr>
              <a:t>→</a:t>
            </a:r>
            <a:endParaRPr lang="en-US" sz="2000" dirty="0"/>
          </a:p>
        </p:txBody>
      </p:sp>
      <p:sp>
        <p:nvSpPr>
          <p:cNvPr id="32" name="Text 30"/>
          <p:cNvSpPr txBox="1"/>
          <p:nvPr/>
        </p:nvSpPr>
        <p:spPr>
          <a:xfrm>
            <a:off x="868680" y="5074920"/>
            <a:ext cx="4480560" cy="822960"/>
          </a:xfrm>
          <a:prstGeom prst="rect">
            <a:avLst/>
          </a:prstGeom>
          <a:noFill/>
          <a:ln/>
        </p:spPr>
        <p:txBody>
          <a:bodyPr wrap="square" lIns="0" tIns="0" rIns="0" bIns="0" rtlCol="0" anchor="ctr"/>
          <a:lstStyle/>
          <a:p>
            <a:pPr indent="0" marL="0">
              <a:buNone/>
            </a:pPr>
            <a:r>
              <a:rPr lang="en-US" sz="1900" b="1" dirty="0">
                <a:solidFill>
                  <a:srgbClr val="0A1F5C"/>
                </a:solidFill>
              </a:rPr>
              <a:t>Keys and settings in a .env file</a:t>
            </a:r>
            <a:endParaRPr lang="en-US" sz="1900" dirty="0"/>
          </a:p>
        </p:txBody>
      </p:sp>
      <p:sp>
        <p:nvSpPr>
          <p:cNvPr id="33" name="Text 31"/>
          <p:cNvSpPr txBox="1"/>
          <p:nvPr/>
        </p:nvSpPr>
        <p:spPr>
          <a:xfrm>
            <a:off x="6748272" y="5074920"/>
            <a:ext cx="4572000" cy="822960"/>
          </a:xfrm>
          <a:prstGeom prst="rect">
            <a:avLst/>
          </a:prstGeom>
          <a:noFill/>
          <a:ln/>
        </p:spPr>
        <p:txBody>
          <a:bodyPr wrap="square" lIns="0" tIns="0" rIns="0" bIns="0" rtlCol="0" anchor="ctr"/>
          <a:lstStyle/>
          <a:p>
            <a:pPr indent="0" marL="0">
              <a:buNone/>
            </a:pPr>
            <a:r>
              <a:rPr lang="en-US" sz="1900" b="1" dirty="0">
                <a:solidFill>
                  <a:srgbClr val="FFFFFF"/>
                </a:solidFill>
              </a:rPr>
              <a:t>Managed identity and Key Vault</a:t>
            </a:r>
            <a:endParaRPr lang="en-US" sz="1900" dirty="0"/>
          </a:p>
        </p:txBody>
      </p:sp>
      <p:sp>
        <p:nvSpPr>
          <p:cNvPr id="34" name="Arrow disc"/>
          <p:cNvSpPr/>
          <p:nvPr/>
        </p:nvSpPr>
        <p:spPr>
          <a:xfrm>
            <a:off x="5669280" y="5230368"/>
            <a:ext cx="603504" cy="603504"/>
          </a:xfrm>
          <a:prstGeom prst="ellipse">
            <a:avLst/>
          </a:prstGeom>
          <a:solidFill>
            <a:srgbClr val="0A1F5C"/>
          </a:solidFill>
          <a:ln w="38100">
            <a:solidFill>
              <a:srgbClr val="FFFFFF"/>
            </a:solidFill>
            <a:prstDash val="solid"/>
          </a:ln>
        </p:spPr>
      </p:sp>
      <p:sp>
        <p:nvSpPr>
          <p:cNvPr id="35" name="Text 33"/>
          <p:cNvSpPr txBox="1"/>
          <p:nvPr/>
        </p:nvSpPr>
        <p:spPr>
          <a:xfrm>
            <a:off x="5669280" y="5230368"/>
            <a:ext cx="603504" cy="603504"/>
          </a:xfrm>
          <a:prstGeom prst="rect">
            <a:avLst/>
          </a:prstGeom>
          <a:noFill/>
          <a:ln/>
        </p:spPr>
        <p:txBody>
          <a:bodyPr wrap="square" lIns="0" tIns="0" rIns="0" bIns="0" rtlCol="0" anchor="ctr"/>
          <a:lstStyle/>
          <a:p>
            <a:pPr algn="ctr" indent="0" marL="0">
              <a:buNone/>
            </a:pPr>
            <a:r>
              <a:rPr lang="en-US" sz="2000" b="1" dirty="0">
                <a:solidFill>
                  <a:srgbClr val="FFFFFF"/>
                </a:solidFill>
              </a:rPr>
              <a:t>→</a:t>
            </a:r>
            <a:endParaRPr lang="en-US" sz="200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640080" y="1554480"/>
            <a:ext cx="3657600" cy="274320"/>
          </a:xfrm>
          <a:prstGeom prst="rect">
            <a:avLst/>
          </a:prstGeom>
          <a:noFill/>
          <a:ln/>
        </p:spPr>
        <p:txBody>
          <a:bodyPr wrap="square" lIns="0" tIns="0" rIns="0" bIns="0" rtlCol="0" anchor="t"/>
          <a:lstStyle/>
          <a:p>
            <a:pPr indent="0" marL="0">
              <a:buNone/>
            </a:pPr>
            <a:r>
              <a:rPr lang="en-US" sz="1100" b="1" spc="300" kern="0" dirty="0">
                <a:solidFill>
                  <a:srgbClr val="3CC3F0"/>
                </a:solidFill>
              </a:rPr>
              <a:t>CONCLUSION</a:t>
            </a:r>
            <a:endParaRPr lang="en-US" sz="1100" dirty="0"/>
          </a:p>
        </p:txBody>
      </p:sp>
      <p:sp>
        <p:nvSpPr>
          <p:cNvPr id="3" name="Text 1"/>
          <p:cNvSpPr txBox="1"/>
          <p:nvPr/>
        </p:nvSpPr>
        <p:spPr>
          <a:xfrm>
            <a:off x="640080" y="1874520"/>
            <a:ext cx="10789920" cy="2560320"/>
          </a:xfrm>
          <a:prstGeom prst="rect">
            <a:avLst/>
          </a:prstGeom>
          <a:noFill/>
          <a:ln/>
        </p:spPr>
        <p:txBody>
          <a:bodyPr wrap="square" lIns="0" tIns="0" rIns="0" bIns="0" rtlCol="0" anchor="t"/>
          <a:lstStyle/>
          <a:p>
            <a:pPr indent="0" marL="0">
              <a:buNone/>
            </a:pPr>
            <a:r>
              <a:rPr lang="en-US" sz="6000" b="1" dirty="0">
                <a:solidFill>
                  <a:srgbClr val="FFFFFF"/>
                </a:solidFill>
              </a:rPr>
              <a:t>Facts in code.
</a:t>
            </a:r>
            <a:pPr indent="0" marL="0">
              <a:buNone/>
            </a:pPr>
            <a:r>
              <a:rPr lang="en-US" sz="6000" b="1" dirty="0">
                <a:solidFill>
                  <a:srgbClr val="3CC3F0"/>
                </a:solidFill>
              </a:rPr>
              <a:t>Words from AI.
</a:t>
            </a:r>
            <a:pPr indent="0" marL="0">
              <a:buNone/>
            </a:pPr>
            <a:r>
              <a:rPr lang="en-US" sz="6000" b="1" dirty="0">
                <a:solidFill>
                  <a:srgbClr val="FFFFFF"/>
                </a:solidFill>
              </a:rPr>
              <a:t>Decisions by people.</a:t>
            </a:r>
            <a:endParaRPr lang="en-US" sz="6000" dirty="0"/>
          </a:p>
        </p:txBody>
      </p:sp>
      <p:sp>
        <p:nvSpPr>
          <p:cNvPr id="4" name="Pill"/>
          <p:cNvSpPr/>
          <p:nvPr/>
        </p:nvSpPr>
        <p:spPr>
          <a:xfrm>
            <a:off x="640080" y="4937760"/>
            <a:ext cx="2560320" cy="566928"/>
          </a:xfrm>
          <a:prstGeom prst="roundRect">
            <a:avLst>
              <a:gd name="adj" fmla="val 48387"/>
            </a:avLst>
          </a:prstGeom>
          <a:solidFill>
            <a:srgbClr val="FFFFFF"/>
          </a:solidFill>
          <a:ln w="12700">
            <a:solidFill>
              <a:srgbClr val="FFFFFF"/>
            </a:solidFill>
            <a:prstDash val="solid"/>
          </a:ln>
        </p:spPr>
      </p:sp>
      <p:sp>
        <p:nvSpPr>
          <p:cNvPr id="5" name="Text 3"/>
          <p:cNvSpPr txBox="1"/>
          <p:nvPr/>
        </p:nvSpPr>
        <p:spPr>
          <a:xfrm>
            <a:off x="640080" y="4937760"/>
            <a:ext cx="2560320" cy="566928"/>
          </a:xfrm>
          <a:prstGeom prst="rect">
            <a:avLst/>
          </a:prstGeom>
          <a:noFill/>
          <a:ln/>
        </p:spPr>
        <p:txBody>
          <a:bodyPr wrap="square" lIns="0" tIns="0" rIns="0" bIns="0" rtlCol="0" anchor="ctr"/>
          <a:lstStyle/>
          <a:p>
            <a:pPr algn="ctr" indent="0" marL="0">
              <a:buNone/>
            </a:pPr>
            <a:r>
              <a:rPr lang="en-US" sz="1400" b="1" dirty="0">
                <a:solidFill>
                  <a:srgbClr val="0A1F5C"/>
                </a:solidFill>
              </a:rPr>
              <a:t>Safe by design</a:t>
            </a:r>
            <a:endParaRPr lang="en-US" sz="1400" dirty="0"/>
          </a:p>
        </p:txBody>
      </p:sp>
      <p:sp>
        <p:nvSpPr>
          <p:cNvPr id="6" name="Pill"/>
          <p:cNvSpPr/>
          <p:nvPr/>
        </p:nvSpPr>
        <p:spPr>
          <a:xfrm>
            <a:off x="3383280" y="4937760"/>
            <a:ext cx="2560320" cy="566928"/>
          </a:xfrm>
          <a:prstGeom prst="roundRect">
            <a:avLst>
              <a:gd name="adj" fmla="val 48387"/>
            </a:avLst>
          </a:prstGeom>
          <a:solidFill>
            <a:srgbClr val="3CC3F0"/>
          </a:solidFill>
          <a:ln w="12700">
            <a:solidFill>
              <a:srgbClr val="3CC3F0"/>
            </a:solidFill>
            <a:prstDash val="solid"/>
          </a:ln>
        </p:spPr>
      </p:sp>
      <p:sp>
        <p:nvSpPr>
          <p:cNvPr id="7" name="Text 5"/>
          <p:cNvSpPr txBox="1"/>
          <p:nvPr/>
        </p:nvSpPr>
        <p:spPr>
          <a:xfrm>
            <a:off x="3383280" y="4937760"/>
            <a:ext cx="2560320" cy="566928"/>
          </a:xfrm>
          <a:prstGeom prst="rect">
            <a:avLst/>
          </a:prstGeom>
          <a:noFill/>
          <a:ln/>
        </p:spPr>
        <p:txBody>
          <a:bodyPr wrap="square" lIns="0" tIns="0" rIns="0" bIns="0" rtlCol="0" anchor="ctr"/>
          <a:lstStyle/>
          <a:p>
            <a:pPr algn="ctr" indent="0" marL="0">
              <a:buNone/>
            </a:pPr>
            <a:r>
              <a:rPr lang="en-US" sz="1400" b="1" dirty="0">
                <a:solidFill>
                  <a:srgbClr val="0A1F5C"/>
                </a:solidFill>
              </a:rPr>
              <a:t>Grounded answers</a:t>
            </a:r>
            <a:endParaRPr lang="en-US" sz="1400" dirty="0"/>
          </a:p>
        </p:txBody>
      </p:sp>
      <p:sp>
        <p:nvSpPr>
          <p:cNvPr id="8" name="Pill"/>
          <p:cNvSpPr/>
          <p:nvPr/>
        </p:nvSpPr>
        <p:spPr>
          <a:xfrm>
            <a:off x="6126480" y="4937760"/>
            <a:ext cx="2560320" cy="566928"/>
          </a:xfrm>
          <a:prstGeom prst="roundRect">
            <a:avLst>
              <a:gd name="adj" fmla="val 48387"/>
            </a:avLst>
          </a:prstGeom>
          <a:solidFill>
            <a:srgbClr val="FFFFFF"/>
          </a:solidFill>
          <a:ln w="12700">
            <a:solidFill>
              <a:srgbClr val="FFFFFF"/>
            </a:solidFill>
            <a:prstDash val="solid"/>
          </a:ln>
        </p:spPr>
      </p:sp>
      <p:sp>
        <p:nvSpPr>
          <p:cNvPr id="9" name="Text 7"/>
          <p:cNvSpPr txBox="1"/>
          <p:nvPr/>
        </p:nvSpPr>
        <p:spPr>
          <a:xfrm>
            <a:off x="6126480" y="4937760"/>
            <a:ext cx="2560320" cy="566928"/>
          </a:xfrm>
          <a:prstGeom prst="rect">
            <a:avLst/>
          </a:prstGeom>
          <a:noFill/>
          <a:ln/>
        </p:spPr>
        <p:txBody>
          <a:bodyPr wrap="square" lIns="0" tIns="0" rIns="0" bIns="0" rtlCol="0" anchor="ctr"/>
          <a:lstStyle/>
          <a:p>
            <a:pPr algn="ctr" indent="0" marL="0">
              <a:buNone/>
            </a:pPr>
            <a:r>
              <a:rPr lang="en-US" sz="1400" b="1" dirty="0">
                <a:solidFill>
                  <a:srgbClr val="0A1F5C"/>
                </a:solidFill>
              </a:rPr>
              <a:t>Human-led escalation</a:t>
            </a:r>
            <a:endParaRPr lang="en-US" sz="1400" dirty="0"/>
          </a:p>
        </p:txBody>
      </p:sp>
      <p:sp>
        <p:nvSpPr>
          <p:cNvPr id="10" name="Pill"/>
          <p:cNvSpPr/>
          <p:nvPr/>
        </p:nvSpPr>
        <p:spPr>
          <a:xfrm>
            <a:off x="8869680" y="4937760"/>
            <a:ext cx="2560320" cy="566928"/>
          </a:xfrm>
          <a:prstGeom prst="roundRect">
            <a:avLst>
              <a:gd name="adj" fmla="val 48387"/>
            </a:avLst>
          </a:prstGeom>
          <a:solidFill>
            <a:srgbClr val="3CC3F0"/>
          </a:solidFill>
          <a:ln w="12700">
            <a:solidFill>
              <a:srgbClr val="3CC3F0"/>
            </a:solidFill>
            <a:prstDash val="solid"/>
          </a:ln>
        </p:spPr>
      </p:sp>
      <p:sp>
        <p:nvSpPr>
          <p:cNvPr id="11" name="Text 9"/>
          <p:cNvSpPr txBox="1"/>
          <p:nvPr/>
        </p:nvSpPr>
        <p:spPr>
          <a:xfrm>
            <a:off x="8869680" y="4937760"/>
            <a:ext cx="2560320" cy="566928"/>
          </a:xfrm>
          <a:prstGeom prst="rect">
            <a:avLst/>
          </a:prstGeom>
          <a:noFill/>
          <a:ln/>
        </p:spPr>
        <p:txBody>
          <a:bodyPr wrap="square" lIns="0" tIns="0" rIns="0" bIns="0" rtlCol="0" anchor="ctr"/>
          <a:lstStyle/>
          <a:p>
            <a:pPr algn="ctr" indent="0" marL="0">
              <a:buNone/>
            </a:pPr>
            <a:r>
              <a:rPr lang="en-US" sz="1400" b="1" dirty="0">
                <a:solidFill>
                  <a:srgbClr val="0A1F5C"/>
                </a:solidFill>
              </a:rPr>
              <a:t>Auditable</a:t>
            </a:r>
            <a:endParaRPr lang="en-US" sz="1400" dirty="0"/>
          </a:p>
        </p:txBody>
      </p:sp>
      <p:sp>
        <p:nvSpPr>
          <p:cNvPr id="12" name="Text 10"/>
          <p:cNvSpPr txBox="1"/>
          <p:nvPr/>
        </p:nvSpPr>
        <p:spPr>
          <a:xfrm>
            <a:off x="640080" y="6035040"/>
            <a:ext cx="7315200" cy="274320"/>
          </a:xfrm>
          <a:prstGeom prst="rect">
            <a:avLst/>
          </a:prstGeom>
          <a:noFill/>
          <a:ln/>
        </p:spPr>
        <p:txBody>
          <a:bodyPr wrap="square" lIns="0" tIns="0" rIns="0" bIns="0" rtlCol="0" anchor="t"/>
          <a:lstStyle/>
          <a:p>
            <a:pPr indent="0" marL="0">
              <a:buNone/>
            </a:pPr>
            <a:r>
              <a:rPr lang="en-US" sz="1100" dirty="0">
                <a:solidFill>
                  <a:srgbClr val="CFE0FF"/>
                </a:solidFill>
              </a:rPr>
              <a:t>A prototype on synthetic data, for learning only.</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640080" y="2560320"/>
            <a:ext cx="9144000" cy="1188720"/>
          </a:xfrm>
          <a:prstGeom prst="rect">
            <a:avLst/>
          </a:prstGeom>
          <a:noFill/>
          <a:ln/>
        </p:spPr>
        <p:txBody>
          <a:bodyPr wrap="square" lIns="0" tIns="0" rIns="0" bIns="0" rtlCol="0" anchor="t"/>
          <a:lstStyle/>
          <a:p>
            <a:pPr indent="0" marL="0">
              <a:buNone/>
            </a:pPr>
            <a:r>
              <a:rPr lang="en-US" sz="6600" b="1" dirty="0">
                <a:solidFill>
                  <a:srgbClr val="FFFFFF"/>
                </a:solidFill>
              </a:rPr>
              <a:t>Thank you</a:t>
            </a:r>
            <a:endParaRPr lang="en-US" sz="6600" dirty="0"/>
          </a:p>
        </p:txBody>
      </p:sp>
      <p:sp>
        <p:nvSpPr>
          <p:cNvPr id="3" name="Text 1"/>
          <p:cNvSpPr txBox="1"/>
          <p:nvPr/>
        </p:nvSpPr>
        <p:spPr>
          <a:xfrm>
            <a:off x="640080" y="3840480"/>
            <a:ext cx="7315200" cy="457200"/>
          </a:xfrm>
          <a:prstGeom prst="rect">
            <a:avLst/>
          </a:prstGeom>
          <a:noFill/>
          <a:ln/>
        </p:spPr>
        <p:txBody>
          <a:bodyPr wrap="square" lIns="0" tIns="0" rIns="0" bIns="0" rtlCol="0" anchor="t"/>
          <a:lstStyle/>
          <a:p>
            <a:pPr indent="0" marL="0">
              <a:buNone/>
            </a:pPr>
            <a:r>
              <a:rPr lang="en-US" sz="2000" dirty="0">
                <a:solidFill>
                  <a:srgbClr val="3CC3F0"/>
                </a:solidFill>
              </a:rPr>
              <a:t>Open for questions</a:t>
            </a:r>
            <a:endParaRPr lang="en-US" sz="2000" dirty="0"/>
          </a:p>
        </p:txBody>
      </p:sp>
      <p:sp>
        <p:nvSpPr>
          <p:cNvPr id="4" name="Text 2"/>
          <p:cNvSpPr txBox="1"/>
          <p:nvPr/>
        </p:nvSpPr>
        <p:spPr>
          <a:xfrm>
            <a:off x="640080" y="6217920"/>
            <a:ext cx="5486400" cy="274320"/>
          </a:xfrm>
          <a:prstGeom prst="rect">
            <a:avLst/>
          </a:prstGeom>
          <a:noFill/>
          <a:ln/>
        </p:spPr>
        <p:txBody>
          <a:bodyPr wrap="square" lIns="0" tIns="0" rIns="0" bIns="0" rtlCol="0" anchor="t"/>
          <a:lstStyle/>
          <a:p>
            <a:pPr indent="0" marL="0">
              <a:buNone/>
            </a:pPr>
            <a:r>
              <a:rPr lang="en-US" sz="1000" dirty="0">
                <a:solidFill>
                  <a:srgbClr val="CFE0FF"/>
                </a:solidFill>
              </a:rPr>
              <a:t>Sujit Gorakh Raut</a:t>
            </a:r>
            <a:endParaRPr lang="en-US" sz="1000" dirty="0"/>
          </a:p>
        </p:txBody>
      </p:sp>
    </p:spTree>
  </p:cSld>
  <p:clrMapOvr>
    <a:masterClrMapping/>
  </p:clrMapOvr>
</p:sld>
</file>

<file path=ppt/theme/theme1.xml><?xml version="1.0" encoding="utf-8"?>
<a:theme xmlns:a="http://schemas.openxmlformats.org/drawingml/2006/main" name="CitiusTech Bold">
  <a:themeElements>
    <a:clrScheme name="CitiusTech Bold">
      <a:dk1>
        <a:srgbClr val="0A1F5C"/>
      </a:dk1>
      <a:lt1>
        <a:srgbClr val="FFFFFF"/>
      </a:lt1>
      <a:dk2>
        <a:srgbClr val="060F2E"/>
      </a:dk2>
      <a:lt2>
        <a:srgbClr val="F4F6FB"/>
      </a:lt2>
      <a:accent1>
        <a:srgbClr val="1547C8"/>
      </a:accent1>
      <a:accent2>
        <a:srgbClr val="3CC3F0"/>
      </a:accent2>
      <a:accent3>
        <a:srgbClr val="12A36B"/>
      </a:accent3>
      <a:accent4>
        <a:srgbClr val="F5A524"/>
      </a:accent4>
      <a:accent5>
        <a:srgbClr val="E5484D"/>
      </a:accent5>
      <a:accent6>
        <a:srgbClr val="8338EC"/>
      </a:accent6>
      <a:hlink>
        <a:srgbClr val="1547C8"/>
      </a:hlink>
      <a:folHlink>
        <a:srgbClr val="5B6478"/>
      </a:folHlink>
    </a:clrScheme>
    <a:fontScheme name="CitiusTech Bol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CitiusTech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Chronic Care Engagement and Follow-up</dc:title>
  <dc:subject>PptxGenJS Presentation</dc:subject>
  <dc:creator>Sujit Gorakh Raut</dc:creator>
  <cp:lastModifiedBy>Sujit Gorakh Raut</cp:lastModifiedBy>
  <cp:revision>1</cp:revision>
  <dcterms:created xsi:type="dcterms:W3CDTF">2026-10-11T11:13:47Z</dcterms:created>
  <dcterms:modified xsi:type="dcterms:W3CDTF">2026-10-11T11:13:47Z</dcterms:modified>
</cp:coreProperties>
</file>